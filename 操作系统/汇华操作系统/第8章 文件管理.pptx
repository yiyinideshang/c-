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sldIdLst>
    <p:sldId id="311" r:id="rId3"/>
    <p:sldId id="312" r:id="rId4"/>
    <p:sldId id="315" r:id="rId5"/>
    <p:sldId id="364" r:id="rId6"/>
    <p:sldId id="365" r:id="rId8"/>
    <p:sldId id="414" r:id="rId9"/>
    <p:sldId id="461" r:id="rId10"/>
    <p:sldId id="467" r:id="rId11"/>
    <p:sldId id="321" r:id="rId12"/>
    <p:sldId id="516" r:id="rId13"/>
    <p:sldId id="375" r:id="rId14"/>
    <p:sldId id="297" r:id="rId15"/>
    <p:sldId id="369" r:id="rId16"/>
    <p:sldId id="368" r:id="rId17"/>
    <p:sldId id="302" r:id="rId18"/>
    <p:sldId id="306" r:id="rId19"/>
    <p:sldId id="326" r:id="rId20"/>
    <p:sldId id="372" r:id="rId21"/>
    <p:sldId id="373" r:id="rId22"/>
    <p:sldId id="463" r:id="rId23"/>
    <p:sldId id="451" r:id="rId24"/>
    <p:sldId id="452" r:id="rId25"/>
    <p:sldId id="454" r:id="rId26"/>
    <p:sldId id="455" r:id="rId27"/>
    <p:sldId id="456" r:id="rId28"/>
    <p:sldId id="457" r:id="rId29"/>
    <p:sldId id="519" r:id="rId30"/>
    <p:sldId id="458" r:id="rId31"/>
    <p:sldId id="459" r:id="rId32"/>
    <p:sldId id="460" r:id="rId33"/>
    <p:sldId id="464" r:id="rId34"/>
    <p:sldId id="465" r:id="rId35"/>
    <p:sldId id="514" r:id="rId36"/>
    <p:sldId id="468" r:id="rId37"/>
    <p:sldId id="376" r:id="rId38"/>
    <p:sldId id="374" r:id="rId39"/>
    <p:sldId id="378" r:id="rId40"/>
    <p:sldId id="380" r:id="rId41"/>
    <p:sldId id="381" r:id="rId42"/>
    <p:sldId id="299" r:id="rId43"/>
    <p:sldId id="383" r:id="rId44"/>
    <p:sldId id="382" r:id="rId45"/>
    <p:sldId id="384" r:id="rId46"/>
    <p:sldId id="317" r:id="rId47"/>
    <p:sldId id="385" r:id="rId48"/>
    <p:sldId id="521" r:id="rId49"/>
    <p:sldId id="469" r:id="rId50"/>
    <p:sldId id="387" r:id="rId51"/>
    <p:sldId id="386" r:id="rId52"/>
    <p:sldId id="517" r:id="rId53"/>
    <p:sldId id="520" r:id="rId54"/>
    <p:sldId id="518" r:id="rId55"/>
    <p:sldId id="470" r:id="rId56"/>
    <p:sldId id="471" r:id="rId57"/>
    <p:sldId id="472" r:id="rId58"/>
    <p:sldId id="473" r:id="rId59"/>
    <p:sldId id="523" r:id="rId60"/>
    <p:sldId id="474" r:id="rId61"/>
    <p:sldId id="522" r:id="rId62"/>
    <p:sldId id="261" r:id="rId63"/>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5C"/>
    <a:srgbClr val="FFFF00"/>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182" autoAdjust="0"/>
  </p:normalViewPr>
  <p:slideViewPr>
    <p:cSldViewPr snapToGrid="0" showGuides="1">
      <p:cViewPr varScale="1">
        <p:scale>
          <a:sx n="111" d="100"/>
          <a:sy n="111" d="100"/>
        </p:scale>
        <p:origin x="-224" y="-72"/>
      </p:cViewPr>
      <p:guideLst>
        <p:guide orient="horz" pos="2160"/>
        <p:guide pos="3816"/>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7" Type="http://schemas.openxmlformats.org/officeDocument/2006/relationships/tags" Target="tags/tag23.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索引节点占</a:t>
            </a:r>
            <a:r>
              <a:rPr lang="en-US" altLang="zh-CN"/>
              <a:t>4</a:t>
            </a:r>
            <a:r>
              <a:rPr lang="zh-CN" altLang="en-US"/>
              <a:t>个字节，即</a:t>
            </a:r>
            <a:r>
              <a:rPr lang="en-US" altLang="zh-CN"/>
              <a:t>32</a:t>
            </a:r>
            <a:r>
              <a:rPr lang="zh-CN" altLang="en-US"/>
              <a:t>位</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t>
            </a:r>
            <a:r>
              <a:rPr lang="zh-CN" altLang="en-US"/>
              <a:t>截断文件</a:t>
            </a:r>
            <a:r>
              <a:rPr lang="en-US" altLang="zh-CN"/>
              <a:t>” </a:t>
            </a:r>
            <a:r>
              <a:rPr lang="zh-CN" altLang="en-US"/>
              <a:t>一般是指将文件内容按指定长度或条件裁剪，只保留前半部分、后半部分，或是删除某段内容</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解：文件的</a:t>
            </a:r>
            <a:r>
              <a:rPr lang="en-US" altLang="zh-CN"/>
              <a:t>4</a:t>
            </a:r>
            <a:r>
              <a:rPr lang="zh-CN" altLang="en-US"/>
              <a:t>个直接地址索引可指向</a:t>
            </a:r>
            <a:r>
              <a:rPr lang="en-US" altLang="zh-CN"/>
              <a:t>4</a:t>
            </a:r>
            <a:r>
              <a:rPr lang="zh-CN" altLang="en-US"/>
              <a:t>个盘块，对于间接地址，一个数据块可放</a:t>
            </a:r>
            <a:r>
              <a:rPr lang="en-US" altLang="zh-CN"/>
              <a:t>256/4=64</a:t>
            </a:r>
            <a:r>
              <a:rPr lang="zh-CN" altLang="en-US"/>
              <a:t>个地址，则</a:t>
            </a:r>
            <a:r>
              <a:rPr lang="en-US" altLang="zh-CN"/>
              <a:t>2</a:t>
            </a:r>
            <a:r>
              <a:rPr lang="zh-CN" altLang="en-US"/>
              <a:t>个一级间址索引可指向</a:t>
            </a:r>
            <a:r>
              <a:rPr lang="en-US" altLang="zh-CN"/>
              <a:t>2x64=128</a:t>
            </a:r>
            <a:r>
              <a:rPr lang="zh-CN" altLang="en-US"/>
              <a:t>个盘块，</a:t>
            </a:r>
            <a:r>
              <a:rPr lang="en-US" altLang="zh-CN"/>
              <a:t>1</a:t>
            </a:r>
            <a:r>
              <a:rPr lang="zh-CN" altLang="en-US"/>
              <a:t>个二级间址索引可指向</a:t>
            </a:r>
            <a:r>
              <a:rPr lang="en-US" altLang="zh-CN"/>
              <a:t>1x64x64=4096</a:t>
            </a:r>
            <a:r>
              <a:rPr lang="zh-CN" altLang="en-US"/>
              <a:t>个盘块。</a:t>
            </a:r>
            <a:r>
              <a:rPr lang="en-US" altLang="zh-CN"/>
              <a:t>7</a:t>
            </a:r>
            <a:r>
              <a:rPr lang="zh-CN" altLang="en-US"/>
              <a:t>个地址项共</a:t>
            </a:r>
            <a:r>
              <a:rPr lang="en-US" altLang="zh-CN"/>
              <a:t>4+128+4096=4228</a:t>
            </a:r>
            <a:r>
              <a:rPr lang="zh-CN" altLang="en-US"/>
              <a:t>个盘块，数据大小为</a:t>
            </a:r>
            <a:r>
              <a:rPr lang="en-US" altLang="zh-CN"/>
              <a:t>4228*256B=1057KB</a:t>
            </a:r>
            <a:endParaRPr lang="en-US" altLang="zh-CN"/>
          </a:p>
          <a:p>
            <a:endParaRPr lang="en-US" altLang="zh-CN"/>
          </a:p>
          <a:p>
            <a:r>
              <a:rPr lang="zh-CN" altLang="en-US"/>
              <a:t>此类题可以先计算总共可以表示多少个盘块数，最后乘上盘块大小。</a:t>
            </a:r>
            <a:endParaRPr lang="zh-CN" altLang="en-US"/>
          </a:p>
          <a:p>
            <a:r>
              <a:rPr lang="zh-CN" altLang="en-US"/>
              <a:t>一个盘块可存放</a:t>
            </a:r>
            <a:r>
              <a:rPr lang="en-US" altLang="zh-CN"/>
              <a:t> n / m </a:t>
            </a:r>
            <a:r>
              <a:rPr lang="zh-CN" altLang="en-US"/>
              <a:t>个地址项，一次间址可表示</a:t>
            </a:r>
            <a:r>
              <a:rPr lang="en-US" altLang="zh-CN"/>
              <a:t> bxn / m </a:t>
            </a:r>
            <a:r>
              <a:rPr lang="zh-CN" altLang="en-US"/>
              <a:t>个地址项，二次间址可表示</a:t>
            </a:r>
            <a:r>
              <a:rPr lang="en-US" altLang="zh-CN"/>
              <a:t> cx ( n / m )</a:t>
            </a:r>
            <a:r>
              <a:rPr lang="en-US" altLang="zh-CN" baseline="30000"/>
              <a:t>2</a:t>
            </a:r>
            <a:r>
              <a:rPr lang="zh-CN" altLang="en-US"/>
              <a:t>个地址项，则混合索引分配方式可表达的最大文件长度为</a:t>
            </a:r>
            <a:r>
              <a:rPr lang="en-US" altLang="zh-CN"/>
              <a:t>( a + bx</a:t>
            </a:r>
            <a:r>
              <a:rPr lang="en-US" altLang="zh-CN">
                <a:sym typeface="+mn-ea"/>
              </a:rPr>
              <a:t>n / m</a:t>
            </a:r>
            <a:r>
              <a:rPr lang="en-US" altLang="zh-CN"/>
              <a:t> + cx (</a:t>
            </a:r>
            <a:r>
              <a:rPr lang="en-US" altLang="zh-CN">
                <a:sym typeface="+mn-ea"/>
              </a:rPr>
              <a:t>n / m)</a:t>
            </a:r>
            <a:r>
              <a:rPr lang="en-US" altLang="zh-CN" baseline="30000"/>
              <a:t>2</a:t>
            </a:r>
            <a:r>
              <a:rPr lang="en-US" altLang="zh-CN"/>
              <a:t>) xn</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此类题应首先计算每级地址项所能表示的文件大小，找到文件偏移量所在的盘块在哪级地址项。如在直接地址项所指的盘块中，则需访盘</a:t>
            </a:r>
            <a:r>
              <a:rPr lang="en-US" altLang="zh-CN"/>
              <a:t>1</a:t>
            </a:r>
            <a:r>
              <a:rPr lang="zh-CN" altLang="en-US"/>
              <a:t>次，在一级间址项所指的盘块中，需访盘</a:t>
            </a:r>
            <a:r>
              <a:rPr lang="en-US" altLang="zh-CN"/>
              <a:t>2</a:t>
            </a:r>
            <a:r>
              <a:rPr lang="zh-CN" altLang="en-US"/>
              <a:t>次，</a:t>
            </a:r>
            <a:r>
              <a:rPr lang="en-US" altLang="zh-CN"/>
              <a:t> m </a:t>
            </a:r>
            <a:r>
              <a:rPr lang="zh-CN" altLang="en-US"/>
              <a:t>级索引需访盘</a:t>
            </a:r>
            <a:r>
              <a:rPr lang="en-US" altLang="zh-CN"/>
              <a:t> m +1</a:t>
            </a:r>
            <a:r>
              <a:rPr lang="zh-CN" altLang="en-US"/>
              <a:t>次（注：此处描述的是索引节点在内存中的情况，若索引节点不在内存，需要先将索引节点放入内存，再进行查找）</a:t>
            </a:r>
            <a:endParaRPr lang="zh-CN" altLang="en-US"/>
          </a:p>
          <a:p>
            <a:endParaRPr lang="zh-CN" altLang="en-US"/>
          </a:p>
          <a:p>
            <a:r>
              <a:rPr lang="zh-CN" altLang="en-US"/>
              <a:t>【解析】一个磁盘块大小为</a:t>
            </a:r>
            <a:r>
              <a:rPr lang="en-US" altLang="zh-CN"/>
              <a:t>1KB</a:t>
            </a:r>
            <a:r>
              <a:rPr lang="zh-CN" altLang="en-US"/>
              <a:t>，一个索引指针大小为</a:t>
            </a:r>
            <a:r>
              <a:rPr lang="en-US" altLang="zh-CN"/>
              <a:t>4B</a:t>
            </a:r>
            <a:r>
              <a:rPr lang="zh-CN" altLang="en-US"/>
              <a:t>，一个磁盘块可存放的索引指针数量</a:t>
            </a:r>
            <a:r>
              <a:rPr lang="en-US" altLang="zh-CN"/>
              <a:t>1KB/4</a:t>
            </a:r>
            <a:r>
              <a:rPr lang="en-US" altLang="zh-CN"/>
              <a:t>B=256</a:t>
            </a:r>
            <a:r>
              <a:rPr lang="zh-CN" altLang="en-US"/>
              <a:t>。一个直接索引指针指向一个</a:t>
            </a:r>
            <a:r>
              <a:rPr lang="en-US" altLang="zh-CN"/>
              <a:t>1KB</a:t>
            </a:r>
            <a:r>
              <a:rPr lang="zh-CN" altLang="en-US"/>
              <a:t>的数据块，一个一级索引指针指向的磁盘取里存放了</a:t>
            </a:r>
            <a:r>
              <a:rPr lang="en-US" altLang="zh-CN"/>
              <a:t>256</a:t>
            </a:r>
            <a:r>
              <a:rPr lang="zh-CN" altLang="en-US"/>
              <a:t>个直接索引指针，对应的数据块大小为：</a:t>
            </a:r>
            <a:r>
              <a:rPr lang="en-US" altLang="zh-CN"/>
              <a:t>256x1KB=256KB</a:t>
            </a:r>
            <a:r>
              <a:rPr lang="zh-CN" altLang="en-US"/>
              <a:t>，一个二级索引指针指向的磁盘块里存放了</a:t>
            </a:r>
            <a:r>
              <a:rPr lang="en-US" altLang="zh-CN"/>
              <a:t>256</a:t>
            </a:r>
            <a:r>
              <a:rPr lang="zh-CN" altLang="en-US"/>
              <a:t>个一级索引指针，对应的数据块大小为：</a:t>
            </a:r>
            <a:r>
              <a:rPr lang="en-US" altLang="zh-CN"/>
              <a:t>256x256x1KB=64MB</a:t>
            </a:r>
            <a:r>
              <a:rPr lang="zh-CN" altLang="en-US"/>
              <a:t>因为是按照字节编址的，所以偏移量</a:t>
            </a:r>
            <a:r>
              <a:rPr lang="en-US" altLang="zh-CN"/>
              <a:t>1234</a:t>
            </a:r>
            <a:r>
              <a:rPr lang="zh-CN" altLang="en-US"/>
              <a:t>指的是</a:t>
            </a:r>
            <a:r>
              <a:rPr lang="en-US" altLang="zh-CN"/>
              <a:t>1234B</a:t>
            </a:r>
            <a:r>
              <a:rPr lang="zh-CN" altLang="en-US"/>
              <a:t>。</a:t>
            </a:r>
            <a:r>
              <a:rPr lang="en-US" altLang="zh-CN"/>
              <a:t>1234B&lt;10KB</a:t>
            </a:r>
            <a:r>
              <a:rPr lang="zh-CN" altLang="en-US"/>
              <a:t>，说明偏移量为</a:t>
            </a:r>
            <a:r>
              <a:rPr lang="en-US" altLang="zh-CN"/>
              <a:t>1234</a:t>
            </a:r>
            <a:r>
              <a:rPr lang="zh-CN" altLang="en-US"/>
              <a:t>所处的磁盘块在直接索引指向的磁盘块中，而题目中已经指明文件的索引节点已在内存中，只需要根据直接索引指针找到对应的磁盘块即可，所以只需要访盘</a:t>
            </a:r>
            <a:r>
              <a:rPr lang="en-US" altLang="zh-CN"/>
              <a:t>1</a:t>
            </a:r>
            <a:r>
              <a:rPr lang="zh-CN" altLang="en-US"/>
              <a:t>次。同理，偏移量</a:t>
            </a:r>
            <a:r>
              <a:rPr lang="en-US" altLang="zh-CN"/>
              <a:t>307400</a:t>
            </a:r>
            <a:r>
              <a:rPr lang="zh-CN" altLang="en-US"/>
              <a:t>即</a:t>
            </a:r>
            <a:r>
              <a:rPr lang="en-US" altLang="zh-CN"/>
              <a:t>307400B,10KB+256KB&lt;307400B&lt;10KB+256KB+64MB</a:t>
            </a:r>
            <a:r>
              <a:rPr lang="zh-CN" altLang="en-US"/>
              <a:t>，说明偏移量为</a:t>
            </a:r>
            <a:r>
              <a:rPr lang="en-US" altLang="zh-CN"/>
              <a:t>307400</a:t>
            </a:r>
            <a:r>
              <a:rPr lang="zh-CN" altLang="en-US"/>
              <a:t>所处的磁盘块在二级索引指向的磁盘块中。根据二级索引指针得到一级索引指针再根据一级索引指针得到直接索引指针，直接索引地址即文件所在磁盘块地址，再根据文件所在磁盘块地址得到要找的磁盘块，总共需要访盘</a:t>
            </a:r>
            <a:r>
              <a:rPr lang="en-US" altLang="zh-CN"/>
              <a:t>3</a:t>
            </a:r>
            <a:r>
              <a:rPr lang="zh-CN" altLang="en-US"/>
              <a:t>次。提示：此类题型在</a:t>
            </a:r>
            <a:r>
              <a:rPr lang="en-US" altLang="zh-CN"/>
              <a:t>408</a:t>
            </a:r>
            <a:r>
              <a:rPr lang="zh-CN" altLang="en-US"/>
              <a:t>考试中多次出现，考生需要熟练掌握。</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a:t>
            </a:r>
            <a:r>
              <a:rPr lang="zh-CN" altLang="en-US"/>
              <a:t>：多进程共享文件时，打开方式可以按需选择（读、写、读写等），只要满足文件权限即可。例如多个进程同时以</a:t>
            </a:r>
            <a:r>
              <a:rPr lang="en-US" altLang="zh-CN"/>
              <a:t> “</a:t>
            </a:r>
            <a:r>
              <a:rPr lang="zh-CN" altLang="en-US"/>
              <a:t>读写</a:t>
            </a:r>
            <a:r>
              <a:rPr lang="en-US" altLang="zh-CN"/>
              <a:t>” </a:t>
            </a:r>
            <a:r>
              <a:rPr lang="zh-CN" altLang="en-US"/>
              <a:t>模式打开日志文件，只是需要通过锁机制避免数据冲突，并非只能用</a:t>
            </a:r>
            <a:r>
              <a:rPr lang="en-US" altLang="zh-CN"/>
              <a:t> “</a:t>
            </a:r>
            <a:r>
              <a:rPr lang="zh-CN" altLang="en-US"/>
              <a:t>读</a:t>
            </a:r>
            <a:r>
              <a:rPr lang="en-US" altLang="zh-CN"/>
              <a:t>” </a:t>
            </a:r>
            <a:r>
              <a:rPr lang="zh-CN" altLang="en-US"/>
              <a:t>方式。</a:t>
            </a:r>
            <a:endParaRPr lang="zh-CN" altLang="en-US"/>
          </a:p>
          <a:p>
            <a:endParaRPr lang="en-US" altLang="zh-CN"/>
          </a:p>
          <a:p>
            <a:r>
              <a:rPr lang="en-US" altLang="zh-CN"/>
              <a:t>B</a:t>
            </a:r>
            <a:r>
              <a:rPr lang="zh-CN" altLang="en-US"/>
              <a:t>：系统打开文件表的核心作用是存储文件的全局公共属性，同一个文件的</a:t>
            </a:r>
            <a:r>
              <a:rPr lang="en-US" altLang="zh-CN"/>
              <a:t> inode </a:t>
            </a:r>
            <a:r>
              <a:rPr lang="zh-CN" altLang="en-US"/>
              <a:t>是唯一的，因此系统级表项仅存在一个，所有打开该文件的进程都会关联到这个表项，表项中的引用计数会随着进程打开</a:t>
            </a:r>
            <a:r>
              <a:rPr lang="en-US" altLang="zh-CN"/>
              <a:t> / </a:t>
            </a:r>
            <a:r>
              <a:rPr lang="zh-CN" altLang="en-US"/>
              <a:t>关闭文件而增减。</a:t>
            </a:r>
            <a:endParaRPr lang="zh-CN" altLang="en-US"/>
          </a:p>
          <a:p>
            <a:endParaRPr lang="en-US" altLang="zh-CN"/>
          </a:p>
          <a:p>
            <a:r>
              <a:rPr lang="en-US" altLang="zh-CN"/>
              <a:t>C</a:t>
            </a:r>
            <a:r>
              <a:rPr lang="zh-CN" altLang="en-US"/>
              <a:t>：用户打开文件表是进程私有的，表项内容包含进程专属的操作状态（比如读写指针位置、打开时的</a:t>
            </a:r>
            <a:r>
              <a:rPr lang="en-US" altLang="zh-CN"/>
              <a:t> flags </a:t>
            </a:r>
            <a:r>
              <a:rPr lang="zh-CN" altLang="en-US"/>
              <a:t>参数）。例如进程</a:t>
            </a:r>
            <a:r>
              <a:rPr lang="en-US" altLang="zh-CN"/>
              <a:t> A </a:t>
            </a:r>
            <a:r>
              <a:rPr lang="zh-CN" altLang="en-US"/>
              <a:t>打开文件后将指针移到末尾，进程</a:t>
            </a:r>
            <a:r>
              <a:rPr lang="en-US" altLang="zh-CN"/>
              <a:t> B </a:t>
            </a:r>
            <a:r>
              <a:rPr lang="zh-CN" altLang="en-US"/>
              <a:t>打开同一文件的指针仍在开头，两者的用户表项内容必然不同。</a:t>
            </a:r>
            <a:endParaRPr lang="zh-CN" altLang="en-US"/>
          </a:p>
          <a:p>
            <a:endParaRPr lang="en-US" altLang="zh-CN"/>
          </a:p>
          <a:p>
            <a:r>
              <a:rPr lang="en-US" altLang="zh-CN"/>
              <a:t>D</a:t>
            </a:r>
            <a:r>
              <a:rPr lang="zh-CN" altLang="en-US"/>
              <a:t>：系统打开文件表项的删除条件是</a:t>
            </a:r>
            <a:r>
              <a:rPr lang="en-US" altLang="zh-CN"/>
              <a:t> </a:t>
            </a:r>
            <a:r>
              <a:rPr lang="zh-CN" altLang="en-US"/>
              <a:t>引用计数减至</a:t>
            </a:r>
            <a:r>
              <a:rPr lang="en-US" altLang="zh-CN"/>
              <a:t> 0</a:t>
            </a:r>
            <a:r>
              <a:rPr lang="zh-CN" altLang="en-US"/>
              <a:t>。一个进程关闭文件时，系统只会将该表项的引用计数减</a:t>
            </a:r>
            <a:r>
              <a:rPr lang="en-US" altLang="zh-CN"/>
              <a:t> 1</a:t>
            </a:r>
            <a:r>
              <a:rPr lang="zh-CN" altLang="en-US"/>
              <a:t>；只有当所有打开该文件的进程都关闭后，引用计数变为</a:t>
            </a:r>
            <a:r>
              <a:rPr lang="en-US" altLang="zh-CN"/>
              <a:t> 0</a:t>
            </a:r>
            <a:r>
              <a:rPr lang="zh-CN" altLang="en-US"/>
              <a:t>，系统才会删除这个表项，释放相关资源。</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查看豆包之忽悠解答</a:t>
            </a:r>
            <a:r>
              <a:rPr lang="en-US" altLang="zh-CN"/>
              <a:t>+</a:t>
            </a:r>
            <a:r>
              <a:rPr lang="zh-CN" altLang="en-US"/>
              <a:t>附赠</a:t>
            </a:r>
            <a:r>
              <a:rPr lang="en-US" altLang="zh-CN"/>
              <a:t>408</a:t>
            </a:r>
            <a:r>
              <a:rPr lang="zh-CN" altLang="en-US"/>
              <a:t>专项练习两个</a:t>
            </a:r>
            <a:r>
              <a:rPr lang="en-US" altLang="zh-CN"/>
              <a:t>word</a:t>
            </a:r>
            <a:r>
              <a:rPr lang="zh-CN" altLang="en-US"/>
              <a:t>文档（</a:t>
            </a:r>
            <a:r>
              <a:rPr lang="zh-CN" altLang="en-US"/>
              <a:t>云盘）</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tags" Target="../tags/tag2.xml"/><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9.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tags" Target="../tags/tag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9.jpeg"/><Relationship Id="rId1" Type="http://schemas.openxmlformats.org/officeDocument/2006/relationships/tags" Target="../tags/tag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5" Type="http://schemas.openxmlformats.org/officeDocument/2006/relationships/slideLayout" Target="../slideLayouts/slideLayout3.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6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tags" Target="../tags/tag22.xml"/><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30" name="think-cell Slide" r:id="rId2" imgW="9525" imgH="9525" progId="TCLayout.ActiveDocument.1">
                  <p:embed/>
                </p:oleObj>
              </mc:Choice>
              <mc:Fallback>
                <p:oleObj name="think-cell Slide" r:id="rId2" imgW="9525" imgH="9525" progId="TCLayout.ActiveDocument.1">
                  <p:embed/>
                  <p:pic>
                    <p:nvPicPr>
                      <p:cNvPr id="0" name="图片 2118"/>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8</a:t>
            </a:r>
            <a:r>
              <a:rPr lang="zh-CN" altLang="en-US" sz="4800" dirty="0"/>
              <a:t>章 文件管理</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7"/>
          <a:stretch>
            <a:fillRect/>
          </a:stretch>
        </p:blipFill>
        <p:spPr>
          <a:xfrm>
            <a:off x="7055100" y="844791"/>
            <a:ext cx="3007096" cy="42615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8章 知识导图"/>
          <p:cNvPicPr>
            <a:picLocks noChangeAspect="1"/>
          </p:cNvPicPr>
          <p:nvPr/>
        </p:nvPicPr>
        <p:blipFill>
          <a:blip r:embed="rId1"/>
          <a:stretch>
            <a:fillRect/>
          </a:stretch>
        </p:blipFill>
        <p:spPr>
          <a:xfrm>
            <a:off x="4961255" y="788670"/>
            <a:ext cx="6248400" cy="600011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endParaRPr lang="zh-CN" altLang="en-US" sz="2800" b="1" dirty="0">
              <a:solidFill>
                <a:schemeClr val="bg1"/>
              </a:solidFill>
            </a:endParaRPr>
          </a:p>
        </p:txBody>
      </p:sp>
      <p:graphicFrame>
        <p:nvGraphicFramePr>
          <p:cNvPr id="30" name="表格 29"/>
          <p:cNvGraphicFramePr/>
          <p:nvPr>
            <p:custDataLst>
              <p:tags r:id="rId2"/>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第8章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文件管理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第9章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solidFill>
                            <a:schemeClr val="bg1">
                              <a:lumMod val="75000"/>
                            </a:schemeClr>
                          </a:solidFill>
                          <a:latin typeface="微软雅黑 (正文)"/>
                        </a:rPr>
                        <a:t>磁盘存储器管理</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第10章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err="1">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第11章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solidFill>
                            <a:schemeClr val="bg1">
                              <a:lumMod val="75000"/>
                            </a:schemeClr>
                          </a:solidFill>
                          <a:latin typeface="微软雅黑 (正文)"/>
                        </a:rPr>
                        <a:t>虚拟化和云计算</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err="1">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b="1" dirty="0">
                <a:solidFill>
                  <a:srgbClr val="0000FF"/>
                </a:solidFill>
                <a:latin typeface="+mj-ea"/>
                <a:ea typeface="+mj-ea"/>
              </a:rPr>
              <a:t>8.1 </a:t>
            </a:r>
            <a:r>
              <a:rPr lang="zh-CN" altLang="en-US" sz="2400" b="1" dirty="0">
                <a:solidFill>
                  <a:srgbClr val="0000FF"/>
                </a:solidFill>
                <a:latin typeface="+mj-ea"/>
                <a:ea typeface="+mj-ea"/>
              </a:rPr>
              <a:t>文件和文件系统</a:t>
            </a:r>
            <a:endParaRPr lang="zh-CN" altLang="en-US" sz="2400" b="1" dirty="0">
              <a:solidFill>
                <a:srgbClr val="0000FF"/>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latin typeface="+mj-ea"/>
              </a:rPr>
              <a:t>8.6  Linux</a:t>
            </a:r>
            <a:r>
              <a:rPr lang="zh-CN" altLang="en-US" sz="2400" dirty="0">
                <a:solidFill>
                  <a:schemeClr val="bg1">
                    <a:lumMod val="75000"/>
                  </a:schemeClr>
                </a:solidFill>
                <a:latin typeface="+mj-ea"/>
              </a:rPr>
              <a:t>文件系统实例</a:t>
            </a:r>
            <a:endParaRPr lang="zh-CN" altLang="en-US" sz="2400" dirty="0">
              <a:solidFill>
                <a:schemeClr val="bg1">
                  <a:lumMod val="75000"/>
                </a:schemeClr>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8.1 </a:t>
            </a:r>
            <a:r>
              <a:rPr lang="zh-CN" altLang="en-US" sz="2800" b="1" dirty="0">
                <a:solidFill>
                  <a:schemeClr val="bg1"/>
                </a:solidFill>
              </a:rPr>
              <a:t>文件、文件系统</a:t>
            </a:r>
            <a:endParaRPr lang="zh-CN" altLang="en-US" sz="2800" b="1" dirty="0">
              <a:solidFill>
                <a:schemeClr val="bg1"/>
              </a:solidFill>
            </a:endParaRPr>
          </a:p>
        </p:txBody>
      </p:sp>
      <p:sp>
        <p:nvSpPr>
          <p:cNvPr id="10" name="文本框 9"/>
          <p:cNvSpPr txBox="1"/>
          <p:nvPr/>
        </p:nvSpPr>
        <p:spPr>
          <a:xfrm>
            <a:off x="1014730" y="1259840"/>
            <a:ext cx="9105265" cy="1645285"/>
          </a:xfrm>
          <a:prstGeom prst="rect">
            <a:avLst/>
          </a:prstGeom>
          <a:noFill/>
        </p:spPr>
        <p:txBody>
          <a:bodyPr wrap="square" rtlCol="0">
            <a:spAutoFit/>
          </a:bodyPr>
          <a:lstStyle/>
          <a:p>
            <a:pPr algn="just">
              <a:lnSpc>
                <a:spcPct val="150000"/>
              </a:lnSpc>
              <a:spcAft>
                <a:spcPts val="600"/>
              </a:spcAft>
            </a:pPr>
            <a:r>
              <a:rPr lang="zh-CN" altLang="en-US" sz="3200" dirty="0">
                <a:latin typeface="+mn-ea"/>
              </a:rPr>
              <a:t>文件：具有文件名的一组相关元素的集合</a:t>
            </a:r>
            <a:endParaRPr lang="zh-CN" altLang="en-US" sz="3200" dirty="0">
              <a:latin typeface="+mn-ea"/>
            </a:endParaRPr>
          </a:p>
          <a:p>
            <a:pPr algn="just">
              <a:lnSpc>
                <a:spcPct val="150000"/>
              </a:lnSpc>
              <a:spcAft>
                <a:spcPts val="600"/>
              </a:spcAft>
            </a:pPr>
            <a:r>
              <a:rPr lang="zh-CN" altLang="en-US" sz="3200" dirty="0">
                <a:latin typeface="+mn-ea"/>
              </a:rPr>
              <a:t>文件系统：是一种存储和组织计算机数据的</a:t>
            </a:r>
            <a:r>
              <a:rPr lang="zh-CN" altLang="en-US" sz="3200" dirty="0">
                <a:latin typeface="+mn-ea"/>
              </a:rPr>
              <a:t>方法</a:t>
            </a:r>
            <a:endParaRPr lang="zh-CN" altLang="en-US" sz="3200" dirty="0">
              <a:latin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740"/>
            <a:ext cx="7026275" cy="708660"/>
          </a:xfrm>
          <a:prstGeom prst="rect">
            <a:avLst/>
          </a:prstGeom>
        </p:spPr>
        <p:txBody>
          <a:bodyPr wrap="square">
            <a:noAutofit/>
          </a:bodyPr>
          <a:lstStyle/>
          <a:p>
            <a:r>
              <a:rPr lang="zh-CN" altLang="en-US" sz="2800" b="1" noProof="0" dirty="0">
                <a:ln>
                  <a:noFill/>
                </a:ln>
                <a:solidFill>
                  <a:schemeClr val="bg1"/>
                </a:solidFill>
                <a:effectLst/>
                <a:uLnTx/>
                <a:uFillTx/>
                <a:latin typeface="+mn-ea"/>
                <a:sym typeface="Wingdings" panose="05000000000000000000" pitchFamily="2" charset="2"/>
              </a:rPr>
              <a:t>文件类型</a:t>
            </a:r>
            <a:endParaRPr kumimoji="0" lang="en-US" altLang="zh-CN" sz="2800" b="1" i="0" u="none" strike="noStrike" kern="1200" cap="none" spc="0" normalizeH="0" baseline="0" noProof="0" dirty="0">
              <a:ln>
                <a:noFill/>
              </a:ln>
              <a:solidFill>
                <a:schemeClr val="bg1"/>
              </a:solidFill>
              <a:effectLst/>
              <a:uLnTx/>
              <a:uFillTx/>
              <a:latin typeface="+mn-ea"/>
              <a:cs typeface="+mn-cs"/>
              <a:sym typeface="Wingdings" panose="05000000000000000000" pitchFamily="2" charset="2"/>
            </a:endParaRPr>
          </a:p>
          <a:p>
            <a:endParaRPr kumimoji="0" lang="en-US" altLang="zh-CN" sz="2800" b="1" i="0" u="none" strike="noStrike" kern="1200" cap="none" spc="0" normalizeH="0" baseline="0" noProof="0" dirty="0">
              <a:ln>
                <a:noFill/>
              </a:ln>
              <a:solidFill>
                <a:schemeClr val="bg1"/>
              </a:solidFill>
              <a:effectLst/>
              <a:uLnTx/>
              <a:uFillTx/>
              <a:latin typeface="+mn-ea"/>
              <a:cs typeface="+mn-cs"/>
              <a:sym typeface="Wingdings" panose="05000000000000000000" pitchFamily="2" charset="2"/>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72155" y="1525435"/>
            <a:ext cx="527050" cy="527050"/>
          </a:xfrm>
          <a:prstGeom prst="rect">
            <a:avLst/>
          </a:prstGeom>
          <a:ln>
            <a:noFill/>
          </a:ln>
          <a:effectLst>
            <a:softEdge rad="0"/>
          </a:effectLst>
        </p:spPr>
      </p:pic>
      <p:sp>
        <p:nvSpPr>
          <p:cNvPr id="35" name="Rectangle 3"/>
          <p:cNvSpPr txBox="1">
            <a:spLocks noChangeArrowheads="1"/>
          </p:cNvSpPr>
          <p:nvPr/>
        </p:nvSpPr>
        <p:spPr bwMode="auto">
          <a:xfrm>
            <a:off x="1776730" y="1461135"/>
            <a:ext cx="9698990" cy="426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R="0" lvl="1" indent="-360045" algn="l" defTabSz="914400" rtl="0" eaLnBrk="1" fontAlgn="base" latinLnBrk="0" hangingPunct="1">
              <a:lnSpc>
                <a:spcPct val="150000"/>
              </a:lnSpc>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按用途分类：系统文件、用户文件、库文件</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lnSpc>
                <a:spcPct val="150000"/>
              </a:lnSpc>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按文件中数据的形式分类：源文件、目标文件、可执行文件</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lnSpc>
                <a:spcPct val="150000"/>
              </a:lnSpc>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按存取控制属性分类：可执行文件，只读文件，读写文件</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lnSpc>
                <a:spcPct val="150000"/>
              </a:lnSpc>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按组织形式和处理方式分类：普通文件、目录文件、特殊文件</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p:txBody>
      </p:sp>
      <p:sp>
        <p:nvSpPr>
          <p:cNvPr id="2" name="文本框 1"/>
          <p:cNvSpPr txBox="1"/>
          <p:nvPr/>
        </p:nvSpPr>
        <p:spPr>
          <a:xfrm>
            <a:off x="439420" y="4619625"/>
            <a:ext cx="11672570" cy="919480"/>
          </a:xfrm>
          <a:prstGeom prst="rect">
            <a:avLst/>
          </a:prstGeom>
          <a:noFill/>
        </p:spPr>
        <p:txBody>
          <a:bodyPr wrap="square" rtlCol="0" anchor="t">
            <a:noAutofit/>
          </a:bodyPr>
          <a:p>
            <a:r>
              <a:rPr lang="zh-CN" altLang="en-US" sz="2400">
                <a:solidFill>
                  <a:schemeClr val="bg1">
                    <a:lumMod val="50000"/>
                  </a:schemeClr>
                </a:solidFill>
                <a:sym typeface="+mn-ea"/>
              </a:rPr>
              <a:t>特殊文件是</a:t>
            </a:r>
            <a:r>
              <a:rPr lang="en-US" altLang="zh-CN" sz="2400">
                <a:solidFill>
                  <a:schemeClr val="bg1">
                    <a:lumMod val="50000"/>
                  </a:schemeClr>
                </a:solidFill>
                <a:sym typeface="+mn-ea"/>
              </a:rPr>
              <a:t>Linux/Unix</a:t>
            </a:r>
            <a:r>
              <a:rPr lang="zh-CN" altLang="en-US" sz="2400">
                <a:solidFill>
                  <a:schemeClr val="bg1">
                    <a:lumMod val="50000"/>
                  </a:schemeClr>
                </a:solidFill>
                <a:sym typeface="+mn-ea"/>
              </a:rPr>
              <a:t>系统中用于与硬件设备或进程间通信的特殊文件类型，</a:t>
            </a:r>
            <a:endParaRPr lang="zh-CN" altLang="en-US" sz="2400">
              <a:solidFill>
                <a:schemeClr val="bg1">
                  <a:lumMod val="50000"/>
                </a:schemeClr>
              </a:solidFill>
              <a:sym typeface="+mn-ea"/>
            </a:endParaRPr>
          </a:p>
          <a:p>
            <a:r>
              <a:rPr lang="zh-CN" altLang="en-US" sz="2400">
                <a:solidFill>
                  <a:schemeClr val="bg1">
                    <a:lumMod val="50000"/>
                  </a:schemeClr>
                </a:solidFill>
                <a:sym typeface="+mn-ea"/>
              </a:rPr>
              <a:t>目录文件则是一种特殊文件</a:t>
            </a:r>
            <a:endParaRPr lang="zh-CN" altLang="en-US" sz="2400">
              <a:solidFill>
                <a:schemeClr val="bg1">
                  <a:lumMod val="50000"/>
                </a:schemeClr>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3080" y="1047750"/>
            <a:ext cx="4159885" cy="5061585"/>
          </a:xfrm>
          <a:prstGeom prst="rect">
            <a:avLst/>
          </a:prstGeom>
          <a:solidFill>
            <a:schemeClr val="bg1">
              <a:lumMod val="85000"/>
            </a:schemeClr>
          </a:solidFill>
        </p:spPr>
        <p:txBody>
          <a:bodyPr wrap="square" rtlCol="0" anchor="t">
            <a:spAutoFit/>
          </a:bodyPr>
          <a:lstStyle/>
          <a:p>
            <a:pPr algn="just">
              <a:lnSpc>
                <a:spcPct val="150000"/>
              </a:lnSpc>
              <a:spcAft>
                <a:spcPts val="600"/>
              </a:spcAft>
            </a:pPr>
            <a:r>
              <a:rPr lang="zh-CN" altLang="en-US" sz="2400" dirty="0">
                <a:latin typeface="+mn-ea"/>
                <a:sym typeface="+mn-ea"/>
              </a:rPr>
              <a:t>文件的主要属性（元数据）</a:t>
            </a:r>
            <a:endParaRPr lang="en-US" altLang="zh-CN"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文件名</a:t>
            </a:r>
            <a:endParaRPr lang="zh-CN" altLang="en-US" sz="2400" dirty="0">
              <a:latin typeface="+mn-ea"/>
              <a:sym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文件类型</a:t>
            </a:r>
            <a:endParaRPr lang="zh-CN" altLang="en-US"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文件长度</a:t>
            </a:r>
            <a:endParaRPr lang="zh-CN" altLang="en-US"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文件的物理位置</a:t>
            </a:r>
            <a:endParaRPr lang="zh-CN" altLang="en-US"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文件的建立时间</a:t>
            </a:r>
            <a:endParaRPr lang="zh-CN" altLang="en-US" sz="2400" dirty="0">
              <a:latin typeface="+mn-ea"/>
              <a:sym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文件的访问权限</a:t>
            </a:r>
            <a:endParaRPr lang="zh-CN" altLang="en-US" sz="2400" dirty="0">
              <a:latin typeface="+mn-ea"/>
              <a:sym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文件所有者</a:t>
            </a:r>
            <a:endParaRPr lang="zh-CN" altLang="en-US" sz="2400" dirty="0">
              <a:latin typeface="+mn-ea"/>
              <a:sym typeface="+mn-ea"/>
            </a:endParaRPr>
          </a:p>
        </p:txBody>
      </p:sp>
      <p:sp>
        <p:nvSpPr>
          <p:cNvPr id="20" name="矩形 19"/>
          <p:cNvSpPr/>
          <p:nvPr/>
        </p:nvSpPr>
        <p:spPr>
          <a:xfrm>
            <a:off x="669925" y="78740"/>
            <a:ext cx="3263900" cy="521970"/>
          </a:xfrm>
          <a:prstGeom prst="rect">
            <a:avLst/>
          </a:prstGeom>
        </p:spPr>
        <p:txBody>
          <a:bodyPr wrap="square">
            <a:spAutoFit/>
          </a:bodyPr>
          <a:lstStyle/>
          <a:p>
            <a:r>
              <a:rPr lang="zh-CN" altLang="en-US" sz="2800" b="1" dirty="0">
                <a:solidFill>
                  <a:schemeClr val="bg1"/>
                </a:solidFill>
              </a:rPr>
              <a:t>文件属性和</a:t>
            </a:r>
            <a:r>
              <a:rPr lang="en-US" altLang="zh-CN" sz="2800" b="1" dirty="0">
                <a:solidFill>
                  <a:schemeClr val="bg1"/>
                </a:solidFill>
              </a:rPr>
              <a:t>FCB</a:t>
            </a:r>
            <a:endParaRPr lang="en-US" altLang="zh-CN" sz="2800" b="1" dirty="0">
              <a:solidFill>
                <a:schemeClr val="bg1"/>
              </a:solidFill>
            </a:endParaRPr>
          </a:p>
        </p:txBody>
      </p:sp>
      <p:sp>
        <p:nvSpPr>
          <p:cNvPr id="3" name="文本框 2"/>
          <p:cNvSpPr txBox="1"/>
          <p:nvPr/>
        </p:nvSpPr>
        <p:spPr>
          <a:xfrm>
            <a:off x="5782310" y="1146810"/>
            <a:ext cx="5693410" cy="4199890"/>
          </a:xfrm>
          <a:prstGeom prst="rect">
            <a:avLst/>
          </a:prstGeom>
          <a:noFill/>
        </p:spPr>
        <p:txBody>
          <a:bodyPr wrap="square" rtlCol="0" anchor="t">
            <a:spAutoFit/>
          </a:bodyPr>
          <a:lstStyle/>
          <a:p>
            <a:pPr algn="just">
              <a:lnSpc>
                <a:spcPct val="150000"/>
              </a:lnSpc>
              <a:spcAft>
                <a:spcPts val="600"/>
              </a:spcAft>
            </a:pPr>
            <a:r>
              <a:rPr lang="zh-CN" altLang="en-US" sz="2400" dirty="0">
                <a:solidFill>
                  <a:srgbClr val="FF0000"/>
                </a:solidFill>
                <a:latin typeface="+mn-ea"/>
                <a:sym typeface="+mn-ea"/>
              </a:rPr>
              <a:t>文件</a:t>
            </a:r>
            <a:r>
              <a:rPr lang="en-US" altLang="zh-CN" sz="2400" dirty="0">
                <a:solidFill>
                  <a:srgbClr val="FF0000"/>
                </a:solidFill>
                <a:latin typeface="+mn-ea"/>
                <a:sym typeface="+mn-ea"/>
              </a:rPr>
              <a:t>=</a:t>
            </a:r>
            <a:r>
              <a:rPr lang="zh-CN" altLang="en-US" sz="2400" dirty="0">
                <a:solidFill>
                  <a:srgbClr val="FF0000"/>
                </a:solidFill>
                <a:latin typeface="+mn-ea"/>
                <a:sym typeface="+mn-ea"/>
              </a:rPr>
              <a:t>文件控制块</a:t>
            </a:r>
            <a:r>
              <a:rPr lang="en-US" altLang="zh-CN" sz="2400" dirty="0">
                <a:solidFill>
                  <a:srgbClr val="FF0000"/>
                </a:solidFill>
                <a:latin typeface="+mn-ea"/>
                <a:sym typeface="+mn-ea"/>
              </a:rPr>
              <a:t>FCB+</a:t>
            </a:r>
            <a:r>
              <a:rPr lang="zh-CN" altLang="en-US" sz="2400" dirty="0">
                <a:solidFill>
                  <a:srgbClr val="FF0000"/>
                </a:solidFill>
                <a:latin typeface="+mn-ea"/>
                <a:sym typeface="+mn-ea"/>
              </a:rPr>
              <a:t>文件数据</a:t>
            </a:r>
            <a:endParaRPr lang="en-US" altLang="zh-CN" sz="2400" dirty="0">
              <a:solidFill>
                <a:srgbClr val="FF0000"/>
              </a:solidFill>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全部元数据放置在</a:t>
            </a:r>
            <a:r>
              <a:rPr lang="en-US" altLang="zh-CN" sz="2400" dirty="0">
                <a:latin typeface="+mn-ea"/>
                <a:sym typeface="+mn-ea"/>
              </a:rPr>
              <a:t>FCB</a:t>
            </a:r>
            <a:r>
              <a:rPr lang="zh-CN" altLang="en-US" sz="2400" dirty="0">
                <a:latin typeface="+mn-ea"/>
                <a:sym typeface="+mn-ea"/>
              </a:rPr>
              <a:t>中，可以方便实现文件按名存取</a:t>
            </a:r>
            <a:endParaRPr lang="zh-CN" altLang="en-US" sz="2400" dirty="0">
              <a:latin typeface="+mn-ea"/>
              <a:sym typeface="+mn-ea"/>
            </a:endParaRPr>
          </a:p>
          <a:p>
            <a:pPr marL="342900" indent="-342900" algn="just">
              <a:lnSpc>
                <a:spcPct val="150000"/>
              </a:lnSpc>
              <a:spcAft>
                <a:spcPts val="600"/>
              </a:spcAft>
              <a:buClr>
                <a:srgbClr val="FF0000"/>
              </a:buClr>
              <a:buFont typeface="Wingdings" panose="05000000000000000000" pitchFamily="2" charset="2"/>
              <a:buChar char="Ø"/>
            </a:pPr>
            <a:r>
              <a:rPr lang="en-US" altLang="zh-CN" sz="2400" dirty="0">
                <a:latin typeface="+mn-ea"/>
                <a:sym typeface="+mn-ea"/>
              </a:rPr>
              <a:t>FCB</a:t>
            </a:r>
            <a:r>
              <a:rPr lang="zh-CN" altLang="en-US" sz="2400" dirty="0">
                <a:latin typeface="+mn-ea"/>
                <a:sym typeface="+mn-ea"/>
              </a:rPr>
              <a:t>的有序集合称为</a:t>
            </a:r>
            <a:r>
              <a:rPr lang="zh-CN" altLang="en-US" sz="2400" b="1" dirty="0">
                <a:solidFill>
                  <a:srgbClr val="0000FF"/>
                </a:solidFill>
                <a:latin typeface="+mn-ea"/>
                <a:sym typeface="+mn-ea"/>
              </a:rPr>
              <a:t>文件目录</a:t>
            </a:r>
            <a:endParaRPr lang="zh-CN" altLang="en-US" sz="2400" b="1" dirty="0">
              <a:solidFill>
                <a:srgbClr val="0000FF"/>
              </a:solidFill>
              <a:latin typeface="+mn-ea"/>
              <a:sym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sym typeface="+mn-ea"/>
              </a:rPr>
              <a:t>为了进一步提高查找效率，可以将除文件名之外的所有属性单独放在一个数据结构，即</a:t>
            </a:r>
            <a:r>
              <a:rPr lang="zh-CN" altLang="en-US" sz="2400" b="1" dirty="0">
                <a:latin typeface="+mn-ea"/>
                <a:sym typeface="+mn-ea"/>
              </a:rPr>
              <a:t>索引节点</a:t>
            </a:r>
            <a:r>
              <a:rPr lang="zh-CN" altLang="en-US" sz="2400" dirty="0">
                <a:latin typeface="+mn-ea"/>
                <a:sym typeface="+mn-ea"/>
              </a:rPr>
              <a:t>中。</a:t>
            </a:r>
            <a:endParaRPr lang="zh-CN" altLang="en-US" sz="2400" dirty="0">
              <a:latin typeface="+mn-ea"/>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索引节点</a:t>
            </a:r>
            <a:endParaRPr lang="zh-CN" altLang="en-US" sz="2800" b="1" dirty="0">
              <a:solidFill>
                <a:schemeClr val="bg1"/>
              </a:solidFill>
            </a:endParaRPr>
          </a:p>
        </p:txBody>
      </p:sp>
      <p:sp>
        <p:nvSpPr>
          <p:cNvPr id="25" name="内容占位符 2"/>
          <p:cNvSpPr txBox="1"/>
          <p:nvPr/>
        </p:nvSpPr>
        <p:spPr>
          <a:xfrm>
            <a:off x="1482725" y="1192530"/>
            <a:ext cx="9880600" cy="48393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a:sym typeface="Wingdings" panose="05000000000000000000" pitchFamily="2" charset="2"/>
              </a:rPr>
              <a:t>设目录文件所占盘块数为</a:t>
            </a:r>
            <a:r>
              <a:rPr lang="en-US" altLang="zh-CN" sz="2400" dirty="0">
                <a:sym typeface="Wingdings" panose="05000000000000000000" pitchFamily="2" charset="2"/>
              </a:rPr>
              <a:t>N</a:t>
            </a:r>
            <a:r>
              <a:rPr lang="zh-CN" altLang="en-US" sz="2400" dirty="0">
                <a:sym typeface="Wingdings" panose="05000000000000000000" pitchFamily="2" charset="2"/>
              </a:rPr>
              <a:t>，则查找一个目录项平均需要调入盘块</a:t>
            </a:r>
            <a:r>
              <a:rPr lang="en-US" altLang="zh-CN" sz="2400" dirty="0">
                <a:sym typeface="Wingdings" panose="05000000000000000000" pitchFamily="2" charset="2"/>
              </a:rPr>
              <a:t>(N+1)/2</a:t>
            </a:r>
            <a:r>
              <a:rPr lang="zh-CN" altLang="en-US" sz="2400" dirty="0">
                <a:sym typeface="Wingdings" panose="05000000000000000000" pitchFamily="2" charset="2"/>
              </a:rPr>
              <a:t>次</a:t>
            </a:r>
            <a:endParaRPr lang="zh-CN" altLang="en-US" sz="2400" dirty="0">
              <a:sym typeface="Wingdings" panose="05000000000000000000" pitchFamily="2" charset="2"/>
            </a:endParaRPr>
          </a:p>
          <a:p>
            <a:pPr marL="0" indent="0">
              <a:lnSpc>
                <a:spcPct val="123000"/>
              </a:lnSpc>
              <a:buNone/>
            </a:pPr>
            <a:r>
              <a:rPr lang="zh-CN" altLang="en-US" sz="2400" dirty="0">
                <a:sym typeface="Wingdings" panose="05000000000000000000" pitchFamily="2" charset="2"/>
              </a:rPr>
              <a:t>假如一个</a:t>
            </a:r>
            <a:r>
              <a:rPr lang="en-US" altLang="zh-CN" sz="2400" dirty="0">
                <a:sym typeface="Wingdings" panose="05000000000000000000" pitchFamily="2" charset="2"/>
              </a:rPr>
              <a:t>FCB</a:t>
            </a:r>
            <a:r>
              <a:rPr lang="zh-CN" altLang="en-US" sz="2400" dirty="0">
                <a:sym typeface="Wingdings" panose="05000000000000000000" pitchFamily="2" charset="2"/>
              </a:rPr>
              <a:t>为</a:t>
            </a:r>
            <a:r>
              <a:rPr lang="en-US" altLang="zh-CN" sz="2400" dirty="0">
                <a:sym typeface="Wingdings" panose="05000000000000000000" pitchFamily="2" charset="2"/>
              </a:rPr>
              <a:t>64B</a:t>
            </a:r>
            <a:r>
              <a:rPr lang="zh-CN" altLang="en-US" sz="2400" dirty="0">
                <a:sym typeface="Wingdings" panose="05000000000000000000" pitchFamily="2" charset="2"/>
              </a:rPr>
              <a:t>，盘块大小为</a:t>
            </a:r>
            <a:r>
              <a:rPr lang="en-US" altLang="zh-CN" sz="2400" dirty="0">
                <a:sym typeface="Wingdings" panose="05000000000000000000" pitchFamily="2" charset="2"/>
              </a:rPr>
              <a:t>1KB</a:t>
            </a:r>
            <a:r>
              <a:rPr lang="zh-CN" altLang="en-US" sz="2400" dirty="0">
                <a:sym typeface="Wingdings" panose="05000000000000000000" pitchFamily="2" charset="2"/>
              </a:rPr>
              <a:t>，则每个盘块中只能存放</a:t>
            </a:r>
            <a:r>
              <a:rPr lang="en-US" altLang="zh-CN" sz="2400" dirty="0">
                <a:sym typeface="Wingdings" panose="05000000000000000000" pitchFamily="2" charset="2"/>
              </a:rPr>
              <a:t>16</a:t>
            </a:r>
            <a:r>
              <a:rPr lang="zh-CN" altLang="en-US" sz="2400" dirty="0">
                <a:sym typeface="Wingdings" panose="05000000000000000000" pitchFamily="2" charset="2"/>
              </a:rPr>
              <a:t>个</a:t>
            </a:r>
            <a:r>
              <a:rPr lang="en-US" altLang="zh-CN" sz="2400" dirty="0">
                <a:sym typeface="Wingdings" panose="05000000000000000000" pitchFamily="2" charset="2"/>
              </a:rPr>
              <a:t>FCB</a:t>
            </a:r>
            <a:r>
              <a:rPr lang="zh-CN" altLang="en-US" sz="2400" dirty="0">
                <a:sym typeface="Wingdings" panose="05000000000000000000" pitchFamily="2" charset="2"/>
              </a:rPr>
              <a:t>；若一个文件目录中共有</a:t>
            </a:r>
            <a:r>
              <a:rPr lang="en-US" altLang="zh-CN" sz="2400" dirty="0">
                <a:sym typeface="Wingdings" panose="05000000000000000000" pitchFamily="2" charset="2"/>
              </a:rPr>
              <a:t>640</a:t>
            </a:r>
            <a:r>
              <a:rPr lang="zh-CN" altLang="en-US" sz="2400" dirty="0">
                <a:sym typeface="Wingdings" panose="05000000000000000000" pitchFamily="2" charset="2"/>
              </a:rPr>
              <a:t>个</a:t>
            </a:r>
            <a:r>
              <a:rPr lang="en-US" altLang="zh-CN" sz="2400" dirty="0">
                <a:sym typeface="Wingdings" panose="05000000000000000000" pitchFamily="2" charset="2"/>
              </a:rPr>
              <a:t>FCB </a:t>
            </a:r>
            <a:r>
              <a:rPr lang="zh-CN" altLang="en-US" sz="2400" dirty="0">
                <a:sym typeface="Wingdings" panose="05000000000000000000" pitchFamily="2" charset="2"/>
              </a:rPr>
              <a:t>，需占用</a:t>
            </a:r>
            <a:r>
              <a:rPr lang="en-US" altLang="zh-CN" sz="2400" dirty="0">
                <a:sym typeface="Wingdings" panose="05000000000000000000" pitchFamily="2" charset="2"/>
              </a:rPr>
              <a:t>40</a:t>
            </a:r>
            <a:r>
              <a:rPr lang="zh-CN" altLang="en-US" sz="2400" dirty="0">
                <a:sym typeface="Wingdings" panose="05000000000000000000" pitchFamily="2" charset="2"/>
              </a:rPr>
              <a:t>个盘块，故平均查找一个文件需启动磁盘</a:t>
            </a:r>
            <a:r>
              <a:rPr lang="en-US" altLang="zh-CN" sz="2400" dirty="0">
                <a:solidFill>
                  <a:srgbClr val="FF0000"/>
                </a:solidFill>
                <a:sym typeface="Wingdings" panose="05000000000000000000" pitchFamily="2" charset="2"/>
              </a:rPr>
              <a:t>20</a:t>
            </a:r>
            <a:r>
              <a:rPr lang="zh-CN" altLang="en-US" sz="2400" dirty="0">
                <a:solidFill>
                  <a:srgbClr val="FF0000"/>
                </a:solidFill>
                <a:sym typeface="Wingdings" panose="05000000000000000000" pitchFamily="2" charset="2"/>
              </a:rPr>
              <a:t>次</a:t>
            </a:r>
            <a:endParaRPr lang="en-US" altLang="zh-CN" sz="2400" dirty="0">
              <a:solidFill>
                <a:srgbClr val="FF0000"/>
              </a:solidFill>
              <a:sym typeface="Wingdings" panose="05000000000000000000" pitchFamily="2" charset="2"/>
            </a:endParaRPr>
          </a:p>
          <a:p>
            <a:pPr marL="0" indent="0">
              <a:lnSpc>
                <a:spcPct val="123000"/>
              </a:lnSpc>
              <a:buNone/>
            </a:pPr>
            <a:r>
              <a:rPr lang="zh-CN" altLang="en-US" sz="2400" dirty="0"/>
              <a:t>引入索引节点后，</a:t>
            </a:r>
            <a:r>
              <a:rPr lang="zh-CN" altLang="zh-CN" sz="2400" dirty="0"/>
              <a:t>一个目录仅占</a:t>
            </a:r>
            <a:r>
              <a:rPr lang="en-US" altLang="zh-CN" sz="2400" dirty="0"/>
              <a:t>16B</a:t>
            </a:r>
            <a:r>
              <a:rPr lang="zh-CN" altLang="zh-CN" sz="2400" dirty="0"/>
              <a:t>，</a:t>
            </a:r>
            <a:r>
              <a:rPr lang="en-US" altLang="zh-CN" sz="2400" dirty="0"/>
              <a:t>1KB</a:t>
            </a:r>
            <a:r>
              <a:rPr lang="zh-CN" altLang="zh-CN" sz="2400" dirty="0"/>
              <a:t>的盘块中可容纳</a:t>
            </a:r>
            <a:r>
              <a:rPr lang="en-US" altLang="zh-CN" sz="2400" dirty="0"/>
              <a:t>64</a:t>
            </a:r>
            <a:r>
              <a:rPr lang="zh-CN" altLang="zh-CN" sz="2400" dirty="0"/>
              <a:t>个目录项</a:t>
            </a:r>
            <a:r>
              <a:rPr lang="zh-CN" altLang="en-US" sz="2400" dirty="0"/>
              <a:t>；</a:t>
            </a:r>
            <a:r>
              <a:rPr lang="zh-CN" altLang="en-US" sz="2400" dirty="0">
                <a:sym typeface="Wingdings" panose="05000000000000000000" pitchFamily="2" charset="2"/>
              </a:rPr>
              <a:t>若一个文件目录中共有</a:t>
            </a:r>
            <a:r>
              <a:rPr lang="en-US" altLang="zh-CN" sz="2400" dirty="0">
                <a:sym typeface="Wingdings" panose="05000000000000000000" pitchFamily="2" charset="2"/>
              </a:rPr>
              <a:t>640</a:t>
            </a:r>
            <a:r>
              <a:rPr lang="zh-CN" altLang="en-US" sz="2400" dirty="0">
                <a:sym typeface="Wingdings" panose="05000000000000000000" pitchFamily="2" charset="2"/>
              </a:rPr>
              <a:t>个</a:t>
            </a:r>
            <a:r>
              <a:rPr lang="en-US" altLang="zh-CN" sz="2400" dirty="0">
                <a:sym typeface="Wingdings" panose="05000000000000000000" pitchFamily="2" charset="2"/>
              </a:rPr>
              <a:t>FCB</a:t>
            </a:r>
            <a:r>
              <a:rPr lang="zh-CN" altLang="en-US" sz="2400" dirty="0">
                <a:sym typeface="Wingdings" panose="05000000000000000000" pitchFamily="2" charset="2"/>
              </a:rPr>
              <a:t>，需占用</a:t>
            </a:r>
            <a:r>
              <a:rPr lang="en-US" altLang="zh-CN" sz="2400" dirty="0">
                <a:sym typeface="Wingdings" panose="05000000000000000000" pitchFamily="2" charset="2"/>
              </a:rPr>
              <a:t>10</a:t>
            </a:r>
            <a:r>
              <a:rPr lang="zh-CN" altLang="en-US" sz="2400" dirty="0">
                <a:sym typeface="Wingdings" panose="05000000000000000000" pitchFamily="2" charset="2"/>
              </a:rPr>
              <a:t>个盘块，故平均查找一个文件需启动磁盘</a:t>
            </a:r>
            <a:r>
              <a:rPr lang="en-US" altLang="zh-CN" sz="2400" dirty="0">
                <a:solidFill>
                  <a:srgbClr val="FF0000"/>
                </a:solidFill>
                <a:sym typeface="Wingdings" panose="05000000000000000000" pitchFamily="2" charset="2"/>
              </a:rPr>
              <a:t>5</a:t>
            </a:r>
            <a:r>
              <a:rPr lang="zh-CN" altLang="en-US" sz="2400" dirty="0">
                <a:solidFill>
                  <a:srgbClr val="FF0000"/>
                </a:solidFill>
                <a:sym typeface="Wingdings" panose="05000000000000000000" pitchFamily="2" charset="2"/>
              </a:rPr>
              <a:t>次</a:t>
            </a:r>
            <a:endParaRPr lang="en-US" altLang="zh-CN" sz="2400" dirty="0">
              <a:solidFill>
                <a:srgbClr val="FF0000"/>
              </a:solidFill>
              <a:sym typeface="Wingdings" panose="05000000000000000000" pitchFamily="2" charset="2"/>
            </a:endParaRPr>
          </a:p>
          <a:p>
            <a:pPr marL="0" indent="0">
              <a:lnSpc>
                <a:spcPct val="123000"/>
              </a:lnSpc>
              <a:buNone/>
            </a:pPr>
            <a:r>
              <a:rPr lang="zh-CN" altLang="zh-CN" sz="2400" dirty="0"/>
              <a:t>可使平均启动磁盘次数</a:t>
            </a:r>
            <a:r>
              <a:rPr lang="zh-CN" altLang="zh-CN" sz="2400" dirty="0">
                <a:solidFill>
                  <a:srgbClr val="FF0000"/>
                </a:solidFill>
              </a:rPr>
              <a:t>减少到原来的</a:t>
            </a:r>
            <a:r>
              <a:rPr lang="en-US" altLang="zh-CN" sz="2400" b="1" dirty="0">
                <a:solidFill>
                  <a:srgbClr val="FF0000"/>
                </a:solidFill>
              </a:rPr>
              <a:t>1/4</a:t>
            </a:r>
            <a:endParaRPr lang="zh-CN" altLang="en-US" sz="2400" b="1" dirty="0">
              <a:solidFill>
                <a:srgbClr val="FF0000"/>
              </a:solidFill>
            </a:endParaRPr>
          </a:p>
        </p:txBody>
      </p:sp>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1192382"/>
            <a:ext cx="527050" cy="527050"/>
          </a:xfrm>
          <a:prstGeom prst="rect">
            <a:avLst/>
          </a:prstGeom>
          <a:ln>
            <a:noFill/>
          </a:ln>
          <a:effectLst>
            <a:softEdge rad="0"/>
          </a:effectLst>
        </p:spPr>
      </p:pic>
      <p:pic>
        <p:nvPicPr>
          <p:cNvPr id="38" name="图片 3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2265794"/>
            <a:ext cx="527050" cy="527050"/>
          </a:xfrm>
          <a:prstGeom prst="rect">
            <a:avLst/>
          </a:prstGeom>
          <a:ln>
            <a:noFill/>
          </a:ln>
          <a:effectLst>
            <a:softEdge rad="0"/>
          </a:effectLst>
        </p:spPr>
      </p:pic>
      <p:pic>
        <p:nvPicPr>
          <p:cNvPr id="39" name="图片 3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3800152"/>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5238602"/>
            <a:ext cx="527050" cy="527050"/>
          </a:xfrm>
          <a:prstGeom prst="rect">
            <a:avLst/>
          </a:prstGeom>
          <a:ln>
            <a:noFill/>
          </a:ln>
          <a:effectLst>
            <a:softEdge rad="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055" y="1241425"/>
            <a:ext cx="11214735" cy="2861310"/>
          </a:xfrm>
          <a:prstGeom prst="rect">
            <a:avLst/>
          </a:prstGeom>
          <a:noFill/>
        </p:spPr>
        <p:txBody>
          <a:bodyPr wrap="square" rtlCol="0" anchor="t">
            <a:spAutoFit/>
          </a:bodyPr>
          <a:p>
            <a:r>
              <a:rPr lang="zh-CN" altLang="en-US" sz="3600"/>
              <a:t>【</a:t>
            </a:r>
            <a:r>
              <a:rPr lang="en-US" altLang="zh-CN" sz="3600"/>
              <a:t>2020</a:t>
            </a:r>
            <a:r>
              <a:rPr lang="zh-CN" altLang="en-US" sz="3600"/>
              <a:t>】某文件系统的目录项由文件名和索引结点号构成。若每个目录项长度为</a:t>
            </a:r>
            <a:r>
              <a:rPr lang="en-US" altLang="zh-CN" sz="3600"/>
              <a:t>64</a:t>
            </a:r>
            <a:r>
              <a:rPr lang="zh-CN" altLang="en-US" sz="3600"/>
              <a:t>字节，其中</a:t>
            </a:r>
            <a:r>
              <a:rPr lang="en-US" altLang="zh-CN" sz="3600"/>
              <a:t>4</a:t>
            </a:r>
            <a:r>
              <a:rPr lang="zh-CN" altLang="en-US" sz="3600"/>
              <a:t>字节存放索引结点号，</a:t>
            </a:r>
            <a:r>
              <a:rPr lang="en-US" altLang="zh-CN" sz="3600"/>
              <a:t>60</a:t>
            </a:r>
            <a:r>
              <a:rPr lang="zh-CN" altLang="en-US" sz="3600"/>
              <a:t>字节存放文件名。文件名由小写英文字母构成，则该文件系统能创建的文件数量的上限为（</a:t>
            </a:r>
            <a:r>
              <a:rPr lang="en-US" altLang="zh-CN" sz="3600"/>
              <a:t>)</a:t>
            </a:r>
            <a:r>
              <a:rPr lang="zh-CN" altLang="en-US" sz="3600"/>
              <a:t>。</a:t>
            </a:r>
            <a:r>
              <a:rPr lang="en-US" altLang="zh-CN" sz="3600"/>
              <a:t> A .2</a:t>
            </a:r>
            <a:r>
              <a:rPr lang="en-US" altLang="zh-CN" sz="3600" baseline="30000"/>
              <a:t>26</a:t>
            </a:r>
            <a:r>
              <a:rPr lang="en-US" altLang="zh-CN" sz="3600"/>
              <a:t>    B.2</a:t>
            </a:r>
            <a:r>
              <a:rPr lang="en-US" altLang="zh-CN" sz="3600" baseline="30000"/>
              <a:t>32</a:t>
            </a:r>
            <a:r>
              <a:rPr lang="en-US" altLang="zh-CN" sz="3600"/>
              <a:t>       C.2</a:t>
            </a:r>
            <a:r>
              <a:rPr lang="en-US" altLang="zh-CN" sz="3600" baseline="30000"/>
              <a:t>60</a:t>
            </a:r>
            <a:r>
              <a:rPr lang="en-US" altLang="zh-CN" sz="3600"/>
              <a:t>           D.2</a:t>
            </a:r>
            <a:r>
              <a:rPr lang="en-US" altLang="zh-CN" sz="3600" baseline="30000"/>
              <a:t>64</a:t>
            </a:r>
            <a:endParaRPr lang="en-US" altLang="zh-CN" sz="3600" baseline="30000"/>
          </a:p>
        </p:txBody>
      </p:sp>
      <p:sp>
        <p:nvSpPr>
          <p:cNvPr id="3" name="文本框 2"/>
          <p:cNvSpPr txBox="1"/>
          <p:nvPr/>
        </p:nvSpPr>
        <p:spPr>
          <a:xfrm>
            <a:off x="1184910" y="5230495"/>
            <a:ext cx="6523990" cy="494030"/>
          </a:xfrm>
          <a:prstGeom prst="rect">
            <a:avLst/>
          </a:prstGeom>
          <a:noFill/>
        </p:spPr>
        <p:txBody>
          <a:bodyPr wrap="square" rtlCol="0" anchor="t">
            <a:noAutofit/>
          </a:bodyPr>
          <a:p>
            <a:r>
              <a:rPr lang="en-US" altLang="zh-CN" sz="3600">
                <a:sym typeface="+mn-ea"/>
              </a:rPr>
              <a:t> </a:t>
            </a:r>
            <a:r>
              <a:rPr lang="zh-CN" altLang="en-US" sz="3600">
                <a:solidFill>
                  <a:srgbClr val="FF0000"/>
                </a:solidFill>
                <a:sym typeface="+mn-ea"/>
              </a:rPr>
              <a:t>答案</a:t>
            </a:r>
            <a:r>
              <a:rPr lang="zh-CN" altLang="en-US" sz="3600">
                <a:sym typeface="+mn-ea"/>
              </a:rPr>
              <a:t>：</a:t>
            </a:r>
            <a:r>
              <a:rPr lang="en-US" altLang="zh-CN" sz="3600">
                <a:solidFill>
                  <a:srgbClr val="FF0000"/>
                </a:solidFill>
                <a:sym typeface="+mn-ea"/>
              </a:rPr>
              <a:t>B</a:t>
            </a:r>
            <a:endParaRPr lang="en-US" altLang="zh-CN" sz="36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文件操作</a:t>
            </a:r>
            <a:endParaRPr lang="zh-CN" altLang="en-US" sz="2800" b="1" dirty="0">
              <a:solidFill>
                <a:schemeClr val="bg1"/>
              </a:solidFill>
            </a:endParaRPr>
          </a:p>
        </p:txBody>
      </p:sp>
      <p:sp>
        <p:nvSpPr>
          <p:cNvPr id="224" name="îs1iďé"/>
          <p:cNvSpPr/>
          <p:nvPr/>
        </p:nvSpPr>
        <p:spPr>
          <a:xfrm>
            <a:off x="1821535" y="1637377"/>
            <a:ext cx="9711234" cy="987663"/>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创建文件、删除文件、读文件、写文件、</a:t>
            </a:r>
            <a:r>
              <a:rPr lang="zh-CN" altLang="en-US" sz="2400" dirty="0">
                <a:sym typeface="+mn-ea"/>
              </a:rPr>
              <a:t>文件</a:t>
            </a:r>
            <a:r>
              <a:rPr lang="zh-CN" altLang="en-US" sz="2400" dirty="0">
                <a:sym typeface="+mn-ea"/>
              </a:rPr>
              <a:t>定位和截断文件</a:t>
            </a:r>
            <a:endParaRPr lang="zh-CN" altLang="en-US" sz="2400" dirty="0"/>
          </a:p>
          <a:p>
            <a:pPr indent="0">
              <a:lnSpc>
                <a:spcPct val="120000"/>
              </a:lnSpc>
              <a:spcBef>
                <a:spcPts val="600"/>
              </a:spcBef>
              <a:buClr>
                <a:srgbClr val="FF0000"/>
              </a:buClr>
              <a:buFont typeface="Wingdings" panose="05000000000000000000" pitchFamily="2" charset="2"/>
              <a:buNone/>
            </a:pPr>
            <a:endParaRPr lang="zh-CN" altLang="en-US" sz="2400" dirty="0"/>
          </a:p>
        </p:txBody>
      </p:sp>
      <p:sp>
        <p:nvSpPr>
          <p:cNvPr id="225"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t>最基本的文件操作</a:t>
            </a:r>
            <a:endParaRPr lang="zh-CN" altLang="en-US" sz="2400" dirty="0"/>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13959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 name="文本框 1"/>
          <p:cNvSpPr txBox="1"/>
          <p:nvPr/>
        </p:nvSpPr>
        <p:spPr>
          <a:xfrm>
            <a:off x="1118870" y="2270125"/>
            <a:ext cx="10172065" cy="3798570"/>
          </a:xfrm>
          <a:prstGeom prst="rect">
            <a:avLst/>
          </a:prstGeom>
          <a:solidFill>
            <a:schemeClr val="bg1">
              <a:lumMod val="95000"/>
            </a:schemeClr>
          </a:solidFill>
        </p:spPr>
        <p:txBody>
          <a:bodyPr wrap="square" rtlCol="0" anchor="t">
            <a:noAutofit/>
          </a:bodyPr>
          <a:p>
            <a:r>
              <a:rPr lang="zh-CN" altLang="en-US" sz="2800"/>
              <a:t>正确读文件次序：</a:t>
            </a:r>
            <a:endParaRPr lang="zh-CN" altLang="en-US" sz="2800"/>
          </a:p>
          <a:p>
            <a:pPr>
              <a:lnSpc>
                <a:spcPct val="150000"/>
              </a:lnSpc>
            </a:pPr>
            <a:r>
              <a:rPr lang="en-US" altLang="zh-CN" sz="2800"/>
              <a:t>1</a:t>
            </a:r>
            <a:r>
              <a:rPr lang="zh-CN" altLang="en-US" sz="2800">
                <a:sym typeface="+mn-ea"/>
              </a:rPr>
              <a:t>．</a:t>
            </a:r>
            <a:r>
              <a:rPr lang="zh-CN" altLang="en-US" sz="2800"/>
              <a:t>按文件名在活动文件表中找到该文件的目录项</a:t>
            </a:r>
            <a:r>
              <a:rPr lang="en-US" altLang="zh-CN" sz="2800"/>
              <a:t> </a:t>
            </a:r>
            <a:endParaRPr lang="en-US" altLang="zh-CN" sz="2800"/>
          </a:p>
          <a:p>
            <a:pPr>
              <a:lnSpc>
                <a:spcPct val="150000"/>
              </a:lnSpc>
            </a:pPr>
            <a:r>
              <a:rPr lang="en-US" altLang="zh-CN" sz="2800">
                <a:sym typeface="+mn-ea"/>
              </a:rPr>
              <a:t>2</a:t>
            </a:r>
            <a:r>
              <a:rPr lang="zh-CN" altLang="en-US" sz="2800">
                <a:sym typeface="+mn-ea"/>
              </a:rPr>
              <a:t>．按存取控制说明检查访问的合法性</a:t>
            </a:r>
            <a:r>
              <a:rPr lang="en-US" altLang="zh-CN" sz="2800">
                <a:sym typeface="+mn-ea"/>
              </a:rPr>
              <a:t> </a:t>
            </a:r>
            <a:endParaRPr lang="en-US" altLang="zh-CN" sz="2800"/>
          </a:p>
          <a:p>
            <a:pPr>
              <a:lnSpc>
                <a:spcPct val="150000"/>
              </a:lnSpc>
            </a:pPr>
            <a:r>
              <a:rPr lang="en-US" altLang="zh-CN" sz="2800">
                <a:sym typeface="+mn-ea"/>
              </a:rPr>
              <a:t>3</a:t>
            </a:r>
            <a:r>
              <a:rPr lang="zh-CN" altLang="en-US" sz="2800">
                <a:sym typeface="+mn-ea"/>
              </a:rPr>
              <a:t>．根据目录项中该文件的逻辑和物理组织形式，将逻辑记录号转换成物理块号</a:t>
            </a:r>
            <a:r>
              <a:rPr lang="en-US" altLang="zh-CN" sz="2800">
                <a:sym typeface="+mn-ea"/>
              </a:rPr>
              <a:t> </a:t>
            </a:r>
            <a:endParaRPr lang="en-US" altLang="zh-CN" sz="2800"/>
          </a:p>
          <a:p>
            <a:pPr>
              <a:lnSpc>
                <a:spcPct val="150000"/>
              </a:lnSpc>
            </a:pPr>
            <a:r>
              <a:rPr lang="en-US" altLang="zh-CN" sz="2800">
                <a:sym typeface="+mn-ea"/>
              </a:rPr>
              <a:t>4.</a:t>
            </a:r>
            <a:r>
              <a:rPr lang="zh-CN" altLang="en-US" sz="2800">
                <a:sym typeface="+mn-ea"/>
              </a:rPr>
              <a:t>向设备驱动程序发出</a:t>
            </a:r>
            <a:r>
              <a:rPr lang="en-US" altLang="zh-CN" sz="2800">
                <a:sym typeface="+mn-ea"/>
              </a:rPr>
              <a:t> I / O </a:t>
            </a:r>
            <a:r>
              <a:rPr lang="zh-CN" altLang="en-US" sz="2800">
                <a:sym typeface="+mn-ea"/>
              </a:rPr>
              <a:t>请求，完成数据交换工作</a:t>
            </a:r>
            <a:r>
              <a:rPr lang="en-US" altLang="zh-CN" sz="2800">
                <a:sym typeface="+mn-ea"/>
              </a:rPr>
              <a:t> </a:t>
            </a:r>
            <a:endParaRPr lang="zh-CN" alt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文件操作</a:t>
            </a:r>
            <a:endParaRPr lang="zh-CN" altLang="en-US" sz="2800" b="1" dirty="0">
              <a:solidFill>
                <a:schemeClr val="bg1"/>
              </a:solidFill>
            </a:endParaRPr>
          </a:p>
        </p:txBody>
      </p:sp>
      <p:sp>
        <p:nvSpPr>
          <p:cNvPr id="220" name="íšḻîḋè"/>
          <p:cNvSpPr/>
          <p:nvPr/>
        </p:nvSpPr>
        <p:spPr>
          <a:xfrm>
            <a:off x="1746844" y="1718458"/>
            <a:ext cx="9554430"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0000FF"/>
                </a:solidFill>
              </a:rPr>
              <a:t>打开</a:t>
            </a:r>
            <a:r>
              <a:rPr lang="en-US" altLang="zh-CN" sz="2400" dirty="0">
                <a:solidFill>
                  <a:srgbClr val="0000FF"/>
                </a:solidFill>
              </a:rPr>
              <a:t>open</a:t>
            </a:r>
            <a:r>
              <a:rPr lang="zh-CN" altLang="en-US" sz="2400" dirty="0"/>
              <a:t>：系统将文件从外存拷贝到内存打开文件表的一个表目中，并将该表目的编号（索引）返回给</a:t>
            </a:r>
            <a:r>
              <a:rPr lang="zh-CN" altLang="en-US" sz="2400" dirty="0"/>
              <a:t>用户。</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关闭</a:t>
            </a:r>
            <a:r>
              <a:rPr lang="en-US" altLang="zh-CN" sz="2400" dirty="0">
                <a:solidFill>
                  <a:srgbClr val="FF0000"/>
                </a:solidFill>
              </a:rPr>
              <a:t>close</a:t>
            </a:r>
            <a:r>
              <a:rPr lang="zh-CN" altLang="en-US" sz="2400" dirty="0"/>
              <a:t>：把文件从打开文件表的表目中删除。</a:t>
            </a:r>
            <a:endParaRPr lang="zh-CN" altLang="en-US" sz="2400" dirty="0"/>
          </a:p>
        </p:txBody>
      </p:sp>
      <p:sp>
        <p:nvSpPr>
          <p:cNvPr id="221" name="i$lîďê"/>
          <p:cNvSpPr/>
          <p:nvPr/>
        </p:nvSpPr>
        <p:spPr>
          <a:xfrm>
            <a:off x="1802479" y="1325117"/>
            <a:ext cx="4802507" cy="392877"/>
          </a:xfrm>
          <a:prstGeom prst="rect">
            <a:avLst/>
          </a:prstGeom>
          <a:noFill/>
          <a:ln>
            <a:noFill/>
          </a:ln>
        </p:spPr>
        <p:txBody>
          <a:bodyPr wrap="square" lIns="91440" tIns="45720" rIns="91440" bIns="45720" anchor="ctr" anchorCtr="0">
            <a:noAutofit/>
          </a:bodyPr>
          <a:lstStyle/>
          <a:p>
            <a:r>
              <a:rPr lang="zh-CN" altLang="en-US" sz="2400" dirty="0"/>
              <a:t>文件的“</a:t>
            </a:r>
            <a:r>
              <a:rPr lang="zh-CN" altLang="en-US" sz="2400" dirty="0">
                <a:solidFill>
                  <a:srgbClr val="0000FF"/>
                </a:solidFill>
              </a:rPr>
              <a:t>打开</a:t>
            </a:r>
            <a:r>
              <a:rPr lang="zh-CN" altLang="en-US" sz="2400" dirty="0"/>
              <a:t>”和“</a:t>
            </a:r>
            <a:r>
              <a:rPr lang="zh-CN" altLang="en-US" sz="2400" dirty="0">
                <a:solidFill>
                  <a:srgbClr val="FF0000"/>
                </a:solidFill>
              </a:rPr>
              <a:t>关闭</a:t>
            </a:r>
            <a:r>
              <a:rPr lang="zh-CN" altLang="en-US" sz="2400" dirty="0"/>
              <a:t>”操作：</a:t>
            </a:r>
            <a:endParaRPr lang="zh-CN" altLang="en-US" sz="2400" dirty="0"/>
          </a:p>
        </p:txBody>
      </p:sp>
      <p:sp>
        <p:nvSpPr>
          <p:cNvPr id="222" name="î$ļíḋè"/>
          <p:cNvSpPr/>
          <p:nvPr/>
        </p:nvSpPr>
        <p:spPr>
          <a:xfrm>
            <a:off x="1802479" y="4423774"/>
            <a:ext cx="9730290" cy="103176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重命名、改文件拥有者、查询文件状态等。</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创建</a:t>
            </a:r>
            <a:r>
              <a:rPr lang="en-US" altLang="zh-CN" sz="2400" dirty="0"/>
              <a:t>/</a:t>
            </a:r>
            <a:r>
              <a:rPr lang="zh-CN" altLang="en-US" sz="2400" dirty="0"/>
              <a:t>删除目录。</a:t>
            </a:r>
            <a:endParaRPr lang="zh-CN" altLang="en-US" sz="2400" dirty="0"/>
          </a:p>
        </p:txBody>
      </p:sp>
      <p:sp>
        <p:nvSpPr>
          <p:cNvPr id="223" name="ïṧḷïḋè"/>
          <p:cNvSpPr/>
          <p:nvPr/>
        </p:nvSpPr>
        <p:spPr>
          <a:xfrm>
            <a:off x="1802481" y="3668971"/>
            <a:ext cx="3696051" cy="415102"/>
          </a:xfrm>
          <a:prstGeom prst="rect">
            <a:avLst/>
          </a:prstGeom>
          <a:noFill/>
          <a:ln>
            <a:noFill/>
          </a:ln>
        </p:spPr>
        <p:txBody>
          <a:bodyPr wrap="square" lIns="91440" tIns="45720" rIns="91440" bIns="45720" anchor="ctr" anchorCtr="0">
            <a:noAutofit/>
          </a:bodyPr>
          <a:lstStyle/>
          <a:p>
            <a:r>
              <a:rPr lang="zh-CN" altLang="en-US" sz="2400" dirty="0"/>
              <a:t>其他文件操作：</a:t>
            </a:r>
            <a:endParaRPr lang="zh-CN" altLang="en-US" sz="2400" dirty="0"/>
          </a:p>
        </p:txBody>
      </p:sp>
      <p:sp>
        <p:nvSpPr>
          <p:cNvPr id="228" name="îşļiḓè"/>
          <p:cNvSpPr/>
          <p:nvPr/>
        </p:nvSpPr>
        <p:spPr>
          <a:xfrm>
            <a:off x="1118977" y="127610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30" name="íSlíḋe"/>
          <p:cNvSpPr/>
          <p:nvPr/>
        </p:nvSpPr>
        <p:spPr>
          <a:xfrm>
            <a:off x="1309231" y="149812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grpSp>
        <p:nvGrpSpPr>
          <p:cNvPr id="2" name="组合 1"/>
          <p:cNvGrpSpPr/>
          <p:nvPr/>
        </p:nvGrpSpPr>
        <p:grpSpPr>
          <a:xfrm>
            <a:off x="1090295" y="3898900"/>
            <a:ext cx="627380" cy="627380"/>
            <a:chOff x="1762" y="4974"/>
            <a:chExt cx="988" cy="988"/>
          </a:xfrm>
        </p:grpSpPr>
        <p:sp>
          <p:nvSpPr>
            <p:cNvPr id="227" name="íṥḻîḓe"/>
            <p:cNvSpPr/>
            <p:nvPr/>
          </p:nvSpPr>
          <p:spPr>
            <a:xfrm>
              <a:off x="1762" y="4974"/>
              <a:ext cx="989" cy="989"/>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31" name="ïśḷïḓe"/>
            <p:cNvSpPr/>
            <p:nvPr/>
          </p:nvSpPr>
          <p:spPr>
            <a:xfrm>
              <a:off x="2107" y="5266"/>
              <a:ext cx="333" cy="408"/>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720" y="2375535"/>
            <a:ext cx="4499610" cy="460375"/>
          </a:xfrm>
          <a:prstGeom prst="rect">
            <a:avLst/>
          </a:prstGeom>
        </p:spPr>
        <p:txBody>
          <a:bodyPr wrap="square">
            <a:spAutoFit/>
          </a:bodyPr>
          <a:lstStyle/>
          <a:p>
            <a:r>
              <a:rPr lang="en-US" altLang="zh-CN" sz="2400" b="1" dirty="0">
                <a:solidFill>
                  <a:srgbClr val="0000FF"/>
                </a:solidFill>
                <a:latin typeface="+mj-ea"/>
              </a:rPr>
              <a:t>8.2 </a:t>
            </a:r>
            <a:r>
              <a:rPr lang="zh-CN" altLang="en-US" sz="2400" b="1" dirty="0">
                <a:solidFill>
                  <a:srgbClr val="0000FF"/>
                </a:solidFill>
                <a:latin typeface="+mj-ea"/>
              </a:rPr>
              <a:t>文件的逻辑结构和物理结构</a:t>
            </a:r>
            <a:endParaRPr lang="en-US" altLang="zh-CN" sz="2400" b="1" dirty="0">
              <a:solidFill>
                <a:srgbClr val="0000FF"/>
              </a:solidFill>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latin typeface="+mj-ea"/>
              </a:rPr>
              <a:t>8.6  Linux</a:t>
            </a:r>
            <a:r>
              <a:rPr lang="zh-CN" altLang="en-US" sz="2400" dirty="0">
                <a:solidFill>
                  <a:schemeClr val="bg1">
                    <a:lumMod val="75000"/>
                  </a:schemeClr>
                </a:solidFill>
                <a:latin typeface="+mj-ea"/>
              </a:rPr>
              <a:t>文件系统实例</a:t>
            </a:r>
            <a:endParaRPr lang="zh-CN" altLang="en-US" sz="2400" dirty="0">
              <a:solidFill>
                <a:schemeClr val="bg1">
                  <a:lumMod val="75000"/>
                </a:schemeClr>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8.2 </a:t>
            </a:r>
            <a:r>
              <a:rPr lang="zh-CN" altLang="en-US" sz="2800" b="1" dirty="0">
                <a:solidFill>
                  <a:schemeClr val="bg1"/>
                </a:solidFill>
              </a:rPr>
              <a:t>文件结构</a:t>
            </a:r>
            <a:endParaRPr lang="zh-CN" altLang="en-US" sz="2800" b="1" dirty="0">
              <a:solidFill>
                <a:schemeClr val="bg1"/>
              </a:solidFill>
            </a:endParaRPr>
          </a:p>
        </p:txBody>
      </p:sp>
      <p:sp>
        <p:nvSpPr>
          <p:cNvPr id="40"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174124"/>
            <a:ext cx="8476585" cy="3326855"/>
            <a:chOff x="4136995" y="1170302"/>
            <a:chExt cx="8476585" cy="332685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170302"/>
              <a:ext cx="7730862" cy="332685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gn="just">
                <a:lnSpc>
                  <a:spcPct val="130000"/>
                </a:lnSpc>
                <a:buClr>
                  <a:srgbClr val="FF0000"/>
                </a:buClr>
                <a:buFont typeface="Wingdings" panose="05000000000000000000" pitchFamily="2" charset="2"/>
                <a:buChar char="Ø"/>
              </a:pPr>
              <a:r>
                <a:rPr lang="zh-CN" altLang="en-US" sz="2400" dirty="0">
                  <a:solidFill>
                    <a:srgbClr val="FF0000"/>
                  </a:solidFill>
                  <a:latin typeface="+mj-ea"/>
                  <a:ea typeface="+mj-ea"/>
                </a:rPr>
                <a:t>文件的逻辑结构：</a:t>
              </a:r>
              <a:r>
                <a:rPr lang="zh-CN" altLang="en-US" sz="2400" dirty="0">
                  <a:latin typeface="+mj-ea"/>
                  <a:ea typeface="+mj-ea"/>
                </a:rPr>
                <a:t>从</a:t>
              </a:r>
              <a:r>
                <a:rPr lang="zh-CN" altLang="en-US" sz="2400" b="1" dirty="0">
                  <a:latin typeface="+mj-ea"/>
                  <a:ea typeface="+mj-ea"/>
                </a:rPr>
                <a:t>用户</a:t>
              </a:r>
              <a:r>
                <a:rPr lang="zh-CN" altLang="en-US" sz="2400" dirty="0">
                  <a:latin typeface="+mj-ea"/>
                  <a:ea typeface="+mj-ea"/>
                </a:rPr>
                <a:t>观点所观察的文件组织形式</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solidFill>
                    <a:srgbClr val="0000FF"/>
                  </a:solidFill>
                  <a:latin typeface="+mj-ea"/>
                  <a:ea typeface="+mj-ea"/>
                </a:rPr>
                <a:t>文件的物理结构：</a:t>
              </a:r>
              <a:r>
                <a:rPr lang="zh-CN" altLang="en-US" sz="2400" dirty="0">
                  <a:latin typeface="+mj-ea"/>
                  <a:ea typeface="+mj-ea"/>
                </a:rPr>
                <a:t>文件的存储结构，指</a:t>
              </a:r>
              <a:r>
                <a:rPr lang="zh-CN" altLang="en-US" sz="2400" b="1" dirty="0">
                  <a:latin typeface="+mj-ea"/>
                  <a:ea typeface="+mj-ea"/>
                </a:rPr>
                <a:t>系统</a:t>
              </a:r>
              <a:r>
                <a:rPr lang="zh-CN" altLang="en-US" sz="2400" dirty="0">
                  <a:latin typeface="+mj-ea"/>
                  <a:ea typeface="+mj-ea"/>
                </a:rPr>
                <a:t>将文件存储在外存上所形成的一种存储组织形式</a:t>
              </a:r>
              <a:endParaRPr lang="zh-CN" altLang="en-US" sz="2400" dirty="0">
                <a:latin typeface="+mj-ea"/>
                <a:ea typeface="+mj-ea"/>
              </a:endParaRPr>
            </a:p>
            <a:p>
              <a:pPr lvl="1" indent="0" algn="just">
                <a:lnSpc>
                  <a:spcPct val="130000"/>
                </a:lnSpc>
                <a:buClr>
                  <a:srgbClr val="FF0000"/>
                </a:buClr>
                <a:buFont typeface="Wingdings" panose="05000000000000000000" pitchFamily="2" charset="2"/>
                <a:buNone/>
              </a:pPr>
              <a:endParaRPr lang="zh-CN" altLang="en-US" sz="2400" dirty="0">
                <a:latin typeface="+mj-ea"/>
                <a:ea typeface="+mj-ea"/>
              </a:endParaRPr>
            </a:p>
          </p:txBody>
        </p:sp>
      </p:grpSp>
      <p:grpSp>
        <p:nvGrpSpPr>
          <p:cNvPr id="48" name="ïSlíḍê"/>
          <p:cNvGrpSpPr/>
          <p:nvPr/>
        </p:nvGrpSpPr>
        <p:grpSpPr>
          <a:xfrm>
            <a:off x="3446261" y="4099630"/>
            <a:ext cx="8378931" cy="609616"/>
            <a:chOff x="4136995" y="5051755"/>
            <a:chExt cx="8378931" cy="609616"/>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5051755"/>
              <a:ext cx="7633209" cy="609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文件的逻辑结构和物理结构，都影响文件的检索速度</a:t>
              </a:r>
              <a:endParaRPr lang="zh-CN" altLang="en-US" sz="24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8.2 </a:t>
            </a:r>
            <a:r>
              <a:rPr lang="zh-CN" altLang="en-US" sz="2800" b="1" dirty="0">
                <a:solidFill>
                  <a:schemeClr val="bg1"/>
                </a:solidFill>
              </a:rPr>
              <a:t>文件类型</a:t>
            </a:r>
            <a:endParaRPr lang="zh-CN" altLang="en-US" sz="2800" b="1" dirty="0">
              <a:solidFill>
                <a:schemeClr val="bg1"/>
              </a:solidFill>
            </a:endParaRPr>
          </a:p>
        </p:txBody>
      </p:sp>
      <p:sp>
        <p:nvSpPr>
          <p:cNvPr id="11" name="íSľïdé"/>
          <p:cNvSpPr/>
          <p:nvPr/>
        </p:nvSpPr>
        <p:spPr>
          <a:xfrm>
            <a:off x="305457" y="9723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316182" y="4270635"/>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4" name="内容占位符 2"/>
          <p:cNvSpPr txBox="1"/>
          <p:nvPr/>
        </p:nvSpPr>
        <p:spPr>
          <a:xfrm>
            <a:off x="1025525" y="1054735"/>
            <a:ext cx="7167880" cy="308419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按文件是否有结构分类</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b="1" dirty="0">
                <a:solidFill>
                  <a:schemeClr val="tx1"/>
                </a:solidFill>
              </a:rPr>
              <a:t>有结构文件（记录式文件）</a:t>
            </a:r>
            <a:endParaRPr lang="zh-CN" altLang="en-US" sz="2200" dirty="0">
              <a:solidFill>
                <a:schemeClr val="tx1"/>
              </a:solidFill>
            </a:endParaRP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solidFill>
              </a:rPr>
              <a:t>定长记录</a:t>
            </a:r>
            <a:endParaRPr lang="zh-CN" altLang="en-US" sz="2200" dirty="0">
              <a:solidFill>
                <a:schemeClr val="tx1"/>
              </a:solidFill>
            </a:endParaRP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solidFill>
              </a:rPr>
              <a:t>变长记录</a:t>
            </a:r>
            <a:endParaRPr lang="zh-CN" altLang="en-US" sz="2200" dirty="0">
              <a:solidFill>
                <a:schemeClr val="tx1"/>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b="1" dirty="0">
                <a:solidFill>
                  <a:schemeClr val="tx1"/>
                </a:solidFill>
              </a:rPr>
              <a:t>无结构文件（流式文件）</a:t>
            </a:r>
            <a:endParaRPr lang="zh-CN" altLang="en-US" sz="2200" dirty="0">
              <a:solidFill>
                <a:schemeClr val="tx1"/>
              </a:solidFill>
            </a:endParaRP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solidFill>
              </a:rPr>
              <a:t>源程序、可执行文件、库函数</a:t>
            </a:r>
            <a:endParaRPr lang="zh-CN" altLang="en-US" sz="2200" dirty="0">
              <a:solidFill>
                <a:schemeClr val="tx1"/>
              </a:solidFill>
            </a:endParaRPr>
          </a:p>
        </p:txBody>
      </p:sp>
      <p:sp>
        <p:nvSpPr>
          <p:cNvPr id="15" name="内容占位符 2"/>
          <p:cNvSpPr txBox="1"/>
          <p:nvPr/>
        </p:nvSpPr>
        <p:spPr>
          <a:xfrm>
            <a:off x="1162050" y="4138930"/>
            <a:ext cx="4782185" cy="2634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有结构文件按文件的记录方式分类</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顺序文件</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索引文件</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索引顺序文件</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直接文件</a:t>
            </a:r>
            <a:endParaRPr lang="zh-CN" altLang="en-US" sz="2200" dirty="0">
              <a:solidFill>
                <a:srgbClr val="0000FF"/>
              </a:solidFill>
            </a:endParaRPr>
          </a:p>
        </p:txBody>
      </p:sp>
      <p:grpSp>
        <p:nvGrpSpPr>
          <p:cNvPr id="2" name="Group 1050"/>
          <p:cNvGrpSpPr/>
          <p:nvPr/>
        </p:nvGrpSpPr>
        <p:grpSpPr bwMode="auto">
          <a:xfrm>
            <a:off x="6402362" y="971873"/>
            <a:ext cx="5534076" cy="2792193"/>
            <a:chOff x="2832" y="1800"/>
            <a:chExt cx="2640" cy="1776"/>
          </a:xfrm>
          <a:solidFill>
            <a:schemeClr val="accent1">
              <a:lumMod val="40000"/>
              <a:lumOff val="60000"/>
            </a:schemeClr>
          </a:solidFill>
        </p:grpSpPr>
        <p:grpSp>
          <p:nvGrpSpPr>
            <p:cNvPr id="17" name="Group 1049"/>
            <p:cNvGrpSpPr/>
            <p:nvPr/>
          </p:nvGrpSpPr>
          <p:grpSpPr bwMode="auto">
            <a:xfrm>
              <a:off x="2832" y="1800"/>
              <a:ext cx="2640" cy="1776"/>
              <a:chOff x="2832" y="1728"/>
              <a:chExt cx="2640" cy="1776"/>
            </a:xfrm>
            <a:grpFill/>
          </p:grpSpPr>
          <p:sp>
            <p:nvSpPr>
              <p:cNvPr id="19" name="Rectangle 1029"/>
              <p:cNvSpPr>
                <a:spLocks noChangeArrowheads="1"/>
              </p:cNvSpPr>
              <p:nvPr/>
            </p:nvSpPr>
            <p:spPr bwMode="auto">
              <a:xfrm>
                <a:off x="3840" y="1728"/>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dirty="0">
                    <a:solidFill>
                      <a:schemeClr val="bg1"/>
                    </a:solidFill>
                    <a:latin typeface="Arial" panose="020B0604020202020204" pitchFamily="34" charset="0"/>
                  </a:rPr>
                  <a:t>文件</a:t>
                </a:r>
                <a:endParaRPr lang="zh-CN" altLang="en-US" sz="2000" b="0" dirty="0">
                  <a:solidFill>
                    <a:schemeClr val="bg1"/>
                  </a:solidFill>
                  <a:latin typeface="Arial" panose="020B0604020202020204" pitchFamily="34" charset="0"/>
                </a:endParaRPr>
              </a:p>
            </p:txBody>
          </p:sp>
          <p:sp>
            <p:nvSpPr>
              <p:cNvPr id="21" name="Rectangle 1032"/>
              <p:cNvSpPr>
                <a:spLocks noChangeArrowheads="1"/>
              </p:cNvSpPr>
              <p:nvPr/>
            </p:nvSpPr>
            <p:spPr bwMode="auto">
              <a:xfrm>
                <a:off x="2880"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1</a:t>
                </a:r>
                <a:endParaRPr lang="en-US" altLang="zh-CN" sz="2000" b="0">
                  <a:solidFill>
                    <a:schemeClr val="bg1"/>
                  </a:solidFill>
                  <a:latin typeface="Arial" panose="020B0604020202020204" pitchFamily="34" charset="0"/>
                </a:endParaRPr>
              </a:p>
            </p:txBody>
          </p:sp>
          <p:sp>
            <p:nvSpPr>
              <p:cNvPr id="22" name="Rectangle 1035"/>
              <p:cNvSpPr>
                <a:spLocks noChangeArrowheads="1"/>
              </p:cNvSpPr>
              <p:nvPr/>
            </p:nvSpPr>
            <p:spPr bwMode="auto">
              <a:xfrm>
                <a:off x="2832"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数据项</a:t>
                </a:r>
                <a:r>
                  <a:rPr lang="en-US" altLang="zh-CN" sz="2000" b="0">
                    <a:solidFill>
                      <a:schemeClr val="bg1"/>
                    </a:solidFill>
                    <a:latin typeface="Arial" panose="020B0604020202020204" pitchFamily="34" charset="0"/>
                  </a:rPr>
                  <a:t>1</a:t>
                </a:r>
                <a:endParaRPr lang="en-US" altLang="zh-CN" sz="2000" b="0">
                  <a:solidFill>
                    <a:schemeClr val="bg1"/>
                  </a:solidFill>
                  <a:latin typeface="Arial" panose="020B0604020202020204" pitchFamily="34" charset="0"/>
                </a:endParaRPr>
              </a:p>
            </p:txBody>
          </p:sp>
          <p:sp>
            <p:nvSpPr>
              <p:cNvPr id="23" name="Rectangle 1036"/>
              <p:cNvSpPr>
                <a:spLocks noChangeArrowheads="1"/>
              </p:cNvSpPr>
              <p:nvPr/>
            </p:nvSpPr>
            <p:spPr bwMode="auto">
              <a:xfrm>
                <a:off x="3696"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数据项</a:t>
                </a:r>
                <a:r>
                  <a:rPr lang="en-US" altLang="zh-CN" sz="2000" b="0">
                    <a:solidFill>
                      <a:schemeClr val="bg1"/>
                    </a:solidFill>
                    <a:latin typeface="Arial" panose="020B0604020202020204" pitchFamily="34" charset="0"/>
                  </a:rPr>
                  <a:t>2</a:t>
                </a:r>
                <a:endParaRPr lang="en-US" altLang="zh-CN" sz="2000" b="0">
                  <a:solidFill>
                    <a:schemeClr val="bg1"/>
                  </a:solidFill>
                  <a:latin typeface="Arial" panose="020B0604020202020204" pitchFamily="34" charset="0"/>
                </a:endParaRPr>
              </a:p>
            </p:txBody>
          </p:sp>
          <p:sp>
            <p:nvSpPr>
              <p:cNvPr id="24" name="Rectangle 1037"/>
              <p:cNvSpPr>
                <a:spLocks noChangeArrowheads="1"/>
              </p:cNvSpPr>
              <p:nvPr/>
            </p:nvSpPr>
            <p:spPr bwMode="auto">
              <a:xfrm>
                <a:off x="4800"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dirty="0">
                    <a:solidFill>
                      <a:schemeClr val="bg1"/>
                    </a:solidFill>
                    <a:latin typeface="Arial" panose="020B0604020202020204" pitchFamily="34" charset="0"/>
                  </a:rPr>
                  <a:t>数据项</a:t>
                </a:r>
                <a:r>
                  <a:rPr lang="en-US" altLang="zh-CN" sz="2000" b="0" dirty="0">
                    <a:solidFill>
                      <a:schemeClr val="bg1"/>
                    </a:solidFill>
                    <a:latin typeface="Arial" panose="020B0604020202020204" pitchFamily="34" charset="0"/>
                  </a:rPr>
                  <a:t>n</a:t>
                </a:r>
                <a:endParaRPr lang="en-US" altLang="zh-CN" sz="2000" b="0" dirty="0">
                  <a:solidFill>
                    <a:schemeClr val="bg1"/>
                  </a:solidFill>
                  <a:latin typeface="Arial" panose="020B0604020202020204" pitchFamily="34" charset="0"/>
                </a:endParaRPr>
              </a:p>
            </p:txBody>
          </p:sp>
          <p:sp>
            <p:nvSpPr>
              <p:cNvPr id="25" name="Rectangle 1038"/>
              <p:cNvSpPr>
                <a:spLocks noChangeArrowheads="1"/>
              </p:cNvSpPr>
              <p:nvPr/>
            </p:nvSpPr>
            <p:spPr bwMode="auto">
              <a:xfrm>
                <a:off x="3648"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2</a:t>
                </a:r>
                <a:endParaRPr lang="en-US" altLang="zh-CN" sz="2000" b="0">
                  <a:solidFill>
                    <a:schemeClr val="bg1"/>
                  </a:solidFill>
                  <a:latin typeface="Arial" panose="020B0604020202020204" pitchFamily="34" charset="0"/>
                </a:endParaRPr>
              </a:p>
            </p:txBody>
          </p:sp>
          <p:sp>
            <p:nvSpPr>
              <p:cNvPr id="26" name="Rectangle 1039"/>
              <p:cNvSpPr>
                <a:spLocks noChangeArrowheads="1"/>
              </p:cNvSpPr>
              <p:nvPr/>
            </p:nvSpPr>
            <p:spPr bwMode="auto">
              <a:xfrm>
                <a:off x="4656"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n</a:t>
                </a:r>
                <a:endParaRPr lang="en-US" altLang="zh-CN" sz="2000" b="0">
                  <a:solidFill>
                    <a:schemeClr val="bg1"/>
                  </a:solidFill>
                  <a:latin typeface="Arial" panose="020B0604020202020204" pitchFamily="34" charset="0"/>
                </a:endParaRPr>
              </a:p>
            </p:txBody>
          </p:sp>
          <p:cxnSp>
            <p:nvCxnSpPr>
              <p:cNvPr id="27" name="AutoShape 1040"/>
              <p:cNvCxnSpPr>
                <a:cxnSpLocks noChangeShapeType="1"/>
                <a:stCxn id="19" idx="2"/>
                <a:endCxn id="21" idx="0"/>
              </p:cNvCxnSpPr>
              <p:nvPr/>
            </p:nvCxnSpPr>
            <p:spPr bwMode="auto">
              <a:xfrm rot="5400000">
                <a:off x="3408" y="1776"/>
                <a:ext cx="480" cy="960"/>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1041"/>
              <p:cNvCxnSpPr>
                <a:cxnSpLocks noChangeShapeType="1"/>
                <a:stCxn id="19" idx="2"/>
                <a:endCxn id="26" idx="0"/>
              </p:cNvCxnSpPr>
              <p:nvPr/>
            </p:nvCxnSpPr>
            <p:spPr bwMode="auto">
              <a:xfrm rot="16200000" flipH="1">
                <a:off x="4296" y="1848"/>
                <a:ext cx="480" cy="816"/>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1042"/>
              <p:cNvCxnSpPr>
                <a:cxnSpLocks noChangeShapeType="1"/>
                <a:stCxn id="19" idx="2"/>
                <a:endCxn id="25" idx="0"/>
              </p:cNvCxnSpPr>
              <p:nvPr/>
            </p:nvCxnSpPr>
            <p:spPr bwMode="auto">
              <a:xfrm rot="5400000">
                <a:off x="3792" y="2160"/>
                <a:ext cx="480" cy="192"/>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1044"/>
              <p:cNvCxnSpPr>
                <a:cxnSpLocks noChangeShapeType="1"/>
                <a:stCxn id="25" idx="2"/>
                <a:endCxn id="23" idx="0"/>
              </p:cNvCxnSpPr>
              <p:nvPr/>
            </p:nvCxnSpPr>
            <p:spPr bwMode="auto">
              <a:xfrm rot="16200000" flipH="1">
                <a:off x="3768" y="2952"/>
                <a:ext cx="432" cy="96"/>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1045"/>
              <p:cNvCxnSpPr>
                <a:cxnSpLocks noChangeShapeType="1"/>
                <a:stCxn id="25" idx="2"/>
                <a:endCxn id="22" idx="0"/>
              </p:cNvCxnSpPr>
              <p:nvPr/>
            </p:nvCxnSpPr>
            <p:spPr bwMode="auto">
              <a:xfrm rot="5400000">
                <a:off x="3336" y="2616"/>
                <a:ext cx="432" cy="768"/>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1046"/>
              <p:cNvCxnSpPr>
                <a:cxnSpLocks noChangeShapeType="1"/>
                <a:stCxn id="25" idx="2"/>
                <a:endCxn id="24" idx="0"/>
              </p:cNvCxnSpPr>
              <p:nvPr/>
            </p:nvCxnSpPr>
            <p:spPr bwMode="auto">
              <a:xfrm rot="16200000" flipH="1">
                <a:off x="4320" y="2400"/>
                <a:ext cx="432" cy="1200"/>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1047"/>
              <p:cNvSpPr txBox="1">
                <a:spLocks noChangeArrowheads="1"/>
              </p:cNvSpPr>
              <p:nvPr/>
            </p:nvSpPr>
            <p:spPr bwMode="auto">
              <a:xfrm>
                <a:off x="4316" y="2495"/>
                <a:ext cx="288" cy="275"/>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Monotype Sorts" pitchFamily="2" charset="2"/>
                  <a:buNone/>
                  <a:defRPr/>
                </a:pPr>
                <a:r>
                  <a:rPr lang="en-US" altLang="zh-CN" b="0" dirty="0">
                    <a:solidFill>
                      <a:schemeClr val="bg1"/>
                    </a:solidFill>
                    <a:latin typeface="Arial" panose="020B0604020202020204" pitchFamily="34" charset="0"/>
                  </a:rPr>
                  <a:t>…</a:t>
                </a:r>
                <a:endParaRPr lang="en-US" altLang="zh-CN" b="0" dirty="0">
                  <a:solidFill>
                    <a:schemeClr val="bg1"/>
                  </a:solidFill>
                  <a:latin typeface="Arial" panose="020B0604020202020204" pitchFamily="34" charset="0"/>
                </a:endParaRPr>
              </a:p>
            </p:txBody>
          </p:sp>
        </p:grpSp>
        <p:sp>
          <p:nvSpPr>
            <p:cNvPr id="18" name="Text Box 1048"/>
            <p:cNvSpPr txBox="1">
              <a:spLocks noChangeArrowheads="1"/>
            </p:cNvSpPr>
            <p:nvPr/>
          </p:nvSpPr>
          <p:spPr bwMode="auto">
            <a:xfrm>
              <a:off x="4416" y="3288"/>
              <a:ext cx="336" cy="275"/>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Monotype Sorts" pitchFamily="2" charset="2"/>
                <a:buNone/>
                <a:defRPr/>
              </a:pPr>
              <a:r>
                <a:rPr lang="en-US" altLang="zh-CN" b="0" dirty="0">
                  <a:solidFill>
                    <a:schemeClr val="bg1"/>
                  </a:solidFill>
                  <a:latin typeface="Arial" panose="020B0604020202020204" pitchFamily="34" charset="0"/>
                </a:rPr>
                <a:t>…</a:t>
              </a:r>
              <a:endParaRPr lang="en-US" altLang="zh-CN" b="0" dirty="0">
                <a:solidFill>
                  <a:schemeClr val="bg1"/>
                </a:solidFill>
                <a:latin typeface="Arial" panose="020B0604020202020204"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顺序文件</a:t>
            </a:r>
            <a:endParaRPr lang="zh-CN" altLang="en-US" sz="2800" b="1" dirty="0">
              <a:solidFill>
                <a:schemeClr val="bg1"/>
              </a:solidFill>
            </a:endParaRPr>
          </a:p>
        </p:txBody>
      </p:sp>
      <p:sp>
        <p:nvSpPr>
          <p:cNvPr id="11"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7082276" y="188316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4" name="内容占位符 2"/>
          <p:cNvSpPr txBox="1"/>
          <p:nvPr/>
        </p:nvSpPr>
        <p:spPr>
          <a:xfrm>
            <a:off x="894703" y="2556677"/>
            <a:ext cx="3499744" cy="22727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580"/>
              </a:spcBef>
              <a:buNone/>
              <a:defRPr/>
            </a:pPr>
            <a:r>
              <a:rPr lang="zh-CN" altLang="en-US" sz="2400" dirty="0">
                <a:solidFill>
                  <a:srgbClr val="FF0000"/>
                </a:solidFill>
              </a:rPr>
              <a:t>串结构</a:t>
            </a:r>
            <a:r>
              <a:rPr lang="zh-CN" altLang="en-US" sz="2400" dirty="0"/>
              <a:t>：按存入时间的先后排序，记录间的顺序与关键字无关</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检索比较费时</a:t>
            </a:r>
            <a:endParaRPr lang="zh-CN" altLang="en-US" sz="2400" dirty="0">
              <a:solidFill>
                <a:schemeClr val="tx1">
                  <a:lumMod val="65000"/>
                  <a:lumOff val="35000"/>
                </a:schemeClr>
              </a:solidFill>
            </a:endParaRPr>
          </a:p>
        </p:txBody>
      </p:sp>
      <p:sp>
        <p:nvSpPr>
          <p:cNvPr id="15" name="内容占位符 2"/>
          <p:cNvSpPr txBox="1"/>
          <p:nvPr/>
        </p:nvSpPr>
        <p:spPr>
          <a:xfrm>
            <a:off x="6089184" y="2561529"/>
            <a:ext cx="4062082" cy="29083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顺序结构：</a:t>
            </a:r>
            <a:r>
              <a:rPr lang="zh-CN" altLang="en-US" sz="2400" dirty="0"/>
              <a:t>指定一个字段为关键字，所有记录按关键字排序</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检索时可利用有效的查找算法，折半查找法、插值查找法、跳步查找法等</a:t>
            </a:r>
            <a:endParaRPr lang="zh-CN" altLang="en-US" sz="2200" dirty="0"/>
          </a:p>
        </p:txBody>
      </p:sp>
      <p:sp>
        <p:nvSpPr>
          <p:cNvPr id="16" name="内容占位符 2"/>
          <p:cNvSpPr txBox="1"/>
          <p:nvPr/>
        </p:nvSpPr>
        <p:spPr>
          <a:xfrm>
            <a:off x="962888" y="1276683"/>
            <a:ext cx="4308362" cy="4023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顺序文件的排列方式</a:t>
            </a: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顺序文件的优缺点</a:t>
            </a:r>
            <a:endParaRPr lang="zh-CN" altLang="en-US" sz="2800" b="1" dirty="0">
              <a:solidFill>
                <a:schemeClr val="bg1"/>
              </a:solidFill>
            </a:endParaRPr>
          </a:p>
        </p:txBody>
      </p:sp>
      <p:sp>
        <p:nvSpPr>
          <p:cNvPr id="5" name="矩形: 圆角 4"/>
          <p:cNvSpPr/>
          <p:nvPr/>
        </p:nvSpPr>
        <p:spPr>
          <a:xfrm>
            <a:off x="1399083" y="1388815"/>
            <a:ext cx="133899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优点：</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1400389" y="2107607"/>
            <a:ext cx="5412543"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有利于大批记录读写</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存取效率最高</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可存储在顺序存储设备（磁带）上</a:t>
            </a:r>
            <a:endParaRPr lang="zh-CN" altLang="en-US" sz="2400" dirty="0"/>
          </a:p>
        </p:txBody>
      </p:sp>
      <p:sp>
        <p:nvSpPr>
          <p:cNvPr id="7" name="矩形: 圆角 4"/>
          <p:cNvSpPr/>
          <p:nvPr/>
        </p:nvSpPr>
        <p:spPr>
          <a:xfrm>
            <a:off x="1399084" y="3985771"/>
            <a:ext cx="1338998"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缺点</a:t>
            </a:r>
            <a:endParaRPr lang="zh-CN" altLang="en-US" sz="2800" dirty="0">
              <a:solidFill>
                <a:schemeClr val="bg1"/>
              </a:solidFill>
              <a:sym typeface="Wingdings" panose="05000000000000000000" pitchFamily="2" charset="2"/>
            </a:endParaRPr>
          </a:p>
        </p:txBody>
      </p:sp>
      <p:sp>
        <p:nvSpPr>
          <p:cNvPr id="8" name="内容占位符 2"/>
          <p:cNvSpPr txBox="1"/>
          <p:nvPr/>
        </p:nvSpPr>
        <p:spPr>
          <a:xfrm>
            <a:off x="1399083" y="4708355"/>
            <a:ext cx="4978348"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查找或修改单个记录：差</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增加或删除一个记录：难</a:t>
            </a:r>
            <a:endParaRPr lang="zh-CN" altLang="en-US" sz="2400" dirty="0"/>
          </a:p>
        </p:txBody>
      </p:sp>
      <p:sp>
        <p:nvSpPr>
          <p:cNvPr id="11" name="íśḷíḋé"/>
          <p:cNvSpPr/>
          <p:nvPr/>
        </p:nvSpPr>
        <p:spPr bwMode="auto">
          <a:xfrm>
            <a:off x="8303744" y="3196490"/>
            <a:ext cx="2589100" cy="2588226"/>
          </a:xfrm>
          <a:prstGeom prst="ellipse">
            <a:avLst/>
          </a:prstGeom>
          <a:blipFill>
            <a:blip r:embed="rId1"/>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索引文件</a:t>
            </a:r>
            <a:endParaRPr lang="zh-CN" altLang="en-US" sz="2800" b="1" dirty="0">
              <a:solidFill>
                <a:schemeClr val="bg1"/>
              </a:solidFill>
            </a:endParaRPr>
          </a:p>
        </p:txBody>
      </p:sp>
      <p:grpSp>
        <p:nvGrpSpPr>
          <p:cNvPr id="571" name="iṡļiḓe"/>
          <p:cNvGrpSpPr/>
          <p:nvPr/>
        </p:nvGrpSpPr>
        <p:grpSpPr>
          <a:xfrm>
            <a:off x="77470" y="1235602"/>
            <a:ext cx="5753279" cy="2333733"/>
            <a:chOff x="660400" y="1787149"/>
            <a:chExt cx="5753279" cy="2333733"/>
          </a:xfrm>
        </p:grpSpPr>
        <p:grpSp>
          <p:nvGrpSpPr>
            <p:cNvPr id="1144" name="iSḻíḓè"/>
            <p:cNvGrpSpPr/>
            <p:nvPr/>
          </p:nvGrpSpPr>
          <p:grpSpPr>
            <a:xfrm>
              <a:off x="1296567" y="1835355"/>
              <a:ext cx="5117112" cy="2285527"/>
              <a:chOff x="1296567" y="1835355"/>
              <a:chExt cx="6453960" cy="2285527"/>
            </a:xfrm>
          </p:grpSpPr>
          <p:sp>
            <p:nvSpPr>
              <p:cNvPr id="1148"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600" dirty="0">
                    <a:sym typeface="Wingdings" panose="05000000000000000000" pitchFamily="2" charset="2"/>
                  </a:rPr>
                  <a:t>按</a:t>
                </a:r>
                <a:r>
                  <a:rPr lang="zh-CN" altLang="en-US" sz="2600" dirty="0">
                    <a:solidFill>
                      <a:srgbClr val="FF0000"/>
                    </a:solidFill>
                    <a:sym typeface="Wingdings" panose="05000000000000000000" pitchFamily="2" charset="2"/>
                  </a:rPr>
                  <a:t>关键字</a:t>
                </a:r>
                <a:r>
                  <a:rPr lang="zh-CN" altLang="en-US" sz="2600" dirty="0">
                    <a:sym typeface="Wingdings" panose="05000000000000000000" pitchFamily="2" charset="2"/>
                  </a:rPr>
                  <a:t>建立索引</a:t>
                </a:r>
                <a:endParaRPr lang="en-US" altLang="zh-CN" sz="2600" dirty="0">
                  <a:sym typeface="Wingdings" panose="05000000000000000000" pitchFamily="2" charset="2"/>
                </a:endParaRPr>
              </a:p>
            </p:txBody>
          </p:sp>
          <p:sp>
            <p:nvSpPr>
              <p:cNvPr id="1149" name="íşļîḓé"/>
              <p:cNvSpPr/>
              <p:nvPr/>
            </p:nvSpPr>
            <p:spPr bwMode="auto">
              <a:xfrm>
                <a:off x="1296567" y="2279077"/>
                <a:ext cx="6453960"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为</a:t>
                </a:r>
                <a:r>
                  <a:rPr lang="zh-CN" altLang="en-US" sz="2400" b="1" dirty="0"/>
                  <a:t>变长记录</a:t>
                </a:r>
                <a:r>
                  <a:rPr lang="zh-CN" altLang="en-US" sz="2400" dirty="0"/>
                  <a:t>文件建立一张索引表</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索引表按关键字排序</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实现直接存取</a:t>
                </a:r>
                <a:endParaRPr lang="zh-CN" altLang="en-US" sz="2400" dirty="0"/>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39" name="ïŝľídè"/>
          <p:cNvGrpSpPr/>
          <p:nvPr/>
        </p:nvGrpSpPr>
        <p:grpSpPr>
          <a:xfrm>
            <a:off x="0" y="3921038"/>
            <a:ext cx="473802"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aphicFrame>
        <p:nvGraphicFramePr>
          <p:cNvPr id="18" name="Group 87"/>
          <p:cNvGraphicFramePr>
            <a:graphicFrameLocks noGrp="1"/>
          </p:cNvGraphicFramePr>
          <p:nvPr>
            <p:custDataLst>
              <p:tags r:id="rId1"/>
            </p:custDataLst>
          </p:nvPr>
        </p:nvGraphicFramePr>
        <p:xfrm>
          <a:off x="5885313" y="1346673"/>
          <a:ext cx="4076619" cy="3200407"/>
        </p:xfrm>
        <a:graphic>
          <a:graphicData uri="http://schemas.openxmlformats.org/drawingml/2006/table">
            <a:tbl>
              <a:tblPr>
                <a:tableStyleId>{5DA37D80-6434-44D0-A028-1B22A696006F}</a:tableStyleId>
              </a:tblPr>
              <a:tblGrid>
                <a:gridCol w="1358873"/>
                <a:gridCol w="1358873"/>
                <a:gridCol w="1358873"/>
              </a:tblGrid>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索引号</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algn="ctr" defTabSz="914400" rtl="0" eaLnBrk="0" fontAlgn="base" latinLnBrk="0" hangingPunct="0">
                        <a:lnSpc>
                          <a:spcPct val="100000"/>
                        </a:lnSpc>
                        <a:spcBef>
                          <a:spcPct val="20000"/>
                        </a:spcBef>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长度m</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指针</a:t>
                      </a:r>
                      <a:r>
                        <a:rPr kumimoji="1" lang="en-US" altLang="zh-CN" sz="2400" b="0" u="none" strike="noStrike" cap="none" normalizeH="0" baseline="0" dirty="0" err="1">
                          <a:ln>
                            <a:noFill/>
                          </a:ln>
                          <a:solidFill>
                            <a:schemeClr val="tx1"/>
                          </a:solidFill>
                          <a:effectLst/>
                          <a:latin typeface="+mn-ea"/>
                          <a:ea typeface="+mn-ea"/>
                        </a:rPr>
                        <a:t>ptr</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i</a:t>
                      </a:r>
                      <a:endParaRPr kumimoji="1" lang="en-US" altLang="zh-CN" sz="2400" b="0" i="0" u="none" strike="noStrike" cap="none" normalizeH="0" baseline="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i</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a:t>
                      </a:r>
                      <a:endParaRPr kumimoji="1" lang="en-US" altLang="zh-CN" sz="2400" b="0" i="0" u="none" strike="noStrike" cap="none" normalizeH="0" baseline="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bl>
          </a:graphicData>
        </a:graphic>
      </p:graphicFrame>
      <p:graphicFrame>
        <p:nvGraphicFramePr>
          <p:cNvPr id="19" name="Group 73"/>
          <p:cNvGraphicFramePr>
            <a:graphicFrameLocks noGrp="1"/>
          </p:cNvGraphicFramePr>
          <p:nvPr/>
        </p:nvGraphicFramePr>
        <p:xfrm>
          <a:off x="10762032" y="1381144"/>
          <a:ext cx="1066724" cy="3200406"/>
        </p:xfrm>
        <a:graphic>
          <a:graphicData uri="http://schemas.openxmlformats.org/drawingml/2006/table">
            <a:tbl>
              <a:tblPr>
                <a:tableStyleId>{5DA37D80-6434-44D0-A028-1B22A696006F}</a:tableStyleId>
              </a:tblPr>
              <a:tblGrid>
                <a:gridCol w="1066724"/>
              </a:tblGrid>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523874">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err="1">
                          <a:ln>
                            <a:noFill/>
                          </a:ln>
                          <a:solidFill>
                            <a:schemeClr val="tx1"/>
                          </a:solidFill>
                          <a:effectLst/>
                          <a:latin typeface="+mn-ea"/>
                          <a:ea typeface="+mn-ea"/>
                        </a:rPr>
                        <a:t>R</a:t>
                      </a:r>
                      <a:r>
                        <a:rPr kumimoji="1" lang="en-US" altLang="zh-CN" sz="2400" b="0" u="none" strike="noStrike" cap="none" normalizeH="0" baseline="-25000" dirty="0" err="1">
                          <a:ln>
                            <a:noFill/>
                          </a:ln>
                          <a:solidFill>
                            <a:schemeClr val="tx1"/>
                          </a:solidFill>
                          <a:effectLst/>
                          <a:latin typeface="+mn-ea"/>
                          <a:ea typeface="+mn-ea"/>
                        </a:rPr>
                        <a:t>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50244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bl>
          </a:graphicData>
        </a:graphic>
      </p:graphicFrame>
      <p:sp>
        <p:nvSpPr>
          <p:cNvPr id="21" name="Text Box 74"/>
          <p:cNvSpPr txBox="1">
            <a:spLocks noChangeArrowheads="1"/>
          </p:cNvSpPr>
          <p:nvPr/>
        </p:nvSpPr>
        <p:spPr bwMode="auto">
          <a:xfrm>
            <a:off x="10507882" y="4696546"/>
            <a:ext cx="1574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latin typeface="+mn-ea"/>
                <a:ea typeface="+mn-ea"/>
              </a:rPr>
              <a:t>逻辑文件</a:t>
            </a:r>
            <a:endParaRPr lang="zh-CN" altLang="en-US" sz="2400" b="0" dirty="0">
              <a:latin typeface="+mn-ea"/>
              <a:ea typeface="+mn-ea"/>
            </a:endParaRPr>
          </a:p>
        </p:txBody>
      </p:sp>
      <p:sp>
        <p:nvSpPr>
          <p:cNvPr id="22" name="Text Box 75"/>
          <p:cNvSpPr txBox="1">
            <a:spLocks noChangeArrowheads="1"/>
          </p:cNvSpPr>
          <p:nvPr/>
        </p:nvSpPr>
        <p:spPr bwMode="auto">
          <a:xfrm>
            <a:off x="7021574" y="4696546"/>
            <a:ext cx="1574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solidFill>
                  <a:srgbClr val="FF0000"/>
                </a:solidFill>
                <a:latin typeface="+mn-ea"/>
                <a:ea typeface="+mn-ea"/>
              </a:rPr>
              <a:t>索引表</a:t>
            </a:r>
            <a:endParaRPr lang="zh-CN" altLang="en-US" sz="2400" b="0" dirty="0">
              <a:solidFill>
                <a:srgbClr val="FF0000"/>
              </a:solidFill>
              <a:latin typeface="+mn-ea"/>
              <a:ea typeface="+mn-ea"/>
            </a:endParaRPr>
          </a:p>
        </p:txBody>
      </p:sp>
      <p:sp>
        <p:nvSpPr>
          <p:cNvPr id="23" name="Line 88"/>
          <p:cNvSpPr>
            <a:spLocks noChangeShapeType="1"/>
          </p:cNvSpPr>
          <p:nvPr/>
        </p:nvSpPr>
        <p:spPr bwMode="auto">
          <a:xfrm flipV="1">
            <a:off x="9466632" y="1381144"/>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4" name="Line 89"/>
          <p:cNvSpPr>
            <a:spLocks noChangeShapeType="1"/>
          </p:cNvSpPr>
          <p:nvPr/>
        </p:nvSpPr>
        <p:spPr bwMode="auto">
          <a:xfrm flipV="1">
            <a:off x="9466632" y="1666894"/>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5" name="Line 90"/>
          <p:cNvSpPr>
            <a:spLocks noChangeShapeType="1"/>
          </p:cNvSpPr>
          <p:nvPr/>
        </p:nvSpPr>
        <p:spPr bwMode="auto">
          <a:xfrm flipV="1">
            <a:off x="9466632" y="2009794"/>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6" name="Line 91"/>
          <p:cNvSpPr>
            <a:spLocks noChangeShapeType="1"/>
          </p:cNvSpPr>
          <p:nvPr/>
        </p:nvSpPr>
        <p:spPr bwMode="auto">
          <a:xfrm flipV="1">
            <a:off x="9466632" y="3095644"/>
            <a:ext cx="1295400" cy="4000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7" name="íşľíḑè"/>
          <p:cNvSpPr/>
          <p:nvPr/>
        </p:nvSpPr>
        <p:spPr bwMode="auto">
          <a:xfrm>
            <a:off x="617838" y="3921038"/>
            <a:ext cx="5005929" cy="2405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spcBef>
                <a:spcPts val="600"/>
              </a:spcBef>
              <a:spcAft>
                <a:spcPts val="600"/>
              </a:spcAft>
              <a:buFont typeface="Wingdings" panose="05000000000000000000" pitchFamily="2" charset="2"/>
              <a:buChar char="Ø"/>
            </a:pPr>
            <a:r>
              <a:rPr lang="zh-CN" altLang="en-US" sz="2400" dirty="0" smtClean="0">
                <a:solidFill>
                  <a:srgbClr val="FF0000"/>
                </a:solidFill>
              </a:rPr>
              <a:t>优点</a:t>
            </a:r>
            <a:r>
              <a:rPr lang="zh-CN" altLang="en-US" sz="2400" dirty="0" smtClean="0"/>
              <a:t>：把变长记录文件顺序查找变成对定长记录索引文件的随机查找，提高了查找速度。</a:t>
            </a:r>
            <a:endParaRPr lang="en-US" altLang="zh-CN" sz="2400" dirty="0" smtClean="0"/>
          </a:p>
          <a:p>
            <a:pPr marL="342900" lvl="1" indent="-342900">
              <a:spcBef>
                <a:spcPts val="600"/>
              </a:spcBef>
              <a:spcAft>
                <a:spcPts val="600"/>
              </a:spcAft>
              <a:buFont typeface="Wingdings" panose="05000000000000000000" pitchFamily="2" charset="2"/>
              <a:buChar char="Ø"/>
            </a:pPr>
            <a:r>
              <a:rPr lang="zh-CN" altLang="en-US" sz="2400" dirty="0" smtClean="0">
                <a:solidFill>
                  <a:srgbClr val="FF0000"/>
                </a:solidFill>
              </a:rPr>
              <a:t>缺点</a:t>
            </a:r>
            <a:r>
              <a:rPr lang="zh-CN" altLang="en-US" sz="2400" dirty="0" smtClean="0"/>
              <a:t>：需要配置索引表，且每个记录都要有一个索引项，增加了存储开销</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索引顺序文件</a:t>
            </a:r>
            <a:endParaRPr lang="zh-CN" altLang="en-US" sz="2800" b="1" dirty="0">
              <a:solidFill>
                <a:schemeClr val="bg1"/>
              </a:solidFill>
            </a:endParaRPr>
          </a:p>
        </p:txBody>
      </p:sp>
      <p:sp>
        <p:nvSpPr>
          <p:cNvPr id="22" name="i$lîďê"/>
          <p:cNvSpPr/>
          <p:nvPr/>
        </p:nvSpPr>
        <p:spPr>
          <a:xfrm>
            <a:off x="1133017" y="2323730"/>
            <a:ext cx="10942777" cy="392877"/>
          </a:xfrm>
          <a:prstGeom prst="rect">
            <a:avLst/>
          </a:prstGeom>
          <a:noFill/>
          <a:ln>
            <a:noFill/>
          </a:ln>
        </p:spPr>
        <p:txBody>
          <a:bodyPr wrap="square" lIns="91440" tIns="45720" rIns="91440" bIns="45720" anchor="ctr" anchorCtr="0">
            <a:noAutofit/>
          </a:bodyPr>
          <a:lstStyle/>
          <a:p>
            <a:r>
              <a:rPr lang="zh-CN" altLang="en-US" sz="2600" dirty="0" smtClean="0"/>
              <a:t>索引顺序文件中，对文件记录进行分组，为每个组的第一条记录建立索引</a:t>
            </a:r>
            <a:endParaRPr lang="zh-CN" altLang="en-US" sz="2600" dirty="0"/>
          </a:p>
        </p:txBody>
      </p:sp>
      <p:sp>
        <p:nvSpPr>
          <p:cNvPr id="23" name="î$ļíḋè"/>
          <p:cNvSpPr/>
          <p:nvPr/>
        </p:nvSpPr>
        <p:spPr>
          <a:xfrm>
            <a:off x="1133017" y="3318444"/>
            <a:ext cx="8380459" cy="96209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smtClean="0"/>
              <a:t>分组的组间关键字必须有序，通过索引查找。</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smtClean="0"/>
              <a:t>组内关键字可以无序，按照顺序查找。</a:t>
            </a:r>
            <a:endParaRPr lang="zh-CN" altLang="en-US" sz="2400" dirty="0"/>
          </a:p>
        </p:txBody>
      </p:sp>
      <p:sp>
        <p:nvSpPr>
          <p:cNvPr id="24" name="ïṧḷïḋè"/>
          <p:cNvSpPr/>
          <p:nvPr/>
        </p:nvSpPr>
        <p:spPr>
          <a:xfrm>
            <a:off x="1047296" y="3224255"/>
            <a:ext cx="3696051" cy="415102"/>
          </a:xfrm>
          <a:prstGeom prst="rect">
            <a:avLst/>
          </a:prstGeom>
          <a:noFill/>
          <a:ln>
            <a:noFill/>
          </a:ln>
        </p:spPr>
        <p:txBody>
          <a:bodyPr wrap="square" lIns="91440" tIns="45720" rIns="91440" bIns="45720" anchor="ctr" anchorCtr="0">
            <a:noAutofit/>
          </a:bodyPr>
          <a:lstStyle/>
          <a:p>
            <a:endParaRPr lang="zh-CN" altLang="en-US" sz="2600" dirty="0">
              <a:solidFill>
                <a:srgbClr val="FF0000"/>
              </a:solidFill>
            </a:endParaRPr>
          </a:p>
        </p:txBody>
      </p:sp>
      <p:sp>
        <p:nvSpPr>
          <p:cNvPr id="26" name="íšḻíḑê"/>
          <p:cNvSpPr/>
          <p:nvPr/>
        </p:nvSpPr>
        <p:spPr>
          <a:xfrm>
            <a:off x="1047293" y="1343241"/>
            <a:ext cx="9285981" cy="405747"/>
          </a:xfrm>
          <a:prstGeom prst="rect">
            <a:avLst/>
          </a:prstGeom>
          <a:noFill/>
          <a:ln>
            <a:noFill/>
          </a:ln>
        </p:spPr>
        <p:txBody>
          <a:bodyPr wrap="square" lIns="91440" tIns="45720" rIns="91440" bIns="45720" anchor="ctr" anchorCtr="0">
            <a:noAutofit/>
          </a:bodyPr>
          <a:lstStyle/>
          <a:p>
            <a:r>
              <a:rPr lang="zh-CN" altLang="en-US" sz="2600" dirty="0" smtClean="0">
                <a:sym typeface="Wingdings" panose="05000000000000000000" pitchFamily="2" charset="2"/>
              </a:rPr>
              <a:t>由于顺序文件不能随机查找，索引文件增加了系统开销，提出索引顺序文件</a:t>
            </a:r>
            <a:endParaRPr lang="zh-CN" altLang="en-US" sz="2600" dirty="0"/>
          </a:p>
        </p:txBody>
      </p:sp>
      <p:sp>
        <p:nvSpPr>
          <p:cNvPr id="27" name="îSļiḓè"/>
          <p:cNvSpPr/>
          <p:nvPr/>
        </p:nvSpPr>
        <p:spPr>
          <a:xfrm>
            <a:off x="363792" y="12321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8" name="íṥḻîḓe"/>
          <p:cNvSpPr/>
          <p:nvPr/>
        </p:nvSpPr>
        <p:spPr>
          <a:xfrm>
            <a:off x="363792" y="318029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9" name="îşļiḓè"/>
          <p:cNvSpPr/>
          <p:nvPr/>
        </p:nvSpPr>
        <p:spPr>
          <a:xfrm>
            <a:off x="363792" y="220623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0" name="îṡḷíďe"/>
          <p:cNvSpPr/>
          <p:nvPr/>
        </p:nvSpPr>
        <p:spPr>
          <a:xfrm>
            <a:off x="554047" y="142832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1" name="íSlíḋe"/>
          <p:cNvSpPr/>
          <p:nvPr/>
        </p:nvSpPr>
        <p:spPr>
          <a:xfrm>
            <a:off x="554046" y="242825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2" name="ïśḷïḓe"/>
          <p:cNvSpPr/>
          <p:nvPr/>
        </p:nvSpPr>
        <p:spPr>
          <a:xfrm>
            <a:off x="582985" y="3369750"/>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3" name="î$ļíḋè"/>
          <p:cNvSpPr/>
          <p:nvPr/>
        </p:nvSpPr>
        <p:spPr>
          <a:xfrm>
            <a:off x="815194" y="4733859"/>
            <a:ext cx="10460501" cy="96209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smtClean="0"/>
              <a:t>优点：极大的减少了访问单条记录的时间，同时保留了文件的顺序性。</a:t>
            </a:r>
            <a:endParaRPr lang="en-US" altLang="zh-CN" sz="2400" dirty="0" smtClean="0"/>
          </a:p>
          <a:p>
            <a:pPr marL="342900" indent="-342900">
              <a:lnSpc>
                <a:spcPct val="120000"/>
              </a:lnSpc>
              <a:buClr>
                <a:srgbClr val="FF0000"/>
              </a:buClr>
              <a:buFont typeface="Wingdings" panose="05000000000000000000" pitchFamily="2" charset="2"/>
              <a:buChar char="Ø"/>
            </a:pPr>
            <a:r>
              <a:rPr lang="zh-CN" altLang="en-US" sz="2400" dirty="0" smtClean="0"/>
              <a:t>缺点：索引表同样增加存储开销</a:t>
            </a:r>
            <a:endParaRPr lang="zh-CN"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索引顺序文件</a:t>
            </a:r>
            <a:endParaRPr lang="zh-CN" altLang="en-US" sz="2800" b="1" dirty="0">
              <a:solidFill>
                <a:schemeClr val="bg1"/>
              </a:solidFill>
            </a:endParaRPr>
          </a:p>
        </p:txBody>
      </p:sp>
      <p:graphicFrame>
        <p:nvGraphicFramePr>
          <p:cNvPr id="11" name="Group 34"/>
          <p:cNvGraphicFramePr>
            <a:graphicFrameLocks noGrp="1"/>
          </p:cNvGraphicFramePr>
          <p:nvPr/>
        </p:nvGraphicFramePr>
        <p:xfrm>
          <a:off x="2086253" y="1669557"/>
          <a:ext cx="3195960" cy="2539602"/>
        </p:xfrm>
        <a:graphic>
          <a:graphicData uri="http://schemas.openxmlformats.org/drawingml/2006/table">
            <a:tbl>
              <a:tblPr>
                <a:tableStyleId>{5DA37D80-6434-44D0-A028-1B22A696006F}</a:tableStyleId>
              </a:tblPr>
              <a:tblGrid>
                <a:gridCol w="1597980"/>
                <a:gridCol w="1597980"/>
              </a:tblGrid>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键</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逻辑地址</a:t>
                      </a:r>
                      <a:endParaRPr kumimoji="1" lang="zh-CN" altLang="en-US" sz="2400" b="0" i="0" u="none" strike="noStrike" cap="none" normalizeH="0" baseline="0">
                        <a:ln>
                          <a:noFill/>
                        </a:ln>
                        <a:solidFill>
                          <a:schemeClr val="tx1"/>
                        </a:solidFill>
                        <a:effectLst/>
                        <a:latin typeface="+mn-ea"/>
                        <a:ea typeface="+mn-ea"/>
                      </a:endParaRPr>
                    </a:p>
                  </a:txBody>
                  <a:tcPr marL="92075" marR="92075" marT="34536" marB="34536" anchor="ctr" horzOverflow="overflow"/>
                </a:tc>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Qi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Bao Rong</a:t>
                      </a:r>
                      <a:endParaRPr kumimoji="1" lang="en-US" altLang="zh-CN" sz="2400" b="0" i="0" u="none" strike="noStrike" cap="none" normalizeH="0" baseline="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Chen Lin</a:t>
                      </a:r>
                      <a:endParaRPr kumimoji="1" lang="en-US" altLang="zh-CN" sz="2400" b="0" i="0" u="none" strike="noStrike" cap="none" normalizeH="0" baseline="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r h="800274">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bl>
          </a:graphicData>
        </a:graphic>
      </p:graphicFrame>
      <p:graphicFrame>
        <p:nvGraphicFramePr>
          <p:cNvPr id="12" name="Group 73"/>
          <p:cNvGraphicFramePr>
            <a:graphicFrameLocks noGrp="1"/>
          </p:cNvGraphicFramePr>
          <p:nvPr/>
        </p:nvGraphicFramePr>
        <p:xfrm>
          <a:off x="7034813" y="1518348"/>
          <a:ext cx="3121242" cy="4644289"/>
        </p:xfrm>
        <a:graphic>
          <a:graphicData uri="http://schemas.openxmlformats.org/drawingml/2006/table">
            <a:tbl>
              <a:tblPr>
                <a:tableStyleId>{5DA37D80-6434-44D0-A028-1B22A696006F}</a:tableStyleId>
              </a:tblPr>
              <a:tblGrid>
                <a:gridCol w="1560621"/>
                <a:gridCol w="1560621"/>
              </a:tblGrid>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姓名</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其他属性</a:t>
                      </a:r>
                      <a:endParaRPr kumimoji="1" lang="zh-CN" altLang="en-US" sz="2400" b="0" i="0" u="none" strike="noStrike" cap="none" normalizeH="0" baseline="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Qi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Kang</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Bao Rong</a:t>
                      </a:r>
                      <a:endParaRPr kumimoji="1" lang="en-US"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800033">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bl>
          </a:graphicData>
        </a:graphic>
      </p:graphicFrame>
      <p:sp>
        <p:nvSpPr>
          <p:cNvPr id="13" name="Line 74"/>
          <p:cNvSpPr>
            <a:spLocks noChangeShapeType="1"/>
          </p:cNvSpPr>
          <p:nvPr/>
        </p:nvSpPr>
        <p:spPr bwMode="auto">
          <a:xfrm flipV="1">
            <a:off x="4977413" y="2069607"/>
            <a:ext cx="2057400" cy="17145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4" name="Line 75"/>
          <p:cNvSpPr>
            <a:spLocks noChangeShapeType="1"/>
          </p:cNvSpPr>
          <p:nvPr/>
        </p:nvSpPr>
        <p:spPr bwMode="auto">
          <a:xfrm>
            <a:off x="4977413" y="2641107"/>
            <a:ext cx="2057400" cy="102870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直接文件和哈希文件</a:t>
            </a:r>
            <a:endParaRPr lang="zh-CN" altLang="en-US" sz="2800" b="1" dirty="0">
              <a:solidFill>
                <a:schemeClr val="bg1"/>
              </a:solidFill>
            </a:endParaRPr>
          </a:p>
        </p:txBody>
      </p:sp>
      <p:sp>
        <p:nvSpPr>
          <p:cNvPr id="9" name="Rectangle 3"/>
          <p:cNvSpPr txBox="1">
            <a:spLocks noChangeArrowheads="1"/>
          </p:cNvSpPr>
          <p:nvPr/>
        </p:nvSpPr>
        <p:spPr bwMode="auto">
          <a:xfrm>
            <a:off x="1066165" y="1168400"/>
            <a:ext cx="10904220" cy="4034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ts val="575"/>
              </a:spcBef>
              <a:spcAft>
                <a:spcPct val="0"/>
              </a:spcAft>
              <a:buClr>
                <a:srgbClr val="D34817"/>
              </a:buClr>
              <a:buSzPct val="85000"/>
              <a:buNone/>
              <a:defRPr/>
            </a:pPr>
            <a:r>
              <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直接文件（散列</a:t>
            </a:r>
            <a:r>
              <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文件）</a:t>
            </a:r>
            <a:endPar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endParaRPr>
          </a:p>
          <a:p>
            <a:pPr marR="0" lvl="1" algn="l" defTabSz="914400" rtl="0" eaLnBrk="1" fontAlgn="base" latinLnBrk="0" hangingPunct="1">
              <a:lnSpc>
                <a:spcPct val="15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用在不能采用顺序组织方法、次序较乱、又需在极短时间内存取的场合，比如对于实时处理文件、操作系统目录文件、编译程序变量名表等特别有效</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algn="l" defTabSz="914400" rtl="0" eaLnBrk="1" fontAlgn="base" latinLnBrk="0" hangingPunct="1">
              <a:lnSpc>
                <a:spcPct val="15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关键字本身决定了物理地址，通过对关键</a:t>
            </a: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字施加变换而获得相应地址</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algn="l" defTabSz="914400" rtl="0" eaLnBrk="1" fontAlgn="base" latinLnBrk="0" hangingPunct="1">
              <a:lnSpc>
                <a:spcPct val="15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不需要索引，节省了索引存储空间和索引查找时间</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L="0" marR="0" lvl="0" indent="0" algn="l" defTabSz="914400" rtl="0" eaLnBrk="1" fontAlgn="base" latinLnBrk="0" hangingPunct="1">
              <a:lnSpc>
                <a:spcPct val="150000"/>
              </a:lnSpc>
              <a:spcBef>
                <a:spcPts val="575"/>
              </a:spcBef>
              <a:spcAft>
                <a:spcPct val="0"/>
              </a:spcAft>
              <a:buClr>
                <a:srgbClr val="D34817"/>
              </a:buClr>
              <a:buSzPct val="85000"/>
              <a:buNone/>
              <a:defRPr/>
            </a:pPr>
            <a:r>
              <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哈希文件：</a:t>
            </a:r>
            <a:endPar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endParaRPr>
          </a:p>
          <a:p>
            <a:pPr marR="0" lvl="1" algn="l" defTabSz="914400" rtl="0" eaLnBrk="1" fontAlgn="base" latinLnBrk="0" hangingPunct="1">
              <a:lnSpc>
                <a:spcPct val="15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利用</a:t>
            </a:r>
            <a:r>
              <a:rPr kumimoji="0" lang="en-US" altLang="zh-CN" sz="2400" b="0" i="0" u="none" strike="noStrike" kern="1200" cap="none" spc="0" normalizeH="0" baseline="0" noProof="0" dirty="0">
                <a:ln>
                  <a:noFill/>
                </a:ln>
                <a:solidFill>
                  <a:srgbClr val="FF0000"/>
                </a:solidFill>
                <a:effectLst/>
                <a:uLnTx/>
                <a:uFillTx/>
                <a:latin typeface="+mn-ea"/>
                <a:cs typeface="+mn-cs"/>
                <a:sym typeface="Wingdings" panose="05000000000000000000" pitchFamily="2" charset="2"/>
              </a:rPr>
              <a:t>Hash</a:t>
            </a:r>
            <a:r>
              <a:rPr kumimoji="0" lang="zh-CN" altLang="en-US" sz="2400" b="0" i="0" u="none" strike="noStrike" kern="1200" cap="none" spc="0" normalizeH="0" baseline="0" noProof="0" dirty="0">
                <a:ln>
                  <a:noFill/>
                </a:ln>
                <a:solidFill>
                  <a:srgbClr val="FF0000"/>
                </a:solidFill>
                <a:effectLst/>
                <a:uLnTx/>
                <a:uFillTx/>
                <a:latin typeface="+mn-ea"/>
                <a:cs typeface="+mn-cs"/>
                <a:sym typeface="Wingdings" panose="05000000000000000000" pitchFamily="2" charset="2"/>
              </a:rPr>
              <a:t>函数</a:t>
            </a: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将记录键值转换为记录的地址。</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L="319405" marR="0" lvl="1" indent="0" algn="l" defTabSz="914400" rtl="0" eaLnBrk="1" fontAlgn="base" latinLnBrk="0" hangingPunct="1">
              <a:lnSpc>
                <a:spcPct val="150000"/>
              </a:lnSpc>
              <a:spcBef>
                <a:spcPts val="375"/>
              </a:spcBef>
              <a:spcAft>
                <a:spcPct val="0"/>
              </a:spcAft>
              <a:buClr>
                <a:srgbClr val="9B2D1F"/>
              </a:buClr>
              <a:buSzPct val="85000"/>
              <a:buNone/>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（哈希函数指将哈希表中元素的关键键值映射为元素存储位置的函数）</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79370" y="1074378"/>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79370" y="3165529"/>
            <a:ext cx="527050" cy="527050"/>
          </a:xfrm>
          <a:prstGeom prst="rect">
            <a:avLst/>
          </a:prstGeom>
          <a:ln>
            <a:noFill/>
          </a:ln>
          <a:effectLst>
            <a:softEdge rad="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82930" y="1950720"/>
            <a:ext cx="11026140" cy="29565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文件的物理</a:t>
            </a:r>
            <a:r>
              <a:rPr lang="zh-CN" altLang="en-US" sz="2800" b="1" dirty="0">
                <a:solidFill>
                  <a:schemeClr val="bg1"/>
                </a:solidFill>
              </a:rPr>
              <a:t>结构</a:t>
            </a:r>
            <a:endParaRPr lang="zh-CN" altLang="en-US" sz="2800" b="1" dirty="0">
              <a:solidFill>
                <a:schemeClr val="bg1"/>
              </a:solidFill>
            </a:endParaRPr>
          </a:p>
        </p:txBody>
      </p:sp>
      <p:sp>
        <p:nvSpPr>
          <p:cNvPr id="9" name="文本框 8"/>
          <p:cNvSpPr txBox="1"/>
          <p:nvPr/>
        </p:nvSpPr>
        <p:spPr>
          <a:xfrm>
            <a:off x="1496960" y="4976206"/>
            <a:ext cx="6706041" cy="477054"/>
          </a:xfrm>
          <a:prstGeom prst="rect">
            <a:avLst/>
          </a:prstGeom>
          <a:noFill/>
        </p:spPr>
        <p:txBody>
          <a:bodyPr wrap="square" rtlCol="0">
            <a:spAutoFit/>
          </a:bodyPr>
          <a:lstStyle/>
          <a:p>
            <a:r>
              <a:rPr lang="zh-CN" altLang="en-US" sz="2500" dirty="0"/>
              <a:t>现代</a:t>
            </a:r>
            <a:r>
              <a:rPr lang="en-US" altLang="zh-CN" sz="2500" dirty="0"/>
              <a:t>OS</a:t>
            </a:r>
            <a:r>
              <a:rPr lang="zh-CN" altLang="en-US" sz="2500" dirty="0"/>
              <a:t>，可能会采用多种类型的外存组织方式。</a:t>
            </a:r>
            <a:endParaRPr lang="zh-CN" altLang="en-US" sz="2500" dirty="0"/>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69054" y="1904979"/>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69054" y="4897338"/>
            <a:ext cx="527050" cy="527050"/>
          </a:xfrm>
          <a:prstGeom prst="rect">
            <a:avLst/>
          </a:prstGeom>
          <a:ln>
            <a:noFill/>
          </a:ln>
          <a:effectLst>
            <a:softEdge rad="0"/>
          </a:effectLst>
        </p:spPr>
      </p:pic>
      <p:sp>
        <p:nvSpPr>
          <p:cNvPr id="10" name="文本框 9"/>
          <p:cNvSpPr txBox="1"/>
          <p:nvPr/>
        </p:nvSpPr>
        <p:spPr>
          <a:xfrm>
            <a:off x="1496960" y="1952080"/>
            <a:ext cx="7200554" cy="477054"/>
          </a:xfrm>
          <a:prstGeom prst="rect">
            <a:avLst/>
          </a:prstGeom>
          <a:noFill/>
        </p:spPr>
        <p:txBody>
          <a:bodyPr wrap="square" rtlCol="0">
            <a:spAutoFit/>
          </a:bodyPr>
          <a:lstStyle/>
          <a:p>
            <a:r>
              <a:rPr lang="zh-CN" altLang="en-US" sz="2500" dirty="0"/>
              <a:t>不同的外存组织方式，将形成不同的文件物理结构。</a:t>
            </a:r>
            <a:endParaRPr lang="zh-CN" altLang="en-US" sz="2500" dirty="0"/>
          </a:p>
        </p:txBody>
      </p:sp>
      <p:sp>
        <p:nvSpPr>
          <p:cNvPr id="11" name="íşļîḓé"/>
          <p:cNvSpPr/>
          <p:nvPr/>
        </p:nvSpPr>
        <p:spPr bwMode="auto">
          <a:xfrm>
            <a:off x="1496960" y="2429133"/>
            <a:ext cx="9301649" cy="1541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Clr>
                <a:schemeClr val="accent4">
                  <a:lumMod val="40000"/>
                  <a:lumOff val="60000"/>
                </a:schemeClr>
              </a:buClr>
              <a:buFont typeface="Wingdings" panose="05000000000000000000" pitchFamily="2" charset="2"/>
              <a:buChar char="Ø"/>
            </a:pPr>
            <a:r>
              <a:rPr lang="zh-CN" altLang="en-US" sz="2400" dirty="0">
                <a:solidFill>
                  <a:srgbClr val="0000FF"/>
                </a:solidFill>
              </a:rPr>
              <a:t>连续组织方式</a:t>
            </a:r>
            <a:r>
              <a:rPr lang="zh-CN" altLang="en-US" sz="2400" dirty="0"/>
              <a:t>：形成的文件物理结构是</a:t>
            </a:r>
            <a:r>
              <a:rPr lang="zh-CN" altLang="en-US" sz="2400" dirty="0">
                <a:solidFill>
                  <a:srgbClr val="0000FF"/>
                </a:solidFill>
              </a:rPr>
              <a:t>顺序式文件结构</a:t>
            </a:r>
            <a:r>
              <a:rPr lang="zh-CN" altLang="en-US" sz="2400" dirty="0"/>
              <a:t>。</a:t>
            </a:r>
            <a:endParaRPr lang="zh-CN" altLang="en-US" sz="2400" dirty="0"/>
          </a:p>
          <a:p>
            <a:pPr marL="342900" lvl="1" indent="-342900">
              <a:lnSpc>
                <a:spcPct val="150000"/>
              </a:lnSpc>
              <a:buClr>
                <a:schemeClr val="accent4">
                  <a:lumMod val="40000"/>
                  <a:lumOff val="60000"/>
                </a:schemeClr>
              </a:buClr>
              <a:buFont typeface="Wingdings" panose="05000000000000000000" pitchFamily="2" charset="2"/>
              <a:buChar char="Ø"/>
            </a:pPr>
            <a:r>
              <a:rPr lang="zh-CN" altLang="en-US" sz="2400" dirty="0"/>
              <a:t>链接组织方式</a:t>
            </a:r>
            <a:r>
              <a:rPr lang="zh-CN" altLang="en-US" sz="2400" dirty="0"/>
              <a:t>：形成的文件物理结构是链接式文件结构。</a:t>
            </a:r>
            <a:endParaRPr lang="zh-CN" altLang="en-US" sz="2400" dirty="0"/>
          </a:p>
          <a:p>
            <a:pPr marL="342900" lvl="1" indent="-342900">
              <a:lnSpc>
                <a:spcPct val="150000"/>
              </a:lnSpc>
              <a:buClr>
                <a:schemeClr val="accent4">
                  <a:lumMod val="40000"/>
                  <a:lumOff val="60000"/>
                </a:schemeClr>
              </a:buClr>
              <a:buFont typeface="Wingdings" panose="05000000000000000000" pitchFamily="2" charset="2"/>
              <a:buChar char="Ø"/>
            </a:pPr>
            <a:r>
              <a:rPr lang="zh-CN" altLang="en-US" sz="2400" dirty="0">
                <a:solidFill>
                  <a:srgbClr val="FF0000"/>
                </a:solidFill>
              </a:rPr>
              <a:t>索引组织方式</a:t>
            </a:r>
            <a:r>
              <a:rPr lang="zh-CN" altLang="en-US" sz="2400" dirty="0"/>
              <a:t>：形成的文件物理结构是</a:t>
            </a:r>
            <a:r>
              <a:rPr lang="zh-CN" altLang="en-US" sz="2400" dirty="0">
                <a:solidFill>
                  <a:srgbClr val="FF0000"/>
                </a:solidFill>
              </a:rPr>
              <a:t>索引式文件结构</a:t>
            </a:r>
            <a:r>
              <a:rPr lang="zh-CN" altLang="en-US" sz="2400" dirty="0"/>
              <a:t>。</a:t>
            </a:r>
            <a:endParaRPr lang="zh-CN"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1</a:t>
            </a:r>
            <a:r>
              <a:rPr lang="zh-CN" altLang="en-US" sz="2800" b="1" dirty="0">
                <a:solidFill>
                  <a:schemeClr val="bg1"/>
                </a:solidFill>
              </a:rPr>
              <a:t>、连续组织方式</a:t>
            </a:r>
            <a:endParaRPr lang="zh-CN" altLang="en-US" sz="2800" b="1" dirty="0">
              <a:solidFill>
                <a:schemeClr val="bg1"/>
              </a:solidFill>
            </a:endParaRPr>
          </a:p>
        </p:txBody>
      </p:sp>
      <p:sp>
        <p:nvSpPr>
          <p:cNvPr id="14" name="文本框 13"/>
          <p:cNvSpPr txBox="1"/>
          <p:nvPr/>
        </p:nvSpPr>
        <p:spPr>
          <a:xfrm>
            <a:off x="106680" y="1117600"/>
            <a:ext cx="6536690" cy="475615"/>
          </a:xfrm>
          <a:prstGeom prst="rect">
            <a:avLst/>
          </a:prstGeom>
          <a:noFill/>
        </p:spPr>
        <p:txBody>
          <a:bodyPr wrap="square" rtlCol="0">
            <a:spAutoFit/>
          </a:bodyPr>
          <a:lstStyle/>
          <a:p>
            <a:r>
              <a:rPr lang="zh-CN" altLang="en-US" sz="2500" dirty="0"/>
              <a:t>为每个文件分配一组相邻接（连续）的磁盘块</a:t>
            </a:r>
            <a:endParaRPr lang="zh-CN" altLang="en-US" sz="2500" dirty="0"/>
          </a:p>
        </p:txBody>
      </p:sp>
      <p:pic>
        <p:nvPicPr>
          <p:cNvPr id="2" name="Picture 4"/>
          <p:cNvPicPr>
            <a:picLocks noChangeAspect="1" noChangeArrowheads="1"/>
          </p:cNvPicPr>
          <p:nvPr/>
        </p:nvPicPr>
        <p:blipFill>
          <a:blip r:embed="rId1">
            <a:extLst>
              <a:ext uri="{28A0092B-C50C-407E-A947-70E740481C1C}">
                <a14:useLocalDpi xmlns:a14="http://schemas.microsoft.com/office/drawing/2010/main" val="0"/>
              </a:ext>
            </a:extLst>
          </a:blip>
          <a:srcRect l="13196" t="580" r="12967" b="887"/>
          <a:stretch>
            <a:fillRect/>
          </a:stretch>
        </p:blipFill>
        <p:spPr bwMode="auto">
          <a:xfrm>
            <a:off x="7121386" y="1117334"/>
            <a:ext cx="5070577" cy="5073921"/>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圆角 14"/>
          <p:cNvSpPr/>
          <p:nvPr/>
        </p:nvSpPr>
        <p:spPr>
          <a:xfrm>
            <a:off x="74930" y="1706880"/>
            <a:ext cx="2748915" cy="57023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defRPr/>
            </a:pPr>
            <a:r>
              <a:rPr lang="zh-CN" altLang="en-US" sz="2400" dirty="0"/>
              <a:t>优点：</a:t>
            </a:r>
            <a:endParaRPr lang="zh-CN" altLang="en-US" sz="2400" dirty="0"/>
          </a:p>
        </p:txBody>
      </p:sp>
      <p:sp>
        <p:nvSpPr>
          <p:cNvPr id="4" name="内容占位符 2"/>
          <p:cNvSpPr txBox="1"/>
          <p:nvPr/>
        </p:nvSpPr>
        <p:spPr>
          <a:xfrm>
            <a:off x="0" y="2465705"/>
            <a:ext cx="3101340" cy="2861945"/>
          </a:xfrm>
          <a:prstGeom prst="rect">
            <a:avLst/>
          </a:prstGeom>
        </p:spPr>
        <p:txBody>
          <a:bodyPr>
            <a:noAutofit/>
          </a:bodyPr>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顺序访问容易 － 仅需要起始块号和长度</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顺序访问速度快：是几种外存组织方式中最快的一种</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支持随机访问</a:t>
            </a:r>
            <a:endParaRPr lang="zh-CN" altLang="en-US" sz="2400" dirty="0"/>
          </a:p>
        </p:txBody>
      </p:sp>
      <p:sp>
        <p:nvSpPr>
          <p:cNvPr id="5" name="矩形: 圆角 16"/>
          <p:cNvSpPr/>
          <p:nvPr/>
        </p:nvSpPr>
        <p:spPr>
          <a:xfrm>
            <a:off x="3169920" y="1706880"/>
            <a:ext cx="3382645" cy="57023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defRPr/>
            </a:pPr>
            <a:r>
              <a:rPr lang="zh-CN" altLang="en-US" sz="2400" dirty="0"/>
              <a:t>缺点：</a:t>
            </a:r>
            <a:endParaRPr lang="zh-CN" altLang="en-US" sz="2400" dirty="0"/>
          </a:p>
        </p:txBody>
      </p:sp>
      <p:sp>
        <p:nvSpPr>
          <p:cNvPr id="6" name="内容占位符 2"/>
          <p:cNvSpPr txBox="1"/>
          <p:nvPr/>
        </p:nvSpPr>
        <p:spPr>
          <a:xfrm>
            <a:off x="3169920" y="2401570"/>
            <a:ext cx="3648710" cy="4164330"/>
          </a:xfrm>
          <a:prstGeom prst="rect">
            <a:avLst/>
          </a:prstGeom>
        </p:spPr>
        <p:txBody>
          <a:bodyPr>
            <a:noAutofit/>
          </a:bodyPr>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要求分配连续的存储空间，会产生许多外碎片，外存空间利用率低</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必须事先知道文件的长度</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不能灵活地删除和插入记录</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文件不能动态增长</a:t>
            </a:r>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2 </a:t>
            </a:r>
            <a:r>
              <a:rPr lang="zh-CN" altLang="en-US" sz="2800" b="1" dirty="0">
                <a:solidFill>
                  <a:schemeClr val="bg1"/>
                </a:solidFill>
              </a:rPr>
              <a:t>、链接组织方式</a:t>
            </a:r>
            <a:endParaRPr lang="zh-CN" altLang="en-US" sz="2800" b="1" dirty="0">
              <a:solidFill>
                <a:schemeClr val="bg1"/>
              </a:solidFill>
            </a:endParaRPr>
          </a:p>
        </p:txBody>
      </p:sp>
      <p:sp>
        <p:nvSpPr>
          <p:cNvPr id="14" name="文本框 13"/>
          <p:cNvSpPr txBox="1"/>
          <p:nvPr/>
        </p:nvSpPr>
        <p:spPr>
          <a:xfrm>
            <a:off x="822256" y="1274802"/>
            <a:ext cx="10416873" cy="996107"/>
          </a:xfrm>
          <a:prstGeom prst="rect">
            <a:avLst/>
          </a:prstGeom>
          <a:noFill/>
        </p:spPr>
        <p:txBody>
          <a:bodyPr wrap="square" rtlCol="0">
            <a:spAutoFit/>
          </a:bodyPr>
          <a:lstStyle/>
          <a:p>
            <a:pPr>
              <a:lnSpc>
                <a:spcPct val="123000"/>
              </a:lnSpc>
            </a:pPr>
            <a:r>
              <a:rPr lang="zh-CN" altLang="en-US" sz="2500" dirty="0"/>
              <a:t>为文件分配不连续的盘块，通过链接指针将一个文件的所有盘块链接在一起，所形成的物理文件称为</a:t>
            </a:r>
            <a:r>
              <a:rPr lang="zh-CN" altLang="en-US" sz="2500" u="sng" dirty="0">
                <a:solidFill>
                  <a:srgbClr val="0000FF"/>
                </a:solidFill>
              </a:rPr>
              <a:t>链接文件</a:t>
            </a:r>
            <a:endParaRPr lang="zh-CN" altLang="en-US" sz="2500" u="sng" dirty="0">
              <a:solidFill>
                <a:srgbClr val="0000FF"/>
              </a:solidFill>
            </a:endParaRPr>
          </a:p>
        </p:txBody>
      </p:sp>
      <p:sp>
        <p:nvSpPr>
          <p:cNvPr id="15" name="矩形: 圆角 14"/>
          <p:cNvSpPr/>
          <p:nvPr/>
        </p:nvSpPr>
        <p:spPr>
          <a:xfrm>
            <a:off x="861680" y="2608142"/>
            <a:ext cx="3843483"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优点：</a:t>
            </a:r>
            <a:endParaRPr lang="zh-CN" altLang="en-US" sz="2400" dirty="0"/>
          </a:p>
        </p:txBody>
      </p:sp>
      <p:sp>
        <p:nvSpPr>
          <p:cNvPr id="16" name="矩形: 圆角 15"/>
          <p:cNvSpPr/>
          <p:nvPr/>
        </p:nvSpPr>
        <p:spPr>
          <a:xfrm>
            <a:off x="6021744" y="2608142"/>
            <a:ext cx="5024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链接方式</a:t>
            </a:r>
            <a:endParaRPr lang="zh-CN" altLang="en-US" sz="2400" dirty="0"/>
          </a:p>
        </p:txBody>
      </p:sp>
      <p:sp>
        <p:nvSpPr>
          <p:cNvPr id="17" name="内容占位符 2"/>
          <p:cNvSpPr txBox="1"/>
          <p:nvPr/>
        </p:nvSpPr>
        <p:spPr>
          <a:xfrm>
            <a:off x="6021744" y="3330726"/>
            <a:ext cx="5024207" cy="23598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隐式链接：指针存放在每个盘块中，只适合于顺序访问</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显式链接：指针显式地存放在内存的文件分配表</a:t>
            </a:r>
            <a:r>
              <a:rPr lang="en-US" altLang="zh-CN" sz="2400" dirty="0"/>
              <a:t>FAT</a:t>
            </a:r>
            <a:r>
              <a:rPr lang="zh-CN" altLang="en-US" sz="2400" dirty="0"/>
              <a:t>中</a:t>
            </a:r>
            <a:endParaRPr lang="zh-CN" altLang="en-US" sz="2400" dirty="0"/>
          </a:p>
        </p:txBody>
      </p:sp>
      <p:sp>
        <p:nvSpPr>
          <p:cNvPr id="18" name="内容占位符 2"/>
          <p:cNvSpPr txBox="1"/>
          <p:nvPr/>
        </p:nvSpPr>
        <p:spPr>
          <a:xfrm>
            <a:off x="822256" y="3330726"/>
            <a:ext cx="4140360" cy="28619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消除了磁盘的外碎片，提高了外存的利用率</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对插入、删除和修改记录都非常容易</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文件可动态增长</a:t>
            </a:r>
            <a:endParaRPr lang="zh-CN"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隐式链接示例</a:t>
            </a:r>
            <a:endParaRPr lang="zh-CN" altLang="en-US" sz="2800" b="1" dirty="0">
              <a:solidFill>
                <a:schemeClr val="bg1"/>
              </a:solidFill>
            </a:endParaRPr>
          </a:p>
        </p:txBody>
      </p:sp>
      <p:pic>
        <p:nvPicPr>
          <p:cNvPr id="2" name="图片 1"/>
          <p:cNvPicPr>
            <a:picLocks noChangeAspect="1"/>
          </p:cNvPicPr>
          <p:nvPr/>
        </p:nvPicPr>
        <p:blipFill>
          <a:blip r:embed="rId1"/>
          <a:stretch>
            <a:fillRect/>
          </a:stretch>
        </p:blipFill>
        <p:spPr>
          <a:xfrm>
            <a:off x="2719070" y="866775"/>
            <a:ext cx="7264400" cy="551243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显式链接示例：</a:t>
            </a:r>
            <a:r>
              <a:rPr lang="en-US" altLang="zh-CN" sz="2800" b="1" dirty="0">
                <a:solidFill>
                  <a:schemeClr val="bg1"/>
                </a:solidFill>
              </a:rPr>
              <a:t>FAT</a:t>
            </a:r>
            <a:endParaRPr lang="zh-CN" altLang="en-US" sz="2800" b="1" dirty="0">
              <a:solidFill>
                <a:schemeClr val="bg1"/>
              </a:solidFill>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l="7327" t="587" r="7326" b="896"/>
          <a:stretch>
            <a:fillRect/>
          </a:stretch>
        </p:blipFill>
        <p:spPr bwMode="auto">
          <a:xfrm>
            <a:off x="1950127" y="1187516"/>
            <a:ext cx="7584489" cy="4924144"/>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1</a:t>
            </a:r>
            <a:r>
              <a:rPr lang="zh-CN" altLang="en-US" sz="2800" b="1" dirty="0">
                <a:solidFill>
                  <a:schemeClr val="bg1"/>
                </a:solidFill>
              </a:rPr>
              <a:t>）</a:t>
            </a:r>
            <a:endParaRPr lang="zh-CN" altLang="en-US" sz="2800" b="1" dirty="0">
              <a:solidFill>
                <a:schemeClr val="bg1"/>
              </a:solidFill>
            </a:endParaRP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en-US" altLang="zh-CN" sz="2500" dirty="0">
                <a:solidFill>
                  <a:srgbClr val="FF0000"/>
                </a:solidFill>
              </a:rPr>
              <a:t>FAT</a:t>
            </a:r>
            <a:r>
              <a:rPr lang="zh-CN" altLang="en-US" sz="2500" dirty="0">
                <a:solidFill>
                  <a:srgbClr val="FF0000"/>
                </a:solidFill>
              </a:rPr>
              <a:t>文件系统</a:t>
            </a:r>
            <a:r>
              <a:rPr lang="zh-CN" altLang="en-US" sz="2500" dirty="0"/>
              <a:t>是</a:t>
            </a:r>
            <a:r>
              <a:rPr lang="zh-CN" altLang="en-US" sz="2500" dirty="0">
                <a:solidFill>
                  <a:srgbClr val="0000FF"/>
                </a:solidFill>
              </a:rPr>
              <a:t>微软最早在</a:t>
            </a:r>
            <a:r>
              <a:rPr lang="en-US" altLang="zh-CN" sz="2500" dirty="0">
                <a:solidFill>
                  <a:srgbClr val="0000FF"/>
                </a:solidFill>
              </a:rPr>
              <a:t>MS-DOS</a:t>
            </a:r>
            <a:r>
              <a:rPr lang="zh-CN" altLang="en-US" sz="2500" dirty="0">
                <a:solidFill>
                  <a:srgbClr val="0000FF"/>
                </a:solidFill>
              </a:rPr>
              <a:t>开始使用的文件系统</a:t>
            </a:r>
            <a:endParaRPr lang="zh-CN" altLang="en-US" sz="2500" dirty="0">
              <a:solidFill>
                <a:srgbClr val="0000FF"/>
              </a:solidFill>
            </a:endParaRPr>
          </a:p>
        </p:txBody>
      </p:sp>
      <p:sp>
        <p:nvSpPr>
          <p:cNvPr id="6" name="文本框 5"/>
          <p:cNvSpPr txBox="1"/>
          <p:nvPr/>
        </p:nvSpPr>
        <p:spPr>
          <a:xfrm>
            <a:off x="822255" y="1947716"/>
            <a:ext cx="10416873" cy="522900"/>
          </a:xfrm>
          <a:prstGeom prst="rect">
            <a:avLst/>
          </a:prstGeom>
          <a:noFill/>
        </p:spPr>
        <p:txBody>
          <a:bodyPr wrap="square" rtlCol="0">
            <a:spAutoFit/>
          </a:bodyPr>
          <a:lstStyle/>
          <a:p>
            <a:pPr>
              <a:lnSpc>
                <a:spcPct val="123000"/>
              </a:lnSpc>
            </a:pPr>
            <a:r>
              <a:rPr lang="en-US" altLang="zh-CN" sz="2500" dirty="0"/>
              <a:t>FAT</a:t>
            </a:r>
            <a:r>
              <a:rPr lang="zh-CN" altLang="en-US" sz="2500" dirty="0"/>
              <a:t>（</a:t>
            </a:r>
            <a:r>
              <a:rPr lang="en-US" altLang="zh-CN" sz="2500" dirty="0"/>
              <a:t>File Allocation Table</a:t>
            </a:r>
            <a:r>
              <a:rPr lang="zh-CN" altLang="en-US" sz="2500" dirty="0"/>
              <a:t>）</a:t>
            </a:r>
            <a:endParaRPr lang="zh-CN" altLang="en-US" sz="2500" dirty="0"/>
          </a:p>
        </p:txBody>
      </p:sp>
      <p:sp>
        <p:nvSpPr>
          <p:cNvPr id="7" name="内容占位符 2"/>
          <p:cNvSpPr txBox="1"/>
          <p:nvPr/>
        </p:nvSpPr>
        <p:spPr>
          <a:xfrm>
            <a:off x="822255" y="2620631"/>
            <a:ext cx="1984953" cy="6712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FAT12</a:t>
            </a:r>
            <a:endParaRPr lang="da-DK" altLang="zh-CN" sz="2400" dirty="0"/>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7989" y="3540044"/>
            <a:ext cx="8626545" cy="1725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内容占位符 2"/>
          <p:cNvSpPr txBox="1"/>
          <p:nvPr/>
        </p:nvSpPr>
        <p:spPr>
          <a:xfrm>
            <a:off x="3085944" y="2620630"/>
            <a:ext cx="1984953" cy="6712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FAT16</a:t>
            </a:r>
            <a:endParaRPr lang="da-DK" altLang="zh-CN" sz="2400" dirty="0"/>
          </a:p>
        </p:txBody>
      </p:sp>
      <p:sp>
        <p:nvSpPr>
          <p:cNvPr id="10" name="内容占位符 2"/>
          <p:cNvSpPr txBox="1"/>
          <p:nvPr/>
        </p:nvSpPr>
        <p:spPr>
          <a:xfrm>
            <a:off x="5302815" y="2618771"/>
            <a:ext cx="1661748" cy="5979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FAT32</a:t>
            </a:r>
            <a:endParaRPr lang="da-DK" altLang="zh-CN" sz="2400" dirty="0"/>
          </a:p>
        </p:txBody>
      </p:sp>
      <p:sp>
        <p:nvSpPr>
          <p:cNvPr id="11" name="内容占位符 2"/>
          <p:cNvSpPr txBox="1"/>
          <p:nvPr/>
        </p:nvSpPr>
        <p:spPr>
          <a:xfrm>
            <a:off x="7341657" y="2620630"/>
            <a:ext cx="2936199" cy="5229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FAT64</a:t>
            </a:r>
            <a:r>
              <a:rPr lang="zh-CN" altLang="da-DK" sz="2400" dirty="0"/>
              <a:t>（</a:t>
            </a:r>
            <a:r>
              <a:rPr lang="da-DK" altLang="zh-CN" sz="2400" dirty="0"/>
              <a:t>exFAT</a:t>
            </a:r>
            <a:r>
              <a:rPr lang="zh-CN" altLang="da-DK" sz="2400" dirty="0"/>
              <a:t>）</a:t>
            </a:r>
            <a:endParaRPr lang="zh-CN" altLang="da-DK"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8745" y="118745"/>
            <a:ext cx="11955145" cy="5908040"/>
          </a:xfrm>
          <a:prstGeom prst="rect">
            <a:avLst/>
          </a:prstGeom>
          <a:noFill/>
        </p:spPr>
        <p:txBody>
          <a:bodyPr wrap="square" rtlCol="0" anchor="t">
            <a:spAutoFit/>
          </a:bodyPr>
          <a:p>
            <a:r>
              <a:rPr lang="zh-CN" altLang="en-US" b="1">
                <a:sym typeface="+mn-ea"/>
              </a:rPr>
              <a:t>分区容量</a:t>
            </a:r>
            <a:endParaRPr lang="zh-CN" altLang="en-US"/>
          </a:p>
          <a:p>
            <a:r>
              <a:rPr lang="en-US" altLang="zh-CN">
                <a:sym typeface="+mn-ea"/>
              </a:rPr>
              <a:t>FAT32</a:t>
            </a:r>
            <a:r>
              <a:rPr lang="zh-CN" altLang="en-US">
                <a:sym typeface="+mn-ea"/>
              </a:rPr>
              <a:t>：能够有效管理小硬盘容量上的数据，即硬盘分区不能大于</a:t>
            </a:r>
            <a:r>
              <a:rPr lang="en-US" altLang="zh-CN">
                <a:sym typeface="+mn-ea"/>
              </a:rPr>
              <a:t>2GB</a:t>
            </a:r>
            <a:r>
              <a:rPr lang="zh-CN" altLang="en-US">
                <a:sym typeface="+mn-ea"/>
              </a:rPr>
              <a:t>。</a:t>
            </a:r>
            <a:endParaRPr lang="zh-CN" altLang="en-US"/>
          </a:p>
          <a:p>
            <a:r>
              <a:rPr lang="en-US" altLang="zh-CN">
                <a:sym typeface="+mn-ea"/>
              </a:rPr>
              <a:t>NTFS</a:t>
            </a:r>
            <a:r>
              <a:rPr lang="zh-CN" altLang="en-US">
                <a:sym typeface="+mn-ea"/>
              </a:rPr>
              <a:t>：能够支持</a:t>
            </a:r>
            <a:r>
              <a:rPr lang="en-US" altLang="zh-CN">
                <a:sym typeface="+mn-ea"/>
              </a:rPr>
              <a:t>2TB</a:t>
            </a:r>
            <a:r>
              <a:rPr lang="zh-CN" altLang="en-US">
                <a:sym typeface="+mn-ea"/>
              </a:rPr>
              <a:t>的大硬盘，并且随着磁盘容量的增大，</a:t>
            </a:r>
            <a:r>
              <a:rPr lang="en-US" altLang="zh-CN">
                <a:sym typeface="+mn-ea"/>
              </a:rPr>
              <a:t>NTFS</a:t>
            </a:r>
            <a:r>
              <a:rPr lang="zh-CN" altLang="en-US">
                <a:sym typeface="+mn-ea"/>
              </a:rPr>
              <a:t>的性能不像</a:t>
            </a:r>
            <a:r>
              <a:rPr lang="en-US" altLang="zh-CN">
                <a:sym typeface="+mn-ea"/>
              </a:rPr>
              <a:t>FAT32</a:t>
            </a:r>
            <a:r>
              <a:rPr lang="zh-CN" altLang="en-US">
                <a:sym typeface="+mn-ea"/>
              </a:rPr>
              <a:t>那样随之降低。</a:t>
            </a:r>
            <a:endParaRPr lang="zh-CN" altLang="en-US"/>
          </a:p>
          <a:p>
            <a:r>
              <a:rPr lang="zh-CN" altLang="en-US" b="1">
                <a:sym typeface="+mn-ea"/>
              </a:rPr>
              <a:t>单个文件容量</a:t>
            </a:r>
            <a:endParaRPr lang="zh-CN" altLang="en-US" b="1"/>
          </a:p>
          <a:p>
            <a:r>
              <a:rPr lang="en-US" altLang="zh-CN">
                <a:sym typeface="+mn-ea"/>
              </a:rPr>
              <a:t>FAT32</a:t>
            </a:r>
            <a:r>
              <a:rPr lang="zh-CN" altLang="en-US">
                <a:sym typeface="+mn-ea"/>
              </a:rPr>
              <a:t>：不支持单个文件大于</a:t>
            </a:r>
            <a:r>
              <a:rPr lang="en-US" altLang="zh-CN">
                <a:sym typeface="+mn-ea"/>
              </a:rPr>
              <a:t>4GB</a:t>
            </a:r>
            <a:r>
              <a:rPr lang="zh-CN" altLang="en-US">
                <a:sym typeface="+mn-ea"/>
              </a:rPr>
              <a:t>。</a:t>
            </a:r>
            <a:endParaRPr lang="zh-CN" altLang="en-US"/>
          </a:p>
          <a:p>
            <a:r>
              <a:rPr lang="en-US" altLang="zh-CN">
                <a:sym typeface="+mn-ea"/>
              </a:rPr>
              <a:t>NTFS</a:t>
            </a:r>
            <a:r>
              <a:rPr lang="zh-CN" altLang="en-US">
                <a:sym typeface="+mn-ea"/>
              </a:rPr>
              <a:t>：没有太多的限制，取决于硬盘空间容量。</a:t>
            </a:r>
            <a:endParaRPr lang="zh-CN" altLang="en-US"/>
          </a:p>
          <a:p>
            <a:r>
              <a:rPr lang="zh-CN" altLang="en-US" b="1">
                <a:sym typeface="+mn-ea"/>
              </a:rPr>
              <a:t>使用功能</a:t>
            </a:r>
            <a:endParaRPr lang="zh-CN" altLang="en-US"/>
          </a:p>
          <a:p>
            <a:r>
              <a:rPr lang="en-US" altLang="zh-CN">
                <a:sym typeface="+mn-ea"/>
              </a:rPr>
              <a:t>FAT32</a:t>
            </a:r>
            <a:r>
              <a:rPr lang="zh-CN" altLang="en-US">
                <a:sym typeface="+mn-ea"/>
              </a:rPr>
              <a:t>：使用功能上并没有那么完善。</a:t>
            </a:r>
            <a:endParaRPr lang="zh-CN" altLang="en-US"/>
          </a:p>
          <a:p>
            <a:r>
              <a:rPr lang="en-US" altLang="zh-CN">
                <a:sym typeface="+mn-ea"/>
              </a:rPr>
              <a:t>NTFS</a:t>
            </a:r>
            <a:r>
              <a:rPr lang="zh-CN" altLang="en-US">
                <a:sym typeface="+mn-ea"/>
              </a:rPr>
              <a:t>：功能丰富，像是文件索引、加密操作、压缩分区等。</a:t>
            </a:r>
            <a:endParaRPr lang="zh-CN" altLang="en-US"/>
          </a:p>
          <a:p>
            <a:r>
              <a:rPr lang="zh-CN" altLang="en-US" b="1">
                <a:sym typeface="+mn-ea"/>
              </a:rPr>
              <a:t>闪存性能</a:t>
            </a:r>
            <a:endParaRPr lang="zh-CN" altLang="en-US" b="1"/>
          </a:p>
          <a:p>
            <a:r>
              <a:rPr lang="en-US" altLang="zh-CN">
                <a:sym typeface="+mn-ea"/>
              </a:rPr>
              <a:t>NTFS</a:t>
            </a:r>
            <a:r>
              <a:rPr lang="zh-CN" altLang="en-US">
                <a:sym typeface="+mn-ea"/>
              </a:rPr>
              <a:t>：采用的分区形式属于</a:t>
            </a:r>
            <a:r>
              <a:rPr lang="en-US" altLang="zh-CN">
                <a:sym typeface="+mn-ea"/>
              </a:rPr>
              <a:t>“</a:t>
            </a:r>
            <a:r>
              <a:rPr lang="zh-CN" altLang="en-US">
                <a:sym typeface="+mn-ea"/>
              </a:rPr>
              <a:t>日志式</a:t>
            </a:r>
            <a:r>
              <a:rPr lang="en-US" altLang="zh-CN">
                <a:sym typeface="+mn-ea"/>
              </a:rPr>
              <a:t>”</a:t>
            </a:r>
            <a:r>
              <a:rPr lang="zh-CN" altLang="en-US">
                <a:sym typeface="+mn-ea"/>
              </a:rPr>
              <a:t>，在进行读写操作的时候会对</a:t>
            </a:r>
            <a:r>
              <a:rPr lang="en-US" altLang="zh-CN">
                <a:sym typeface="+mn-ea"/>
              </a:rPr>
              <a:t>U</a:t>
            </a:r>
            <a:r>
              <a:rPr lang="zh-CN" altLang="en-US">
                <a:sym typeface="+mn-ea"/>
              </a:rPr>
              <a:t>盘这样的闪存介质有一定的影响，从而降低</a:t>
            </a:r>
            <a:r>
              <a:rPr lang="en-US" altLang="zh-CN">
                <a:sym typeface="+mn-ea"/>
              </a:rPr>
              <a:t>U</a:t>
            </a:r>
            <a:r>
              <a:rPr lang="zh-CN" altLang="en-US">
                <a:sym typeface="+mn-ea"/>
              </a:rPr>
              <a:t>盘的使用寿命。</a:t>
            </a:r>
            <a:endParaRPr lang="zh-CN" altLang="en-US"/>
          </a:p>
          <a:p>
            <a:r>
              <a:rPr lang="en-US" altLang="zh-CN">
                <a:sym typeface="+mn-ea"/>
              </a:rPr>
              <a:t>exFAT</a:t>
            </a:r>
            <a:r>
              <a:rPr lang="zh-CN" altLang="en-US">
                <a:sym typeface="+mn-ea"/>
              </a:rPr>
              <a:t>：专为闪存</a:t>
            </a:r>
            <a:r>
              <a:rPr lang="en-US" altLang="zh-CN">
                <a:sym typeface="+mn-ea"/>
              </a:rPr>
              <a:t>(U</a:t>
            </a:r>
            <a:r>
              <a:rPr lang="zh-CN" altLang="en-US">
                <a:sym typeface="+mn-ea"/>
              </a:rPr>
              <a:t>盘、存储卡</a:t>
            </a:r>
            <a:r>
              <a:rPr lang="en-US" altLang="zh-CN">
                <a:sym typeface="+mn-ea"/>
              </a:rPr>
              <a:t>)</a:t>
            </a:r>
            <a:r>
              <a:rPr lang="zh-CN" altLang="en-US">
                <a:sym typeface="+mn-ea"/>
              </a:rPr>
              <a:t>设计的文件系统，兼容性非常好。</a:t>
            </a:r>
            <a:endParaRPr lang="zh-CN" altLang="en-US"/>
          </a:p>
          <a:p>
            <a:r>
              <a:rPr lang="zh-CN" altLang="en-US" b="1">
                <a:sym typeface="+mn-ea"/>
              </a:rPr>
              <a:t>安全性能</a:t>
            </a:r>
            <a:endParaRPr lang="zh-CN" altLang="en-US"/>
          </a:p>
          <a:p>
            <a:r>
              <a:rPr lang="en-US" altLang="zh-CN">
                <a:sym typeface="+mn-ea"/>
              </a:rPr>
              <a:t>FAT32</a:t>
            </a:r>
            <a:r>
              <a:rPr lang="zh-CN" altLang="en-US">
                <a:sym typeface="+mn-ea"/>
              </a:rPr>
              <a:t>：不能设置权限，所以安全性能相对较差。</a:t>
            </a:r>
            <a:endParaRPr lang="zh-CN" altLang="en-US"/>
          </a:p>
          <a:p>
            <a:r>
              <a:rPr lang="en-US" altLang="zh-CN">
                <a:sym typeface="+mn-ea"/>
              </a:rPr>
              <a:t>NTFS</a:t>
            </a:r>
            <a:r>
              <a:rPr lang="zh-CN" altLang="en-US">
                <a:sym typeface="+mn-ea"/>
              </a:rPr>
              <a:t>：可以对文件进行安全设置，如修改、加密、读取目录和设置权限等。</a:t>
            </a:r>
            <a:endParaRPr lang="zh-CN" altLang="en-US"/>
          </a:p>
          <a:p>
            <a:r>
              <a:rPr lang="zh-CN" altLang="en-US" b="1">
                <a:sym typeface="+mn-ea"/>
              </a:rPr>
              <a:t>兼容性</a:t>
            </a:r>
            <a:endParaRPr lang="zh-CN" altLang="en-US"/>
          </a:p>
          <a:p>
            <a:r>
              <a:rPr lang="en-US" altLang="zh-CN">
                <a:sym typeface="+mn-ea"/>
              </a:rPr>
              <a:t>FAT32</a:t>
            </a:r>
            <a:r>
              <a:rPr lang="zh-CN" altLang="en-US">
                <a:sym typeface="+mn-ea"/>
              </a:rPr>
              <a:t>：具有良好的兼容性，几乎所有的主流系统都可以对该格式进行读写。</a:t>
            </a:r>
            <a:endParaRPr lang="zh-CN" altLang="en-US"/>
          </a:p>
          <a:p>
            <a:r>
              <a:rPr lang="en-US" altLang="zh-CN">
                <a:sym typeface="+mn-ea"/>
              </a:rPr>
              <a:t>NTFS</a:t>
            </a:r>
            <a:r>
              <a:rPr lang="zh-CN" altLang="en-US">
                <a:sym typeface="+mn-ea"/>
              </a:rPr>
              <a:t>：在</a:t>
            </a:r>
            <a:r>
              <a:rPr lang="en-US" altLang="zh-CN">
                <a:sym typeface="+mn-ea"/>
              </a:rPr>
              <a:t>Mac</a:t>
            </a:r>
            <a:r>
              <a:rPr lang="zh-CN" altLang="en-US">
                <a:sym typeface="+mn-ea"/>
              </a:rPr>
              <a:t>系统中只能读取</a:t>
            </a:r>
            <a:r>
              <a:rPr lang="en-US" altLang="zh-CN">
                <a:sym typeface="+mn-ea"/>
              </a:rPr>
              <a:t>NTFS</a:t>
            </a:r>
            <a:r>
              <a:rPr lang="zh-CN" altLang="en-US">
                <a:sym typeface="+mn-ea"/>
              </a:rPr>
              <a:t>文件，没有权限写入，需要借助第三方工具才能实现，因此跨平台的功能较差。</a:t>
            </a:r>
            <a:endParaRPr lang="zh-CN" altLang="en-US"/>
          </a:p>
          <a:p>
            <a:r>
              <a:rPr lang="en-US" altLang="zh-CN">
                <a:sym typeface="+mn-ea"/>
              </a:rPr>
              <a:t>exFAT</a:t>
            </a:r>
            <a:r>
              <a:rPr lang="zh-CN" altLang="en-US">
                <a:sym typeface="+mn-ea"/>
              </a:rPr>
              <a:t>：在</a:t>
            </a:r>
            <a:r>
              <a:rPr lang="en-US" altLang="zh-CN">
                <a:sym typeface="+mn-ea"/>
              </a:rPr>
              <a:t>Windows</a:t>
            </a:r>
            <a:r>
              <a:rPr lang="zh-CN" altLang="en-US">
                <a:sym typeface="+mn-ea"/>
              </a:rPr>
              <a:t>与</a:t>
            </a:r>
            <a:r>
              <a:rPr lang="en-US" altLang="zh-CN">
                <a:sym typeface="+mn-ea"/>
              </a:rPr>
              <a:t>Mac</a:t>
            </a:r>
            <a:r>
              <a:rPr lang="zh-CN" altLang="en-US">
                <a:sym typeface="+mn-ea"/>
              </a:rPr>
              <a:t>系统中均可适用，具有十分强的跨平台能力。</a:t>
            </a:r>
            <a:endParaRPr lang="zh-CN" altLang="en-US"/>
          </a:p>
          <a:p>
            <a:r>
              <a:rPr lang="en-US" altLang="zh-CN">
                <a:sym typeface="+mn-ea"/>
              </a:rPr>
              <a:t>exFAT</a:t>
            </a:r>
            <a:r>
              <a:rPr lang="zh-CN" altLang="en-US">
                <a:sym typeface="+mn-ea"/>
              </a:rPr>
              <a:t>作为一种较新的文件系统，主要解决了</a:t>
            </a:r>
            <a:r>
              <a:rPr lang="en-US" altLang="zh-CN">
                <a:sym typeface="+mn-ea"/>
              </a:rPr>
              <a:t>FAT32</a:t>
            </a:r>
            <a:r>
              <a:rPr lang="zh-CN" altLang="en-US">
                <a:sym typeface="+mn-ea"/>
              </a:rPr>
              <a:t>不支持</a:t>
            </a:r>
            <a:r>
              <a:rPr lang="en-US" altLang="zh-CN">
                <a:sym typeface="+mn-ea"/>
              </a:rPr>
              <a:t>4G</a:t>
            </a:r>
            <a:r>
              <a:rPr lang="zh-CN" altLang="en-US">
                <a:sym typeface="+mn-ea"/>
              </a:rPr>
              <a:t>以上大容量文件的问题，并且具有很好的跨平台兼容性。</a:t>
            </a:r>
            <a:endParaRPr lang="zh-CN" altLang="en-US">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3</a:t>
            </a:r>
            <a:r>
              <a:rPr lang="zh-CN" altLang="en-US" sz="2800" b="1" dirty="0">
                <a:solidFill>
                  <a:schemeClr val="bg1"/>
                </a:solidFill>
              </a:rPr>
              <a:t>、索引组织方式</a:t>
            </a:r>
            <a:endParaRPr lang="zh-CN" altLang="en-US" sz="2800" b="1" dirty="0">
              <a:solidFill>
                <a:schemeClr val="bg1"/>
              </a:solidFill>
            </a:endParaRPr>
          </a:p>
        </p:txBody>
      </p:sp>
      <p:grpSp>
        <p:nvGrpSpPr>
          <p:cNvPr id="23" name="iṡļiḓe"/>
          <p:cNvGrpSpPr/>
          <p:nvPr/>
        </p:nvGrpSpPr>
        <p:grpSpPr>
          <a:xfrm>
            <a:off x="669925" y="1318451"/>
            <a:ext cx="8821602" cy="1068227"/>
            <a:chOff x="660400" y="1787149"/>
            <a:chExt cx="8821602" cy="1068227"/>
          </a:xfrm>
        </p:grpSpPr>
        <p:grpSp>
          <p:nvGrpSpPr>
            <p:cNvPr id="25" name="iSḻíḓè"/>
            <p:cNvGrpSpPr/>
            <p:nvPr/>
          </p:nvGrpSpPr>
          <p:grpSpPr>
            <a:xfrm>
              <a:off x="1296567" y="1835355"/>
              <a:ext cx="8185435" cy="1020021"/>
              <a:chOff x="1296567" y="1835355"/>
              <a:chExt cx="10323883" cy="1020021"/>
            </a:xfrm>
          </p:grpSpPr>
          <p:sp>
            <p:nvSpPr>
              <p:cNvPr id="33" name="îṧľîḋé"/>
              <p:cNvSpPr txBox="1"/>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链接方式的缺点</a:t>
                </a:r>
                <a:endParaRPr lang="zh-CN" altLang="en-US" sz="2400" dirty="0"/>
              </a:p>
            </p:txBody>
          </p:sp>
          <p:sp>
            <p:nvSpPr>
              <p:cNvPr id="37" name="íşļîḓé"/>
              <p:cNvSpPr/>
              <p:nvPr/>
            </p:nvSpPr>
            <p:spPr bwMode="auto">
              <a:xfrm>
                <a:off x="1296567" y="2234688"/>
                <a:ext cx="4813594"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不能支持高效的直接存取</a:t>
                </a:r>
                <a:endParaRPr lang="zh-CN" altLang="en-US" sz="2200" dirty="0"/>
              </a:p>
            </p:txBody>
          </p:sp>
          <p:sp>
            <p:nvSpPr>
              <p:cNvPr id="82" name="íşļîḓé"/>
              <p:cNvSpPr/>
              <p:nvPr/>
            </p:nvSpPr>
            <p:spPr bwMode="auto">
              <a:xfrm>
                <a:off x="6413578" y="2233257"/>
                <a:ext cx="52068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en-US" altLang="zh-CN" sz="2200" dirty="0"/>
                  <a:t>FAT</a:t>
                </a:r>
                <a:r>
                  <a:rPr lang="zh-CN" altLang="en-US" sz="2200" dirty="0"/>
                  <a:t>表需占用较大的内存空间</a:t>
                </a:r>
                <a:endParaRPr lang="zh-CN" altLang="en-US" sz="2200" dirty="0"/>
              </a:p>
            </p:txBody>
          </p:sp>
        </p:grpSp>
        <p:grpSp>
          <p:nvGrpSpPr>
            <p:cNvPr id="30" name="ïS1íḋé"/>
            <p:cNvGrpSpPr/>
            <p:nvPr/>
          </p:nvGrpSpPr>
          <p:grpSpPr>
            <a:xfrm>
              <a:off x="660400" y="1787149"/>
              <a:ext cx="497734" cy="497734"/>
              <a:chOff x="660400" y="1787149"/>
              <a:chExt cx="497734" cy="497734"/>
            </a:xfrm>
          </p:grpSpPr>
          <p:sp>
            <p:nvSpPr>
              <p:cNvPr id="31"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2"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8" name="iṡļiḓe"/>
          <p:cNvGrpSpPr/>
          <p:nvPr/>
        </p:nvGrpSpPr>
        <p:grpSpPr>
          <a:xfrm>
            <a:off x="727633" y="2448186"/>
            <a:ext cx="9128621" cy="497734"/>
            <a:chOff x="660400" y="1787149"/>
            <a:chExt cx="9128621" cy="497734"/>
          </a:xfrm>
        </p:grpSpPr>
        <p:sp>
          <p:nvSpPr>
            <p:cNvPr id="43" name="îṧľîḋé"/>
            <p:cNvSpPr txBox="1"/>
            <p:nvPr/>
          </p:nvSpPr>
          <p:spPr>
            <a:xfrm>
              <a:off x="1296567" y="1835355"/>
              <a:ext cx="84924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索引方式</a:t>
              </a:r>
              <a:r>
                <a:rPr lang="zh-CN" altLang="en-US" sz="2400" dirty="0"/>
                <a:t>：</a:t>
              </a:r>
              <a:r>
                <a:rPr lang="zh-CN" altLang="en-US" sz="2400" dirty="0">
                  <a:solidFill>
                    <a:srgbClr val="FF0000"/>
                  </a:solidFill>
                </a:rPr>
                <a:t>把所有的磁盘块号放在一个索引块</a:t>
              </a:r>
              <a:r>
                <a:rPr lang="en-US" altLang="zh-CN" sz="2400" dirty="0">
                  <a:solidFill>
                    <a:srgbClr val="FF0000"/>
                  </a:solidFill>
                </a:rPr>
                <a:t>(</a:t>
              </a:r>
              <a:r>
                <a:rPr lang="zh-CN" altLang="en-US" sz="2400" dirty="0">
                  <a:solidFill>
                    <a:srgbClr val="FF0000"/>
                  </a:solidFill>
                </a:rPr>
                <a:t>表</a:t>
              </a:r>
              <a:r>
                <a:rPr lang="en-US" altLang="zh-CN" sz="2400" dirty="0">
                  <a:solidFill>
                    <a:srgbClr val="FF0000"/>
                  </a:solidFill>
                </a:rPr>
                <a:t>)</a:t>
              </a:r>
              <a:r>
                <a:rPr lang="zh-CN" altLang="en-US" sz="2400" dirty="0">
                  <a:solidFill>
                    <a:srgbClr val="FF0000"/>
                  </a:solidFill>
                </a:rPr>
                <a:t>中</a:t>
              </a:r>
              <a:endParaRPr lang="zh-CN" altLang="en-US" sz="2400" dirty="0">
                <a:solidFill>
                  <a:srgbClr val="FF0000"/>
                </a:solidFill>
              </a:endParaRPr>
            </a:p>
          </p:txBody>
        </p:sp>
        <p:grpSp>
          <p:nvGrpSpPr>
            <p:cNvPr id="40" name="ïS1íḋé"/>
            <p:cNvGrpSpPr/>
            <p:nvPr/>
          </p:nvGrpSpPr>
          <p:grpSpPr>
            <a:xfrm>
              <a:off x="660400" y="1787149"/>
              <a:ext cx="497734" cy="497734"/>
              <a:chOff x="660400" y="1787149"/>
              <a:chExt cx="497734" cy="497734"/>
            </a:xfrm>
          </p:grpSpPr>
          <p:sp>
            <p:nvSpPr>
              <p:cNvPr id="41"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2"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67" name="iṡļiḓe"/>
          <p:cNvGrpSpPr/>
          <p:nvPr/>
        </p:nvGrpSpPr>
        <p:grpSpPr>
          <a:xfrm>
            <a:off x="808175" y="3266754"/>
            <a:ext cx="9848025" cy="1065725"/>
            <a:chOff x="660400" y="1787149"/>
            <a:chExt cx="9848025" cy="1065725"/>
          </a:xfrm>
        </p:grpSpPr>
        <p:grpSp>
          <p:nvGrpSpPr>
            <p:cNvPr id="68" name="iSḻíḓè"/>
            <p:cNvGrpSpPr/>
            <p:nvPr/>
          </p:nvGrpSpPr>
          <p:grpSpPr>
            <a:xfrm>
              <a:off x="1296567" y="1835355"/>
              <a:ext cx="9211858" cy="1017519"/>
              <a:chOff x="1296567" y="1835355"/>
              <a:chExt cx="11618458" cy="1017519"/>
            </a:xfrm>
          </p:grpSpPr>
          <p:sp>
            <p:nvSpPr>
              <p:cNvPr id="72" name="îṧľîḋé"/>
              <p:cNvSpPr txBox="1"/>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优点：</a:t>
                </a:r>
                <a:endParaRPr lang="zh-CN" altLang="en-US" sz="2400" dirty="0"/>
              </a:p>
            </p:txBody>
          </p:sp>
          <p:sp>
            <p:nvSpPr>
              <p:cNvPr id="73" name="íşļîḓé"/>
              <p:cNvSpPr/>
              <p:nvPr/>
            </p:nvSpPr>
            <p:spPr bwMode="auto">
              <a:xfrm>
                <a:off x="1296568" y="2234688"/>
                <a:ext cx="2989869" cy="618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支持随机访问</a:t>
                </a:r>
                <a:endParaRPr lang="zh-CN" altLang="en-US" sz="2200" dirty="0"/>
              </a:p>
            </p:txBody>
          </p:sp>
          <p:sp>
            <p:nvSpPr>
              <p:cNvPr id="81" name="íşļîḓé"/>
              <p:cNvSpPr/>
              <p:nvPr/>
            </p:nvSpPr>
            <p:spPr bwMode="auto">
              <a:xfrm>
                <a:off x="4461036" y="2224778"/>
                <a:ext cx="8453989" cy="57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动态存取没有外碎片，但索引块的负担较重</a:t>
                </a:r>
                <a:endParaRPr lang="zh-CN" altLang="en-US" sz="2200" dirty="0"/>
              </a:p>
            </p:txBody>
          </p:sp>
        </p:grpSp>
        <p:grpSp>
          <p:nvGrpSpPr>
            <p:cNvPr id="69" name="ïS1íḋé"/>
            <p:cNvGrpSpPr/>
            <p:nvPr/>
          </p:nvGrpSpPr>
          <p:grpSpPr>
            <a:xfrm>
              <a:off x="660400" y="1787149"/>
              <a:ext cx="497734" cy="497734"/>
              <a:chOff x="660400" y="1787149"/>
              <a:chExt cx="497734" cy="497734"/>
            </a:xfrm>
          </p:grpSpPr>
          <p:sp>
            <p:nvSpPr>
              <p:cNvPr id="70"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71"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4" name="iṡļiḓe"/>
          <p:cNvGrpSpPr/>
          <p:nvPr/>
        </p:nvGrpSpPr>
        <p:grpSpPr>
          <a:xfrm>
            <a:off x="727525" y="4450999"/>
            <a:ext cx="5568228" cy="1395185"/>
            <a:chOff x="660400" y="1787149"/>
            <a:chExt cx="5568228" cy="1395185"/>
          </a:xfrm>
        </p:grpSpPr>
        <p:grpSp>
          <p:nvGrpSpPr>
            <p:cNvPr id="75" name="iSḻíḓè"/>
            <p:cNvGrpSpPr/>
            <p:nvPr/>
          </p:nvGrpSpPr>
          <p:grpSpPr>
            <a:xfrm>
              <a:off x="1296567" y="1835355"/>
              <a:ext cx="4932061" cy="1346979"/>
              <a:chOff x="1296567" y="1835355"/>
              <a:chExt cx="6220564" cy="1346979"/>
            </a:xfrm>
          </p:grpSpPr>
          <p:sp>
            <p:nvSpPr>
              <p:cNvPr id="79" name="îṧľîḋé"/>
              <p:cNvSpPr txBox="1"/>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缺点：</a:t>
                </a:r>
                <a:endParaRPr lang="zh-CN" altLang="en-US" sz="2400" dirty="0"/>
              </a:p>
            </p:txBody>
          </p:sp>
          <p:sp>
            <p:nvSpPr>
              <p:cNvPr id="80" name="íşļîḓé"/>
              <p:cNvSpPr/>
              <p:nvPr/>
            </p:nvSpPr>
            <p:spPr bwMode="auto">
              <a:xfrm>
                <a:off x="1296567" y="2234688"/>
                <a:ext cx="6220564" cy="94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需要索引表</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对小文件，其索引块的利用率低</a:t>
                </a:r>
                <a:endParaRPr lang="zh-CN" altLang="en-US" sz="2200" dirty="0"/>
              </a:p>
            </p:txBody>
          </p:sp>
        </p:grpSp>
        <p:grpSp>
          <p:nvGrpSpPr>
            <p:cNvPr id="76" name="ïS1íḋé"/>
            <p:cNvGrpSpPr/>
            <p:nvPr/>
          </p:nvGrpSpPr>
          <p:grpSpPr>
            <a:xfrm>
              <a:off x="660400" y="1787149"/>
              <a:ext cx="497734" cy="497734"/>
              <a:chOff x="660400" y="1787149"/>
              <a:chExt cx="497734" cy="497734"/>
            </a:xfrm>
          </p:grpSpPr>
          <p:sp>
            <p:nvSpPr>
              <p:cNvPr id="77"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78"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索引组织方式示例</a:t>
            </a:r>
            <a:endParaRPr lang="zh-CN" altLang="en-US" sz="2800" b="1" dirty="0">
              <a:solidFill>
                <a:schemeClr val="bg1"/>
              </a:solidFill>
            </a:endParaRPr>
          </a:p>
        </p:txBody>
      </p:sp>
      <p:pic>
        <p:nvPicPr>
          <p:cNvPr id="34" name="Picture 4"/>
          <p:cNvPicPr>
            <a:picLocks noChangeAspect="1" noChangeArrowheads="1"/>
          </p:cNvPicPr>
          <p:nvPr/>
        </p:nvPicPr>
        <p:blipFill>
          <a:blip r:embed="rId1">
            <a:extLst>
              <a:ext uri="{28A0092B-C50C-407E-A947-70E740481C1C}">
                <a14:useLocalDpi xmlns:a14="http://schemas.microsoft.com/office/drawing/2010/main" val="0"/>
              </a:ext>
            </a:extLst>
          </a:blip>
          <a:srcRect l="7759" t="682" r="8002" b="1366"/>
          <a:stretch>
            <a:fillRect/>
          </a:stretch>
        </p:blipFill>
        <p:spPr>
          <a:xfrm>
            <a:off x="1949589" y="1120251"/>
            <a:ext cx="7691561" cy="5031346"/>
          </a:xfrm>
          <a:prstGeom prst="rect">
            <a:avLst/>
          </a:prstGeom>
          <a:noFill/>
          <a:ln w="38100" cmpd="dbl">
            <a:solidFill>
              <a:srgbClr val="CC6600"/>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多级索引组织方式</a:t>
            </a:r>
            <a:endParaRPr lang="zh-CN" altLang="en-US" sz="2800" b="1" dirty="0">
              <a:solidFill>
                <a:schemeClr val="bg1"/>
              </a:solidFill>
            </a:endParaRPr>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3170936" y="1098889"/>
            <a:ext cx="5049785" cy="515430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70305" y="1302385"/>
            <a:ext cx="9773285" cy="47631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8280" y="1814830"/>
            <a:ext cx="11691620" cy="372491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669925" y="78668"/>
            <a:ext cx="7026275" cy="521970"/>
          </a:xfrm>
          <a:prstGeom prst="rect">
            <a:avLst/>
          </a:prstGeom>
        </p:spPr>
        <p:txBody>
          <a:bodyPr wrap="square">
            <a:spAutoFit/>
          </a:bodyPr>
          <a:p>
            <a:r>
              <a:rPr lang="zh-CN" altLang="en-US" sz="2800" b="1" dirty="0">
                <a:solidFill>
                  <a:schemeClr val="bg1"/>
                </a:solidFill>
              </a:rPr>
              <a:t>常见两类</a:t>
            </a:r>
            <a:r>
              <a:rPr lang="zh-CN" altLang="en-US" sz="2800" b="1" dirty="0">
                <a:solidFill>
                  <a:schemeClr val="bg1"/>
                </a:solidFill>
              </a:rPr>
              <a:t>计算题</a:t>
            </a:r>
            <a:endParaRPr lang="zh-CN" altLang="en-US" sz="2800" b="1" dirty="0">
              <a:solidFill>
                <a:schemeClr val="bg1"/>
              </a:solidFill>
            </a:endParaRPr>
          </a:p>
        </p:txBody>
      </p:sp>
      <p:sp>
        <p:nvSpPr>
          <p:cNvPr id="2" name="文本框 1"/>
          <p:cNvSpPr txBox="1"/>
          <p:nvPr/>
        </p:nvSpPr>
        <p:spPr>
          <a:xfrm>
            <a:off x="534670" y="1219200"/>
            <a:ext cx="7793355" cy="583565"/>
          </a:xfrm>
          <a:prstGeom prst="rect">
            <a:avLst/>
          </a:prstGeom>
          <a:noFill/>
        </p:spPr>
        <p:txBody>
          <a:bodyPr wrap="square" rtlCol="0" anchor="t">
            <a:spAutoFit/>
          </a:bodyPr>
          <a:p>
            <a:r>
              <a:rPr lang="zh-CN" altLang="en-US" sz="3200">
                <a:solidFill>
                  <a:srgbClr val="FF0000"/>
                </a:solidFill>
                <a:sym typeface="+mn-ea"/>
              </a:rPr>
              <a:t>第</a:t>
            </a:r>
            <a:r>
              <a:rPr lang="en-US" altLang="zh-CN" sz="3200">
                <a:solidFill>
                  <a:srgbClr val="FF0000"/>
                </a:solidFill>
                <a:sym typeface="+mn-ea"/>
              </a:rPr>
              <a:t>1</a:t>
            </a:r>
            <a:r>
              <a:rPr lang="zh-CN" altLang="en-US" sz="3200">
                <a:solidFill>
                  <a:srgbClr val="FF0000"/>
                </a:solidFill>
                <a:sym typeface="+mn-ea"/>
              </a:rPr>
              <a:t>类</a:t>
            </a:r>
            <a:r>
              <a:rPr lang="zh-CN" altLang="en-US" sz="3200">
                <a:solidFill>
                  <a:srgbClr val="FF0000"/>
                </a:solidFill>
                <a:sym typeface="+mn-ea"/>
              </a:rPr>
              <a:t>计算：文件最大长度的计算</a:t>
            </a:r>
            <a:endParaRPr lang="zh-CN" altLang="en-US" sz="3200">
              <a:solidFill>
                <a:srgbClr val="FF0000"/>
              </a:solidFill>
              <a:sym typeface="+mn-ea"/>
            </a:endParaRPr>
          </a:p>
        </p:txBody>
      </p:sp>
      <p:sp>
        <p:nvSpPr>
          <p:cNvPr id="3" name="文本框 2"/>
          <p:cNvSpPr txBox="1"/>
          <p:nvPr/>
        </p:nvSpPr>
        <p:spPr>
          <a:xfrm>
            <a:off x="534670" y="2152650"/>
            <a:ext cx="11369675" cy="2726055"/>
          </a:xfrm>
          <a:prstGeom prst="rect">
            <a:avLst/>
          </a:prstGeom>
          <a:noFill/>
        </p:spPr>
        <p:txBody>
          <a:bodyPr wrap="square" rtlCol="0" anchor="t">
            <a:noAutofit/>
          </a:bodyPr>
          <a:p>
            <a:r>
              <a:rPr lang="zh-CN" altLang="en-US" sz="3600"/>
              <a:t>【</a:t>
            </a:r>
            <a:r>
              <a:rPr lang="en-US" altLang="zh-CN" sz="3600"/>
              <a:t>2010</a:t>
            </a:r>
            <a:r>
              <a:rPr lang="zh-CN" altLang="en-US" sz="3600"/>
              <a:t>】设文件索引节点中有</a:t>
            </a:r>
            <a:r>
              <a:rPr lang="en-US" altLang="zh-CN" sz="3600"/>
              <a:t>7</a:t>
            </a:r>
            <a:r>
              <a:rPr lang="zh-CN" altLang="en-US" sz="3600"/>
              <a:t>个地址项，其中</a:t>
            </a:r>
            <a:r>
              <a:rPr lang="en-US" altLang="zh-CN" sz="3600"/>
              <a:t>4</a:t>
            </a:r>
            <a:r>
              <a:rPr lang="zh-CN" altLang="en-US" sz="3600"/>
              <a:t>个地址项是直接地址索引，</a:t>
            </a:r>
            <a:r>
              <a:rPr lang="en-US" altLang="zh-CN" sz="3600"/>
              <a:t>2</a:t>
            </a:r>
            <a:r>
              <a:rPr lang="zh-CN" altLang="en-US" sz="3600"/>
              <a:t>个地址项是一级间接地址索引，</a:t>
            </a:r>
            <a:r>
              <a:rPr lang="en-US" altLang="zh-CN" sz="3600"/>
              <a:t>1</a:t>
            </a:r>
            <a:r>
              <a:rPr lang="zh-CN" altLang="en-US" sz="3600"/>
              <a:t>个地址项是二级间接地址索引，每个地址项大小为</a:t>
            </a:r>
            <a:r>
              <a:rPr lang="en-US" altLang="zh-CN" sz="3600"/>
              <a:t>4B</a:t>
            </a:r>
            <a:r>
              <a:rPr lang="zh-CN" altLang="en-US" sz="3600"/>
              <a:t>。若磁盘索引块和磁盘数据块大小均为</a:t>
            </a:r>
            <a:r>
              <a:rPr lang="en-US" altLang="zh-CN" sz="3600"/>
              <a:t>256B</a:t>
            </a:r>
            <a:r>
              <a:rPr lang="zh-CN" altLang="en-US" sz="3600"/>
              <a:t>，则可表示的单个文件最大长度是（</a:t>
            </a:r>
            <a:r>
              <a:rPr lang="en-US" altLang="zh-CN" sz="3600"/>
              <a:t>)</a:t>
            </a:r>
            <a:r>
              <a:rPr lang="zh-CN" altLang="en-US" sz="3600"/>
              <a:t>。</a:t>
            </a:r>
            <a:endParaRPr lang="zh-CN" altLang="en-US" sz="3600"/>
          </a:p>
          <a:p>
            <a:r>
              <a:rPr lang="en-US" altLang="zh-CN" sz="3600"/>
              <a:t> A .33KB    B.519KB       C.1057KB         D.16513KB</a:t>
            </a:r>
            <a:endParaRPr lang="zh-CN" altLang="en-US" sz="3600"/>
          </a:p>
        </p:txBody>
      </p:sp>
      <p:sp>
        <p:nvSpPr>
          <p:cNvPr id="4" name="文本框 3"/>
          <p:cNvSpPr txBox="1"/>
          <p:nvPr/>
        </p:nvSpPr>
        <p:spPr>
          <a:xfrm>
            <a:off x="1268095" y="5793740"/>
            <a:ext cx="6096000" cy="776605"/>
          </a:xfrm>
          <a:prstGeom prst="rect">
            <a:avLst/>
          </a:prstGeom>
          <a:noFill/>
        </p:spPr>
        <p:txBody>
          <a:bodyPr wrap="square" rtlCol="0" anchor="t">
            <a:noAutofit/>
          </a:bodyPr>
          <a:p>
            <a:r>
              <a:rPr lang="zh-CN" altLang="en-US" sz="3600">
                <a:solidFill>
                  <a:srgbClr val="FF0000"/>
                </a:solidFill>
                <a:sym typeface="+mn-ea"/>
              </a:rPr>
              <a:t>答案：</a:t>
            </a:r>
            <a:r>
              <a:rPr lang="en-US" altLang="zh-CN" sz="3600">
                <a:solidFill>
                  <a:srgbClr val="FF0000"/>
                </a:solidFill>
                <a:sym typeface="+mn-ea"/>
              </a:rPr>
              <a:t>C</a:t>
            </a:r>
            <a:endParaRPr lang="en-US" altLang="zh-CN" sz="36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09320" y="1905635"/>
            <a:ext cx="10704195" cy="3046095"/>
          </a:xfrm>
          <a:prstGeom prst="rect">
            <a:avLst/>
          </a:prstGeom>
          <a:noFill/>
        </p:spPr>
        <p:txBody>
          <a:bodyPr wrap="square" rtlCol="0" anchor="t">
            <a:spAutoFit/>
          </a:bodyPr>
          <a:p>
            <a:r>
              <a:rPr lang="zh-CN" altLang="en-US" sz="3200"/>
              <a:t>【</a:t>
            </a:r>
            <a:r>
              <a:rPr lang="en-US" altLang="zh-CN" sz="3200"/>
              <a:t>2015</a:t>
            </a:r>
            <a:r>
              <a:rPr lang="zh-CN" altLang="en-US" sz="3200"/>
              <a:t>】在文件的索引节点中存放直接索引指针</a:t>
            </a:r>
            <a:r>
              <a:rPr lang="en-US" altLang="zh-CN" sz="3200"/>
              <a:t>10</a:t>
            </a:r>
            <a:r>
              <a:rPr lang="zh-CN" altLang="en-US" sz="3200"/>
              <a:t>个，一级和二级索引指针各</a:t>
            </a:r>
            <a:r>
              <a:rPr lang="en-US" altLang="zh-CN" sz="3200"/>
              <a:t>1</a:t>
            </a:r>
            <a:r>
              <a:rPr lang="zh-CN" altLang="en-US" sz="3200"/>
              <a:t>个。磁盘块大小为</a:t>
            </a:r>
            <a:r>
              <a:rPr lang="en-US" altLang="zh-CN" sz="3200"/>
              <a:t>1KB</a:t>
            </a:r>
            <a:r>
              <a:rPr lang="zh-CN" altLang="en-US" sz="3200"/>
              <a:t>，每个索引指针占</a:t>
            </a:r>
            <a:r>
              <a:rPr lang="en-US" altLang="zh-CN" sz="3200"/>
              <a:t>4</a:t>
            </a:r>
            <a:r>
              <a:rPr lang="zh-CN" altLang="en-US" sz="3200"/>
              <a:t>个字节。若某文件的索引节点已在内存中，则把该文件偏移量（按字节编址）为</a:t>
            </a:r>
            <a:r>
              <a:rPr lang="en-US" altLang="zh-CN" sz="3200"/>
              <a:t>1234</a:t>
            </a:r>
            <a:r>
              <a:rPr lang="zh-CN" altLang="en-US" sz="3200"/>
              <a:t>和</a:t>
            </a:r>
            <a:r>
              <a:rPr lang="en-US" altLang="zh-CN" sz="3200"/>
              <a:t>307400</a:t>
            </a:r>
            <a:r>
              <a:rPr lang="zh-CN" altLang="en-US" sz="3200"/>
              <a:t>处所在的磁盘块读入内存，需访问的磁盘块个数分别是（</a:t>
            </a:r>
            <a:r>
              <a:rPr lang="en-US" altLang="zh-CN" sz="3200"/>
              <a:t>) </a:t>
            </a:r>
            <a:endParaRPr lang="en-US" altLang="zh-CN" sz="3200"/>
          </a:p>
          <a:p>
            <a:r>
              <a:rPr lang="en-US" altLang="zh-CN" sz="3200"/>
              <a:t>A .1,2       B.1,3             C.2,3         D.2,4</a:t>
            </a:r>
            <a:endParaRPr lang="zh-CN" altLang="en-US" sz="3200"/>
          </a:p>
        </p:txBody>
      </p:sp>
      <p:sp>
        <p:nvSpPr>
          <p:cNvPr id="3" name="文本框 2"/>
          <p:cNvSpPr txBox="1"/>
          <p:nvPr/>
        </p:nvSpPr>
        <p:spPr>
          <a:xfrm>
            <a:off x="1102360" y="5360670"/>
            <a:ext cx="6096000"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B</a:t>
            </a:r>
            <a:endParaRPr lang="en-US" altLang="zh-CN" sz="3200">
              <a:solidFill>
                <a:srgbClr val="FF0000"/>
              </a:solidFill>
              <a:sym typeface="+mn-ea"/>
            </a:endParaRPr>
          </a:p>
        </p:txBody>
      </p:sp>
      <p:sp>
        <p:nvSpPr>
          <p:cNvPr id="4" name="文本框 3"/>
          <p:cNvSpPr txBox="1"/>
          <p:nvPr/>
        </p:nvSpPr>
        <p:spPr>
          <a:xfrm>
            <a:off x="534670" y="1219200"/>
            <a:ext cx="9755505" cy="583565"/>
          </a:xfrm>
          <a:prstGeom prst="rect">
            <a:avLst/>
          </a:prstGeom>
          <a:noFill/>
        </p:spPr>
        <p:txBody>
          <a:bodyPr wrap="square" rtlCol="0" anchor="t">
            <a:spAutoFit/>
          </a:bodyPr>
          <a:p>
            <a:r>
              <a:rPr lang="zh-CN" altLang="en-US" sz="3200">
                <a:solidFill>
                  <a:srgbClr val="FF0000"/>
                </a:solidFill>
                <a:sym typeface="+mn-ea"/>
              </a:rPr>
              <a:t>第</a:t>
            </a:r>
            <a:r>
              <a:rPr lang="en-US" altLang="zh-CN" sz="3200">
                <a:solidFill>
                  <a:srgbClr val="FF0000"/>
                </a:solidFill>
                <a:sym typeface="+mn-ea"/>
              </a:rPr>
              <a:t>2</a:t>
            </a:r>
            <a:r>
              <a:rPr lang="zh-CN" altLang="en-US" sz="3200">
                <a:solidFill>
                  <a:srgbClr val="FF0000"/>
                </a:solidFill>
                <a:sym typeface="+mn-ea"/>
              </a:rPr>
              <a:t>类计算：通过文件偏移量，计算访盘</a:t>
            </a:r>
            <a:r>
              <a:rPr lang="zh-CN" altLang="en-US" sz="3200">
                <a:solidFill>
                  <a:srgbClr val="FF0000"/>
                </a:solidFill>
                <a:sym typeface="+mn-ea"/>
              </a:rPr>
              <a:t>次数</a:t>
            </a:r>
            <a:endParaRPr lang="zh-CN" altLang="en-US"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latin typeface="+mj-ea"/>
              </a:rPr>
              <a:t>8.3 </a:t>
            </a:r>
            <a:r>
              <a:rPr lang="zh-CN" altLang="en-US" sz="2400" b="1" dirty="0">
                <a:solidFill>
                  <a:srgbClr val="0000FF"/>
                </a:solidFill>
                <a:latin typeface="+mj-ea"/>
              </a:rPr>
              <a:t>文件目录</a:t>
            </a:r>
            <a:endParaRPr lang="en-US" altLang="zh-CN" sz="2400" b="1" dirty="0">
              <a:solidFill>
                <a:srgbClr val="0000FF"/>
              </a:solidFill>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latin typeface="+mj-ea"/>
              </a:rPr>
              <a:t>8.6  Linux</a:t>
            </a:r>
            <a:r>
              <a:rPr lang="zh-CN" altLang="en-US" sz="2400" dirty="0">
                <a:solidFill>
                  <a:schemeClr val="bg1">
                    <a:lumMod val="75000"/>
                  </a:schemeClr>
                </a:solidFill>
                <a:latin typeface="+mj-ea"/>
              </a:rPr>
              <a:t>文件系统实例</a:t>
            </a:r>
            <a:endParaRPr lang="zh-CN" altLang="en-US" sz="2400" dirty="0">
              <a:solidFill>
                <a:schemeClr val="bg1">
                  <a:lumMod val="75000"/>
                </a:schemeClr>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 </a:t>
            </a:r>
            <a:r>
              <a:rPr lang="zh-CN" altLang="en-US" sz="2800" b="1" dirty="0">
                <a:solidFill>
                  <a:schemeClr val="bg1"/>
                </a:solidFill>
              </a:rPr>
              <a:t>文件目录</a:t>
            </a:r>
            <a:endParaRPr lang="zh-CN" altLang="en-US" sz="2800" b="1" dirty="0">
              <a:solidFill>
                <a:schemeClr val="bg1"/>
              </a:solidFill>
            </a:endParaRPr>
          </a:p>
        </p:txBody>
      </p:sp>
      <p:grpSp>
        <p:nvGrpSpPr>
          <p:cNvPr id="1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420499"/>
            <a:ext cx="10838960" cy="4334858"/>
            <a:chOff x="660400" y="1580300"/>
            <a:chExt cx="10838960" cy="4334858"/>
          </a:xfrm>
        </p:grpSpPr>
        <p:sp>
          <p:nvSpPr>
            <p:cNvPr id="12"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rPr>
                <a:t>目录实现了对文件的有效管理</a:t>
              </a:r>
              <a:endParaRPr lang="zh-CN" altLang="en-US" sz="2400" dirty="0">
                <a:solidFill>
                  <a:schemeClr val="tx1"/>
                </a:solidFill>
              </a:endParaRPr>
            </a:p>
          </p:txBody>
        </p:sp>
        <p:sp>
          <p:nvSpPr>
            <p:cNvPr id="14"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rgbClr val="0000FF"/>
                  </a:solidFill>
                </a:rPr>
                <a:t>目录是一种数据结构，</a:t>
              </a:r>
              <a:r>
                <a:rPr lang="zh-CN" altLang="en-US" sz="2400" dirty="0">
                  <a:solidFill>
                    <a:schemeClr val="tx1"/>
                  </a:solidFill>
                </a:rPr>
                <a:t>用于标识文件及其物理地址</a:t>
              </a:r>
              <a:endParaRPr lang="zh-CN" altLang="en-US" sz="2400" dirty="0">
                <a:solidFill>
                  <a:schemeClr val="tx1"/>
                </a:solidFill>
              </a:endParaRPr>
            </a:p>
          </p:txBody>
        </p:sp>
        <p:sp>
          <p:nvSpPr>
            <p:cNvPr id="16" name="íŝḻiďé"/>
            <p:cNvSpPr/>
            <p:nvPr/>
          </p:nvSpPr>
          <p:spPr>
            <a:xfrm>
              <a:off x="8023305" y="1580300"/>
              <a:ext cx="3476055"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7" name="í$ḷîḋe"/>
            <p:cNvSpPr/>
            <p:nvPr/>
          </p:nvSpPr>
          <p:spPr>
            <a:xfrm>
              <a:off x="8001657" y="4245058"/>
              <a:ext cx="349770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rgbClr val="FF0000"/>
                  </a:solidFill>
                </a:rPr>
                <a:t>对目录管理的要求</a:t>
              </a:r>
              <a:endParaRPr lang="en-US" altLang="zh-CN" sz="2400" dirty="0">
                <a:solidFill>
                  <a:srgbClr val="FF0000"/>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实现“按名存取”</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提高对目录的检索速度</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文件共享</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允许文件重名</a:t>
              </a:r>
              <a:endParaRPr lang="zh-CN" altLang="en-US" sz="2200" dirty="0">
                <a:solidFill>
                  <a:schemeClr val="tx1"/>
                </a:solidFil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单级文件目录</a:t>
            </a:r>
            <a:endParaRPr lang="zh-CN" altLang="en-US" sz="2800" b="1" dirty="0">
              <a:solidFill>
                <a:schemeClr val="bg1"/>
              </a:solidFill>
            </a:endParaRPr>
          </a:p>
        </p:txBody>
      </p:sp>
      <p:sp>
        <p:nvSpPr>
          <p:cNvPr id="21" name="Rectangle 3"/>
          <p:cNvSpPr txBox="1">
            <a:spLocks noChangeArrowheads="1"/>
          </p:cNvSpPr>
          <p:nvPr/>
        </p:nvSpPr>
        <p:spPr bwMode="auto">
          <a:xfrm>
            <a:off x="2112332" y="1438407"/>
            <a:ext cx="8229600" cy="38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所有用户的文件都在同一目录中</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最简单的文件目录</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缺点</a:t>
            </a:r>
            <a:r>
              <a:rPr kumimoji="0" lang="zh-CN" altLang="en-US"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查找速度慢</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不允许重名</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不便于实现文件共享</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1358508"/>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1899259"/>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2439316"/>
            <a:ext cx="527050" cy="527050"/>
          </a:xfrm>
          <a:prstGeom prst="rect">
            <a:avLst/>
          </a:prstGeom>
          <a:ln>
            <a:noFill/>
          </a:ln>
          <a:effectLst>
            <a:softEdge rad="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两级文件目录</a:t>
            </a:r>
            <a:endParaRPr lang="zh-CN" altLang="en-US" sz="2800" b="1" dirty="0">
              <a:solidFill>
                <a:schemeClr val="bg1"/>
              </a:solidFill>
            </a:endParaRPr>
          </a:p>
        </p:txBody>
      </p:sp>
      <p:pic>
        <p:nvPicPr>
          <p:cNvPr id="22" name="图片 21"/>
          <p:cNvPicPr>
            <a:picLocks noChangeAspect="1"/>
          </p:cNvPicPr>
          <p:nvPr/>
        </p:nvPicPr>
        <p:blipFill>
          <a:blip r:embed="rId1">
            <a:clrChange>
              <a:clrFrom>
                <a:srgbClr val="FFFFFF"/>
              </a:clrFrom>
              <a:clrTo>
                <a:srgbClr val="FFFFFF">
                  <a:alpha val="0"/>
                </a:srgbClr>
              </a:clrTo>
            </a:clrChange>
          </a:blip>
          <a:stretch>
            <a:fillRect/>
          </a:stretch>
        </p:blipFill>
        <p:spPr>
          <a:xfrm>
            <a:off x="3286067" y="1469256"/>
            <a:ext cx="8244794" cy="4452208"/>
          </a:xfrm>
          <a:prstGeom prst="rect">
            <a:avLst/>
          </a:prstGeom>
        </p:spPr>
      </p:pic>
      <p:sp>
        <p:nvSpPr>
          <p:cNvPr id="23" name="Rectangle 3"/>
          <p:cNvSpPr txBox="1">
            <a:spLocks noChangeArrowheads="1"/>
          </p:cNvSpPr>
          <p:nvPr/>
        </p:nvSpPr>
        <p:spPr bwMode="auto">
          <a:xfrm>
            <a:off x="229235" y="1168400"/>
            <a:ext cx="2891155" cy="3515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sz="2800" b="0" i="0" u="none" strike="noStrike" kern="1200" cap="none" spc="0" normalizeH="0" baseline="0" noProof="0" dirty="0">
                <a:ln>
                  <a:noFill/>
                </a:ln>
                <a:solidFill>
                  <a:srgbClr val="FF0000"/>
                </a:solidFill>
                <a:effectLst/>
                <a:uLnTx/>
                <a:uFillTx/>
                <a:latin typeface="+mn-ea"/>
                <a:cs typeface="+mn-cs"/>
              </a:rPr>
              <a:t>特点</a:t>
            </a:r>
            <a:r>
              <a:rPr kumimoji="0" lang="zh-CN" altLang="en-US" sz="2800"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sz="28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800" b="0" i="0" u="none" strike="noStrike" kern="1200" cap="none" spc="0" normalizeH="0" baseline="0" noProof="0" dirty="0">
                <a:ln>
                  <a:noFill/>
                </a:ln>
                <a:solidFill>
                  <a:sysClr val="windowText" lastClr="000000"/>
                </a:solidFill>
                <a:effectLst/>
                <a:uLnTx/>
                <a:uFillTx/>
                <a:latin typeface="+mn-ea"/>
                <a:cs typeface="+mn-cs"/>
              </a:rPr>
              <a:t>提高了检索目录的速度</a:t>
            </a:r>
            <a:endParaRPr kumimoji="0" lang="zh-CN" altLang="en-US" sz="28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800" b="0" i="0" u="none" strike="noStrike" kern="1200" cap="none" spc="0" normalizeH="0" baseline="0" noProof="0" dirty="0">
                <a:ln>
                  <a:noFill/>
                </a:ln>
                <a:solidFill>
                  <a:sysClr val="windowText" lastClr="000000"/>
                </a:solidFill>
                <a:effectLst/>
                <a:uLnTx/>
                <a:uFillTx/>
                <a:latin typeface="+mn-ea"/>
                <a:cs typeface="+mn-cs"/>
              </a:rPr>
              <a:t>不同用户可以有相同的文件名</a:t>
            </a:r>
            <a:endParaRPr kumimoji="0" lang="zh-CN" altLang="en-US" sz="2800" b="0" i="0" u="none" strike="noStrike" kern="1200" cap="none" spc="0" normalizeH="0" baseline="0" noProof="0" dirty="0">
              <a:ln>
                <a:noFill/>
              </a:ln>
              <a:solidFill>
                <a:sysClr val="windowText" lastClr="000000"/>
              </a:solidFill>
              <a:effectLst/>
              <a:uLnTx/>
              <a:uFillTx/>
              <a:latin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树形结构目录</a:t>
            </a:r>
            <a:endParaRPr lang="zh-CN" altLang="en-US" sz="2800" b="1" dirty="0">
              <a:solidFill>
                <a:schemeClr val="bg1"/>
              </a:solidFill>
            </a:endParaRPr>
          </a:p>
        </p:txBody>
      </p:sp>
      <p:pic>
        <p:nvPicPr>
          <p:cNvPr id="21"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61968" y="1162565"/>
            <a:ext cx="9725486" cy="4997886"/>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Rectangle 3"/>
          <p:cNvSpPr txBox="1">
            <a:spLocks noChangeArrowheads="1"/>
          </p:cNvSpPr>
          <p:nvPr/>
        </p:nvSpPr>
        <p:spPr bwMode="auto">
          <a:xfrm>
            <a:off x="229235" y="1162685"/>
            <a:ext cx="2533650" cy="478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sz="2800" b="0" i="0" u="none" strike="noStrike" kern="1200" cap="none" spc="0" normalizeH="0" baseline="0" noProof="0" dirty="0">
                <a:ln>
                  <a:noFill/>
                </a:ln>
                <a:solidFill>
                  <a:srgbClr val="FF0000"/>
                </a:solidFill>
                <a:effectLst/>
                <a:uLnTx/>
                <a:uFillTx/>
                <a:latin typeface="+mn-ea"/>
                <a:cs typeface="+mn-cs"/>
              </a:rPr>
              <a:t>特点</a:t>
            </a:r>
            <a:r>
              <a:rPr kumimoji="0" lang="zh-CN" altLang="en-US" sz="2800"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sz="28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lang="zh-CN" altLang="en-US" sz="2800" noProof="0" dirty="0">
                <a:ln>
                  <a:noFill/>
                </a:ln>
                <a:solidFill>
                  <a:sysClr val="windowText" lastClr="000000"/>
                </a:solidFill>
                <a:effectLst/>
                <a:uLnTx/>
                <a:uFillTx/>
                <a:latin typeface="+mn-ea"/>
                <a:sym typeface="+mn-ea"/>
              </a:rPr>
              <a:t>每个文件只有一个父目录</a:t>
            </a:r>
            <a:endParaRPr kumimoji="0" lang="zh-CN" altLang="en-US" sz="28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800" b="0" i="0" u="none" strike="noStrike" kern="1200" cap="none" spc="0" normalizeH="0" baseline="0" noProof="0" dirty="0">
                <a:ln>
                  <a:noFill/>
                </a:ln>
                <a:solidFill>
                  <a:sysClr val="windowText" lastClr="000000"/>
                </a:solidFill>
                <a:effectLst/>
                <a:uLnTx/>
                <a:uFillTx/>
                <a:latin typeface="+mn-ea"/>
                <a:cs typeface="+mn-cs"/>
              </a:rPr>
              <a:t>增加了磁盘访问次数，影响检索速度，不利于</a:t>
            </a:r>
            <a:r>
              <a:rPr kumimoji="0" lang="zh-CN" altLang="en-US" sz="2800" b="0" i="0" u="none" strike="noStrike" kern="1200" cap="none" spc="0" normalizeH="0" baseline="0" noProof="0" dirty="0">
                <a:ln>
                  <a:noFill/>
                </a:ln>
                <a:solidFill>
                  <a:sysClr val="windowText" lastClr="000000"/>
                </a:solidFill>
                <a:effectLst/>
                <a:uLnTx/>
                <a:uFillTx/>
                <a:latin typeface="+mn-ea"/>
                <a:cs typeface="+mn-cs"/>
              </a:rPr>
              <a:t>文件共享</a:t>
            </a:r>
            <a:endParaRPr kumimoji="0" lang="zh-CN" altLang="en-US" sz="28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endParaRPr kumimoji="0" lang="zh-CN" altLang="en-US" sz="2800" b="0" i="0" u="none" strike="noStrike" kern="1200" cap="none" spc="0" normalizeH="0" baseline="0" noProof="0" dirty="0">
              <a:ln>
                <a:noFill/>
              </a:ln>
              <a:solidFill>
                <a:sysClr val="windowText" lastClr="000000"/>
              </a:solidFill>
              <a:effectLst/>
              <a:uLnTx/>
              <a:uFillTx/>
              <a:latin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路径名和当前目录</a:t>
            </a:r>
            <a:endParaRPr lang="zh-CN" altLang="en-US" sz="2800" b="1" dirty="0">
              <a:solidFill>
                <a:schemeClr val="bg1"/>
              </a:solidFill>
            </a:endParaRPr>
          </a:p>
        </p:txBody>
      </p:sp>
      <p:sp>
        <p:nvSpPr>
          <p:cNvPr id="2" name="îşľïḑe"/>
          <p:cNvSpPr txBox="1"/>
          <p:nvPr/>
        </p:nvSpPr>
        <p:spPr>
          <a:xfrm>
            <a:off x="1339850" y="1849755"/>
            <a:ext cx="10161270" cy="1175385"/>
          </a:xfrm>
          <a:prstGeom prst="rect">
            <a:avLst/>
          </a:prstGeom>
          <a:noFill/>
        </p:spPr>
        <p:txBody>
          <a:bodyPr wrap="square" lIns="91440" tIns="45720" rIns="91440" bIns="45720">
            <a:noAutofit/>
          </a:bodyPr>
          <a:p>
            <a:pPr marL="171450" indent="-171450" algn="just">
              <a:lnSpc>
                <a:spcPct val="120000"/>
              </a:lnSpc>
              <a:buClr>
                <a:srgbClr val="FFC000"/>
              </a:buClr>
              <a:buFont typeface="Wingdings" panose="05000000000000000000" pitchFamily="2" charset="2"/>
              <a:buChar char="Ø"/>
            </a:pPr>
            <a:r>
              <a:rPr lang="zh-CN" altLang="en-US" sz="3600" dirty="0"/>
              <a:t>绝对路径名：从根目录开始的路径名</a:t>
            </a:r>
            <a:endParaRPr lang="zh-CN" altLang="en-US" sz="3600" dirty="0"/>
          </a:p>
          <a:p>
            <a:pPr marL="171450" indent="-171450" algn="just">
              <a:lnSpc>
                <a:spcPct val="120000"/>
              </a:lnSpc>
              <a:buClr>
                <a:srgbClr val="FFC000"/>
              </a:buClr>
              <a:buFont typeface="Wingdings" panose="05000000000000000000" pitchFamily="2" charset="2"/>
              <a:buChar char="Ø"/>
            </a:pPr>
            <a:r>
              <a:rPr lang="zh-CN" altLang="en-US" sz="3600" dirty="0"/>
              <a:t>相对路径名：从当前目录开始的路径名</a:t>
            </a:r>
            <a:endParaRPr lang="zh-CN" alt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无环图目录</a:t>
            </a:r>
            <a:r>
              <a:rPr lang="zh-CN" altLang="en-US" sz="2800" b="1" dirty="0">
                <a:solidFill>
                  <a:schemeClr val="bg1"/>
                </a:solidFill>
              </a:rPr>
              <a:t>结构</a:t>
            </a:r>
            <a:endParaRPr lang="zh-CN" altLang="en-US" sz="2800" b="1" dirty="0">
              <a:solidFill>
                <a:schemeClr val="bg1"/>
              </a:solidFill>
            </a:endParaRPr>
          </a:p>
        </p:txBody>
      </p:sp>
      <p:sp>
        <p:nvSpPr>
          <p:cNvPr id="24" name="Rectangle 3"/>
          <p:cNvSpPr txBox="1">
            <a:spLocks noChangeArrowheads="1"/>
          </p:cNvSpPr>
          <p:nvPr/>
        </p:nvSpPr>
        <p:spPr bwMode="auto">
          <a:xfrm>
            <a:off x="845806" y="1244403"/>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有共享的</a:t>
            </a:r>
            <a:r>
              <a:rPr kumimoji="0" lang="zh-CN" altLang="en-US" b="0" i="0" u="none" strike="noStrike" kern="1200" cap="none" spc="0" normalizeH="0" baseline="0" noProof="0" dirty="0">
                <a:ln>
                  <a:noFill/>
                </a:ln>
                <a:effectLst/>
                <a:uLnTx/>
                <a:uFillTx/>
                <a:latin typeface="+mn-ea"/>
                <a:cs typeface="+mn-cs"/>
              </a:rPr>
              <a:t>子目录和文件</a:t>
            </a:r>
            <a:endParaRPr kumimoji="0" lang="zh-CN" altLang="en-US" b="0" i="0" u="none" strike="noStrike" kern="1200" cap="none" spc="0" normalizeH="0" baseline="0" noProof="0" dirty="0">
              <a:ln>
                <a:noFill/>
              </a:ln>
              <a:effectLst/>
              <a:uLnTx/>
              <a:uFillTx/>
              <a:latin typeface="+mn-ea"/>
              <a:cs typeface="+mn-cs"/>
            </a:endParaRPr>
          </a:p>
        </p:txBody>
      </p:sp>
      <p:pic>
        <p:nvPicPr>
          <p:cNvPr id="51" name="图片 50"/>
          <p:cNvPicPr>
            <a:picLocks noChangeAspect="1"/>
          </p:cNvPicPr>
          <p:nvPr/>
        </p:nvPicPr>
        <p:blipFill>
          <a:blip r:embed="rId1">
            <a:clrChange>
              <a:clrFrom>
                <a:srgbClr val="FFFFFF"/>
              </a:clrFrom>
              <a:clrTo>
                <a:srgbClr val="FFFFFF">
                  <a:alpha val="0"/>
                </a:srgbClr>
              </a:clrTo>
            </a:clrChange>
          </a:blip>
          <a:stretch>
            <a:fillRect/>
          </a:stretch>
        </p:blipFill>
        <p:spPr>
          <a:xfrm>
            <a:off x="2144794" y="1111238"/>
            <a:ext cx="8135547" cy="514988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目录操作</a:t>
            </a:r>
            <a:endParaRPr lang="zh-CN" altLang="en-US" sz="2800" b="1" dirty="0">
              <a:solidFill>
                <a:schemeClr val="bg1"/>
              </a:solidFill>
            </a:endParaRPr>
          </a:p>
        </p:txBody>
      </p:sp>
      <p:grpSp>
        <p:nvGrpSpPr>
          <p:cNvPr id="25"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4" y="1763071"/>
            <a:ext cx="10848975" cy="3733544"/>
            <a:chOff x="665163" y="1557009"/>
            <a:chExt cx="10848975" cy="3733544"/>
          </a:xfrm>
        </p:grpSpPr>
        <p:sp>
          <p:nvSpPr>
            <p:cNvPr id="26"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27"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28"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29"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30"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31"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32"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33"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34"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35"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36"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37"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38"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39"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0"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1"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2"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3"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4"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5" name="îṩļiḓè"/>
            <p:cNvSpPr/>
            <p:nvPr/>
          </p:nvSpPr>
          <p:spPr>
            <a:xfrm>
              <a:off x="665163" y="1667557"/>
              <a:ext cx="3067575" cy="467559"/>
            </a:xfrm>
            <a:prstGeom prst="rect">
              <a:avLst/>
            </a:prstGeom>
          </p:spPr>
          <p:txBody>
            <a:bodyPr wrap="square" lIns="91440" tIns="45720" rIns="91440" bIns="45720" anchor="ctr" anchorCtr="0">
              <a:normAutofit/>
            </a:bodyPr>
            <a:lstStyle/>
            <a:p>
              <a:pPr algn="r"/>
              <a:r>
                <a:rPr lang="zh-CN" altLang="en-US" sz="2400" dirty="0"/>
                <a:t>创建目录</a:t>
              </a:r>
              <a:endParaRPr lang="zh-CN" altLang="en-US" sz="2400" dirty="0"/>
            </a:p>
          </p:txBody>
        </p:sp>
        <p:sp>
          <p:nvSpPr>
            <p:cNvPr id="46" name="ïṣľîḋê"/>
            <p:cNvSpPr/>
            <p:nvPr/>
          </p:nvSpPr>
          <p:spPr>
            <a:xfrm>
              <a:off x="8029002" y="1667557"/>
              <a:ext cx="3485135"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移动目录</a:t>
              </a:r>
              <a:endParaRPr lang="en-US" altLang="zh-CN" sz="2400" dirty="0"/>
            </a:p>
          </p:txBody>
        </p:sp>
        <p:sp>
          <p:nvSpPr>
            <p:cNvPr id="47" name="išľïḓe"/>
            <p:cNvSpPr/>
            <p:nvPr/>
          </p:nvSpPr>
          <p:spPr>
            <a:xfrm>
              <a:off x="665163" y="3036926"/>
              <a:ext cx="2530918" cy="770168"/>
            </a:xfrm>
            <a:prstGeom prst="rect">
              <a:avLst/>
            </a:prstGeom>
          </p:spPr>
          <p:txBody>
            <a:bodyPr wrap="square" lIns="91440" tIns="45720" rIns="91440" bIns="45720" anchor="ctr" anchorCtr="0">
              <a:noAutofit/>
            </a:bodyPr>
            <a:lstStyle/>
            <a:p>
              <a:pPr algn="r"/>
              <a:r>
                <a:rPr lang="zh-CN" altLang="en-US" sz="2400" dirty="0"/>
                <a:t>删除目录：删除</a:t>
              </a:r>
              <a:r>
                <a:rPr lang="en-US" altLang="zh-CN" sz="2400" dirty="0"/>
                <a:t>/</a:t>
              </a:r>
              <a:r>
                <a:rPr lang="zh-CN" altLang="en-US" sz="2400" dirty="0"/>
                <a:t>不删除非空目录</a:t>
              </a:r>
              <a:endParaRPr lang="zh-CN" altLang="en-US" sz="2400" dirty="0"/>
            </a:p>
          </p:txBody>
        </p:sp>
        <p:sp>
          <p:nvSpPr>
            <p:cNvPr id="48" name="îṧľïdè"/>
            <p:cNvSpPr/>
            <p:nvPr/>
          </p:nvSpPr>
          <p:spPr>
            <a:xfrm>
              <a:off x="8632118" y="3161434"/>
              <a:ext cx="2882020"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链接操作</a:t>
              </a:r>
              <a:endParaRPr lang="en-US" altLang="zh-CN" sz="2400" dirty="0"/>
            </a:p>
          </p:txBody>
        </p:sp>
        <p:sp>
          <p:nvSpPr>
            <p:cNvPr id="49" name="işľîḓé"/>
            <p:cNvSpPr/>
            <p:nvPr/>
          </p:nvSpPr>
          <p:spPr>
            <a:xfrm>
              <a:off x="1877305" y="4708346"/>
              <a:ext cx="2274041"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改变目录</a:t>
              </a:r>
              <a:endParaRPr lang="en-US" altLang="zh-CN" sz="2400" dirty="0"/>
            </a:p>
          </p:txBody>
        </p:sp>
        <p:sp>
          <p:nvSpPr>
            <p:cNvPr id="50" name="ïśļíde"/>
            <p:cNvSpPr/>
            <p:nvPr/>
          </p:nvSpPr>
          <p:spPr>
            <a:xfrm>
              <a:off x="8029002" y="4708346"/>
              <a:ext cx="3485135"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查找操作</a:t>
              </a:r>
              <a:endParaRPr lang="en-US" altLang="zh-CN" sz="2400" dirty="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latin typeface="+mj-ea"/>
              </a:rPr>
              <a:t>8.4 </a:t>
            </a:r>
            <a:r>
              <a:rPr lang="zh-CN" altLang="en-US" sz="2400" b="1" dirty="0">
                <a:solidFill>
                  <a:srgbClr val="0000FF"/>
                </a:solidFill>
                <a:latin typeface="+mj-ea"/>
              </a:rPr>
              <a:t>文件共享</a:t>
            </a:r>
            <a:endParaRPr lang="en-US" altLang="zh-CN" sz="2400" b="1" dirty="0">
              <a:solidFill>
                <a:srgbClr val="0000FF"/>
              </a:solidFill>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latin typeface="+mj-ea"/>
              </a:rPr>
              <a:t>8.6  Linux</a:t>
            </a:r>
            <a:r>
              <a:rPr lang="zh-CN" altLang="en-US" sz="2400" dirty="0">
                <a:solidFill>
                  <a:schemeClr val="bg1">
                    <a:lumMod val="75000"/>
                  </a:schemeClr>
                </a:solidFill>
                <a:latin typeface="+mj-ea"/>
              </a:rPr>
              <a:t>文件系统实例</a:t>
            </a:r>
            <a:endParaRPr lang="zh-CN" altLang="en-US" sz="2400" dirty="0">
              <a:solidFill>
                <a:schemeClr val="bg1">
                  <a:lumMod val="75000"/>
                </a:schemeClr>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 </a:t>
            </a:r>
            <a:r>
              <a:rPr lang="zh-CN" altLang="en-US" sz="2800" b="1" dirty="0">
                <a:solidFill>
                  <a:schemeClr val="bg1"/>
                </a:solidFill>
              </a:rPr>
              <a:t>文件共享</a:t>
            </a:r>
            <a:endParaRPr lang="zh-CN" altLang="en-US" sz="2800" b="1" dirty="0">
              <a:solidFill>
                <a:schemeClr val="bg1"/>
              </a:solidFill>
            </a:endParaRPr>
          </a:p>
        </p:txBody>
      </p:sp>
      <p:sp>
        <p:nvSpPr>
          <p:cNvPr id="31" name="矩形 30"/>
          <p:cNvSpPr/>
          <p:nvPr/>
        </p:nvSpPr>
        <p:spPr>
          <a:xfrm>
            <a:off x="1805040" y="1141387"/>
            <a:ext cx="8688367" cy="1291969"/>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利用索引结点实现共享（</a:t>
            </a:r>
            <a:r>
              <a:rPr lang="zh-CN" altLang="en-US" sz="2400" dirty="0">
                <a:latin typeface="+mn-ea"/>
              </a:rPr>
              <a:t>硬链接），设置链接计数</a:t>
            </a:r>
            <a:r>
              <a:rPr lang="en-US" altLang="zh-CN" sz="2400" dirty="0">
                <a:latin typeface="+mn-ea"/>
              </a:rPr>
              <a:t>count</a:t>
            </a:r>
            <a:endParaRPr lang="en-US" altLang="zh-CN" sz="2400" dirty="0">
              <a:latin typeface="+mn-ea"/>
            </a:endParaRPr>
          </a:p>
          <a:p>
            <a:pPr>
              <a:lnSpc>
                <a:spcPct val="132000"/>
              </a:lnSpc>
              <a:spcBef>
                <a:spcPts val="600"/>
              </a:spcBef>
              <a:spcAft>
                <a:spcPts val="600"/>
              </a:spcAft>
            </a:pPr>
            <a:r>
              <a:rPr lang="zh-CN" altLang="en-US" sz="2400" dirty="0">
                <a:latin typeface="+mn-ea"/>
              </a:rPr>
              <a:t>利用符号链接实现共享（软连接），设置快捷</a:t>
            </a:r>
            <a:r>
              <a:rPr lang="zh-CN" altLang="en-US" sz="2400" dirty="0">
                <a:latin typeface="+mn-ea"/>
              </a:rPr>
              <a:t>方式</a:t>
            </a:r>
            <a:endParaRPr lang="zh-CN" altLang="en-US" sz="2400" dirty="0">
              <a:latin typeface="+mn-ea"/>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1081876"/>
            <a:ext cx="527050" cy="527050"/>
          </a:xfrm>
          <a:prstGeom prst="rect">
            <a:avLst/>
          </a:prstGeom>
          <a:ln>
            <a:noFill/>
          </a:ln>
          <a:effectLst>
            <a:softEdge rad="0"/>
          </a:effectLst>
        </p:spPr>
      </p:pic>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78255" y="1906246"/>
            <a:ext cx="527050" cy="527050"/>
          </a:xfrm>
          <a:prstGeom prst="rect">
            <a:avLst/>
          </a:prstGeom>
          <a:ln>
            <a:noFill/>
          </a:ln>
          <a:effectLst>
            <a:softEdge rad="0"/>
          </a:effectLst>
        </p:spPr>
      </p:pic>
      <p:pic>
        <p:nvPicPr>
          <p:cNvPr id="38" name="图片 37"/>
          <p:cNvPicPr>
            <a:picLocks noChangeAspect="1"/>
          </p:cNvPicPr>
          <p:nvPr/>
        </p:nvPicPr>
        <p:blipFill>
          <a:blip r:embed="rId2">
            <a:clrChange>
              <a:clrFrom>
                <a:srgbClr val="FFFFFF"/>
              </a:clrFrom>
              <a:clrTo>
                <a:srgbClr val="FFFFFF">
                  <a:alpha val="0"/>
                </a:srgbClr>
              </a:clrTo>
            </a:clrChange>
          </a:blip>
          <a:stretch>
            <a:fillRect/>
          </a:stretch>
        </p:blipFill>
        <p:spPr>
          <a:xfrm>
            <a:off x="488950" y="2647950"/>
            <a:ext cx="5713095" cy="3622040"/>
          </a:xfrm>
          <a:prstGeom prst="rect">
            <a:avLst/>
          </a:prstGeom>
          <a:ln>
            <a:solidFill>
              <a:schemeClr val="accent5">
                <a:lumMod val="75000"/>
              </a:schemeClr>
            </a:solidFill>
          </a:ln>
        </p:spPr>
      </p:pic>
      <p:sp>
        <p:nvSpPr>
          <p:cNvPr id="9" name="ïṣľîḋê"/>
          <p:cNvSpPr/>
          <p:nvPr/>
        </p:nvSpPr>
        <p:spPr>
          <a:xfrm>
            <a:off x="7179310" y="2524760"/>
            <a:ext cx="4344670" cy="3670300"/>
          </a:xfrm>
          <a:prstGeom prst="rect">
            <a:avLst/>
          </a:prstGeom>
          <a:solidFill>
            <a:schemeClr val="bg1">
              <a:lumMod val="85000"/>
            </a:schemeClr>
          </a:solidFill>
        </p:spPr>
        <p:txBody>
          <a:bodyPr wrap="square" lIns="91440" tIns="45720" rIns="91440" bIns="45720" anchor="ctr" anchorCtr="0">
            <a:noAutofit/>
          </a:bodyPr>
          <a:lstStyle/>
          <a:p>
            <a:pPr marL="342900" indent="-342900">
              <a:lnSpc>
                <a:spcPct val="122000"/>
              </a:lnSpc>
              <a:buFont typeface="Arial" panose="020B0604020202020204" pitchFamily="34" charset="0"/>
              <a:buChar char="•"/>
            </a:pPr>
            <a:r>
              <a:rPr lang="zh-CN" altLang="en-US" sz="2200" dirty="0">
                <a:solidFill>
                  <a:srgbClr val="0000FF"/>
                </a:solidFill>
              </a:rPr>
              <a:t>符号链接是一个特殊的文件，通过路径形式指向文件或目录。</a:t>
            </a:r>
            <a:endParaRPr lang="zh-CN" altLang="en-US" sz="2200" dirty="0">
              <a:solidFill>
                <a:srgbClr val="0000FF"/>
              </a:solidFill>
            </a:endParaRPr>
          </a:p>
          <a:p>
            <a:pPr marL="342900" indent="-342900">
              <a:lnSpc>
                <a:spcPct val="122000"/>
              </a:lnSpc>
              <a:buFont typeface="Arial" panose="020B0604020202020204" pitchFamily="34" charset="0"/>
              <a:buChar char="•"/>
            </a:pPr>
            <a:endParaRPr lang="zh-CN" altLang="en-US" sz="2200" dirty="0">
              <a:solidFill>
                <a:srgbClr val="0000FF"/>
              </a:solidFill>
            </a:endParaRPr>
          </a:p>
          <a:p>
            <a:pPr marL="342900" indent="-342900">
              <a:lnSpc>
                <a:spcPct val="122000"/>
              </a:lnSpc>
              <a:buFont typeface="Arial" panose="020B0604020202020204" pitchFamily="34" charset="0"/>
              <a:buChar char="•"/>
            </a:pPr>
            <a:r>
              <a:rPr lang="zh-CN" altLang="en-US" sz="2200" dirty="0">
                <a:solidFill>
                  <a:srgbClr val="0000FF"/>
                </a:solidFill>
              </a:rPr>
              <a:t>其存在并不依赖于目标文件。如果删除一个符号链接，目标文件并不受影响，反之，如果移动或删除目标文件，符号链接仍然存在，只是指向一个不复存在的文件。</a:t>
            </a:r>
            <a:r>
              <a:rPr lang="zh-CN" altLang="en-US" sz="2200" dirty="0"/>
              <a:t> </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文件</a:t>
            </a:r>
            <a:r>
              <a:rPr lang="zh-CN" altLang="en-US" sz="2800" b="1" dirty="0">
                <a:solidFill>
                  <a:schemeClr val="bg1"/>
                </a:solidFill>
              </a:rPr>
              <a:t>共享</a:t>
            </a:r>
            <a:endParaRPr lang="zh-CN" altLang="en-US" sz="2800" b="1" dirty="0">
              <a:solidFill>
                <a:schemeClr val="bg1"/>
              </a:solidFill>
            </a:endParaRPr>
          </a:p>
        </p:txBody>
      </p:sp>
      <p:grpSp>
        <p:nvGrpSpPr>
          <p:cNvPr id="12" name="组合 11"/>
          <p:cNvGrpSpPr/>
          <p:nvPr/>
        </p:nvGrpSpPr>
        <p:grpSpPr>
          <a:xfrm>
            <a:off x="83185" y="998855"/>
            <a:ext cx="847090" cy="845820"/>
            <a:chOff x="225" y="2266"/>
            <a:chExt cx="1334" cy="1332"/>
          </a:xfrm>
        </p:grpSpPr>
        <p:sp>
          <p:nvSpPr>
            <p:cNvPr id="4" name="išľiďe"/>
            <p:cNvSpPr/>
            <p:nvPr/>
          </p:nvSpPr>
          <p:spPr bwMode="auto">
            <a:xfrm>
              <a:off x="225" y="2266"/>
              <a:ext cx="1334" cy="1333"/>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6" name="ïṡḷidè"/>
            <p:cNvSpPr/>
            <p:nvPr/>
          </p:nvSpPr>
          <p:spPr bwMode="auto">
            <a:xfrm>
              <a:off x="621" y="2662"/>
              <a:ext cx="543" cy="542"/>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grpSp>
        <p:nvGrpSpPr>
          <p:cNvPr id="14" name="组合 13"/>
          <p:cNvGrpSpPr/>
          <p:nvPr/>
        </p:nvGrpSpPr>
        <p:grpSpPr>
          <a:xfrm>
            <a:off x="83185" y="2561590"/>
            <a:ext cx="845820" cy="847090"/>
            <a:chOff x="-278" y="8740"/>
            <a:chExt cx="1332" cy="1334"/>
          </a:xfrm>
        </p:grpSpPr>
        <p:sp>
          <p:nvSpPr>
            <p:cNvPr id="5" name="íśľîḋé"/>
            <p:cNvSpPr/>
            <p:nvPr/>
          </p:nvSpPr>
          <p:spPr bwMode="auto">
            <a:xfrm>
              <a:off x="-278" y="8740"/>
              <a:ext cx="1333" cy="1334"/>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7" name="iṡļîḍé"/>
            <p:cNvSpPr/>
            <p:nvPr/>
          </p:nvSpPr>
          <p:spPr bwMode="auto">
            <a:xfrm>
              <a:off x="131" y="9066"/>
              <a:ext cx="543" cy="542"/>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sp>
        <p:nvSpPr>
          <p:cNvPr id="8" name="ïslíḓé"/>
          <p:cNvSpPr/>
          <p:nvPr/>
        </p:nvSpPr>
        <p:spPr bwMode="auto">
          <a:xfrm>
            <a:off x="1131412" y="1642717"/>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 name="文本框 1"/>
          <p:cNvSpPr txBox="1"/>
          <p:nvPr/>
        </p:nvSpPr>
        <p:spPr>
          <a:xfrm>
            <a:off x="1131570" y="998855"/>
            <a:ext cx="10396855" cy="1140460"/>
          </a:xfrm>
          <a:prstGeom prst="rect">
            <a:avLst/>
          </a:prstGeom>
          <a:noFill/>
        </p:spPr>
        <p:txBody>
          <a:bodyPr wrap="square" rtlCol="0" anchor="t">
            <a:noAutofit/>
          </a:bodyPr>
          <a:p>
            <a:pPr>
              <a:lnSpc>
                <a:spcPct val="150000"/>
              </a:lnSpc>
            </a:pPr>
            <a:r>
              <a:rPr lang="zh-CN" altLang="en-US" sz="2400" b="1"/>
              <a:t>硬链接</a:t>
            </a:r>
            <a:r>
              <a:rPr lang="zh-CN" altLang="en-US" sz="2400"/>
              <a:t>就是多个指针指向一个索引节点，保证只要还有一个指针指向索引节点，索引节点就不能删除。</a:t>
            </a:r>
            <a:endParaRPr lang="zh-CN" altLang="en-US" sz="2400"/>
          </a:p>
        </p:txBody>
      </p:sp>
      <p:sp>
        <p:nvSpPr>
          <p:cNvPr id="13" name="文本框 12"/>
          <p:cNvSpPr txBox="1"/>
          <p:nvPr/>
        </p:nvSpPr>
        <p:spPr>
          <a:xfrm>
            <a:off x="1202690" y="2561590"/>
            <a:ext cx="10671175" cy="2306955"/>
          </a:xfrm>
          <a:prstGeom prst="rect">
            <a:avLst/>
          </a:prstGeom>
          <a:noFill/>
        </p:spPr>
        <p:txBody>
          <a:bodyPr wrap="square" rtlCol="0" anchor="t">
            <a:spAutoFit/>
          </a:bodyPr>
          <a:p>
            <a:pPr>
              <a:lnSpc>
                <a:spcPct val="150000"/>
              </a:lnSpc>
            </a:pPr>
            <a:r>
              <a:rPr lang="zh-CN" altLang="en-US" sz="2400" b="1">
                <a:sym typeface="+mn-ea"/>
              </a:rPr>
              <a:t>软链接</a:t>
            </a:r>
            <a:r>
              <a:rPr lang="zh-CN" altLang="en-US" sz="2400">
                <a:sym typeface="+mn-ea"/>
              </a:rPr>
              <a:t>就是把到达共享目录共享文件的路径记录下来，当要访问文件时，根据路径寻找文件。</a:t>
            </a:r>
            <a:r>
              <a:rPr lang="zh-CN" altLang="en-US" sz="2400" dirty="0">
                <a:solidFill>
                  <a:srgbClr val="FF0000"/>
                </a:solidFill>
                <a:sym typeface="+mn-ea"/>
              </a:rPr>
              <a:t>建立符号链接后，符号链接文件的引用计数设置为</a:t>
            </a:r>
            <a:r>
              <a:rPr lang="en-US" altLang="zh-CN" sz="2400" dirty="0">
                <a:solidFill>
                  <a:srgbClr val="FF0000"/>
                </a:solidFill>
                <a:sym typeface="+mn-ea"/>
              </a:rPr>
              <a:t>1</a:t>
            </a:r>
            <a:r>
              <a:rPr lang="zh-CN" altLang="en-US" sz="2400" dirty="0">
                <a:solidFill>
                  <a:srgbClr val="FF0000"/>
                </a:solidFill>
                <a:sym typeface="+mn-ea"/>
              </a:rPr>
              <a:t>，源文件的引用次数不会改变。</a:t>
            </a:r>
            <a:r>
              <a:rPr lang="zh-CN" altLang="en-US" sz="2400" dirty="0">
                <a:sym typeface="+mn-ea"/>
              </a:rPr>
              <a:t>每次访问共享文件时都可能要多次地读盘，这使每次访问文件的开销甚大，且需要额外耗费磁盘空间。</a:t>
            </a:r>
            <a:endParaRPr lang="zh-CN" altLang="en-US" sz="2400" dirty="0">
              <a:sym typeface="+mn-ea"/>
            </a:endParaRPr>
          </a:p>
        </p:txBody>
      </p:sp>
      <p:sp>
        <p:nvSpPr>
          <p:cNvPr id="15" name="文本框 14"/>
          <p:cNvSpPr txBox="1"/>
          <p:nvPr/>
        </p:nvSpPr>
        <p:spPr>
          <a:xfrm>
            <a:off x="2415540" y="5230495"/>
            <a:ext cx="6109970" cy="521970"/>
          </a:xfrm>
          <a:prstGeom prst="rect">
            <a:avLst/>
          </a:prstGeom>
          <a:solidFill>
            <a:schemeClr val="accent2"/>
          </a:solidFill>
        </p:spPr>
        <p:txBody>
          <a:bodyPr wrap="square" rtlCol="0" anchor="t">
            <a:spAutoFit/>
          </a:bodyPr>
          <a:p>
            <a:pPr algn="ctr"/>
            <a:r>
              <a:rPr lang="zh-CN" altLang="en-US" sz="2800" dirty="0">
                <a:sym typeface="+mn-ea"/>
              </a:rPr>
              <a:t>硬链接的查找速度快于软链接</a:t>
            </a:r>
            <a:endParaRPr lang="zh-CN" altLang="en-US" sz="2800" dirty="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5455" y="1309370"/>
            <a:ext cx="11185525" cy="2303780"/>
          </a:xfrm>
          <a:prstGeom prst="rect">
            <a:avLst/>
          </a:prstGeom>
          <a:noFill/>
        </p:spPr>
        <p:txBody>
          <a:bodyPr wrap="square" rtlCol="0" anchor="t">
            <a:noAutofit/>
          </a:bodyPr>
          <a:p>
            <a:pPr>
              <a:lnSpc>
                <a:spcPct val="150000"/>
              </a:lnSpc>
            </a:pPr>
            <a:r>
              <a:rPr lang="zh-CN" altLang="en-US" sz="2800"/>
              <a:t>【</a:t>
            </a:r>
            <a:r>
              <a:rPr lang="en-US" altLang="zh-CN" sz="2800"/>
              <a:t>2020</a:t>
            </a:r>
            <a:r>
              <a:rPr lang="zh-CN" altLang="en-US" sz="2800"/>
              <a:t>】若多个进程共享同一个文件</a:t>
            </a:r>
            <a:r>
              <a:rPr lang="en-US" altLang="zh-CN" sz="2800"/>
              <a:t>F</a:t>
            </a:r>
            <a:r>
              <a:rPr lang="zh-CN" altLang="en-US" sz="2800"/>
              <a:t>，则下列叙述中，正确的是（）</a:t>
            </a:r>
            <a:endParaRPr lang="zh-CN" altLang="en-US" sz="2800"/>
          </a:p>
          <a:p>
            <a:pPr>
              <a:lnSpc>
                <a:spcPct val="150000"/>
              </a:lnSpc>
            </a:pPr>
            <a:r>
              <a:rPr lang="en-US" altLang="zh-CN" sz="2800"/>
              <a:t>A.</a:t>
            </a:r>
            <a:r>
              <a:rPr lang="zh-CN" altLang="en-US" sz="2800"/>
              <a:t>各进程只能用</a:t>
            </a:r>
            <a:r>
              <a:rPr lang="en-US" altLang="zh-CN" sz="2800"/>
              <a:t>“</a:t>
            </a:r>
            <a:r>
              <a:rPr lang="zh-CN" altLang="en-US" sz="2800"/>
              <a:t>读</a:t>
            </a:r>
            <a:r>
              <a:rPr lang="en-US" altLang="zh-CN" sz="2800"/>
              <a:t>”</a:t>
            </a:r>
            <a:r>
              <a:rPr lang="zh-CN" altLang="en-US" sz="2800"/>
              <a:t>方式打开文件</a:t>
            </a:r>
            <a:r>
              <a:rPr lang="en-US" altLang="zh-CN" sz="2800"/>
              <a:t>F</a:t>
            </a:r>
            <a:endParaRPr lang="en-US" altLang="zh-CN" sz="2800"/>
          </a:p>
          <a:p>
            <a:pPr>
              <a:lnSpc>
                <a:spcPct val="150000"/>
              </a:lnSpc>
            </a:pPr>
            <a:r>
              <a:rPr lang="en-US" altLang="zh-CN" sz="2800"/>
              <a:t>B.</a:t>
            </a:r>
            <a:r>
              <a:rPr lang="zh-CN" altLang="en-US" sz="2800"/>
              <a:t>在系统打开文件表中仅有一个表项包含</a:t>
            </a:r>
            <a:r>
              <a:rPr lang="en-US" altLang="zh-CN" sz="2800"/>
              <a:t>F</a:t>
            </a:r>
            <a:r>
              <a:rPr lang="zh-CN" altLang="en-US" sz="2800"/>
              <a:t>的属性</a:t>
            </a:r>
            <a:endParaRPr lang="zh-CN" altLang="en-US" sz="2800"/>
          </a:p>
          <a:p>
            <a:pPr>
              <a:lnSpc>
                <a:spcPct val="150000"/>
              </a:lnSpc>
            </a:pPr>
            <a:r>
              <a:rPr lang="en-US" altLang="zh-CN" sz="2800"/>
              <a:t>C.</a:t>
            </a:r>
            <a:r>
              <a:rPr lang="zh-CN" altLang="en-US" sz="2800"/>
              <a:t>各进程的用户打开文件表中关于</a:t>
            </a:r>
            <a:r>
              <a:rPr lang="en-US" altLang="zh-CN" sz="2800"/>
              <a:t>F</a:t>
            </a:r>
            <a:r>
              <a:rPr lang="zh-CN" altLang="en-US" sz="2800"/>
              <a:t>的表项内容相同</a:t>
            </a:r>
            <a:endParaRPr lang="zh-CN" altLang="en-US" sz="2800"/>
          </a:p>
          <a:p>
            <a:pPr>
              <a:lnSpc>
                <a:spcPct val="150000"/>
              </a:lnSpc>
            </a:pPr>
            <a:r>
              <a:rPr lang="en-US" altLang="zh-CN" sz="2800"/>
              <a:t>D. </a:t>
            </a:r>
            <a:r>
              <a:rPr lang="zh-CN" altLang="en-US" sz="2800"/>
              <a:t>进程关闭</a:t>
            </a:r>
            <a:r>
              <a:rPr lang="en-US" altLang="zh-CN" sz="2800"/>
              <a:t>F</a:t>
            </a:r>
            <a:r>
              <a:rPr lang="zh-CN" altLang="en-US" sz="2800"/>
              <a:t>时，系统删除</a:t>
            </a:r>
            <a:r>
              <a:rPr lang="en-US" altLang="zh-CN" sz="2800"/>
              <a:t>F</a:t>
            </a:r>
            <a:r>
              <a:rPr lang="zh-CN" altLang="en-US" sz="2800"/>
              <a:t>在系统打开文件表中的表项</a:t>
            </a:r>
            <a:endParaRPr lang="zh-CN" altLang="en-US" sz="2800"/>
          </a:p>
        </p:txBody>
      </p:sp>
      <p:sp>
        <p:nvSpPr>
          <p:cNvPr id="4" name="文本框 3"/>
          <p:cNvSpPr txBox="1"/>
          <p:nvPr/>
        </p:nvSpPr>
        <p:spPr>
          <a:xfrm>
            <a:off x="826770" y="5389880"/>
            <a:ext cx="6096000"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B</a:t>
            </a:r>
            <a:endParaRPr lang="en-US" altLang="zh-CN"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26795" y="1594485"/>
            <a:ext cx="10412095" cy="2280920"/>
          </a:xfrm>
          <a:prstGeom prst="rect">
            <a:avLst/>
          </a:prstGeom>
          <a:noFill/>
        </p:spPr>
        <p:txBody>
          <a:bodyPr wrap="square" rtlCol="0" anchor="t">
            <a:noAutofit/>
          </a:bodyPr>
          <a:p>
            <a:r>
              <a:rPr lang="zh-CN" altLang="en-US" sz="3200"/>
              <a:t>【</a:t>
            </a:r>
            <a:r>
              <a:rPr lang="en-US" altLang="zh-CN" sz="3200"/>
              <a:t>2009</a:t>
            </a:r>
            <a:r>
              <a:rPr lang="zh-CN" altLang="en-US" sz="3200"/>
              <a:t>】设文件</a:t>
            </a:r>
            <a:r>
              <a:rPr lang="en-US" altLang="zh-CN" sz="3200"/>
              <a:t>F1</a:t>
            </a:r>
            <a:r>
              <a:rPr lang="zh-CN" altLang="en-US" sz="3200"/>
              <a:t>的当前引用计数为</a:t>
            </a:r>
            <a:r>
              <a:rPr lang="en-US" altLang="zh-CN" sz="3200"/>
              <a:t>1</a:t>
            </a:r>
            <a:r>
              <a:rPr lang="zh-CN" altLang="en-US" sz="3200"/>
              <a:t>，先建立</a:t>
            </a:r>
            <a:r>
              <a:rPr lang="en-US" altLang="zh-CN" sz="3200"/>
              <a:t>F1</a:t>
            </a:r>
            <a:r>
              <a:rPr lang="zh-CN" altLang="en-US" sz="3200"/>
              <a:t>的硬链接文件</a:t>
            </a:r>
            <a:r>
              <a:rPr lang="en-US" altLang="zh-CN" sz="3200"/>
              <a:t>F2</a:t>
            </a:r>
            <a:r>
              <a:rPr lang="zh-CN" altLang="en-US" sz="3200"/>
              <a:t>，再建立</a:t>
            </a:r>
            <a:r>
              <a:rPr lang="en-US" altLang="zh-CN" sz="3200"/>
              <a:t>F1</a:t>
            </a:r>
            <a:r>
              <a:rPr lang="zh-CN" altLang="en-US" sz="3200"/>
              <a:t>的符号链接文件</a:t>
            </a:r>
            <a:r>
              <a:rPr lang="en-US" altLang="zh-CN" sz="3200"/>
              <a:t>F3</a:t>
            </a:r>
            <a:r>
              <a:rPr lang="zh-CN" altLang="en-US" sz="3200"/>
              <a:t>，</a:t>
            </a:r>
            <a:r>
              <a:rPr lang="zh-CN" altLang="en-US" sz="3200"/>
              <a:t>然后删除</a:t>
            </a:r>
            <a:r>
              <a:rPr lang="en-US" altLang="zh-CN" sz="3200"/>
              <a:t>F2</a:t>
            </a:r>
            <a:r>
              <a:rPr lang="zh-CN" altLang="en-US" sz="3200"/>
              <a:t>，则此时文件</a:t>
            </a:r>
            <a:r>
              <a:rPr lang="en-US" altLang="zh-CN" sz="3200"/>
              <a:t>F1</a:t>
            </a:r>
            <a:r>
              <a:rPr lang="zh-CN" altLang="en-US" sz="3200"/>
              <a:t>、</a:t>
            </a:r>
            <a:r>
              <a:rPr lang="en-US" altLang="zh-CN" sz="3200"/>
              <a:t>F3</a:t>
            </a:r>
            <a:r>
              <a:rPr lang="zh-CN" altLang="en-US" sz="3200"/>
              <a:t>的引用计数值分别是（</a:t>
            </a:r>
            <a:r>
              <a:rPr lang="en-US" altLang="zh-CN" sz="3200"/>
              <a:t>)</a:t>
            </a:r>
            <a:r>
              <a:rPr lang="zh-CN" altLang="en-US" sz="3200"/>
              <a:t>。</a:t>
            </a:r>
            <a:r>
              <a:rPr lang="en-US" altLang="zh-CN" sz="3200"/>
              <a:t> </a:t>
            </a:r>
            <a:endParaRPr lang="en-US" altLang="zh-CN" sz="3200"/>
          </a:p>
          <a:p>
            <a:r>
              <a:rPr lang="en-US" altLang="zh-CN" sz="3200"/>
              <a:t>A .1</a:t>
            </a:r>
            <a:r>
              <a:rPr lang="zh-CN" altLang="en-US" sz="3200"/>
              <a:t>、</a:t>
            </a:r>
            <a:r>
              <a:rPr lang="en-US" altLang="zh-CN" sz="3200"/>
              <a:t>1        </a:t>
            </a:r>
            <a:r>
              <a:rPr lang="en-US" altLang="zh-CN" sz="3200">
                <a:sym typeface="+mn-ea"/>
              </a:rPr>
              <a:t>B.1</a:t>
            </a:r>
            <a:r>
              <a:rPr lang="zh-CN" altLang="en-US" sz="3200">
                <a:sym typeface="+mn-ea"/>
              </a:rPr>
              <a:t>、</a:t>
            </a:r>
            <a:r>
              <a:rPr lang="en-US" altLang="zh-CN" sz="3200">
                <a:sym typeface="+mn-ea"/>
              </a:rPr>
              <a:t>2        </a:t>
            </a:r>
            <a:r>
              <a:rPr lang="en-US" altLang="zh-CN" sz="3200"/>
              <a:t>C.1</a:t>
            </a:r>
            <a:r>
              <a:rPr lang="zh-CN" altLang="en-US" sz="3200"/>
              <a:t>、</a:t>
            </a:r>
            <a:r>
              <a:rPr lang="en-US" altLang="zh-CN" sz="3200"/>
              <a:t>0           D.2</a:t>
            </a:r>
            <a:r>
              <a:rPr lang="zh-CN" altLang="en-US" sz="3200"/>
              <a:t>、</a:t>
            </a:r>
            <a:r>
              <a:rPr lang="en-US" altLang="zh-CN" sz="3200"/>
              <a:t>2</a:t>
            </a:r>
            <a:endParaRPr lang="zh-CN" altLang="en-US" sz="3200"/>
          </a:p>
        </p:txBody>
      </p:sp>
      <p:sp>
        <p:nvSpPr>
          <p:cNvPr id="3" name="文本框 2"/>
          <p:cNvSpPr txBox="1"/>
          <p:nvPr/>
        </p:nvSpPr>
        <p:spPr>
          <a:xfrm>
            <a:off x="1399540" y="4392930"/>
            <a:ext cx="6096000"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A</a:t>
            </a:r>
            <a:endParaRPr lang="en-US" altLang="zh-CN" sz="3200">
              <a:solidFill>
                <a:srgbClr val="FF0000"/>
              </a:solidFill>
              <a:sym typeface="+mn-ea"/>
            </a:endParaRPr>
          </a:p>
        </p:txBody>
      </p:sp>
      <p:sp>
        <p:nvSpPr>
          <p:cNvPr id="4" name="文本框 3"/>
          <p:cNvSpPr txBox="1"/>
          <p:nvPr/>
        </p:nvSpPr>
        <p:spPr>
          <a:xfrm>
            <a:off x="7026275" y="4603115"/>
            <a:ext cx="4680585" cy="583565"/>
          </a:xfrm>
          <a:prstGeom prst="rect">
            <a:avLst/>
          </a:prstGeom>
          <a:noFill/>
        </p:spPr>
        <p:txBody>
          <a:bodyPr wrap="square" rtlCol="0" anchor="t">
            <a:spAutoFit/>
          </a:bodyPr>
          <a:p>
            <a:r>
              <a:rPr lang="zh-CN" altLang="en-US" sz="3200">
                <a:solidFill>
                  <a:srgbClr val="FF0000"/>
                </a:solidFill>
                <a:sym typeface="+mn-ea"/>
              </a:rPr>
              <a:t>随堂练习</a:t>
            </a:r>
            <a:r>
              <a:rPr lang="en-US" altLang="zh-CN" sz="3200">
                <a:solidFill>
                  <a:srgbClr val="FF0000"/>
                </a:solidFill>
                <a:sym typeface="+mn-ea"/>
              </a:rPr>
              <a:t>——</a:t>
            </a:r>
            <a:r>
              <a:rPr lang="zh-CN" altLang="en-US" sz="3200">
                <a:solidFill>
                  <a:srgbClr val="FF0000"/>
                </a:solidFill>
                <a:sym typeface="+mn-ea"/>
              </a:rPr>
              <a:t>文件</a:t>
            </a:r>
            <a:r>
              <a:rPr lang="zh-CN" altLang="en-US" sz="3200">
                <a:solidFill>
                  <a:srgbClr val="FF0000"/>
                </a:solidFill>
                <a:sym typeface="+mn-ea"/>
              </a:rPr>
              <a:t>共享</a:t>
            </a:r>
            <a:endParaRPr lang="zh-CN" altLang="en-US"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b="1" dirty="0">
                <a:solidFill>
                  <a:srgbClr val="0000FF"/>
                </a:solidFill>
                <a:latin typeface="+mj-ea"/>
              </a:rPr>
              <a:t>8.5 </a:t>
            </a:r>
            <a:r>
              <a:rPr lang="zh-CN" altLang="en-US" sz="2400" b="1" dirty="0">
                <a:solidFill>
                  <a:srgbClr val="0000FF"/>
                </a:solidFill>
                <a:latin typeface="+mj-ea"/>
              </a:rPr>
              <a:t>文件保护</a:t>
            </a:r>
            <a:endParaRPr lang="en-US" altLang="zh-CN" sz="2400" b="1" dirty="0">
              <a:solidFill>
                <a:srgbClr val="0000FF"/>
              </a:solidFill>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latin typeface="+mj-ea"/>
              </a:rPr>
              <a:t>8.6  Linux</a:t>
            </a:r>
            <a:r>
              <a:rPr lang="zh-CN" altLang="en-US" sz="2400" dirty="0">
                <a:solidFill>
                  <a:schemeClr val="bg1">
                    <a:lumMod val="75000"/>
                  </a:schemeClr>
                </a:solidFill>
                <a:latin typeface="+mj-ea"/>
              </a:rPr>
              <a:t>文件系统实例</a:t>
            </a:r>
            <a:endParaRPr lang="zh-CN" altLang="en-US" sz="2400" dirty="0">
              <a:solidFill>
                <a:schemeClr val="bg1">
                  <a:lumMod val="75000"/>
                </a:schemeClr>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 </a:t>
            </a:r>
            <a:r>
              <a:rPr lang="zh-CN" altLang="en-US" sz="2800" b="1" dirty="0">
                <a:solidFill>
                  <a:schemeClr val="bg1"/>
                </a:solidFill>
              </a:rPr>
              <a:t>文件保护</a:t>
            </a:r>
            <a:endParaRPr lang="zh-CN" altLang="en-US" sz="2800" b="1" dirty="0">
              <a:solidFill>
                <a:schemeClr val="bg1"/>
              </a:solidFill>
            </a:endParaRPr>
          </a:p>
        </p:txBody>
      </p:sp>
      <p:sp>
        <p:nvSpPr>
          <p:cNvPr id="3" name="矩形: 圆角 2"/>
          <p:cNvSpPr/>
          <p:nvPr/>
        </p:nvSpPr>
        <p:spPr>
          <a:xfrm>
            <a:off x="1399083" y="1388815"/>
            <a:ext cx="469691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影响文件安全性的主要因素</a:t>
            </a:r>
            <a:endParaRPr lang="zh-CN" altLang="en-US" sz="2800" dirty="0">
              <a:solidFill>
                <a:schemeClr val="bg1"/>
              </a:solidFill>
              <a:sym typeface="Wingdings" panose="05000000000000000000" pitchFamily="2" charset="2"/>
            </a:endParaRPr>
          </a:p>
        </p:txBody>
      </p:sp>
      <p:sp>
        <p:nvSpPr>
          <p:cNvPr id="4" name="内容占位符 2"/>
          <p:cNvSpPr txBox="1"/>
          <p:nvPr/>
        </p:nvSpPr>
        <p:spPr>
          <a:xfrm>
            <a:off x="1400389" y="2107607"/>
            <a:ext cx="5412543" cy="17136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人为因素</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系统因素</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自然因素</a:t>
            </a:r>
            <a:endParaRPr lang="zh-CN" altLang="en-US" sz="2400" dirty="0"/>
          </a:p>
        </p:txBody>
      </p:sp>
      <p:sp>
        <p:nvSpPr>
          <p:cNvPr id="2" name="矩形: 圆角 2"/>
          <p:cNvSpPr/>
          <p:nvPr/>
        </p:nvSpPr>
        <p:spPr>
          <a:xfrm>
            <a:off x="1547038" y="3841185"/>
            <a:ext cx="469691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访问</a:t>
            </a:r>
            <a:r>
              <a:rPr lang="zh-CN" altLang="en-US" sz="2800" dirty="0">
                <a:solidFill>
                  <a:schemeClr val="bg1"/>
                </a:solidFill>
                <a:sym typeface="Wingdings" panose="05000000000000000000" pitchFamily="2" charset="2"/>
              </a:rPr>
              <a:t>类型</a:t>
            </a:r>
            <a:endParaRPr lang="zh-CN" altLang="en-US" sz="2800" dirty="0">
              <a:solidFill>
                <a:schemeClr val="bg1"/>
              </a:solidFill>
              <a:sym typeface="Wingdings" panose="05000000000000000000" pitchFamily="2" charset="2"/>
            </a:endParaRPr>
          </a:p>
        </p:txBody>
      </p:sp>
      <p:sp>
        <p:nvSpPr>
          <p:cNvPr id="7" name="内容占位符 2"/>
          <p:cNvSpPr txBox="1"/>
          <p:nvPr/>
        </p:nvSpPr>
        <p:spPr>
          <a:xfrm>
            <a:off x="1421130" y="4432935"/>
            <a:ext cx="2191385" cy="17138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读</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写</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执行</a:t>
            </a:r>
            <a:endParaRPr lang="zh-CN" alt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8.5</a:t>
            </a:r>
            <a:r>
              <a:rPr lang="zh-CN" altLang="en-US" sz="2800" b="1" dirty="0">
                <a:solidFill>
                  <a:schemeClr val="bg1"/>
                </a:solidFill>
              </a:rPr>
              <a:t>访问</a:t>
            </a:r>
            <a:r>
              <a:rPr lang="zh-CN" altLang="en-US" sz="2800" b="1" dirty="0">
                <a:solidFill>
                  <a:schemeClr val="bg1"/>
                </a:solidFill>
              </a:rPr>
              <a:t>控制</a:t>
            </a:r>
            <a:endParaRPr lang="zh-CN" altLang="en-US" sz="2800" b="1" dirty="0">
              <a:solidFill>
                <a:schemeClr val="bg1"/>
              </a:solidFill>
            </a:endParaRPr>
          </a:p>
        </p:txBody>
      </p:sp>
      <p:sp>
        <p:nvSpPr>
          <p:cNvPr id="3" name="矩形: 圆角 2"/>
          <p:cNvSpPr/>
          <p:nvPr/>
        </p:nvSpPr>
        <p:spPr>
          <a:xfrm>
            <a:off x="1399083" y="1027500"/>
            <a:ext cx="469691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身份</a:t>
            </a:r>
            <a:r>
              <a:rPr lang="zh-CN" altLang="en-US" sz="2800" dirty="0">
                <a:solidFill>
                  <a:schemeClr val="bg1"/>
                </a:solidFill>
                <a:sym typeface="Wingdings" panose="05000000000000000000" pitchFamily="2" charset="2"/>
              </a:rPr>
              <a:t>认证</a:t>
            </a:r>
            <a:endParaRPr lang="zh-CN" altLang="en-US" sz="2800" dirty="0">
              <a:solidFill>
                <a:schemeClr val="bg1"/>
              </a:solidFill>
              <a:sym typeface="Wingdings" panose="05000000000000000000" pitchFamily="2" charset="2"/>
            </a:endParaRPr>
          </a:p>
        </p:txBody>
      </p:sp>
      <p:sp>
        <p:nvSpPr>
          <p:cNvPr id="4" name="内容占位符 2"/>
          <p:cNvSpPr txBox="1"/>
          <p:nvPr/>
        </p:nvSpPr>
        <p:spPr>
          <a:xfrm>
            <a:off x="1400175" y="1597660"/>
            <a:ext cx="7814945" cy="7169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根据访问控制表（</a:t>
            </a:r>
            <a:r>
              <a:rPr lang="en-US" altLang="zh-CN" sz="2400" dirty="0"/>
              <a:t>ACL</a:t>
            </a:r>
            <a:r>
              <a:rPr lang="zh-CN" altLang="en-US" sz="2400" dirty="0"/>
              <a:t>），规定每个用户的访问</a:t>
            </a:r>
            <a:r>
              <a:rPr lang="zh-CN" altLang="en-US" sz="2400" dirty="0"/>
              <a:t>类型</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endParaRPr lang="en-US" altLang="zh-CN" sz="2400" dirty="0"/>
          </a:p>
        </p:txBody>
      </p:sp>
      <p:sp>
        <p:nvSpPr>
          <p:cNvPr id="5" name="矩形: 圆角 4"/>
          <p:cNvSpPr/>
          <p:nvPr/>
        </p:nvSpPr>
        <p:spPr>
          <a:xfrm>
            <a:off x="1400354" y="4161031"/>
            <a:ext cx="4696916"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口令和</a:t>
            </a:r>
            <a:r>
              <a:rPr lang="zh-CN" altLang="en-US" sz="2800" dirty="0">
                <a:solidFill>
                  <a:schemeClr val="bg1"/>
                </a:solidFill>
                <a:sym typeface="Wingdings" panose="05000000000000000000" pitchFamily="2" charset="2"/>
              </a:rPr>
              <a:t>密码</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1400175" y="4878070"/>
            <a:ext cx="10331450" cy="2099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口令指用户</a:t>
            </a:r>
            <a:r>
              <a:rPr lang="zh-CN" altLang="en-US" sz="2400" dirty="0"/>
              <a:t>在建立一个文件时提供一个口令，系统在建立</a:t>
            </a:r>
            <a:r>
              <a:rPr lang="en-US" altLang="zh-CN" sz="2400" dirty="0"/>
              <a:t>FCB</a:t>
            </a:r>
            <a:r>
              <a:rPr lang="zh-CN" altLang="en-US" sz="2400" dirty="0"/>
              <a:t>时附上该口令，同时告诉共享该文件的用户。缺点是口令直接存在系统内部，</a:t>
            </a:r>
            <a:r>
              <a:rPr lang="zh-CN" altLang="en-US" sz="2400" dirty="0"/>
              <a:t>不安全。</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密码指用户对文件进行</a:t>
            </a:r>
            <a:r>
              <a:rPr lang="zh-CN" altLang="en-US" sz="2400" dirty="0"/>
              <a:t>加密。</a:t>
            </a:r>
            <a:endParaRPr lang="zh-CN" altLang="en-US" sz="2400" dirty="0"/>
          </a:p>
        </p:txBody>
      </p:sp>
      <p:pic>
        <p:nvPicPr>
          <p:cNvPr id="7" name="图片 6"/>
          <p:cNvPicPr>
            <a:picLocks noChangeAspect="1"/>
          </p:cNvPicPr>
          <p:nvPr/>
        </p:nvPicPr>
        <p:blipFill>
          <a:blip r:embed="rId1"/>
          <a:stretch>
            <a:fillRect/>
          </a:stretch>
        </p:blipFill>
        <p:spPr>
          <a:xfrm>
            <a:off x="1447165" y="2314575"/>
            <a:ext cx="7543165" cy="1670050"/>
          </a:xfrm>
          <a:prstGeom prst="rect">
            <a:avLst/>
          </a:prstGeom>
        </p:spPr>
      </p:pic>
      <p:sp>
        <p:nvSpPr>
          <p:cNvPr id="2" name="文本框 1"/>
          <p:cNvSpPr txBox="1"/>
          <p:nvPr/>
        </p:nvSpPr>
        <p:spPr>
          <a:xfrm>
            <a:off x="7743825" y="919480"/>
            <a:ext cx="6096000" cy="583565"/>
          </a:xfrm>
          <a:prstGeom prst="rect">
            <a:avLst/>
          </a:prstGeom>
          <a:noFill/>
        </p:spPr>
        <p:txBody>
          <a:bodyPr wrap="square" rtlCol="0" anchor="t">
            <a:spAutoFit/>
          </a:bodyPr>
          <a:p>
            <a:r>
              <a:rPr lang="zh-CN" altLang="en-US" sz="3200">
                <a:solidFill>
                  <a:srgbClr val="FF0000"/>
                </a:solidFill>
                <a:sym typeface="+mn-ea"/>
              </a:rPr>
              <a:t>随堂练习</a:t>
            </a:r>
            <a:r>
              <a:rPr lang="en-US" altLang="zh-CN" sz="3200">
                <a:solidFill>
                  <a:srgbClr val="FF0000"/>
                </a:solidFill>
                <a:sym typeface="+mn-ea"/>
              </a:rPr>
              <a:t>-</a:t>
            </a:r>
            <a:r>
              <a:rPr lang="zh-CN" altLang="en-US" sz="3200">
                <a:solidFill>
                  <a:srgbClr val="FF0000"/>
                </a:solidFill>
                <a:sym typeface="+mn-ea"/>
              </a:rPr>
              <a:t>访问控制</a:t>
            </a:r>
            <a:endParaRPr lang="zh-CN" altLang="en-US"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7955" y="1106170"/>
            <a:ext cx="11652250" cy="4244340"/>
          </a:xfrm>
          <a:prstGeom prst="rect">
            <a:avLst/>
          </a:prstGeom>
          <a:noFill/>
        </p:spPr>
        <p:txBody>
          <a:bodyPr wrap="square" rtlCol="0" anchor="t">
            <a:noAutofit/>
          </a:bodyPr>
          <a:p>
            <a:pPr marL="457200" indent="-457200">
              <a:lnSpc>
                <a:spcPct val="150000"/>
              </a:lnSpc>
              <a:buFont typeface="Arial" panose="020B0604020202020204" pitchFamily="34" charset="0"/>
              <a:buChar char="•"/>
            </a:pPr>
            <a:r>
              <a:rPr lang="zh-CN" altLang="en-US" sz="3200">
                <a:sym typeface="+mn-ea"/>
              </a:rPr>
              <a:t>相对于密码机制，由于访问控制的级别和保护力度较小，所以</a:t>
            </a:r>
            <a:r>
              <a:rPr lang="zh-CN" altLang="en-US" sz="3200"/>
              <a:t>访问控制机制的安全性较差，但</a:t>
            </a:r>
            <a:r>
              <a:rPr lang="zh-CN" altLang="en-US" sz="3200">
                <a:sym typeface="+mn-ea"/>
              </a:rPr>
              <a:t>访问控制</a:t>
            </a:r>
            <a:r>
              <a:rPr lang="zh-CN" altLang="en-US" sz="3200"/>
              <a:t>的灵活性相对较高。</a:t>
            </a:r>
            <a:endParaRPr lang="zh-CN" altLang="en-US" sz="3200"/>
          </a:p>
          <a:p>
            <a:pPr marL="457200" indent="-457200">
              <a:lnSpc>
                <a:spcPct val="150000"/>
              </a:lnSpc>
              <a:buFont typeface="Arial" panose="020B0604020202020204" pitchFamily="34" charset="0"/>
              <a:buChar char="•"/>
            </a:pPr>
            <a:r>
              <a:rPr lang="zh-CN" altLang="en-US" sz="3200"/>
              <a:t>访问控制是由系统实现的，加密机制</a:t>
            </a:r>
            <a:r>
              <a:rPr lang="zh-CN" altLang="en-US" sz="3200"/>
              <a:t>由用户实现</a:t>
            </a:r>
            <a:endParaRPr lang="zh-CN" altLang="en-US" sz="3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2154555" y="2592705"/>
            <a:ext cx="7952740" cy="583565"/>
          </a:xfrm>
          <a:prstGeom prst="rect">
            <a:avLst/>
          </a:prstGeom>
        </p:spPr>
        <p:txBody>
          <a:bodyPr wrap="square">
            <a:spAutoFit/>
          </a:bodyPr>
          <a:p>
            <a:r>
              <a:rPr lang="zh-CN" altLang="en-US" sz="3200" b="1" dirty="0">
                <a:solidFill>
                  <a:schemeClr val="tx1"/>
                </a:solidFill>
              </a:rPr>
              <a:t>补充：外存空闲空间管理方法（第</a:t>
            </a:r>
            <a:r>
              <a:rPr lang="en-US" altLang="zh-CN" sz="3200" b="1" dirty="0">
                <a:solidFill>
                  <a:schemeClr val="tx1"/>
                </a:solidFill>
              </a:rPr>
              <a:t>9</a:t>
            </a:r>
            <a:r>
              <a:rPr lang="zh-CN" altLang="en-US" sz="3200" b="1" dirty="0">
                <a:solidFill>
                  <a:schemeClr val="tx1"/>
                </a:solidFill>
              </a:rPr>
              <a:t>章）</a:t>
            </a:r>
            <a:endParaRPr lang="zh-CN" altLang="en-US" sz="3200" b="1" dirty="0">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669925" y="78668"/>
            <a:ext cx="7026275" cy="521970"/>
          </a:xfrm>
          <a:prstGeom prst="rect">
            <a:avLst/>
          </a:prstGeom>
        </p:spPr>
        <p:txBody>
          <a:bodyPr wrap="square">
            <a:spAutoFit/>
          </a:bodyPr>
          <a:p>
            <a:r>
              <a:rPr lang="zh-CN" altLang="en-US" sz="2800" b="1" dirty="0">
                <a:solidFill>
                  <a:schemeClr val="bg1"/>
                </a:solidFill>
              </a:rPr>
              <a:t>补充：外存空闲空间管理方法（第</a:t>
            </a:r>
            <a:r>
              <a:rPr lang="en-US" altLang="zh-CN" sz="2800" b="1" dirty="0">
                <a:solidFill>
                  <a:schemeClr val="bg1"/>
                </a:solidFill>
              </a:rPr>
              <a:t>9</a:t>
            </a:r>
            <a:r>
              <a:rPr lang="zh-CN" altLang="en-US" sz="2800" b="1" dirty="0">
                <a:solidFill>
                  <a:schemeClr val="bg1"/>
                </a:solidFill>
              </a:rPr>
              <a:t>章）</a:t>
            </a:r>
            <a:endParaRPr lang="zh-CN" altLang="en-US" sz="2800" b="1" dirty="0">
              <a:solidFill>
                <a:schemeClr val="bg1"/>
              </a:solidFill>
            </a:endParaRPr>
          </a:p>
        </p:txBody>
      </p:sp>
      <p:grpSp>
        <p:nvGrpSpPr>
          <p:cNvPr id="10"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93027" y="1852560"/>
            <a:ext cx="11165744" cy="2990354"/>
            <a:chOff x="516303" y="1929384"/>
            <a:chExt cx="11165744" cy="2990354"/>
          </a:xfrm>
        </p:grpSpPr>
        <p:sp>
          <p:nvSpPr>
            <p:cNvPr id="11"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p>
              <a:pPr algn="ctr"/>
              <a:endParaRPr lang="zh-CN" altLang="en-US"/>
            </a:p>
          </p:txBody>
        </p:sp>
        <p:sp>
          <p:nvSpPr>
            <p:cNvPr id="12"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p>
              <a:pPr algn="ctr"/>
              <a:endParaRPr lang="zh-CN" altLang="en-US" dirty="0"/>
            </a:p>
          </p:txBody>
        </p:sp>
        <p:sp>
          <p:nvSpPr>
            <p:cNvPr id="13"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p>
              <a:pPr algn="ctr"/>
              <a:endParaRPr lang="zh-CN" altLang="en-US"/>
            </a:p>
          </p:txBody>
        </p:sp>
        <p:sp>
          <p:nvSpPr>
            <p:cNvPr id="15"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p>
              <a:pPr algn="ctr"/>
              <a:endParaRPr lang="zh-CN" altLang="en-US" dirty="0"/>
            </a:p>
          </p:txBody>
        </p:sp>
        <p:sp>
          <p:nvSpPr>
            <p:cNvPr id="16"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p>
              <a:pPr algn="ctr"/>
              <a:endParaRPr lang="zh-CN" altLang="en-US" dirty="0"/>
            </a:p>
          </p:txBody>
        </p:sp>
        <p:sp>
          <p:nvSpPr>
            <p:cNvPr id="17" name="isľîdê"/>
            <p:cNvSpPr txBox="1"/>
            <p:nvPr>
              <p:custDataLst>
                <p:tags r:id="rId7"/>
              </p:custDataLst>
            </p:nvPr>
          </p:nvSpPr>
          <p:spPr>
            <a:xfrm>
              <a:off x="516303" y="4160181"/>
              <a:ext cx="2558641" cy="523221"/>
            </a:xfrm>
            <a:prstGeom prst="rect">
              <a:avLst/>
            </a:prstGeom>
            <a:noFill/>
            <a:ln>
              <a:noFill/>
            </a:ln>
          </p:spPr>
          <p:txBody>
            <a:bodyPr wrap="square" lIns="91440" tIns="45720" rIns="91440" bIns="45720" anchor="t" anchorCtr="0">
              <a:noAutofit/>
            </a:bodyPr>
            <a:p>
              <a:pPr lvl="1"/>
              <a:r>
                <a:rPr lang="zh-CN" altLang="en-US" sz="2400" dirty="0"/>
                <a:t>空闲区表法</a:t>
              </a:r>
              <a:endParaRPr lang="en-US" altLang="zh-CN" sz="2400" dirty="0"/>
            </a:p>
          </p:txBody>
        </p:sp>
        <p:sp>
          <p:nvSpPr>
            <p:cNvPr id="18" name="îṣḻidé"/>
            <p:cNvSpPr txBox="1"/>
            <p:nvPr>
              <p:custDataLst>
                <p:tags r:id="rId8"/>
              </p:custDataLst>
            </p:nvPr>
          </p:nvSpPr>
          <p:spPr>
            <a:xfrm>
              <a:off x="1960664" y="2605404"/>
              <a:ext cx="708108" cy="678249"/>
            </a:xfrm>
            <a:prstGeom prst="rect">
              <a:avLst/>
            </a:prstGeom>
            <a:noFill/>
          </p:spPr>
          <p:txBody>
            <a:bodyPr wrap="square" lIns="91440" tIns="45720" rIns="91440" bIns="45720" rtlCol="0" anchor="ctr">
              <a:normAutofit/>
            </a:bodyPr>
            <a:p>
              <a:pPr algn="ctr"/>
              <a:r>
                <a:rPr lang="en-US" altLang="zh-CN" sz="3200" b="1" i="1" dirty="0">
                  <a:solidFill>
                    <a:schemeClr val="bg1"/>
                  </a:solidFill>
                </a:rPr>
                <a:t>00</a:t>
              </a:r>
              <a:endParaRPr lang="zh-CN" altLang="en-US" sz="3200" b="1" i="1" dirty="0">
                <a:solidFill>
                  <a:schemeClr val="bg1"/>
                </a:solidFill>
              </a:endParaRPr>
            </a:p>
          </p:txBody>
        </p:sp>
        <p:sp>
          <p:nvSpPr>
            <p:cNvPr id="19" name="ïŝ1ïḋè"/>
            <p:cNvSpPr txBox="1"/>
            <p:nvPr>
              <p:custDataLst>
                <p:tags r:id="rId9"/>
              </p:custDataLst>
            </p:nvPr>
          </p:nvSpPr>
          <p:spPr>
            <a:xfrm>
              <a:off x="4741597" y="2605404"/>
              <a:ext cx="708108" cy="678249"/>
            </a:xfrm>
            <a:prstGeom prst="rect">
              <a:avLst/>
            </a:prstGeom>
            <a:noFill/>
          </p:spPr>
          <p:txBody>
            <a:bodyPr wrap="square" lIns="91440" tIns="45720" rIns="91440" bIns="45720" rtlCol="0" anchor="ctr">
              <a:normAutofit/>
            </a:bodyPr>
            <a:p>
              <a:pPr algn="ctr"/>
              <a:r>
                <a:rPr lang="en-US" altLang="zh-CN" sz="3200" b="1" i="1" dirty="0">
                  <a:solidFill>
                    <a:schemeClr val="bg1"/>
                  </a:solidFill>
                </a:rPr>
                <a:t>00</a:t>
              </a:r>
              <a:endParaRPr lang="zh-CN" altLang="en-US" sz="3200" b="1" i="1" dirty="0">
                <a:solidFill>
                  <a:schemeClr val="bg1"/>
                </a:solidFill>
              </a:endParaRPr>
            </a:p>
          </p:txBody>
        </p:sp>
        <p:sp>
          <p:nvSpPr>
            <p:cNvPr id="21" name="í$lîdé"/>
            <p:cNvSpPr txBox="1"/>
            <p:nvPr>
              <p:custDataLst>
                <p:tags r:id="rId10"/>
              </p:custDataLst>
            </p:nvPr>
          </p:nvSpPr>
          <p:spPr>
            <a:xfrm>
              <a:off x="7522530" y="2605404"/>
              <a:ext cx="708108" cy="678249"/>
            </a:xfrm>
            <a:prstGeom prst="rect">
              <a:avLst/>
            </a:prstGeom>
            <a:noFill/>
          </p:spPr>
          <p:txBody>
            <a:bodyPr wrap="square" lIns="91440" tIns="45720" rIns="91440" bIns="45720" rtlCol="0" anchor="ctr">
              <a:normAutofit/>
            </a:bodyPr>
            <a:p>
              <a:pPr algn="ctr"/>
              <a:r>
                <a:rPr lang="en-US" altLang="zh-CN" sz="3200" b="1" i="1" dirty="0">
                  <a:solidFill>
                    <a:schemeClr val="bg1"/>
                  </a:solidFill>
                </a:rPr>
                <a:t>00</a:t>
              </a:r>
              <a:endParaRPr lang="zh-CN" altLang="en-US" sz="3200" b="1" i="1" dirty="0">
                <a:solidFill>
                  <a:schemeClr val="bg1"/>
                </a:solidFill>
              </a:endParaRPr>
            </a:p>
          </p:txBody>
        </p:sp>
        <p:sp>
          <p:nvSpPr>
            <p:cNvPr id="22" name="išḻïďè"/>
            <p:cNvSpPr txBox="1"/>
            <p:nvPr>
              <p:custDataLst>
                <p:tags r:id="rId11"/>
              </p:custDataLst>
            </p:nvPr>
          </p:nvSpPr>
          <p:spPr>
            <a:xfrm>
              <a:off x="10303464" y="2605404"/>
              <a:ext cx="708108" cy="678249"/>
            </a:xfrm>
            <a:prstGeom prst="rect">
              <a:avLst/>
            </a:prstGeom>
            <a:noFill/>
          </p:spPr>
          <p:txBody>
            <a:bodyPr wrap="square" lIns="91440" tIns="45720" rIns="91440" bIns="45720" rtlCol="0" anchor="ctr">
              <a:normAutofit/>
            </a:bodyPr>
            <a:p>
              <a:pPr algn="ctr"/>
              <a:r>
                <a:rPr lang="en-US" altLang="zh-CN" sz="3200" b="1" i="1" dirty="0">
                  <a:solidFill>
                    <a:schemeClr val="bg1"/>
                  </a:solidFill>
                </a:rPr>
                <a:t>00</a:t>
              </a:r>
              <a:endParaRPr lang="zh-CN" altLang="en-US" sz="3200" b="1" i="1" dirty="0">
                <a:solidFill>
                  <a:schemeClr val="bg1"/>
                </a:solidFill>
              </a:endParaRPr>
            </a:p>
          </p:txBody>
        </p:sp>
        <p:sp>
          <p:nvSpPr>
            <p:cNvPr id="23" name="isľîdê"/>
            <p:cNvSpPr txBox="1"/>
            <p:nvPr>
              <p:custDataLst>
                <p:tags r:id="rId12"/>
              </p:custDataLst>
            </p:nvPr>
          </p:nvSpPr>
          <p:spPr>
            <a:xfrm>
              <a:off x="3316860" y="4160181"/>
              <a:ext cx="2606348" cy="537612"/>
            </a:xfrm>
            <a:prstGeom prst="rect">
              <a:avLst/>
            </a:prstGeom>
            <a:noFill/>
            <a:ln>
              <a:noFill/>
            </a:ln>
          </p:spPr>
          <p:txBody>
            <a:bodyPr wrap="square" lIns="91440" tIns="45720" rIns="91440" bIns="45720" anchor="t" anchorCtr="0">
              <a:noAutofit/>
            </a:bodyPr>
            <a:p>
              <a:pPr marL="0" lvl="1" algn="ctr">
                <a:lnSpc>
                  <a:spcPct val="120000"/>
                </a:lnSpc>
                <a:buClr>
                  <a:srgbClr val="FFC000"/>
                </a:buClr>
              </a:pPr>
              <a:r>
                <a:rPr lang="zh-CN" altLang="en-US" sz="2400" dirty="0"/>
                <a:t>空闲链表法</a:t>
              </a:r>
              <a:endParaRPr lang="zh-CN" altLang="en-US" sz="2400" dirty="0"/>
            </a:p>
          </p:txBody>
        </p:sp>
        <p:sp>
          <p:nvSpPr>
            <p:cNvPr id="24" name="isľîdê"/>
            <p:cNvSpPr txBox="1"/>
            <p:nvPr>
              <p:custDataLst>
                <p:tags r:id="rId13"/>
              </p:custDataLst>
            </p:nvPr>
          </p:nvSpPr>
          <p:spPr>
            <a:xfrm>
              <a:off x="6165124" y="4193772"/>
              <a:ext cx="2447789" cy="489630"/>
            </a:xfrm>
            <a:prstGeom prst="rect">
              <a:avLst/>
            </a:prstGeom>
            <a:noFill/>
            <a:ln>
              <a:noFill/>
            </a:ln>
          </p:spPr>
          <p:txBody>
            <a:bodyPr wrap="square" lIns="91440" tIns="45720" rIns="91440" bIns="45720" anchor="t" anchorCtr="0">
              <a:noAutofit/>
            </a:bodyPr>
            <a:p>
              <a:pPr marL="0" lvl="1" algn="ctr">
                <a:lnSpc>
                  <a:spcPct val="120000"/>
                </a:lnSpc>
                <a:buClr>
                  <a:srgbClr val="FFC000"/>
                </a:buClr>
              </a:pPr>
              <a:r>
                <a:rPr lang="zh-CN" altLang="en-US" sz="2400" dirty="0"/>
                <a:t>位示图法</a:t>
              </a:r>
              <a:endParaRPr lang="zh-CN" altLang="en-US" sz="2400" dirty="0"/>
            </a:p>
          </p:txBody>
        </p:sp>
        <p:sp>
          <p:nvSpPr>
            <p:cNvPr id="25" name="isľîdê"/>
            <p:cNvSpPr txBox="1"/>
            <p:nvPr>
              <p:custDataLst>
                <p:tags r:id="rId14"/>
              </p:custDataLst>
            </p:nvPr>
          </p:nvSpPr>
          <p:spPr>
            <a:xfrm>
              <a:off x="8928407" y="4179586"/>
              <a:ext cx="2753640" cy="740152"/>
            </a:xfrm>
            <a:prstGeom prst="rect">
              <a:avLst/>
            </a:prstGeom>
            <a:noFill/>
            <a:ln>
              <a:noFill/>
            </a:ln>
          </p:spPr>
          <p:txBody>
            <a:bodyPr wrap="square" lIns="91440" tIns="45720" rIns="91440" bIns="45720" anchor="t" anchorCtr="0">
              <a:noAutofit/>
            </a:bodyPr>
            <a:p>
              <a:pPr marL="0" lvl="1" algn="ctr">
                <a:lnSpc>
                  <a:spcPct val="120000"/>
                </a:lnSpc>
                <a:buClr>
                  <a:srgbClr val="FFC000"/>
                </a:buClr>
              </a:pPr>
              <a:r>
                <a:rPr lang="zh-CN" altLang="en-US" sz="2400" dirty="0"/>
                <a:t>成组链接法</a:t>
              </a:r>
              <a:endParaRPr lang="zh-CN" altLang="en-US" sz="2400" dirty="0"/>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空闲区表法</a:t>
            </a:r>
            <a:endParaRPr lang="zh-CN" altLang="en-US" sz="2800" b="1" dirty="0">
              <a:solidFill>
                <a:schemeClr val="bg1"/>
              </a:solidFill>
            </a:endParaRPr>
          </a:p>
        </p:txBody>
      </p:sp>
      <p:sp>
        <p:nvSpPr>
          <p:cNvPr id="4" name="íšḻíḑê"/>
          <p:cNvSpPr/>
          <p:nvPr/>
        </p:nvSpPr>
        <p:spPr>
          <a:xfrm>
            <a:off x="669925" y="1340152"/>
            <a:ext cx="10845800" cy="405747"/>
          </a:xfrm>
          <a:prstGeom prst="rect">
            <a:avLst/>
          </a:prstGeom>
          <a:noFill/>
          <a:ln>
            <a:noFill/>
          </a:ln>
        </p:spPr>
        <p:txBody>
          <a:bodyPr wrap="square" lIns="91440" tIns="45720" rIns="91440" bIns="45720" anchor="ctr" anchorCtr="0">
            <a:noAutofit/>
          </a:bodyPr>
          <a:lstStyle/>
          <a:p>
            <a:pPr marL="457200" indent="-457200">
              <a:buClr>
                <a:srgbClr val="FFC000"/>
              </a:buClr>
              <a:buFont typeface="Wingdings" panose="05000000000000000000" pitchFamily="2" charset="2"/>
              <a:buChar char="p"/>
            </a:pPr>
            <a:r>
              <a:rPr lang="zh-CN" altLang="en-US" sz="2600" dirty="0"/>
              <a:t>系统为外存上所有空闲区建立一张空闲表，属于</a:t>
            </a:r>
            <a:r>
              <a:rPr lang="zh-CN" altLang="en-US" sz="2600" dirty="0">
                <a:solidFill>
                  <a:srgbClr val="FF0000"/>
                </a:solidFill>
              </a:rPr>
              <a:t>连续分配</a:t>
            </a:r>
            <a:r>
              <a:rPr lang="zh-CN" altLang="en-US" sz="2600" dirty="0"/>
              <a:t>方式</a:t>
            </a:r>
            <a:endParaRPr lang="zh-CN" altLang="en-US" sz="2600" dirty="0"/>
          </a:p>
        </p:txBody>
      </p:sp>
      <p:sp>
        <p:nvSpPr>
          <p:cNvPr id="9" name="文本框 8"/>
          <p:cNvSpPr txBox="1"/>
          <p:nvPr/>
        </p:nvSpPr>
        <p:spPr>
          <a:xfrm>
            <a:off x="669925" y="1855741"/>
            <a:ext cx="6720396" cy="461665"/>
          </a:xfrm>
          <a:prstGeom prst="rect">
            <a:avLst/>
          </a:prstGeom>
          <a:noFill/>
        </p:spPr>
        <p:txBody>
          <a:bodyPr wrap="square">
            <a:spAutoFit/>
          </a:bodyPr>
          <a:lstStyle/>
          <a:p>
            <a:pPr marL="342900" indent="-342900">
              <a:buClr>
                <a:srgbClr val="FFC000"/>
              </a:buClr>
              <a:buFont typeface="Wingdings" panose="05000000000000000000" pitchFamily="2" charset="2"/>
              <a:buChar char="p"/>
              <a:defRPr/>
            </a:pPr>
            <a:r>
              <a:rPr lang="zh-CN" altLang="en-US" sz="2400" dirty="0"/>
              <a:t>分配与回收</a:t>
            </a:r>
            <a:endParaRPr lang="zh-CN" altLang="en-US" sz="2400" dirty="0"/>
          </a:p>
        </p:txBody>
      </p:sp>
      <p:sp>
        <p:nvSpPr>
          <p:cNvPr id="26" name="内容占位符 2"/>
          <p:cNvSpPr txBox="1"/>
          <p:nvPr/>
        </p:nvSpPr>
        <p:spPr>
          <a:xfrm>
            <a:off x="1126528" y="2427248"/>
            <a:ext cx="10165867" cy="7065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分配</a:t>
            </a:r>
            <a:r>
              <a:rPr lang="zh-CN" altLang="en-US" sz="2400" dirty="0"/>
              <a:t>类似于内存的分区动态分配，如首次适应算法和最佳适应算法等</a:t>
            </a:r>
            <a:endParaRPr lang="zh-CN" altLang="en-US" sz="2400" dirty="0"/>
          </a:p>
        </p:txBody>
      </p:sp>
      <p:sp>
        <p:nvSpPr>
          <p:cNvPr id="28" name="内容占位符 2"/>
          <p:cNvSpPr txBox="1"/>
          <p:nvPr/>
        </p:nvSpPr>
        <p:spPr>
          <a:xfrm>
            <a:off x="1126528" y="3056199"/>
            <a:ext cx="4978348" cy="7065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回收</a:t>
            </a:r>
            <a:r>
              <a:rPr lang="zh-CN" altLang="en-US" sz="2400" dirty="0"/>
              <a:t>时，也类似于内存回收方法</a:t>
            </a:r>
            <a:endParaRPr lang="zh-CN" altLang="en-US" sz="2400"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6000" y="3913351"/>
            <a:ext cx="9866842" cy="1973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空闲链表法</a:t>
            </a:r>
            <a:endParaRPr lang="zh-CN" altLang="en-US" sz="2800" b="1" dirty="0">
              <a:solidFill>
                <a:schemeClr val="bg1"/>
              </a:solidFill>
            </a:endParaRPr>
          </a:p>
        </p:txBody>
      </p:sp>
      <p:sp>
        <p:nvSpPr>
          <p:cNvPr id="13" name="内容占位符 2"/>
          <p:cNvSpPr txBox="1"/>
          <p:nvPr/>
        </p:nvSpPr>
        <p:spPr>
          <a:xfrm>
            <a:off x="810702" y="1861374"/>
            <a:ext cx="3644623" cy="9773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以盘块为单位链接起来</a:t>
            </a:r>
            <a:endParaRPr lang="zh-CN" altLang="en-US" sz="2400" dirty="0"/>
          </a:p>
          <a:p>
            <a:pPr>
              <a:buClr>
                <a:srgbClr val="FF0000"/>
              </a:buClr>
              <a:buFont typeface="Wingdings" panose="05000000000000000000" pitchFamily="2" charset="2"/>
              <a:buChar char="Ø"/>
            </a:pPr>
            <a:r>
              <a:rPr lang="zh-CN" altLang="en-US" sz="2400" dirty="0"/>
              <a:t>优点：分配和回收简单</a:t>
            </a:r>
            <a:endParaRPr lang="zh-CN" altLang="en-US" sz="2400" dirty="0"/>
          </a:p>
        </p:txBody>
      </p:sp>
      <p:sp>
        <p:nvSpPr>
          <p:cNvPr id="35" name="内容占位符 2"/>
          <p:cNvSpPr txBox="1"/>
          <p:nvPr/>
        </p:nvSpPr>
        <p:spPr>
          <a:xfrm>
            <a:off x="810702" y="3568960"/>
            <a:ext cx="5666994" cy="3245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3000"/>
              </a:lnSpc>
              <a:spcBef>
                <a:spcPts val="600"/>
              </a:spcBef>
              <a:buClr>
                <a:srgbClr val="FF0000"/>
              </a:buClr>
              <a:buFont typeface="Wingdings" panose="05000000000000000000" pitchFamily="2" charset="2"/>
              <a:buChar char="Ø"/>
            </a:pPr>
            <a:r>
              <a:rPr lang="zh-CN" altLang="en-US" sz="2400" dirty="0"/>
              <a:t>将所有空闲盘区（每个盘区可包含若干个盘块）链接起来</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分配盘区的方法与内存分区的动态分配方法类似</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优点：效率较高</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缺点：分配和回收比较复杂</a:t>
            </a:r>
            <a:endParaRPr lang="zh-CN" altLang="en-US" sz="2400" dirty="0"/>
          </a:p>
        </p:txBody>
      </p:sp>
      <p:sp>
        <p:nvSpPr>
          <p:cNvPr id="36" name="矩形: 圆角 35"/>
          <p:cNvSpPr/>
          <p:nvPr/>
        </p:nvSpPr>
        <p:spPr>
          <a:xfrm>
            <a:off x="810702" y="1092055"/>
            <a:ext cx="19502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空闲</a:t>
            </a:r>
            <a:r>
              <a:rPr lang="zh-CN" altLang="en-US" sz="2400" dirty="0">
                <a:solidFill>
                  <a:srgbClr val="FF0000"/>
                </a:solidFill>
              </a:rPr>
              <a:t>盘块</a:t>
            </a:r>
            <a:r>
              <a:rPr lang="zh-CN" altLang="en-US" sz="2400" dirty="0"/>
              <a:t>链</a:t>
            </a:r>
            <a:endParaRPr lang="zh-CN" altLang="en-US" sz="2400" dirty="0"/>
          </a:p>
        </p:txBody>
      </p:sp>
      <p:sp>
        <p:nvSpPr>
          <p:cNvPr id="37" name="矩形: 圆角 36"/>
          <p:cNvSpPr/>
          <p:nvPr/>
        </p:nvSpPr>
        <p:spPr>
          <a:xfrm>
            <a:off x="817074" y="2895300"/>
            <a:ext cx="19502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空闲</a:t>
            </a:r>
            <a:r>
              <a:rPr lang="zh-CN" altLang="en-US" sz="2400" dirty="0">
                <a:solidFill>
                  <a:srgbClr val="FF0000"/>
                </a:solidFill>
              </a:rPr>
              <a:t>盘区</a:t>
            </a:r>
            <a:r>
              <a:rPr lang="zh-CN" altLang="en-US" sz="2400" dirty="0"/>
              <a:t>链</a:t>
            </a:r>
            <a:endParaRPr lang="zh-CN" altLang="en-US" sz="2400" dirty="0"/>
          </a:p>
        </p:txBody>
      </p:sp>
      <p:sp>
        <p:nvSpPr>
          <p:cNvPr id="38" name="内容占位符 2"/>
          <p:cNvSpPr txBox="1"/>
          <p:nvPr/>
        </p:nvSpPr>
        <p:spPr>
          <a:xfrm>
            <a:off x="4455326" y="1861374"/>
            <a:ext cx="2620178"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缺点：效率较低</a:t>
            </a:r>
            <a:endParaRPr lang="zh-CN" altLang="en-US" sz="2400" dirty="0"/>
          </a:p>
        </p:txBody>
      </p:sp>
      <p:pic>
        <p:nvPicPr>
          <p:cNvPr id="39" name="Picture 4"/>
          <p:cNvPicPr>
            <a:picLocks noChangeAspect="1" noChangeArrowheads="1"/>
          </p:cNvPicPr>
          <p:nvPr/>
        </p:nvPicPr>
        <p:blipFill>
          <a:blip r:embed="rId1">
            <a:extLst>
              <a:ext uri="{28A0092B-C50C-407E-A947-70E740481C1C}">
                <a14:useLocalDpi xmlns:a14="http://schemas.microsoft.com/office/drawing/2010/main" val="0"/>
              </a:ext>
            </a:extLst>
          </a:blip>
          <a:srcRect l="18443" t="648" r="18672" b="1299"/>
          <a:stretch>
            <a:fillRect/>
          </a:stretch>
        </p:blipFill>
        <p:spPr bwMode="auto">
          <a:xfrm>
            <a:off x="7459154" y="1207468"/>
            <a:ext cx="4250208" cy="4970546"/>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位示图法</a:t>
            </a:r>
            <a:endParaRPr lang="zh-CN" altLang="en-US" sz="2800" b="1" dirty="0">
              <a:solidFill>
                <a:schemeClr val="bg1"/>
              </a:solidFill>
            </a:endParaRPr>
          </a:p>
        </p:txBody>
      </p:sp>
      <p:sp>
        <p:nvSpPr>
          <p:cNvPr id="225" name="íšḻíḑê"/>
          <p:cNvSpPr/>
          <p:nvPr/>
        </p:nvSpPr>
        <p:spPr>
          <a:xfrm>
            <a:off x="740983" y="1080226"/>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位示图</a:t>
            </a:r>
            <a:endParaRPr lang="zh-CN" altLang="en-US" sz="2400" dirty="0"/>
          </a:p>
        </p:txBody>
      </p:sp>
      <p:sp>
        <p:nvSpPr>
          <p:cNvPr id="15" name="内容占位符 2"/>
          <p:cNvSpPr txBox="1"/>
          <p:nvPr/>
        </p:nvSpPr>
        <p:spPr>
          <a:xfrm>
            <a:off x="306361" y="1530882"/>
            <a:ext cx="10506640" cy="27303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3000"/>
              </a:lnSpc>
              <a:spcBef>
                <a:spcPts val="0"/>
              </a:spcBef>
              <a:buClr>
                <a:srgbClr val="FF0000"/>
              </a:buClr>
              <a:buFont typeface="Wingdings" panose="05000000000000000000" pitchFamily="2" charset="2"/>
              <a:buChar char="Ø"/>
            </a:pPr>
            <a:r>
              <a:rPr lang="zh-CN" altLang="en-US" sz="2400" dirty="0">
                <a:sym typeface="Wingdings" panose="05000000000000000000" pitchFamily="2" charset="2"/>
              </a:rPr>
              <a:t>利用二进制的一位来表示磁盘中一个盘块的使用情况</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0</a:t>
            </a:r>
            <a:r>
              <a:rPr lang="zh-CN" altLang="en-US" sz="2400" dirty="0">
                <a:sym typeface="Wingdings" panose="05000000000000000000" pitchFamily="2" charset="2"/>
              </a:rPr>
              <a:t>时，表示对应的盘块空闲</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1</a:t>
            </a:r>
            <a:r>
              <a:rPr lang="zh-CN" altLang="en-US" sz="2400" dirty="0">
                <a:sym typeface="Wingdings" panose="05000000000000000000" pitchFamily="2" charset="2"/>
              </a:rPr>
              <a:t>时，表示已分配</a:t>
            </a:r>
            <a:endParaRPr lang="zh-CN" altLang="en-US" sz="2400" dirty="0">
              <a:sym typeface="Wingdings" panose="05000000000000000000" pitchFamily="2" charset="2"/>
            </a:endParaRPr>
          </a:p>
          <a:p>
            <a:pPr lvl="1">
              <a:lnSpc>
                <a:spcPct val="123000"/>
              </a:lnSpc>
              <a:spcBef>
                <a:spcPts val="0"/>
              </a:spcBef>
              <a:buClr>
                <a:srgbClr val="FF0000"/>
              </a:buClr>
              <a:buFont typeface="Wingdings" panose="05000000000000000000" pitchFamily="2" charset="2"/>
              <a:buChar char="Ø"/>
            </a:pPr>
            <a:r>
              <a:rPr lang="zh-CN" altLang="en-US" sz="2400" dirty="0">
                <a:solidFill>
                  <a:srgbClr val="0000FF"/>
                </a:solidFill>
                <a:sym typeface="Wingdings" panose="05000000000000000000" pitchFamily="2" charset="2"/>
              </a:rPr>
              <a:t>磁盘上的所有盘块都有一个二进制位与之对应，这样，由所有盘块所对应的位构成一个集合</a:t>
            </a:r>
            <a:r>
              <a:rPr lang="zh-CN" altLang="en-US" sz="2400" dirty="0">
                <a:sym typeface="Wingdings" panose="05000000000000000000" pitchFamily="2" charset="2"/>
              </a:rPr>
              <a:t>，称为</a:t>
            </a:r>
            <a:r>
              <a:rPr lang="zh-CN" altLang="en-US" sz="2400" dirty="0">
                <a:solidFill>
                  <a:srgbClr val="FF0000"/>
                </a:solidFill>
                <a:sym typeface="Wingdings" panose="05000000000000000000" pitchFamily="2" charset="2"/>
              </a:rPr>
              <a:t>位示图</a:t>
            </a:r>
            <a:endParaRPr lang="zh-CN" altLang="en-US" sz="2400" dirty="0">
              <a:solidFill>
                <a:srgbClr val="FF0000"/>
              </a:solidFill>
              <a:sym typeface="Wingdings" panose="05000000000000000000" pitchFamily="2" charset="2"/>
            </a:endParaRPr>
          </a:p>
        </p:txBody>
      </p:sp>
      <p:pic>
        <p:nvPicPr>
          <p:cNvPr id="16" name="图片 15"/>
          <p:cNvPicPr>
            <a:picLocks noChangeAspect="1"/>
          </p:cNvPicPr>
          <p:nvPr/>
        </p:nvPicPr>
        <p:blipFill>
          <a:blip r:embed="rId1">
            <a:clrChange>
              <a:clrFrom>
                <a:srgbClr val="FFFFFF"/>
              </a:clrFrom>
              <a:clrTo>
                <a:srgbClr val="FFFFFF">
                  <a:alpha val="0"/>
                </a:srgbClr>
              </a:clrTo>
            </a:clrChange>
          </a:blip>
          <a:stretch>
            <a:fillRect/>
          </a:stretch>
        </p:blipFill>
        <p:spPr>
          <a:xfrm>
            <a:off x="946706" y="3888941"/>
            <a:ext cx="10298588" cy="2325427"/>
          </a:xfrm>
          <a:prstGeom prst="rect">
            <a:avLst/>
          </a:prstGeom>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76910" y="1488440"/>
            <a:ext cx="10653395" cy="953135"/>
          </a:xfrm>
          <a:prstGeom prst="rect">
            <a:avLst/>
          </a:prstGeom>
        </p:spPr>
        <p:txBody>
          <a:bodyPr wrap="square">
            <a:spAutoFit/>
          </a:bodyPr>
          <a:p>
            <a:pPr marL="0" indent="0"/>
            <a:r>
              <a:rPr lang="zh-CN" altLang="en-US" sz="2800" b="0" i="0">
                <a:solidFill>
                  <a:srgbClr val="000000"/>
                </a:solidFill>
                <a:latin typeface="黑体" panose="02010609060101010101" charset="-122"/>
                <a:ea typeface="黑体" panose="02010609060101010101" charset="-122"/>
                <a:cs typeface="黑体" panose="02010609060101010101" charset="-122"/>
              </a:rPr>
              <a:t>若用</a:t>
            </a:r>
            <a:r>
              <a:rPr lang="en-US" altLang="zh-CN" sz="2800" b="0" i="0">
                <a:solidFill>
                  <a:srgbClr val="000000"/>
                </a:solidFill>
                <a:latin typeface="黑体" panose="02010609060101010101" charset="-122"/>
                <a:ea typeface="黑体" panose="02010609060101010101" charset="-122"/>
                <a:cs typeface="黑体" panose="02010609060101010101" charset="-122"/>
              </a:rPr>
              <a:t>8</a:t>
            </a:r>
            <a:r>
              <a:rPr lang="zh-CN" altLang="en-US" sz="2800" b="0" i="0">
                <a:solidFill>
                  <a:srgbClr val="000000"/>
                </a:solidFill>
                <a:latin typeface="黑体" panose="02010609060101010101" charset="-122"/>
                <a:ea typeface="黑体" panose="02010609060101010101" charset="-122"/>
                <a:cs typeface="黑体" panose="02010609060101010101" charset="-122"/>
              </a:rPr>
              <a:t>个字（字长</a:t>
            </a:r>
            <a:r>
              <a:rPr lang="en-US" altLang="zh-CN" sz="2800" b="0" i="0">
                <a:solidFill>
                  <a:srgbClr val="000000"/>
                </a:solidFill>
                <a:latin typeface="黑体" panose="02010609060101010101" charset="-122"/>
                <a:ea typeface="黑体" panose="02010609060101010101" charset="-122"/>
                <a:cs typeface="黑体" panose="02010609060101010101" charset="-122"/>
              </a:rPr>
              <a:t>32</a:t>
            </a:r>
            <a:r>
              <a:rPr lang="zh-CN" altLang="en-US" sz="2800" b="0" i="0">
                <a:solidFill>
                  <a:srgbClr val="000000"/>
                </a:solidFill>
                <a:latin typeface="黑体" panose="02010609060101010101" charset="-122"/>
                <a:ea typeface="黑体" panose="02010609060101010101" charset="-122"/>
                <a:cs typeface="黑体" panose="02010609060101010101" charset="-122"/>
              </a:rPr>
              <a:t>位）组成的位示图管理内存，假定用户归还一个块号为</a:t>
            </a:r>
            <a:r>
              <a:rPr lang="en-US" altLang="zh-CN" sz="2800" b="0" i="0">
                <a:solidFill>
                  <a:srgbClr val="000000"/>
                </a:solidFill>
                <a:latin typeface="黑体" panose="02010609060101010101" charset="-122"/>
                <a:ea typeface="黑体" panose="02010609060101010101" charset="-122"/>
                <a:cs typeface="黑体" panose="02010609060101010101" charset="-122"/>
              </a:rPr>
              <a:t>100</a:t>
            </a:r>
            <a:r>
              <a:rPr lang="zh-CN" altLang="en-US" sz="2800" b="0" i="0">
                <a:solidFill>
                  <a:srgbClr val="000000"/>
                </a:solidFill>
                <a:latin typeface="黑体" panose="02010609060101010101" charset="-122"/>
                <a:ea typeface="黑体" panose="02010609060101010101" charset="-122"/>
                <a:cs typeface="黑体" panose="02010609060101010101" charset="-122"/>
              </a:rPr>
              <a:t>的内存块时，它对应位示图的位置为（）。</a:t>
            </a:r>
            <a:endParaRPr lang="zh-CN" altLang="en-US" sz="2800" b="0" i="0">
              <a:solidFill>
                <a:srgbClr val="000000"/>
              </a:solidFill>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979170" y="2762885"/>
            <a:ext cx="8960485" cy="953135"/>
          </a:xfrm>
          <a:prstGeom prst="rect">
            <a:avLst/>
          </a:prstGeom>
          <a:noFill/>
        </p:spPr>
        <p:txBody>
          <a:bodyPr wrap="square" rtlCol="0" anchor="t">
            <a:spAutoFit/>
          </a:bodyPr>
          <a:p>
            <a:r>
              <a:rPr lang="en-US" altLang="zh-CN" sz="2800">
                <a:latin typeface="黑体" panose="02010609060101010101" charset="-122"/>
                <a:ea typeface="黑体" panose="02010609060101010101" charset="-122"/>
                <a:cs typeface="黑体" panose="02010609060101010101" charset="-122"/>
              </a:rPr>
              <a:t>A.</a:t>
            </a:r>
            <a:r>
              <a:rPr lang="zh-CN" altLang="en-US" sz="2800">
                <a:latin typeface="黑体" panose="02010609060101010101" charset="-122"/>
                <a:ea typeface="黑体" panose="02010609060101010101" charset="-122"/>
                <a:cs typeface="黑体" panose="02010609060101010101" charset="-122"/>
              </a:rPr>
              <a:t>字号为</a:t>
            </a:r>
            <a:r>
              <a:rPr lang="en-US" altLang="zh-CN" sz="2800">
                <a:latin typeface="黑体" panose="02010609060101010101" charset="-122"/>
                <a:ea typeface="黑体" panose="02010609060101010101" charset="-122"/>
                <a:cs typeface="黑体" panose="02010609060101010101" charset="-122"/>
              </a:rPr>
              <a:t>3</a:t>
            </a:r>
            <a:r>
              <a:rPr lang="zh-CN" altLang="en-US" sz="2800">
                <a:latin typeface="黑体" panose="02010609060101010101" charset="-122"/>
                <a:ea typeface="黑体" panose="02010609060101010101" charset="-122"/>
                <a:cs typeface="黑体" panose="02010609060101010101" charset="-122"/>
              </a:rPr>
              <a:t>，位号为</a:t>
            </a:r>
            <a:r>
              <a:rPr lang="en-US" altLang="zh-CN" sz="2800">
                <a:latin typeface="黑体" panose="02010609060101010101" charset="-122"/>
                <a:ea typeface="黑体" panose="02010609060101010101" charset="-122"/>
                <a:cs typeface="黑体" panose="02010609060101010101" charset="-122"/>
              </a:rPr>
              <a:t>5    B.</a:t>
            </a:r>
            <a:r>
              <a:rPr lang="zh-CN" altLang="en-US" sz="2800">
                <a:latin typeface="黑体" panose="02010609060101010101" charset="-122"/>
                <a:ea typeface="黑体" panose="02010609060101010101" charset="-122"/>
                <a:cs typeface="黑体" panose="02010609060101010101" charset="-122"/>
              </a:rPr>
              <a:t>字号为</a:t>
            </a:r>
            <a:r>
              <a:rPr lang="en-US" altLang="zh-CN" sz="2800">
                <a:latin typeface="黑体" panose="02010609060101010101" charset="-122"/>
                <a:ea typeface="黑体" panose="02010609060101010101" charset="-122"/>
                <a:cs typeface="黑体" panose="02010609060101010101" charset="-122"/>
              </a:rPr>
              <a:t>4</a:t>
            </a:r>
            <a:r>
              <a:rPr lang="zh-CN" altLang="en-US" sz="2800">
                <a:latin typeface="黑体" panose="02010609060101010101" charset="-122"/>
                <a:ea typeface="黑体" panose="02010609060101010101" charset="-122"/>
                <a:cs typeface="黑体" panose="02010609060101010101" charset="-122"/>
              </a:rPr>
              <a:t>，位号为</a:t>
            </a:r>
            <a:r>
              <a:rPr lang="en-US" altLang="zh-CN" sz="2800">
                <a:latin typeface="黑体" panose="02010609060101010101" charset="-122"/>
                <a:ea typeface="黑体" panose="02010609060101010101" charset="-122"/>
                <a:cs typeface="黑体" panose="02010609060101010101" charset="-122"/>
              </a:rPr>
              <a:t>4</a:t>
            </a:r>
            <a:endParaRPr lang="en-US" altLang="zh-CN" sz="2800">
              <a:latin typeface="黑体" panose="02010609060101010101" charset="-122"/>
              <a:ea typeface="黑体" panose="02010609060101010101" charset="-122"/>
              <a:cs typeface="黑体" panose="02010609060101010101" charset="-122"/>
            </a:endParaRPr>
          </a:p>
          <a:p>
            <a:r>
              <a:rPr lang="en-US" altLang="zh-CN" sz="2800">
                <a:latin typeface="黑体" panose="02010609060101010101" charset="-122"/>
                <a:ea typeface="黑体" panose="02010609060101010101" charset="-122"/>
                <a:cs typeface="黑体" panose="02010609060101010101" charset="-122"/>
              </a:rPr>
              <a:t>C.</a:t>
            </a:r>
            <a:r>
              <a:rPr lang="zh-CN" altLang="en-US" sz="2800">
                <a:latin typeface="黑体" panose="02010609060101010101" charset="-122"/>
                <a:ea typeface="黑体" panose="02010609060101010101" charset="-122"/>
                <a:cs typeface="黑体" panose="02010609060101010101" charset="-122"/>
              </a:rPr>
              <a:t>字号为</a:t>
            </a:r>
            <a:r>
              <a:rPr lang="en-US" altLang="zh-CN" sz="2800">
                <a:latin typeface="黑体" panose="02010609060101010101" charset="-122"/>
                <a:ea typeface="黑体" panose="02010609060101010101" charset="-122"/>
                <a:cs typeface="黑体" panose="02010609060101010101" charset="-122"/>
              </a:rPr>
              <a:t>3</a:t>
            </a:r>
            <a:r>
              <a:rPr lang="zh-CN" altLang="en-US" sz="2800">
                <a:latin typeface="黑体" panose="02010609060101010101" charset="-122"/>
                <a:ea typeface="黑体" panose="02010609060101010101" charset="-122"/>
                <a:cs typeface="黑体" panose="02010609060101010101" charset="-122"/>
              </a:rPr>
              <a:t>，位号为</a:t>
            </a:r>
            <a:r>
              <a:rPr lang="en-US" altLang="zh-CN" sz="2800">
                <a:latin typeface="黑体" panose="02010609060101010101" charset="-122"/>
                <a:ea typeface="黑体" panose="02010609060101010101" charset="-122"/>
                <a:cs typeface="黑体" panose="02010609060101010101" charset="-122"/>
              </a:rPr>
              <a:t>4    D.</a:t>
            </a:r>
            <a:r>
              <a:rPr lang="zh-CN" altLang="en-US" sz="2800">
                <a:latin typeface="黑体" panose="02010609060101010101" charset="-122"/>
                <a:ea typeface="黑体" panose="02010609060101010101" charset="-122"/>
                <a:cs typeface="黑体" panose="02010609060101010101" charset="-122"/>
              </a:rPr>
              <a:t>字号为</a:t>
            </a:r>
            <a:r>
              <a:rPr lang="en-US" altLang="zh-CN" sz="2800">
                <a:latin typeface="黑体" panose="02010609060101010101" charset="-122"/>
                <a:ea typeface="黑体" panose="02010609060101010101" charset="-122"/>
                <a:cs typeface="黑体" panose="02010609060101010101" charset="-122"/>
              </a:rPr>
              <a:t>4</a:t>
            </a:r>
            <a:r>
              <a:rPr lang="zh-CN" altLang="en-US" sz="2800">
                <a:latin typeface="黑体" panose="02010609060101010101" charset="-122"/>
                <a:ea typeface="黑体" panose="02010609060101010101" charset="-122"/>
                <a:cs typeface="黑体" panose="02010609060101010101" charset="-122"/>
              </a:rPr>
              <a:t>，位号为</a:t>
            </a:r>
            <a:r>
              <a:rPr lang="en-US" altLang="zh-CN" sz="2800">
                <a:latin typeface="黑体" panose="02010609060101010101" charset="-122"/>
                <a:ea typeface="黑体" panose="02010609060101010101" charset="-122"/>
                <a:cs typeface="黑体" panose="02010609060101010101" charset="-122"/>
              </a:rPr>
              <a:t>5</a:t>
            </a:r>
            <a:endParaRPr lang="zh-CN" altLang="en-US" sz="280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1399540" y="4392930"/>
            <a:ext cx="6096000"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B</a:t>
            </a:r>
            <a:endParaRPr lang="en-US" altLang="zh-CN" sz="3200">
              <a:solidFill>
                <a:srgbClr val="FF0000"/>
              </a:solidFill>
              <a:sym typeface="+mn-ea"/>
            </a:endParaRPr>
          </a:p>
        </p:txBody>
      </p:sp>
      <p:sp>
        <p:nvSpPr>
          <p:cNvPr id="5" name="文本框 4"/>
          <p:cNvSpPr txBox="1"/>
          <p:nvPr/>
        </p:nvSpPr>
        <p:spPr>
          <a:xfrm>
            <a:off x="5139055" y="4669790"/>
            <a:ext cx="6096000" cy="583565"/>
          </a:xfrm>
          <a:prstGeom prst="rect">
            <a:avLst/>
          </a:prstGeom>
          <a:noFill/>
        </p:spPr>
        <p:txBody>
          <a:bodyPr wrap="square" rtlCol="0" anchor="t">
            <a:spAutoFit/>
          </a:bodyPr>
          <a:p>
            <a:r>
              <a:rPr lang="zh-CN" altLang="en-US" sz="3200">
                <a:solidFill>
                  <a:srgbClr val="FF0000"/>
                </a:solidFill>
                <a:sym typeface="+mn-ea"/>
              </a:rPr>
              <a:t>随堂练习</a:t>
            </a:r>
            <a:r>
              <a:rPr lang="en-US" altLang="zh-CN" sz="3200">
                <a:solidFill>
                  <a:srgbClr val="FF0000"/>
                </a:solidFill>
                <a:sym typeface="+mn-ea"/>
              </a:rPr>
              <a:t>——</a:t>
            </a:r>
            <a:r>
              <a:rPr lang="zh-CN" altLang="en-US" sz="3200">
                <a:solidFill>
                  <a:srgbClr val="FF0000"/>
                </a:solidFill>
                <a:sym typeface="+mn-ea"/>
              </a:rPr>
              <a:t>位图</a:t>
            </a:r>
            <a:r>
              <a:rPr lang="zh-CN" altLang="en-US" sz="3200">
                <a:solidFill>
                  <a:srgbClr val="FF0000"/>
                </a:solidFill>
                <a:sym typeface="+mn-ea"/>
              </a:rPr>
              <a:t>练习</a:t>
            </a:r>
            <a:endParaRPr lang="zh-CN" altLang="en-US"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 </a:t>
            </a:r>
            <a:r>
              <a:rPr lang="zh-CN" altLang="en-US" sz="2800" b="1" dirty="0">
                <a:solidFill>
                  <a:schemeClr val="bg1"/>
                </a:solidFill>
              </a:rPr>
              <a:t>成组链接法</a:t>
            </a:r>
            <a:endParaRPr lang="zh-CN" altLang="en-US" sz="2800" b="1" dirty="0">
              <a:solidFill>
                <a:schemeClr val="bg1"/>
              </a:solidFill>
            </a:endParaRPr>
          </a:p>
        </p:txBody>
      </p:sp>
      <p:sp>
        <p:nvSpPr>
          <p:cNvPr id="2" name="文本框 1"/>
          <p:cNvSpPr txBox="1"/>
          <p:nvPr/>
        </p:nvSpPr>
        <p:spPr>
          <a:xfrm>
            <a:off x="320675" y="982345"/>
            <a:ext cx="11393170" cy="3679825"/>
          </a:xfrm>
          <a:prstGeom prst="rect">
            <a:avLst/>
          </a:prstGeom>
          <a:noFill/>
        </p:spPr>
        <p:txBody>
          <a:bodyPr wrap="square" rtlCol="0" anchor="t">
            <a:noAutofit/>
          </a:bodyPr>
          <a:p>
            <a:pPr algn="l">
              <a:buClrTx/>
              <a:buSzTx/>
              <a:buFontTx/>
              <a:defRPr/>
            </a:pPr>
            <a:r>
              <a:rPr lang="zh-CN" altLang="en-US" sz="2400" dirty="0"/>
              <a:t>在UNIX系统中采用的是成组链接法，这种方法结合了空闲表和空闲链表两种方法，它具有上述两种方法的优点，克服了两种方法均有的表太长的缺点.</a:t>
            </a:r>
            <a:endParaRPr lang="zh-CN" altLang="en-US" sz="2400" dirty="0"/>
          </a:p>
          <a:p>
            <a:pPr algn="l">
              <a:buClrTx/>
              <a:buSzTx/>
              <a:buFontTx/>
              <a:defRPr/>
            </a:pPr>
            <a:endParaRPr lang="zh-CN" altLang="en-US" sz="2400" dirty="0"/>
          </a:p>
          <a:p>
            <a:pPr algn="l">
              <a:lnSpc>
                <a:spcPct val="150000"/>
              </a:lnSpc>
              <a:buClrTx/>
              <a:buSzTx/>
              <a:buFontTx/>
              <a:defRPr/>
            </a:pPr>
            <a:r>
              <a:rPr lang="zh-CN" altLang="en-US" sz="2400" dirty="0"/>
              <a:t>用来存放一组空闲盘块号（空闲盘块的块号）的盘块称为</a:t>
            </a:r>
            <a:r>
              <a:rPr lang="zh-CN" altLang="en-US" sz="2400" b="1" dirty="0"/>
              <a:t>成组链块</a:t>
            </a:r>
            <a:r>
              <a:rPr lang="zh-CN" altLang="en-US" sz="2400" dirty="0"/>
              <a:t>。</a:t>
            </a:r>
            <a:endParaRPr lang="zh-CN" altLang="en-US" sz="2400" dirty="0"/>
          </a:p>
          <a:p>
            <a:pPr algn="l">
              <a:lnSpc>
                <a:spcPct val="150000"/>
              </a:lnSpc>
              <a:buClrTx/>
              <a:buSzTx/>
              <a:buFontTx/>
              <a:defRPr/>
            </a:pPr>
            <a:r>
              <a:rPr lang="zh-CN" altLang="en-US" sz="2400" dirty="0"/>
              <a:t>把顺序的n个空闲盘块号保存在第一个成组链块中，其</a:t>
            </a:r>
            <a:r>
              <a:rPr lang="zh-CN" altLang="en-US" sz="2400" b="1" dirty="0"/>
              <a:t>最后一个空闲盘</a:t>
            </a:r>
            <a:r>
              <a:rPr lang="zh-CN" altLang="en-US" sz="2400" dirty="0"/>
              <a:t>块则用于保存另一组空闲盘块号，如此继续，直至所有空闲盘块均予以链接。</a:t>
            </a:r>
            <a:endParaRPr lang="zh-CN" altLang="en-US" sz="2400" dirty="0"/>
          </a:p>
          <a:p>
            <a:pPr algn="l">
              <a:lnSpc>
                <a:spcPct val="150000"/>
              </a:lnSpc>
              <a:buClrTx/>
              <a:buSzTx/>
              <a:buFontTx/>
              <a:defRPr/>
            </a:pPr>
            <a:r>
              <a:rPr lang="zh-CN" altLang="en-US" sz="2400" dirty="0"/>
              <a:t>系统只需保存指向第一个成组链块的指针。</a:t>
            </a:r>
            <a:endParaRPr lang="zh-CN" altLang="en-US" sz="2400" dirty="0"/>
          </a:p>
          <a:p>
            <a:pPr algn="l">
              <a:lnSpc>
                <a:spcPct val="150000"/>
              </a:lnSpc>
              <a:buClrTx/>
              <a:buSzTx/>
              <a:buFontTx/>
              <a:defRPr/>
            </a:pPr>
            <a:endParaRPr lang="zh-CN" alt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lum bright="36000" contrast="24000"/>
          </a:blip>
          <a:stretch>
            <a:fillRect/>
          </a:stretch>
        </p:blipFill>
        <p:spPr>
          <a:xfrm>
            <a:off x="2152015" y="1486535"/>
            <a:ext cx="6541135" cy="5033010"/>
          </a:xfrm>
          <a:prstGeom prst="rect">
            <a:avLst/>
          </a:prstGeom>
        </p:spPr>
      </p:pic>
      <p:sp>
        <p:nvSpPr>
          <p:cNvPr id="3" name="文本框 2"/>
          <p:cNvSpPr txBox="1"/>
          <p:nvPr/>
        </p:nvSpPr>
        <p:spPr>
          <a:xfrm>
            <a:off x="852805" y="984250"/>
            <a:ext cx="9883140" cy="645160"/>
          </a:xfrm>
          <a:prstGeom prst="rect">
            <a:avLst/>
          </a:prstGeom>
          <a:noFill/>
        </p:spPr>
        <p:txBody>
          <a:bodyPr wrap="square" rtlCol="0" anchor="t">
            <a:spAutoFit/>
          </a:bodyPr>
          <a:p>
            <a:pPr algn="l">
              <a:lnSpc>
                <a:spcPct val="150000"/>
              </a:lnSpc>
              <a:buClrTx/>
              <a:buSzTx/>
              <a:buFontTx/>
              <a:defRPr/>
            </a:pPr>
            <a:r>
              <a:rPr lang="zh-CN" altLang="en-US" sz="2400" dirty="0">
                <a:sym typeface="+mn-ea"/>
              </a:rPr>
              <a:t>假设磁盘最初全为空闲盘块，其成组链接如图所示。</a:t>
            </a:r>
            <a:endParaRPr lang="zh-CN" altLang="en-US" sz="2400" dirty="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6" name="think-cell Slide" r:id="rId2" imgW="9525" imgH="9525" progId="TCLayout.ActiveDocument.1">
                  <p:embed/>
                </p:oleObj>
              </mc:Choice>
              <mc:Fallback>
                <p:oleObj name="think-cell Slide" r:id="rId2" imgW="9525" imgH="9525" progId="TCLayout.ActiveDocument.1">
                  <p:embed/>
                  <p:pic>
                    <p:nvPicPr>
                      <p:cNvPr id="0" name="对象 2"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4742091" y="2077986"/>
            <a:ext cx="6536871" cy="2390427"/>
          </a:xfrm>
        </p:spPr>
        <p:txBody>
          <a:bodyPr>
            <a:normAutofit/>
          </a:bodyPr>
          <a:lstStyle/>
          <a:p>
            <a:r>
              <a:rPr lang="zh-CN" altLang="en-US" sz="6600" dirty="0"/>
              <a:t>学 习 进 步 ！</a:t>
            </a:r>
            <a:endParaRPr lang="zh-CN" altLang="en-US" sz="4000" dirty="0"/>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5"/>
          <a:stretch>
            <a:fillRect/>
          </a:stretch>
        </p:blipFill>
        <p:spPr>
          <a:xfrm>
            <a:off x="1673475" y="2592475"/>
            <a:ext cx="2508000" cy="3554241"/>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A6S0wzOvQ8a50SA42PUNRg"/>
</p:tagLst>
</file>

<file path=ppt/tags/tag3.xml><?xml version="1.0" encoding="utf-8"?>
<p:tagLst xmlns:p="http://schemas.openxmlformats.org/presentationml/2006/main">
  <p:tag name="KSO_WM_UNIT_TABLE_BEAUTIFY" val="smartTable{cfbdb954-afb1-4b05-9de8-ccf9590046ad}"/>
</p:tagLst>
</file>

<file path=ppt/tags/tag4.xml><?xml version="1.0" encoding="utf-8"?>
<p:tagLst xmlns:p="http://schemas.openxmlformats.org/presentationml/2006/main">
  <p:tag name="KSO_WM_UNIT_TABLE_BEAUTIFY" val="smartTable{42d4fdd7-c1d9-4a94-9f04-03e109b50901}"/>
</p:tagLst>
</file>

<file path=ppt/tags/tag5.xml><?xml version="1.0" encoding="utf-8"?>
<p:tagLst xmlns:p="http://schemas.openxmlformats.org/presentationml/2006/main">
  <p:tag name="ISLIDE.DIAGRAM" val="185926"/>
</p:tagLst>
</file>

<file path=ppt/tags/tag6.xml><?xml version="1.0" encoding="utf-8"?>
<p:tagLst xmlns:p="http://schemas.openxmlformats.org/presentationml/2006/main">
  <p:tag name="ISLIDE.DIAGRAM" val="224405"/>
</p:tagLst>
</file>

<file path=ppt/tags/tag7.xml><?xml version="1.0" encoding="utf-8"?>
<p:tagLst xmlns:p="http://schemas.openxmlformats.org/presentationml/2006/main">
  <p:tag name="ISLIDE.DIAGRAM" val="217641"/>
  <p:tag name="KSO_WM_DIAGRAM_VIRTUALLY_FRAME" val="{&quot;height&quot;:235.4609448818898,&quot;left&quot;:46.69503937007874,&quot;top&quot;:208.22086614173227,&quot;width&quot;:879.1924409448818}"/>
</p:tagLst>
</file>

<file path=ppt/tags/tag8.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9.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0.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1.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2.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3.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4.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5.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6.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7.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8.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19.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20.xml><?xml version="1.0" encoding="utf-8"?>
<p:tagLst xmlns:p="http://schemas.openxmlformats.org/presentationml/2006/main">
  <p:tag name="KSO_WM_DIAGRAM_VIRTUALLY_FRAME" val="{&quot;height&quot;:235.4609448818898,&quot;left&quot;:46.69503937007874,&quot;top&quot;:208.22086614173227,&quot;width&quot;:879.1924409448818}"/>
</p:tagLst>
</file>

<file path=ppt/tags/tag21.xml><?xml version="1.0" encoding="utf-8"?>
<p:tagLst xmlns:p="http://schemas.openxmlformats.org/presentationml/2006/main">
  <p:tag name="THINKCELLSHAPEDONOTDELETE" val="thinkcellActiveDocDoNotDelete"/>
</p:tagLst>
</file>

<file path=ppt/tags/tag22.xml><?xml version="1.0" encoding="utf-8"?>
<p:tagLst xmlns:p="http://schemas.openxmlformats.org/presentationml/2006/main">
  <p:tag name="THINKCELLSHAPEDONOTDELETE" val="t1Smkff3fSzGMOuItfjj3Fw"/>
</p:tagLst>
</file>

<file path=ppt/tags/tag23.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5978</Words>
  <Application>WPS 演示</Application>
  <PresentationFormat>自定义</PresentationFormat>
  <Paragraphs>708</Paragraphs>
  <Slides>60</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6" baseType="lpstr">
      <vt:lpstr>Arial</vt:lpstr>
      <vt:lpstr>宋体</vt:lpstr>
      <vt:lpstr>Wingdings</vt:lpstr>
      <vt:lpstr>微软雅黑</vt:lpstr>
      <vt:lpstr>微软雅黑 (正文)</vt:lpstr>
      <vt:lpstr>黑体</vt:lpstr>
      <vt:lpstr>华文楷体</vt:lpstr>
      <vt:lpstr>Wingdings 2</vt:lpstr>
      <vt:lpstr>Arial Unicode MS</vt:lpstr>
      <vt:lpstr>Calibri</vt:lpstr>
      <vt:lpstr>Monotype Sorts</vt:lpstr>
      <vt:lpstr>Wingdings</vt:lpstr>
      <vt:lpstr>Times New Roman</vt:lpstr>
      <vt:lpstr>主题5</vt:lpstr>
      <vt:lpstr>TCLayout.ActiveDocument.1</vt:lpstr>
      <vt:lpstr>TCLayout.ActiveDocument.1</vt:lpstr>
      <vt:lpstr>第8章 文件管理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解解</cp:lastModifiedBy>
  <cp:revision>272</cp:revision>
  <cp:lastPrinted>2019-04-18T16:00:00Z</cp:lastPrinted>
  <dcterms:created xsi:type="dcterms:W3CDTF">2019-04-18T16:00:00Z</dcterms:created>
  <dcterms:modified xsi:type="dcterms:W3CDTF">2025-12-30T12:38:48Z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246305EB49FA446BB55A03E5D0666094</vt:lpwstr>
  </property>
  <property fmtid="{D5CDD505-2E9C-101B-9397-08002B2CF9AE}" pid="4" name="KSOProductBuildVer">
    <vt:lpwstr>2052-12.1.0.24034</vt:lpwstr>
  </property>
</Properties>
</file>