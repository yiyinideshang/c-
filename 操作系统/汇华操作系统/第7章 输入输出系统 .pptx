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311" r:id="rId3"/>
    <p:sldId id="312" r:id="rId4"/>
    <p:sldId id="534" r:id="rId5"/>
    <p:sldId id="535" r:id="rId6"/>
    <p:sldId id="442" r:id="rId7"/>
    <p:sldId id="443" r:id="rId9"/>
    <p:sldId id="536" r:id="rId10"/>
    <p:sldId id="445" r:id="rId11"/>
    <p:sldId id="447" r:id="rId12"/>
    <p:sldId id="449" r:id="rId13"/>
    <p:sldId id="451" r:id="rId14"/>
    <p:sldId id="453" r:id="rId15"/>
    <p:sldId id="454" r:id="rId16"/>
    <p:sldId id="783" r:id="rId17"/>
    <p:sldId id="431" r:id="rId18"/>
    <p:sldId id="774" r:id="rId19"/>
    <p:sldId id="621" r:id="rId20"/>
    <p:sldId id="457" r:id="rId21"/>
    <p:sldId id="688" r:id="rId22"/>
    <p:sldId id="782" r:id="rId23"/>
    <p:sldId id="432" r:id="rId24"/>
    <p:sldId id="775" r:id="rId25"/>
    <p:sldId id="461" r:id="rId26"/>
    <p:sldId id="683" r:id="rId27"/>
    <p:sldId id="433" r:id="rId28"/>
    <p:sldId id="776" r:id="rId29"/>
    <p:sldId id="464" r:id="rId30"/>
    <p:sldId id="466" r:id="rId31"/>
    <p:sldId id="689" r:id="rId32"/>
    <p:sldId id="693" r:id="rId33"/>
    <p:sldId id="691" r:id="rId34"/>
    <p:sldId id="434" r:id="rId35"/>
    <p:sldId id="777" r:id="rId36"/>
    <p:sldId id="778" r:id="rId37"/>
    <p:sldId id="779" r:id="rId38"/>
    <p:sldId id="781" r:id="rId39"/>
    <p:sldId id="685" r:id="rId40"/>
    <p:sldId id="684" r:id="rId41"/>
    <p:sldId id="435" r:id="rId42"/>
    <p:sldId id="487" r:id="rId43"/>
    <p:sldId id="488" r:id="rId44"/>
    <p:sldId id="696" r:id="rId45"/>
    <p:sldId id="490" r:id="rId46"/>
    <p:sldId id="491" r:id="rId47"/>
    <p:sldId id="695" r:id="rId48"/>
    <p:sldId id="697" r:id="rId49"/>
    <p:sldId id="492" r:id="rId50"/>
    <p:sldId id="496" r:id="rId51"/>
    <p:sldId id="784" r:id="rId52"/>
    <p:sldId id="436" r:id="rId53"/>
    <p:sldId id="500" r:id="rId54"/>
    <p:sldId id="748" r:id="rId55"/>
    <p:sldId id="501" r:id="rId56"/>
    <p:sldId id="772" r:id="rId57"/>
    <p:sldId id="765" r:id="rId58"/>
    <p:sldId id="502" r:id="rId59"/>
    <p:sldId id="766" r:id="rId60"/>
    <p:sldId id="506" r:id="rId61"/>
    <p:sldId id="507" r:id="rId62"/>
    <p:sldId id="508" r:id="rId63"/>
    <p:sldId id="509" r:id="rId64"/>
    <p:sldId id="510" r:id="rId65"/>
    <p:sldId id="773" r:id="rId66"/>
    <p:sldId id="511" r:id="rId67"/>
    <p:sldId id="512" r:id="rId68"/>
    <p:sldId id="514" r:id="rId69"/>
    <p:sldId id="767" r:id="rId70"/>
    <p:sldId id="516" r:id="rId71"/>
    <p:sldId id="768" r:id="rId72"/>
    <p:sldId id="517" r:id="rId73"/>
    <p:sldId id="749" r:id="rId74"/>
    <p:sldId id="763" r:id="rId75"/>
    <p:sldId id="770" r:id="rId76"/>
    <p:sldId id="261" r:id="rId77"/>
  </p:sldIdLst>
  <p:sldSz cx="12192000" cy="6858000"/>
  <p:notesSz cx="6858000" cy="9144000"/>
  <p:custDataLst>
    <p:tags r:id="rId8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3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FF9933"/>
    <a:srgbClr val="06D24C"/>
    <a:srgbClr val="FFC000"/>
    <a:srgbClr val="C2C4C6"/>
    <a:srgbClr val="FFFF00"/>
    <a:srgbClr val="00005C"/>
    <a:srgbClr val="FFF700"/>
    <a:srgbClr val="035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6182" autoAdjust="0"/>
  </p:normalViewPr>
  <p:slideViewPr>
    <p:cSldViewPr snapToGrid="0" showGuides="1">
      <p:cViewPr>
        <p:scale>
          <a:sx n="75" d="100"/>
          <a:sy n="75" d="100"/>
        </p:scale>
        <p:origin x="-1776" y="-942"/>
      </p:cViewPr>
      <p:guideLst>
        <p:guide orient="horz" pos="2096"/>
        <p:guide pos="38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1" Type="http://schemas.openxmlformats.org/officeDocument/2006/relationships/tags" Target="tags/tag49.xml"/><Relationship Id="rId80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注意共享设备可以被分配给多个进程，这些进程可以交叉使用共享设备，但同一时刻只有一个进程能使用。</a:t>
            </a:r>
            <a:endParaRPr lang="zh-CN" altLang="en-US"/>
          </a:p>
          <a:p>
            <a:r>
              <a:rPr lang="zh-CN" altLang="en-US"/>
              <a:t>共享设备必须是可寻址和可随机访问的设备。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注意三个寄存器都是通过数据线进行传输的、状态寄存器和控制寄存器方向是相反的，在使用时间上是错开</a:t>
            </a:r>
            <a:r>
              <a:rPr lang="zh-CN" altLang="en-US"/>
              <a:t>的。</a:t>
            </a:r>
            <a:endParaRPr lang="zh-CN" altLang="en-US"/>
          </a:p>
          <a:p>
            <a:r>
              <a:rPr lang="zh-CN" altLang="en-US"/>
              <a:t>控制线</a:t>
            </a:r>
            <a:r>
              <a:rPr lang="zh-CN" altLang="en-US"/>
              <a:t>只传输读写</a:t>
            </a:r>
            <a:r>
              <a:rPr lang="zh-CN" altLang="en-US"/>
              <a:t>信号</a:t>
            </a:r>
            <a:endParaRPr lang="zh-CN" altLang="en-US"/>
          </a:p>
          <a:p>
            <a:r>
              <a:rPr lang="zh-CN" altLang="en-US"/>
              <a:t>地址线是用来选择不同</a:t>
            </a:r>
            <a:r>
              <a:rPr lang="zh-CN" altLang="en-US"/>
              <a:t>外设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端口号是</a:t>
            </a:r>
            <a:r>
              <a:rPr lang="en-US" altLang="zh-CN"/>
              <a:t>8</a:t>
            </a:r>
            <a:r>
              <a:rPr lang="zh-CN" altLang="en-US"/>
              <a:t>位或</a:t>
            </a:r>
            <a:r>
              <a:rPr lang="en-US" altLang="zh-CN"/>
              <a:t>16</a:t>
            </a:r>
            <a:r>
              <a:rPr lang="zh-CN" altLang="en-US"/>
              <a:t>位的整数，例如硬盘的端口号一般是</a:t>
            </a:r>
            <a:r>
              <a:rPr lang="en-US" altLang="zh-CN"/>
              <a:t>0X1f0</a:t>
            </a:r>
            <a:r>
              <a:rPr lang="zh-CN" altLang="en-US"/>
              <a:t>到</a:t>
            </a:r>
            <a:r>
              <a:rPr lang="en-US" altLang="zh-CN"/>
              <a:t>0X1f7</a:t>
            </a:r>
            <a:r>
              <a:rPr lang="zh-CN" altLang="en-US"/>
              <a:t>。计算机通过一些特殊的指令搭配这些端口号向</a:t>
            </a:r>
            <a:r>
              <a:rPr lang="en-US" altLang="zh-CN"/>
              <a:t>I/O</a:t>
            </a:r>
            <a:r>
              <a:rPr lang="zh-CN" altLang="en-US"/>
              <a:t>设备收发</a:t>
            </a:r>
            <a:r>
              <a:rPr lang="zh-CN" altLang="en-US"/>
              <a:t>数据。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+mn-ea"/>
                <a:sym typeface="+mn-ea"/>
              </a:rPr>
              <a:t>外围操作与</a:t>
            </a:r>
            <a:r>
              <a:rPr lang="en-US" altLang="zh-CN" dirty="0">
                <a:latin typeface="+mn-ea"/>
                <a:sym typeface="+mn-ea"/>
              </a:rPr>
              <a:t>CPU</a:t>
            </a:r>
            <a:r>
              <a:rPr lang="zh-CN" altLang="en-US" dirty="0">
                <a:latin typeface="+mn-ea"/>
                <a:sym typeface="+mn-ea"/>
              </a:rPr>
              <a:t>对数据的处理同时进行，这种在联机情况下实现的同时外围操作称为</a:t>
            </a:r>
            <a:r>
              <a:rPr lang="en-US" altLang="zh-CN" dirty="0" err="1">
                <a:latin typeface="+mn-ea"/>
                <a:sym typeface="+mn-ea"/>
              </a:rPr>
              <a:t>SPOOLing</a:t>
            </a:r>
            <a:r>
              <a:rPr lang="en-US" altLang="zh-CN" dirty="0">
                <a:latin typeface="+mn-ea"/>
                <a:sym typeface="+mn-ea"/>
              </a:rPr>
              <a:t> (Simultaneous Peripheral Operations On-Line)</a:t>
            </a:r>
            <a:r>
              <a:rPr lang="zh-CN" altLang="en-US" dirty="0">
                <a:latin typeface="+mn-ea"/>
                <a:sym typeface="+mn-ea"/>
              </a:rPr>
              <a:t>，或假脱机技术。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spooling</a:t>
            </a:r>
            <a:r>
              <a:rPr lang="zh-CN" altLang="en-US"/>
              <a:t>技术实现共享打印机过程</a:t>
            </a:r>
            <a:endParaRPr lang="zh-CN" altLang="en-US"/>
          </a:p>
          <a:p>
            <a:r>
              <a:rPr lang="zh-CN" altLang="en-US"/>
              <a:t>当用户进程请求打印时，</a:t>
            </a:r>
            <a:r>
              <a:rPr lang="en-US" altLang="zh-CN"/>
              <a:t>SPOOLing</a:t>
            </a:r>
            <a:r>
              <a:rPr lang="zh-CN" altLang="en-US"/>
              <a:t>系统同意为他打印，但并不真正把打印机分配给它，而是由输出进程在输出井中为之申请一空闲盘块区，将要打印的数据送入其中；</a:t>
            </a:r>
            <a:endParaRPr lang="zh-CN" altLang="en-US"/>
          </a:p>
          <a:p>
            <a:r>
              <a:rPr lang="zh-CN" altLang="en-US"/>
              <a:t>再为用户进程申请一张空白的用户请求打印表，将用户的打印要求填入其中，再将该表挂到请求打印队列上。如果还有进程要求打印输出，系统仍可接受该请求。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如果打印机空闲，输出进程将从请求打印队列的队首取出一张请求打印表，根据表中的要求将要打印的数据从输出井传送到内存缓冲区，再由打印机进行打印。</a:t>
            </a:r>
            <a:endParaRPr lang="zh-CN" altLang="en-US"/>
          </a:p>
          <a:p>
            <a:r>
              <a:rPr lang="zh-CN" altLang="en-US"/>
              <a:t>同样处理下一张请求打印表，直至请求队列为空，输出进程才将自己阻塞起来、直到下次再有打印请求被唤醒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其中</a:t>
            </a:r>
            <a:r>
              <a:rPr lang="en-US" altLang="zh-CN"/>
              <a:t>4</a:t>
            </a:r>
            <a:r>
              <a:rPr lang="zh-CN" altLang="en-US"/>
              <a:t>块时间：</a:t>
            </a:r>
            <a:r>
              <a:rPr lang="en-US" altLang="zh-CN"/>
              <a:t>Max(C,T)+M=Max(40,20)+35=75</a:t>
            </a:r>
            <a:endParaRPr lang="en-US" altLang="zh-CN"/>
          </a:p>
          <a:p>
            <a:r>
              <a:rPr lang="en-US" altLang="zh-CN"/>
              <a:t>75*4=300</a:t>
            </a:r>
            <a:endParaRPr lang="en-US" altLang="zh-CN"/>
          </a:p>
          <a:p>
            <a:r>
              <a:rPr lang="zh-CN" altLang="en-US"/>
              <a:t>单独</a:t>
            </a:r>
            <a:r>
              <a:rPr lang="en-US" altLang="zh-CN"/>
              <a:t>1</a:t>
            </a:r>
            <a:r>
              <a:rPr lang="zh-CN" altLang="en-US"/>
              <a:t>块时间为完整时间：</a:t>
            </a:r>
            <a:r>
              <a:rPr lang="en-US" altLang="zh-CN"/>
              <a:t>20+35+40=95</a:t>
            </a:r>
            <a:endParaRPr lang="en-US" altLang="zh-CN"/>
          </a:p>
          <a:p>
            <a:r>
              <a:rPr lang="zh-CN" altLang="en-US"/>
              <a:t>所以总时间为</a:t>
            </a:r>
            <a:r>
              <a:rPr lang="en-US" altLang="zh-CN"/>
              <a:t>395</a:t>
            </a:r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【解析】磁带中每个记录的长度为</a:t>
            </a:r>
            <a:r>
              <a:rPr lang="en-US" altLang="zh-CN"/>
              <a:t>50/100=0.5</a:t>
            </a:r>
            <a:r>
              <a:rPr lang="zh-CN" altLang="en-US"/>
              <a:t>英寸，因此存储</a:t>
            </a:r>
            <a:r>
              <a:rPr lang="en-US" altLang="zh-CN"/>
              <a:t>2000</a:t>
            </a:r>
            <a:r>
              <a:rPr lang="zh-CN" altLang="en-US"/>
              <a:t>条逻辑记录需要（</a:t>
            </a:r>
            <a:r>
              <a:rPr lang="en-US" altLang="zh-CN"/>
              <a:t>0.5+0.2)x2000=1400</a:t>
            </a:r>
            <a:r>
              <a:rPr lang="zh-CN" altLang="en-US"/>
              <a:t>英寸的磁带，磁带的利用率为</a:t>
            </a:r>
            <a:r>
              <a:rPr lang="en-US" altLang="zh-CN"/>
              <a:t>0.5/(0.5+0.2)=71.4%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注意如果该题换成计算题，计算过程要</a:t>
            </a:r>
            <a:r>
              <a:rPr lang="zh-CN" altLang="en-US"/>
              <a:t>写正确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）首先写出调度顺序：</a:t>
            </a:r>
            <a:r>
              <a:rPr lang="en-US" altLang="zh-CN"/>
              <a:t>102</a:t>
            </a:r>
            <a:r>
              <a:rPr lang="zh-CN" altLang="en-US"/>
              <a:t>、</a:t>
            </a:r>
            <a:r>
              <a:rPr lang="en-US" altLang="zh-CN"/>
              <a:t>136</a:t>
            </a:r>
            <a:r>
              <a:rPr lang="zh-CN" altLang="en-US"/>
              <a:t>、</a:t>
            </a:r>
            <a:r>
              <a:rPr lang="en-US" altLang="zh-CN"/>
              <a:t>140</a:t>
            </a:r>
            <a:r>
              <a:rPr lang="zh-CN" altLang="en-US"/>
              <a:t>、</a:t>
            </a:r>
            <a:r>
              <a:rPr lang="en-US" altLang="zh-CN"/>
              <a:t>194</a:t>
            </a:r>
            <a:r>
              <a:rPr lang="zh-CN" altLang="en-US"/>
              <a:t>、</a:t>
            </a:r>
            <a:r>
              <a:rPr lang="en-US" altLang="zh-CN"/>
              <a:t>67</a:t>
            </a:r>
            <a:r>
              <a:rPr lang="zh-CN" altLang="en-US"/>
              <a:t>、</a:t>
            </a:r>
            <a:r>
              <a:rPr lang="en-US" altLang="zh-CN"/>
              <a:t>59</a:t>
            </a:r>
            <a:r>
              <a:rPr lang="zh-CN" altLang="en-US"/>
              <a:t>、</a:t>
            </a:r>
            <a:r>
              <a:rPr lang="en-US" altLang="zh-CN"/>
              <a:t>56</a:t>
            </a:r>
            <a:r>
              <a:rPr lang="zh-CN" altLang="en-US"/>
              <a:t>、</a:t>
            </a:r>
            <a:r>
              <a:rPr lang="en-US" altLang="zh-CN"/>
              <a:t>51</a:t>
            </a:r>
            <a:r>
              <a:rPr lang="zh-CN" altLang="en-US"/>
              <a:t>、</a:t>
            </a:r>
            <a:r>
              <a:rPr lang="en-US" altLang="zh-CN"/>
              <a:t>23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）计算每个调度的差值和：（</a:t>
            </a:r>
            <a:r>
              <a:rPr lang="en-US" altLang="zh-CN"/>
              <a:t>102-100</a:t>
            </a:r>
            <a:r>
              <a:rPr lang="zh-CN" altLang="en-US"/>
              <a:t>）</a:t>
            </a:r>
            <a:r>
              <a:rPr lang="en-US" altLang="zh-CN"/>
              <a:t>+</a:t>
            </a:r>
            <a:r>
              <a:rPr lang="zh-CN" altLang="en-US"/>
              <a:t>（</a:t>
            </a:r>
            <a:r>
              <a:rPr lang="en-US" altLang="zh-CN"/>
              <a:t>136-102</a:t>
            </a:r>
            <a:r>
              <a:rPr lang="zh-CN" altLang="en-US"/>
              <a:t>）</a:t>
            </a:r>
            <a:r>
              <a:rPr lang="en-US" altLang="zh-CN"/>
              <a:t>+</a:t>
            </a:r>
            <a:r>
              <a:rPr lang="zh-CN" altLang="en-US"/>
              <a:t>。。。。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5306656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602927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4456729"/>
            <a:ext cx="10850563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1028701"/>
            <a:ext cx="10850563" cy="3136900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2_1"/>
          <p:cNvSpPr>
            <a:spLocks noChangeArrowheads="1"/>
          </p:cNvSpPr>
          <p:nvPr userDrawn="1"/>
        </p:nvSpPr>
        <p:spPr bwMode="auto">
          <a:xfrm>
            <a:off x="190500" y="3192312"/>
            <a:ext cx="12192000" cy="3429000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93255" b="-31457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2488168" y="203381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2489284" y="292916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-9525" y="-9525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 bwMode="auto">
          <a:xfrm flipH="1" flipV="1">
            <a:off x="-1219199" y="239311"/>
            <a:ext cx="13411199" cy="801180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0800000">
            <a:off x="-28575" y="6321199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 bwMode="auto">
          <a:xfrm>
            <a:off x="-9525" y="6230938"/>
            <a:ext cx="12201525" cy="801179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20488" y="6486465"/>
            <a:ext cx="67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9552D3-A968-4710-B841-1063F5B640DF}" type="slidenum">
              <a:rPr lang="zh-CN" altLang="en-US" sz="2000" b="1" smtClean="0">
                <a:solidFill>
                  <a:schemeClr val="accent2">
                    <a:lumMod val="50000"/>
                  </a:schemeClr>
                </a:solidFill>
              </a:rPr>
            </a:fld>
            <a:endParaRPr lang="zh-CN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10" y="24187"/>
            <a:ext cx="527050" cy="527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26766-F62E-419D-BB7F-91C9CEBCA24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0" name="任意多边形: 形状 9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034971" y="2163199"/>
            <a:ext cx="6536871" cy="2390427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034971" y="5238353"/>
            <a:ext cx="653687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034973" y="4942082"/>
            <a:ext cx="653687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1" name="任意多边形: 形状 10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FE44A0-2E53-457E-9AC0-11D6EE9FA3B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2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46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.bin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3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tags" Target="../tags/tag48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4.bin"/><Relationship Id="rId1" Type="http://schemas.openxmlformats.org/officeDocument/2006/relationships/tags" Target="../tags/tag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图片 109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7</a:t>
            </a:r>
            <a:r>
              <a:rPr lang="zh-CN" altLang="en-US" sz="4800" dirty="0"/>
              <a:t>章 输入</a:t>
            </a:r>
            <a:r>
              <a:rPr lang="en-US" altLang="zh-CN" sz="4800" dirty="0"/>
              <a:t>/</a:t>
            </a:r>
            <a:r>
              <a:rPr lang="zh-CN" altLang="en-US" sz="4800" dirty="0"/>
              <a:t>输出系统</a:t>
            </a:r>
            <a:endParaRPr lang="zh-CN" altLang="en-US" sz="2000" b="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10968292" y="649047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43012" y="589418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sp>
        <p:nvSpPr>
          <p:cNvPr id="17" name="矩形: 圆角 21"/>
          <p:cNvSpPr/>
          <p:nvPr/>
        </p:nvSpPr>
        <p:spPr>
          <a:xfrm>
            <a:off x="800099" y="4579447"/>
            <a:ext cx="4235540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主讲教师：解</a:t>
            </a:r>
            <a:r>
              <a:rPr lang="zh-CN" altLang="en-US" b="1" dirty="0">
                <a:solidFill>
                  <a:schemeClr val="tx1"/>
                </a:solidFill>
              </a:rPr>
              <a:t>春燕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4121" y="5993053"/>
            <a:ext cx="2074491" cy="43179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5100" y="844791"/>
            <a:ext cx="3007096" cy="4261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第7章 知识导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785" y="781050"/>
            <a:ext cx="7211060" cy="6032500"/>
          </a:xfrm>
          <a:prstGeom prst="rect">
            <a:avLst/>
          </a:prstGeom>
        </p:spPr>
      </p:pic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2539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</a:rPr>
              <a:t>章知识导图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2"/>
            </p:custDataLst>
          </p:nvPr>
        </p:nvGraphicFramePr>
        <p:xfrm>
          <a:off x="462431" y="1634204"/>
          <a:ext cx="417396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1039"/>
                <a:gridCol w="2952924"/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第5章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存储器管理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虚拟存储器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第7章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输入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/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输出系统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chemeClr val="bg1">
                            <a:lumMod val="75000"/>
                          </a:schemeClr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chemeClr val="bg1">
                            <a:lumMod val="75000"/>
                          </a:schemeClr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微软雅黑 (正文)"/>
                        </a:rPr>
                        <a:t>第10章</a:t>
                      </a:r>
                      <a:endParaRPr lang="en-US" altLang="en-US" sz="2000" b="0">
                        <a:solidFill>
                          <a:schemeClr val="bg1">
                            <a:lumMod val="75000"/>
                          </a:schemeClr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微软雅黑 (正文)"/>
                        </a:rPr>
                        <a:t>多处理机操作系统</a:t>
                      </a:r>
                      <a:endParaRPr lang="en-US" altLang="en-US" sz="2000" b="0" dirty="0" err="1">
                        <a:solidFill>
                          <a:schemeClr val="bg1">
                            <a:lumMod val="75000"/>
                          </a:schemeClr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微软雅黑 (正文)"/>
                        </a:rPr>
                        <a:t>第11章</a:t>
                      </a:r>
                      <a:endParaRPr lang="en-US" altLang="en-US" sz="2000" b="0">
                        <a:solidFill>
                          <a:schemeClr val="bg1">
                            <a:lumMod val="75000"/>
                          </a:schemeClr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微软雅黑 (正文)"/>
                        </a:rPr>
                        <a:t>虚拟化和云计算</a:t>
                      </a:r>
                      <a:endParaRPr lang="en-US" altLang="en-US" sz="2000" b="0">
                        <a:solidFill>
                          <a:schemeClr val="bg1">
                            <a:lumMod val="75000"/>
                          </a:schemeClr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微软雅黑 (正文)"/>
                        </a:rPr>
                        <a:t>第12章</a:t>
                      </a:r>
                      <a:endParaRPr lang="en-US" altLang="en-US" sz="2000" b="0">
                        <a:solidFill>
                          <a:schemeClr val="bg1">
                            <a:lumMod val="75000"/>
                          </a:schemeClr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微软雅黑 (正文)"/>
                        </a:rPr>
                        <a:t>保护和安全</a:t>
                      </a:r>
                      <a:endParaRPr lang="en-US" altLang="en-US" sz="2000" b="0" dirty="0" err="1">
                        <a:solidFill>
                          <a:schemeClr val="bg1">
                            <a:lumMod val="75000"/>
                          </a:schemeClr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</a:tbl>
          </a:graphicData>
        </a:graphic>
      </p:graphicFrame>
      <p:sp>
        <p:nvSpPr>
          <p:cNvPr id="8" name="任意多边形: 形状 7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+mj-ea"/>
              </a:rPr>
              <a:t>7.1 I/O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latin typeface="+mj-ea"/>
              </a:rPr>
              <a:t>系统的功能、模型和接口</a:t>
            </a:r>
            <a:endParaRPr lang="zh-CN" altLang="en-US" sz="2400" dirty="0">
              <a:solidFill>
                <a:schemeClr val="bg1">
                  <a:lumMod val="85000"/>
                </a:schemeClr>
              </a:solidFill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7.2 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设备和设备控制器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</a:t>
            </a:r>
            <a:r>
              <a:rPr lang="zh-CN" altLang="en-US" sz="2400" dirty="0" smtClean="0">
                <a:latin typeface="+mj-ea"/>
              </a:rPr>
              <a:t>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 smtClean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</a:rPr>
              <a:t>7.2 I/O</a:t>
            </a:r>
            <a:r>
              <a:rPr lang="zh-CN" altLang="en-US" sz="2800" b="1" dirty="0">
                <a:solidFill>
                  <a:schemeClr val="bg1"/>
                </a:solidFill>
              </a:rPr>
              <a:t>设备</a:t>
            </a:r>
            <a:r>
              <a:rPr lang="zh-CN" altLang="en-US" sz="2800" b="1" dirty="0">
                <a:solidFill>
                  <a:schemeClr val="bg1"/>
                </a:solidFill>
              </a:rPr>
              <a:t>基本概念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4395" y="1289050"/>
            <a:ext cx="10452735" cy="4490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3000" b="1"/>
              <a:t>I/O</a:t>
            </a:r>
            <a:r>
              <a:rPr lang="zh-CN" altLang="en-US" sz="3000" b="1"/>
              <a:t>设备</a:t>
            </a:r>
            <a:r>
              <a:rPr lang="zh-CN" altLang="en-US" sz="3000"/>
              <a:t>，即输入/输出设备，指的是可以将数据输入到计算机，或者可以接收计算机输出数据的外部设备，属于计算机中的硬件部件。</a:t>
            </a:r>
            <a:endParaRPr lang="zh-CN" altLang="en-US" sz="3000"/>
          </a:p>
          <a:p>
            <a:pPr>
              <a:lnSpc>
                <a:spcPct val="150000"/>
              </a:lnSpc>
            </a:pPr>
            <a:r>
              <a:rPr lang="zh-CN" altLang="en-US" sz="3000"/>
              <a:t>【举例】打印机、硬盘、键盘和鼠标等。</a:t>
            </a:r>
            <a:endParaRPr lang="zh-CN" altLang="en-US"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I/O</a:t>
            </a:r>
            <a:r>
              <a:rPr lang="zh-CN" altLang="en-US" sz="2800" b="1" dirty="0">
                <a:solidFill>
                  <a:schemeClr val="bg1"/>
                </a:solidFill>
              </a:rPr>
              <a:t>设备的</a:t>
            </a:r>
            <a:r>
              <a:rPr lang="zh-CN" altLang="en-US" sz="2800" b="1" dirty="0">
                <a:solidFill>
                  <a:schemeClr val="bg1"/>
                </a:solidFill>
              </a:rPr>
              <a:t>类型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46452" y="1048463"/>
            <a:ext cx="11155045" cy="5325110"/>
            <a:chOff x="604174" y="1187091"/>
            <a:chExt cx="11155045" cy="5325110"/>
          </a:xfrm>
        </p:grpSpPr>
        <p:sp>
          <p:nvSpPr>
            <p:cNvPr id="9" name="ï$1iḍe"/>
            <p:cNvSpPr txBox="1"/>
            <p:nvPr/>
          </p:nvSpPr>
          <p:spPr>
            <a:xfrm>
              <a:off x="604174" y="1376786"/>
              <a:ext cx="2687137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200" b="1" dirty="0"/>
                <a:t>按</a:t>
              </a:r>
              <a:r>
                <a:rPr lang="zh-CN" altLang="en-US" sz="2200" b="1" dirty="0">
                  <a:solidFill>
                    <a:srgbClr val="FF0000"/>
                  </a:solidFill>
                </a:rPr>
                <a:t>使用特性</a:t>
              </a:r>
              <a:r>
                <a:rPr lang="zh-CN" altLang="en-US" sz="2200" b="1" dirty="0"/>
                <a:t>分类</a:t>
              </a:r>
              <a:endParaRPr lang="zh-CN" altLang="en-US" sz="2200" b="1" dirty="0"/>
            </a:p>
          </p:txBody>
        </p:sp>
        <p:sp>
          <p:nvSpPr>
            <p:cNvPr id="10" name="isľîdê"/>
            <p:cNvSpPr txBox="1"/>
            <p:nvPr/>
          </p:nvSpPr>
          <p:spPr>
            <a:xfrm>
              <a:off x="1011844" y="1884956"/>
              <a:ext cx="5055870" cy="13989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存储设备：磁盘，光</a:t>
              </a:r>
              <a:r>
                <a:rPr lang="zh-CN" altLang="en-US" sz="2400" dirty="0"/>
                <a:t>盘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输入设备：键盘，鼠标，</a:t>
              </a:r>
              <a:r>
                <a:rPr lang="zh-CN" altLang="en-US" sz="2400" dirty="0"/>
                <a:t>扫描仪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输出设备：打印机，</a:t>
              </a:r>
              <a:r>
                <a:rPr lang="zh-CN" altLang="en-US" sz="2400" dirty="0"/>
                <a:t>绘图仪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endParaRPr lang="zh-CN" altLang="en-US" sz="2400" dirty="0"/>
            </a:p>
          </p:txBody>
        </p:sp>
        <p:sp>
          <p:nvSpPr>
            <p:cNvPr id="11" name="íṩ1ïḑe"/>
            <p:cNvSpPr txBox="1"/>
            <p:nvPr/>
          </p:nvSpPr>
          <p:spPr>
            <a:xfrm>
              <a:off x="769872" y="3567536"/>
              <a:ext cx="23693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/>
                <a:t>按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传输速率</a:t>
              </a:r>
              <a:r>
                <a:rPr lang="zh-CN" altLang="en-US" sz="2400" b="1" dirty="0"/>
                <a:t>分类</a:t>
              </a:r>
              <a:endParaRPr lang="zh-CN" altLang="en-US" sz="2400" b="1" dirty="0"/>
            </a:p>
          </p:txBody>
        </p:sp>
        <p:sp>
          <p:nvSpPr>
            <p:cNvPr id="12" name="ïsḻiďê"/>
            <p:cNvSpPr txBox="1"/>
            <p:nvPr/>
          </p:nvSpPr>
          <p:spPr>
            <a:xfrm>
              <a:off x="6277264" y="1187091"/>
              <a:ext cx="3573780" cy="3924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按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信息交换单位</a:t>
              </a:r>
              <a:r>
                <a:rPr lang="zh-CN" altLang="en-US" sz="2400" b="1" dirty="0"/>
                <a:t>分类</a:t>
              </a:r>
              <a:endParaRPr lang="zh-CN" altLang="en-US" sz="2400" b="1" dirty="0"/>
            </a:p>
          </p:txBody>
        </p:sp>
        <p:sp>
          <p:nvSpPr>
            <p:cNvPr id="13" name="isḷiḋé"/>
            <p:cNvSpPr txBox="1"/>
            <p:nvPr/>
          </p:nvSpPr>
          <p:spPr>
            <a:xfrm>
              <a:off x="6539519" y="3437531"/>
              <a:ext cx="3679190" cy="3924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按</a:t>
              </a:r>
              <a:r>
                <a:rPr lang="zh-CN" altLang="en-US" sz="2400" b="1" dirty="0">
                  <a:solidFill>
                    <a:srgbClr val="0000FF"/>
                  </a:solidFill>
                </a:rPr>
                <a:t>设备的共享属性</a:t>
              </a:r>
              <a:r>
                <a:rPr lang="zh-CN" altLang="en-US" sz="2400" b="1" dirty="0"/>
                <a:t>分类</a:t>
              </a:r>
              <a:endParaRPr lang="zh-CN" altLang="en-US" sz="2400" b="1" dirty="0"/>
            </a:p>
          </p:txBody>
        </p:sp>
        <p:sp>
          <p:nvSpPr>
            <p:cNvPr id="16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8" name="isľîdê"/>
            <p:cNvSpPr txBox="1"/>
            <p:nvPr/>
          </p:nvSpPr>
          <p:spPr>
            <a:xfrm>
              <a:off x="827694" y="4092851"/>
              <a:ext cx="4719320" cy="14947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低速设备：键盘、鼠标器等</a:t>
              </a:r>
              <a:endParaRPr lang="zh-CN" altLang="en-US" sz="22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中速设备：打印机，传真机</a:t>
              </a:r>
              <a:r>
                <a:rPr lang="zh-CN" altLang="en-US" sz="2200" dirty="0"/>
                <a:t>等</a:t>
              </a:r>
              <a:endParaRPr lang="zh-CN" altLang="en-US" sz="22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200" dirty="0"/>
                <a:t>高速设备：磁盘、</a:t>
              </a:r>
              <a:r>
                <a:rPr lang="zh-CN" altLang="en-US" sz="2200" dirty="0"/>
                <a:t>固态硬盘等</a:t>
              </a:r>
              <a:endParaRPr lang="zh-CN" altLang="en-US" sz="2200" dirty="0"/>
            </a:p>
          </p:txBody>
        </p:sp>
        <p:sp>
          <p:nvSpPr>
            <p:cNvPr id="19" name="isľîdê"/>
            <p:cNvSpPr txBox="1"/>
            <p:nvPr/>
          </p:nvSpPr>
          <p:spPr>
            <a:xfrm>
              <a:off x="6885594" y="1712871"/>
              <a:ext cx="3895725" cy="1261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块设备：磁盘，</a:t>
              </a:r>
              <a:r>
                <a:rPr lang="zh-CN" altLang="en-US" sz="2400" dirty="0"/>
                <a:t>固态硬盘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字符设备：鼠标、</a:t>
              </a:r>
              <a:r>
                <a:rPr lang="zh-CN" altLang="en-US" sz="2400" dirty="0"/>
                <a:t>键盘</a:t>
              </a:r>
              <a:endParaRPr lang="zh-CN" altLang="en-US" sz="2400" dirty="0"/>
            </a:p>
          </p:txBody>
        </p:sp>
        <p:sp>
          <p:nvSpPr>
            <p:cNvPr id="21" name="isľîdê"/>
            <p:cNvSpPr txBox="1"/>
            <p:nvPr/>
          </p:nvSpPr>
          <p:spPr>
            <a:xfrm>
              <a:off x="6197254" y="4092851"/>
              <a:ext cx="5561965" cy="24193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独占设备：打印机等临界</a:t>
              </a:r>
              <a:r>
                <a:rPr lang="zh-CN" altLang="en-US" sz="2400" dirty="0"/>
                <a:t>资源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共享设备：</a:t>
              </a:r>
              <a:r>
                <a:rPr lang="zh-CN" altLang="en-US" sz="2400" dirty="0"/>
                <a:t>磁盘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虚拟设备：利用</a:t>
              </a:r>
              <a:r>
                <a:rPr lang="en-US" altLang="zh-CN" sz="2400" dirty="0"/>
                <a:t>spooling</a:t>
              </a:r>
              <a:r>
                <a:rPr lang="zh-CN" altLang="en-US" sz="2400" dirty="0"/>
                <a:t>技术，实现将原本独占的设备虚拟成</a:t>
              </a:r>
              <a:r>
                <a:rPr lang="zh-CN" altLang="en-US" sz="2400" dirty="0"/>
                <a:t>共享设备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设备控制器（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接口）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925" y="1119505"/>
            <a:ext cx="11311890" cy="45669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通常，设备并不是直接与</a:t>
            </a:r>
            <a:r>
              <a:rPr lang="en-US" altLang="zh-CN" sz="2400" dirty="0">
                <a:latin typeface="+mn-ea"/>
              </a:rPr>
              <a:t>CPU</a:t>
            </a:r>
            <a:r>
              <a:rPr lang="zh-CN" altLang="en-US" sz="2400" dirty="0">
                <a:latin typeface="+mn-ea"/>
              </a:rPr>
              <a:t>进行通信，而是与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设备控制器</a:t>
            </a:r>
            <a:r>
              <a:rPr lang="zh-CN" altLang="en-US" sz="2400" dirty="0">
                <a:latin typeface="+mn-ea"/>
              </a:rPr>
              <a:t>通信</a:t>
            </a:r>
            <a:endParaRPr lang="zh-CN" altLang="en-US" sz="2400" dirty="0">
              <a:latin typeface="+mn-ea"/>
            </a:endParaRPr>
          </a:p>
          <a:p>
            <a:pPr marL="342900" indent="-3429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sym typeface="+mn-ea"/>
              </a:rPr>
              <a:t>设备控制器是一个可编址的设备，</a:t>
            </a:r>
            <a:r>
              <a:rPr lang="zh-CN" altLang="en-US" sz="2400" dirty="0">
                <a:sym typeface="+mn-ea"/>
              </a:rPr>
              <a:t>连接多个设备时，则含有多个设备地址，并使每一个设备地址对应一个设备</a:t>
            </a:r>
            <a:endParaRPr lang="zh-CN" altLang="en-US" sz="2400" dirty="0">
              <a:sym typeface="+mn-ea"/>
            </a:endParaRPr>
          </a:p>
          <a:p>
            <a:pPr marL="342900" indent="-3429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设备控制器接口中有三类信号：数据信号、控制信号和状态</a:t>
            </a:r>
            <a:r>
              <a:rPr lang="zh-CN" altLang="en-US" sz="2400" dirty="0">
                <a:latin typeface="+mn-ea"/>
              </a:rPr>
              <a:t>信号，各对应一条信号线。</a:t>
            </a:r>
            <a:endParaRPr lang="zh-CN" altLang="en-US" sz="2400" dirty="0">
              <a:latin typeface="+mn-ea"/>
            </a:endParaRPr>
          </a:p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400" dirty="0">
              <a:latin typeface="+mn-ea"/>
            </a:endParaRPr>
          </a:p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400" dirty="0">
              <a:solidFill>
                <a:srgbClr val="FF0000"/>
              </a:solidFill>
              <a:latin typeface="+mn-ea"/>
              <a:sym typeface="+mn-ea"/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902335" y="4807585"/>
            <a:ext cx="10467975" cy="10896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1147445"/>
            <a:ext cx="10601325" cy="5247005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接口</a:t>
            </a:r>
            <a:r>
              <a:rPr lang="zh-CN" altLang="en-US" sz="2800" b="1" dirty="0">
                <a:solidFill>
                  <a:schemeClr val="bg1"/>
                </a:solidFill>
              </a:rPr>
              <a:t>结构图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9415" y="814070"/>
            <a:ext cx="3723005" cy="436245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内部接口，数据传输方式为并行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28510" y="814070"/>
            <a:ext cx="4806950" cy="436245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t">
            <a:noAutofit/>
          </a:bodyPr>
          <a:p>
            <a:r>
              <a:rPr lang="zh-CN" altLang="en-US" b="1">
                <a:sym typeface="+mn-ea"/>
              </a:rPr>
              <a:t>外部接口，数据传输方式可以是串行或者并行</a:t>
            </a:r>
            <a:endParaRPr lang="zh-CN" altLang="en-US" b="1"/>
          </a:p>
          <a:p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椭圆形标注 3"/>
          <p:cNvSpPr/>
          <p:nvPr/>
        </p:nvSpPr>
        <p:spPr>
          <a:xfrm>
            <a:off x="-114935" y="1463675"/>
            <a:ext cx="1699895" cy="943610"/>
          </a:xfrm>
          <a:prstGeom prst="wedgeEllipseCallout">
            <a:avLst>
              <a:gd name="adj1" fmla="val 83765"/>
              <a:gd name="adj2" fmla="val -301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选择不同设备</a:t>
            </a:r>
            <a:r>
              <a:rPr lang="zh-CN" altLang="en-US"/>
              <a:t>的</a:t>
            </a:r>
            <a:endParaRPr lang="zh-CN" altLang="en-US"/>
          </a:p>
        </p:txBody>
      </p:sp>
      <p:sp>
        <p:nvSpPr>
          <p:cNvPr id="6" name="椭圆形标注 5"/>
          <p:cNvSpPr/>
          <p:nvPr/>
        </p:nvSpPr>
        <p:spPr>
          <a:xfrm>
            <a:off x="-114935" y="2874645"/>
            <a:ext cx="1604010" cy="943610"/>
          </a:xfrm>
          <a:prstGeom prst="wedgeEllipseCallout">
            <a:avLst>
              <a:gd name="adj1" fmla="val 95152"/>
              <a:gd name="adj2" fmla="val -861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传输读写</a:t>
            </a:r>
            <a:r>
              <a:rPr lang="zh-CN" altLang="en-US"/>
              <a:t>信号</a:t>
            </a:r>
            <a:endParaRPr lang="zh-CN" altLang="en-US"/>
          </a:p>
        </p:txBody>
      </p:sp>
      <p:sp>
        <p:nvSpPr>
          <p:cNvPr id="7" name="椭圆形标注 6"/>
          <p:cNvSpPr/>
          <p:nvPr/>
        </p:nvSpPr>
        <p:spPr>
          <a:xfrm>
            <a:off x="-114935" y="5140960"/>
            <a:ext cx="1545590" cy="943610"/>
          </a:xfrm>
          <a:prstGeom prst="wedgeEllipseCallout">
            <a:avLst>
              <a:gd name="adj1" fmla="val 95152"/>
              <a:gd name="adj2" fmla="val -861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传输</a:t>
            </a:r>
            <a:endParaRPr lang="zh-CN" altLang="en-US"/>
          </a:p>
          <a:p>
            <a:pPr algn="ctr"/>
            <a:r>
              <a:rPr lang="zh-CN" altLang="en-US"/>
              <a:t>数据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5061585" y="4304030"/>
            <a:ext cx="1176655" cy="360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5088255" y="5341620"/>
            <a:ext cx="1149985" cy="2667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6" grpId="0" bldLvl="0" animBg="1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设备控制器的基本功能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070" y="930275"/>
            <a:ext cx="11859895" cy="4968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2800" b="1"/>
              <a:t>数据缓冲</a:t>
            </a:r>
            <a:r>
              <a:rPr lang="zh-CN" altLang="en-US" sz="2800"/>
              <a:t>    </a:t>
            </a:r>
            <a:endParaRPr lang="zh-CN" altLang="en-US" sz="28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/>
              <a:t>由于CPU存取速度比外部设备快很多，为了进行速度匹配，可以将数据提前存到数据缓冲区，以缓和高速系统组件和低速外部设备之间的速度差异。</a:t>
            </a:r>
            <a:endParaRPr lang="zh-CN" altLang="en-US" sz="2800"/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2800"/>
              <a:t> </a:t>
            </a:r>
            <a:r>
              <a:rPr lang="zh-CN" altLang="en-US" sz="2800" b="1"/>
              <a:t>数据格式转换</a:t>
            </a:r>
            <a:endParaRPr lang="zh-CN" altLang="en-US" sz="28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/>
              <a:t>   </a:t>
            </a:r>
            <a:r>
              <a:rPr lang="zh-CN" altLang="en-US" sz="2400"/>
              <a:t>提供数据格式的相互转换，如串-并转换、并-串转换、数-模转换和模-数转换等。</a:t>
            </a:r>
            <a:endParaRPr lang="zh-CN" altLang="en-US" sz="2400"/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2800"/>
              <a:t> </a:t>
            </a:r>
            <a:r>
              <a:rPr lang="zh-CN" altLang="en-US" sz="2800" b="1"/>
              <a:t> 控制和定时</a:t>
            </a:r>
            <a:endParaRPr lang="zh-CN" altLang="en-US" sz="28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/>
              <a:t>    </a:t>
            </a:r>
            <a:r>
              <a:rPr lang="zh-CN" altLang="en-US" sz="2400"/>
              <a:t>对内部资源及外设间动作的先后关系进行协调</a:t>
            </a:r>
            <a:endParaRPr lang="zh-CN" altLang="en-US" sz="2800"/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2800"/>
              <a:t> </a:t>
            </a:r>
            <a:r>
              <a:rPr lang="zh-CN" altLang="en-US" sz="2800" b="1"/>
              <a:t>错误或状态检测</a:t>
            </a:r>
            <a:endParaRPr lang="zh-CN" altLang="en-US" sz="2800"/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2800"/>
              <a:t> </a:t>
            </a:r>
            <a:r>
              <a:rPr lang="zh-CN" altLang="en-US" sz="2800" b="1"/>
              <a:t>与主机和设备通信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I/O</a:t>
            </a:r>
            <a:r>
              <a:rPr lang="zh-CN" altLang="en-US" sz="2800" b="1" dirty="0">
                <a:solidFill>
                  <a:schemeClr val="bg1"/>
                </a:solidFill>
              </a:rPr>
              <a:t>端口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52070" y="1685925"/>
            <a:ext cx="12192000" cy="21659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500" dirty="0"/>
              <a:t>独立编址方式：</a:t>
            </a:r>
            <a:r>
              <a:rPr lang="zh-CN" altLang="en-US" sz="25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每个设备都分配独立的端口号。</a:t>
            </a:r>
            <a:endParaRPr lang="zh-CN" altLang="en-US" sz="2500" dirty="0" smtClean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lvl="1" indent="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None/>
              <a:defRPr/>
            </a:pPr>
            <a:r>
              <a:rPr lang="zh-CN" altLang="en-US" sz="25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特点：普通用户程序不能对其访问，只有</a:t>
            </a:r>
            <a:r>
              <a:rPr lang="en-US" altLang="zh-CN" sz="25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OS</a:t>
            </a:r>
            <a:r>
              <a:rPr lang="zh-CN" altLang="en-US" sz="250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通过特殊指令访问</a:t>
            </a:r>
            <a:endParaRPr lang="zh-CN" alt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优点：减少了地址空间的竞争，避免了内存和</a:t>
            </a:r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I/O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的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冲突</a:t>
            </a:r>
            <a:endParaRPr lang="zh-CN" alt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缺点：只支持简单的传输操作。端口数量少，无法满足大量数据传输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需求</a:t>
            </a:r>
            <a:endParaRPr lang="zh-CN" alt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0">
              <a:lnSpc>
                <a:spcPct val="132000"/>
              </a:lnSpc>
              <a:spcBef>
                <a:spcPts val="30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endParaRPr lang="zh-CN" altLang="en-US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74930" y="3944620"/>
            <a:ext cx="12192000" cy="22294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342900">
              <a:lnSpc>
                <a:spcPct val="123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500" dirty="0"/>
              <a:t>统一编址方式：通过地址线区分存储空间和</a:t>
            </a:r>
            <a:r>
              <a:rPr lang="en-US" altLang="zh-CN" sz="2500" dirty="0"/>
              <a:t>I/O</a:t>
            </a:r>
            <a:r>
              <a:rPr lang="zh-CN" altLang="en-US" sz="2500" dirty="0"/>
              <a:t>设备</a:t>
            </a:r>
            <a:endParaRPr lang="zh-CN" altLang="en-US" sz="2500" dirty="0"/>
          </a:p>
          <a:p>
            <a:pPr marL="0" lvl="1" indent="0">
              <a:lnSpc>
                <a:spcPct val="123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在编址上不</a:t>
            </a:r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再区分内存单元地址和设备控制器中的寄存器地址，统一编址 </a:t>
            </a:r>
            <a:r>
              <a:rPr 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zh-CN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0">
              <a:lnSpc>
                <a:spcPct val="123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优点：数目只受内存容量限制，有利于提高吞吐量，也提高了编程的</a:t>
            </a:r>
            <a:r>
              <a:rPr 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灵活性。</a:t>
            </a:r>
            <a:endParaRPr lang="zh-CN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0">
              <a:lnSpc>
                <a:spcPct val="123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缺点：占用了一部分内存空间，减少了主存可用容量。</a:t>
            </a:r>
            <a:endParaRPr lang="zh-CN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7365" y="1057275"/>
            <a:ext cx="79235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  <a:latin typeface="+mn-ea"/>
                <a:sym typeface="+mn-ea"/>
              </a:rPr>
              <a:t>I/O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sym typeface="+mn-ea"/>
              </a:rPr>
              <a:t>端口</a:t>
            </a:r>
            <a:r>
              <a:rPr lang="zh-CN" altLang="en-US" sz="2400" dirty="0">
                <a:latin typeface="+mn-ea"/>
                <a:sym typeface="+mn-ea"/>
              </a:rPr>
              <a:t>是指</a:t>
            </a:r>
            <a:r>
              <a:rPr lang="en-US" altLang="zh-CN" sz="2400" dirty="0">
                <a:latin typeface="+mn-ea"/>
                <a:sym typeface="+mn-ea"/>
              </a:rPr>
              <a:t>I/O</a:t>
            </a:r>
            <a:r>
              <a:rPr lang="zh-CN" altLang="en-US" sz="2400" dirty="0">
                <a:latin typeface="+mn-ea"/>
                <a:sym typeface="+mn-ea"/>
              </a:rPr>
              <a:t>接口中</a:t>
            </a:r>
            <a:r>
              <a:rPr lang="en-US" altLang="zh-CN" sz="2400" dirty="0">
                <a:latin typeface="+mn-ea"/>
                <a:sym typeface="+mn-ea"/>
              </a:rPr>
              <a:t>CPU</a:t>
            </a:r>
            <a:r>
              <a:rPr lang="zh-CN" altLang="en-US" sz="2400" dirty="0">
                <a:latin typeface="+mn-ea"/>
                <a:sym typeface="+mn-ea"/>
              </a:rPr>
              <a:t>可以直接访问的</a:t>
            </a:r>
            <a:r>
              <a:rPr lang="zh-CN" altLang="en-US" sz="2400" dirty="0">
                <a:latin typeface="+mn-ea"/>
                <a:sym typeface="+mn-ea"/>
              </a:rPr>
              <a:t>寄存器。</a:t>
            </a:r>
            <a:endParaRPr lang="zh-CN" altLang="en-US" sz="2400" dirty="0">
              <a:latin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505" y="1748155"/>
            <a:ext cx="1764030" cy="20421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095" y="4020185"/>
            <a:ext cx="1214120" cy="2155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I/O</a:t>
            </a:r>
            <a:r>
              <a:rPr lang="zh-CN" altLang="en-US" sz="2800" b="1" dirty="0">
                <a:solidFill>
                  <a:schemeClr val="bg1"/>
                </a:solidFill>
              </a:rPr>
              <a:t>通道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íšḻíḑê"/>
          <p:cNvSpPr/>
          <p:nvPr/>
        </p:nvSpPr>
        <p:spPr>
          <a:xfrm>
            <a:off x="1495425" y="958850"/>
            <a:ext cx="10403205" cy="9950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32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目的：</a:t>
            </a:r>
            <a:r>
              <a:rPr lang="zh-CN" altLang="en-US" sz="2800" dirty="0"/>
              <a:t>使一些原来由</a:t>
            </a:r>
            <a:r>
              <a:rPr lang="en-US" altLang="zh-CN" sz="2800" dirty="0"/>
              <a:t>CPU</a:t>
            </a:r>
            <a:r>
              <a:rPr lang="zh-CN" altLang="en-US" sz="2800" dirty="0"/>
              <a:t>处理的</a:t>
            </a:r>
            <a:r>
              <a:rPr lang="en-US" altLang="zh-CN" sz="2800" dirty="0"/>
              <a:t>I/O</a:t>
            </a:r>
            <a:r>
              <a:rPr lang="zh-CN" altLang="en-US" sz="2800" dirty="0"/>
              <a:t>任务转由通道来承担，从而把</a:t>
            </a:r>
            <a:r>
              <a:rPr lang="en-US" altLang="zh-CN" sz="2800" dirty="0"/>
              <a:t>CPU</a:t>
            </a:r>
            <a:r>
              <a:rPr lang="zh-CN" altLang="en-US" sz="2800" dirty="0"/>
              <a:t>从繁杂的</a:t>
            </a:r>
            <a:r>
              <a:rPr lang="en-US" altLang="zh-CN" sz="2800" dirty="0"/>
              <a:t>I/O</a:t>
            </a:r>
            <a:r>
              <a:rPr lang="zh-CN" altLang="en-US" sz="2800" dirty="0"/>
              <a:t>任务中解脱出来</a:t>
            </a:r>
            <a:endParaRPr lang="zh-CN" altLang="en-US" sz="2800" dirty="0"/>
          </a:p>
        </p:txBody>
      </p:sp>
      <p:sp>
        <p:nvSpPr>
          <p:cNvPr id="6" name="îSļiḓè"/>
          <p:cNvSpPr/>
          <p:nvPr/>
        </p:nvSpPr>
        <p:spPr>
          <a:xfrm>
            <a:off x="503841" y="1142226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8" name="îṡḷíďe"/>
          <p:cNvSpPr/>
          <p:nvPr/>
        </p:nvSpPr>
        <p:spPr>
          <a:xfrm>
            <a:off x="669966" y="1332014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grpSp>
        <p:nvGrpSpPr>
          <p:cNvPr id="2" name="组合 1"/>
          <p:cNvGrpSpPr/>
          <p:nvPr/>
        </p:nvGrpSpPr>
        <p:grpSpPr bwMode="auto">
          <a:xfrm>
            <a:off x="372110" y="2199005"/>
            <a:ext cx="10779760" cy="4008755"/>
            <a:chOff x="381000" y="990600"/>
            <a:chExt cx="8267700" cy="4927600"/>
          </a:xfrm>
        </p:grpSpPr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381000" y="3276600"/>
              <a:ext cx="1371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CPU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590800" y="19685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2590800" y="45339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2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4914900" y="13335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en-US" altLang="zh-CN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4914900" y="25908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4914900" y="51435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4927600" y="38227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7277100" y="9906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7277100" y="1600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7277100" y="2235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7277100" y="28575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7277100" y="35179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5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7277100" y="41529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6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7277100" y="48133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7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7277100" y="54610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8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26" name="Group 24"/>
            <p:cNvGrpSpPr/>
            <p:nvPr/>
          </p:nvGrpSpPr>
          <p:grpSpPr bwMode="auto">
            <a:xfrm>
              <a:off x="1752600" y="2209800"/>
              <a:ext cx="838200" cy="1219200"/>
              <a:chOff x="1104" y="1392"/>
              <a:chExt cx="528" cy="768"/>
            </a:xfrm>
          </p:grpSpPr>
          <p:sp>
            <p:nvSpPr>
              <p:cNvPr id="73" name="Line 21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4" name="Line 22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5" name="Line 23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7" name="Group 25"/>
            <p:cNvGrpSpPr/>
            <p:nvPr/>
          </p:nvGrpSpPr>
          <p:grpSpPr bwMode="auto">
            <a:xfrm>
              <a:off x="3962400" y="1524000"/>
              <a:ext cx="990600" cy="609600"/>
              <a:chOff x="1104" y="1392"/>
              <a:chExt cx="528" cy="768"/>
            </a:xfrm>
          </p:grpSpPr>
          <p:sp>
            <p:nvSpPr>
              <p:cNvPr id="70" name="Line 26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1" name="Line 27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2" name="Line 28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8" name="Group 29"/>
            <p:cNvGrpSpPr/>
            <p:nvPr/>
          </p:nvGrpSpPr>
          <p:grpSpPr bwMode="auto">
            <a:xfrm>
              <a:off x="3949700" y="4025900"/>
              <a:ext cx="990600" cy="609600"/>
              <a:chOff x="1104" y="1392"/>
              <a:chExt cx="528" cy="768"/>
            </a:xfrm>
          </p:grpSpPr>
          <p:sp>
            <p:nvSpPr>
              <p:cNvPr id="67" name="Line 30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8" name="Line 31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9" name="Line 32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9" name="Group 33"/>
            <p:cNvGrpSpPr/>
            <p:nvPr/>
          </p:nvGrpSpPr>
          <p:grpSpPr bwMode="auto">
            <a:xfrm>
              <a:off x="6286500" y="1219200"/>
              <a:ext cx="990600" cy="228600"/>
              <a:chOff x="1104" y="1392"/>
              <a:chExt cx="528" cy="768"/>
            </a:xfrm>
          </p:grpSpPr>
          <p:sp>
            <p:nvSpPr>
              <p:cNvPr id="64" name="Line 34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5" name="Line 35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6" name="Line 36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0" name="Group 37"/>
            <p:cNvGrpSpPr/>
            <p:nvPr/>
          </p:nvGrpSpPr>
          <p:grpSpPr bwMode="auto">
            <a:xfrm>
              <a:off x="6299200" y="2476500"/>
              <a:ext cx="990600" cy="228600"/>
              <a:chOff x="1104" y="1392"/>
              <a:chExt cx="528" cy="768"/>
            </a:xfrm>
          </p:grpSpPr>
          <p:sp>
            <p:nvSpPr>
              <p:cNvPr id="61" name="Line 38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2" name="Line 39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3" name="Line 40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1" name="Group 41"/>
            <p:cNvGrpSpPr/>
            <p:nvPr/>
          </p:nvGrpSpPr>
          <p:grpSpPr bwMode="auto">
            <a:xfrm>
              <a:off x="6299200" y="3733800"/>
              <a:ext cx="990600" cy="228600"/>
              <a:chOff x="1104" y="1392"/>
              <a:chExt cx="528" cy="768"/>
            </a:xfrm>
          </p:grpSpPr>
          <p:sp>
            <p:nvSpPr>
              <p:cNvPr id="58" name="Line 42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9" name="Line 43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60" name="Line 44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2" name="Group 45"/>
            <p:cNvGrpSpPr/>
            <p:nvPr/>
          </p:nvGrpSpPr>
          <p:grpSpPr bwMode="auto">
            <a:xfrm>
              <a:off x="6299200" y="5016500"/>
              <a:ext cx="990600" cy="228600"/>
              <a:chOff x="1104" y="1392"/>
              <a:chExt cx="528" cy="768"/>
            </a:xfrm>
          </p:grpSpPr>
          <p:sp>
            <p:nvSpPr>
              <p:cNvPr id="55" name="Line 46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6" name="Line 47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7" name="Line 48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3" name="Group 57"/>
            <p:cNvGrpSpPr/>
            <p:nvPr/>
          </p:nvGrpSpPr>
          <p:grpSpPr bwMode="auto">
            <a:xfrm>
              <a:off x="1752600" y="3568700"/>
              <a:ext cx="838200" cy="1219200"/>
              <a:chOff x="1104" y="2248"/>
              <a:chExt cx="528" cy="768"/>
            </a:xfrm>
          </p:grpSpPr>
          <p:sp>
            <p:nvSpPr>
              <p:cNvPr id="52" name="Line 54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3" name="Line 55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4" name="Line 56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4" name="Group 58"/>
            <p:cNvGrpSpPr/>
            <p:nvPr/>
          </p:nvGrpSpPr>
          <p:grpSpPr bwMode="auto">
            <a:xfrm>
              <a:off x="3962400" y="2286000"/>
              <a:ext cx="990600" cy="533400"/>
              <a:chOff x="1104" y="2248"/>
              <a:chExt cx="528" cy="768"/>
            </a:xfrm>
          </p:grpSpPr>
          <p:sp>
            <p:nvSpPr>
              <p:cNvPr id="49" name="Line 59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0" name="Line 60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51" name="Line 61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5" name="Group 62"/>
            <p:cNvGrpSpPr/>
            <p:nvPr/>
          </p:nvGrpSpPr>
          <p:grpSpPr bwMode="auto">
            <a:xfrm>
              <a:off x="3962400" y="4876800"/>
              <a:ext cx="990600" cy="533400"/>
              <a:chOff x="1104" y="2248"/>
              <a:chExt cx="528" cy="768"/>
            </a:xfrm>
          </p:grpSpPr>
          <p:sp>
            <p:nvSpPr>
              <p:cNvPr id="46" name="Line 63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7" name="Line 64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8" name="Line 65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6" name="Group 66"/>
            <p:cNvGrpSpPr/>
            <p:nvPr/>
          </p:nvGrpSpPr>
          <p:grpSpPr bwMode="auto">
            <a:xfrm>
              <a:off x="6299200" y="1600200"/>
              <a:ext cx="990600" cy="228600"/>
              <a:chOff x="1104" y="2248"/>
              <a:chExt cx="528" cy="768"/>
            </a:xfrm>
          </p:grpSpPr>
          <p:sp>
            <p:nvSpPr>
              <p:cNvPr id="43" name="Line 67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4" name="Line 68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5" name="Line 69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7" name="Group 70"/>
            <p:cNvGrpSpPr/>
            <p:nvPr/>
          </p:nvGrpSpPr>
          <p:grpSpPr bwMode="auto">
            <a:xfrm>
              <a:off x="6286500" y="2895600"/>
              <a:ext cx="990600" cy="228600"/>
              <a:chOff x="1104" y="2248"/>
              <a:chExt cx="528" cy="768"/>
            </a:xfrm>
          </p:grpSpPr>
          <p:sp>
            <p:nvSpPr>
              <p:cNvPr id="40" name="Line 71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1" name="Line 72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2" name="Line 73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38" name="Group 74"/>
            <p:cNvGrpSpPr/>
            <p:nvPr/>
          </p:nvGrpSpPr>
          <p:grpSpPr bwMode="auto">
            <a:xfrm>
              <a:off x="6299200" y="4140200"/>
              <a:ext cx="990600" cy="228600"/>
              <a:chOff x="1104" y="2248"/>
              <a:chExt cx="528" cy="768"/>
            </a:xfrm>
          </p:grpSpPr>
          <p:sp>
            <p:nvSpPr>
              <p:cNvPr id="39" name="Line 75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6" name="Line 76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77" name="Line 77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 bwMode="auto">
            <a:xfrm>
              <a:off x="6286500" y="5448300"/>
              <a:ext cx="990600" cy="228600"/>
              <a:chOff x="1104" y="2248"/>
              <a:chExt cx="528" cy="768"/>
            </a:xfrm>
          </p:grpSpPr>
          <p:sp>
            <p:nvSpPr>
              <p:cNvPr id="79" name="Line 79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80" name="Line 80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81" name="Line 81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“瓶颈”问题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1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381905" cy="1702554"/>
            <a:chOff x="4136995" y="1337039"/>
            <a:chExt cx="7381905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636181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zh-CN" altLang="en-US" sz="2400" b="1" dirty="0">
                  <a:latin typeface="+mj-ea"/>
                  <a:ea typeface="+mj-ea"/>
                </a:rPr>
                <a:t>通道不足，造成“瓶颈”现象</a:t>
              </a:r>
              <a:endParaRPr lang="zh-CN" altLang="en-US" sz="2400" b="1" dirty="0"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</a:rPr>
                <a:t>通道价格昂贵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3800144"/>
            <a:ext cx="7722859" cy="1763616"/>
            <a:chOff x="4136995" y="3233565"/>
            <a:chExt cx="7722859" cy="1763616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8" y="3233565"/>
              <a:ext cx="6977136" cy="17636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</a:rPr>
                <a:t>解决办法：</a:t>
              </a:r>
              <a:endParaRPr lang="zh-CN" altLang="en-US" sz="2400" b="1" dirty="0">
                <a:solidFill>
                  <a:srgbClr val="FF0000"/>
                </a:solidFill>
              </a:endParaRPr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增加设备到</a:t>
              </a:r>
              <a:r>
                <a:rPr lang="en-US" altLang="zh-CN" sz="2400" dirty="0"/>
                <a:t>CPU</a:t>
              </a:r>
              <a:r>
                <a:rPr lang="zh-CN" altLang="en-US" sz="2400" dirty="0"/>
                <a:t>间的通路而不增加通道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rgbClr val="0000FF"/>
                  </a:solidFill>
                </a:rPr>
                <a:t>多通路方式</a:t>
              </a:r>
              <a:r>
                <a:rPr lang="zh-CN" altLang="en-US" sz="2400" dirty="0"/>
                <a:t>不仅解决了“瓶颈”问题，而且提高了系统的可靠性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多通路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系统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" name="组合 1"/>
          <p:cNvGrpSpPr/>
          <p:nvPr/>
        </p:nvGrpSpPr>
        <p:grpSpPr bwMode="auto">
          <a:xfrm>
            <a:off x="328412" y="1975297"/>
            <a:ext cx="11110786" cy="3240646"/>
            <a:chOff x="381000" y="1905000"/>
            <a:chExt cx="8229600" cy="3200400"/>
          </a:xfrm>
        </p:grpSpPr>
        <p:sp>
          <p:nvSpPr>
            <p:cNvPr id="4" name="Rectangle 1028"/>
            <p:cNvSpPr>
              <a:spLocks noChangeArrowheads="1"/>
            </p:cNvSpPr>
            <p:nvPr/>
          </p:nvSpPr>
          <p:spPr bwMode="auto">
            <a:xfrm>
              <a:off x="381000" y="3263900"/>
              <a:ext cx="1371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CPU</a:t>
              </a:r>
              <a:endParaRPr lang="en-US" altLang="zh-CN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5" name="Rectangle 1029"/>
            <p:cNvSpPr>
              <a:spLocks noChangeArrowheads="1"/>
            </p:cNvSpPr>
            <p:nvPr/>
          </p:nvSpPr>
          <p:spPr bwMode="auto">
            <a:xfrm>
              <a:off x="2590800" y="23622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6" name="Rectangle 1030"/>
            <p:cNvSpPr>
              <a:spLocks noChangeArrowheads="1"/>
            </p:cNvSpPr>
            <p:nvPr/>
          </p:nvSpPr>
          <p:spPr bwMode="auto">
            <a:xfrm>
              <a:off x="2590800" y="4191000"/>
              <a:ext cx="13716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latin typeface="+mn-ea"/>
                  <a:ea typeface="+mn-ea"/>
                </a:rPr>
                <a:t>通道</a:t>
              </a:r>
              <a:r>
                <a:rPr lang="en-US" altLang="zh-CN" sz="2400">
                  <a:latin typeface="+mn-ea"/>
                  <a:ea typeface="+mn-ea"/>
                </a:rPr>
                <a:t>2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7" name="Rectangle 1031"/>
            <p:cNvSpPr>
              <a:spLocks noChangeArrowheads="1"/>
            </p:cNvSpPr>
            <p:nvPr/>
          </p:nvSpPr>
          <p:spPr bwMode="auto">
            <a:xfrm>
              <a:off x="4876800" y="23622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8" name="Rectangle 1032"/>
            <p:cNvSpPr>
              <a:spLocks noChangeArrowheads="1"/>
            </p:cNvSpPr>
            <p:nvPr/>
          </p:nvSpPr>
          <p:spPr bwMode="auto">
            <a:xfrm>
              <a:off x="4889500" y="4191000"/>
              <a:ext cx="1371600" cy="457200"/>
            </a:xfrm>
            <a:prstGeom prst="rect">
              <a:avLst/>
            </a:prstGeom>
            <a:solidFill>
              <a:schemeClr val="accent3">
                <a:lumMod val="90000"/>
                <a:lumOff val="1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控制器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" name="Rectangle 1035"/>
            <p:cNvSpPr>
              <a:spLocks noChangeArrowheads="1"/>
            </p:cNvSpPr>
            <p:nvPr/>
          </p:nvSpPr>
          <p:spPr bwMode="auto">
            <a:xfrm>
              <a:off x="7239000" y="19050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1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0" name="Rectangle 1036"/>
            <p:cNvSpPr>
              <a:spLocks noChangeArrowheads="1"/>
            </p:cNvSpPr>
            <p:nvPr/>
          </p:nvSpPr>
          <p:spPr bwMode="auto">
            <a:xfrm>
              <a:off x="7239000" y="28194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2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" name="Rectangle 1037"/>
            <p:cNvSpPr>
              <a:spLocks noChangeArrowheads="1"/>
            </p:cNvSpPr>
            <p:nvPr/>
          </p:nvSpPr>
          <p:spPr bwMode="auto">
            <a:xfrm>
              <a:off x="7239000" y="37338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endParaRPr lang="en-US" altLang="zh-CN" sz="240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" name="Rectangle 1038"/>
            <p:cNvSpPr>
              <a:spLocks noChangeArrowheads="1"/>
            </p:cNvSpPr>
            <p:nvPr/>
          </p:nvSpPr>
          <p:spPr bwMode="auto">
            <a:xfrm>
              <a:off x="7239000" y="4648200"/>
              <a:ext cx="1371600" cy="4572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设备</a:t>
              </a: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</a:rPr>
                <a:t>4</a:t>
              </a:r>
              <a:endParaRPr lang="en-US" altLang="zh-CN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13" name="Group 1043"/>
            <p:cNvGrpSpPr/>
            <p:nvPr/>
          </p:nvGrpSpPr>
          <p:grpSpPr bwMode="auto">
            <a:xfrm>
              <a:off x="1752600" y="2590800"/>
              <a:ext cx="838200" cy="838200"/>
              <a:chOff x="1104" y="1392"/>
              <a:chExt cx="528" cy="768"/>
            </a:xfrm>
          </p:grpSpPr>
          <p:sp>
            <p:nvSpPr>
              <p:cNvPr id="47" name="Line 1044"/>
              <p:cNvSpPr>
                <a:spLocks noChangeShapeType="1"/>
              </p:cNvSpPr>
              <p:nvPr/>
            </p:nvSpPr>
            <p:spPr bwMode="auto">
              <a:xfrm>
                <a:off x="1104" y="21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8" name="Line 1045"/>
              <p:cNvSpPr>
                <a:spLocks noChangeShapeType="1"/>
              </p:cNvSpPr>
              <p:nvPr/>
            </p:nvSpPr>
            <p:spPr bwMode="auto">
              <a:xfrm flipV="1">
                <a:off x="1344" y="139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9" name="Line 1046"/>
              <p:cNvSpPr>
                <a:spLocks noChangeShapeType="1"/>
              </p:cNvSpPr>
              <p:nvPr/>
            </p:nvSpPr>
            <p:spPr bwMode="auto">
              <a:xfrm>
                <a:off x="1344" y="139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14" name="Group 1071"/>
            <p:cNvGrpSpPr/>
            <p:nvPr/>
          </p:nvGrpSpPr>
          <p:grpSpPr bwMode="auto">
            <a:xfrm>
              <a:off x="1752600" y="3568700"/>
              <a:ext cx="838200" cy="850900"/>
              <a:chOff x="1104" y="2248"/>
              <a:chExt cx="528" cy="768"/>
            </a:xfrm>
          </p:grpSpPr>
          <p:sp>
            <p:nvSpPr>
              <p:cNvPr id="44" name="Line 1072"/>
              <p:cNvSpPr>
                <a:spLocks noChangeShapeType="1"/>
              </p:cNvSpPr>
              <p:nvPr/>
            </p:nvSpPr>
            <p:spPr bwMode="auto">
              <a:xfrm>
                <a:off x="1104" y="225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5" name="Line 1073"/>
              <p:cNvSpPr>
                <a:spLocks noChangeShapeType="1"/>
              </p:cNvSpPr>
              <p:nvPr/>
            </p:nvSpPr>
            <p:spPr bwMode="auto">
              <a:xfrm flipV="1">
                <a:off x="1344" y="2248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6" name="Line 1074"/>
              <p:cNvSpPr>
                <a:spLocks noChangeShapeType="1"/>
              </p:cNvSpPr>
              <p:nvPr/>
            </p:nvSpPr>
            <p:spPr bwMode="auto">
              <a:xfrm>
                <a:off x="1344" y="30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sp>
          <p:nvSpPr>
            <p:cNvPr id="15" name="Line 1099"/>
            <p:cNvSpPr>
              <a:spLocks noChangeShapeType="1"/>
            </p:cNvSpPr>
            <p:nvPr/>
          </p:nvSpPr>
          <p:spPr bwMode="auto">
            <a:xfrm>
              <a:off x="3962400" y="24384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6" name="Line 1100"/>
            <p:cNvSpPr>
              <a:spLocks noChangeShapeType="1"/>
            </p:cNvSpPr>
            <p:nvPr/>
          </p:nvSpPr>
          <p:spPr bwMode="auto">
            <a:xfrm>
              <a:off x="4419600" y="44958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7" name="Line 1101"/>
            <p:cNvSpPr>
              <a:spLocks noChangeShapeType="1"/>
            </p:cNvSpPr>
            <p:nvPr/>
          </p:nvSpPr>
          <p:spPr bwMode="auto">
            <a:xfrm>
              <a:off x="4419600" y="2438400"/>
              <a:ext cx="0" cy="2057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8" name="Line 1102"/>
            <p:cNvSpPr>
              <a:spLocks noChangeShapeType="1"/>
            </p:cNvSpPr>
            <p:nvPr/>
          </p:nvSpPr>
          <p:spPr bwMode="auto">
            <a:xfrm>
              <a:off x="3975100" y="42799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9" name="Line 1103"/>
            <p:cNvSpPr>
              <a:spLocks noChangeShapeType="1"/>
            </p:cNvSpPr>
            <p:nvPr/>
          </p:nvSpPr>
          <p:spPr bwMode="auto">
            <a:xfrm flipV="1">
              <a:off x="4648200" y="2667000"/>
              <a:ext cx="0" cy="1600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1" name="Line 1104"/>
            <p:cNvSpPr>
              <a:spLocks noChangeShapeType="1"/>
            </p:cNvSpPr>
            <p:nvPr/>
          </p:nvSpPr>
          <p:spPr bwMode="auto">
            <a:xfrm>
              <a:off x="4648200" y="26670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2" name="Line 1105"/>
            <p:cNvSpPr>
              <a:spLocks noChangeShapeType="1"/>
            </p:cNvSpPr>
            <p:nvPr/>
          </p:nvSpPr>
          <p:spPr bwMode="auto">
            <a:xfrm>
              <a:off x="6248400" y="259080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grpSp>
          <p:nvGrpSpPr>
            <p:cNvPr id="23" name="Group 1111"/>
            <p:cNvGrpSpPr/>
            <p:nvPr/>
          </p:nvGrpSpPr>
          <p:grpSpPr bwMode="auto">
            <a:xfrm>
              <a:off x="6477000" y="2133600"/>
              <a:ext cx="774700" cy="2743200"/>
              <a:chOff x="4080" y="1344"/>
              <a:chExt cx="488" cy="1728"/>
            </a:xfrm>
          </p:grpSpPr>
          <p:sp>
            <p:nvSpPr>
              <p:cNvPr id="39" name="Line 1106"/>
              <p:cNvSpPr>
                <a:spLocks noChangeShapeType="1"/>
              </p:cNvSpPr>
              <p:nvPr/>
            </p:nvSpPr>
            <p:spPr bwMode="auto">
              <a:xfrm>
                <a:off x="4088" y="134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0" name="Line 1107"/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1" name="Line 1108"/>
              <p:cNvSpPr>
                <a:spLocks noChangeShapeType="1"/>
              </p:cNvSpPr>
              <p:nvPr/>
            </p:nvSpPr>
            <p:spPr bwMode="auto">
              <a:xfrm>
                <a:off x="4080" y="192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2" name="Line 1109"/>
              <p:cNvSpPr>
                <a:spLocks noChangeShapeType="1"/>
              </p:cNvSpPr>
              <p:nvPr/>
            </p:nvSpPr>
            <p:spPr bwMode="auto">
              <a:xfrm>
                <a:off x="4080" y="249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43" name="Line 1110"/>
              <p:cNvSpPr>
                <a:spLocks noChangeShapeType="1"/>
              </p:cNvSpPr>
              <p:nvPr/>
            </p:nvSpPr>
            <p:spPr bwMode="auto">
              <a:xfrm>
                <a:off x="4088" y="305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grpSp>
          <p:nvGrpSpPr>
            <p:cNvPr id="24" name="Group 1112"/>
            <p:cNvGrpSpPr/>
            <p:nvPr/>
          </p:nvGrpSpPr>
          <p:grpSpPr bwMode="auto">
            <a:xfrm>
              <a:off x="6896100" y="2286000"/>
              <a:ext cx="330200" cy="2743200"/>
              <a:chOff x="4080" y="1344"/>
              <a:chExt cx="488" cy="1728"/>
            </a:xfrm>
          </p:grpSpPr>
          <p:sp>
            <p:nvSpPr>
              <p:cNvPr id="34" name="Line 1113"/>
              <p:cNvSpPr>
                <a:spLocks noChangeShapeType="1"/>
              </p:cNvSpPr>
              <p:nvPr/>
            </p:nvSpPr>
            <p:spPr bwMode="auto">
              <a:xfrm>
                <a:off x="4088" y="1344"/>
                <a:ext cx="0" cy="17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5" name="Line 1114"/>
              <p:cNvSpPr>
                <a:spLocks noChangeShapeType="1"/>
              </p:cNvSpPr>
              <p:nvPr/>
            </p:nvSpPr>
            <p:spPr bwMode="auto">
              <a:xfrm>
                <a:off x="4080" y="1344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6" name="Line 1115"/>
              <p:cNvSpPr>
                <a:spLocks noChangeShapeType="1"/>
              </p:cNvSpPr>
              <p:nvPr/>
            </p:nvSpPr>
            <p:spPr bwMode="auto">
              <a:xfrm>
                <a:off x="4080" y="192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7" name="Line 1116"/>
              <p:cNvSpPr>
                <a:spLocks noChangeShapeType="1"/>
              </p:cNvSpPr>
              <p:nvPr/>
            </p:nvSpPr>
            <p:spPr bwMode="auto">
              <a:xfrm>
                <a:off x="4080" y="249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38" name="Line 1117"/>
              <p:cNvSpPr>
                <a:spLocks noChangeShapeType="1"/>
              </p:cNvSpPr>
              <p:nvPr/>
            </p:nvSpPr>
            <p:spPr bwMode="auto">
              <a:xfrm>
                <a:off x="4088" y="305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2400">
                  <a:latin typeface="+mn-ea"/>
                </a:endParaRPr>
              </a:p>
            </p:txBody>
          </p:sp>
        </p:grpSp>
        <p:sp>
          <p:nvSpPr>
            <p:cNvPr id="25" name="Line 1118"/>
            <p:cNvSpPr>
              <a:spLocks noChangeShapeType="1"/>
            </p:cNvSpPr>
            <p:nvPr/>
          </p:nvSpPr>
          <p:spPr bwMode="auto">
            <a:xfrm>
              <a:off x="6248400" y="44196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6" name="Oval 1119"/>
            <p:cNvSpPr>
              <a:spLocks noChangeArrowheads="1"/>
            </p:cNvSpPr>
            <p:nvPr/>
          </p:nvSpPr>
          <p:spPr bwMode="auto">
            <a:xfrm>
              <a:off x="4572000" y="4191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7" name="Oval 1120"/>
            <p:cNvSpPr>
              <a:spLocks noChangeArrowheads="1"/>
            </p:cNvSpPr>
            <p:nvPr/>
          </p:nvSpPr>
          <p:spPr bwMode="auto">
            <a:xfrm>
              <a:off x="6400800" y="2514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8" name="Oval 1121"/>
            <p:cNvSpPr>
              <a:spLocks noChangeArrowheads="1"/>
            </p:cNvSpPr>
            <p:nvPr/>
          </p:nvSpPr>
          <p:spPr bwMode="auto">
            <a:xfrm>
              <a:off x="68199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9" name="Oval 1122"/>
            <p:cNvSpPr>
              <a:spLocks noChangeArrowheads="1"/>
            </p:cNvSpPr>
            <p:nvPr/>
          </p:nvSpPr>
          <p:spPr bwMode="auto">
            <a:xfrm>
              <a:off x="68072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0" name="Oval 1123"/>
            <p:cNvSpPr>
              <a:spLocks noChangeArrowheads="1"/>
            </p:cNvSpPr>
            <p:nvPr/>
          </p:nvSpPr>
          <p:spPr bwMode="auto">
            <a:xfrm>
              <a:off x="6807200" y="4038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1" name="Oval 1124"/>
            <p:cNvSpPr>
              <a:spLocks noChangeArrowheads="1"/>
            </p:cNvSpPr>
            <p:nvPr/>
          </p:nvSpPr>
          <p:spPr bwMode="auto">
            <a:xfrm>
              <a:off x="4343400" y="2362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2" name="Oval 1125"/>
            <p:cNvSpPr>
              <a:spLocks noChangeArrowheads="1"/>
            </p:cNvSpPr>
            <p:nvPr/>
          </p:nvSpPr>
          <p:spPr bwMode="auto">
            <a:xfrm>
              <a:off x="6400800" y="38862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3" name="Oval 1127"/>
            <p:cNvSpPr>
              <a:spLocks noChangeArrowheads="1"/>
            </p:cNvSpPr>
            <p:nvPr/>
          </p:nvSpPr>
          <p:spPr bwMode="auto">
            <a:xfrm>
              <a:off x="64008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设备的控制方式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íśľïḋé"/>
          <p:cNvSpPr/>
          <p:nvPr/>
        </p:nvSpPr>
        <p:spPr>
          <a:xfrm>
            <a:off x="4182745" y="4017010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ïSḻiḍé"/>
          <p:cNvSpPr txBox="1"/>
          <p:nvPr/>
        </p:nvSpPr>
        <p:spPr>
          <a:xfrm>
            <a:off x="360680" y="972820"/>
            <a:ext cx="7335520" cy="10502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1.</a:t>
            </a:r>
            <a:r>
              <a:rPr lang="zh-CN" altLang="en-US" sz="2400" dirty="0" smtClean="0">
                <a:latin typeface="+mj-ea"/>
                <a:ea typeface="+mj-ea"/>
              </a:rPr>
              <a:t>使用</a:t>
            </a:r>
            <a:r>
              <a:rPr lang="zh-CN" altLang="en-US" sz="2400" b="1" dirty="0">
                <a:solidFill>
                  <a:schemeClr val="accent3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轮询</a:t>
            </a:r>
            <a:r>
              <a:rPr lang="zh-CN" altLang="en-US" sz="2400" dirty="0">
                <a:latin typeface="+mj-ea"/>
                <a:ea typeface="+mj-ea"/>
              </a:rPr>
              <a:t>的可编程</a:t>
            </a:r>
            <a:r>
              <a:rPr lang="en-US" altLang="zh-CN" sz="2400" dirty="0">
                <a:latin typeface="+mj-ea"/>
                <a:ea typeface="+mj-ea"/>
              </a:rPr>
              <a:t>I/O</a:t>
            </a:r>
            <a:r>
              <a:rPr lang="zh-CN" altLang="en-US" sz="2400" dirty="0">
                <a:latin typeface="+mj-ea"/>
                <a:ea typeface="+mj-ea"/>
              </a:rPr>
              <a:t>方式（基本不用）</a:t>
            </a:r>
            <a:endParaRPr lang="zh-CN" altLang="en-US" sz="2400" dirty="0">
              <a:latin typeface="+mj-ea"/>
              <a:ea typeface="+mj-ea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+mj-ea"/>
                <a:ea typeface="+mj-ea"/>
              </a:rPr>
              <a:t>实现容易，但效率偏低，</a:t>
            </a:r>
            <a:r>
              <a:rPr lang="en-US" altLang="zh-CN" sz="2200" dirty="0">
                <a:latin typeface="+mj-ea"/>
                <a:ea typeface="+mj-ea"/>
              </a:rPr>
              <a:t>CPU</a:t>
            </a:r>
            <a:r>
              <a:rPr lang="zh-CN" altLang="en-US" sz="2200" dirty="0">
                <a:latin typeface="+mj-ea"/>
                <a:ea typeface="+mj-ea"/>
              </a:rPr>
              <a:t>会长期处于</a:t>
            </a:r>
            <a:r>
              <a:rPr lang="zh-CN" altLang="en-US" sz="2200" dirty="0" smtClean="0">
                <a:latin typeface="+mj-ea"/>
                <a:ea typeface="+mj-ea"/>
              </a:rPr>
              <a:t>忙等</a:t>
            </a:r>
            <a:endParaRPr lang="zh-CN" altLang="en-US" sz="2200" dirty="0">
              <a:latin typeface="+mj-ea"/>
              <a:ea typeface="+mj-ea"/>
            </a:endParaRPr>
          </a:p>
        </p:txBody>
      </p:sp>
      <p:sp>
        <p:nvSpPr>
          <p:cNvPr id="11" name="îŝľîḓè"/>
          <p:cNvSpPr txBox="1"/>
          <p:nvPr/>
        </p:nvSpPr>
        <p:spPr>
          <a:xfrm>
            <a:off x="360680" y="2023110"/>
            <a:ext cx="9001760" cy="80962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lvl="1">
              <a:spcBef>
                <a:spcPts val="575"/>
              </a:spcBef>
              <a:buClr>
                <a:schemeClr val="accent1"/>
              </a:buClr>
            </a:pPr>
            <a:r>
              <a:rPr lang="en-US" altLang="zh-CN" sz="2400" dirty="0" smtClean="0"/>
              <a:t>2.</a:t>
            </a:r>
            <a:r>
              <a:rPr lang="zh-CN" altLang="en-US" sz="2400" dirty="0" smtClean="0"/>
              <a:t>使用</a:t>
            </a:r>
            <a:r>
              <a:rPr lang="zh-CN" altLang="en-US" sz="24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中断</a:t>
            </a:r>
            <a:r>
              <a:rPr lang="zh-CN" altLang="en-US" sz="2400" dirty="0"/>
              <a:t>的可编程</a:t>
            </a:r>
            <a:r>
              <a:rPr lang="en-US" altLang="zh-CN" sz="2400" dirty="0"/>
              <a:t>I/O</a:t>
            </a:r>
            <a:r>
              <a:rPr lang="zh-CN" altLang="en-US" sz="2400" dirty="0"/>
              <a:t>方式（</a:t>
            </a:r>
            <a:r>
              <a:rPr lang="zh-CN" altLang="zh-CN" sz="2400" dirty="0">
                <a:solidFill>
                  <a:srgbClr val="FF0000"/>
                </a:solidFill>
              </a:rPr>
              <a:t>广泛采用</a:t>
            </a:r>
            <a:r>
              <a:rPr lang="zh-CN" altLang="en-US" sz="2400" dirty="0"/>
              <a:t>）</a:t>
            </a:r>
            <a:endParaRPr lang="zh-CN" altLang="en-US" sz="2200" dirty="0"/>
          </a:p>
        </p:txBody>
      </p:sp>
      <p:sp>
        <p:nvSpPr>
          <p:cNvPr id="12" name="矩形 11"/>
          <p:cNvSpPr/>
          <p:nvPr/>
        </p:nvSpPr>
        <p:spPr>
          <a:xfrm>
            <a:off x="360680" y="3199015"/>
            <a:ext cx="10425559" cy="619419"/>
          </a:xfrm>
          <a:prstGeom prst="rect">
            <a:avLst/>
          </a:prstGeom>
        </p:spPr>
        <p:txBody>
          <a:bodyPr wrap="square">
            <a:noAutofit/>
          </a:bodyPr>
          <a:p>
            <a:pPr marL="457200" indent="-457200">
              <a:buFont typeface="+mj-lt"/>
              <a:buAutoNum type="arabicPeriod" startAt="3"/>
            </a:pPr>
            <a:r>
              <a:rPr lang="zh-CN" altLang="zh-CN" sz="2400" dirty="0"/>
              <a:t>直接存储器访问（</a:t>
            </a:r>
            <a:r>
              <a:rPr lang="en-US" altLang="zh-CN" sz="24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DMA</a:t>
            </a:r>
            <a:r>
              <a:rPr lang="zh-CN" altLang="zh-CN" sz="2400" dirty="0"/>
              <a:t>）方式</a:t>
            </a:r>
            <a:endParaRPr lang="en-US" altLang="zh-CN" sz="2400" dirty="0"/>
          </a:p>
        </p:txBody>
      </p:sp>
      <p:sp>
        <p:nvSpPr>
          <p:cNvPr id="13" name="矩形 12"/>
          <p:cNvSpPr/>
          <p:nvPr/>
        </p:nvSpPr>
        <p:spPr>
          <a:xfrm>
            <a:off x="577850" y="3737610"/>
            <a:ext cx="10425430" cy="130302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所传送的数据是从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</a:t>
            </a:r>
            <a:r>
              <a:rPr lang="zh-CN" altLang="en-US" sz="2400" b="1" u="sng" dirty="0"/>
              <a:t>直接送入内存</a:t>
            </a:r>
            <a:r>
              <a:rPr lang="zh-CN" altLang="en-US" sz="2400" dirty="0"/>
              <a:t>的，或者相反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/>
              <a:t>仅在传送一个或多个数据块的开始和结束时，才须</a:t>
            </a:r>
            <a:r>
              <a:rPr lang="en-US" altLang="zh-CN" sz="2400" dirty="0"/>
              <a:t>CPU</a:t>
            </a:r>
            <a:r>
              <a:rPr lang="zh-CN" altLang="en-US" sz="2400" dirty="0"/>
              <a:t>干预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360680" y="5475605"/>
            <a:ext cx="7543800" cy="619125"/>
          </a:xfrm>
          <a:prstGeom prst="rect">
            <a:avLst/>
          </a:prstGeom>
        </p:spPr>
        <p:txBody>
          <a:bodyPr wrap="square">
            <a:noAutofit/>
          </a:bodyPr>
          <a:p>
            <a:pPr marL="457200" indent="-457200">
              <a:buFont typeface="+mj-lt"/>
              <a:buAutoNum type="arabicPeriod" startAt="4"/>
            </a:pPr>
            <a:r>
              <a:rPr lang="zh-CN" altLang="en-US" sz="2400" b="1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通道</a:t>
            </a:r>
            <a:r>
              <a:rPr lang="zh-CN" altLang="en-US" sz="2400" dirty="0">
                <a:solidFill>
                  <a:schemeClr val="tx1"/>
                </a:solidFill>
              </a:rPr>
              <a:t>控制方式（不</a:t>
            </a:r>
            <a:r>
              <a:rPr lang="zh-CN" altLang="en-US" sz="2400" dirty="0">
                <a:solidFill>
                  <a:schemeClr val="tx1"/>
                </a:solidFill>
              </a:rPr>
              <a:t>在考研大纲</a:t>
            </a:r>
            <a:r>
              <a:rPr lang="zh-CN" altLang="en-US" sz="2400" dirty="0">
                <a:solidFill>
                  <a:schemeClr val="tx1"/>
                </a:solidFill>
              </a:rPr>
              <a:t>范畴）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 startAt="4"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3" name="右大括号 2"/>
          <p:cNvSpPr/>
          <p:nvPr/>
        </p:nvSpPr>
        <p:spPr>
          <a:xfrm>
            <a:off x="9052560" y="2322830"/>
            <a:ext cx="711835" cy="353504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843135" y="3429000"/>
            <a:ext cx="1757680" cy="95186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noAutofit/>
          </a:bodyPr>
          <a:p>
            <a:r>
              <a:rPr lang="zh-CN" altLang="en-US" sz="2400" dirty="0">
                <a:latin typeface="+mj-ea"/>
                <a:ea typeface="+mj-ea"/>
                <a:sym typeface="+mn-ea"/>
              </a:rPr>
              <a:t>主机和外设</a:t>
            </a:r>
            <a:endParaRPr lang="zh-CN" altLang="en-US" sz="2400" dirty="0">
              <a:latin typeface="+mj-ea"/>
              <a:ea typeface="+mj-ea"/>
              <a:sym typeface="+mn-ea"/>
            </a:endParaRPr>
          </a:p>
          <a:p>
            <a:r>
              <a:rPr lang="zh-CN" altLang="en-US" sz="2400" dirty="0">
                <a:latin typeface="+mj-ea"/>
                <a:ea typeface="+mj-ea"/>
                <a:sym typeface="+mn-ea"/>
              </a:rPr>
              <a:t>并行方式</a:t>
            </a:r>
            <a:endParaRPr lang="zh-CN" altLang="en-US" sz="2400" dirty="0">
              <a:latin typeface="+mj-ea"/>
              <a:ea typeface="+mj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58200" y="1081405"/>
            <a:ext cx="31426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highlight>
                  <a:srgbClr val="FFFF00"/>
                </a:highlight>
                <a:latin typeface="+mj-ea"/>
                <a:ea typeface="+mj-ea"/>
                <a:sym typeface="+mn-ea"/>
              </a:rPr>
              <a:t>主机和外设串行方式</a:t>
            </a:r>
            <a:endParaRPr lang="zh-CN" altLang="en-US" sz="2400" dirty="0">
              <a:highlight>
                <a:srgbClr val="FFFF00"/>
              </a:highlight>
              <a:latin typeface="+mj-ea"/>
              <a:ea typeface="+mj-ea"/>
              <a:sym typeface="+mn-ea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6211570" y="1310640"/>
            <a:ext cx="20485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9250" y="988695"/>
            <a:ext cx="11014710" cy="4798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en-US" altLang="zh-CN" sz="2400"/>
              <a:t> 1)</a:t>
            </a:r>
            <a:r>
              <a:rPr lang="zh-CN" altLang="en-US" sz="2400"/>
              <a:t>中断控制方式在</a:t>
            </a:r>
            <a:r>
              <a:rPr lang="zh-CN" altLang="en-US" sz="2400" b="1"/>
              <a:t>每个数据</a:t>
            </a:r>
            <a:r>
              <a:rPr lang="zh-CN" altLang="en-US" sz="2400"/>
              <a:t>传送完成后中断</a:t>
            </a:r>
            <a:r>
              <a:rPr lang="en-US" altLang="zh-CN" sz="2400"/>
              <a:t> CPU</a:t>
            </a:r>
            <a:r>
              <a:rPr lang="zh-CN" altLang="en-US" sz="2400"/>
              <a:t>，而</a:t>
            </a:r>
            <a:r>
              <a:rPr lang="en-US" altLang="zh-CN" sz="2400"/>
              <a:t>DMA</a:t>
            </a:r>
            <a:r>
              <a:rPr lang="zh-CN" altLang="en-US" sz="2400"/>
              <a:t>控制方式则在所要求传送的</a:t>
            </a:r>
            <a:r>
              <a:rPr lang="zh-CN" altLang="en-US" sz="2400" b="1"/>
              <a:t>一</a:t>
            </a:r>
            <a:r>
              <a:rPr lang="en-US" altLang="zh-CN" sz="2400" b="1"/>
              <a:t> </a:t>
            </a:r>
            <a:r>
              <a:rPr lang="zh-CN" altLang="en-US" sz="2400" b="1"/>
              <a:t>批数据</a:t>
            </a:r>
            <a:r>
              <a:rPr lang="zh-CN" altLang="en-US" sz="2400"/>
              <a:t>全部传送结束时中断</a:t>
            </a:r>
            <a:r>
              <a:rPr lang="en-US" altLang="zh-CN" sz="2400"/>
              <a:t>CPU</a:t>
            </a:r>
            <a:r>
              <a:rPr lang="zh-CN" altLang="en-US" sz="2400"/>
              <a:t>。</a:t>
            </a:r>
            <a:endParaRPr lang="en-US" altLang="zh-CN" sz="2400"/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en-US" altLang="zh-CN" sz="2400"/>
              <a:t>2</a:t>
            </a:r>
            <a:r>
              <a:rPr lang="zh-CN" altLang="en-US" sz="2400"/>
              <a:t>）中断控制方式的数据传送在中断处理时由</a:t>
            </a:r>
            <a:r>
              <a:rPr lang="en-US" altLang="zh-CN" sz="2400" b="1"/>
              <a:t>CPU </a:t>
            </a:r>
            <a:r>
              <a:rPr lang="zh-CN" altLang="en-US" sz="2400"/>
              <a:t>控制完成，而</a:t>
            </a:r>
            <a:r>
              <a:rPr lang="en-US" altLang="zh-CN" sz="2400"/>
              <a:t>DMA</a:t>
            </a:r>
            <a:r>
              <a:rPr lang="zh-CN" altLang="en-US" sz="2400"/>
              <a:t>控制方式则在</a:t>
            </a:r>
            <a:r>
              <a:rPr lang="en-US" altLang="zh-CN" sz="2400" b="1"/>
              <a:t>DMA </a:t>
            </a:r>
            <a:r>
              <a:rPr lang="zh-CN" altLang="en-US" sz="2400" b="1"/>
              <a:t>控制器</a:t>
            </a:r>
            <a:r>
              <a:rPr lang="zh-CN" altLang="en-US" sz="2400"/>
              <a:t>的控制下完成。不过，在</a:t>
            </a:r>
            <a:r>
              <a:rPr lang="en-US" altLang="zh-CN" sz="2400"/>
              <a:t>DMA</a:t>
            </a:r>
            <a:r>
              <a:rPr lang="zh-CN" altLang="en-US" sz="2400"/>
              <a:t>控制方式中，数据传送的方向、存放数据的内存始址及传送数据的长度等仍然由</a:t>
            </a:r>
            <a:r>
              <a:rPr lang="en-US" altLang="zh-CN" sz="2400"/>
              <a:t> CPU</a:t>
            </a:r>
            <a:r>
              <a:rPr lang="zh-CN" altLang="en-US" sz="2400"/>
              <a:t>控制。</a:t>
            </a:r>
            <a:endParaRPr lang="zh-CN" altLang="en-US" sz="2400"/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en-US" altLang="zh-CN" sz="2400"/>
              <a:t> 3</a:t>
            </a:r>
            <a:r>
              <a:rPr lang="zh-CN" altLang="en-US" sz="2400"/>
              <a:t>）</a:t>
            </a:r>
            <a:r>
              <a:rPr lang="en-US" altLang="zh-CN" sz="2400"/>
              <a:t>DMA</a:t>
            </a:r>
            <a:r>
              <a:rPr lang="zh-CN" altLang="en-US" sz="2400"/>
              <a:t>方式以</a:t>
            </a:r>
            <a:r>
              <a:rPr lang="zh-CN" altLang="en-US" sz="2400" b="1"/>
              <a:t>存储器</a:t>
            </a:r>
            <a:r>
              <a:rPr lang="zh-CN" altLang="en-US" sz="2400"/>
              <a:t>为核心，中断控制方式以</a:t>
            </a:r>
            <a:r>
              <a:rPr lang="en-US" altLang="zh-CN" sz="2400" b="1"/>
              <a:t>CPU</a:t>
            </a:r>
            <a:r>
              <a:rPr lang="zh-CN" altLang="en-US" sz="2400"/>
              <a:t>为核心。因此</a:t>
            </a:r>
            <a:r>
              <a:rPr lang="en-US" altLang="zh-CN" sz="2400"/>
              <a:t>DMA</a:t>
            </a:r>
            <a:r>
              <a:rPr lang="zh-CN" altLang="en-US" sz="2400"/>
              <a:t>方式能与</a:t>
            </a:r>
            <a:r>
              <a:rPr lang="en-US" altLang="zh-CN" sz="2400"/>
              <a:t>CPU</a:t>
            </a:r>
            <a:r>
              <a:rPr lang="zh-CN" altLang="en-US" sz="2400"/>
              <a:t>并行工作。</a:t>
            </a:r>
            <a:r>
              <a:rPr lang="en-US" altLang="zh-CN" sz="2400"/>
              <a:t> </a:t>
            </a:r>
            <a:endParaRPr lang="en-US" altLang="zh-CN" sz="1400"/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en-US" altLang="zh-CN" sz="2400"/>
              <a:t>4</a:t>
            </a:r>
            <a:r>
              <a:rPr lang="zh-CN" altLang="en-US" sz="2400"/>
              <a:t>）</a:t>
            </a:r>
            <a:r>
              <a:rPr lang="en-US" altLang="zh-CN" sz="2400"/>
              <a:t> DMA</a:t>
            </a:r>
            <a:r>
              <a:rPr lang="zh-CN" altLang="en-US" sz="2400"/>
              <a:t>方式传输</a:t>
            </a:r>
            <a:r>
              <a:rPr lang="zh-CN" altLang="en-US" sz="2400" b="1"/>
              <a:t>批</a:t>
            </a:r>
            <a:r>
              <a:rPr lang="zh-CN" altLang="en-US" sz="2400"/>
              <a:t>量的数据，中断控制方式的传输则以</a:t>
            </a:r>
            <a:r>
              <a:rPr lang="zh-CN" altLang="en-US" sz="2400" b="1"/>
              <a:t>字节</a:t>
            </a:r>
            <a:r>
              <a:rPr lang="zh-CN" altLang="en-US" sz="2400"/>
              <a:t>为单位</a:t>
            </a:r>
            <a:r>
              <a:rPr lang="en-US" altLang="zh-CN" sz="2400"/>
              <a:t>.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061085" y="1860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chemeClr val="bg1"/>
                </a:solidFill>
                <a:sym typeface="+mn-ea"/>
              </a:rPr>
              <a:t>DMA</a:t>
            </a:r>
            <a:r>
              <a:rPr lang="zh-CN" altLang="en-US" sz="2400" b="1">
                <a:solidFill>
                  <a:schemeClr val="bg1"/>
                </a:solidFill>
                <a:sym typeface="+mn-ea"/>
              </a:rPr>
              <a:t>控制方式与中断控制方式的主要区别</a:t>
            </a:r>
            <a:endParaRPr lang="zh-CN" altLang="en-US" sz="24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7.1 I/O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系统的功能、模型和接口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7.3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中断和中断处理程序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 smtClean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98604" y="2320932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4" name="右大括号 3"/>
          <p:cNvSpPr/>
          <p:nvPr/>
        </p:nvSpPr>
        <p:spPr>
          <a:xfrm>
            <a:off x="5281930" y="2967355"/>
            <a:ext cx="485775" cy="20085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959475" y="3646170"/>
            <a:ext cx="2904490" cy="793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I/O</a:t>
            </a:r>
            <a:r>
              <a:rPr lang="zh-CN" altLang="en-US" sz="3200"/>
              <a:t>软件层次</a:t>
            </a:r>
            <a:endParaRPr lang="zh-CN" altLang="en-US"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6550" y="1357630"/>
            <a:ext cx="11560810" cy="2480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3200">
                <a:sym typeface="+mn-ea"/>
              </a:rPr>
              <a:t>操作系统的设备管理模块分为若干个层次。低层软件用于屏蔽硬件细节的差异，高层软件向用户提供简洁、友善的界面，每一层都利用其下层提供的服务，来完成输入输出功能中的某些子功能，并屏蔽这些功能的实现细节，向高层提供服务。</a:t>
            </a:r>
            <a:endParaRPr lang="zh-CN" altLang="en-US" sz="32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0765" y="11049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solidFill>
                  <a:schemeClr val="bg1"/>
                </a:solidFill>
                <a:sym typeface="+mn-ea"/>
              </a:rPr>
              <a:t>I/O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软件层次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1123" b="1160"/>
          <a:stretch>
            <a:fillRect/>
          </a:stretch>
        </p:blipFill>
        <p:spPr>
          <a:xfrm rot="21420000">
            <a:off x="201930" y="429895"/>
            <a:ext cx="11854190" cy="55181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7.3 </a:t>
            </a:r>
            <a:r>
              <a:rPr lang="zh-CN" altLang="en-US" sz="2800" b="1" dirty="0">
                <a:solidFill>
                  <a:schemeClr val="bg1"/>
                </a:solidFill>
              </a:rPr>
              <a:t>中断和</a:t>
            </a:r>
            <a:r>
              <a:rPr lang="zh-CN" altLang="en-US" sz="2800" b="1" dirty="0">
                <a:solidFill>
                  <a:schemeClr val="bg1"/>
                </a:solidFill>
              </a:rPr>
              <a:t>中断处理程序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îs1iďé"/>
          <p:cNvSpPr/>
          <p:nvPr/>
        </p:nvSpPr>
        <p:spPr>
          <a:xfrm>
            <a:off x="476250" y="1155065"/>
            <a:ext cx="4182745" cy="53346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中断</a:t>
            </a:r>
            <a:r>
              <a:rPr lang="en-US" altLang="zh-CN" sz="2800" dirty="0">
                <a:solidFill>
                  <a:srgbClr val="FF0000"/>
                </a:solidFill>
              </a:rPr>
              <a:t>(Interrupt)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/>
              <a:t>引起中断常见事件：</a:t>
            </a:r>
            <a:endParaRPr lang="zh-CN" altLang="en-US" sz="2800" dirty="0"/>
          </a:p>
          <a:p>
            <a:pPr indent="0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dirty="0"/>
              <a:t> </a:t>
            </a:r>
            <a:r>
              <a:rPr lang="zh-CN" altLang="en-US" sz="2800" dirty="0"/>
              <a:t>数据传输完毕、缺页、设备出错、指令出错</a:t>
            </a:r>
            <a:endParaRPr lang="zh-CN" altLang="en-US" sz="2800" dirty="0"/>
          </a:p>
        </p:txBody>
      </p:sp>
      <p:sp>
        <p:nvSpPr>
          <p:cNvPr id="2" name="îşļïďè"/>
          <p:cNvSpPr/>
          <p:nvPr>
            <p:custDataLst>
              <p:tags r:id="rId1"/>
            </p:custDataLst>
          </p:nvPr>
        </p:nvSpPr>
        <p:spPr>
          <a:xfrm>
            <a:off x="5679979" y="5100228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05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îšḷîḑé"/>
          <p:cNvSpPr txBox="1"/>
          <p:nvPr>
            <p:custDataLst>
              <p:tags r:id="rId2"/>
            </p:custDataLst>
          </p:nvPr>
        </p:nvSpPr>
        <p:spPr>
          <a:xfrm>
            <a:off x="6935158" y="5423513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p>
            <a:pPr>
              <a:buClr>
                <a:srgbClr val="E71101"/>
              </a:buClr>
            </a:pPr>
            <a:r>
              <a:rPr lang="zh-CN" altLang="en-US" sz="2800" dirty="0"/>
              <a:t>恢复</a:t>
            </a:r>
            <a:r>
              <a:rPr lang="en-US" altLang="zh-CN" sz="2800" dirty="0"/>
              <a:t>CPU</a:t>
            </a:r>
            <a:r>
              <a:rPr lang="zh-CN" altLang="en-US" sz="2800" dirty="0"/>
              <a:t>现场并退出中断</a:t>
            </a:r>
            <a:endParaRPr lang="zh-CN" altLang="en-US" sz="2800" dirty="0"/>
          </a:p>
        </p:txBody>
      </p:sp>
      <p:sp>
        <p:nvSpPr>
          <p:cNvPr id="19" name="işlíḋé"/>
          <p:cNvSpPr/>
          <p:nvPr>
            <p:custDataLst>
              <p:tags r:id="rId3"/>
            </p:custDataLst>
          </p:nvPr>
        </p:nvSpPr>
        <p:spPr>
          <a:xfrm>
            <a:off x="5685418" y="4221652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04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iṥlïḋè"/>
          <p:cNvSpPr txBox="1"/>
          <p:nvPr>
            <p:custDataLst>
              <p:tags r:id="rId4"/>
            </p:custDataLst>
          </p:nvPr>
        </p:nvSpPr>
        <p:spPr>
          <a:xfrm>
            <a:off x="6935158" y="4544937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p>
            <a:pPr>
              <a:buClr>
                <a:srgbClr val="E71101"/>
              </a:buClr>
            </a:pPr>
            <a:r>
              <a:rPr lang="zh-CN" altLang="en-US" sz="2700" dirty="0">
                <a:solidFill>
                  <a:srgbClr val="0000FF"/>
                </a:solidFill>
              </a:rPr>
              <a:t>处理中断</a:t>
            </a:r>
            <a:endParaRPr lang="zh-CN" altLang="en-US" sz="2700" dirty="0">
              <a:solidFill>
                <a:srgbClr val="0000FF"/>
              </a:solidFill>
            </a:endParaRPr>
          </a:p>
        </p:txBody>
      </p:sp>
      <p:sp>
        <p:nvSpPr>
          <p:cNvPr id="22" name="i$1îḑe"/>
          <p:cNvSpPr/>
          <p:nvPr>
            <p:custDataLst>
              <p:tags r:id="rId5"/>
            </p:custDataLst>
          </p:nvPr>
        </p:nvSpPr>
        <p:spPr>
          <a:xfrm>
            <a:off x="5685418" y="3343076"/>
            <a:ext cx="1113511" cy="1113511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03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í$1îḍe"/>
          <p:cNvSpPr txBox="1"/>
          <p:nvPr>
            <p:custDataLst>
              <p:tags r:id="rId6"/>
            </p:custDataLst>
          </p:nvPr>
        </p:nvSpPr>
        <p:spPr>
          <a:xfrm>
            <a:off x="6935158" y="3666361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p>
            <a:pPr>
              <a:buClr>
                <a:srgbClr val="E71101"/>
              </a:buClr>
            </a:pPr>
            <a:r>
              <a:rPr lang="zh-CN" altLang="en-US" sz="2700" dirty="0"/>
              <a:t>转入相应的设备处理程序</a:t>
            </a:r>
            <a:endParaRPr lang="zh-CN" altLang="en-US" sz="2700" dirty="0"/>
          </a:p>
        </p:txBody>
      </p:sp>
      <p:sp>
        <p:nvSpPr>
          <p:cNvPr id="24" name="ïSļïḓè"/>
          <p:cNvSpPr/>
          <p:nvPr>
            <p:custDataLst>
              <p:tags r:id="rId7"/>
            </p:custDataLst>
          </p:nvPr>
        </p:nvSpPr>
        <p:spPr>
          <a:xfrm>
            <a:off x="5685418" y="2464500"/>
            <a:ext cx="1113511" cy="1113511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02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iŝļíďè"/>
          <p:cNvSpPr txBox="1"/>
          <p:nvPr>
            <p:custDataLst>
              <p:tags r:id="rId8"/>
            </p:custDataLst>
          </p:nvPr>
        </p:nvSpPr>
        <p:spPr>
          <a:xfrm>
            <a:off x="6935158" y="2787785"/>
            <a:ext cx="4659689" cy="430545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p>
            <a:pPr>
              <a:buClr>
                <a:srgbClr val="E71101"/>
              </a:buClr>
            </a:pPr>
            <a:r>
              <a:rPr lang="zh-CN" altLang="en-US" sz="2700" dirty="0"/>
              <a:t>保护被中断进程的</a:t>
            </a:r>
            <a:r>
              <a:rPr lang="en-US" altLang="zh-CN" sz="2700" dirty="0"/>
              <a:t>CPU</a:t>
            </a:r>
            <a:r>
              <a:rPr lang="zh-CN" altLang="en-US" sz="2700" dirty="0"/>
              <a:t>现场</a:t>
            </a:r>
            <a:endParaRPr lang="zh-CN" altLang="en-US" sz="2700" dirty="0"/>
          </a:p>
        </p:txBody>
      </p:sp>
      <p:sp>
        <p:nvSpPr>
          <p:cNvPr id="26" name="ïśľiďe"/>
          <p:cNvSpPr/>
          <p:nvPr>
            <p:custDataLst>
              <p:tags r:id="rId9"/>
            </p:custDataLst>
          </p:nvPr>
        </p:nvSpPr>
        <p:spPr>
          <a:xfrm>
            <a:off x="5685420" y="1585924"/>
            <a:ext cx="1113511" cy="111351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p>
            <a:pPr algn="ctr"/>
            <a:r>
              <a:rPr lang="en-US" altLang="zh-CN" sz="2400">
                <a:solidFill>
                  <a:schemeClr val="bg1"/>
                </a:solidFill>
                <a:latin typeface="+mj-lt"/>
              </a:rPr>
              <a:t>01</a:t>
            </a:r>
            <a:endParaRPr lang="en-US" altLang="zh-CN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îṡ1ide"/>
          <p:cNvSpPr txBox="1"/>
          <p:nvPr>
            <p:custDataLst>
              <p:tags r:id="rId10"/>
            </p:custDataLst>
          </p:nvPr>
        </p:nvSpPr>
        <p:spPr>
          <a:xfrm>
            <a:off x="6935470" y="1909445"/>
            <a:ext cx="4921885" cy="430530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p>
            <a:pPr>
              <a:buClr>
                <a:srgbClr val="E71101"/>
              </a:buClr>
            </a:pPr>
            <a:r>
              <a:rPr lang="zh-CN" altLang="en-US" sz="2800" dirty="0"/>
              <a:t>测定是否有未响应的中断信号</a:t>
            </a:r>
            <a:endParaRPr lang="zh-CN" altLang="en-US" sz="2800" dirty="0"/>
          </a:p>
        </p:txBody>
      </p:sp>
      <p:cxnSp>
        <p:nvCxnSpPr>
          <p:cNvPr id="28" name="直接连接符 27"/>
          <p:cNvCxnSpPr/>
          <p:nvPr>
            <p:custDataLst>
              <p:tags r:id="rId11"/>
            </p:custDataLst>
          </p:nvPr>
        </p:nvCxnSpPr>
        <p:spPr>
          <a:xfrm>
            <a:off x="6793489" y="2492105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2"/>
            </p:custDataLst>
          </p:nvPr>
        </p:nvCxnSpPr>
        <p:spPr>
          <a:xfrm>
            <a:off x="6793489" y="338020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3"/>
            </p:custDataLst>
          </p:nvPr>
        </p:nvCxnSpPr>
        <p:spPr>
          <a:xfrm>
            <a:off x="6793489" y="427555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14"/>
            </p:custDataLst>
          </p:nvPr>
        </p:nvCxnSpPr>
        <p:spPr>
          <a:xfrm>
            <a:off x="6793489" y="5170906"/>
            <a:ext cx="46596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20090" y="880110"/>
            <a:ext cx="11050270" cy="233616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假设某通信接口中设有一个</a:t>
            </a:r>
            <a:r>
              <a:rPr lang="en-US" altLang="zh-CN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位寄存器，在利用该接口进行通信时，其通信速率为</a:t>
            </a:r>
            <a:r>
              <a:rPr lang="en-US" altLang="zh-CN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9.6Kb/s </a:t>
            </a:r>
            <a:r>
              <a:rPr lang="zh-CN" altLang="en-US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。请回答：</a:t>
            </a:r>
            <a:endParaRPr lang="zh-CN" altLang="en-US" sz="280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）每隔多久需中断一次</a:t>
            </a:r>
            <a:r>
              <a:rPr lang="en-US" altLang="zh-CN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280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）如果中断处理时间为</a:t>
            </a:r>
            <a:r>
              <a:rPr lang="en-US" altLang="zh-CN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0.7ms</a:t>
            </a:r>
            <a:r>
              <a:rPr lang="zh-CN" altLang="en-US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280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必须在多长时间内给予响应？</a:t>
            </a:r>
            <a:endParaRPr lang="zh-CN" altLang="en-US" sz="280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0445" y="4028440"/>
            <a:ext cx="10001250" cy="22999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p>
            <a:r>
              <a:rPr lang="en-US" altLang="zh-CN" sz="2800"/>
              <a:t>(1)</a:t>
            </a:r>
            <a:r>
              <a:rPr lang="zh-CN" altLang="en-US" sz="2800"/>
              <a:t>已知通信速率为</a:t>
            </a:r>
            <a:r>
              <a:rPr lang="en-US" altLang="zh-CN" sz="2800"/>
              <a:t>9.6Kb/ s </a:t>
            </a:r>
            <a:r>
              <a:rPr lang="zh-CN" altLang="en-US" sz="2800"/>
              <a:t>，每秒传输</a:t>
            </a:r>
            <a:r>
              <a:rPr lang="en-US" altLang="zh-CN" sz="2800"/>
              <a:t>9600b</a:t>
            </a:r>
            <a:r>
              <a:rPr lang="zh-CN" altLang="en-US" sz="2800"/>
              <a:t>，需中断</a:t>
            </a:r>
            <a:r>
              <a:rPr lang="en-US" altLang="zh-CN" sz="2800"/>
              <a:t>9600/8=1200</a:t>
            </a:r>
            <a:r>
              <a:rPr lang="zh-CN" altLang="en-US" sz="2800"/>
              <a:t>次，间隔为</a:t>
            </a:r>
            <a:r>
              <a:rPr lang="en-US" altLang="zh-CN" sz="2800"/>
              <a:t>1/1200=0.83ms</a:t>
            </a:r>
            <a:r>
              <a:rPr lang="zh-CN" altLang="en-US" sz="2800"/>
              <a:t>。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(2</a:t>
            </a:r>
            <a:r>
              <a:rPr lang="zh-CN" altLang="en-US" sz="2800"/>
              <a:t>）因为中断处理时间为</a:t>
            </a:r>
            <a:r>
              <a:rPr lang="en-US" altLang="zh-CN" sz="2800"/>
              <a:t>0.7ms</a:t>
            </a:r>
            <a:r>
              <a:rPr lang="zh-CN" altLang="en-US" sz="2800"/>
              <a:t>，每间隔</a:t>
            </a:r>
            <a:r>
              <a:rPr lang="en-US" altLang="zh-CN" sz="2800"/>
              <a:t>0.83ms</a:t>
            </a:r>
            <a:r>
              <a:rPr lang="zh-CN" altLang="en-US" sz="2800"/>
              <a:t>就会产生新的中断，因此 </a:t>
            </a:r>
            <a:r>
              <a:rPr lang="en-US" altLang="zh-CN" sz="2800"/>
              <a:t>CPU </a:t>
            </a:r>
            <a:r>
              <a:rPr lang="zh-CN" altLang="en-US" sz="2800"/>
              <a:t>必须在</a:t>
            </a:r>
            <a:r>
              <a:rPr lang="en-US" altLang="zh-CN" sz="2800"/>
              <a:t>0.83-0.7=0.13ms</a:t>
            </a:r>
            <a:r>
              <a:rPr lang="zh-CN" altLang="en-US" sz="2800"/>
              <a:t>内响应。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/>
          <p:nvPr/>
        </p:nvSpPr>
        <p:spPr>
          <a:xfrm>
            <a:off x="4509135" y="2844165"/>
            <a:ext cx="196278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+mj-ea"/>
              </a:rPr>
              <a:t>随堂练习</a:t>
            </a:r>
            <a:endParaRPr lang="zh-CN" altLang="en-US" sz="2400" dirty="0">
              <a:solidFill>
                <a:srgbClr val="FF0000"/>
              </a:solidFill>
              <a:latin typeface="+mj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7.1 I/O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系统的功能、模型和接口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7.4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设备驱动程序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4" name="右大括号 3"/>
          <p:cNvSpPr/>
          <p:nvPr/>
        </p:nvSpPr>
        <p:spPr>
          <a:xfrm>
            <a:off x="5281930" y="2967355"/>
            <a:ext cx="485775" cy="20085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959475" y="3646170"/>
            <a:ext cx="2904490" cy="793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I/O</a:t>
            </a:r>
            <a:r>
              <a:rPr lang="zh-CN" altLang="en-US" sz="3200"/>
              <a:t>软件层次</a:t>
            </a:r>
            <a:endParaRPr lang="zh-CN" altLang="en-US"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1123" b="1160"/>
          <a:stretch>
            <a:fillRect/>
          </a:stretch>
        </p:blipFill>
        <p:spPr>
          <a:xfrm rot="21420000">
            <a:off x="201930" y="429895"/>
            <a:ext cx="11854190" cy="55181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21420000">
            <a:off x="2230755" y="3261995"/>
            <a:ext cx="3672205" cy="739775"/>
          </a:xfrm>
          <a:prstGeom prst="rect">
            <a:avLst/>
          </a:prstGeom>
          <a:ln w="762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7.4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365250" y="939165"/>
            <a:ext cx="10313035" cy="16186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设备驱动程序的作用</a:t>
            </a:r>
            <a:endParaRPr lang="en-US" altLang="zh-CN" sz="2800" dirty="0" smtClean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+mn-ea"/>
              </a:rPr>
              <a:t>接收上层软件发来的抽象</a:t>
            </a:r>
            <a:r>
              <a:rPr lang="en-US" altLang="zh-CN" sz="2800" dirty="0" smtClean="0">
                <a:latin typeface="+mn-ea"/>
              </a:rPr>
              <a:t>I/O</a:t>
            </a:r>
            <a:r>
              <a:rPr lang="zh-CN" altLang="en-US" sz="2800" dirty="0" smtClean="0">
                <a:latin typeface="+mn-ea"/>
              </a:rPr>
              <a:t>请求，再把它们转换为具体要求后，发送给设备控制器的</a:t>
            </a:r>
            <a:r>
              <a:rPr lang="zh-CN" altLang="en-US" sz="2800" dirty="0" smtClean="0">
                <a:latin typeface="+mn-ea"/>
              </a:rPr>
              <a:t>寄存器，启动设备去执行</a:t>
            </a:r>
            <a:endParaRPr lang="zh-CN" altLang="en-US" sz="28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sz="2800" dirty="0" smtClean="0">
              <a:latin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endParaRPr lang="en-US" altLang="zh-CN" sz="2800" dirty="0" smtClean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0370" y="108857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675" y="32640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6" name="内容占位符 2"/>
          <p:cNvSpPr txBox="1"/>
          <p:nvPr/>
        </p:nvSpPr>
        <p:spPr>
          <a:xfrm>
            <a:off x="1365250" y="2795270"/>
            <a:ext cx="10313035" cy="37045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设备驱动程序的功能</a:t>
            </a:r>
            <a:endParaRPr lang="en-US" altLang="zh-CN" sz="2800" dirty="0" smtClean="0">
              <a:solidFill>
                <a:srgbClr val="FF0000"/>
              </a:solidFill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chemeClr val="accent3">
                    <a:lumMod val="50000"/>
                    <a:lumOff val="50000"/>
                  </a:schemeClr>
                </a:solidFill>
                <a:latin typeface="+mn-ea"/>
              </a:rPr>
              <a:t>负责处理与设备相关的中断处理过程</a:t>
            </a:r>
            <a:endParaRPr lang="zh-CN" altLang="en-US" sz="2800" dirty="0" smtClean="0">
              <a:latin typeface="+mn-ea"/>
            </a:endParaRPr>
          </a:p>
          <a:p>
            <a:pPr marL="325755" lvl="1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>
                <a:sym typeface="+mn-ea"/>
              </a:rPr>
              <a:t>不同厂家生产的设备通常提供了不同的设备驱动程序，不同的设备驱动程序对应不同的中断处理</a:t>
            </a:r>
            <a:endParaRPr lang="zh-CN" altLang="en-US" sz="24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chemeClr val="accent3">
                    <a:lumMod val="50000"/>
                    <a:lumOff val="50000"/>
                  </a:schemeClr>
                </a:solidFill>
                <a:latin typeface="+mn-ea"/>
              </a:rPr>
              <a:t>负责处理磁盘调度</a:t>
            </a:r>
            <a:endParaRPr lang="zh-CN" altLang="en-US" sz="2800" dirty="0" smtClean="0">
              <a:latin typeface="+mn-ea"/>
            </a:endParaRPr>
          </a:p>
          <a:p>
            <a:pPr marL="325755" lvl="1" indent="0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>
                <a:sym typeface="+mn-ea"/>
              </a:rPr>
              <a:t>不同型号的磁盘的调度方式不一定相同，磁盘调度由磁盘驱动程序完成</a:t>
            </a:r>
            <a:endParaRPr lang="zh-CN" altLang="en-US" sz="2400"/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800" dirty="0" smtClean="0">
              <a:latin typeface="+mn-ea"/>
            </a:endParaRPr>
          </a:p>
          <a:p>
            <a:pPr lvl="1" indent="-360045">
              <a:lnSpc>
                <a:spcPct val="123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sz="2800" dirty="0" smtClean="0">
              <a:latin typeface="+mn-ea"/>
            </a:endParaRPr>
          </a:p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endParaRPr lang="en-US" altLang="zh-CN" sz="2800" dirty="0" smtClean="0">
              <a:latin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20420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04488" y="1477417"/>
            <a:ext cx="10970324" cy="4388621"/>
            <a:chOff x="604488" y="1747927"/>
            <a:chExt cx="10970324" cy="4388621"/>
          </a:xfrm>
        </p:grpSpPr>
        <p:sp>
          <p:nvSpPr>
            <p:cNvPr id="8" name="iśḷíḑe"/>
            <p:cNvSpPr/>
            <p:nvPr>
              <p:custDataLst>
                <p:tags r:id="rId2"/>
              </p:custDataLst>
            </p:nvPr>
          </p:nvSpPr>
          <p:spPr>
            <a:xfrm>
              <a:off x="3262313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01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9" name="ïś1ïḑè"/>
            <p:cNvSpPr/>
            <p:nvPr>
              <p:custDataLst>
                <p:tags r:id="rId3"/>
              </p:custDataLst>
            </p:nvPr>
          </p:nvSpPr>
          <p:spPr>
            <a:xfrm>
              <a:off x="4243388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02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0" name="直接箭头连接符 9"/>
            <p:cNvCxnSpPr>
              <a:endCxn id="8" idx="6"/>
            </p:cNvCxnSpPr>
            <p:nvPr>
              <p:custDataLst>
                <p:tags r:id="rId4"/>
              </p:custDataLst>
            </p:nvPr>
          </p:nvCxnSpPr>
          <p:spPr>
            <a:xfrm flipH="1" flipV="1">
              <a:off x="3986213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12" idx="1"/>
              <a:endCxn id="9" idx="5"/>
            </p:cNvCxnSpPr>
            <p:nvPr>
              <p:custDataLst>
                <p:tags r:id="rId5"/>
              </p:custDataLst>
            </p:nvPr>
          </p:nvCxnSpPr>
          <p:spPr>
            <a:xfrm flipH="1" flipV="1">
              <a:off x="4861275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ïṥlîďe"/>
            <p:cNvSpPr/>
            <p:nvPr>
              <p:custDataLst>
                <p:tags r:id="rId6"/>
              </p:custDataLst>
            </p:nvPr>
          </p:nvSpPr>
          <p:spPr>
            <a:xfrm>
              <a:off x="5514975" y="4974498"/>
              <a:ext cx="1162050" cy="1162050"/>
            </a:xfrm>
            <a:prstGeom prst="donu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1DADD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p>
              <a:pPr algn="ctr" defTabSz="914400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ïṧľîdê"/>
            <p:cNvSpPr/>
            <p:nvPr>
              <p:custDataLst>
                <p:tags r:id="rId7"/>
              </p:custDataLst>
            </p:nvPr>
          </p:nvSpPr>
          <p:spPr>
            <a:xfrm>
              <a:off x="5734050" y="2361349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03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4" name="直接箭头连接符 13"/>
            <p:cNvCxnSpPr>
              <a:stCxn id="12" idx="0"/>
              <a:endCxn id="13" idx="4"/>
            </p:cNvCxnSpPr>
            <p:nvPr>
              <p:custDataLst>
                <p:tags r:id="rId8"/>
              </p:custDataLst>
            </p:nvPr>
          </p:nvCxnSpPr>
          <p:spPr>
            <a:xfrm flipV="1">
              <a:off x="6096000" y="3085249"/>
              <a:ext cx="0" cy="188924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ï$1ïdé"/>
            <p:cNvSpPr/>
            <p:nvPr>
              <p:custDataLst>
                <p:tags r:id="rId9"/>
              </p:custDataLst>
            </p:nvPr>
          </p:nvSpPr>
          <p:spPr>
            <a:xfrm>
              <a:off x="7224712" y="3225670"/>
              <a:ext cx="723900" cy="7239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p>
              <a:pPr algn="ctr" defTabSz="1218565">
                <a:defRPr/>
              </a:pPr>
              <a:r>
                <a:rPr lang="en-US" altLang="zh-CN" sz="2300" b="1" kern="0" dirty="0">
                  <a:solidFill>
                    <a:prstClr val="white"/>
                  </a:solidFill>
                </a:rPr>
                <a:t>04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16" name="îṥ1ïḍé"/>
            <p:cNvSpPr/>
            <p:nvPr>
              <p:custDataLst>
                <p:tags r:id="rId10"/>
              </p:custDataLst>
            </p:nvPr>
          </p:nvSpPr>
          <p:spPr>
            <a:xfrm>
              <a:off x="8205787" y="4730620"/>
              <a:ext cx="723900" cy="723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p>
              <a:pPr algn="ctr" defTabSz="1218565"/>
              <a:r>
                <a:rPr lang="en-US" altLang="zh-CN" sz="2300" b="1" kern="0" dirty="0">
                  <a:solidFill>
                    <a:prstClr val="white"/>
                  </a:solidFill>
                </a:rPr>
                <a:t>05</a:t>
              </a:r>
              <a:endParaRPr lang="zh-CN" altLang="en-US" sz="2300" b="1" kern="0" dirty="0">
                <a:solidFill>
                  <a:prstClr val="white"/>
                </a:solidFill>
              </a:endParaRPr>
            </a:p>
          </p:txBody>
        </p:sp>
        <p:cxnSp>
          <p:nvCxnSpPr>
            <p:cNvPr id="17" name="直接箭头连接符 16"/>
            <p:cNvCxnSpPr>
              <a:stCxn id="12" idx="7"/>
              <a:endCxn id="15" idx="3"/>
            </p:cNvCxnSpPr>
            <p:nvPr>
              <p:custDataLst>
                <p:tags r:id="rId11"/>
              </p:custDataLst>
            </p:nvPr>
          </p:nvCxnSpPr>
          <p:spPr>
            <a:xfrm flipV="1">
              <a:off x="6506847" y="3843557"/>
              <a:ext cx="823878" cy="1301119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endCxn id="16" idx="2"/>
            </p:cNvCxnSpPr>
            <p:nvPr>
              <p:custDataLst>
                <p:tags r:id="rId12"/>
              </p:custDataLst>
            </p:nvPr>
          </p:nvCxnSpPr>
          <p:spPr>
            <a:xfrm flipV="1">
              <a:off x="6677025" y="5092570"/>
              <a:ext cx="1528762" cy="4629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ïṧ1îḋê"/>
            <p:cNvSpPr txBox="1"/>
            <p:nvPr>
              <p:custDataLst>
                <p:tags r:id="rId13"/>
              </p:custDataLst>
            </p:nvPr>
          </p:nvSpPr>
          <p:spPr bwMode="auto">
            <a:xfrm>
              <a:off x="604488" y="4686580"/>
              <a:ext cx="2506663" cy="81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p>
              <a:pPr algn="r"/>
              <a:r>
                <a:rPr lang="zh-CN" altLang="en-US" sz="2400" dirty="0"/>
                <a:t>将抽象要求转换为具体要求</a:t>
              </a:r>
              <a:endParaRPr lang="zh-CN" altLang="en-US" sz="2400" dirty="0"/>
            </a:p>
          </p:txBody>
        </p:sp>
        <p:sp>
          <p:nvSpPr>
            <p:cNvPr id="21" name="ïṥlïḍè"/>
            <p:cNvSpPr txBox="1"/>
            <p:nvPr>
              <p:custDataLst>
                <p:tags r:id="rId14"/>
              </p:custDataLst>
            </p:nvPr>
          </p:nvSpPr>
          <p:spPr bwMode="auto">
            <a:xfrm>
              <a:off x="1065333" y="3085249"/>
              <a:ext cx="3114490" cy="514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p>
              <a:pPr algn="r"/>
              <a:r>
                <a:rPr lang="zh-CN" altLang="en-US" sz="2400" dirty="0"/>
                <a:t>对服务请求进行校验</a:t>
              </a:r>
              <a:endParaRPr lang="zh-CN" altLang="en-US" sz="2400" dirty="0"/>
            </a:p>
          </p:txBody>
        </p:sp>
        <p:sp>
          <p:nvSpPr>
            <p:cNvPr id="26" name="íš1îḑê"/>
            <p:cNvSpPr txBox="1"/>
            <p:nvPr>
              <p:custDataLst>
                <p:tags r:id="rId15"/>
              </p:custDataLst>
            </p:nvPr>
          </p:nvSpPr>
          <p:spPr bwMode="auto">
            <a:xfrm>
              <a:off x="4712967" y="1747927"/>
              <a:ext cx="2617758" cy="46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p>
              <a:pPr algn="ctr"/>
              <a:r>
                <a:rPr lang="zh-CN" altLang="en-US" sz="2400" dirty="0"/>
                <a:t>检查设备的状态</a:t>
              </a:r>
              <a:endParaRPr lang="zh-CN" altLang="en-US" sz="2400" dirty="0"/>
            </a:p>
          </p:txBody>
        </p:sp>
        <p:sp>
          <p:nvSpPr>
            <p:cNvPr id="22" name="ïṡḻiḋê"/>
            <p:cNvSpPr txBox="1"/>
            <p:nvPr>
              <p:custDataLst>
                <p:tags r:id="rId16"/>
              </p:custDataLst>
            </p:nvPr>
          </p:nvSpPr>
          <p:spPr bwMode="auto">
            <a:xfrm>
              <a:off x="8012178" y="3109232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p>
              <a:r>
                <a:rPr lang="zh-CN" altLang="en-US" sz="2400" dirty="0"/>
                <a:t>传送必要的参数</a:t>
              </a:r>
              <a:endParaRPr lang="zh-CN" altLang="en-US" sz="2400" dirty="0"/>
            </a:p>
          </p:txBody>
        </p:sp>
        <p:sp>
          <p:nvSpPr>
            <p:cNvPr id="24" name="ísļiḓè"/>
            <p:cNvSpPr txBox="1"/>
            <p:nvPr>
              <p:custDataLst>
                <p:tags r:id="rId17"/>
              </p:custDataLst>
            </p:nvPr>
          </p:nvSpPr>
          <p:spPr bwMode="auto">
            <a:xfrm>
              <a:off x="9080849" y="4730620"/>
              <a:ext cx="24939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p>
              <a:r>
                <a:rPr lang="zh-CN" altLang="en-US" sz="2400" dirty="0" smtClean="0"/>
                <a:t>启动</a:t>
              </a:r>
              <a:r>
                <a:rPr lang="en-US" altLang="zh-CN" sz="2400" dirty="0" smtClean="0">
                  <a:solidFill>
                    <a:schemeClr val="tx1"/>
                  </a:solidFill>
                </a:rPr>
                <a:t>I/O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设备</a:t>
              </a:r>
              <a:endParaRPr lang="zh-CN" altLang="en-US" sz="24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</a:rPr>
              <a:t>7.4 </a:t>
            </a:r>
            <a:r>
              <a:rPr lang="zh-CN" altLang="en-US" sz="2800" b="1" dirty="0">
                <a:solidFill>
                  <a:schemeClr val="bg1"/>
                </a:solidFill>
              </a:rPr>
              <a:t>设备驱动程序处理</a:t>
            </a:r>
            <a:r>
              <a:rPr lang="zh-CN" altLang="en-US" sz="2800" b="1" dirty="0">
                <a:solidFill>
                  <a:schemeClr val="bg1"/>
                </a:solidFill>
              </a:rPr>
              <a:t>过程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7.1 I/O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系统的功能、模型和接口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7.5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与设备无关的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软件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 smtClean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4" name="右大括号 3"/>
          <p:cNvSpPr/>
          <p:nvPr/>
        </p:nvSpPr>
        <p:spPr>
          <a:xfrm>
            <a:off x="5281930" y="2967355"/>
            <a:ext cx="485775" cy="20085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959475" y="3646170"/>
            <a:ext cx="2904490" cy="793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I/O</a:t>
            </a:r>
            <a:r>
              <a:rPr lang="zh-CN" altLang="en-US" sz="3200"/>
              <a:t>软件层次</a:t>
            </a:r>
            <a:endParaRPr lang="zh-CN" altLang="en-US"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1123" b="1160"/>
          <a:stretch>
            <a:fillRect/>
          </a:stretch>
        </p:blipFill>
        <p:spPr>
          <a:xfrm rot="21420000">
            <a:off x="201930" y="429895"/>
            <a:ext cx="11854190" cy="55181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230755" y="2331085"/>
            <a:ext cx="3672205" cy="739775"/>
          </a:xfrm>
          <a:prstGeom prst="rect">
            <a:avLst/>
          </a:prstGeom>
          <a:ln w="762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 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与设备无关的</a:t>
            </a:r>
            <a:r>
              <a:rPr lang="en-US" altLang="zh-CN" sz="2800" b="1" dirty="0">
                <a:solidFill>
                  <a:schemeClr val="bg1"/>
                </a:solidFill>
              </a:rPr>
              <a:t>I/O</a:t>
            </a:r>
            <a:r>
              <a:rPr lang="zh-CN" altLang="en-US" sz="2800" b="1" dirty="0">
                <a:solidFill>
                  <a:schemeClr val="bg1"/>
                </a:solidFill>
              </a:rPr>
              <a:t>软件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ïşľîďè"/>
          <p:cNvSpPr/>
          <p:nvPr/>
        </p:nvSpPr>
        <p:spPr>
          <a:xfrm>
            <a:off x="1588" y="1143000"/>
            <a:ext cx="4669654" cy="5003800"/>
          </a:xfrm>
          <a:prstGeom prst="rect">
            <a:avLst/>
          </a:prstGeom>
          <a:blipFill>
            <a:blip r:embed="rId1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ļiḋe"/>
          <p:cNvSpPr/>
          <p:nvPr/>
        </p:nvSpPr>
        <p:spPr>
          <a:xfrm>
            <a:off x="4014295" y="1143000"/>
            <a:ext cx="656948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5" name="í$1iďè"/>
          <p:cNvGrpSpPr/>
          <p:nvPr/>
        </p:nvGrpSpPr>
        <p:grpSpPr>
          <a:xfrm>
            <a:off x="4183062" y="1607317"/>
            <a:ext cx="7381905" cy="1702554"/>
            <a:chOff x="4136995" y="1337039"/>
            <a:chExt cx="7381905" cy="1702554"/>
          </a:xfrm>
        </p:grpSpPr>
        <p:sp>
          <p:nvSpPr>
            <p:cNvPr id="6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ïSḻiḍé"/>
            <p:cNvSpPr txBox="1"/>
            <p:nvPr/>
          </p:nvSpPr>
          <p:spPr>
            <a:xfrm>
              <a:off x="4882719" y="1337039"/>
              <a:ext cx="6636181" cy="1702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3000"/>
                </a:lnSpc>
              </a:pPr>
              <a:r>
                <a:rPr lang="zh-CN" altLang="en-US" sz="2400" dirty="0">
                  <a:sym typeface="Wingdings" panose="05000000000000000000" pitchFamily="2" charset="2"/>
                </a:rPr>
                <a:t>为了提高</a:t>
              </a:r>
              <a:r>
                <a:rPr lang="en-US" altLang="zh-CN" sz="2400" dirty="0">
                  <a:sym typeface="Wingdings" panose="05000000000000000000" pitchFamily="2" charset="2"/>
                </a:rPr>
                <a:t>OS</a:t>
              </a:r>
              <a:r>
                <a:rPr lang="zh-CN" altLang="en-US" sz="2400" dirty="0">
                  <a:sym typeface="Wingdings" panose="05000000000000000000" pitchFamily="2" charset="2"/>
                </a:rPr>
                <a:t>的可适应性和可扩展性，在现代</a:t>
              </a:r>
              <a:r>
                <a:rPr lang="en-US" altLang="zh-CN" sz="2400" dirty="0">
                  <a:sym typeface="Wingdings" panose="05000000000000000000" pitchFamily="2" charset="2"/>
                </a:rPr>
                <a:t>OS</a:t>
              </a:r>
              <a:r>
                <a:rPr lang="zh-CN" altLang="en-US" sz="2400" dirty="0">
                  <a:sym typeface="Wingdings" panose="05000000000000000000" pitchFamily="2" charset="2"/>
                </a:rPr>
                <a:t>中都无一例外地增加了与设备无关的</a:t>
              </a:r>
              <a:r>
                <a:rPr lang="en-US" altLang="zh-CN" sz="2400" dirty="0">
                  <a:sym typeface="Wingdings" panose="05000000000000000000" pitchFamily="2" charset="2"/>
                </a:rPr>
                <a:t>I/O</a:t>
              </a:r>
              <a:r>
                <a:rPr lang="zh-CN" altLang="en-US" sz="2400" dirty="0">
                  <a:sym typeface="Wingdings" panose="05000000000000000000" pitchFamily="2" charset="2"/>
                </a:rPr>
                <a:t>软件，以实现了</a:t>
              </a:r>
              <a:r>
                <a:rPr lang="zh-CN" altLang="en-US" sz="2400" b="1" u="sng" dirty="0">
                  <a:solidFill>
                    <a:srgbClr val="0000FF"/>
                  </a:solidFill>
                  <a:sym typeface="Wingdings" panose="05000000000000000000" pitchFamily="2" charset="2"/>
                </a:rPr>
                <a:t>设备独立性</a:t>
              </a:r>
              <a:r>
                <a:rPr lang="zh-CN" altLang="en-US" sz="2400" dirty="0">
                  <a:sym typeface="Wingdings" panose="05000000000000000000" pitchFamily="2" charset="2"/>
                </a:rPr>
                <a:t>，也称</a:t>
              </a:r>
              <a:r>
                <a:rPr lang="zh-CN" altLang="en-US" sz="2400" b="1" u="sng" dirty="0">
                  <a:solidFill>
                    <a:srgbClr val="0000FF"/>
                  </a:solidFill>
                  <a:sym typeface="Wingdings" panose="05000000000000000000" pitchFamily="2" charset="2"/>
                </a:rPr>
                <a:t>设备无关性</a:t>
              </a:r>
              <a:r>
                <a:rPr lang="zh-CN" altLang="en-US" sz="2800" dirty="0">
                  <a:sym typeface="Wingdings" panose="05000000000000000000" pitchFamily="2" charset="2"/>
                </a:rPr>
                <a:t>。</a:t>
              </a:r>
              <a:endParaRPr lang="en-US" altLang="zh-CN" sz="2800" dirty="0">
                <a:sym typeface="Wingdings" panose="05000000000000000000" pitchFamily="2" charset="2"/>
              </a:endParaRPr>
            </a:p>
          </p:txBody>
        </p:sp>
      </p:grpSp>
      <p:grpSp>
        <p:nvGrpSpPr>
          <p:cNvPr id="8" name="išḷîḓé"/>
          <p:cNvGrpSpPr/>
          <p:nvPr/>
        </p:nvGrpSpPr>
        <p:grpSpPr>
          <a:xfrm>
            <a:off x="4183062" y="3800144"/>
            <a:ext cx="7722859" cy="1454436"/>
            <a:chOff x="4136995" y="3233565"/>
            <a:chExt cx="7722859" cy="1454436"/>
          </a:xfrm>
        </p:grpSpPr>
        <p:sp>
          <p:nvSpPr>
            <p:cNvPr id="9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ŝľîḓè"/>
            <p:cNvSpPr txBox="1"/>
            <p:nvPr/>
          </p:nvSpPr>
          <p:spPr>
            <a:xfrm>
              <a:off x="4882718" y="3233565"/>
              <a:ext cx="6977136" cy="14544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3000"/>
                </a:lnSpc>
              </a:pPr>
              <a:r>
                <a:rPr lang="zh-CN" altLang="en-US" sz="2400" dirty="0"/>
                <a:t>为实现设备独立性，必须在设备驱动程序之上设置一层软件，称为</a:t>
              </a:r>
              <a:r>
                <a:rPr lang="zh-CN" altLang="en-US" sz="2400" b="1" u="sng" dirty="0">
                  <a:solidFill>
                    <a:srgbClr val="0000FF"/>
                  </a:solidFill>
                </a:rPr>
                <a:t>与设备无关的</a:t>
              </a:r>
              <a:r>
                <a:rPr lang="en-US" altLang="zh-CN" sz="2400" b="1" u="sng" dirty="0">
                  <a:solidFill>
                    <a:srgbClr val="FF0000"/>
                  </a:solidFill>
                </a:rPr>
                <a:t>I/O</a:t>
              </a:r>
              <a:r>
                <a:rPr lang="zh-CN" altLang="en-US" sz="2400" b="1" u="sng" dirty="0">
                  <a:solidFill>
                    <a:srgbClr val="FF0000"/>
                  </a:solidFill>
                </a:rPr>
                <a:t>软件</a:t>
              </a:r>
              <a:r>
                <a:rPr lang="zh-CN" altLang="en-US" sz="2400" dirty="0"/>
                <a:t>，或</a:t>
              </a:r>
              <a:r>
                <a:rPr lang="zh-CN" altLang="en-US" sz="2400" b="1" dirty="0"/>
                <a:t>设备独立性软件</a:t>
              </a:r>
              <a:endParaRPr lang="zh-CN" altLang="en-US" sz="2400" b="1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7.5</a:t>
            </a:r>
            <a:r>
              <a:rPr lang="zh-CN" altLang="en-US" sz="2800" b="1" dirty="0">
                <a:solidFill>
                  <a:schemeClr val="bg1"/>
                </a:solidFill>
              </a:rPr>
              <a:t>与设备无关软件的共有操作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825419" y="1422352"/>
            <a:ext cx="5240530" cy="37678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</a:rPr>
              <a:t>提供设备驱动程序的统一接口</a:t>
            </a:r>
            <a:endParaRPr lang="en-US" altLang="zh-CN" sz="2400" dirty="0" smtClean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缓冲管理（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7.7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节）</a:t>
            </a:r>
            <a:endParaRPr lang="en-US" altLang="zh-CN" sz="2400" dirty="0" smtClean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+mn-ea"/>
              </a:rPr>
              <a:t>差错控制</a:t>
            </a:r>
            <a:endParaRPr lang="en-US" altLang="zh-CN" sz="2400" dirty="0" smtClean="0"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chemeClr val="accent3">
                    <a:lumMod val="50000"/>
                    <a:lumOff val="50000"/>
                  </a:schemeClr>
                </a:solidFill>
                <a:latin typeface="+mn-ea"/>
              </a:rPr>
              <a:t>独占设备的分配与回收</a:t>
            </a:r>
            <a:endParaRPr lang="en-US" altLang="zh-CN" sz="2400" dirty="0" smtClean="0">
              <a:solidFill>
                <a:schemeClr val="accent3">
                  <a:lumMod val="50000"/>
                  <a:lumOff val="50000"/>
                </a:schemeClr>
              </a:solidFill>
              <a:latin typeface="+mn-ea"/>
            </a:endParaRPr>
          </a:p>
          <a:p>
            <a:pPr indent="-360045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chemeClr val="accent3">
                    <a:lumMod val="50000"/>
                    <a:lumOff val="50000"/>
                  </a:schemeClr>
                </a:solidFill>
                <a:latin typeface="+mn-ea"/>
              </a:rPr>
              <a:t>提供独立于设备的逻辑数据块</a:t>
            </a:r>
            <a:endParaRPr lang="zh-CN" altLang="en-US" sz="2400" dirty="0" smtClean="0">
              <a:solidFill>
                <a:schemeClr val="accent3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949" y="1422352"/>
            <a:ext cx="4932787" cy="3502279"/>
          </a:xfrm>
          <a:prstGeom prst="rect">
            <a:avLst/>
          </a:prstGeom>
        </p:spPr>
      </p:pic>
      <p:sp>
        <p:nvSpPr>
          <p:cNvPr id="24" name="内容占位符 2"/>
          <p:cNvSpPr txBox="1"/>
          <p:nvPr/>
        </p:nvSpPr>
        <p:spPr>
          <a:xfrm>
            <a:off x="6595155" y="4903807"/>
            <a:ext cx="4274615" cy="572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与设备无关软件的功能层次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</a:rPr>
              <a:t>7.5</a:t>
            </a:r>
            <a:r>
              <a:rPr lang="zh-CN" altLang="en-US" sz="2800" b="1" dirty="0">
                <a:solidFill>
                  <a:schemeClr val="bg1"/>
                </a:solidFill>
              </a:rPr>
              <a:t>设备分配与回收</a:t>
            </a:r>
            <a:r>
              <a:rPr lang="en-US" altLang="zh-CN" sz="2800" b="1" dirty="0">
                <a:solidFill>
                  <a:schemeClr val="bg1"/>
                </a:solidFill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</a:rPr>
              <a:t>数据结构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4345" y="1437640"/>
            <a:ext cx="7607300" cy="5219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r>
              <a:rPr lang="zh-CN" altLang="en-US" sz="2800" dirty="0" smtClean="0">
                <a:latin typeface="+mn-ea"/>
                <a:sym typeface="+mn-ea"/>
              </a:rPr>
              <a:t>设备控制表</a:t>
            </a:r>
            <a:r>
              <a:rPr lang="en-US" altLang="zh-CN" sz="2800" dirty="0" smtClean="0">
                <a:latin typeface="+mn-ea"/>
                <a:sym typeface="+mn-ea"/>
              </a:rPr>
              <a:t>(DCT Device Control Table)</a:t>
            </a:r>
            <a:endParaRPr lang="en-US" altLang="zh-CN" sz="2800" dirty="0" smtClean="0"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4345" y="2229485"/>
            <a:ext cx="7607300" cy="5219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r>
              <a:rPr lang="zh-CN" altLang="en-US" sz="2800" dirty="0" smtClean="0">
                <a:latin typeface="+mn-ea"/>
                <a:sym typeface="+mn-ea"/>
              </a:rPr>
              <a:t>控制器控制表</a:t>
            </a:r>
            <a:r>
              <a:rPr lang="en-US" altLang="zh-CN" sz="2800" dirty="0" smtClean="0">
                <a:latin typeface="+mn-ea"/>
                <a:sym typeface="+mn-ea"/>
              </a:rPr>
              <a:t>(COCT Controller </a:t>
            </a:r>
            <a:r>
              <a:rPr lang="en-US" altLang="zh-CN" sz="2800" dirty="0" smtClean="0">
                <a:latin typeface="+mn-ea"/>
                <a:sym typeface="+mn-ea"/>
              </a:rPr>
              <a:t>Control Table)</a:t>
            </a:r>
            <a:endParaRPr lang="en-US" altLang="zh-CN" sz="2800" dirty="0" smtClean="0"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4345" y="3020695"/>
            <a:ext cx="7607300" cy="5219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r>
              <a:rPr lang="zh-CN" altLang="en-US" sz="2800" dirty="0" smtClean="0">
                <a:latin typeface="+mn-ea"/>
                <a:sym typeface="+mn-ea"/>
              </a:rPr>
              <a:t>通道控制表</a:t>
            </a:r>
            <a:r>
              <a:rPr lang="en-US" altLang="zh-CN" sz="2800" dirty="0" smtClean="0">
                <a:latin typeface="+mn-ea"/>
                <a:sym typeface="+mn-ea"/>
              </a:rPr>
              <a:t>(CHCT Channel </a:t>
            </a:r>
            <a:r>
              <a:rPr lang="en-US" altLang="zh-CN" sz="2800" dirty="0" smtClean="0">
                <a:latin typeface="+mn-ea"/>
                <a:sym typeface="+mn-ea"/>
              </a:rPr>
              <a:t>Control Table)</a:t>
            </a:r>
            <a:endParaRPr lang="en-US" altLang="zh-CN" sz="2800" dirty="0" smtClean="0">
              <a:latin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4345" y="3926840"/>
            <a:ext cx="7607300" cy="5219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r>
              <a:rPr lang="zh-CN" altLang="en-US" sz="2800" dirty="0" smtClean="0">
                <a:latin typeface="+mn-ea"/>
                <a:sym typeface="+mn-ea"/>
              </a:rPr>
              <a:t>系统设备表</a:t>
            </a:r>
            <a:r>
              <a:rPr lang="en-US" altLang="zh-CN" sz="2800" dirty="0" smtClean="0">
                <a:latin typeface="+mn-ea"/>
                <a:sym typeface="+mn-ea"/>
              </a:rPr>
              <a:t>(SDT System </a:t>
            </a:r>
            <a:r>
              <a:rPr lang="en-US" altLang="zh-CN" sz="2800" dirty="0" smtClean="0">
                <a:latin typeface="+mn-ea"/>
                <a:sym typeface="+mn-ea"/>
              </a:rPr>
              <a:t>Device Table)</a:t>
            </a:r>
            <a:endParaRPr lang="en-US" altLang="zh-CN" sz="2800" dirty="0" smtClean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" y="132080"/>
            <a:ext cx="10313670" cy="65182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</a:rPr>
              <a:t>7.5</a:t>
            </a:r>
            <a:r>
              <a:rPr lang="zh-CN" altLang="en-US" sz="2800" b="1" dirty="0">
                <a:solidFill>
                  <a:schemeClr val="bg1"/>
                </a:solidFill>
              </a:rPr>
              <a:t>设备分配与回收</a:t>
            </a:r>
            <a:r>
              <a:rPr lang="en-US" altLang="zh-CN" sz="2800" b="1" dirty="0">
                <a:solidFill>
                  <a:schemeClr val="bg1"/>
                </a:solidFill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</a:rPr>
              <a:t>分配策略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6870" y="1087755"/>
            <a:ext cx="11478895" cy="5219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  <a:latin typeface="+mn-ea"/>
                <a:sym typeface="+mn-ea"/>
              </a:rPr>
              <a:t>分配原则</a:t>
            </a:r>
            <a:r>
              <a:rPr lang="zh-CN" altLang="en-US" sz="2800" dirty="0" smtClean="0">
                <a:latin typeface="+mn-ea"/>
                <a:sym typeface="+mn-ea"/>
              </a:rPr>
              <a:t>：充分发挥设备使用率，尽可能让设备忙碌，又要避免</a:t>
            </a:r>
            <a:r>
              <a:rPr lang="zh-CN" altLang="en-US" sz="2800" dirty="0" smtClean="0">
                <a:latin typeface="+mn-ea"/>
                <a:sym typeface="+mn-ea"/>
              </a:rPr>
              <a:t>死锁</a:t>
            </a:r>
            <a:endParaRPr lang="zh-CN" altLang="en-US" sz="2800" dirty="0" smtClean="0">
              <a:latin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6870" y="1609725"/>
            <a:ext cx="11727815" cy="517334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sym typeface="+mn-ea"/>
              </a:rPr>
              <a:t>分配方式</a:t>
            </a:r>
            <a:endParaRPr lang="zh-CN" altLang="en-US" sz="2800" dirty="0" smtClean="0">
              <a:solidFill>
                <a:srgbClr val="FF0000"/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2800" dirty="0" smtClean="0">
                <a:latin typeface="+mn-ea"/>
                <a:sym typeface="+mn-ea"/>
              </a:rPr>
              <a:t>静态分配</a:t>
            </a:r>
            <a:endParaRPr lang="zh-CN" altLang="en-US" sz="2800" dirty="0" smtClean="0"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  <a:sym typeface="+mn-ea"/>
              </a:rPr>
              <a:t>一次性分配该作业所需全部设备。</a:t>
            </a:r>
            <a:endParaRPr lang="zh-CN" altLang="en-US" sz="2800" dirty="0" smtClean="0"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  <a:sym typeface="+mn-ea"/>
              </a:rPr>
              <a:t>该</a:t>
            </a:r>
            <a:r>
              <a:rPr lang="zh-CN" altLang="en-US" sz="2800" dirty="0" smtClean="0">
                <a:latin typeface="+mn-ea"/>
                <a:sym typeface="+mn-ea"/>
              </a:rPr>
              <a:t>方式适用于独占</a:t>
            </a:r>
            <a:r>
              <a:rPr lang="zh-CN" altLang="en-US" sz="2800" dirty="0" smtClean="0">
                <a:latin typeface="+mn-ea"/>
                <a:sym typeface="+mn-ea"/>
              </a:rPr>
              <a:t>设备</a:t>
            </a:r>
            <a:endParaRPr lang="zh-CN" altLang="en-US" sz="2800" dirty="0" smtClean="0"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  <a:sym typeface="+mn-ea"/>
              </a:rPr>
              <a:t>设备利用率低，可</a:t>
            </a:r>
            <a:r>
              <a:rPr lang="zh-CN" altLang="en-US" sz="2800" dirty="0" smtClean="0">
                <a:latin typeface="+mn-ea"/>
                <a:sym typeface="+mn-ea"/>
              </a:rPr>
              <a:t>防止死锁</a:t>
            </a:r>
            <a:endParaRPr lang="zh-CN" altLang="en-US" sz="2800" dirty="0" smtClean="0"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2800" dirty="0" smtClean="0">
                <a:latin typeface="+mn-ea"/>
                <a:sym typeface="+mn-ea"/>
              </a:rPr>
              <a:t>动态分配</a:t>
            </a:r>
            <a:endParaRPr lang="zh-CN" altLang="en-US" sz="2800" dirty="0" smtClean="0"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  <a:sym typeface="+mn-ea"/>
              </a:rPr>
              <a:t>作业需要用到设备时，才进行分配，用完之后，立即</a:t>
            </a:r>
            <a:r>
              <a:rPr lang="zh-CN" altLang="en-US" sz="2800" dirty="0" smtClean="0">
                <a:latin typeface="+mn-ea"/>
                <a:sym typeface="+mn-ea"/>
              </a:rPr>
              <a:t>回收。</a:t>
            </a:r>
            <a:endParaRPr lang="zh-CN" altLang="en-US" sz="2800" dirty="0" smtClean="0"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  <a:sym typeface="+mn-ea"/>
              </a:rPr>
              <a:t>该方式适用于共享设备</a:t>
            </a:r>
            <a:endParaRPr lang="zh-CN" altLang="en-US" sz="2800" dirty="0" smtClean="0"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  <a:sym typeface="+mn-ea"/>
              </a:rPr>
              <a:t>可提高设备利用率，但可能出现死锁</a:t>
            </a:r>
            <a:endParaRPr lang="zh-CN" altLang="en-US" sz="2800" dirty="0" smtClean="0">
              <a:latin typeface="+mn-ea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800" dirty="0" smtClean="0">
              <a:latin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6785" y="1871345"/>
            <a:ext cx="4083685" cy="16414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sym typeface="+mn-ea"/>
              </a:rPr>
              <a:t>分配算法</a:t>
            </a:r>
            <a:endParaRPr lang="zh-CN" altLang="en-US" sz="2800" dirty="0" smtClean="0">
              <a:solidFill>
                <a:srgbClr val="FF0000"/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2800" dirty="0" smtClean="0">
                <a:latin typeface="+mn-ea"/>
                <a:sym typeface="+mn-ea"/>
              </a:rPr>
              <a:t>先来先服务</a:t>
            </a:r>
            <a:endParaRPr lang="zh-CN" altLang="en-US" sz="2800" dirty="0" smtClean="0">
              <a:latin typeface="+mn-ea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2800" dirty="0" smtClean="0">
                <a:latin typeface="+mn-ea"/>
                <a:sym typeface="+mn-ea"/>
              </a:rPr>
              <a:t>优先级</a:t>
            </a:r>
            <a:r>
              <a:rPr lang="zh-CN" altLang="en-US" sz="2800" dirty="0" smtClean="0">
                <a:latin typeface="+mn-ea"/>
                <a:sym typeface="+mn-ea"/>
              </a:rPr>
              <a:t>服务</a:t>
            </a:r>
            <a:endParaRPr lang="zh-CN" altLang="en-US" sz="2800" dirty="0" smtClean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7.1 I/O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系统的功能、模型和接口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7.6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用户层的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I/O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软件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</a:t>
            </a:r>
            <a:r>
              <a:rPr lang="zh-CN" altLang="en-US" sz="2400" dirty="0" smtClean="0">
                <a:latin typeface="+mj-ea"/>
              </a:rPr>
              <a:t>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4" name="右大括号 3"/>
          <p:cNvSpPr/>
          <p:nvPr/>
        </p:nvSpPr>
        <p:spPr>
          <a:xfrm>
            <a:off x="5281930" y="2967355"/>
            <a:ext cx="485775" cy="20085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959475" y="3646170"/>
            <a:ext cx="2904490" cy="793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I/O</a:t>
            </a:r>
            <a:r>
              <a:rPr lang="zh-CN" altLang="en-US" sz="3200"/>
              <a:t>软件层次</a:t>
            </a:r>
            <a:endParaRPr lang="zh-CN" altLang="en-US" sz="3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1123" b="1160"/>
          <a:stretch>
            <a:fillRect/>
          </a:stretch>
        </p:blipFill>
        <p:spPr>
          <a:xfrm rot="21420000">
            <a:off x="201930" y="429895"/>
            <a:ext cx="11854190" cy="55181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150110" y="1400810"/>
            <a:ext cx="3672205" cy="739775"/>
          </a:xfrm>
          <a:prstGeom prst="rect">
            <a:avLst/>
          </a:prstGeom>
          <a:ln w="762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假脱机技术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07490" y="1279525"/>
            <a:ext cx="9723120" cy="1261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 err="1">
                <a:solidFill>
                  <a:srgbClr val="FF0000"/>
                </a:solidFill>
                <a:latin typeface="+mn-ea"/>
                <a:sym typeface="+mn-ea"/>
              </a:rPr>
              <a:t>SPOOLing</a:t>
            </a:r>
            <a:r>
              <a:rPr lang="zh-CN" altLang="en-US" sz="2800" dirty="0" err="1">
                <a:solidFill>
                  <a:srgbClr val="FF0000"/>
                </a:solidFill>
                <a:latin typeface="+mn-ea"/>
                <a:sym typeface="+mn-ea"/>
              </a:rPr>
              <a:t>技术</a:t>
            </a:r>
            <a:r>
              <a:rPr lang="zh-CN" altLang="en-US" sz="2800" dirty="0" err="1">
                <a:solidFill>
                  <a:schemeClr val="tx1"/>
                </a:solidFill>
                <a:latin typeface="+mn-ea"/>
                <a:sym typeface="+mn-ea"/>
              </a:rPr>
              <a:t>通过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  <a:sym typeface="+mn-ea"/>
              </a:rPr>
              <a:t>“</a:t>
            </a:r>
            <a:r>
              <a:rPr lang="zh-CN" altLang="en-US" sz="2800" dirty="0" err="1">
                <a:solidFill>
                  <a:schemeClr val="tx1"/>
                </a:solidFill>
                <a:latin typeface="+mn-ea"/>
                <a:sym typeface="+mn-ea"/>
              </a:rPr>
              <a:t>空间换时间</a:t>
            </a:r>
            <a:r>
              <a:rPr lang="en-US" altLang="zh-CN" sz="2800" dirty="0" err="1">
                <a:solidFill>
                  <a:schemeClr val="tx1"/>
                </a:solidFill>
                <a:latin typeface="+mn-ea"/>
                <a:sym typeface="+mn-ea"/>
              </a:rPr>
              <a:t>”</a:t>
            </a:r>
            <a:r>
              <a:rPr lang="zh-CN" altLang="en-US" sz="2800" dirty="0" err="1">
                <a:solidFill>
                  <a:schemeClr val="tx1"/>
                </a:solidFill>
                <a:latin typeface="+mn-ea"/>
                <a:sym typeface="+mn-ea"/>
              </a:rPr>
              <a:t>的策略，</a:t>
            </a:r>
            <a:r>
              <a:rPr lang="zh-CN" altLang="en-US" sz="2800" dirty="0">
                <a:latin typeface="+mn-ea"/>
              </a:rPr>
              <a:t>解决了</a:t>
            </a:r>
            <a:r>
              <a:rPr lang="en-US" altLang="zh-CN" sz="2800" dirty="0">
                <a:latin typeface="+mn-ea"/>
              </a:rPr>
              <a:t>CPU</a:t>
            </a:r>
            <a:r>
              <a:rPr lang="zh-CN" altLang="en-US" sz="2800" dirty="0">
                <a:latin typeface="+mn-ea"/>
              </a:rPr>
              <a:t>的高速性与</a:t>
            </a:r>
            <a:r>
              <a:rPr lang="en-US" altLang="zh-CN" sz="2800" dirty="0">
                <a:latin typeface="+mn-ea"/>
              </a:rPr>
              <a:t>I/O</a:t>
            </a:r>
            <a:r>
              <a:rPr lang="zh-CN" altLang="en-US" sz="2800" dirty="0">
                <a:latin typeface="+mn-ea"/>
              </a:rPr>
              <a:t>设备的低速性间的矛盾，引入了脱机输入、脱机输出技术。</a:t>
            </a:r>
            <a:endParaRPr lang="zh-CN" altLang="en-US" sz="2800" dirty="0">
              <a:latin typeface="+mn-ea"/>
            </a:endParaRP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6320" y="13984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6320" y="34289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6" name="ïşḻiḍé"/>
          <p:cNvSpPr/>
          <p:nvPr/>
        </p:nvSpPr>
        <p:spPr>
          <a:xfrm>
            <a:off x="922020" y="3429000"/>
            <a:ext cx="11017885" cy="408305"/>
          </a:xfrm>
          <a:prstGeom prst="rect">
            <a:avLst/>
          </a:prstGeom>
          <a:noFill/>
          <a:ln w="952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p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提高了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I/O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的速度；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将独占设备改造为共享设备，实现了虚拟设备功能</a:t>
            </a:r>
            <a:endParaRPr lang="zh-CN" altLang="en-US" sz="28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zh-CN" altLang="en-US" sz="28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zh-CN" altLang="en-US" sz="2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9925" y="4725035"/>
            <a:ext cx="11196320" cy="11506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spAutoFit/>
          </a:bodyPr>
          <a:p>
            <a:pPr marL="0" indent="0">
              <a:lnSpc>
                <a:spcPct val="123000"/>
              </a:lnSpc>
              <a:spcBef>
                <a:spcPts val="600"/>
              </a:spcBef>
              <a:buNone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举例：</a:t>
            </a:r>
            <a:r>
              <a:rPr lang="zh-CN" altLang="en-US" sz="2800" dirty="0" smtClean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打印机属于独占设备</a:t>
            </a:r>
            <a:r>
              <a:rPr lang="zh-CN" altLang="en-US" sz="2800" dirty="0" smtClean="0">
                <a:latin typeface="+mn-ea"/>
                <a:sym typeface="Wingdings" panose="05000000000000000000" pitchFamily="2" charset="2"/>
              </a:rPr>
              <a:t>。利用</a:t>
            </a:r>
            <a:r>
              <a:rPr lang="en-US" altLang="zh-CN" sz="2800" dirty="0" err="1" smtClean="0">
                <a:latin typeface="+mn-ea"/>
                <a:sym typeface="Wingdings" panose="05000000000000000000" pitchFamily="2" charset="2"/>
              </a:rPr>
              <a:t>SPOOLing</a:t>
            </a:r>
            <a:r>
              <a:rPr lang="zh-CN" altLang="en-US" sz="2800" dirty="0" smtClean="0">
                <a:latin typeface="+mn-ea"/>
                <a:sym typeface="Wingdings" panose="05000000000000000000" pitchFamily="2" charset="2"/>
              </a:rPr>
              <a:t>技术，可将之改造为一台可供多个用户共享的设备，从而提高设备的利用率，也方便了用户。</a:t>
            </a:r>
            <a:endParaRPr lang="zh-CN" altLang="en-US" sz="2800" dirty="0" smtClean="0">
              <a:latin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系统的组成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7" name="iṡļiḓe"/>
          <p:cNvGrpSpPr/>
          <p:nvPr/>
        </p:nvGrpSpPr>
        <p:grpSpPr>
          <a:xfrm>
            <a:off x="326071" y="1153160"/>
            <a:ext cx="5255260" cy="4970392"/>
            <a:chOff x="597686" y="1787149"/>
            <a:chExt cx="5164223" cy="4813448"/>
          </a:xfrm>
        </p:grpSpPr>
        <p:grpSp>
          <p:nvGrpSpPr>
            <p:cNvPr id="8" name="iSḻíḓè"/>
            <p:cNvGrpSpPr/>
            <p:nvPr/>
          </p:nvGrpSpPr>
          <p:grpSpPr>
            <a:xfrm>
              <a:off x="597686" y="1835355"/>
              <a:ext cx="5164223" cy="4765242"/>
              <a:chOff x="415104" y="1835355"/>
              <a:chExt cx="6513378" cy="4765242"/>
            </a:xfrm>
          </p:grpSpPr>
          <p:sp>
            <p:nvSpPr>
              <p:cNvPr id="12" name="îṧľîḋé"/>
              <p:cNvSpPr txBox="1"/>
              <p:nvPr/>
            </p:nvSpPr>
            <p:spPr>
              <a:xfrm>
                <a:off x="1296566" y="1835355"/>
                <a:ext cx="5631916" cy="389263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输入井和输出井</a:t>
                </a:r>
                <a:endParaRPr lang="zh-CN" altLang="en-US" sz="2400" dirty="0"/>
              </a:p>
            </p:txBody>
          </p:sp>
          <p:sp>
            <p:nvSpPr>
              <p:cNvPr id="13" name="íşļîḓé"/>
              <p:cNvSpPr/>
              <p:nvPr/>
            </p:nvSpPr>
            <p:spPr bwMode="auto">
              <a:xfrm>
                <a:off x="415104" y="2279348"/>
                <a:ext cx="6452778" cy="4321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solidFill>
                      <a:schemeClr val="tx1"/>
                    </a:solidFill>
                  </a:rPr>
                  <a:t>在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磁盘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上开辟的两个大存储空间，以文件的方式存放</a:t>
                </a:r>
                <a:endParaRPr lang="zh-CN" altLang="en-US" sz="2800" dirty="0">
                  <a:solidFill>
                    <a:srgbClr val="FF0000"/>
                  </a:solidFill>
                </a:endParaRPr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800" dirty="0"/>
                  <a:t>输入井：用于暂存输入设备输入的数据</a:t>
                </a:r>
                <a:endParaRPr lang="zh-CN" altLang="en-US" sz="2800" dirty="0"/>
              </a:p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800" dirty="0"/>
                  <a:t>输出井：用于暂存用户程序的输出数据</a:t>
                </a:r>
                <a:endParaRPr lang="zh-CN" altLang="en-US" sz="2800" dirty="0"/>
              </a:p>
              <a:p>
                <a:pPr marL="0" lvl="1" indent="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None/>
                </a:pPr>
                <a:endParaRPr lang="en-US" altLang="zh-CN" sz="2800" dirty="0"/>
              </a:p>
            </p:txBody>
          </p:sp>
        </p:grpSp>
        <p:grpSp>
          <p:nvGrpSpPr>
            <p:cNvPr id="9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10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4" name="iŝļïḓê"/>
          <p:cNvGrpSpPr/>
          <p:nvPr/>
        </p:nvGrpSpPr>
        <p:grpSpPr>
          <a:xfrm>
            <a:off x="6244590" y="1202580"/>
            <a:ext cx="5907937" cy="4057650"/>
            <a:chOff x="660400" y="2092935"/>
            <a:chExt cx="5907937" cy="4057650"/>
          </a:xfrm>
        </p:grpSpPr>
        <p:grpSp>
          <p:nvGrpSpPr>
            <p:cNvPr id="15" name="ïṧļïḓe"/>
            <p:cNvGrpSpPr/>
            <p:nvPr/>
          </p:nvGrpSpPr>
          <p:grpSpPr>
            <a:xfrm>
              <a:off x="1296567" y="2092935"/>
              <a:ext cx="5271770" cy="4057650"/>
              <a:chOff x="1296567" y="2092935"/>
              <a:chExt cx="6649020" cy="4057650"/>
            </a:xfrm>
          </p:grpSpPr>
          <p:sp>
            <p:nvSpPr>
              <p:cNvPr id="19" name="ïšļíďè"/>
              <p:cNvSpPr txBox="1"/>
              <p:nvPr/>
            </p:nvSpPr>
            <p:spPr>
              <a:xfrm>
                <a:off x="1296567" y="2092935"/>
                <a:ext cx="6326260" cy="389255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输入缓冲区和输出缓冲区</a:t>
                </a:r>
                <a:endParaRPr lang="zh-CN" altLang="en-US" sz="2400" dirty="0"/>
              </a:p>
            </p:txBody>
          </p:sp>
          <p:sp>
            <p:nvSpPr>
              <p:cNvPr id="21" name="íşľíḑè"/>
              <p:cNvSpPr/>
              <p:nvPr/>
            </p:nvSpPr>
            <p:spPr bwMode="auto">
              <a:xfrm>
                <a:off x="1312585" y="2588235"/>
                <a:ext cx="6633002" cy="3562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dirty="0"/>
                  <a:t>输入缓冲区：用于暂存由输入设备送来的数据，以后再传送到输入井。</a:t>
                </a:r>
                <a:endParaRPr lang="zh-CN" altLang="en-US" sz="2800" dirty="0"/>
              </a:p>
              <a:p>
                <a:pPr marL="342900" lvl="1" indent="-342900">
                  <a:lnSpc>
                    <a:spcPct val="123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dirty="0"/>
                  <a:t>输出缓冲区：用于暂存从输出井送来的数据，以后再传送给输出设备</a:t>
                </a:r>
                <a:endParaRPr lang="zh-CN" altLang="en-US" sz="2800" dirty="0"/>
              </a:p>
            </p:txBody>
          </p:sp>
        </p:grpSp>
        <p:grpSp>
          <p:nvGrpSpPr>
            <p:cNvPr id="16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7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</a:rPr>
              <a:t>SPOOLing</a:t>
            </a:r>
            <a:r>
              <a:rPr lang="zh-CN" altLang="en-US" sz="2800" b="1" dirty="0">
                <a:solidFill>
                  <a:schemeClr val="bg1"/>
                </a:solidFill>
              </a:rPr>
              <a:t>系统的工作原理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863" y="1191178"/>
            <a:ext cx="11516425" cy="419218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476465" y="5510992"/>
            <a:ext cx="3831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+mn-ea"/>
                <a:sym typeface="Wingdings" panose="05000000000000000000" pitchFamily="2" charset="2"/>
              </a:rPr>
              <a:t>SPOOLing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系统的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工作原理</a:t>
            </a:r>
            <a:endParaRPr lang="zh-CN" altLang="en-US" sz="2400" dirty="0">
              <a:solidFill>
                <a:srgbClr val="FF0000"/>
              </a:solidFill>
              <a:latin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35985" y="24498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随堂练习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4150" y="1341755"/>
            <a:ext cx="11823065" cy="443611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sz="3200"/>
              <a:t>请说明下列操作分别是由 </a:t>
            </a:r>
            <a:r>
              <a:rPr lang="en-US" altLang="zh-CN" sz="3200"/>
              <a:t>I / O </a:t>
            </a:r>
            <a:r>
              <a:rPr lang="zh-CN" altLang="en-US" sz="3200"/>
              <a:t>软件层次结构中的什么程序完成的。</a:t>
            </a:r>
            <a:r>
              <a:rPr lang="en-US" altLang="zh-CN" sz="3200"/>
              <a:t>(1</a:t>
            </a:r>
            <a:r>
              <a:rPr lang="zh-CN" altLang="en-US" sz="3200"/>
              <a:t>）向设备寄存器写命令；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en-US" altLang="zh-CN" sz="3200"/>
              <a:t>(2</a:t>
            </a:r>
            <a:r>
              <a:rPr lang="zh-CN" altLang="en-US" sz="3200"/>
              <a:t>）对用户的设备使用权限进行检查；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en-US" altLang="zh-CN" sz="3200"/>
              <a:t>(3</a:t>
            </a:r>
            <a:r>
              <a:rPr lang="zh-CN" altLang="en-US" sz="3200"/>
              <a:t>）将二进制整数转换成 </a:t>
            </a:r>
            <a:r>
              <a:rPr lang="en-US" altLang="zh-CN" sz="3200"/>
              <a:t>ASCII </a:t>
            </a:r>
            <a:r>
              <a:rPr lang="zh-CN" altLang="en-US" sz="3200"/>
              <a:t>码的格式打印；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en-US" altLang="zh-CN" sz="3200"/>
              <a:t>(4</a:t>
            </a:r>
            <a:r>
              <a:rPr lang="zh-CN" altLang="en-US" sz="3200"/>
              <a:t>）缓冲区管理。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en-US" altLang="zh-CN" sz="3200"/>
              <a:t>(5</a:t>
            </a:r>
            <a:r>
              <a:rPr lang="zh-CN" altLang="en-US" sz="3200"/>
              <a:t>）接受用户键盘输入</a:t>
            </a:r>
            <a:r>
              <a:rPr lang="zh-CN" altLang="en-US" sz="3200"/>
              <a:t>信息。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5796915" y="2262505"/>
            <a:ext cx="30105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设备驱动程序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48500" y="2973070"/>
            <a:ext cx="30105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设备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独立软件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34450" y="3613785"/>
            <a:ext cx="32575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用户层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I/O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软件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87750" y="4500245"/>
            <a:ext cx="30105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设备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独立软件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61965" y="5194300"/>
            <a:ext cx="30105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中断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处理程序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7.1 I/O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系统的功能、模型和接口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7.7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缓冲区管理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7.8 </a:t>
            </a:r>
            <a:r>
              <a:rPr lang="zh-CN" altLang="en-US" sz="2400" dirty="0">
                <a:latin typeface="+mj-ea"/>
              </a:rPr>
              <a:t>磁盘性能概述和磁盘调度</a:t>
            </a:r>
            <a:endParaRPr lang="en-US" altLang="zh-CN" sz="2400" dirty="0">
              <a:latin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 </a:t>
            </a:r>
            <a:r>
              <a:rPr lang="zh-CN" altLang="en-US" sz="2800" b="1" dirty="0">
                <a:solidFill>
                  <a:schemeClr val="bg1"/>
                </a:solidFill>
              </a:rPr>
              <a:t>缓冲的引入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íḑê"/>
          <p:cNvSpPr/>
          <p:nvPr/>
        </p:nvSpPr>
        <p:spPr>
          <a:xfrm>
            <a:off x="891953" y="884947"/>
            <a:ext cx="9402140" cy="77633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引入缓冲的主要原因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íşļîḓé"/>
          <p:cNvSpPr/>
          <p:nvPr/>
        </p:nvSpPr>
        <p:spPr bwMode="auto">
          <a:xfrm>
            <a:off x="1029970" y="1347470"/>
            <a:ext cx="10526395" cy="285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lvl="1" indent="-342900">
              <a:lnSpc>
                <a:spcPct val="150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/>
              <a:t>缓和</a:t>
            </a:r>
            <a:r>
              <a:rPr lang="en-US" altLang="zh-CN" sz="2800" dirty="0"/>
              <a:t>CPU</a:t>
            </a:r>
            <a:r>
              <a:rPr lang="zh-CN" altLang="en-US" sz="2800" dirty="0"/>
              <a:t>与</a:t>
            </a:r>
            <a:r>
              <a:rPr lang="en-US" altLang="zh-CN" sz="2800" dirty="0"/>
              <a:t>I/O</a:t>
            </a:r>
            <a:r>
              <a:rPr lang="zh-CN" altLang="en-US" sz="2800" dirty="0"/>
              <a:t>设备间速度不匹配的矛盾</a:t>
            </a:r>
            <a:endParaRPr lang="zh-CN" altLang="en-US" sz="2800" dirty="0"/>
          </a:p>
          <a:p>
            <a:pPr marL="342900" lvl="1" indent="-342900">
              <a:lnSpc>
                <a:spcPct val="150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/>
              <a:t>减少对</a:t>
            </a:r>
            <a:r>
              <a:rPr lang="en-US" altLang="zh-CN" sz="2800" dirty="0"/>
              <a:t>CPU</a:t>
            </a:r>
            <a:r>
              <a:rPr lang="zh-CN" altLang="en-US" sz="2800" dirty="0"/>
              <a:t>的中断频率，放宽对</a:t>
            </a:r>
            <a:r>
              <a:rPr lang="en-US" altLang="zh-CN" sz="2800" dirty="0"/>
              <a:t>CPU</a:t>
            </a:r>
            <a:r>
              <a:rPr lang="zh-CN" altLang="en-US" sz="2800" dirty="0"/>
              <a:t>中断响应时间的限制</a:t>
            </a:r>
            <a:endParaRPr lang="zh-CN" altLang="en-US" sz="2800" dirty="0"/>
          </a:p>
          <a:p>
            <a:pPr marL="342900" lvl="1" indent="-342900">
              <a:lnSpc>
                <a:spcPct val="150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/>
              <a:t>解决数据粒度不匹配的问题</a:t>
            </a:r>
            <a:endParaRPr lang="zh-CN" altLang="en-US" sz="2800" dirty="0"/>
          </a:p>
          <a:p>
            <a:pPr marL="342900" lvl="1" indent="-342900">
              <a:lnSpc>
                <a:spcPct val="150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/>
              <a:t>提高</a:t>
            </a:r>
            <a:r>
              <a:rPr lang="en-US" altLang="zh-CN" sz="2800" dirty="0"/>
              <a:t>CPU</a:t>
            </a:r>
            <a:r>
              <a:rPr lang="zh-CN" altLang="en-US" sz="2800" dirty="0"/>
              <a:t>与</a:t>
            </a:r>
            <a:r>
              <a:rPr lang="en-US" altLang="zh-CN" sz="2800" dirty="0"/>
              <a:t>I/O</a:t>
            </a:r>
            <a:r>
              <a:rPr lang="zh-CN" altLang="en-US" sz="2800" dirty="0"/>
              <a:t>设备之间的并行性</a:t>
            </a:r>
            <a:endParaRPr lang="zh-CN" altLang="en-US" sz="2800" dirty="0"/>
          </a:p>
        </p:txBody>
      </p:sp>
      <p:sp>
        <p:nvSpPr>
          <p:cNvPr id="2" name="íšḻíḑê"/>
          <p:cNvSpPr/>
          <p:nvPr/>
        </p:nvSpPr>
        <p:spPr>
          <a:xfrm>
            <a:off x="769620" y="3989705"/>
            <a:ext cx="9402445" cy="689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p>
            <a:r>
              <a:rPr lang="zh-CN" altLang="en-US" sz="2800" dirty="0">
                <a:solidFill>
                  <a:srgbClr val="FF0000"/>
                </a:solidFill>
              </a:rPr>
              <a:t>缓冲</a:t>
            </a:r>
            <a:r>
              <a:rPr lang="zh-CN" altLang="en-US" sz="2800" dirty="0">
                <a:solidFill>
                  <a:srgbClr val="FF0000"/>
                </a:solidFill>
              </a:rPr>
              <a:t>分类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íşļîḓé"/>
          <p:cNvSpPr/>
          <p:nvPr/>
        </p:nvSpPr>
        <p:spPr bwMode="auto">
          <a:xfrm>
            <a:off x="534670" y="4462145"/>
            <a:ext cx="11273790" cy="285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lvl="1" indent="-342900">
              <a:lnSpc>
                <a:spcPct val="150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800" dirty="0"/>
              <a:t>buffer</a:t>
            </a:r>
            <a:r>
              <a:rPr lang="zh-CN" altLang="en-US" sz="2800" dirty="0"/>
              <a:t>：</a:t>
            </a:r>
            <a:r>
              <a:rPr lang="zh-CN" altLang="en-US" sz="2800">
                <a:sym typeface="+mn-ea"/>
              </a:rPr>
              <a:t>是一个中转站，数据源将数据发往缓冲区后可以不再保留。</a:t>
            </a:r>
            <a:r>
              <a:rPr lang="zh-CN" altLang="en-US" sz="2800" dirty="0"/>
              <a:t>单缓冲</a:t>
            </a:r>
            <a:r>
              <a:rPr lang="en-US" altLang="zh-CN" sz="2800" dirty="0"/>
              <a:t>     </a:t>
            </a:r>
            <a:r>
              <a:rPr lang="zh-CN" altLang="en-US" sz="2800" dirty="0"/>
              <a:t>双缓冲</a:t>
            </a:r>
            <a:r>
              <a:rPr lang="en-US" altLang="zh-CN" sz="2800" dirty="0"/>
              <a:t>    </a:t>
            </a:r>
            <a:r>
              <a:rPr lang="zh-CN" altLang="en-US" sz="2800" dirty="0"/>
              <a:t>循环</a:t>
            </a:r>
            <a:r>
              <a:rPr lang="en-US" altLang="zh-CN" sz="2800" dirty="0"/>
              <a:t>(</a:t>
            </a:r>
            <a:r>
              <a:rPr lang="zh-CN" altLang="en-US" sz="2800" dirty="0"/>
              <a:t>环形</a:t>
            </a:r>
            <a:r>
              <a:rPr lang="en-US" altLang="zh-CN" sz="2800" dirty="0"/>
              <a:t>)</a:t>
            </a:r>
            <a:r>
              <a:rPr lang="zh-CN" altLang="en-US" sz="2800" dirty="0"/>
              <a:t>缓冲</a:t>
            </a:r>
            <a:r>
              <a:rPr lang="en-US" altLang="zh-CN" sz="2800" dirty="0"/>
              <a:t>       </a:t>
            </a:r>
            <a:r>
              <a:rPr lang="zh-CN" altLang="en-US" sz="2800" dirty="0"/>
              <a:t>缓冲池</a:t>
            </a:r>
            <a:endParaRPr lang="zh-CN" altLang="en-US" sz="2800" dirty="0"/>
          </a:p>
          <a:p>
            <a:pPr marL="342900" lvl="1" indent="-342900">
              <a:lnSpc>
                <a:spcPct val="150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800" dirty="0"/>
              <a:t>cache</a:t>
            </a:r>
            <a:r>
              <a:rPr lang="zh-CN" altLang="en-US" sz="2800" dirty="0"/>
              <a:t>：</a:t>
            </a:r>
            <a:r>
              <a:rPr lang="zh-CN" altLang="en-US" sz="2800">
                <a:sym typeface="+mn-ea"/>
              </a:rPr>
              <a:t>缓存是数据源的副本</a:t>
            </a:r>
            <a:endParaRPr lang="zh-CN" altLang="en-US" sz="2800"/>
          </a:p>
          <a:p>
            <a:pPr marL="342900" lvl="1" indent="-342900">
              <a:lnSpc>
                <a:spcPct val="150000"/>
              </a:lnSpc>
              <a:buClr>
                <a:schemeClr val="accent4">
                  <a:lumMod val="40000"/>
                  <a:lumOff val="60000"/>
                </a:schemeClr>
              </a:buClr>
              <a:buFont typeface="Wingdings" panose="05000000000000000000" pitchFamily="2" charset="2"/>
              <a:buChar char="Ø"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 </a:t>
            </a:r>
            <a:r>
              <a:rPr lang="zh-CN" altLang="en-US" sz="2800" b="1" dirty="0">
                <a:solidFill>
                  <a:schemeClr val="bg1"/>
                </a:solidFill>
              </a:rPr>
              <a:t>单缓冲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íḑê"/>
          <p:cNvSpPr/>
          <p:nvPr/>
        </p:nvSpPr>
        <p:spPr>
          <a:xfrm>
            <a:off x="866775" y="600710"/>
            <a:ext cx="10792460" cy="8210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457200" indent="-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每当用户进程发出一</a:t>
            </a:r>
            <a:r>
              <a:rPr lang="en-US" altLang="zh-CN" sz="2400" dirty="0"/>
              <a:t>I/O</a:t>
            </a:r>
            <a:r>
              <a:rPr lang="zh-CN" altLang="en-US" sz="2400" dirty="0"/>
              <a:t>请求时，操作系统便在主存中为之分配</a:t>
            </a:r>
            <a:r>
              <a:rPr lang="zh-CN" altLang="en-US" sz="2400" b="1" dirty="0">
                <a:solidFill>
                  <a:srgbClr val="FF0000"/>
                </a:solidFill>
              </a:rPr>
              <a:t>一个</a:t>
            </a:r>
            <a:r>
              <a:rPr lang="zh-CN" altLang="en-US" sz="2400" dirty="0"/>
              <a:t>缓冲区</a:t>
            </a:r>
            <a:endParaRPr lang="zh-CN" altLang="en-US" sz="2400" dirty="0"/>
          </a:p>
        </p:txBody>
      </p:sp>
      <p:sp>
        <p:nvSpPr>
          <p:cNvPr id="31" name="íšḻíḑê"/>
          <p:cNvSpPr/>
          <p:nvPr/>
        </p:nvSpPr>
        <p:spPr>
          <a:xfrm>
            <a:off x="3211195" y="4712335"/>
            <a:ext cx="8304530" cy="140335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系统对每一块数据的</a:t>
            </a:r>
            <a:r>
              <a:rPr lang="zh-CN" altLang="en-US" sz="2400" dirty="0">
                <a:solidFill>
                  <a:srgbClr val="FF0000"/>
                </a:solidFill>
              </a:rPr>
              <a:t>处理时间</a:t>
            </a:r>
            <a:r>
              <a:rPr lang="zh-CN" altLang="en-US" sz="2400" dirty="0"/>
              <a:t>为：</a:t>
            </a:r>
            <a:r>
              <a:rPr lang="en-US" altLang="zh-CN" sz="2400" dirty="0">
                <a:solidFill>
                  <a:srgbClr val="FF0000"/>
                </a:solidFill>
              </a:rPr>
              <a:t>Max(C,T)+M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085" y="1421765"/>
            <a:ext cx="8378190" cy="35471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1830070"/>
            <a:ext cx="277749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sym typeface="+mn-ea"/>
              </a:rPr>
              <a:t>T</a:t>
            </a:r>
            <a:r>
              <a:rPr lang="zh-CN" altLang="en-US" sz="2200" dirty="0">
                <a:sym typeface="+mn-ea"/>
              </a:rPr>
              <a:t>：从磁盘把一块数据输入到缓冲区的时间</a:t>
            </a:r>
            <a:endParaRPr lang="zh-CN" altLang="en-US" sz="2200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sym typeface="+mn-ea"/>
              </a:rPr>
              <a:t>M</a:t>
            </a:r>
            <a:r>
              <a:rPr lang="zh-CN" altLang="en-US" sz="2200" dirty="0">
                <a:sym typeface="+mn-ea"/>
              </a:rPr>
              <a:t>：操作系统将该缓冲区中的数据传送到工作区的时间</a:t>
            </a:r>
            <a:endParaRPr lang="zh-CN" altLang="en-US" sz="2200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sym typeface="+mn-ea"/>
              </a:rPr>
              <a:t>C</a:t>
            </a:r>
            <a:r>
              <a:rPr lang="zh-CN" altLang="en-US" sz="2200" dirty="0">
                <a:sym typeface="+mn-ea"/>
              </a:rPr>
              <a:t>：</a:t>
            </a:r>
            <a:r>
              <a:rPr lang="en-US" altLang="zh-CN" sz="2200" dirty="0">
                <a:sym typeface="+mn-ea"/>
              </a:rPr>
              <a:t>CPU</a:t>
            </a:r>
            <a:r>
              <a:rPr lang="zh-CN" altLang="en-US" sz="2200" dirty="0">
                <a:sym typeface="+mn-ea"/>
              </a:rPr>
              <a:t>对这块数据处理的时间。</a:t>
            </a:r>
            <a:endParaRPr lang="zh-CN" altLang="en-US" sz="2200" dirty="0"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20420" y="1156335"/>
            <a:ext cx="10663555" cy="292608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sz="2800"/>
              <a:t>设外设将一块数据传送到缓冲区耗时</a:t>
            </a:r>
            <a:r>
              <a:rPr lang="en-US" altLang="zh-CN" sz="2800"/>
              <a:t>20</a:t>
            </a:r>
            <a:r>
              <a:rPr lang="en-US" altLang="zh-CN" sz="2800">
                <a:sym typeface="+mn-ea"/>
              </a:rPr>
              <a:t>μ</a:t>
            </a:r>
            <a:r>
              <a:rPr lang="en-US" altLang="zh-CN" sz="2800"/>
              <a:t>s</a:t>
            </a:r>
            <a:r>
              <a:rPr lang="zh-CN" altLang="en-US" sz="2800"/>
              <a:t>，将缓冲区的数据传送到用户区耗时</a:t>
            </a:r>
            <a:r>
              <a:rPr lang="en-US" altLang="zh-CN" sz="2800"/>
              <a:t>35</a:t>
            </a:r>
            <a:r>
              <a:rPr lang="en-US" altLang="zh-CN" sz="2800">
                <a:sym typeface="+mn-ea"/>
              </a:rPr>
              <a:t>μ</a:t>
            </a:r>
            <a:r>
              <a:rPr lang="en-US" altLang="zh-CN" sz="2800"/>
              <a:t>s, CPU </a:t>
            </a:r>
            <a:r>
              <a:rPr lang="zh-CN" altLang="en-US" sz="2800"/>
              <a:t>处理一块数据耗时</a:t>
            </a:r>
            <a:r>
              <a:rPr lang="en-US" altLang="zh-CN" sz="2800"/>
              <a:t>40</a:t>
            </a:r>
            <a:r>
              <a:rPr lang="en-US" altLang="zh-CN" sz="2800">
                <a:sym typeface="+mn-ea"/>
              </a:rPr>
              <a:t>μ</a:t>
            </a:r>
            <a:r>
              <a:rPr lang="en-US" altLang="zh-CN" sz="2800"/>
              <a:t>s</a:t>
            </a:r>
            <a:r>
              <a:rPr lang="zh-CN" altLang="en-US" sz="2800"/>
              <a:t>。采用单缓冲区传送外设数据，则处理五块数据所用的总时间为（</a:t>
            </a:r>
            <a:r>
              <a:rPr lang="en-US" altLang="zh-CN" sz="2800"/>
              <a:t>)</a:t>
            </a:r>
            <a:r>
              <a:rPr lang="zh-CN" altLang="en-US" sz="2800"/>
              <a:t>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zh-CN" altLang="en-US" sz="2800"/>
              <a:t> </a:t>
            </a:r>
            <a:r>
              <a:rPr lang="en-US" altLang="zh-CN" sz="2800"/>
              <a:t>A .395μs    B .200μs     C .375μs     D .300μs</a:t>
            </a:r>
            <a:endParaRPr lang="en-US" altLang="zh-CN" sz="2800"/>
          </a:p>
        </p:txBody>
      </p:sp>
      <p:sp>
        <p:nvSpPr>
          <p:cNvPr id="3" name="文本框 2"/>
          <p:cNvSpPr txBox="1"/>
          <p:nvPr/>
        </p:nvSpPr>
        <p:spPr>
          <a:xfrm>
            <a:off x="1212215" y="456692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答案：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A</a:t>
            </a:r>
            <a:endParaRPr lang="en-US" altLang="zh-CN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双缓冲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íšḻíḑê"/>
          <p:cNvSpPr/>
          <p:nvPr/>
        </p:nvSpPr>
        <p:spPr>
          <a:xfrm>
            <a:off x="635" y="1807845"/>
            <a:ext cx="11848465" cy="330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91440" tIns="45720" rIns="91440" bIns="45720" anchor="ctr" anchorCtr="0">
            <a:noAutofit/>
          </a:bodyPr>
          <a:p>
            <a:pPr marL="457200" indent="-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3200" dirty="0"/>
              <a:t>操作系统便在主存中为之分配</a:t>
            </a:r>
            <a:r>
              <a:rPr lang="zh-CN" altLang="en-US" sz="3200" b="1" dirty="0">
                <a:solidFill>
                  <a:srgbClr val="FF0000"/>
                </a:solidFill>
              </a:rPr>
              <a:t>两个</a:t>
            </a:r>
            <a:r>
              <a:rPr lang="zh-CN" altLang="en-US" sz="3200" dirty="0"/>
              <a:t>缓冲区</a:t>
            </a:r>
            <a:endParaRPr lang="zh-CN" altLang="en-US" sz="3200" dirty="0"/>
          </a:p>
          <a:p>
            <a:pPr marL="457200" indent="-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3200" dirty="0">
                <a:sym typeface="+mn-ea"/>
              </a:rPr>
              <a:t>在设备输入时，先将数据送入第一缓冲区，装满后便转向第二缓冲区。</a:t>
            </a:r>
            <a:endParaRPr lang="zh-CN" altLang="en-US" sz="3200" dirty="0">
              <a:sym typeface="+mn-ea"/>
            </a:endParaRPr>
          </a:p>
          <a:p>
            <a:pPr marL="457200" indent="-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3200" dirty="0">
                <a:sym typeface="+mn-ea"/>
              </a:rPr>
              <a:t>此时操作系统可以从第一缓冲区移出数据，并送入用户进程。接着由</a:t>
            </a:r>
            <a:r>
              <a:rPr lang="en-US" altLang="zh-CN" sz="3200" dirty="0">
                <a:sym typeface="+mn-ea"/>
              </a:rPr>
              <a:t>CPU</a:t>
            </a:r>
            <a:r>
              <a:rPr lang="zh-CN" altLang="en-US" sz="3200" dirty="0">
                <a:sym typeface="+mn-ea"/>
              </a:rPr>
              <a:t>对数据进行计算。</a:t>
            </a:r>
            <a:endParaRPr lang="zh-CN" altLang="en-US" sz="3200" dirty="0">
              <a:sym typeface="+mn-ea"/>
            </a:endParaRPr>
          </a:p>
          <a:p>
            <a:pPr marL="457200" indent="-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3200" dirty="0"/>
              <a:t>双缓冲可以加快输入输出速度，提高设备利用率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双缓冲工作示意图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07" y="1359685"/>
            <a:ext cx="11791883" cy="442292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7810" y="1131570"/>
            <a:ext cx="11662410" cy="496887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2800"/>
              <a:t>(1) T &gt; C </a:t>
            </a:r>
            <a:r>
              <a:rPr lang="zh-CN" altLang="en-US" sz="2800"/>
              <a:t>时，输入操作比计算操作慢，这时由于 </a:t>
            </a:r>
            <a:r>
              <a:rPr lang="en-US" altLang="zh-CN" sz="2800"/>
              <a:t>M </a:t>
            </a:r>
            <a:r>
              <a:rPr lang="zh-CN" altLang="en-US" sz="2800"/>
              <a:t>远远小于 </a:t>
            </a:r>
            <a:r>
              <a:rPr lang="en-US" altLang="zh-CN" sz="2800"/>
              <a:t>T </a:t>
            </a:r>
            <a:r>
              <a:rPr lang="zh-CN" altLang="en-US" sz="2800"/>
              <a:t>，所以一块数据的传输和处理时间为 </a:t>
            </a:r>
            <a:r>
              <a:rPr lang="en-US" altLang="zh-CN" sz="2800"/>
              <a:t>Max ( C , T )+</a:t>
            </a:r>
            <a:r>
              <a:rPr lang="en-US" altLang="zh-CN" sz="2800"/>
              <a:t>M= T </a:t>
            </a:r>
            <a:r>
              <a:rPr lang="zh-CN" altLang="en-US" sz="2800"/>
              <a:t>，这种情况可保持块设备连续工作。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(2) T &lt; C </a:t>
            </a:r>
            <a:r>
              <a:rPr lang="zh-CN" altLang="en-US" sz="2800"/>
              <a:t>时，计算操作比输入操作慢，所以一块数据的传输和处理时间为 </a:t>
            </a:r>
            <a:r>
              <a:rPr lang="en-US" altLang="zh-CN" sz="2800"/>
              <a:t>Max ( C , T )+ M = C + M </a:t>
            </a:r>
            <a:r>
              <a:rPr lang="zh-CN" altLang="en-US" sz="2800"/>
              <a:t>，这种情况使得进程不必等待 </a:t>
            </a:r>
            <a:r>
              <a:rPr lang="en-US" altLang="zh-CN" sz="2800"/>
              <a:t>I / O </a:t>
            </a:r>
            <a:r>
              <a:rPr lang="zh-CN" altLang="en-US" sz="2800"/>
              <a:t>操作。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>
                <a:highlight>
                  <a:srgbClr val="FFFF00"/>
                </a:highlight>
              </a:rPr>
              <a:t>综合上面两种情况可得，采用双缓冲策略处理一个数据块平均耗时为 </a:t>
            </a:r>
            <a:endParaRPr lang="zh-CN" altLang="en-US" sz="2800">
              <a:highlight>
                <a:srgbClr val="FFFF00"/>
              </a:highlight>
            </a:endParaRPr>
          </a:p>
          <a:p>
            <a:r>
              <a:rPr lang="en-US" altLang="zh-CN" sz="2800">
                <a:highlight>
                  <a:srgbClr val="FFFF00"/>
                </a:highlight>
              </a:rPr>
              <a:t>Max ( T , C + M )</a:t>
            </a:r>
            <a:r>
              <a:rPr lang="zh-CN" altLang="en-US" sz="2800">
                <a:highlight>
                  <a:srgbClr val="FFFF00"/>
                </a:highlight>
              </a:rPr>
              <a:t>。</a:t>
            </a:r>
            <a:endParaRPr lang="zh-CN" altLang="en-US" sz="2800">
              <a:highlight>
                <a:srgbClr val="FFFF00"/>
              </a:highligh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</a:rPr>
              <a:t>双缓冲时间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95630" y="1155700"/>
            <a:ext cx="11163300" cy="407162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/>
              <a:t>【</a:t>
            </a:r>
            <a:r>
              <a:rPr lang="en-US" altLang="zh-CN" sz="2800"/>
              <a:t>2011</a:t>
            </a:r>
            <a:r>
              <a:rPr lang="zh-CN" altLang="en-US" sz="2800"/>
              <a:t>】某文件占</a:t>
            </a:r>
            <a:r>
              <a:rPr lang="en-US" altLang="zh-CN" sz="2800"/>
              <a:t>10</a:t>
            </a:r>
            <a:r>
              <a:rPr lang="zh-CN" altLang="en-US" sz="2800"/>
              <a:t>个磁盘块，现要把该文件磁盘块逐个读入主存缓冲区，并送用户区进行分析，假设一个缓冲区与一个磁盘块大小相同，把一个磁盘块读入缓冲区的时间为</a:t>
            </a:r>
            <a:r>
              <a:rPr lang="en-US" altLang="zh-CN" sz="2800"/>
              <a:t>100μs </a:t>
            </a:r>
            <a:r>
              <a:rPr lang="zh-CN" altLang="en-US" sz="2800"/>
              <a:t>，将缓冲区的数据传送到用户区的时间是</a:t>
            </a:r>
            <a:r>
              <a:rPr lang="en-US" altLang="zh-CN" sz="2800"/>
              <a:t>50</a:t>
            </a:r>
            <a:r>
              <a:rPr lang="en-US" altLang="zh-CN" sz="2800">
                <a:sym typeface="+mn-ea"/>
              </a:rPr>
              <a:t>μ</a:t>
            </a:r>
            <a:r>
              <a:rPr lang="en-US" altLang="zh-CN" sz="2800"/>
              <a:t>s, CPU </a:t>
            </a:r>
            <a:r>
              <a:rPr lang="zh-CN" altLang="en-US" sz="2800"/>
              <a:t>对一块数据进行分析的时间为</a:t>
            </a:r>
            <a:r>
              <a:rPr lang="en-US" altLang="zh-CN" sz="2800"/>
              <a:t>50</a:t>
            </a:r>
            <a:r>
              <a:rPr lang="en-US" altLang="zh-CN" sz="2800">
                <a:sym typeface="+mn-ea"/>
              </a:rPr>
              <a:t>μ</a:t>
            </a:r>
            <a:r>
              <a:rPr lang="en-US" altLang="zh-CN" sz="2800"/>
              <a:t>s</a:t>
            </a:r>
            <a:r>
              <a:rPr lang="zh-CN" altLang="en-US" sz="2800"/>
              <a:t>。在单缓冲区和双缓冲区结构下，读入并分析完该文件的时间分别是（</a:t>
            </a:r>
            <a:r>
              <a:rPr lang="en-US" altLang="zh-CN" sz="2800"/>
              <a:t>)</a:t>
            </a:r>
            <a:r>
              <a:rPr lang="zh-CN" altLang="en-US" sz="2800"/>
              <a:t>。 </a:t>
            </a:r>
            <a:r>
              <a:rPr lang="en-US" altLang="zh-CN" sz="2800"/>
              <a:t>A .1500μs ,1000μs </a:t>
            </a:r>
            <a:endParaRPr lang="en-US" altLang="zh-CN" sz="28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/>
              <a:t>B .1550μs ,1100μs </a:t>
            </a:r>
            <a:endParaRPr lang="en-US" altLang="zh-CN" sz="28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/>
              <a:t>C .1550μs ,1550μs </a:t>
            </a:r>
            <a:endParaRPr lang="en-US" altLang="zh-CN" sz="280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/>
              <a:t>D .2000μs ,2000μs</a:t>
            </a:r>
            <a:endParaRPr lang="en-US" altLang="zh-CN" sz="2800"/>
          </a:p>
        </p:txBody>
      </p:sp>
      <p:sp>
        <p:nvSpPr>
          <p:cNvPr id="3" name="文本框 2"/>
          <p:cNvSpPr txBox="1"/>
          <p:nvPr/>
        </p:nvSpPr>
        <p:spPr>
          <a:xfrm>
            <a:off x="6096000" y="542925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答案：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B</a:t>
            </a:r>
            <a:endParaRPr lang="en-US" altLang="zh-CN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 </a:t>
            </a:r>
            <a:r>
              <a:rPr lang="zh-CN" altLang="en-US" sz="2800" b="1" dirty="0">
                <a:solidFill>
                  <a:schemeClr val="bg1"/>
                </a:solidFill>
              </a:rPr>
              <a:t>环形缓冲区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8335" y="1212215"/>
            <a:ext cx="7271385" cy="4799965"/>
          </a:xfrm>
          <a:prstGeom prst="rect">
            <a:avLst/>
          </a:prstGeom>
        </p:spPr>
      </p:pic>
      <p:sp>
        <p:nvSpPr>
          <p:cNvPr id="13" name="îṧľîḋé"/>
          <p:cNvSpPr txBox="1"/>
          <p:nvPr/>
        </p:nvSpPr>
        <p:spPr>
          <a:xfrm>
            <a:off x="254635" y="1183005"/>
            <a:ext cx="3576320" cy="40874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3000"/>
              </a:lnSpc>
            </a:pPr>
            <a:r>
              <a:rPr lang="zh-CN" altLang="en-US" sz="2800" dirty="0"/>
              <a:t>当输入与输出两者的速度相差悬殊，双缓冲的效果则不够理想，可以</a:t>
            </a:r>
            <a:r>
              <a:rPr lang="zh-CN" altLang="en-US" sz="2800" dirty="0">
                <a:sym typeface="+mn-ea"/>
              </a:rPr>
              <a:t>增加缓冲区</a:t>
            </a:r>
            <a:r>
              <a:rPr lang="zh-CN" altLang="en-US" sz="2800" dirty="0"/>
              <a:t>数量，使情况有所改善。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可将多个缓冲组织为循环缓冲。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7.7 </a:t>
            </a:r>
            <a:r>
              <a:rPr lang="zh-CN" altLang="en-US" sz="2800" b="1" dirty="0">
                <a:solidFill>
                  <a:schemeClr val="bg1"/>
                </a:solidFill>
              </a:rPr>
              <a:t>缓冲池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4" name="iṡļiḓe"/>
          <p:cNvGrpSpPr/>
          <p:nvPr>
            <p:custDataLst>
              <p:tags r:id="rId1"/>
            </p:custDataLst>
          </p:nvPr>
        </p:nvGrpSpPr>
        <p:grpSpPr>
          <a:xfrm>
            <a:off x="340360" y="1937644"/>
            <a:ext cx="5626100" cy="1133376"/>
            <a:chOff x="660400" y="1787149"/>
            <a:chExt cx="5626100" cy="1133376"/>
          </a:xfrm>
        </p:grpSpPr>
        <p:sp>
          <p:nvSpPr>
            <p:cNvPr id="9" name="îṧľîḋé"/>
            <p:cNvSpPr txBox="1"/>
            <p:nvPr>
              <p:custDataLst>
                <p:tags r:id="rId2"/>
              </p:custDataLst>
            </p:nvPr>
          </p:nvSpPr>
          <p:spPr>
            <a:xfrm>
              <a:off x="1296567" y="1835355"/>
              <a:ext cx="4989933" cy="108517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3200" dirty="0"/>
                <a:t>当系统较大时，将会有许多循环缓冲，这不仅要消耗大量的内存空间，而且利用率不高</a:t>
              </a:r>
              <a:endParaRPr lang="zh-CN" altLang="en-US" sz="3200" dirty="0"/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>
                <p:custDataLst>
                  <p:tags r:id="rId3"/>
                </p:custDataLst>
              </p:nvPr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>
                <p:custDataLst>
                  <p:tags r:id="rId4"/>
                </p:custDataLst>
              </p:nvPr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ïšļíďè"/>
          <p:cNvSpPr txBox="1"/>
          <p:nvPr>
            <p:custDataLst>
              <p:tags r:id="rId5"/>
            </p:custDataLst>
          </p:nvPr>
        </p:nvSpPr>
        <p:spPr>
          <a:xfrm>
            <a:off x="6759472" y="2457975"/>
            <a:ext cx="5661680" cy="1169753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dirty="0"/>
              <a:t>为了提高缓冲区的利用率，引入公用缓冲池，在池中设置了多个可供若干个进程共享的缓冲区。</a:t>
            </a:r>
            <a:endParaRPr lang="zh-CN" altLang="en-US" sz="3200" dirty="0"/>
          </a:p>
        </p:txBody>
      </p:sp>
      <p:grpSp>
        <p:nvGrpSpPr>
          <p:cNvPr id="5" name="ïŝľídè"/>
          <p:cNvGrpSpPr/>
          <p:nvPr>
            <p:custDataLst>
              <p:tags r:id="rId6"/>
            </p:custDataLst>
          </p:nvPr>
        </p:nvGrpSpPr>
        <p:grpSpPr>
          <a:xfrm rot="0">
            <a:off x="6381115" y="1280160"/>
            <a:ext cx="497840" cy="497840"/>
            <a:chOff x="660400" y="2096245"/>
            <a:chExt cx="497734" cy="497734"/>
          </a:xfrm>
        </p:grpSpPr>
        <p:sp>
          <p:nvSpPr>
            <p:cNvPr id="10" name="ïṡľïde"/>
            <p:cNvSpPr/>
            <p:nvPr>
              <p:custDataLst>
                <p:tags r:id="rId7"/>
              </p:custDataLst>
            </p:nvPr>
          </p:nvSpPr>
          <p:spPr>
            <a:xfrm>
              <a:off x="660400" y="2096245"/>
              <a:ext cx="497734" cy="49773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bg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>
                <a:lnSpc>
                  <a:spcPct val="132000"/>
                </a:lnSpc>
              </a:pP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2" name="ïšliḍe"/>
            <p:cNvSpPr/>
            <p:nvPr>
              <p:custDataLst>
                <p:tags r:id="rId8"/>
              </p:custDataLst>
            </p:nvPr>
          </p:nvSpPr>
          <p:spPr>
            <a:xfrm>
              <a:off x="779848" y="2227680"/>
              <a:ext cx="258838" cy="234864"/>
            </a:xfrm>
            <a:custGeom>
              <a:avLst/>
              <a:gdLst>
                <a:gd name="connsiteX0" fmla="*/ 116112 w 607919"/>
                <a:gd name="connsiteY0" fmla="*/ 473652 h 551610"/>
                <a:gd name="connsiteX1" fmla="*/ 118901 w 607919"/>
                <a:gd name="connsiteY1" fmla="*/ 480423 h 551610"/>
                <a:gd name="connsiteX2" fmla="*/ 118901 w 607919"/>
                <a:gd name="connsiteY2" fmla="*/ 551610 h 551610"/>
                <a:gd name="connsiteX3" fmla="*/ 55604 w 607919"/>
                <a:gd name="connsiteY3" fmla="*/ 551610 h 551610"/>
                <a:gd name="connsiteX4" fmla="*/ 55604 w 607919"/>
                <a:gd name="connsiteY4" fmla="*/ 540851 h 551610"/>
                <a:gd name="connsiteX5" fmla="*/ 65255 w 607919"/>
                <a:gd name="connsiteY5" fmla="*/ 520583 h 551610"/>
                <a:gd name="connsiteX6" fmla="*/ 83555 w 607919"/>
                <a:gd name="connsiteY6" fmla="*/ 502317 h 551610"/>
                <a:gd name="connsiteX7" fmla="*/ 109375 w 607919"/>
                <a:gd name="connsiteY7" fmla="*/ 476545 h 551610"/>
                <a:gd name="connsiteX8" fmla="*/ 116112 w 607919"/>
                <a:gd name="connsiteY8" fmla="*/ 473652 h 551610"/>
                <a:gd name="connsiteX9" fmla="*/ 199155 w 607919"/>
                <a:gd name="connsiteY9" fmla="*/ 390799 h 551610"/>
                <a:gd name="connsiteX10" fmla="*/ 201956 w 607919"/>
                <a:gd name="connsiteY10" fmla="*/ 397632 h 551610"/>
                <a:gd name="connsiteX11" fmla="*/ 201956 w 607919"/>
                <a:gd name="connsiteY11" fmla="*/ 551610 h 551610"/>
                <a:gd name="connsiteX12" fmla="*/ 145363 w 607919"/>
                <a:gd name="connsiteY12" fmla="*/ 551610 h 551610"/>
                <a:gd name="connsiteX13" fmla="*/ 145363 w 607919"/>
                <a:gd name="connsiteY13" fmla="*/ 454170 h 551610"/>
                <a:gd name="connsiteX14" fmla="*/ 154879 w 607919"/>
                <a:gd name="connsiteY14" fmla="*/ 431030 h 551610"/>
                <a:gd name="connsiteX15" fmla="*/ 192315 w 607919"/>
                <a:gd name="connsiteY15" fmla="*/ 393630 h 551610"/>
                <a:gd name="connsiteX16" fmla="*/ 199155 w 607919"/>
                <a:gd name="connsiteY16" fmla="*/ 390799 h 551610"/>
                <a:gd name="connsiteX17" fmla="*/ 231082 w 607919"/>
                <a:gd name="connsiteY17" fmla="*/ 388245 h 551610"/>
                <a:gd name="connsiteX18" fmla="*/ 237930 w 607919"/>
                <a:gd name="connsiteY18" fmla="*/ 391091 h 551610"/>
                <a:gd name="connsiteX19" fmla="*/ 266763 w 607919"/>
                <a:gd name="connsiteY19" fmla="*/ 419867 h 551610"/>
                <a:gd name="connsiteX20" fmla="*/ 275915 w 607919"/>
                <a:gd name="connsiteY20" fmla="*/ 428875 h 551610"/>
                <a:gd name="connsiteX21" fmla="*/ 284941 w 607919"/>
                <a:gd name="connsiteY21" fmla="*/ 451520 h 551610"/>
                <a:gd name="connsiteX22" fmla="*/ 284941 w 607919"/>
                <a:gd name="connsiteY22" fmla="*/ 551610 h 551610"/>
                <a:gd name="connsiteX23" fmla="*/ 228277 w 607919"/>
                <a:gd name="connsiteY23" fmla="*/ 551610 h 551610"/>
                <a:gd name="connsiteX24" fmla="*/ 228277 w 607919"/>
                <a:gd name="connsiteY24" fmla="*/ 394969 h 551610"/>
                <a:gd name="connsiteX25" fmla="*/ 231082 w 607919"/>
                <a:gd name="connsiteY25" fmla="*/ 388245 h 551610"/>
                <a:gd name="connsiteX26" fmla="*/ 365148 w 607919"/>
                <a:gd name="connsiteY26" fmla="*/ 381336 h 551610"/>
                <a:gd name="connsiteX27" fmla="*/ 367997 w 607919"/>
                <a:gd name="connsiteY27" fmla="*/ 388122 h 551610"/>
                <a:gd name="connsiteX28" fmla="*/ 367997 w 607919"/>
                <a:gd name="connsiteY28" fmla="*/ 551610 h 551610"/>
                <a:gd name="connsiteX29" fmla="*/ 311262 w 607919"/>
                <a:gd name="connsiteY29" fmla="*/ 551610 h 551610"/>
                <a:gd name="connsiteX30" fmla="*/ 311262 w 607919"/>
                <a:gd name="connsiteY30" fmla="*/ 444661 h 551610"/>
                <a:gd name="connsiteX31" fmla="*/ 316898 w 607919"/>
                <a:gd name="connsiteY31" fmla="*/ 425523 h 551610"/>
                <a:gd name="connsiteX32" fmla="*/ 322534 w 607919"/>
                <a:gd name="connsiteY32" fmla="*/ 419894 h 551610"/>
                <a:gd name="connsiteX33" fmla="*/ 358353 w 607919"/>
                <a:gd name="connsiteY33" fmla="*/ 384120 h 551610"/>
                <a:gd name="connsiteX34" fmla="*/ 365148 w 607919"/>
                <a:gd name="connsiteY34" fmla="*/ 381336 h 551610"/>
                <a:gd name="connsiteX35" fmla="*/ 448177 w 607919"/>
                <a:gd name="connsiteY35" fmla="*/ 298352 h 551610"/>
                <a:gd name="connsiteX36" fmla="*/ 450982 w 607919"/>
                <a:gd name="connsiteY36" fmla="*/ 305139 h 551610"/>
                <a:gd name="connsiteX37" fmla="*/ 450982 w 607919"/>
                <a:gd name="connsiteY37" fmla="*/ 551610 h 551610"/>
                <a:gd name="connsiteX38" fmla="*/ 394318 w 607919"/>
                <a:gd name="connsiteY38" fmla="*/ 551610 h 551610"/>
                <a:gd name="connsiteX39" fmla="*/ 394318 w 607919"/>
                <a:gd name="connsiteY39" fmla="*/ 361815 h 551610"/>
                <a:gd name="connsiteX40" fmla="*/ 403846 w 607919"/>
                <a:gd name="connsiteY40" fmla="*/ 338669 h 551610"/>
                <a:gd name="connsiteX41" fmla="*/ 441329 w 607919"/>
                <a:gd name="connsiteY41" fmla="*/ 301136 h 551610"/>
                <a:gd name="connsiteX42" fmla="*/ 448177 w 607919"/>
                <a:gd name="connsiteY42" fmla="*/ 298352 h 551610"/>
                <a:gd name="connsiteX43" fmla="*/ 527085 w 607919"/>
                <a:gd name="connsiteY43" fmla="*/ 219452 h 551610"/>
                <a:gd name="connsiteX44" fmla="*/ 529874 w 607919"/>
                <a:gd name="connsiteY44" fmla="*/ 226177 h 551610"/>
                <a:gd name="connsiteX45" fmla="*/ 529874 w 607919"/>
                <a:gd name="connsiteY45" fmla="*/ 551610 h 551610"/>
                <a:gd name="connsiteX46" fmla="*/ 477232 w 607919"/>
                <a:gd name="connsiteY46" fmla="*/ 551610 h 551610"/>
                <a:gd name="connsiteX47" fmla="*/ 477232 w 607919"/>
                <a:gd name="connsiteY47" fmla="*/ 278727 h 551610"/>
                <a:gd name="connsiteX48" fmla="*/ 486883 w 607919"/>
                <a:gd name="connsiteY48" fmla="*/ 255580 h 551610"/>
                <a:gd name="connsiteX49" fmla="*/ 520348 w 607919"/>
                <a:gd name="connsiteY49" fmla="*/ 222298 h 551610"/>
                <a:gd name="connsiteX50" fmla="*/ 527085 w 607919"/>
                <a:gd name="connsiteY50" fmla="*/ 219452 h 551610"/>
                <a:gd name="connsiteX51" fmla="*/ 387769 w 607919"/>
                <a:gd name="connsiteY51" fmla="*/ 0 h 551610"/>
                <a:gd name="connsiteX52" fmla="*/ 580729 w 607919"/>
                <a:gd name="connsiteY52" fmla="*/ 0 h 551610"/>
                <a:gd name="connsiteX53" fmla="*/ 607919 w 607919"/>
                <a:gd name="connsiteY53" fmla="*/ 26022 h 551610"/>
                <a:gd name="connsiteX54" fmla="*/ 607919 w 607919"/>
                <a:gd name="connsiteY54" fmla="*/ 219812 h 551610"/>
                <a:gd name="connsiteX55" fmla="*/ 598271 w 607919"/>
                <a:gd name="connsiteY55" fmla="*/ 223815 h 551610"/>
                <a:gd name="connsiteX56" fmla="*/ 530610 w 607919"/>
                <a:gd name="connsiteY56" fmla="*/ 156258 h 551610"/>
                <a:gd name="connsiteX57" fmla="*/ 304320 w 607919"/>
                <a:gd name="connsiteY57" fmla="*/ 382325 h 551610"/>
                <a:gd name="connsiteX58" fmla="*/ 285024 w 607919"/>
                <a:gd name="connsiteY58" fmla="*/ 382325 h 551610"/>
                <a:gd name="connsiteX59" fmla="*/ 216360 w 607919"/>
                <a:gd name="connsiteY59" fmla="*/ 313767 h 551610"/>
                <a:gd name="connsiteX60" fmla="*/ 94068 w 607919"/>
                <a:gd name="connsiteY60" fmla="*/ 435996 h 551610"/>
                <a:gd name="connsiteX61" fmla="*/ 17260 w 607919"/>
                <a:gd name="connsiteY61" fmla="*/ 435996 h 551610"/>
                <a:gd name="connsiteX62" fmla="*/ 15882 w 607919"/>
                <a:gd name="connsiteY62" fmla="*/ 434745 h 551610"/>
                <a:gd name="connsiteX63" fmla="*/ 15882 w 607919"/>
                <a:gd name="connsiteY63" fmla="*/ 358055 h 551610"/>
                <a:gd name="connsiteX64" fmla="*/ 206837 w 607919"/>
                <a:gd name="connsiteY64" fmla="*/ 167267 h 551610"/>
                <a:gd name="connsiteX65" fmla="*/ 226008 w 607919"/>
                <a:gd name="connsiteY65" fmla="*/ 167267 h 551610"/>
                <a:gd name="connsiteX66" fmla="*/ 294672 w 607919"/>
                <a:gd name="connsiteY66" fmla="*/ 235701 h 551610"/>
                <a:gd name="connsiteX67" fmla="*/ 424481 w 607919"/>
                <a:gd name="connsiteY67" fmla="*/ 105965 h 551610"/>
                <a:gd name="connsiteX68" fmla="*/ 452423 w 607919"/>
                <a:gd name="connsiteY68" fmla="*/ 78192 h 551610"/>
                <a:gd name="connsiteX69" fmla="*/ 383885 w 607919"/>
                <a:gd name="connsiteY69" fmla="*/ 9633 h 551610"/>
                <a:gd name="connsiteX70" fmla="*/ 387769 w 607919"/>
                <a:gd name="connsiteY70" fmla="*/ 0 h 55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607919" h="551610">
                  <a:moveTo>
                    <a:pt x="116112" y="473652"/>
                  </a:moveTo>
                  <a:cubicBezTo>
                    <a:pt x="117836" y="474356"/>
                    <a:pt x="118901" y="476670"/>
                    <a:pt x="118901" y="480423"/>
                  </a:cubicBezTo>
                  <a:lnTo>
                    <a:pt x="118901" y="551610"/>
                  </a:lnTo>
                  <a:lnTo>
                    <a:pt x="55604" y="551610"/>
                  </a:lnTo>
                  <a:lnTo>
                    <a:pt x="55604" y="540851"/>
                  </a:lnTo>
                  <a:cubicBezTo>
                    <a:pt x="55604" y="534971"/>
                    <a:pt x="59991" y="525838"/>
                    <a:pt x="65255" y="520583"/>
                  </a:cubicBezTo>
                  <a:lnTo>
                    <a:pt x="83555" y="502317"/>
                  </a:lnTo>
                  <a:lnTo>
                    <a:pt x="109375" y="476545"/>
                  </a:lnTo>
                  <a:cubicBezTo>
                    <a:pt x="112007" y="473855"/>
                    <a:pt x="114389" y="472948"/>
                    <a:pt x="116112" y="473652"/>
                  </a:cubicBezTo>
                  <a:close/>
                  <a:moveTo>
                    <a:pt x="199155" y="390799"/>
                  </a:moveTo>
                  <a:cubicBezTo>
                    <a:pt x="200892" y="391534"/>
                    <a:pt x="201956" y="393880"/>
                    <a:pt x="201956" y="397632"/>
                  </a:cubicBezTo>
                  <a:lnTo>
                    <a:pt x="201956" y="551610"/>
                  </a:lnTo>
                  <a:lnTo>
                    <a:pt x="145363" y="551610"/>
                  </a:lnTo>
                  <a:lnTo>
                    <a:pt x="145363" y="454170"/>
                  </a:lnTo>
                  <a:cubicBezTo>
                    <a:pt x="145363" y="446665"/>
                    <a:pt x="149620" y="436283"/>
                    <a:pt x="154879" y="431030"/>
                  </a:cubicBezTo>
                  <a:lnTo>
                    <a:pt x="192315" y="393630"/>
                  </a:lnTo>
                  <a:cubicBezTo>
                    <a:pt x="195007" y="390941"/>
                    <a:pt x="197417" y="390065"/>
                    <a:pt x="199155" y="390799"/>
                  </a:cubicBezTo>
                  <a:close/>
                  <a:moveTo>
                    <a:pt x="231082" y="388245"/>
                  </a:moveTo>
                  <a:cubicBezTo>
                    <a:pt x="232822" y="387525"/>
                    <a:pt x="235235" y="388401"/>
                    <a:pt x="237930" y="391091"/>
                  </a:cubicBezTo>
                  <a:lnTo>
                    <a:pt x="266763" y="419867"/>
                  </a:lnTo>
                  <a:lnTo>
                    <a:pt x="275915" y="428875"/>
                  </a:lnTo>
                  <a:cubicBezTo>
                    <a:pt x="280929" y="433879"/>
                    <a:pt x="284941" y="444013"/>
                    <a:pt x="284941" y="451520"/>
                  </a:cubicBezTo>
                  <a:lnTo>
                    <a:pt x="284941" y="551610"/>
                  </a:lnTo>
                  <a:lnTo>
                    <a:pt x="228277" y="551610"/>
                  </a:lnTo>
                  <a:lnTo>
                    <a:pt x="228277" y="394969"/>
                  </a:lnTo>
                  <a:cubicBezTo>
                    <a:pt x="228277" y="391278"/>
                    <a:pt x="229343" y="388964"/>
                    <a:pt x="231082" y="388245"/>
                  </a:cubicBezTo>
                  <a:close/>
                  <a:moveTo>
                    <a:pt x="365148" y="381336"/>
                  </a:moveTo>
                  <a:cubicBezTo>
                    <a:pt x="366901" y="382055"/>
                    <a:pt x="367997" y="384370"/>
                    <a:pt x="367997" y="388122"/>
                  </a:cubicBezTo>
                  <a:lnTo>
                    <a:pt x="367997" y="551610"/>
                  </a:lnTo>
                  <a:lnTo>
                    <a:pt x="311262" y="551610"/>
                  </a:lnTo>
                  <a:lnTo>
                    <a:pt x="311262" y="444661"/>
                  </a:lnTo>
                  <a:cubicBezTo>
                    <a:pt x="311262" y="437156"/>
                    <a:pt x="313767" y="428650"/>
                    <a:pt x="316898" y="425523"/>
                  </a:cubicBezTo>
                  <a:cubicBezTo>
                    <a:pt x="320029" y="422396"/>
                    <a:pt x="322534" y="419894"/>
                    <a:pt x="322534" y="419894"/>
                  </a:cubicBezTo>
                  <a:lnTo>
                    <a:pt x="358353" y="384120"/>
                  </a:lnTo>
                  <a:cubicBezTo>
                    <a:pt x="360983" y="381493"/>
                    <a:pt x="363394" y="380617"/>
                    <a:pt x="365148" y="381336"/>
                  </a:cubicBezTo>
                  <a:close/>
                  <a:moveTo>
                    <a:pt x="448177" y="298352"/>
                  </a:moveTo>
                  <a:cubicBezTo>
                    <a:pt x="449916" y="299071"/>
                    <a:pt x="450982" y="301386"/>
                    <a:pt x="450982" y="305139"/>
                  </a:cubicBezTo>
                  <a:lnTo>
                    <a:pt x="450982" y="551610"/>
                  </a:lnTo>
                  <a:lnTo>
                    <a:pt x="394318" y="551610"/>
                  </a:lnTo>
                  <a:lnTo>
                    <a:pt x="394318" y="361815"/>
                  </a:lnTo>
                  <a:cubicBezTo>
                    <a:pt x="394318" y="354308"/>
                    <a:pt x="398580" y="343924"/>
                    <a:pt x="403846" y="338669"/>
                  </a:cubicBezTo>
                  <a:lnTo>
                    <a:pt x="441329" y="301136"/>
                  </a:lnTo>
                  <a:cubicBezTo>
                    <a:pt x="444024" y="298508"/>
                    <a:pt x="446438" y="297633"/>
                    <a:pt x="448177" y="298352"/>
                  </a:cubicBezTo>
                  <a:close/>
                  <a:moveTo>
                    <a:pt x="527085" y="219452"/>
                  </a:moveTo>
                  <a:cubicBezTo>
                    <a:pt x="528809" y="220171"/>
                    <a:pt x="529874" y="222486"/>
                    <a:pt x="529874" y="226177"/>
                  </a:cubicBezTo>
                  <a:lnTo>
                    <a:pt x="529874" y="551610"/>
                  </a:lnTo>
                  <a:lnTo>
                    <a:pt x="477232" y="551610"/>
                  </a:lnTo>
                  <a:lnTo>
                    <a:pt x="477232" y="278727"/>
                  </a:lnTo>
                  <a:cubicBezTo>
                    <a:pt x="477232" y="271345"/>
                    <a:pt x="481494" y="260960"/>
                    <a:pt x="486883" y="255580"/>
                  </a:cubicBezTo>
                  <a:lnTo>
                    <a:pt x="520348" y="222298"/>
                  </a:lnTo>
                  <a:cubicBezTo>
                    <a:pt x="522980" y="219608"/>
                    <a:pt x="525362" y="218732"/>
                    <a:pt x="527085" y="219452"/>
                  </a:cubicBezTo>
                  <a:close/>
                  <a:moveTo>
                    <a:pt x="387769" y="0"/>
                  </a:moveTo>
                  <a:lnTo>
                    <a:pt x="580729" y="0"/>
                  </a:lnTo>
                  <a:cubicBezTo>
                    <a:pt x="594512" y="0"/>
                    <a:pt x="607919" y="12135"/>
                    <a:pt x="607919" y="26022"/>
                  </a:cubicBezTo>
                  <a:lnTo>
                    <a:pt x="607919" y="219812"/>
                  </a:lnTo>
                  <a:cubicBezTo>
                    <a:pt x="607919" y="227318"/>
                    <a:pt x="603534" y="229070"/>
                    <a:pt x="598271" y="223815"/>
                  </a:cubicBezTo>
                  <a:lnTo>
                    <a:pt x="530610" y="156258"/>
                  </a:lnTo>
                  <a:lnTo>
                    <a:pt x="304320" y="382325"/>
                  </a:lnTo>
                  <a:cubicBezTo>
                    <a:pt x="298932" y="387580"/>
                    <a:pt x="290412" y="387580"/>
                    <a:pt x="285024" y="382325"/>
                  </a:cubicBezTo>
                  <a:lnTo>
                    <a:pt x="216360" y="313767"/>
                  </a:lnTo>
                  <a:lnTo>
                    <a:pt x="94068" y="435996"/>
                  </a:lnTo>
                  <a:cubicBezTo>
                    <a:pt x="72767" y="457264"/>
                    <a:pt x="38435" y="457264"/>
                    <a:pt x="17260" y="435996"/>
                  </a:cubicBezTo>
                  <a:lnTo>
                    <a:pt x="15882" y="434745"/>
                  </a:lnTo>
                  <a:cubicBezTo>
                    <a:pt x="-5294" y="413477"/>
                    <a:pt x="-5294" y="379198"/>
                    <a:pt x="15882" y="358055"/>
                  </a:cubicBezTo>
                  <a:lnTo>
                    <a:pt x="206837" y="167267"/>
                  </a:lnTo>
                  <a:cubicBezTo>
                    <a:pt x="212100" y="161888"/>
                    <a:pt x="220745" y="161888"/>
                    <a:pt x="226008" y="167267"/>
                  </a:cubicBezTo>
                  <a:lnTo>
                    <a:pt x="294672" y="235701"/>
                  </a:lnTo>
                  <a:lnTo>
                    <a:pt x="424481" y="105965"/>
                  </a:lnTo>
                  <a:lnTo>
                    <a:pt x="452423" y="78192"/>
                  </a:lnTo>
                  <a:lnTo>
                    <a:pt x="383885" y="9633"/>
                  </a:lnTo>
                  <a:cubicBezTo>
                    <a:pt x="378497" y="4379"/>
                    <a:pt x="380376" y="0"/>
                    <a:pt x="387769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3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>
                <a:lnSpc>
                  <a:spcPct val="152000"/>
                </a:lnSpc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35985" y="24498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随堂练习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-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缓冲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练习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505676"/>
            <a:ext cx="47816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7.1 I/O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系统的功能、模型和接口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143851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7.2 I/O</a:t>
            </a:r>
            <a:r>
              <a:rPr lang="zh-CN" altLang="en-US" sz="2400" dirty="0">
                <a:latin typeface="+mj-ea"/>
              </a:rPr>
              <a:t>设备和设备控制器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762976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7.3 </a:t>
            </a:r>
            <a:r>
              <a:rPr lang="zh-CN" altLang="en-US" sz="2400" dirty="0">
                <a:latin typeface="+mj-ea"/>
              </a:rPr>
              <a:t>中断和中断处理程序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382101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7.4 </a:t>
            </a:r>
            <a:r>
              <a:rPr lang="zh-CN" altLang="en-US" sz="2400" dirty="0">
                <a:latin typeface="+mj-ea"/>
              </a:rPr>
              <a:t>设备驱动程序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001226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7.5 </a:t>
            </a:r>
            <a:r>
              <a:rPr lang="zh-CN" altLang="en-US" sz="2400" dirty="0">
                <a:latin typeface="+mj-ea"/>
              </a:rPr>
              <a:t>与设备无关的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620351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7.6 </a:t>
            </a:r>
            <a:r>
              <a:rPr lang="zh-CN" altLang="en-US" sz="2400" dirty="0">
                <a:latin typeface="+mj-ea"/>
              </a:rPr>
              <a:t>用户层的</a:t>
            </a:r>
            <a:r>
              <a:rPr lang="en-US" altLang="zh-CN" sz="2400" dirty="0">
                <a:latin typeface="+mj-ea"/>
              </a:rPr>
              <a:t>I/O</a:t>
            </a:r>
            <a:r>
              <a:rPr lang="zh-CN" altLang="en-US" sz="2400" dirty="0">
                <a:latin typeface="+mj-ea"/>
              </a:rPr>
              <a:t>软件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239476"/>
            <a:ext cx="4021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7.7 </a:t>
            </a:r>
            <a:r>
              <a:rPr lang="zh-CN" altLang="en-US" sz="2400" dirty="0">
                <a:latin typeface="+mj-ea"/>
              </a:rPr>
              <a:t>缓冲区管理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7</a:t>
            </a:r>
            <a:r>
              <a:rPr lang="zh-CN" altLang="en-US" sz="3600" dirty="0">
                <a:solidFill>
                  <a:srgbClr val="000000"/>
                </a:solidFill>
              </a:rPr>
              <a:t>章 输入</a:t>
            </a:r>
            <a:r>
              <a:rPr lang="en-US" altLang="zh-CN" sz="3600" dirty="0">
                <a:solidFill>
                  <a:srgbClr val="000000"/>
                </a:solidFill>
              </a:rPr>
              <a:t>/</a:t>
            </a:r>
            <a:r>
              <a:rPr lang="zh-CN" altLang="en-US" sz="3600" dirty="0">
                <a:solidFill>
                  <a:srgbClr val="000000"/>
                </a:solidFill>
              </a:rPr>
              <a:t>输出系统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46866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05380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70927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32774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9538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5915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19225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3" name="矩形 32"/>
          <p:cNvSpPr/>
          <p:nvPr/>
        </p:nvSpPr>
        <p:spPr>
          <a:xfrm>
            <a:off x="1696468" y="5807946"/>
            <a:ext cx="47816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7.8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磁盘性能概述和磁盘调度</a:t>
            </a:r>
            <a:endParaRPr lang="en-US" altLang="zh-CN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7" y="57607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</a:t>
            </a:r>
            <a:r>
              <a:rPr lang="zh-CN" altLang="en-US" sz="2800" b="1" dirty="0">
                <a:solidFill>
                  <a:schemeClr val="bg1"/>
                </a:solidFill>
              </a:rPr>
              <a:t>磁盘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4180" y="1304925"/>
            <a:ext cx="11414125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/>
              <a:t>磁盘是一种利用磁技术存储数据的存储器</a:t>
            </a:r>
            <a:endParaRPr lang="zh-CN" altLang="en-US" sz="2800"/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/>
              <a:t>具有记录密度高、容量大、速度快等优点</a:t>
            </a:r>
            <a:endParaRPr lang="zh-CN" altLang="en-US" sz="2800"/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/>
              <a:t>磁盘是以</a:t>
            </a:r>
            <a:r>
              <a:rPr lang="zh-CN" altLang="en-US" sz="2800" b="1">
                <a:solidFill>
                  <a:srgbClr val="FF0000"/>
                </a:solidFill>
              </a:rPr>
              <a:t>数据块</a:t>
            </a:r>
            <a:r>
              <a:rPr lang="zh-CN" altLang="en-US" sz="2800"/>
              <a:t>为信息交换单位的设备</a:t>
            </a:r>
            <a:endParaRPr lang="zh-CN" altLang="en-US" sz="2800"/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/>
              <a:t>（</a:t>
            </a:r>
            <a:r>
              <a:rPr lang="zh-CN" altLang="en-US" sz="2400">
                <a:solidFill>
                  <a:schemeClr val="bg1">
                    <a:lumMod val="50000"/>
                  </a:schemeClr>
                </a:solidFill>
                <a:sym typeface="+mn-ea"/>
              </a:rPr>
              <a:t>对主存的访问是以</a:t>
            </a:r>
            <a:r>
              <a:rPr lang="zh-CN" altLang="en-US" sz="2400" b="1">
                <a:solidFill>
                  <a:schemeClr val="bg1">
                    <a:lumMod val="50000"/>
                  </a:schemeClr>
                </a:solidFill>
                <a:sym typeface="+mn-ea"/>
              </a:rPr>
              <a:t>字节或字</a:t>
            </a:r>
            <a:r>
              <a:rPr lang="zh-CN" altLang="en-US" sz="2400">
                <a:solidFill>
                  <a:schemeClr val="bg1">
                    <a:lumMod val="50000"/>
                  </a:schemeClr>
                </a:solidFill>
                <a:sym typeface="+mn-ea"/>
              </a:rPr>
              <a:t>为单位的</a:t>
            </a:r>
            <a:r>
              <a:rPr lang="zh-CN" altLang="en-US" sz="2800">
                <a:sym typeface="+mn-ea"/>
              </a:rPr>
              <a:t>）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</a:t>
            </a:r>
            <a:r>
              <a:rPr lang="zh-CN" altLang="en-US" sz="2800" b="1" dirty="0">
                <a:solidFill>
                  <a:schemeClr val="bg1"/>
                </a:solidFill>
              </a:rPr>
              <a:t>磁盘的结构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îs1iďé"/>
          <p:cNvSpPr/>
          <p:nvPr/>
        </p:nvSpPr>
        <p:spPr>
          <a:xfrm>
            <a:off x="1108075" y="1095375"/>
            <a:ext cx="10801985" cy="52317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盘面（磁头）</a:t>
            </a:r>
            <a:r>
              <a:rPr lang="zh-CN" altLang="en-US" sz="2400" dirty="0"/>
              <a:t>：磁盘设备可包含一或多个盘片，每个盘片分为一个或两个盘面，每个面上有一个读写磁头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磁道（柱面）</a:t>
            </a:r>
            <a:r>
              <a:rPr lang="zh-CN" altLang="en-US" sz="2400" dirty="0"/>
              <a:t>：以盘片中心为圆心，不同半径的同心圆。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扇区</a:t>
            </a:r>
            <a:r>
              <a:rPr lang="zh-CN" altLang="en-US" sz="2400" dirty="0"/>
              <a:t>：每条磁道逻辑上分成若干个大小相同的弧段，每个弧段就是一个扇区。</a:t>
            </a:r>
            <a:endParaRPr lang="zh-CN" altLang="en-US" sz="2400" dirty="0"/>
          </a:p>
          <a:p>
            <a:pPr indent="0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扇区是磁盘的最小组成单位，每个扇区存放数据量相同，</a:t>
            </a:r>
            <a:r>
              <a:rPr lang="zh-CN" altLang="en-US" sz="2400" dirty="0">
                <a:sym typeface="+mn-ea"/>
              </a:rPr>
              <a:t>一般</a:t>
            </a:r>
            <a:r>
              <a:rPr lang="zh-CN" altLang="en-US" sz="2400" dirty="0">
                <a:sym typeface="+mn-ea"/>
              </a:rPr>
              <a:t>存放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512B</a:t>
            </a:r>
            <a:endParaRPr lang="en-US" altLang="zh-CN" sz="2400" dirty="0">
              <a:solidFill>
                <a:srgbClr val="FF0000"/>
              </a:solidFill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</a:rPr>
              <a:t>簇：</a:t>
            </a:r>
            <a:r>
              <a:rPr lang="zh-CN" altLang="en-US" sz="2400" dirty="0">
                <a:solidFill>
                  <a:schemeClr val="tx1"/>
                </a:solidFill>
              </a:rPr>
              <a:t>多个相邻的扇区组合在一起，称为一簇。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indent="0" algn="l">
              <a:lnSpc>
                <a:spcPct val="150000"/>
              </a:lnSpc>
              <a:spcBef>
                <a:spcPts val="800"/>
              </a:spcBef>
              <a:buClr>
                <a:srgbClr val="FF0000"/>
              </a:buClr>
              <a:buSz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（一簇放一个文件，一个文件只能是</a:t>
            </a:r>
            <a:r>
              <a:rPr lang="zh-CN" altLang="en-US" sz="2400" dirty="0">
                <a:solidFill>
                  <a:schemeClr val="tx1"/>
                </a:solidFill>
              </a:rPr>
              <a:t>整数簇）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48015" y="5104130"/>
            <a:ext cx="24504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随堂练习</a:t>
            </a:r>
            <a:endParaRPr lang="en-US" altLang="zh-CN" sz="32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7.8.1</a:t>
            </a:r>
            <a:r>
              <a:rPr lang="zh-CN" altLang="en-US" sz="2800" b="1" dirty="0">
                <a:solidFill>
                  <a:schemeClr val="bg1"/>
                </a:solidFill>
              </a:rPr>
              <a:t>磁盘性能简述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167129"/>
            <a:ext cx="4059287" cy="496071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154" y="1167129"/>
            <a:ext cx="6708407" cy="496071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5402580" y="5487670"/>
            <a:ext cx="6096000" cy="15227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磁盘密度</a:t>
            </a:r>
            <a:r>
              <a:rPr lang="zh-CN" altLang="en-US" sz="2400" dirty="0">
                <a:sym typeface="+mn-ea"/>
              </a:rPr>
              <a:t>即每英寸中所存储的位数，显然内层磁道的密度较外层磁道的密度高。</a:t>
            </a:r>
            <a:endParaRPr lang="zh-CN" altLang="en-US" sz="2400" dirty="0">
              <a:sym typeface="+mn-ea"/>
            </a:endParaRP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磁盘的存储能力由最内层的磁道密度决定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73760" y="1243965"/>
            <a:ext cx="98418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800"/>
              <a:t>假定某磁盘共有</a:t>
            </a:r>
            <a:r>
              <a:rPr lang="en-US" altLang="zh-CN" sz="2800"/>
              <a:t>50</a:t>
            </a:r>
            <a:r>
              <a:rPr lang="zh-CN" altLang="en-US" sz="2800"/>
              <a:t>个盘面，每个柱面上有</a:t>
            </a:r>
            <a:r>
              <a:rPr lang="en-US" altLang="zh-CN" sz="2800"/>
              <a:t>10</a:t>
            </a:r>
            <a:r>
              <a:rPr lang="zh-CN" altLang="en-US" sz="2800"/>
              <a:t>个磁道，每个磁道包含</a:t>
            </a:r>
            <a:r>
              <a:rPr lang="en-US" altLang="zh-CN" sz="2800"/>
              <a:t>8</a:t>
            </a:r>
            <a:r>
              <a:rPr lang="zh-CN" altLang="en-US" sz="2800"/>
              <a:t>个扇区。盘面、磁道、扇区均从</a:t>
            </a:r>
            <a:r>
              <a:rPr lang="en-US" altLang="zh-CN" sz="2800"/>
              <a:t>0</a:t>
            </a:r>
            <a:r>
              <a:rPr lang="zh-CN" altLang="en-US" sz="2800"/>
              <a:t>开始编址，请计算</a:t>
            </a:r>
            <a:r>
              <a:rPr lang="en-US" altLang="zh-CN" sz="2800"/>
              <a:t>2734</a:t>
            </a:r>
            <a:r>
              <a:rPr lang="zh-CN" altLang="en-US" sz="2800"/>
              <a:t>号扇区的盘面号、磁道号和扇区号。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606425" y="3745230"/>
            <a:ext cx="10572115" cy="1889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FF0000"/>
                </a:solidFill>
              </a:rPr>
              <a:t>解析：</a:t>
            </a:r>
            <a:r>
              <a:rPr lang="en-US" altLang="zh-CN" sz="2800">
                <a:solidFill>
                  <a:srgbClr val="FF0000"/>
                </a:solidFill>
              </a:rPr>
              <a:t>2734/(10*8)=34......14</a:t>
            </a:r>
            <a:r>
              <a:rPr lang="zh-CN" altLang="en-US" sz="2800">
                <a:solidFill>
                  <a:srgbClr val="FF0000"/>
                </a:solidFill>
              </a:rPr>
              <a:t>；</a:t>
            </a:r>
            <a:r>
              <a:rPr lang="en-US" altLang="zh-CN" sz="2800">
                <a:solidFill>
                  <a:srgbClr val="FF0000"/>
                </a:solidFill>
              </a:rPr>
              <a:t>34</a:t>
            </a:r>
            <a:r>
              <a:rPr lang="zh-CN" altLang="en-US" sz="2800">
                <a:solidFill>
                  <a:srgbClr val="FF0000"/>
                </a:solidFill>
              </a:rPr>
              <a:t>即</a:t>
            </a:r>
            <a:r>
              <a:rPr lang="zh-CN" altLang="en-US" sz="2800">
                <a:solidFill>
                  <a:srgbClr val="FF0000"/>
                </a:solidFill>
              </a:rPr>
              <a:t>盘面</a:t>
            </a:r>
            <a:endParaRPr lang="zh-CN" altLang="en-US" sz="280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FF0000"/>
                </a:solidFill>
              </a:rPr>
              <a:t>           14/8=1......6</a:t>
            </a:r>
            <a:r>
              <a:rPr lang="zh-CN" altLang="en-US" sz="2800">
                <a:solidFill>
                  <a:srgbClr val="FF0000"/>
                </a:solidFill>
              </a:rPr>
              <a:t>；</a:t>
            </a:r>
            <a:r>
              <a:rPr lang="en-US" altLang="zh-CN" sz="2800">
                <a:solidFill>
                  <a:srgbClr val="FF0000"/>
                </a:solidFill>
              </a:rPr>
              <a:t>1</a:t>
            </a:r>
            <a:r>
              <a:rPr lang="zh-CN" altLang="en-US" sz="2800">
                <a:solidFill>
                  <a:srgbClr val="FF0000"/>
                </a:solidFill>
              </a:rPr>
              <a:t>为磁道号，</a:t>
            </a:r>
            <a:r>
              <a:rPr lang="en-US" altLang="zh-CN" sz="2800">
                <a:solidFill>
                  <a:srgbClr val="FF0000"/>
                </a:solidFill>
              </a:rPr>
              <a:t>6</a:t>
            </a:r>
            <a:r>
              <a:rPr lang="zh-CN" altLang="en-US" sz="2800">
                <a:solidFill>
                  <a:srgbClr val="FF0000"/>
                </a:solidFill>
              </a:rPr>
              <a:t>为扇区</a:t>
            </a:r>
            <a:r>
              <a:rPr lang="zh-CN" altLang="en-US" sz="2800">
                <a:solidFill>
                  <a:srgbClr val="FF0000"/>
                </a:solidFill>
              </a:rPr>
              <a:t>号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14020" y="1118235"/>
            <a:ext cx="11085195" cy="2341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800"/>
              <a:t>已知磁带中每条记录的大小为</a:t>
            </a:r>
            <a:r>
              <a:rPr lang="en-US" altLang="zh-CN" sz="2800"/>
              <a:t>50B</a:t>
            </a:r>
            <a:r>
              <a:rPr lang="zh-CN" altLang="en-US" sz="2800"/>
              <a:t>，磁带的记录密度为每英寸</a:t>
            </a:r>
            <a:r>
              <a:rPr lang="en-US" altLang="zh-CN" sz="2800"/>
              <a:t>100B</a:t>
            </a:r>
            <a:r>
              <a:rPr lang="zh-CN" altLang="en-US" sz="2800"/>
              <a:t>，</a:t>
            </a:r>
            <a:r>
              <a:rPr lang="zh-CN" altLang="en-US" sz="2800"/>
              <a:t>记录之间存在</a:t>
            </a:r>
            <a:r>
              <a:rPr lang="en-US" altLang="zh-CN" sz="2800"/>
              <a:t>0.2</a:t>
            </a:r>
            <a:r>
              <a:rPr lang="zh-CN" altLang="en-US" sz="2800"/>
              <a:t>英寸的间隔，如果现在需要存储</a:t>
            </a:r>
            <a:r>
              <a:rPr lang="en-US" altLang="zh-CN" sz="2800"/>
              <a:t>2000</a:t>
            </a:r>
            <a:r>
              <a:rPr lang="zh-CN" altLang="en-US" sz="2800"/>
              <a:t>条记录，则存储这些记录需要的磁带长度和磁带的利用率分别为（</a:t>
            </a:r>
            <a:r>
              <a:rPr lang="en-US" altLang="zh-CN" sz="2800"/>
              <a:t>)</a:t>
            </a:r>
            <a:r>
              <a:rPr lang="zh-CN" altLang="en-US" sz="2800"/>
              <a:t>。</a:t>
            </a:r>
            <a:endParaRPr lang="zh-CN" altLang="en-US" sz="2800"/>
          </a:p>
          <a:p>
            <a:pPr>
              <a:lnSpc>
                <a:spcPct val="150000"/>
              </a:lnSpc>
            </a:pP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 A .1400</a:t>
            </a:r>
            <a:r>
              <a:rPr lang="zh-CN" altLang="en-US" sz="2800"/>
              <a:t>英寸，</a:t>
            </a:r>
            <a:r>
              <a:rPr lang="en-US" altLang="zh-CN" sz="2800"/>
              <a:t>71.4%                 B.1600</a:t>
            </a:r>
            <a:r>
              <a:rPr lang="zh-CN" altLang="en-US" sz="2800"/>
              <a:t>英寸，</a:t>
            </a:r>
            <a:r>
              <a:rPr lang="en-US" altLang="zh-CN" sz="2800"/>
              <a:t>71.4%</a:t>
            </a:r>
            <a:endParaRPr lang="en-US" altLang="zh-CN" sz="2800"/>
          </a:p>
          <a:p>
            <a:pPr>
              <a:lnSpc>
                <a:spcPct val="150000"/>
              </a:lnSpc>
            </a:pPr>
            <a:r>
              <a:rPr lang="en-US" altLang="zh-CN" sz="2800"/>
              <a:t>C.1400</a:t>
            </a:r>
            <a:r>
              <a:rPr lang="zh-CN" altLang="en-US" sz="2800"/>
              <a:t>英寸，</a:t>
            </a:r>
            <a:r>
              <a:rPr lang="en-US" altLang="zh-CN" sz="2800"/>
              <a:t>70.5%                   D.1600</a:t>
            </a:r>
            <a:r>
              <a:rPr lang="zh-CN" altLang="en-US" sz="2800"/>
              <a:t>英寸，</a:t>
            </a:r>
            <a:r>
              <a:rPr lang="en-US" altLang="zh-CN" sz="2800"/>
              <a:t>70.5%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558165" y="5495290"/>
            <a:ext cx="18059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答案：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A</a:t>
            </a:r>
            <a:endParaRPr lang="en-US" altLang="zh-CN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磁盘容量计算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íšḻîḋè"/>
          <p:cNvSpPr/>
          <p:nvPr/>
        </p:nvSpPr>
        <p:spPr>
          <a:xfrm>
            <a:off x="1923415" y="3035935"/>
            <a:ext cx="7185025" cy="7245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/>
              <a:t>计算</a:t>
            </a:r>
            <a:r>
              <a:rPr lang="zh-CN" altLang="en-US" sz="2200" dirty="0"/>
              <a:t>：</a:t>
            </a:r>
            <a:r>
              <a:rPr lang="en-US" altLang="zh-CN" sz="2200" dirty="0">
                <a:sym typeface="+mn-ea"/>
              </a:rPr>
              <a:t>16</a:t>
            </a:r>
            <a:r>
              <a:rPr lang="en-US" altLang="zh-CN" sz="2200" dirty="0">
                <a:sym typeface="+mn-ea"/>
              </a:rPr>
              <a:t>×</a:t>
            </a:r>
            <a:r>
              <a:rPr lang="en-US" altLang="zh-CN" sz="2200" dirty="0"/>
              <a:t>19710×255×512B=41173401600B=40GB</a:t>
            </a:r>
            <a:endParaRPr lang="en-US" altLang="zh-CN" sz="2200" dirty="0"/>
          </a:p>
        </p:txBody>
      </p:sp>
      <p:sp>
        <p:nvSpPr>
          <p:cNvPr id="4" name="i$lîďê"/>
          <p:cNvSpPr/>
          <p:nvPr/>
        </p:nvSpPr>
        <p:spPr>
          <a:xfrm>
            <a:off x="1802479" y="2138095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en-US" altLang="zh-CN" sz="2400" dirty="0">
                <a:sym typeface="Wingdings" panose="05000000000000000000" pitchFamily="2" charset="2"/>
              </a:rPr>
              <a:t>40GB</a:t>
            </a:r>
            <a:r>
              <a:rPr lang="zh-CN" altLang="en-US" sz="2400" dirty="0">
                <a:sym typeface="Wingdings" panose="05000000000000000000" pitchFamily="2" charset="2"/>
              </a:rPr>
              <a:t>硬盘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8" name="íšḻíḑê"/>
          <p:cNvSpPr/>
          <p:nvPr/>
        </p:nvSpPr>
        <p:spPr>
          <a:xfrm>
            <a:off x="1802765" y="1297305"/>
            <a:ext cx="10119995" cy="4057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容量</a:t>
            </a:r>
            <a:r>
              <a:rPr lang="en-US" altLang="zh-CN" sz="2400" dirty="0">
                <a:solidFill>
                  <a:srgbClr val="0000FF"/>
                </a:solidFill>
              </a:rPr>
              <a:t>=</a:t>
            </a:r>
            <a:r>
              <a:rPr lang="zh-CN" altLang="en-US" sz="2400" dirty="0">
                <a:solidFill>
                  <a:srgbClr val="0000FF"/>
                </a:solidFill>
              </a:rPr>
              <a:t>磁头数（盘面数）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×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柱面（磁道数）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×</a:t>
            </a:r>
            <a:r>
              <a:rPr lang="zh-CN" altLang="en-US" sz="2400" dirty="0">
                <a:solidFill>
                  <a:srgbClr val="0000FF"/>
                </a:solidFill>
              </a:rPr>
              <a:t>扇区数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×每个</a:t>
            </a:r>
            <a:r>
              <a:rPr lang="zh-CN" altLang="en-US" sz="2400" dirty="0">
                <a:solidFill>
                  <a:srgbClr val="0000FF"/>
                </a:solidFill>
                <a:sym typeface="+mn-ea"/>
              </a:rPr>
              <a:t>扇区字节数</a:t>
            </a:r>
            <a:endParaRPr lang="en-US" altLang="zh-CN" sz="2400" dirty="0"/>
          </a:p>
        </p:txBody>
      </p:sp>
      <p:sp>
        <p:nvSpPr>
          <p:cNvPr id="9" name="îSļiḓè"/>
          <p:cNvSpPr/>
          <p:nvPr/>
        </p:nvSpPr>
        <p:spPr>
          <a:xfrm>
            <a:off x="1118977" y="118056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1" name="îşļiḓè"/>
          <p:cNvSpPr/>
          <p:nvPr/>
        </p:nvSpPr>
        <p:spPr>
          <a:xfrm>
            <a:off x="1118977" y="203756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309232" y="137670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3" name="íSlíḋe"/>
          <p:cNvSpPr/>
          <p:nvPr/>
        </p:nvSpPr>
        <p:spPr>
          <a:xfrm>
            <a:off x="1309231" y="225958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5" name="íšḻîḋè"/>
          <p:cNvSpPr/>
          <p:nvPr/>
        </p:nvSpPr>
        <p:spPr>
          <a:xfrm>
            <a:off x="6390409" y="2593009"/>
            <a:ext cx="1965297" cy="512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 smtClean="0"/>
              <a:t>sector:255</a:t>
            </a:r>
            <a:endParaRPr lang="en-US" altLang="zh-CN" sz="2200" dirty="0"/>
          </a:p>
        </p:txBody>
      </p:sp>
      <p:sp>
        <p:nvSpPr>
          <p:cNvPr id="16" name="íšḻîḋè"/>
          <p:cNvSpPr/>
          <p:nvPr/>
        </p:nvSpPr>
        <p:spPr>
          <a:xfrm>
            <a:off x="1923187" y="2599359"/>
            <a:ext cx="1965297" cy="512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 smtClean="0"/>
              <a:t>head:16</a:t>
            </a:r>
            <a:endParaRPr lang="en-US" altLang="zh-CN" sz="2200" dirty="0"/>
          </a:p>
        </p:txBody>
      </p:sp>
      <p:sp>
        <p:nvSpPr>
          <p:cNvPr id="2" name="文本框 1"/>
          <p:cNvSpPr txBox="1"/>
          <p:nvPr/>
        </p:nvSpPr>
        <p:spPr>
          <a:xfrm>
            <a:off x="3759835" y="2592070"/>
            <a:ext cx="245046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sym typeface="+mn-ea"/>
              </a:rPr>
              <a:t>cylinder:19710</a:t>
            </a:r>
            <a:endParaRPr lang="en-US" altLang="zh-CN" sz="2200" dirty="0"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</a:rPr>
              <a:t>磁盘组织</a:t>
            </a:r>
            <a:r>
              <a:rPr lang="zh-CN" altLang="en-US" sz="2800" b="1" dirty="0">
                <a:solidFill>
                  <a:schemeClr val="bg1"/>
                </a:solidFill>
              </a:rPr>
              <a:t>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4" name="íšḻíḑê"/>
          <p:cNvSpPr/>
          <p:nvPr/>
        </p:nvSpPr>
        <p:spPr>
          <a:xfrm>
            <a:off x="351790" y="798830"/>
            <a:ext cx="10885170" cy="54648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2800" dirty="0">
                <a:sym typeface="Wingdings" panose="05000000000000000000" pitchFamily="2" charset="2"/>
              </a:rPr>
              <a:t>一个新的磁盘是只含有磁性</a:t>
            </a:r>
            <a:r>
              <a:rPr lang="zh-CN" altLang="en-US" sz="2800" dirty="0">
                <a:sym typeface="Wingdings" panose="05000000000000000000" pitchFamily="2" charset="2"/>
              </a:rPr>
              <a:t>记录材料的空白</a:t>
            </a:r>
            <a:r>
              <a:rPr lang="zh-CN" altLang="en-US" sz="2800" dirty="0">
                <a:sym typeface="Wingdings" panose="05000000000000000000" pitchFamily="2" charset="2"/>
              </a:rPr>
              <a:t>盘，为了在磁盘上存储数据，必须先将磁盘格式化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低级格式化（物理格式化）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marL="914400" lvl="1" indent="-45720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 dirty="0">
                <a:sym typeface="Wingdings" panose="05000000000000000000" pitchFamily="2" charset="2"/>
              </a:rPr>
              <a:t>初始化扇区的数据</a:t>
            </a:r>
            <a:r>
              <a:rPr lang="zh-CN" altLang="en-US" sz="2800" dirty="0">
                <a:sym typeface="Wingdings" panose="05000000000000000000" pitchFamily="2" charset="2"/>
              </a:rPr>
              <a:t>结构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marL="914400" lvl="1" indent="-45720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 dirty="0">
                <a:sym typeface="Wingdings" panose="05000000000000000000" pitchFamily="2" charset="2"/>
              </a:rPr>
              <a:t>对磁盘进行</a:t>
            </a:r>
            <a:r>
              <a:rPr lang="zh-CN" altLang="en-US" sz="2800" dirty="0">
                <a:sym typeface="Wingdings" panose="05000000000000000000" pitchFamily="2" charset="2"/>
              </a:rPr>
              <a:t>分区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高级格式化（逻辑格式化）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marL="914400" lvl="1" indent="-45720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 dirty="0">
                <a:sym typeface="Wingdings" panose="05000000000000000000" pitchFamily="2" charset="2"/>
              </a:rPr>
              <a:t>初始化磁盘空闲空间管理的数据结构</a:t>
            </a:r>
            <a:r>
              <a:rPr lang="en-US" altLang="zh-CN" sz="2800" dirty="0">
                <a:sym typeface="Wingdings" panose="05000000000000000000" pitchFamily="2" charset="2"/>
              </a:rPr>
              <a:t> （</a:t>
            </a:r>
            <a:r>
              <a:rPr lang="en-US" altLang="zh-CN" sz="2800" dirty="0">
                <a:solidFill>
                  <a:schemeClr val="accent3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文件管理位示图</a:t>
            </a:r>
            <a:r>
              <a:rPr lang="zh-CN" altLang="en-US" sz="2800" dirty="0">
                <a:sym typeface="Wingdings" panose="05000000000000000000" pitchFamily="2" charset="2"/>
              </a:rPr>
              <a:t>）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marL="914400" lvl="1" indent="-45720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 dirty="0">
                <a:sym typeface="Wingdings" panose="05000000000000000000" pitchFamily="2" charset="2"/>
              </a:rPr>
              <a:t>建立管理已分配空间的数据结构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lvl="2" indent="-45720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800" dirty="0">
                <a:sym typeface="Wingdings" panose="05000000000000000000" pitchFamily="2" charset="2"/>
              </a:rPr>
              <a:t>建立文件系统根目录</a:t>
            </a:r>
            <a:r>
              <a:rPr lang="en-US" altLang="zh-CN" sz="2800" dirty="0">
                <a:sym typeface="Wingdings" panose="05000000000000000000" pitchFamily="2" charset="2"/>
              </a:rPr>
              <a:t> 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8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磁盘访问时间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î$ļíḋè"/>
          <p:cNvSpPr/>
          <p:nvPr/>
        </p:nvSpPr>
        <p:spPr>
          <a:xfrm>
            <a:off x="1450328" y="3291207"/>
            <a:ext cx="225725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寻道时间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ïṧḷïḋè"/>
          <p:cNvSpPr/>
          <p:nvPr/>
        </p:nvSpPr>
        <p:spPr>
          <a:xfrm>
            <a:off x="1450328" y="2778432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磁盘的访问时间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8" name="íšḻíḑê"/>
          <p:cNvSpPr/>
          <p:nvPr/>
        </p:nvSpPr>
        <p:spPr>
          <a:xfrm>
            <a:off x="1590527" y="1486893"/>
            <a:ext cx="4894533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磁盘在工作时</a:t>
            </a:r>
            <a:r>
              <a:rPr lang="zh-CN" altLang="en-US" sz="2400" dirty="0">
                <a:sym typeface="Wingdings" panose="05000000000000000000" pitchFamily="2" charset="2"/>
              </a:rPr>
              <a:t>时以恒定速率旋转。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9" name="îSļiḓè"/>
          <p:cNvSpPr/>
          <p:nvPr/>
        </p:nvSpPr>
        <p:spPr>
          <a:xfrm>
            <a:off x="822764" y="1376545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0" name="íṥḻîḓe"/>
          <p:cNvSpPr/>
          <p:nvPr/>
        </p:nvSpPr>
        <p:spPr>
          <a:xfrm>
            <a:off x="766824" y="2695830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1013019" y="1572683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4" name="ïśḷïḓe"/>
          <p:cNvSpPr/>
          <p:nvPr/>
        </p:nvSpPr>
        <p:spPr>
          <a:xfrm>
            <a:off x="986017" y="2885290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5" name="î$ļíḋè"/>
          <p:cNvSpPr/>
          <p:nvPr/>
        </p:nvSpPr>
        <p:spPr>
          <a:xfrm>
            <a:off x="3510947" y="3291207"/>
            <a:ext cx="2466094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旋转延迟时间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î$ļíḋè"/>
          <p:cNvSpPr/>
          <p:nvPr/>
        </p:nvSpPr>
        <p:spPr>
          <a:xfrm>
            <a:off x="6031313" y="3323697"/>
            <a:ext cx="2006347" cy="49148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传输时间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寻道时间</a:t>
            </a:r>
            <a:r>
              <a:rPr lang="en-US" altLang="zh-CN" sz="2800" b="1" dirty="0" err="1">
                <a:solidFill>
                  <a:schemeClr val="bg1"/>
                </a:solidFill>
              </a:rPr>
              <a:t>Ts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4" name="iṡļiḓe"/>
          <p:cNvGrpSpPr/>
          <p:nvPr/>
        </p:nvGrpSpPr>
        <p:grpSpPr>
          <a:xfrm>
            <a:off x="660400" y="1298467"/>
            <a:ext cx="5626100" cy="760438"/>
            <a:chOff x="660400" y="1787149"/>
            <a:chExt cx="5626100" cy="760438"/>
          </a:xfrm>
        </p:grpSpPr>
        <p:sp>
          <p:nvSpPr>
            <p:cNvPr id="9" name="îṧľîḋé"/>
            <p:cNvSpPr txBox="1"/>
            <p:nvPr/>
          </p:nvSpPr>
          <p:spPr>
            <a:xfrm>
              <a:off x="1296567" y="1835355"/>
              <a:ext cx="4989933" cy="7122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400" dirty="0"/>
                <a:t>把磁臂（磁头）移动到指定磁道上所经历的时间。</a:t>
              </a:r>
              <a:endParaRPr lang="zh-CN" altLang="en-US" sz="2400" dirty="0"/>
            </a:p>
          </p:txBody>
        </p:sp>
        <p:grpSp>
          <p:nvGrpSpPr>
            <p:cNvPr id="6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7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ïŝľídè"/>
          <p:cNvGrpSpPr/>
          <p:nvPr/>
        </p:nvGrpSpPr>
        <p:grpSpPr>
          <a:xfrm rot="0">
            <a:off x="522605" y="2361565"/>
            <a:ext cx="497840" cy="497840"/>
            <a:chOff x="660400" y="2096245"/>
            <a:chExt cx="497734" cy="497734"/>
          </a:xfrm>
        </p:grpSpPr>
        <p:sp>
          <p:nvSpPr>
            <p:cNvPr id="14" name="ïṡľïde"/>
            <p:cNvSpPr/>
            <p:nvPr/>
          </p:nvSpPr>
          <p:spPr>
            <a:xfrm>
              <a:off x="660400" y="2096245"/>
              <a:ext cx="497734" cy="49773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bg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5" name="ïšliḍe"/>
            <p:cNvSpPr/>
            <p:nvPr/>
          </p:nvSpPr>
          <p:spPr>
            <a:xfrm>
              <a:off x="779848" y="2227680"/>
              <a:ext cx="258838" cy="234864"/>
            </a:xfrm>
            <a:custGeom>
              <a:avLst/>
              <a:gdLst>
                <a:gd name="connsiteX0" fmla="*/ 116112 w 607919"/>
                <a:gd name="connsiteY0" fmla="*/ 473652 h 551610"/>
                <a:gd name="connsiteX1" fmla="*/ 118901 w 607919"/>
                <a:gd name="connsiteY1" fmla="*/ 480423 h 551610"/>
                <a:gd name="connsiteX2" fmla="*/ 118901 w 607919"/>
                <a:gd name="connsiteY2" fmla="*/ 551610 h 551610"/>
                <a:gd name="connsiteX3" fmla="*/ 55604 w 607919"/>
                <a:gd name="connsiteY3" fmla="*/ 551610 h 551610"/>
                <a:gd name="connsiteX4" fmla="*/ 55604 w 607919"/>
                <a:gd name="connsiteY4" fmla="*/ 540851 h 551610"/>
                <a:gd name="connsiteX5" fmla="*/ 65255 w 607919"/>
                <a:gd name="connsiteY5" fmla="*/ 520583 h 551610"/>
                <a:gd name="connsiteX6" fmla="*/ 83555 w 607919"/>
                <a:gd name="connsiteY6" fmla="*/ 502317 h 551610"/>
                <a:gd name="connsiteX7" fmla="*/ 109375 w 607919"/>
                <a:gd name="connsiteY7" fmla="*/ 476545 h 551610"/>
                <a:gd name="connsiteX8" fmla="*/ 116112 w 607919"/>
                <a:gd name="connsiteY8" fmla="*/ 473652 h 551610"/>
                <a:gd name="connsiteX9" fmla="*/ 199155 w 607919"/>
                <a:gd name="connsiteY9" fmla="*/ 390799 h 551610"/>
                <a:gd name="connsiteX10" fmla="*/ 201956 w 607919"/>
                <a:gd name="connsiteY10" fmla="*/ 397632 h 551610"/>
                <a:gd name="connsiteX11" fmla="*/ 201956 w 607919"/>
                <a:gd name="connsiteY11" fmla="*/ 551610 h 551610"/>
                <a:gd name="connsiteX12" fmla="*/ 145363 w 607919"/>
                <a:gd name="connsiteY12" fmla="*/ 551610 h 551610"/>
                <a:gd name="connsiteX13" fmla="*/ 145363 w 607919"/>
                <a:gd name="connsiteY13" fmla="*/ 454170 h 551610"/>
                <a:gd name="connsiteX14" fmla="*/ 154879 w 607919"/>
                <a:gd name="connsiteY14" fmla="*/ 431030 h 551610"/>
                <a:gd name="connsiteX15" fmla="*/ 192315 w 607919"/>
                <a:gd name="connsiteY15" fmla="*/ 393630 h 551610"/>
                <a:gd name="connsiteX16" fmla="*/ 199155 w 607919"/>
                <a:gd name="connsiteY16" fmla="*/ 390799 h 551610"/>
                <a:gd name="connsiteX17" fmla="*/ 231082 w 607919"/>
                <a:gd name="connsiteY17" fmla="*/ 388245 h 551610"/>
                <a:gd name="connsiteX18" fmla="*/ 237930 w 607919"/>
                <a:gd name="connsiteY18" fmla="*/ 391091 h 551610"/>
                <a:gd name="connsiteX19" fmla="*/ 266763 w 607919"/>
                <a:gd name="connsiteY19" fmla="*/ 419867 h 551610"/>
                <a:gd name="connsiteX20" fmla="*/ 275915 w 607919"/>
                <a:gd name="connsiteY20" fmla="*/ 428875 h 551610"/>
                <a:gd name="connsiteX21" fmla="*/ 284941 w 607919"/>
                <a:gd name="connsiteY21" fmla="*/ 451520 h 551610"/>
                <a:gd name="connsiteX22" fmla="*/ 284941 w 607919"/>
                <a:gd name="connsiteY22" fmla="*/ 551610 h 551610"/>
                <a:gd name="connsiteX23" fmla="*/ 228277 w 607919"/>
                <a:gd name="connsiteY23" fmla="*/ 551610 h 551610"/>
                <a:gd name="connsiteX24" fmla="*/ 228277 w 607919"/>
                <a:gd name="connsiteY24" fmla="*/ 394969 h 551610"/>
                <a:gd name="connsiteX25" fmla="*/ 231082 w 607919"/>
                <a:gd name="connsiteY25" fmla="*/ 388245 h 551610"/>
                <a:gd name="connsiteX26" fmla="*/ 365148 w 607919"/>
                <a:gd name="connsiteY26" fmla="*/ 381336 h 551610"/>
                <a:gd name="connsiteX27" fmla="*/ 367997 w 607919"/>
                <a:gd name="connsiteY27" fmla="*/ 388122 h 551610"/>
                <a:gd name="connsiteX28" fmla="*/ 367997 w 607919"/>
                <a:gd name="connsiteY28" fmla="*/ 551610 h 551610"/>
                <a:gd name="connsiteX29" fmla="*/ 311262 w 607919"/>
                <a:gd name="connsiteY29" fmla="*/ 551610 h 551610"/>
                <a:gd name="connsiteX30" fmla="*/ 311262 w 607919"/>
                <a:gd name="connsiteY30" fmla="*/ 444661 h 551610"/>
                <a:gd name="connsiteX31" fmla="*/ 316898 w 607919"/>
                <a:gd name="connsiteY31" fmla="*/ 425523 h 551610"/>
                <a:gd name="connsiteX32" fmla="*/ 322534 w 607919"/>
                <a:gd name="connsiteY32" fmla="*/ 419894 h 551610"/>
                <a:gd name="connsiteX33" fmla="*/ 358353 w 607919"/>
                <a:gd name="connsiteY33" fmla="*/ 384120 h 551610"/>
                <a:gd name="connsiteX34" fmla="*/ 365148 w 607919"/>
                <a:gd name="connsiteY34" fmla="*/ 381336 h 551610"/>
                <a:gd name="connsiteX35" fmla="*/ 448177 w 607919"/>
                <a:gd name="connsiteY35" fmla="*/ 298352 h 551610"/>
                <a:gd name="connsiteX36" fmla="*/ 450982 w 607919"/>
                <a:gd name="connsiteY36" fmla="*/ 305139 h 551610"/>
                <a:gd name="connsiteX37" fmla="*/ 450982 w 607919"/>
                <a:gd name="connsiteY37" fmla="*/ 551610 h 551610"/>
                <a:gd name="connsiteX38" fmla="*/ 394318 w 607919"/>
                <a:gd name="connsiteY38" fmla="*/ 551610 h 551610"/>
                <a:gd name="connsiteX39" fmla="*/ 394318 w 607919"/>
                <a:gd name="connsiteY39" fmla="*/ 361815 h 551610"/>
                <a:gd name="connsiteX40" fmla="*/ 403846 w 607919"/>
                <a:gd name="connsiteY40" fmla="*/ 338669 h 551610"/>
                <a:gd name="connsiteX41" fmla="*/ 441329 w 607919"/>
                <a:gd name="connsiteY41" fmla="*/ 301136 h 551610"/>
                <a:gd name="connsiteX42" fmla="*/ 448177 w 607919"/>
                <a:gd name="connsiteY42" fmla="*/ 298352 h 551610"/>
                <a:gd name="connsiteX43" fmla="*/ 527085 w 607919"/>
                <a:gd name="connsiteY43" fmla="*/ 219452 h 551610"/>
                <a:gd name="connsiteX44" fmla="*/ 529874 w 607919"/>
                <a:gd name="connsiteY44" fmla="*/ 226177 h 551610"/>
                <a:gd name="connsiteX45" fmla="*/ 529874 w 607919"/>
                <a:gd name="connsiteY45" fmla="*/ 551610 h 551610"/>
                <a:gd name="connsiteX46" fmla="*/ 477232 w 607919"/>
                <a:gd name="connsiteY46" fmla="*/ 551610 h 551610"/>
                <a:gd name="connsiteX47" fmla="*/ 477232 w 607919"/>
                <a:gd name="connsiteY47" fmla="*/ 278727 h 551610"/>
                <a:gd name="connsiteX48" fmla="*/ 486883 w 607919"/>
                <a:gd name="connsiteY48" fmla="*/ 255580 h 551610"/>
                <a:gd name="connsiteX49" fmla="*/ 520348 w 607919"/>
                <a:gd name="connsiteY49" fmla="*/ 222298 h 551610"/>
                <a:gd name="connsiteX50" fmla="*/ 527085 w 607919"/>
                <a:gd name="connsiteY50" fmla="*/ 219452 h 551610"/>
                <a:gd name="connsiteX51" fmla="*/ 387769 w 607919"/>
                <a:gd name="connsiteY51" fmla="*/ 0 h 551610"/>
                <a:gd name="connsiteX52" fmla="*/ 580729 w 607919"/>
                <a:gd name="connsiteY52" fmla="*/ 0 h 551610"/>
                <a:gd name="connsiteX53" fmla="*/ 607919 w 607919"/>
                <a:gd name="connsiteY53" fmla="*/ 26022 h 551610"/>
                <a:gd name="connsiteX54" fmla="*/ 607919 w 607919"/>
                <a:gd name="connsiteY54" fmla="*/ 219812 h 551610"/>
                <a:gd name="connsiteX55" fmla="*/ 598271 w 607919"/>
                <a:gd name="connsiteY55" fmla="*/ 223815 h 551610"/>
                <a:gd name="connsiteX56" fmla="*/ 530610 w 607919"/>
                <a:gd name="connsiteY56" fmla="*/ 156258 h 551610"/>
                <a:gd name="connsiteX57" fmla="*/ 304320 w 607919"/>
                <a:gd name="connsiteY57" fmla="*/ 382325 h 551610"/>
                <a:gd name="connsiteX58" fmla="*/ 285024 w 607919"/>
                <a:gd name="connsiteY58" fmla="*/ 382325 h 551610"/>
                <a:gd name="connsiteX59" fmla="*/ 216360 w 607919"/>
                <a:gd name="connsiteY59" fmla="*/ 313767 h 551610"/>
                <a:gd name="connsiteX60" fmla="*/ 94068 w 607919"/>
                <a:gd name="connsiteY60" fmla="*/ 435996 h 551610"/>
                <a:gd name="connsiteX61" fmla="*/ 17260 w 607919"/>
                <a:gd name="connsiteY61" fmla="*/ 435996 h 551610"/>
                <a:gd name="connsiteX62" fmla="*/ 15882 w 607919"/>
                <a:gd name="connsiteY62" fmla="*/ 434745 h 551610"/>
                <a:gd name="connsiteX63" fmla="*/ 15882 w 607919"/>
                <a:gd name="connsiteY63" fmla="*/ 358055 h 551610"/>
                <a:gd name="connsiteX64" fmla="*/ 206837 w 607919"/>
                <a:gd name="connsiteY64" fmla="*/ 167267 h 551610"/>
                <a:gd name="connsiteX65" fmla="*/ 226008 w 607919"/>
                <a:gd name="connsiteY65" fmla="*/ 167267 h 551610"/>
                <a:gd name="connsiteX66" fmla="*/ 294672 w 607919"/>
                <a:gd name="connsiteY66" fmla="*/ 235701 h 551610"/>
                <a:gd name="connsiteX67" fmla="*/ 424481 w 607919"/>
                <a:gd name="connsiteY67" fmla="*/ 105965 h 551610"/>
                <a:gd name="connsiteX68" fmla="*/ 452423 w 607919"/>
                <a:gd name="connsiteY68" fmla="*/ 78192 h 551610"/>
                <a:gd name="connsiteX69" fmla="*/ 383885 w 607919"/>
                <a:gd name="connsiteY69" fmla="*/ 9633 h 551610"/>
                <a:gd name="connsiteX70" fmla="*/ 387769 w 607919"/>
                <a:gd name="connsiteY70" fmla="*/ 0 h 55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607919" h="551610">
                  <a:moveTo>
                    <a:pt x="116112" y="473652"/>
                  </a:moveTo>
                  <a:cubicBezTo>
                    <a:pt x="117836" y="474356"/>
                    <a:pt x="118901" y="476670"/>
                    <a:pt x="118901" y="480423"/>
                  </a:cubicBezTo>
                  <a:lnTo>
                    <a:pt x="118901" y="551610"/>
                  </a:lnTo>
                  <a:lnTo>
                    <a:pt x="55604" y="551610"/>
                  </a:lnTo>
                  <a:lnTo>
                    <a:pt x="55604" y="540851"/>
                  </a:lnTo>
                  <a:cubicBezTo>
                    <a:pt x="55604" y="534971"/>
                    <a:pt x="59991" y="525838"/>
                    <a:pt x="65255" y="520583"/>
                  </a:cubicBezTo>
                  <a:lnTo>
                    <a:pt x="83555" y="502317"/>
                  </a:lnTo>
                  <a:lnTo>
                    <a:pt x="109375" y="476545"/>
                  </a:lnTo>
                  <a:cubicBezTo>
                    <a:pt x="112007" y="473855"/>
                    <a:pt x="114389" y="472948"/>
                    <a:pt x="116112" y="473652"/>
                  </a:cubicBezTo>
                  <a:close/>
                  <a:moveTo>
                    <a:pt x="199155" y="390799"/>
                  </a:moveTo>
                  <a:cubicBezTo>
                    <a:pt x="200892" y="391534"/>
                    <a:pt x="201956" y="393880"/>
                    <a:pt x="201956" y="397632"/>
                  </a:cubicBezTo>
                  <a:lnTo>
                    <a:pt x="201956" y="551610"/>
                  </a:lnTo>
                  <a:lnTo>
                    <a:pt x="145363" y="551610"/>
                  </a:lnTo>
                  <a:lnTo>
                    <a:pt x="145363" y="454170"/>
                  </a:lnTo>
                  <a:cubicBezTo>
                    <a:pt x="145363" y="446665"/>
                    <a:pt x="149620" y="436283"/>
                    <a:pt x="154879" y="431030"/>
                  </a:cubicBezTo>
                  <a:lnTo>
                    <a:pt x="192315" y="393630"/>
                  </a:lnTo>
                  <a:cubicBezTo>
                    <a:pt x="195007" y="390941"/>
                    <a:pt x="197417" y="390065"/>
                    <a:pt x="199155" y="390799"/>
                  </a:cubicBezTo>
                  <a:close/>
                  <a:moveTo>
                    <a:pt x="231082" y="388245"/>
                  </a:moveTo>
                  <a:cubicBezTo>
                    <a:pt x="232822" y="387525"/>
                    <a:pt x="235235" y="388401"/>
                    <a:pt x="237930" y="391091"/>
                  </a:cubicBezTo>
                  <a:lnTo>
                    <a:pt x="266763" y="419867"/>
                  </a:lnTo>
                  <a:lnTo>
                    <a:pt x="275915" y="428875"/>
                  </a:lnTo>
                  <a:cubicBezTo>
                    <a:pt x="280929" y="433879"/>
                    <a:pt x="284941" y="444013"/>
                    <a:pt x="284941" y="451520"/>
                  </a:cubicBezTo>
                  <a:lnTo>
                    <a:pt x="284941" y="551610"/>
                  </a:lnTo>
                  <a:lnTo>
                    <a:pt x="228277" y="551610"/>
                  </a:lnTo>
                  <a:lnTo>
                    <a:pt x="228277" y="394969"/>
                  </a:lnTo>
                  <a:cubicBezTo>
                    <a:pt x="228277" y="391278"/>
                    <a:pt x="229343" y="388964"/>
                    <a:pt x="231082" y="388245"/>
                  </a:cubicBezTo>
                  <a:close/>
                  <a:moveTo>
                    <a:pt x="365148" y="381336"/>
                  </a:moveTo>
                  <a:cubicBezTo>
                    <a:pt x="366901" y="382055"/>
                    <a:pt x="367997" y="384370"/>
                    <a:pt x="367997" y="388122"/>
                  </a:cubicBezTo>
                  <a:lnTo>
                    <a:pt x="367997" y="551610"/>
                  </a:lnTo>
                  <a:lnTo>
                    <a:pt x="311262" y="551610"/>
                  </a:lnTo>
                  <a:lnTo>
                    <a:pt x="311262" y="444661"/>
                  </a:lnTo>
                  <a:cubicBezTo>
                    <a:pt x="311262" y="437156"/>
                    <a:pt x="313767" y="428650"/>
                    <a:pt x="316898" y="425523"/>
                  </a:cubicBezTo>
                  <a:cubicBezTo>
                    <a:pt x="320029" y="422396"/>
                    <a:pt x="322534" y="419894"/>
                    <a:pt x="322534" y="419894"/>
                  </a:cubicBezTo>
                  <a:lnTo>
                    <a:pt x="358353" y="384120"/>
                  </a:lnTo>
                  <a:cubicBezTo>
                    <a:pt x="360983" y="381493"/>
                    <a:pt x="363394" y="380617"/>
                    <a:pt x="365148" y="381336"/>
                  </a:cubicBezTo>
                  <a:close/>
                  <a:moveTo>
                    <a:pt x="448177" y="298352"/>
                  </a:moveTo>
                  <a:cubicBezTo>
                    <a:pt x="449916" y="299071"/>
                    <a:pt x="450982" y="301386"/>
                    <a:pt x="450982" y="305139"/>
                  </a:cubicBezTo>
                  <a:lnTo>
                    <a:pt x="450982" y="551610"/>
                  </a:lnTo>
                  <a:lnTo>
                    <a:pt x="394318" y="551610"/>
                  </a:lnTo>
                  <a:lnTo>
                    <a:pt x="394318" y="361815"/>
                  </a:lnTo>
                  <a:cubicBezTo>
                    <a:pt x="394318" y="354308"/>
                    <a:pt x="398580" y="343924"/>
                    <a:pt x="403846" y="338669"/>
                  </a:cubicBezTo>
                  <a:lnTo>
                    <a:pt x="441329" y="301136"/>
                  </a:lnTo>
                  <a:cubicBezTo>
                    <a:pt x="444024" y="298508"/>
                    <a:pt x="446438" y="297633"/>
                    <a:pt x="448177" y="298352"/>
                  </a:cubicBezTo>
                  <a:close/>
                  <a:moveTo>
                    <a:pt x="527085" y="219452"/>
                  </a:moveTo>
                  <a:cubicBezTo>
                    <a:pt x="528809" y="220171"/>
                    <a:pt x="529874" y="222486"/>
                    <a:pt x="529874" y="226177"/>
                  </a:cubicBezTo>
                  <a:lnTo>
                    <a:pt x="529874" y="551610"/>
                  </a:lnTo>
                  <a:lnTo>
                    <a:pt x="477232" y="551610"/>
                  </a:lnTo>
                  <a:lnTo>
                    <a:pt x="477232" y="278727"/>
                  </a:lnTo>
                  <a:cubicBezTo>
                    <a:pt x="477232" y="271345"/>
                    <a:pt x="481494" y="260960"/>
                    <a:pt x="486883" y="255580"/>
                  </a:cubicBezTo>
                  <a:lnTo>
                    <a:pt x="520348" y="222298"/>
                  </a:lnTo>
                  <a:cubicBezTo>
                    <a:pt x="522980" y="219608"/>
                    <a:pt x="525362" y="218732"/>
                    <a:pt x="527085" y="219452"/>
                  </a:cubicBezTo>
                  <a:close/>
                  <a:moveTo>
                    <a:pt x="387769" y="0"/>
                  </a:moveTo>
                  <a:lnTo>
                    <a:pt x="580729" y="0"/>
                  </a:lnTo>
                  <a:cubicBezTo>
                    <a:pt x="594512" y="0"/>
                    <a:pt x="607919" y="12135"/>
                    <a:pt x="607919" y="26022"/>
                  </a:cubicBezTo>
                  <a:lnTo>
                    <a:pt x="607919" y="219812"/>
                  </a:lnTo>
                  <a:cubicBezTo>
                    <a:pt x="607919" y="227318"/>
                    <a:pt x="603534" y="229070"/>
                    <a:pt x="598271" y="223815"/>
                  </a:cubicBezTo>
                  <a:lnTo>
                    <a:pt x="530610" y="156258"/>
                  </a:lnTo>
                  <a:lnTo>
                    <a:pt x="304320" y="382325"/>
                  </a:lnTo>
                  <a:cubicBezTo>
                    <a:pt x="298932" y="387580"/>
                    <a:pt x="290412" y="387580"/>
                    <a:pt x="285024" y="382325"/>
                  </a:cubicBezTo>
                  <a:lnTo>
                    <a:pt x="216360" y="313767"/>
                  </a:lnTo>
                  <a:lnTo>
                    <a:pt x="94068" y="435996"/>
                  </a:lnTo>
                  <a:cubicBezTo>
                    <a:pt x="72767" y="457264"/>
                    <a:pt x="38435" y="457264"/>
                    <a:pt x="17260" y="435996"/>
                  </a:cubicBezTo>
                  <a:lnTo>
                    <a:pt x="15882" y="434745"/>
                  </a:lnTo>
                  <a:cubicBezTo>
                    <a:pt x="-5294" y="413477"/>
                    <a:pt x="-5294" y="379198"/>
                    <a:pt x="15882" y="358055"/>
                  </a:cubicBezTo>
                  <a:lnTo>
                    <a:pt x="206837" y="167267"/>
                  </a:lnTo>
                  <a:cubicBezTo>
                    <a:pt x="212100" y="161888"/>
                    <a:pt x="220745" y="161888"/>
                    <a:pt x="226008" y="167267"/>
                  </a:cubicBezTo>
                  <a:lnTo>
                    <a:pt x="294672" y="235701"/>
                  </a:lnTo>
                  <a:lnTo>
                    <a:pt x="424481" y="105965"/>
                  </a:lnTo>
                  <a:lnTo>
                    <a:pt x="452423" y="78192"/>
                  </a:lnTo>
                  <a:lnTo>
                    <a:pt x="383885" y="9633"/>
                  </a:lnTo>
                  <a:cubicBezTo>
                    <a:pt x="378497" y="4379"/>
                    <a:pt x="380376" y="0"/>
                    <a:pt x="387769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íşľíḑè"/>
          <p:cNvSpPr/>
          <p:nvPr/>
        </p:nvSpPr>
        <p:spPr bwMode="auto">
          <a:xfrm>
            <a:off x="1158324" y="3828315"/>
            <a:ext cx="5258851" cy="2804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/>
              <a:t>m:</a:t>
            </a:r>
            <a:r>
              <a:rPr lang="zh-CN" altLang="en-US" sz="2400" dirty="0"/>
              <a:t>常数，与磁盘驱动器的速度有关对一般磁盘，</a:t>
            </a:r>
            <a:r>
              <a:rPr lang="en-US" altLang="zh-CN" sz="2400" dirty="0"/>
              <a:t>m=0.2ms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marL="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对高速磁盘，</a:t>
            </a:r>
            <a:r>
              <a:rPr lang="en-US" altLang="zh-CN" sz="2400" dirty="0"/>
              <a:t>m&lt;=0.1ms</a:t>
            </a:r>
            <a:endParaRPr lang="en-US" altLang="zh-CN" sz="2400" dirty="0"/>
          </a:p>
          <a:p>
            <a:pPr marL="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/>
              <a:t>k:</a:t>
            </a:r>
            <a:r>
              <a:rPr lang="zh-CN" altLang="en-US" sz="2400" dirty="0">
                <a:sym typeface="+mn-ea"/>
              </a:rPr>
              <a:t>启动磁臂的时间，</a:t>
            </a:r>
            <a:r>
              <a:rPr lang="zh-CN" altLang="en-US" sz="2400" dirty="0"/>
              <a:t>约</a:t>
            </a:r>
            <a:r>
              <a:rPr lang="en-US" altLang="zh-CN" sz="2400" dirty="0"/>
              <a:t>2ms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270760" y="3216275"/>
            <a:ext cx="6096000" cy="5340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zh-CN" altLang="en-US" sz="3200" dirty="0">
                <a:sym typeface="Wingdings" panose="05000000000000000000" pitchFamily="2" charset="2"/>
              </a:rPr>
              <a:t>公式</a:t>
            </a:r>
            <a:r>
              <a:rPr lang="en-US" altLang="zh-CN" sz="3200" dirty="0">
                <a:sym typeface="Wingdings" panose="05000000000000000000" pitchFamily="2" charset="2"/>
              </a:rPr>
              <a:t>   </a:t>
            </a:r>
            <a:r>
              <a:rPr lang="en-US" altLang="zh-CN" sz="3200" dirty="0" err="1">
                <a:solidFill>
                  <a:srgbClr val="FF0000"/>
                </a:solidFill>
                <a:sym typeface="Wingdings" panose="05000000000000000000" pitchFamily="2" charset="2"/>
              </a:rPr>
              <a:t>T</a:t>
            </a:r>
            <a:r>
              <a:rPr lang="en-US" altLang="zh-CN" sz="3200" baseline="-25000" dirty="0" err="1">
                <a:solidFill>
                  <a:srgbClr val="FF0000"/>
                </a:solidFill>
                <a:sym typeface="Wingdings" panose="05000000000000000000" pitchFamily="2" charset="2"/>
              </a:rPr>
              <a:t>s</a:t>
            </a:r>
            <a:r>
              <a:rPr lang="en-US" altLang="zh-CN" sz="3200" dirty="0">
                <a:solidFill>
                  <a:srgbClr val="FF0000"/>
                </a:solidFill>
                <a:sym typeface="Wingdings" panose="05000000000000000000" pitchFamily="2" charset="2"/>
              </a:rPr>
              <a:t>=</a:t>
            </a:r>
            <a:r>
              <a:rPr lang="en-US" altLang="zh-CN" sz="3200" dirty="0" err="1">
                <a:solidFill>
                  <a:srgbClr val="FF0000"/>
                </a:solidFill>
                <a:sym typeface="Wingdings" panose="05000000000000000000" pitchFamily="2" charset="2"/>
              </a:rPr>
              <a:t>m</a:t>
            </a:r>
            <a:r>
              <a:rPr lang="en-US" altLang="zh-CN" sz="3200" dirty="0" err="1">
                <a:solidFill>
                  <a:srgbClr val="FF0000"/>
                </a:solidFill>
                <a:sym typeface="Wingdings" panose="05000000000000000000" pitchFamily="2" charset="2"/>
              </a:rPr>
              <a:t>×n+k</a:t>
            </a:r>
            <a:endParaRPr lang="en-US" altLang="zh-CN" sz="3200" dirty="0" err="1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10" name="ïšļíďè"/>
          <p:cNvSpPr txBox="1"/>
          <p:nvPr/>
        </p:nvSpPr>
        <p:spPr>
          <a:xfrm>
            <a:off x="1296575" y="2442845"/>
            <a:ext cx="5661755" cy="389393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lvl="1">
              <a:lnSpc>
                <a:spcPct val="90000"/>
              </a:lnSpc>
            </a:pPr>
            <a:r>
              <a:rPr lang="zh-CN" altLang="en-US" sz="2400" dirty="0">
                <a:sym typeface="+mn-ea"/>
              </a:rPr>
              <a:t>磁头移动</a:t>
            </a:r>
            <a:r>
              <a:rPr lang="en-US" altLang="zh-CN" sz="2400" dirty="0">
                <a:sym typeface="+mn-ea"/>
              </a:rPr>
              <a:t>n</a:t>
            </a:r>
            <a:r>
              <a:rPr lang="zh-CN" altLang="en-US" sz="2400" dirty="0">
                <a:sym typeface="+mn-ea"/>
              </a:rPr>
              <a:t>条磁道所花费的时间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旋转延迟时间</a:t>
            </a:r>
            <a:r>
              <a:rPr lang="en-US" altLang="zh-CN" sz="2800" b="1" dirty="0">
                <a:solidFill>
                  <a:schemeClr val="bg1"/>
                </a:solidFill>
              </a:rPr>
              <a:t>Tr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8" name="íšḻíḑê"/>
          <p:cNvSpPr/>
          <p:nvPr/>
        </p:nvSpPr>
        <p:spPr>
          <a:xfrm>
            <a:off x="862965" y="4153535"/>
            <a:ext cx="9805035" cy="164909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en-US" altLang="zh-CN" sz="2800" dirty="0">
                <a:latin typeface="+mn-ea"/>
                <a:sym typeface="Wingdings" panose="05000000000000000000" pitchFamily="2" charset="2"/>
              </a:rPr>
              <a:t>r</a:t>
            </a:r>
            <a:r>
              <a:rPr lang="zh-CN" altLang="en-US" sz="2800" dirty="0">
                <a:latin typeface="+mn-ea"/>
                <a:sym typeface="Wingdings" panose="05000000000000000000" pitchFamily="2" charset="2"/>
              </a:rPr>
              <a:t>：磁盘的旋转速度</a:t>
            </a:r>
            <a:endParaRPr lang="zh-CN" altLang="en-US" sz="2800" dirty="0">
              <a:latin typeface="+mn-ea"/>
              <a:sym typeface="Wingdings" panose="05000000000000000000" pitchFamily="2" charset="2"/>
            </a:endParaRPr>
          </a:p>
          <a:p>
            <a:pPr lvl="1">
              <a:lnSpc>
                <a:spcPct val="132000"/>
              </a:lnSpc>
              <a:defRPr/>
            </a:pPr>
            <a:r>
              <a:rPr lang="zh-CN" altLang="en-US" sz="2800" dirty="0">
                <a:latin typeface="+mn-ea"/>
                <a:sym typeface="Wingdings" panose="05000000000000000000" pitchFamily="2" charset="2"/>
              </a:rPr>
              <a:t>现在大多旋转速度为</a:t>
            </a:r>
            <a:r>
              <a:rPr lang="en-US" altLang="zh-CN" sz="2800" dirty="0">
                <a:latin typeface="+mn-ea"/>
                <a:sym typeface="Wingdings" panose="05000000000000000000" pitchFamily="2" charset="2"/>
              </a:rPr>
              <a:t>7200r/min</a:t>
            </a:r>
            <a:r>
              <a:rPr lang="zh-CN" altLang="en-US" sz="2800" dirty="0">
                <a:latin typeface="+mn-ea"/>
                <a:sym typeface="Wingdings" panose="05000000000000000000" pitchFamily="2" charset="2"/>
              </a:rPr>
              <a:t>，则旋转延迟时间</a:t>
            </a:r>
            <a:endParaRPr lang="zh-CN" altLang="en-US" sz="2800" dirty="0">
              <a:latin typeface="+mn-ea"/>
              <a:sym typeface="Wingdings" panose="05000000000000000000" pitchFamily="2" charset="2"/>
            </a:endParaRPr>
          </a:p>
          <a:p>
            <a:pPr lvl="1">
              <a:lnSpc>
                <a:spcPct val="132000"/>
              </a:lnSpc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T</a:t>
            </a:r>
            <a:r>
              <a:rPr lang="en-US" altLang="el-GR" sz="2800" baseline="-2500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= 1/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*7200r/min</a:t>
            </a:r>
            <a:r>
              <a:rPr lang="en-US" altLang="zh-CN" sz="2800" dirty="0">
                <a:latin typeface="+mn-ea"/>
              </a:rPr>
              <a:t> </a:t>
            </a:r>
            <a:r>
              <a:rPr lang="zh-CN" altLang="en-US" sz="2800" dirty="0">
                <a:latin typeface="+mn-ea"/>
              </a:rPr>
              <a:t>）</a:t>
            </a:r>
            <a:r>
              <a:rPr lang="en-US" altLang="zh-CN" sz="2800" dirty="0">
                <a:latin typeface="+mn-ea"/>
                <a:sym typeface="Wingdings" panose="05000000000000000000" pitchFamily="2" charset="2"/>
              </a:rPr>
              <a:t>=4.17ms</a:t>
            </a:r>
            <a:endParaRPr lang="en-US" altLang="zh-CN" sz="2800" dirty="0"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9" name="îSļiḓè"/>
          <p:cNvSpPr/>
          <p:nvPr/>
        </p:nvSpPr>
        <p:spPr>
          <a:xfrm>
            <a:off x="321417" y="120991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2" name="îṡḷíďe"/>
          <p:cNvSpPr/>
          <p:nvPr/>
        </p:nvSpPr>
        <p:spPr>
          <a:xfrm>
            <a:off x="511672" y="140604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9" name="íšḻíḑê"/>
          <p:cNvSpPr/>
          <p:nvPr/>
        </p:nvSpPr>
        <p:spPr>
          <a:xfrm>
            <a:off x="669925" y="1121033"/>
            <a:ext cx="9804982" cy="9952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1">
              <a:lnSpc>
                <a:spcPct val="132000"/>
              </a:lnSpc>
              <a:defRPr/>
            </a:pPr>
            <a:r>
              <a:rPr lang="zh-CN" altLang="en-US" sz="2800" dirty="0">
                <a:latin typeface="+mn-ea"/>
                <a:sym typeface="Wingdings" panose="05000000000000000000" pitchFamily="2" charset="2"/>
              </a:rPr>
              <a:t>把指定扇区移动到磁头下所经历的时间。</a:t>
            </a:r>
            <a:endParaRPr lang="en-US" altLang="zh-CN" sz="2800" dirty="0">
              <a:solidFill>
                <a:srgbClr val="FF0000"/>
              </a:solidFill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4760" y="2569845"/>
            <a:ext cx="6096000" cy="6597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p>
            <a:pPr lvl="1">
              <a:lnSpc>
                <a:spcPct val="132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公式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Tr=1/2r</a:t>
            </a:r>
            <a:endParaRPr lang="en-US" altLang="zh-CN" sz="2800" dirty="0">
              <a:solidFill>
                <a:srgbClr val="FF0000"/>
              </a:solidFill>
              <a:latin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传输时间</a:t>
            </a:r>
            <a:r>
              <a:rPr lang="en-US" altLang="zh-CN" sz="2800" b="1" dirty="0" err="1">
                <a:solidFill>
                  <a:schemeClr val="bg1"/>
                </a:solidFill>
              </a:rPr>
              <a:t>Tt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îSļiḓè"/>
          <p:cNvSpPr/>
          <p:nvPr>
            <p:custDataLst>
              <p:tags r:id="rId1"/>
            </p:custDataLst>
          </p:nvPr>
        </p:nvSpPr>
        <p:spPr>
          <a:xfrm>
            <a:off x="1093219" y="1574426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7" name="îṡḷíďe"/>
          <p:cNvSpPr/>
          <p:nvPr>
            <p:custDataLst>
              <p:tags r:id="rId2"/>
            </p:custDataLst>
          </p:nvPr>
        </p:nvSpPr>
        <p:spPr>
          <a:xfrm>
            <a:off x="1283474" y="1770564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3442487" y="2403667"/>
          <a:ext cx="3496578" cy="127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3" imgW="520700" imgH="393700" progId="Equation.3">
                  <p:embed/>
                </p:oleObj>
              </mc:Choice>
              <mc:Fallback>
                <p:oleObj name="Equation" r:id="rId3" imgW="520700" imgH="393700" progId="Equation.3">
                  <p:embed/>
                  <p:pic>
                    <p:nvPicPr>
                      <p:cNvPr id="0" name="图片 4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487" y="2403667"/>
                        <a:ext cx="3496578" cy="1274794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/>
          <p:cNvSpPr txBox="1"/>
          <p:nvPr/>
        </p:nvSpPr>
        <p:spPr>
          <a:xfrm>
            <a:off x="3153410" y="4084955"/>
            <a:ext cx="4765040" cy="22129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360045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b:每次所读写的字节数</a:t>
            </a:r>
            <a:endParaRPr lang="en-US" altLang="zh-CN" sz="2400" dirty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r: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磁盘每秒的转数</a:t>
            </a:r>
            <a:endParaRPr lang="zh-CN" altLang="en-US" sz="2400" dirty="0">
              <a:latin typeface="+mn-ea"/>
              <a:sym typeface="Wingdings" panose="05000000000000000000" pitchFamily="2" charset="2"/>
            </a:endParaRPr>
          </a:p>
          <a:p>
            <a:pPr lvl="1" indent="-36004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N: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一条磁道上的字节数</a:t>
            </a:r>
            <a:endParaRPr lang="zh-CN" altLang="en-US" sz="2400" dirty="0"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2" name="íšḻíḑê"/>
          <p:cNvSpPr/>
          <p:nvPr>
            <p:custDataLst>
              <p:tags r:id="rId5"/>
            </p:custDataLst>
          </p:nvPr>
        </p:nvSpPr>
        <p:spPr>
          <a:xfrm>
            <a:off x="1544621" y="1573918"/>
            <a:ext cx="9804982" cy="6283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p>
            <a:pPr lvl="1">
              <a:lnSpc>
                <a:spcPct val="132000"/>
              </a:lnSpc>
              <a:defRPr/>
            </a:pPr>
            <a:r>
              <a:rPr lang="zh-CN" altLang="en-US" sz="2800" dirty="0">
                <a:latin typeface="+mn-ea"/>
                <a:sym typeface="Wingdings" panose="05000000000000000000" pitchFamily="2" charset="2"/>
              </a:rPr>
              <a:t>把数据从磁盘读出或向磁盘写入数据所经历的时间</a:t>
            </a:r>
            <a:endParaRPr lang="zh-CN" altLang="en-US" sz="2800" dirty="0">
              <a:latin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访问时间</a:t>
            </a:r>
            <a:r>
              <a:rPr lang="en-US" altLang="zh-CN" sz="2800" b="1" dirty="0">
                <a:solidFill>
                  <a:schemeClr val="bg1"/>
                </a:solidFill>
              </a:rPr>
              <a:t>T</a:t>
            </a:r>
            <a:r>
              <a:rPr lang="en-US" altLang="zh-CN" sz="2800" b="1" baseline="-25000" dirty="0">
                <a:solidFill>
                  <a:schemeClr val="bg1"/>
                </a:solidFill>
              </a:rPr>
              <a:t>a</a:t>
            </a:r>
            <a:endParaRPr lang="zh-CN" altLang="en-US" sz="2800" b="1" baseline="-25000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788035" y="1177925"/>
            <a:ext cx="10725785" cy="26943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60045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marL="0" indent="0">
              <a:lnSpc>
                <a:spcPct val="132000"/>
              </a:lnSpc>
              <a:spcBef>
                <a:spcPts val="600"/>
              </a:spcBef>
              <a:buNone/>
              <a:defRPr/>
            </a:pP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lvl="1">
              <a:lnSpc>
                <a:spcPct val="132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latin typeface="+mn-ea"/>
                <a:sym typeface="Wingdings" panose="05000000000000000000" pitchFamily="2" charset="2"/>
              </a:rPr>
              <a:t>在访问时间中，寻道时间和旋转延迟时间基本上都与所读写数据的多少无关，而且通常占据了访问时间中的大头。</a:t>
            </a:r>
            <a:endParaRPr lang="zh-CN" altLang="en-US" sz="2400" dirty="0" smtClean="0">
              <a:latin typeface="+mn-ea"/>
              <a:sym typeface="Wingdings" panose="05000000000000000000" pitchFamily="2" charset="2"/>
            </a:endParaRPr>
          </a:p>
          <a:p>
            <a:pPr marL="0" indent="0">
              <a:lnSpc>
                <a:spcPct val="132000"/>
              </a:lnSpc>
              <a:spcBef>
                <a:spcPts val="600"/>
              </a:spcBef>
              <a:buNone/>
              <a:defRPr/>
            </a:pPr>
            <a:endParaRPr lang="zh-CN" altLang="en-US" sz="2400" dirty="0">
              <a:latin typeface="+mn-ea"/>
            </a:endParaRP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1906921" y="1177833"/>
          <a:ext cx="6952393" cy="935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" imgW="1104900" imgH="393700" progId="Equation.3">
                  <p:embed/>
                </p:oleObj>
              </mc:Choice>
              <mc:Fallback>
                <p:oleObj name="Equation" r:id="rId1" imgW="1104900" imgH="393700" progId="Equation.3">
                  <p:embed/>
                  <p:pic>
                    <p:nvPicPr>
                      <p:cNvPr id="0" name="图片 5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921" y="1177833"/>
                        <a:ext cx="6952393" cy="935899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60375" y="1263650"/>
            <a:ext cx="1121029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2800" b="0" i="0">
                <a:solidFill>
                  <a:srgbClr val="181E33"/>
                </a:solidFill>
                <a:latin typeface="+mn-ea"/>
                <a:cs typeface="+mn-ea"/>
              </a:rPr>
              <a:t>已知一磁盘共有</a:t>
            </a:r>
            <a:r>
              <a:rPr lang="en-US" altLang="zh-CN" sz="2800" b="0" i="0">
                <a:solidFill>
                  <a:srgbClr val="181E33"/>
                </a:solidFill>
                <a:latin typeface="+mn-ea"/>
                <a:cs typeface="+mn-ea"/>
              </a:rPr>
              <a:t>40</a:t>
            </a:r>
            <a:r>
              <a:rPr lang="zh-CN" altLang="en-US" sz="2800" b="0" i="0">
                <a:solidFill>
                  <a:srgbClr val="181E33"/>
                </a:solidFill>
                <a:latin typeface="+mn-ea"/>
                <a:cs typeface="+mn-ea"/>
              </a:rPr>
              <a:t>个磁道，相邻磁道的磁臂移动时间为</a:t>
            </a:r>
            <a:r>
              <a:rPr lang="en-US" altLang="zh-CN" sz="2800" b="0" i="0">
                <a:solidFill>
                  <a:srgbClr val="181E33"/>
                </a:solidFill>
                <a:latin typeface="+mn-ea"/>
                <a:cs typeface="+mn-ea"/>
              </a:rPr>
              <a:t>5μs</a:t>
            </a:r>
            <a:r>
              <a:rPr lang="zh-CN" altLang="en-US" sz="2800" b="0" i="0">
                <a:solidFill>
                  <a:srgbClr val="181E33"/>
                </a:solidFill>
                <a:latin typeface="+mn-ea"/>
                <a:cs typeface="+mn-ea"/>
              </a:rPr>
              <a:t>。若某文件逻辑上相邻的数据块平均相隔</a:t>
            </a:r>
            <a:r>
              <a:rPr lang="en-US" altLang="zh-CN" sz="2800" b="0" i="0">
                <a:solidFill>
                  <a:srgbClr val="181E33"/>
                </a:solidFill>
                <a:latin typeface="+mn-ea"/>
                <a:cs typeface="+mn-ea"/>
              </a:rPr>
              <a:t>20</a:t>
            </a:r>
            <a:r>
              <a:rPr lang="zh-CN" altLang="en-US" sz="2800" b="0" i="0">
                <a:solidFill>
                  <a:srgbClr val="181E33"/>
                </a:solidFill>
                <a:latin typeface="+mn-ea"/>
                <a:cs typeface="+mn-ea"/>
              </a:rPr>
              <a:t>个磁道，每块数据的旋转延迟时间及传输时间分别为</a:t>
            </a:r>
            <a:r>
              <a:rPr lang="en-US" altLang="zh-CN" sz="2800" b="0" i="0">
                <a:solidFill>
                  <a:srgbClr val="181E33"/>
                </a:solidFill>
                <a:latin typeface="+mn-ea"/>
                <a:cs typeface="+mn-ea"/>
              </a:rPr>
              <a:t>100μs</a:t>
            </a:r>
            <a:r>
              <a:rPr lang="zh-CN" altLang="en-US" sz="2800" b="0" i="0">
                <a:solidFill>
                  <a:srgbClr val="181E33"/>
                </a:solidFill>
                <a:latin typeface="+mn-ea"/>
                <a:cs typeface="+mn-ea"/>
              </a:rPr>
              <a:t>和</a:t>
            </a:r>
            <a:r>
              <a:rPr lang="en-US" altLang="zh-CN" sz="2800" b="0" i="0">
                <a:solidFill>
                  <a:srgbClr val="181E33"/>
                </a:solidFill>
                <a:latin typeface="+mn-ea"/>
                <a:cs typeface="+mn-ea"/>
              </a:rPr>
              <a:t>20μs</a:t>
            </a:r>
            <a:r>
              <a:rPr lang="zh-CN" altLang="en-US" sz="2800" b="0" i="0">
                <a:solidFill>
                  <a:srgbClr val="181E33"/>
                </a:solidFill>
                <a:latin typeface="+mn-ea"/>
                <a:cs typeface="+mn-ea"/>
              </a:rPr>
              <a:t>，计算读取一份大小为</a:t>
            </a:r>
            <a:r>
              <a:rPr lang="en-US" altLang="zh-CN" sz="2800" b="0" i="0">
                <a:solidFill>
                  <a:srgbClr val="181E33"/>
                </a:solidFill>
                <a:latin typeface="+mn-ea"/>
                <a:cs typeface="+mn-ea"/>
              </a:rPr>
              <a:t>100</a:t>
            </a:r>
            <a:r>
              <a:rPr lang="zh-CN" altLang="en-US" sz="2800" b="0" i="0">
                <a:solidFill>
                  <a:srgbClr val="181E33"/>
                </a:solidFill>
                <a:latin typeface="+mn-ea"/>
                <a:cs typeface="+mn-ea"/>
              </a:rPr>
              <a:t>块的文件需要（</a:t>
            </a:r>
            <a:r>
              <a:rPr lang="en-US" altLang="zh-CN" sz="2800" b="0" i="0">
                <a:solidFill>
                  <a:srgbClr val="181E33"/>
                </a:solidFill>
                <a:latin typeface="+mn-ea"/>
                <a:cs typeface="+mn-ea"/>
              </a:rPr>
              <a:t>  </a:t>
            </a:r>
            <a:r>
              <a:rPr lang="zh-CN" altLang="en-US" sz="2800" b="0" i="0">
                <a:solidFill>
                  <a:srgbClr val="181E33"/>
                </a:solidFill>
                <a:latin typeface="+mn-ea"/>
                <a:cs typeface="+mn-ea"/>
              </a:rPr>
              <a:t>）</a:t>
            </a:r>
            <a:r>
              <a:rPr lang="en-US" altLang="zh-CN" sz="2800" b="0" i="0">
                <a:solidFill>
                  <a:srgbClr val="181E33"/>
                </a:solidFill>
                <a:latin typeface="+mn-ea"/>
                <a:cs typeface="+mn-ea"/>
              </a:rPr>
              <a:t>ms</a:t>
            </a:r>
            <a:endParaRPr lang="en-US" altLang="zh-CN" sz="2800" b="0" i="0">
              <a:solidFill>
                <a:srgbClr val="181E33"/>
              </a:solidFill>
              <a:latin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0555" y="4549140"/>
            <a:ext cx="103016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解析：</a:t>
            </a:r>
            <a:r>
              <a:rPr lang="en-US" altLang="zh-CN" sz="28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100*</a:t>
            </a:r>
            <a:r>
              <a:rPr lang="zh-CN" altLang="en-US" sz="28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（</a:t>
            </a:r>
            <a:r>
              <a:rPr lang="en-US" altLang="zh-CN" sz="28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20*5+100+20</a:t>
            </a:r>
            <a:r>
              <a:rPr lang="zh-CN" altLang="en-US" sz="28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）</a:t>
            </a:r>
            <a:r>
              <a:rPr lang="en-US" altLang="zh-CN" sz="28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=22</a:t>
            </a:r>
            <a:r>
              <a:rPr lang="en-US" altLang="zh-CN" sz="28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ms</a:t>
            </a:r>
            <a:endParaRPr lang="en-US" altLang="zh-CN" sz="2800">
              <a:solidFill>
                <a:srgbClr val="FF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85455" y="39401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随堂练习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2</a:t>
            </a:r>
            <a:endParaRPr lang="en-US" altLang="zh-CN" sz="32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 </a:t>
            </a:r>
            <a:r>
              <a:rPr lang="zh-CN" altLang="en-US" sz="2800" b="1" dirty="0">
                <a:solidFill>
                  <a:schemeClr val="bg1"/>
                </a:solidFill>
              </a:rPr>
              <a:t>磁盘调度算法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1" name="iŝļïḓê"/>
          <p:cNvGrpSpPr/>
          <p:nvPr/>
        </p:nvGrpSpPr>
        <p:grpSpPr>
          <a:xfrm>
            <a:off x="181610" y="1065797"/>
            <a:ext cx="11781790" cy="1213485"/>
            <a:chOff x="660400" y="2092935"/>
            <a:chExt cx="11781790" cy="1213485"/>
          </a:xfrm>
        </p:grpSpPr>
        <p:sp>
          <p:nvSpPr>
            <p:cNvPr id="16" name="ïšļíďè"/>
            <p:cNvSpPr txBox="1"/>
            <p:nvPr/>
          </p:nvSpPr>
          <p:spPr>
            <a:xfrm>
              <a:off x="1296670" y="2092935"/>
              <a:ext cx="11145520" cy="121348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400" dirty="0" smtClean="0">
                  <a:sym typeface="Wingdings" panose="05000000000000000000" pitchFamily="2" charset="2"/>
                </a:rPr>
                <a:t>由于在访问磁盘的时间中，主要是寻道时间，</a:t>
              </a:r>
              <a:endParaRPr lang="zh-CN" altLang="en-US" sz="2400" dirty="0" smtClean="0">
                <a:sym typeface="Wingdings" panose="05000000000000000000" pitchFamily="2" charset="2"/>
              </a:endParaRPr>
            </a:p>
            <a:p>
              <a:pPr>
                <a:lnSpc>
                  <a:spcPct val="132000"/>
                </a:lnSpc>
              </a:pPr>
              <a:r>
                <a:rPr lang="zh-CN" altLang="en-US" sz="2400" dirty="0" smtClean="0">
                  <a:sym typeface="Wingdings" panose="05000000000000000000" pitchFamily="2" charset="2"/>
                </a:rPr>
                <a:t>因此，</a:t>
              </a:r>
              <a:r>
                <a:rPr lang="zh-CN" altLang="en-US" sz="2400" u="sng" dirty="0" smtClean="0">
                  <a:solidFill>
                    <a:srgbClr val="FF0000"/>
                  </a:solidFill>
                  <a:sym typeface="Wingdings" panose="05000000000000000000" pitchFamily="2" charset="2"/>
                </a:rPr>
                <a:t>磁盘调度的目标，是使磁盘的平均寻道时间最小</a:t>
              </a:r>
              <a:r>
                <a:rPr lang="zh-CN" altLang="en-US" sz="2400" dirty="0" smtClean="0">
                  <a:solidFill>
                    <a:srgbClr val="FF0000"/>
                  </a:solidFill>
                  <a:sym typeface="Wingdings" panose="05000000000000000000" pitchFamily="2" charset="2"/>
                </a:rPr>
                <a:t>。</a:t>
              </a:r>
              <a:endParaRPr lang="zh-CN" altLang="en-US" sz="2400" dirty="0">
                <a:sym typeface="Wingdings" panose="05000000000000000000" pitchFamily="2" charset="2"/>
              </a:endParaRPr>
            </a:p>
          </p:txBody>
        </p:sp>
        <p:grpSp>
          <p:nvGrpSpPr>
            <p:cNvPr id="13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4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32000"/>
                  </a:lnSpc>
                </a:pPr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3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52000"/>
                  </a:lnSpc>
                </a:pP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2745105" y="2480945"/>
            <a:ext cx="5555615" cy="3175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400" dirty="0" smtClean="0">
                <a:sym typeface="Wingdings" panose="05000000000000000000" pitchFamily="2" charset="2"/>
              </a:rPr>
              <a:t>先来先服务</a:t>
            </a:r>
            <a:r>
              <a:rPr lang="en-US" altLang="zh-CN" sz="2400" dirty="0" smtClean="0">
                <a:sym typeface="Wingdings" panose="05000000000000000000" pitchFamily="2" charset="2"/>
              </a:rPr>
              <a:t>FCFS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400" dirty="0" smtClean="0">
                <a:sym typeface="Wingdings" panose="05000000000000000000" pitchFamily="2" charset="2"/>
              </a:rPr>
              <a:t>最短寻道时间优先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400" dirty="0" smtClean="0">
                <a:sym typeface="Wingdings" panose="05000000000000000000" pitchFamily="2" charset="2"/>
              </a:rPr>
              <a:t>扫描（</a:t>
            </a:r>
            <a:r>
              <a:rPr lang="en-US" altLang="zh-CN" sz="2400" dirty="0" smtClean="0">
                <a:sym typeface="Wingdings" panose="05000000000000000000" pitchFamily="2" charset="2"/>
              </a:rPr>
              <a:t>SCAN</a:t>
            </a:r>
            <a:r>
              <a:rPr lang="zh-CN" altLang="en-US" sz="2400" dirty="0" smtClean="0">
                <a:sym typeface="Wingdings" panose="05000000000000000000" pitchFamily="2" charset="2"/>
              </a:rPr>
              <a:t>）算法（电梯调度算法）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400" dirty="0" smtClean="0">
                <a:sym typeface="Wingdings" panose="05000000000000000000" pitchFamily="2" charset="2"/>
              </a:rPr>
              <a:t>循环扫描</a:t>
            </a:r>
            <a:r>
              <a:rPr lang="en-US" altLang="zh-CN" sz="2400" dirty="0" smtClean="0">
                <a:sym typeface="Wingdings" panose="05000000000000000000" pitchFamily="2" charset="2"/>
              </a:rPr>
              <a:t>CSCAN</a:t>
            </a:r>
            <a:r>
              <a:rPr lang="zh-CN" altLang="en-US" sz="2400" dirty="0" smtClean="0">
                <a:sym typeface="Wingdings" panose="05000000000000000000" pitchFamily="2" charset="2"/>
              </a:rPr>
              <a:t>算法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en-US" altLang="zh-CN" sz="2400" dirty="0" smtClean="0">
                <a:sym typeface="Wingdings" panose="05000000000000000000" pitchFamily="2" charset="2"/>
              </a:rPr>
              <a:t>Look</a:t>
            </a:r>
            <a:r>
              <a:rPr lang="zh-CN" altLang="en-US" sz="2400" dirty="0" smtClean="0">
                <a:sym typeface="Wingdings" panose="05000000000000000000" pitchFamily="2" charset="2"/>
              </a:rPr>
              <a:t>算法和</a:t>
            </a:r>
            <a:r>
              <a:rPr lang="en-US" altLang="zh-CN" sz="2400" dirty="0" smtClean="0">
                <a:sym typeface="Wingdings" panose="05000000000000000000" pitchFamily="2" charset="2"/>
              </a:rPr>
              <a:t>CLook</a:t>
            </a:r>
            <a:r>
              <a:rPr lang="zh-CN" altLang="en-US" sz="2400" dirty="0" smtClean="0">
                <a:sym typeface="Wingdings" panose="05000000000000000000" pitchFamily="2" charset="2"/>
              </a:rPr>
              <a:t>算法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charset="0"/>
              <a:buChar char="u"/>
            </a:pPr>
            <a:endParaRPr lang="zh-CN" altLang="en-US" sz="2400" dirty="0" smtClean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先来先服务</a:t>
            </a:r>
            <a:r>
              <a:rPr lang="en-US" altLang="zh-CN" sz="2800" b="1" dirty="0">
                <a:solidFill>
                  <a:schemeClr val="bg1"/>
                </a:solidFill>
              </a:rPr>
              <a:t>FCFS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2440" y="994410"/>
            <a:ext cx="5996940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p"/>
            </a:pPr>
            <a:r>
              <a:rPr lang="zh-CN" altLang="en-US" sz="2400" dirty="0">
                <a:latin typeface="+mn-ea"/>
              </a:rPr>
              <a:t>最简单的磁盘调度算法</a:t>
            </a:r>
            <a:endParaRPr lang="zh-CN" altLang="en-US" sz="2400" dirty="0"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根据进程请求访问磁盘的先后次序进行调度。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p"/>
            </a:pPr>
            <a:r>
              <a:rPr lang="zh-CN" altLang="en-US" sz="2400" dirty="0">
                <a:latin typeface="+mn-ea"/>
              </a:rPr>
              <a:t>优点：公平、简单，每个进程的请求都能依次得到处理，</a:t>
            </a:r>
            <a:r>
              <a:rPr lang="zh-CN" altLang="en-US" sz="2400" b="1" dirty="0">
                <a:solidFill>
                  <a:schemeClr val="accent3">
                    <a:lumMod val="50000"/>
                    <a:lumOff val="50000"/>
                  </a:schemeClr>
                </a:solidFill>
                <a:latin typeface="+mn-ea"/>
              </a:rPr>
              <a:t>不会出现饥饿</a:t>
            </a:r>
            <a:r>
              <a:rPr lang="zh-CN" altLang="en-US" sz="2400" dirty="0">
                <a:latin typeface="+mn-ea"/>
              </a:rPr>
              <a:t>。</a:t>
            </a:r>
            <a:endParaRPr lang="zh-CN" altLang="en-US" sz="24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p"/>
            </a:pPr>
            <a:r>
              <a:rPr lang="zh-CN" altLang="en-US" sz="2400" dirty="0">
                <a:latin typeface="+mn-ea"/>
              </a:rPr>
              <a:t>缺点：由于未对寻道进行优化，致使平均寻道时间可能较长。</a:t>
            </a:r>
            <a:endParaRPr lang="zh-CN" altLang="en-US" sz="2400" dirty="0"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zh-CN" altLang="en-US" sz="2400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923405" y="994410"/>
            <a:ext cx="4452620" cy="5256530"/>
            <a:chOff x="741" y="1660"/>
            <a:chExt cx="7012" cy="827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1" y="1660"/>
              <a:ext cx="7012" cy="8278"/>
            </a:xfrm>
            <a:prstGeom prst="rect">
              <a:avLst/>
            </a:prstGeom>
          </p:spPr>
        </p:pic>
        <p:sp>
          <p:nvSpPr>
            <p:cNvPr id="9" name="内容占位符 2"/>
            <p:cNvSpPr txBox="1"/>
            <p:nvPr/>
          </p:nvSpPr>
          <p:spPr>
            <a:xfrm>
              <a:off x="5945" y="9095"/>
              <a:ext cx="1808" cy="7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Tx/>
                <a:buNone/>
              </a:pPr>
              <a:r>
                <a:rPr lang="en-US" sz="2400" dirty="0" smtClean="0">
                  <a:latin typeface="+mn-ea"/>
                </a:rPr>
                <a:t>498/9</a:t>
              </a:r>
              <a:endParaRPr lang="zh-CN" altLang="en-US" sz="2400" dirty="0" smtClean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最短寻道时间优先</a:t>
            </a:r>
            <a:r>
              <a:rPr lang="en-US" altLang="zh-CN" sz="2800" b="1" dirty="0">
                <a:solidFill>
                  <a:schemeClr val="bg1"/>
                </a:solidFill>
              </a:rPr>
              <a:t>SSTF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8875" y="1036935"/>
            <a:ext cx="4371113" cy="5196520"/>
          </a:xfrm>
          <a:prstGeom prst="rect">
            <a:avLst/>
          </a:prstGeom>
        </p:spPr>
      </p:pic>
      <p:sp>
        <p:nvSpPr>
          <p:cNvPr id="3" name="îṧľîḋé"/>
          <p:cNvSpPr txBox="1"/>
          <p:nvPr/>
        </p:nvSpPr>
        <p:spPr>
          <a:xfrm>
            <a:off x="669925" y="1088390"/>
            <a:ext cx="5233035" cy="284924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2000"/>
              </a:lnSpc>
            </a:pPr>
            <a:r>
              <a:rPr lang="zh-CN" altLang="en-US" sz="2800" dirty="0">
                <a:sym typeface="Wingdings" panose="05000000000000000000" pitchFamily="2" charset="2"/>
              </a:rPr>
              <a:t>要求访问的磁道，与当前磁头所在的磁道</a:t>
            </a:r>
            <a:r>
              <a:rPr lang="zh-CN" altLang="en-US" sz="2800" b="1" dirty="0">
                <a:solidFill>
                  <a:schemeClr val="accent3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距离最近</a:t>
            </a:r>
            <a:r>
              <a:rPr lang="zh-CN" altLang="en-US" sz="2800" dirty="0">
                <a:sym typeface="Wingdings" panose="05000000000000000000" pitchFamily="2" charset="2"/>
              </a:rPr>
              <a:t>，以使每次的寻道时间最短，但不保证平均寻道时间最短，而且容易</a:t>
            </a:r>
            <a:r>
              <a:rPr lang="zh-CN" altLang="en-US" sz="2800" b="1" dirty="0">
                <a:solidFill>
                  <a:schemeClr val="accent3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产生饥饿</a:t>
            </a:r>
            <a:r>
              <a:rPr lang="zh-CN" altLang="en-US" sz="2800" dirty="0">
                <a:sym typeface="Wingdings" panose="05000000000000000000" pitchFamily="2" charset="2"/>
              </a:rPr>
              <a:t>。</a:t>
            </a:r>
            <a:endParaRPr lang="zh-CN" altLang="en-US" sz="2800" dirty="0">
              <a:sym typeface="Wingdings" panose="05000000000000000000" pitchFamily="2" charset="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2085" y="4049395"/>
            <a:ext cx="7234555" cy="1383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800" dirty="0">
                <a:sym typeface="Wingdings" panose="05000000000000000000" pitchFamily="2" charset="2"/>
              </a:rPr>
              <a:t>假如访问磁道号为：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r>
              <a:rPr lang="en-US" altLang="zh-CN" sz="2800" dirty="0">
                <a:sym typeface="Wingdings" panose="05000000000000000000" pitchFamily="2" charset="2"/>
              </a:rPr>
              <a:t>58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39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18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150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160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184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55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38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90</a:t>
            </a:r>
            <a:r>
              <a:rPr lang="zh-CN" altLang="en-US" sz="2800" dirty="0">
                <a:sym typeface="Wingdings" panose="05000000000000000000" pitchFamily="2" charset="2"/>
              </a:rPr>
              <a:t>，则调度顺序为</a:t>
            </a:r>
            <a:r>
              <a:rPr lang="zh-CN" altLang="en-US" sz="2800" dirty="0">
                <a:sym typeface="Wingdings" panose="05000000000000000000" pitchFamily="2" charset="2"/>
              </a:rPr>
              <a:t>右图</a:t>
            </a:r>
            <a:endParaRPr lang="zh-CN" altLang="en-US" sz="28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4985" y="1176020"/>
            <a:ext cx="1106868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800"/>
              <a:t>已知当前磁道访问请求序列为</a:t>
            </a:r>
            <a:r>
              <a:rPr lang="en-US" altLang="zh-CN" sz="2800"/>
              <a:t>23,56,59,51,67,102,136,140,194</a:t>
            </a:r>
            <a:r>
              <a:rPr lang="zh-CN" altLang="en-US" sz="2800"/>
              <a:t>，磁头当前所在位置为</a:t>
            </a:r>
            <a:r>
              <a:rPr lang="en-US" altLang="zh-CN" sz="2800"/>
              <a:t>100</a:t>
            </a:r>
            <a:r>
              <a:rPr lang="zh-CN" altLang="en-US" sz="2800"/>
              <a:t>，若采用</a:t>
            </a:r>
            <a:r>
              <a:rPr lang="en-US" altLang="zh-CN" sz="2800"/>
              <a:t> SSTF </a:t>
            </a:r>
            <a:r>
              <a:rPr lang="zh-CN" altLang="en-US" sz="2800"/>
              <a:t>（最短寻道时间优先）算法，则磁头总共需要移动的磁道数是（</a:t>
            </a:r>
            <a:r>
              <a:rPr lang="en-US" altLang="zh-CN" sz="2800"/>
              <a:t>)</a:t>
            </a:r>
            <a:r>
              <a:rPr lang="zh-CN" altLang="en-US" sz="2800"/>
              <a:t>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/>
              <a:t> A .95             B.174              C.347             D.265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769620" y="521525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答案：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D</a:t>
            </a:r>
            <a:endParaRPr lang="en-US" altLang="zh-CN" sz="280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35830" y="52152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随堂练习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—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SSTF</a:t>
            </a:r>
            <a:endParaRPr lang="en-US" altLang="zh-CN" sz="32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7.8 </a:t>
            </a:r>
            <a:r>
              <a:rPr lang="zh-CN" altLang="en-US" sz="2800" b="1" dirty="0">
                <a:solidFill>
                  <a:schemeClr val="bg1"/>
                </a:solidFill>
              </a:rPr>
              <a:t>扫描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SCAN</a:t>
            </a:r>
            <a:r>
              <a:rPr lang="zh-CN" altLang="en-US" sz="2800" b="1" dirty="0">
                <a:solidFill>
                  <a:schemeClr val="bg1"/>
                </a:solidFill>
              </a:rPr>
              <a:t>算法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5450" y="1268095"/>
            <a:ext cx="11331575" cy="4142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+mn-ea"/>
              </a:rPr>
              <a:t>也称：电梯调度算法。</a:t>
            </a:r>
            <a:endParaRPr lang="zh-CN" altLang="en-US" sz="3200" dirty="0">
              <a:latin typeface="+mn-ea"/>
            </a:endParaRP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+mn-ea"/>
              </a:rPr>
              <a:t>不仅考虑到欲访问的磁道与当前磁道的距离，更优先考虑的是磁头当前的</a:t>
            </a:r>
            <a:r>
              <a:rPr lang="zh-CN" altLang="en-US" sz="3200" b="1" dirty="0">
                <a:latin typeface="+mn-ea"/>
              </a:rPr>
              <a:t>移动方向</a:t>
            </a:r>
            <a:r>
              <a:rPr lang="zh-CN" altLang="en-US" sz="3200" dirty="0">
                <a:latin typeface="+mn-ea"/>
              </a:rPr>
              <a:t>。</a:t>
            </a:r>
            <a:endParaRPr lang="zh-CN" altLang="en-US" sz="3200" dirty="0">
              <a:latin typeface="+mn-ea"/>
            </a:endParaRPr>
          </a:p>
          <a:p>
            <a:pPr marL="342900" indent="-342900" algn="just">
              <a:lnSpc>
                <a:spcPct val="132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+mn-ea"/>
              </a:rPr>
              <a:t>磁臂从磁盘的某处向</a:t>
            </a:r>
            <a:r>
              <a:rPr lang="zh-CN" altLang="en-US" sz="3200" dirty="0">
                <a:latin typeface="+mn-ea"/>
              </a:rPr>
              <a:t>某个</a:t>
            </a:r>
            <a:r>
              <a:rPr lang="zh-CN" altLang="en-US" sz="3200" dirty="0">
                <a:latin typeface="+mn-ea"/>
              </a:rPr>
              <a:t>方向移动，沿途响应服务请求。当到达</a:t>
            </a:r>
            <a:r>
              <a:rPr lang="zh-CN" altLang="en-US" sz="3200" dirty="0">
                <a:solidFill>
                  <a:srgbClr val="FF0000"/>
                </a:solidFill>
                <a:latin typeface="+mn-ea"/>
              </a:rPr>
              <a:t>另一端</a:t>
            </a:r>
            <a:r>
              <a:rPr lang="zh-CN" altLang="en-US" sz="3200" dirty="0">
                <a:latin typeface="+mn-ea"/>
              </a:rPr>
              <a:t>时，磁头改变移动方向，继续处理。磁头在磁盘上来回扫描。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4490" y="1318895"/>
            <a:ext cx="11336020" cy="302069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ts val="300"/>
              </a:spcBef>
              <a:spcAft>
                <a:spcPts val="300"/>
              </a:spcAft>
            </a:pP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​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假设磁头当前处于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90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号磁道，磁头正向磁道号减小的方向移动，磁道号从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99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。现有一个磁盘读写请求队列：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98,83,73,22,46,24,65,53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。若采用 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SCAN 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算法依次响应请求，平均寻道长度是（）</a:t>
            </a:r>
            <a:endParaRPr lang="zh-CN" altLang="en-US" sz="32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</a:pP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A.24   B.32.5    C.23.5    D.28</a:t>
            </a:r>
            <a:endParaRPr lang="zh-CN" altLang="en-US" sz="32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7115" y="5010150"/>
            <a:ext cx="25800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答案：</a:t>
            </a:r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endParaRPr lang="en-US" altLang="zh-CN" sz="32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循环扫描算法</a:t>
            </a:r>
            <a:r>
              <a:rPr lang="en-US" altLang="zh-CN" sz="2800" b="1" dirty="0">
                <a:solidFill>
                  <a:schemeClr val="bg1"/>
                </a:solidFill>
              </a:rPr>
              <a:t>CSCAN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ïšlïḑè"/>
          <p:cNvSpPr/>
          <p:nvPr/>
        </p:nvSpPr>
        <p:spPr>
          <a:xfrm>
            <a:off x="208280" y="3049270"/>
            <a:ext cx="4566920" cy="2580640"/>
          </a:xfrm>
          <a:prstGeom prst="rect">
            <a:avLst/>
          </a:prstGeom>
          <a:noFill/>
          <a:ln w="952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磁头从磁盘一端移到另一端，随着移动不断的处理请求。当磁头移到</a:t>
            </a:r>
            <a:r>
              <a:rPr lang="zh-CN" altLang="en-US" sz="2400" dirty="0">
                <a:solidFill>
                  <a:srgbClr val="FF0000"/>
                </a:solidFill>
              </a:rPr>
              <a:t>另一端</a:t>
            </a:r>
            <a:r>
              <a:rPr lang="zh-CN" altLang="en-US" sz="2400" dirty="0">
                <a:solidFill>
                  <a:schemeClr val="tx1"/>
                </a:solidFill>
              </a:rPr>
              <a:t>时，马上返回到磁盘开始，返回时</a:t>
            </a:r>
            <a:r>
              <a:rPr lang="zh-CN" altLang="en-US" sz="2400" b="1" dirty="0">
                <a:solidFill>
                  <a:schemeClr val="tx1"/>
                </a:solidFill>
              </a:rPr>
              <a:t>不处理</a:t>
            </a:r>
            <a:r>
              <a:rPr lang="zh-CN" altLang="en-US" sz="2400" dirty="0">
                <a:solidFill>
                  <a:schemeClr val="tx1"/>
                </a:solidFill>
              </a:rPr>
              <a:t>请求。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" name="ïşḻiḍé"/>
          <p:cNvSpPr/>
          <p:nvPr/>
        </p:nvSpPr>
        <p:spPr>
          <a:xfrm>
            <a:off x="442595" y="1442085"/>
            <a:ext cx="3726180" cy="1041400"/>
          </a:xfrm>
          <a:prstGeom prst="rect">
            <a:avLst/>
          </a:prstGeom>
          <a:solidFill>
            <a:schemeClr val="bg1"/>
          </a:solidFill>
          <a:ln w="952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CSCAN</a:t>
            </a:r>
            <a:r>
              <a:rPr lang="zh-CN" altLang="en-US" sz="2400" dirty="0">
                <a:solidFill>
                  <a:srgbClr val="FF0000"/>
                </a:solidFill>
              </a:rPr>
              <a:t>算法</a:t>
            </a:r>
            <a:r>
              <a:rPr lang="zh-CN" altLang="en-US" sz="2400" dirty="0">
                <a:solidFill>
                  <a:srgbClr val="0000FF"/>
                </a:solidFill>
              </a:rPr>
              <a:t>提供比</a:t>
            </a:r>
            <a:r>
              <a:rPr lang="en-US" altLang="zh-CN" sz="2400" dirty="0">
                <a:solidFill>
                  <a:srgbClr val="0000FF"/>
                </a:solidFill>
              </a:rPr>
              <a:t>SCAN</a:t>
            </a:r>
            <a:r>
              <a:rPr lang="zh-CN" altLang="en-US" sz="2400" dirty="0">
                <a:solidFill>
                  <a:srgbClr val="0000FF"/>
                </a:solidFill>
              </a:rPr>
              <a:t>算法更为均匀的等待时间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94605" y="1183640"/>
            <a:ext cx="7017385" cy="26765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p>
            <a:pPr marL="0" indent="0"/>
            <a:r>
              <a:rPr lang="en-US" altLang="zh-CN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​</a:t>
            </a:r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假设磁头当前处于</a:t>
            </a:r>
            <a:r>
              <a:rPr lang="en-US" altLang="zh-CN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90</a:t>
            </a:r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号磁道，磁头正向磁道号增大的方向移动，磁道号从</a:t>
            </a:r>
            <a:r>
              <a:rPr lang="en-US" altLang="zh-CN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99</a:t>
            </a:r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。现有一个磁盘读写请求队列：</a:t>
            </a:r>
            <a:r>
              <a:rPr lang="en-US" altLang="zh-CN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92,85,78,24,47,26,65,51</a:t>
            </a:r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。若采用 </a:t>
            </a:r>
            <a:r>
              <a:rPr lang="en-US" altLang="zh-CN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CSCAN </a:t>
            </a:r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算法依次响应请求，磁头总共需要移动的磁道数是（</a:t>
            </a:r>
            <a:r>
              <a:rPr lang="en-US" altLang="zh-CN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8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15305" y="454152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答案：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193</a:t>
            </a:r>
            <a:endParaRPr lang="en-US" altLang="zh-CN" sz="28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1464310"/>
            <a:ext cx="11991975" cy="29813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70355" y="5205730"/>
            <a:ext cx="92176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注意：</a:t>
            </a:r>
            <a:r>
              <a:rPr lang="en-US" altLang="zh-CN" sz="2400" dirty="0">
                <a:sym typeface="+mn-ea"/>
              </a:rPr>
              <a:t>SCAN</a:t>
            </a:r>
            <a:r>
              <a:rPr lang="zh-CN" altLang="en-US" sz="2400" dirty="0">
                <a:sym typeface="+mn-ea"/>
              </a:rPr>
              <a:t>和</a:t>
            </a:r>
            <a:r>
              <a:rPr lang="en-US" altLang="zh-CN" sz="2400" dirty="0">
                <a:sym typeface="+mn-ea"/>
              </a:rPr>
              <a:t>CSCAN</a:t>
            </a:r>
            <a:r>
              <a:rPr lang="zh-CN" altLang="en-US" sz="2400" dirty="0">
                <a:sym typeface="+mn-ea"/>
              </a:rPr>
              <a:t>算法中的磁头运动方向不能随时</a:t>
            </a:r>
            <a:r>
              <a:rPr lang="zh-CN" altLang="en-US" sz="2400" dirty="0">
                <a:sym typeface="+mn-ea"/>
              </a:rPr>
              <a:t>改变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</a:rPr>
              <a:t>7.8 </a:t>
            </a:r>
            <a:r>
              <a:rPr lang="en-US" sz="2800" b="1" dirty="0">
                <a:solidFill>
                  <a:schemeClr val="bg1"/>
                </a:solidFill>
              </a:rPr>
              <a:t>Look</a:t>
            </a:r>
            <a:r>
              <a:rPr lang="zh-CN" altLang="en-US" sz="2800" b="1" dirty="0">
                <a:solidFill>
                  <a:schemeClr val="bg1"/>
                </a:solidFill>
              </a:rPr>
              <a:t>算法和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 C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Look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算法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5790" y="1207770"/>
            <a:ext cx="1063625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latin typeface="+mn-ea"/>
                <a:sym typeface="+mn-ea"/>
              </a:rPr>
              <a:t>Look</a:t>
            </a:r>
            <a:r>
              <a:rPr lang="zh-CN" altLang="en-US" sz="2800" dirty="0">
                <a:latin typeface="+mn-ea"/>
                <a:sym typeface="+mn-ea"/>
              </a:rPr>
              <a:t>原理同</a:t>
            </a:r>
            <a:r>
              <a:rPr lang="en-US" altLang="zh-CN" sz="2800" dirty="0">
                <a:latin typeface="+mn-ea"/>
                <a:sym typeface="+mn-ea"/>
              </a:rPr>
              <a:t>SCAN</a:t>
            </a:r>
            <a:r>
              <a:rPr lang="zh-CN" altLang="en-US" sz="2800" dirty="0">
                <a:latin typeface="+mn-ea"/>
                <a:sym typeface="+mn-ea"/>
              </a:rPr>
              <a:t>算法，只是磁头不再移动到一端即可返回</a:t>
            </a:r>
            <a:endParaRPr lang="zh-CN" altLang="en-US" sz="2800" dirty="0">
              <a:latin typeface="+mn-ea"/>
              <a:sym typeface="+mn-ea"/>
            </a:endParaRPr>
          </a:p>
          <a:p>
            <a:endParaRPr lang="zh-CN" altLang="en-US" sz="2800" dirty="0">
              <a:latin typeface="+mn-ea"/>
              <a:sym typeface="+mn-ea"/>
            </a:endParaRPr>
          </a:p>
          <a:p>
            <a:r>
              <a:rPr lang="en-US" altLang="zh-CN" sz="2800" dirty="0">
                <a:latin typeface="+mn-ea"/>
                <a:sym typeface="+mn-ea"/>
              </a:rPr>
              <a:t>CLook</a:t>
            </a:r>
            <a:r>
              <a:rPr lang="zh-CN" altLang="en-US" sz="2800" dirty="0">
                <a:latin typeface="+mn-ea"/>
                <a:sym typeface="+mn-ea"/>
              </a:rPr>
              <a:t>原理同</a:t>
            </a:r>
            <a:r>
              <a:rPr lang="en-US" altLang="zh-CN" sz="2800" dirty="0">
                <a:latin typeface="+mn-ea"/>
                <a:sym typeface="+mn-ea"/>
              </a:rPr>
              <a:t>CSCAN</a:t>
            </a:r>
            <a:r>
              <a:rPr lang="zh-CN" altLang="en-US" sz="2800" dirty="0">
                <a:latin typeface="+mn-ea"/>
                <a:sym typeface="+mn-ea"/>
              </a:rPr>
              <a:t>算法，只是磁头不再移动到一端即可返回</a:t>
            </a:r>
            <a:endParaRPr lang="zh-CN" altLang="en-US" sz="2800" dirty="0">
              <a:latin typeface="+mn-ea"/>
              <a:sym typeface="+mn-ea"/>
            </a:endParaRPr>
          </a:p>
          <a:p>
            <a:endParaRPr lang="zh-CN" altLang="en-US" sz="2800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98780" y="300990"/>
            <a:ext cx="11554460" cy="3046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​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假设磁头当前处于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64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号磁道，磁头正向磁道号减小的方向移动，磁道号从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99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。现有一个磁盘读写请求队列：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88,94,26,43,55,3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。若采用 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LOOK 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算法依次响应请求，磁头总共需要移动的磁道数是（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32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3825" y="2670810"/>
            <a:ext cx="8921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152</a:t>
            </a:r>
            <a:endParaRPr lang="en-US" altLang="zh-CN" sz="28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4790" y="3519805"/>
            <a:ext cx="11728450" cy="3046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​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已知磁道号从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99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，假设当前磁头位置为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78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号磁道，且正向磁道号增大的方向移动。现有一个磁盘读写请求队列为：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65,34,24,89,86,53,74,98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。若采用 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CLOOK 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算法依次响应这些请求，则平均移动的磁道数是（</a:t>
            </a:r>
            <a:r>
              <a:rPr lang="en-US" altLang="zh-CN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32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32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51525" y="5897245"/>
            <a:ext cx="8921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18</a:t>
            </a:r>
            <a:endParaRPr lang="en-US" altLang="zh-CN" sz="28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742091" y="2077986"/>
            <a:ext cx="6536871" cy="2390427"/>
          </a:xfrm>
        </p:spPr>
        <p:txBody>
          <a:bodyPr>
            <a:normAutofit/>
          </a:bodyPr>
          <a:lstStyle/>
          <a:p>
            <a:r>
              <a:rPr lang="zh-CN" altLang="en-US" sz="6600" dirty="0"/>
              <a:t>学 习 进 步 ！</a:t>
            </a:r>
            <a:endParaRPr lang="zh-CN" altLang="en-US" sz="4000" dirty="0"/>
          </a:p>
        </p:txBody>
      </p:sp>
      <p:sp>
        <p:nvSpPr>
          <p:cNvPr id="8" name="任意多边形: 形状 7"/>
          <p:cNvSpPr/>
          <p:nvPr/>
        </p:nvSpPr>
        <p:spPr>
          <a:xfrm>
            <a:off x="669925" y="2344255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43012" y="602297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475" y="2592475"/>
            <a:ext cx="2508000" cy="355424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400" y="522760"/>
            <a:ext cx="527050" cy="5270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A6S0wzOvQ8a50SA42PUNRg"/>
</p:tagLst>
</file>

<file path=ppt/tags/tag3.xml><?xml version="1.0" encoding="utf-8"?>
<p:tagLst xmlns:p="http://schemas.openxmlformats.org/presentationml/2006/main">
  <p:tag name="KSO_WM_UNIT_TABLE_BEAUTIFY" val="smartTable{23dd2542-6e61-48b8-90b8-1c9fe354020d}"/>
</p:tagLst>
</file>

<file path=ppt/tags/tag4.xml><?xml version="1.0" encoding="utf-8"?>
<p:tagLst xmlns:p="http://schemas.openxmlformats.org/presentationml/2006/main">
  <p:tag name="ISLIDE.DIAGRAM" val="217641"/>
</p:tagLst>
</file>

<file path=ppt/tags/tag5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6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7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8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9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0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1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2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3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4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5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6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7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8.xml><?xml version="1.0" encoding="utf-8"?>
<p:tagLst xmlns:p="http://schemas.openxmlformats.org/presentationml/2006/main">
  <p:tag name="KSO_WM_DIAGRAM_VIRTUALLY_FRAME" val="{&quot;height&quot;:376.3948818897637,&quot;left&quot;:103.94244094488185,&quot;top&quot;:91.17590551181102,&quot;width&quot;:814.3376377952757}"/>
</p:tagLst>
</file>

<file path=ppt/tags/tag19.xml><?xml version="1.0" encoding="utf-8"?>
<p:tagLst xmlns:p="http://schemas.openxmlformats.org/presentationml/2006/main">
  <p:tag name="ISLIDE.DIAGRAM" val="204206"/>
  <p:tag name="KSO_WM_DIAGRAM_VIRTUALLY_FRAME" val="{&quot;height&quot;:345.56070866141727,&quot;left&quot;:47.597480314960634,&quot;top&quot;:137.6320472440945,&quot;width&quot;:863.8050393700787}"/>
</p:tagLst>
</file>

<file path=ppt/tags/tag20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21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22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23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24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25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26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27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28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29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30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31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32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33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34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35.xml><?xml version="1.0" encoding="utf-8"?>
<p:tagLst xmlns:p="http://schemas.openxmlformats.org/presentationml/2006/main">
  <p:tag name="KSO_WM_DIAGRAM_VIRTUALLY_FRAME" val="{&quot;height&quot;:345.5607086614173,&quot;left&quot;:47.597480314960634,&quot;top&quot;:137.6320472440945,&quot;width&quot;:863.8050393700787}"/>
</p:tagLst>
</file>

<file path=ppt/tags/tag36.xml><?xml version="1.0" encoding="utf-8"?>
<p:tagLst xmlns:p="http://schemas.openxmlformats.org/presentationml/2006/main">
  <p:tag name="KSO_WM_DIAGRAM_VIRTUALLY_FRAME" val="{&quot;height&quot;:257.87748031496056,&quot;left&quot;:26.8,&quot;top&quot;:148.7703937007874,&quot;width&quot;:521.0934645669291}"/>
</p:tagLst>
</file>

<file path=ppt/tags/tag37.xml><?xml version="1.0" encoding="utf-8"?>
<p:tagLst xmlns:p="http://schemas.openxmlformats.org/presentationml/2006/main">
  <p:tag name="KSO_WM_DIAGRAM_VIRTUALLY_FRAME" val="{&quot;height&quot;:257.87748031496056,&quot;left&quot;:26.8,&quot;top&quot;:148.7703937007874,&quot;width&quot;:521.0934645669291}"/>
</p:tagLst>
</file>

<file path=ppt/tags/tag38.xml><?xml version="1.0" encoding="utf-8"?>
<p:tagLst xmlns:p="http://schemas.openxmlformats.org/presentationml/2006/main">
  <p:tag name="KSO_WM_DIAGRAM_VIRTUALLY_FRAME" val="{&quot;height&quot;:257.87748031496056,&quot;left&quot;:26.8,&quot;top&quot;:148.7703937007874,&quot;width&quot;:521.0934645669291}"/>
</p:tagLst>
</file>

<file path=ppt/tags/tag39.xml><?xml version="1.0" encoding="utf-8"?>
<p:tagLst xmlns:p="http://schemas.openxmlformats.org/presentationml/2006/main">
  <p:tag name="KSO_WM_DIAGRAM_VIRTUALLY_FRAME" val="{&quot;height&quot;:257.87748031496056,&quot;left&quot;:26.8,&quot;top&quot;:148.7703937007874,&quot;width&quot;:521.0934645669291}"/>
</p:tagLst>
</file>

<file path=ppt/tags/tag40.xml><?xml version="1.0" encoding="utf-8"?>
<p:tagLst xmlns:p="http://schemas.openxmlformats.org/presentationml/2006/main">
  <p:tag name="KSO_WM_DIAGRAM_VIRTUALLY_FRAME" val="{&quot;height&quot;:257.87748031496056,&quot;left&quot;:52,&quot;top&quot;:148.7703937007874,&quot;width&quot;:495.8934645669291}"/>
</p:tagLst>
</file>

<file path=ppt/tags/tag41.xml><?xml version="1.0" encoding="utf-8"?>
<p:tagLst xmlns:p="http://schemas.openxmlformats.org/presentationml/2006/main">
  <p:tag name="KSO_WM_DIAGRAM_VIRTUALLY_FRAME" val="{&quot;height&quot;:257.87748031496056,&quot;left&quot;:52,&quot;top&quot;:148.7703937007874,&quot;width&quot;:495.8934645669291}"/>
</p:tagLst>
</file>

<file path=ppt/tags/tag42.xml><?xml version="1.0" encoding="utf-8"?>
<p:tagLst xmlns:p="http://schemas.openxmlformats.org/presentationml/2006/main">
  <p:tag name="KSO_WM_DIAGRAM_VIRTUALLY_FRAME" val="{&quot;height&quot;:257.87748031496056,&quot;left&quot;:52,&quot;top&quot;:148.7703937007874,&quot;width&quot;:495.8934645669291}"/>
</p:tagLst>
</file>

<file path=ppt/tags/tag43.xml><?xml version="1.0" encoding="utf-8"?>
<p:tagLst xmlns:p="http://schemas.openxmlformats.org/presentationml/2006/main">
  <p:tag name="KSO_WM_DIAGRAM_VIRTUALLY_FRAME" val="{&quot;height&quot;:257.87748031496056,&quot;left&quot;:52,&quot;top&quot;:148.7703937007874,&quot;width&quot;:495.8934645669291}"/>
</p:tagLst>
</file>

<file path=ppt/tags/tag44.xml><?xml version="1.0" encoding="utf-8"?>
<p:tagLst xmlns:p="http://schemas.openxmlformats.org/presentationml/2006/main">
  <p:tag name="KSO_WM_DIAGRAM_VIRTUALLY_FRAME" val="{&quot;height&quot;:153.62425196850393,&quot;left&quot;:86.08023622047244,&quot;top&quot;:123.93055118110235,&quot;width&quot;:807.5892913385827}"/>
</p:tagLst>
</file>

<file path=ppt/tags/tag45.xml><?xml version="1.0" encoding="utf-8"?>
<p:tagLst xmlns:p="http://schemas.openxmlformats.org/presentationml/2006/main">
  <p:tag name="KSO_WM_DIAGRAM_VIRTUALLY_FRAME" val="{&quot;height&quot;:153.62425196850393,&quot;left&quot;:86.08023622047244,&quot;top&quot;:123.93055118110235,&quot;width&quot;:807.5892913385827}"/>
</p:tagLst>
</file>

<file path=ppt/tags/tag46.xml><?xml version="1.0" encoding="utf-8"?>
<p:tagLst xmlns:p="http://schemas.openxmlformats.org/presentationml/2006/main">
  <p:tag name="KSO_WM_DIAGRAM_VIRTUALLY_FRAME" val="{&quot;height&quot;:153.62425196850393,&quot;left&quot;:86.08023622047244,&quot;top&quot;:123.93055118110235,&quot;width&quot;:807.5892913385827}"/>
</p:tagLst>
</file>

<file path=ppt/tags/tag47.xml><?xml version="1.0" encoding="utf-8"?>
<p:tagLst xmlns:p="http://schemas.openxmlformats.org/presentationml/2006/main">
  <p:tag name="THINKCELLSHAPEDONOTDELETE" val="thinkcellActiveDocDoNotDelete"/>
</p:tagLst>
</file>

<file path=ppt/tags/tag48.xml><?xml version="1.0" encoding="utf-8"?>
<p:tagLst xmlns:p="http://schemas.openxmlformats.org/presentationml/2006/main">
  <p:tag name="THINKCELLSHAPEDONOTDELETE" val="t1Smkff3fSzGMOuItfjj3Fw"/>
</p:tagLst>
</file>

<file path=ppt/tags/tag49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074baa65-1bcf-453b-aed6-4412331b316e"/>
  <p:tag name="commondata" val="eyJoZGlkIjoiOTM4NmFhY2UyMzhhZmVhN2ZlMGY3Mzg4ZTJhZTk3NmQifQ=="/>
</p:tagLst>
</file>

<file path=ppt/theme/theme1.xml><?xml version="1.0" encoding="utf-8"?>
<a:theme xmlns:a="http://schemas.openxmlformats.org/drawingml/2006/main" name="主题5">
  <a:themeElements>
    <a:clrScheme name="自定义 15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7416B"/>
      </a:accent1>
      <a:accent2>
        <a:srgbClr val="FFC000"/>
      </a:accent2>
      <a:accent3>
        <a:srgbClr val="00002E"/>
      </a:accent3>
      <a:accent4>
        <a:srgbClr val="031684"/>
      </a:accent4>
      <a:accent5>
        <a:srgbClr val="969696"/>
      </a:accent5>
      <a:accent6>
        <a:srgbClr val="B2B2B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8273</Words>
  <Application>WPS 演示</Application>
  <PresentationFormat>自定义</PresentationFormat>
  <Paragraphs>805</Paragraphs>
  <Slides>74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74</vt:i4>
      </vt:variant>
    </vt:vector>
  </HeadingPairs>
  <TitlesOfParts>
    <vt:vector size="94" baseType="lpstr">
      <vt:lpstr>Arial</vt:lpstr>
      <vt:lpstr>宋体</vt:lpstr>
      <vt:lpstr>Wingdings</vt:lpstr>
      <vt:lpstr>微软雅黑</vt:lpstr>
      <vt:lpstr>微软雅黑 (正文)</vt:lpstr>
      <vt:lpstr>黑体</vt:lpstr>
      <vt:lpstr>华文楷体</vt:lpstr>
      <vt:lpstr>Wingdings</vt:lpstr>
      <vt:lpstr>Monotype Sorts</vt:lpstr>
      <vt:lpstr>Arial Unicode MS</vt:lpstr>
      <vt:lpstr>Calibri</vt:lpstr>
      <vt:lpstr>Monotype Sorts</vt:lpstr>
      <vt:lpstr>微软雅黑 (正文)</vt:lpstr>
      <vt:lpstr>字魂正文宋楷</vt:lpstr>
      <vt:lpstr>Toots Regular</vt:lpstr>
      <vt:lpstr>主题5</vt:lpstr>
      <vt:lpstr>TCLayout.ActiveDocument.1</vt:lpstr>
      <vt:lpstr>Equation.3</vt:lpstr>
      <vt:lpstr>Equation.3</vt:lpstr>
      <vt:lpstr>TCLayout.ActiveDocument.1</vt:lpstr>
      <vt:lpstr>第7章 输入/输出系统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 习 进 步 ！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解解</cp:lastModifiedBy>
  <cp:revision>400</cp:revision>
  <cp:lastPrinted>2019-04-18T16:00:00Z</cp:lastPrinted>
  <dcterms:created xsi:type="dcterms:W3CDTF">2019-04-18T16:00:00Z</dcterms:created>
  <dcterms:modified xsi:type="dcterms:W3CDTF">2025-12-18T05:19:55Z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29321D4FDD224ECE97E1CFE85E42D70A</vt:lpwstr>
  </property>
  <property fmtid="{D5CDD505-2E9C-101B-9397-08002B2CF9AE}" pid="4" name="KSOProductBuildVer">
    <vt:lpwstr>2052-12.1.0.24034</vt:lpwstr>
  </property>
</Properties>
</file>