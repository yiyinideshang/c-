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311" r:id="rId3"/>
    <p:sldId id="312" r:id="rId4"/>
    <p:sldId id="315" r:id="rId5"/>
    <p:sldId id="481" r:id="rId6"/>
    <p:sldId id="759" r:id="rId7"/>
    <p:sldId id="296" r:id="rId9"/>
    <p:sldId id="483" r:id="rId10"/>
    <p:sldId id="297" r:id="rId11"/>
    <p:sldId id="486" r:id="rId12"/>
    <p:sldId id="407" r:id="rId13"/>
    <p:sldId id="409" r:id="rId14"/>
    <p:sldId id="410" r:id="rId15"/>
    <p:sldId id="760" r:id="rId16"/>
    <p:sldId id="766" r:id="rId17"/>
    <p:sldId id="765" r:id="rId18"/>
    <p:sldId id="411" r:id="rId19"/>
    <p:sldId id="412" r:id="rId20"/>
    <p:sldId id="413" r:id="rId21"/>
    <p:sldId id="677" r:id="rId22"/>
    <p:sldId id="678" r:id="rId23"/>
    <p:sldId id="415" r:id="rId24"/>
    <p:sldId id="414" r:id="rId25"/>
    <p:sldId id="416" r:id="rId26"/>
    <p:sldId id="417" r:id="rId27"/>
    <p:sldId id="767" r:id="rId28"/>
    <p:sldId id="721" r:id="rId29"/>
    <p:sldId id="418" r:id="rId30"/>
    <p:sldId id="362" r:id="rId31"/>
    <p:sldId id="487" r:id="rId32"/>
    <p:sldId id="419" r:id="rId33"/>
    <p:sldId id="761" r:id="rId34"/>
    <p:sldId id="421" r:id="rId35"/>
    <p:sldId id="422" r:id="rId36"/>
    <p:sldId id="762" r:id="rId37"/>
    <p:sldId id="859" r:id="rId38"/>
    <p:sldId id="427" r:id="rId39"/>
    <p:sldId id="850" r:id="rId40"/>
    <p:sldId id="852" r:id="rId41"/>
    <p:sldId id="856" r:id="rId42"/>
    <p:sldId id="857" r:id="rId43"/>
    <p:sldId id="872" r:id="rId44"/>
    <p:sldId id="873" r:id="rId45"/>
    <p:sldId id="861" r:id="rId46"/>
    <p:sldId id="862" r:id="rId47"/>
    <p:sldId id="860" r:id="rId48"/>
    <p:sldId id="864" r:id="rId49"/>
    <p:sldId id="436" r:id="rId50"/>
    <p:sldId id="650" r:id="rId51"/>
    <p:sldId id="451" r:id="rId52"/>
    <p:sldId id="448" r:id="rId53"/>
    <p:sldId id="453" r:id="rId54"/>
    <p:sldId id="376" r:id="rId55"/>
    <p:sldId id="651" r:id="rId56"/>
    <p:sldId id="843" r:id="rId57"/>
    <p:sldId id="457" r:id="rId58"/>
    <p:sldId id="370" r:id="rId59"/>
    <p:sldId id="654" r:id="rId60"/>
    <p:sldId id="655" r:id="rId61"/>
    <p:sldId id="656" r:id="rId62"/>
    <p:sldId id="459" r:id="rId63"/>
    <p:sldId id="876" r:id="rId64"/>
    <p:sldId id="845" r:id="rId65"/>
    <p:sldId id="839" r:id="rId66"/>
    <p:sldId id="844" r:id="rId67"/>
    <p:sldId id="837" r:id="rId68"/>
    <p:sldId id="867" r:id="rId69"/>
    <p:sldId id="868" r:id="rId70"/>
    <p:sldId id="869" r:id="rId71"/>
    <p:sldId id="870" r:id="rId72"/>
    <p:sldId id="871" r:id="rId73"/>
    <p:sldId id="874" r:id="rId74"/>
    <p:sldId id="261" r:id="rId75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7" userDrawn="1">
          <p15:clr>
            <a:srgbClr val="A4A3A4"/>
          </p15:clr>
        </p15:guide>
        <p15:guide id="2" pos="3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9FF"/>
    <a:srgbClr val="AAC391"/>
    <a:srgbClr val="BCBB99"/>
    <a:srgbClr val="F6F5C5"/>
    <a:srgbClr val="00005C"/>
    <a:srgbClr val="FFC000"/>
    <a:srgbClr val="FFFF00"/>
    <a:srgbClr val="06D24C"/>
    <a:srgbClr val="035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182" autoAdjust="0"/>
  </p:normalViewPr>
  <p:slideViewPr>
    <p:cSldViewPr snapToGrid="0" showGuides="1">
      <p:cViewPr varScale="1">
        <p:scale>
          <a:sx n="114" d="100"/>
          <a:sy n="114" d="100"/>
        </p:scale>
        <p:origin x="-420" y="-108"/>
      </p:cViewPr>
      <p:guideLst>
        <p:guide orient="horz" pos="2247"/>
        <p:guide pos="396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9" Type="http://schemas.openxmlformats.org/officeDocument/2006/relationships/tags" Target="tags/tag68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</a:t>
            </a:r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1.首先，生产者只需要关心"仓库”，并不需要关心具体的消费者。</a:t>
            </a:r>
            <a:endParaRPr lang="zh-CN" altLang="en-US"/>
          </a:p>
          <a:p>
            <a:r>
              <a:rPr lang="zh-CN" altLang="en-US"/>
              <a:t>2.对于消费者而言，它不需要关心具体的生产者，它只需要关心这个“仓库"中还有没有东西存在。</a:t>
            </a:r>
            <a:endParaRPr lang="zh-CN" altLang="en-US"/>
          </a:p>
          <a:p>
            <a:r>
              <a:rPr lang="zh-CN" altLang="en-US"/>
              <a:t>3.生产者生产的时候消费者不能进行"消费”，消费者消费的时候生产者不能生产，相当于一种互斥</a:t>
            </a:r>
            <a:endParaRPr lang="zh-CN" altLang="en-US"/>
          </a:p>
          <a:p>
            <a:r>
              <a:rPr lang="zh-CN" altLang="en-US"/>
              <a:t>    关系，即生产者和消费者一次只能有一人能访问到“仓库”。</a:t>
            </a:r>
            <a:endParaRPr lang="zh-CN" altLang="en-US"/>
          </a:p>
          <a:p>
            <a:r>
              <a:rPr lang="zh-CN" altLang="en-US"/>
              <a:t>4.“仓库"为空时不能进行消费。</a:t>
            </a:r>
            <a:endParaRPr lang="zh-CN" altLang="en-US"/>
          </a:p>
          <a:p>
            <a:r>
              <a:rPr lang="zh-CN" altLang="en-US"/>
              <a:t>5.“仓库"满时不能进行生产。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都是加</a:t>
            </a:r>
            <a:r>
              <a:rPr lang="en-US" altLang="zh-CN"/>
              <a:t>1</a:t>
            </a:r>
            <a:r>
              <a:rPr lang="zh-CN" altLang="en-US"/>
              <a:t>操作，所以就</a:t>
            </a:r>
            <a:r>
              <a:rPr lang="en-US" altLang="zh-CN"/>
              <a:t>2</a:t>
            </a:r>
            <a:r>
              <a:rPr lang="zh-CN" altLang="en-US"/>
              <a:t>种顺序，线程</a:t>
            </a:r>
            <a:r>
              <a:rPr lang="en-US" altLang="zh-CN"/>
              <a:t>1</a:t>
            </a:r>
            <a:r>
              <a:rPr lang="zh-CN" altLang="en-US"/>
              <a:t>后线程</a:t>
            </a:r>
            <a:r>
              <a:rPr lang="en-US" altLang="zh-CN"/>
              <a:t>2</a:t>
            </a:r>
            <a:r>
              <a:rPr lang="zh-CN" altLang="en-US"/>
              <a:t>，或者线程</a:t>
            </a:r>
            <a:r>
              <a:rPr lang="en-US" altLang="zh-CN"/>
              <a:t>2</a:t>
            </a:r>
            <a:r>
              <a:rPr lang="zh-CN" altLang="en-US"/>
              <a:t>或线程</a:t>
            </a:r>
            <a:r>
              <a:rPr lang="en-US" altLang="zh-CN"/>
              <a:t>1</a:t>
            </a:r>
            <a:r>
              <a:rPr lang="zh-CN" altLang="en-US"/>
              <a:t>，结果都是</a:t>
            </a: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答案：将左边编码</a:t>
            </a:r>
            <a:r>
              <a:rPr lang="en-US" altLang="zh-CN"/>
              <a:t>123</a:t>
            </a:r>
            <a:r>
              <a:rPr lang="zh-CN" altLang="en-US"/>
              <a:t>，右边</a:t>
            </a:r>
            <a:r>
              <a:rPr lang="en-US" altLang="zh-CN"/>
              <a:t>456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顺序：</a:t>
            </a:r>
            <a:r>
              <a:rPr lang="en-US" altLang="zh-CN"/>
              <a:t>123456</a:t>
            </a:r>
            <a:r>
              <a:rPr lang="zh-CN" altLang="en-US"/>
              <a:t>，得</a:t>
            </a:r>
            <a:r>
              <a:rPr lang="en-US" altLang="zh-CN"/>
              <a:t>1</a:t>
            </a:r>
            <a:endParaRPr lang="en-US" altLang="zh-CN"/>
          </a:p>
          <a:p>
            <a:r>
              <a:rPr lang="en-US" altLang="zh-CN"/>
              <a:t>124563</a:t>
            </a:r>
            <a:r>
              <a:rPr lang="zh-CN" altLang="en-US"/>
              <a:t>，得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451236</a:t>
            </a:r>
            <a:r>
              <a:rPr lang="zh-CN" altLang="en-US"/>
              <a:t>，得</a:t>
            </a:r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turn = i，表示轮到Pi进入临界区。那么上面这个代码就可以理解为：首先，Pi想进入临界区（flag[i] = True），然后，还是和前面的代码一样，Pi会先把进入临界区的机会让给Pj（turn = j），同样地，当Pj想进入临界区时，也会将进入临界区的权利先让给Pi。紧接着，变量turn的作用就显现出来了，当Pj把进入临界区的机会又让给Pi的时候（注意：这是发生在Pi将进入临界区的优先权让给Pj之后），Pi这次就会直接进入临界区。就不会再次出现一直互相谦让，最终导致均无法进入临界区的情况了。</a:t>
            </a:r>
            <a:endParaRPr lang="zh-CN" altLang="en-US"/>
          </a:p>
          <a:p>
            <a:r>
              <a:rPr lang="zh-CN" altLang="en-US"/>
              <a:t>总的分为以下两种情况：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Pj不想进入临界区（flag[j] = False）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当Pj不想进入临界区时，自然也就不存在Pi和Pj冲突的情况，Pi当然就直接进入临界区。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Pj想进入临界区（flag[j] = True）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当Pj想进入临界区，又分为以下两种情况：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 turn = i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turn = i说明当前轮到i进入临界区了 ，这个时候i就直接进入临界区了，不再谦让。（其实这个挺合理的，根据Peterson算法的代码我们不难发现因为turn的值是根据先后想要进入临界区的顺序排列的）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 turn != i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turn != i 说明当前轮到i进入临界区了没有轮到Pi进入临界区，Pi自然需要等待。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仅过上面的分析，我们就不难理解，当Pi和Pj经过一轮谦让之后，就会直接根据turn的值（即：该轮到谁进临界区了）来直接决定谁该进入临界区。现在回过头回顾整个算法，其实我们会发现，Peterson算法的思想会更贴近于生活中的真实情况，大家一般都是略微谦让一下，然后直奔主题，</a:t>
            </a:r>
            <a:r>
              <a:rPr lang="zh-CN" altLang="en-US">
                <a:sym typeface="+mn-ea"/>
              </a:rPr>
              <a:t>解决了饥饿问题。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2010</a:t>
            </a:r>
            <a:r>
              <a:rPr lang="zh-CN" altLang="en-US"/>
              <a:t>年考研针对该算法进行了</a:t>
            </a:r>
            <a:r>
              <a:rPr lang="zh-CN" altLang="en-US"/>
              <a:t>考核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此处的硬件指令代码只是功能实现，不是软件实现的定义，事实上，是由硬件逻辑直接实现的，</a:t>
            </a:r>
            <a:r>
              <a:rPr lang="zh-CN" altLang="en-US"/>
              <a:t>不会被中断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</a:t>
            </a:r>
            <a:r>
              <a:rPr lang="en-US" altLang="zh-CN"/>
              <a:t>B</a:t>
            </a:r>
            <a:endParaRPr lang="en-US" altLang="zh-CN"/>
          </a:p>
          <a:p>
            <a:r>
              <a:rPr lang="en-US" altLang="zh-CN"/>
              <a:t>A</a:t>
            </a:r>
            <a:r>
              <a:rPr lang="zh-CN" altLang="en-US"/>
              <a:t>，应该负责唤醒就绪态</a:t>
            </a:r>
            <a:r>
              <a:rPr lang="zh-CN" altLang="en-US"/>
              <a:t>进程</a:t>
            </a:r>
            <a:endParaRPr lang="zh-CN" altLang="en-US"/>
          </a:p>
          <a:p>
            <a:r>
              <a:rPr lang="en-US" altLang="zh-CN"/>
              <a:t>C</a:t>
            </a:r>
            <a:r>
              <a:rPr lang="zh-CN" altLang="en-US"/>
              <a:t>、一直忙等，并没有</a:t>
            </a:r>
            <a:r>
              <a:rPr lang="zh-CN" altLang="en-US"/>
              <a:t>让权</a:t>
            </a:r>
            <a:endParaRPr lang="zh-CN" altLang="en-US"/>
          </a:p>
          <a:p>
            <a:r>
              <a:rPr lang="en-US" altLang="zh-CN"/>
              <a:t>D</a:t>
            </a:r>
            <a:r>
              <a:rPr lang="zh-CN" altLang="en-US"/>
              <a:t>、关中断时，</a:t>
            </a:r>
            <a:r>
              <a:rPr lang="en-US" altLang="zh-CN"/>
              <a:t>TSL(&amp;lock)</a:t>
            </a:r>
            <a:r>
              <a:rPr lang="zh-CN" altLang="en-US"/>
              <a:t>的值为</a:t>
            </a:r>
            <a:r>
              <a:rPr lang="en-US" altLang="zh-CN"/>
              <a:t>true</a:t>
            </a:r>
            <a:r>
              <a:rPr lang="zh-CN" altLang="en-US"/>
              <a:t>，不会进行开中断，系统可能会因此</a:t>
            </a:r>
            <a:r>
              <a:rPr lang="zh-CN" altLang="en-US"/>
              <a:t>终止。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）硬件指令方法中并没有指定下一个访问临界区的是哪一个进程，而是交给各个进程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竞争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：哪个进程加锁成功，哪个进程就能进入临界区。而进程只有在处理器上运行时才有可能加锁成功。若有些进程在每一次分配 </a:t>
            </a:r>
            <a:r>
              <a:rPr lang="en-US" altLang="zh-CN">
                <a:sym typeface="+mn-ea"/>
              </a:rPr>
              <a:t>CPU </a:t>
            </a:r>
            <a:r>
              <a:rPr lang="zh-CN" altLang="en-US">
                <a:sym typeface="+mn-ea"/>
              </a:rPr>
              <a:t>时都碰巧竞争不到</a:t>
            </a:r>
            <a:r>
              <a:rPr lang="zh-CN" altLang="en-US">
                <a:sym typeface="+mn-ea"/>
              </a:rPr>
              <a:t>资源，那么就有可能一直无法加锁，导致饥饿。换言之，硬件指令方法无法保证等待时间的上界。</a:t>
            </a:r>
            <a:endParaRPr lang="zh-CN" altLang="en-US">
              <a:sym typeface="+mn-ea"/>
            </a:endParaRPr>
          </a:p>
          <a:p>
            <a:r>
              <a:rPr lang="zh-CN" altLang="en-US"/>
              <a:t>（</a:t>
            </a:r>
            <a:r>
              <a:rPr lang="en-US" altLang="zh-CN"/>
              <a:t>c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调度算法的公平性会极大影响硬件指令方法的效果。若调度算法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偏心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某些进程（比如说设置了高优先级），其他进程得不到处理机也就无法加锁，这就使得上一条中的情况更为严重。更有甚者，若某个低优先级进程持有了高优先级进程正在等待的临界资源，操作系统又只调度高优先级进程得到处理机，那么就会引发死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答案：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举例</a:t>
            </a:r>
            <a:r>
              <a:rPr lang="en-US" altLang="zh-CN"/>
              <a:t>1</a:t>
            </a:r>
            <a:r>
              <a:rPr lang="zh-CN" altLang="en-US"/>
              <a:t>台打印机，两个进程并发使用该打印机的</a:t>
            </a:r>
            <a:r>
              <a:rPr lang="zh-CN" altLang="en-US"/>
              <a:t>过程</a:t>
            </a:r>
            <a:endParaRPr lang="zh-CN" altLang="en-US"/>
          </a:p>
          <a:p>
            <a:r>
              <a:rPr lang="zh-CN" altLang="en-US"/>
              <a:t>扩展练习：</a:t>
            </a:r>
            <a:r>
              <a:rPr lang="en-US" altLang="zh-CN"/>
              <a:t>3</a:t>
            </a:r>
            <a:r>
              <a:rPr lang="zh-CN" altLang="en-US"/>
              <a:t>个进程并发</a:t>
            </a:r>
            <a:r>
              <a:rPr lang="zh-CN" altLang="en-US"/>
              <a:t>使用呢？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</a:t>
            </a:r>
            <a:r>
              <a:rPr lang="en-US" altLang="zh-CN"/>
              <a:t>x=6 y=16 z=7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P(empty);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</a:t>
            </a:r>
            <a:r>
              <a:rPr lang="en-US" altLang="zh-CN">
                <a:sym typeface="+mn-ea"/>
              </a:rPr>
              <a:t>tong</a:t>
            </a:r>
            <a:r>
              <a:rPr lang="en-US" altLang="zh-CN">
                <a:sym typeface="+mn-ea"/>
              </a:rPr>
              <a:t>);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P(jing);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V(jing);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P(gang);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V(gang);</a:t>
            </a:r>
            <a:endParaRPr lang="en-US" altLang="zh-CN"/>
          </a:p>
          <a:p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V(</a:t>
            </a:r>
            <a:r>
              <a:rPr lang="en-US" altLang="zh-CN">
                <a:sym typeface="+mn-ea"/>
              </a:rPr>
              <a:t>tong</a:t>
            </a:r>
            <a:r>
              <a:rPr lang="en-US" altLang="zh-CN">
                <a:sym typeface="+mn-ea"/>
              </a:rPr>
              <a:t>);</a:t>
            </a:r>
            <a:endParaRPr lang="en-US" altLang="zh-CN"/>
          </a:p>
          <a:p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V(full);</a:t>
            </a:r>
            <a:endParaRPr lang="en-US" altLang="zh-CN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P(full);</a:t>
            </a:r>
            <a:endParaRPr lang="en-US" altLang="zh-CN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</a:t>
            </a:r>
            <a:r>
              <a:rPr lang="en-US" altLang="zh-CN">
                <a:sym typeface="+mn-ea"/>
              </a:rPr>
              <a:t>tong</a:t>
            </a:r>
            <a:r>
              <a:rPr lang="en-US" altLang="zh-CN">
                <a:sym typeface="+mn-ea"/>
              </a:rPr>
              <a:t>);</a:t>
            </a:r>
            <a:endParaRPr lang="en-US" altLang="zh-CN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P(gang);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可以将管程理解为一个房间，这个房间里有一些共享的资源，比如变量、队列等。同时，房间里</a:t>
            </a:r>
            <a:endParaRPr lang="zh-CN" altLang="en-US"/>
          </a:p>
          <a:p>
            <a:r>
              <a:rPr lang="zh-CN" altLang="en-US">
                <a:sym typeface="+mn-ea"/>
              </a:rPr>
              <a:t>有一个门，只有一把钥匙。多个线程或进程需要访问房间内的资源时，它们需要先获得这把钥</a:t>
            </a:r>
            <a:endParaRPr lang="zh-CN" altLang="en-US"/>
          </a:p>
          <a:p>
            <a:r>
              <a:rPr lang="zh-CN" altLang="en-US">
                <a:sym typeface="+mn-ea"/>
              </a:rPr>
              <a:t>匙，一次只能有一个线程或进程持有钥匙，进入房间并访问资源。其他线程或进程必须等待，直</a:t>
            </a:r>
            <a:endParaRPr lang="zh-CN" altLang="en-US"/>
          </a:p>
          <a:p>
            <a:r>
              <a:rPr lang="zh-CN" altLang="en-US">
                <a:sym typeface="+mn-ea"/>
              </a:rPr>
              <a:t>到当前持有钥匙的线程或进程释放钥匙，才能获得钥匙进入房间。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管程还提供了条件变量，类似于房间内的提示牌。线程在进入房间后，如果发现某个条件</a:t>
            </a:r>
            <a:endParaRPr lang="zh-CN" altLang="en-US"/>
          </a:p>
          <a:p>
            <a:r>
              <a:rPr lang="zh-CN" altLang="en-US">
                <a:sym typeface="+mn-ea"/>
              </a:rPr>
              <a:t>不满足（比如队列为空），它可以通过条件变量来知道自己需要等待，暂时离开房间，并将钥匙</a:t>
            </a:r>
            <a:endParaRPr lang="zh-CN" altLang="en-US"/>
          </a:p>
          <a:p>
            <a:r>
              <a:rPr lang="zh-CN" altLang="en-US">
                <a:sym typeface="+mn-ea"/>
              </a:rPr>
              <a:t>交给下一个等待的线程。当其他线程满足了等待的条件（比如向队列中添加了元素），它可以通</a:t>
            </a:r>
            <a:endParaRPr lang="zh-CN" altLang="en-US"/>
          </a:p>
          <a:p>
            <a:r>
              <a:rPr lang="zh-CN" altLang="en-US">
                <a:sym typeface="+mn-ea"/>
              </a:rPr>
              <a:t>过条件变量通知告诉正在等待的线程，使其重新获得钥匙进入房间，并继续执行。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tags" Target="../tags/tag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4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tags" Target="../tags/tag67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4</a:t>
            </a:r>
            <a:r>
              <a:rPr lang="zh-CN" altLang="en-US" sz="4800" dirty="0"/>
              <a:t>章 进程同步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主讲教师：解</a:t>
            </a:r>
            <a:r>
              <a:rPr lang="zh-CN" altLang="en-US" b="1" dirty="0">
                <a:solidFill>
                  <a:schemeClr val="tx1"/>
                </a:solidFill>
              </a:rPr>
              <a:t>春燕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508000" y="1658960"/>
          <a:ext cx="3329904" cy="475471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74270"/>
                <a:gridCol w="2355634"/>
              </a:tblGrid>
              <a:tr h="47968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第1章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操作系统引论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第2章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进程的描述与控制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>
                    <a:noFill/>
                  </a:tcPr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第3章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处理机调度与死锁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第4章</a:t>
                      </a:r>
                      <a:endParaRPr lang="en-US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进程同步</a:t>
                      </a:r>
                      <a:endParaRPr lang="en-US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>
                    <a:solidFill>
                      <a:schemeClr val="accent2"/>
                    </a:solidFill>
                  </a:tcPr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第5章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存储器管理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第6章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虚拟存储器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第7章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输入/输出系统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第8章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文件管理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第9章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磁盘存储器管理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第10章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多处理机操作系统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3795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第11章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虚拟化和云计算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  <a:tr h="47968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第12章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保护和安全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华文楷体" panose="02010600040101010101" charset="-122"/>
                      </a:endParaRPr>
                    </a:p>
                  </a:txBody>
                  <a:tcPr marL="51435" marR="51435" marT="0" marB="0" anchor="ctr"/>
                </a:tc>
              </a:tr>
            </a:tbl>
          </a:graphicData>
        </a:graphic>
      </p:graphicFrame>
      <p:pic>
        <p:nvPicPr>
          <p:cNvPr id="2" name="图片 1" descr="第4章 知识导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730" y="1461770"/>
            <a:ext cx="7976235" cy="5149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j-ea"/>
                <a:ea typeface="+mj-ea"/>
              </a:rPr>
              <a:t>4.1 </a:t>
            </a:r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solidFill>
                  <a:srgbClr val="0000FF"/>
                </a:solidFill>
                <a:latin typeface="+mj-ea"/>
                <a:ea typeface="+mj-ea"/>
              </a:rPr>
              <a:t>概念</a:t>
            </a:r>
            <a:endParaRPr lang="zh-CN" altLang="en-US" sz="240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>
                <a:latin typeface="+mj-ea"/>
              </a:rPr>
              <a:t>硬件同步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5306656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Signature</a:t>
            </a:r>
            <a:endParaRPr lang="en-US" altLang="zh-CN" dirty="0"/>
          </a:p>
        </p:txBody>
      </p:sp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程序并发执行的特征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0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1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42" name="í$1iďè"/>
          <p:cNvGrpSpPr/>
          <p:nvPr/>
        </p:nvGrpSpPr>
        <p:grpSpPr>
          <a:xfrm>
            <a:off x="4138583" y="1349738"/>
            <a:ext cx="7381905" cy="1648925"/>
            <a:chOff x="4136995" y="1337038"/>
            <a:chExt cx="7381905" cy="1648925"/>
          </a:xfrm>
        </p:grpSpPr>
        <p:sp>
          <p:nvSpPr>
            <p:cNvPr id="43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ïSḻiḍé"/>
            <p:cNvSpPr txBox="1"/>
            <p:nvPr/>
          </p:nvSpPr>
          <p:spPr>
            <a:xfrm>
              <a:off x="4882719" y="1337038"/>
              <a:ext cx="6636181" cy="164892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000" dirty="0">
                  <a:solidFill>
                    <a:srgbClr val="0000FF"/>
                  </a:solidFill>
                  <a:latin typeface="+mj-ea"/>
                  <a:ea typeface="+mj-ea"/>
                </a:rPr>
                <a:t>间断性</a:t>
              </a:r>
              <a:endParaRPr lang="zh-CN" altLang="en-US" sz="2000" dirty="0">
                <a:solidFill>
                  <a:srgbClr val="0000FF"/>
                </a:solidFill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+mj-ea"/>
                  <a:ea typeface="+mj-ea"/>
                </a:rPr>
                <a:t>并发程序需要共享资源，形成相互制约关系。</a:t>
              </a:r>
              <a:endParaRPr lang="zh-CN" altLang="en-US" sz="2000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+mj-ea"/>
                  <a:ea typeface="+mj-ea"/>
                </a:rPr>
                <a:t>相互制约导致</a:t>
              </a:r>
              <a:r>
                <a:rPr lang="en-US" altLang="zh-CN" sz="2000" dirty="0">
                  <a:latin typeface="+mj-ea"/>
                  <a:ea typeface="+mj-ea"/>
                </a:rPr>
                <a:t>“</a:t>
              </a:r>
              <a:r>
                <a:rPr lang="zh-CN" altLang="en-US" sz="2000" dirty="0">
                  <a:latin typeface="+mj-ea"/>
                  <a:ea typeface="+mj-ea"/>
                </a:rPr>
                <a:t>执行</a:t>
              </a:r>
              <a:r>
                <a:rPr lang="en-US" altLang="zh-CN" sz="2000" dirty="0">
                  <a:latin typeface="+mj-ea"/>
                  <a:ea typeface="+mj-ea"/>
                </a:rPr>
                <a:t>——</a:t>
              </a:r>
              <a:r>
                <a:rPr lang="zh-CN" altLang="en-US" sz="2000" dirty="0">
                  <a:latin typeface="+mj-ea"/>
                  <a:ea typeface="+mj-ea"/>
                </a:rPr>
                <a:t>暂停</a:t>
              </a:r>
              <a:r>
                <a:rPr lang="en-US" altLang="zh-CN" sz="2000" dirty="0">
                  <a:latin typeface="+mj-ea"/>
                  <a:ea typeface="+mj-ea"/>
                </a:rPr>
                <a:t>——</a:t>
              </a:r>
              <a:r>
                <a:rPr lang="zh-CN" altLang="en-US" sz="2000" dirty="0">
                  <a:latin typeface="+mj-ea"/>
                  <a:ea typeface="+mj-ea"/>
                </a:rPr>
                <a:t>执行</a:t>
              </a:r>
              <a:r>
                <a:rPr lang="en-US" altLang="zh-CN" sz="2000" dirty="0">
                  <a:latin typeface="+mj-ea"/>
                  <a:ea typeface="+mj-ea"/>
                </a:rPr>
                <a:t>”</a:t>
              </a:r>
              <a:r>
                <a:rPr lang="zh-CN" altLang="en-US" sz="2000" dirty="0">
                  <a:latin typeface="+mj-ea"/>
                  <a:ea typeface="+mj-ea"/>
                </a:rPr>
                <a:t>间断性活动。</a:t>
              </a:r>
              <a:endParaRPr lang="zh-CN" altLang="en-US" sz="2000" dirty="0">
                <a:latin typeface="+mj-ea"/>
                <a:ea typeface="+mj-ea"/>
              </a:endParaRPr>
            </a:p>
          </p:txBody>
        </p:sp>
      </p:grpSp>
      <p:grpSp>
        <p:nvGrpSpPr>
          <p:cNvPr id="45" name="išḷîḓé"/>
          <p:cNvGrpSpPr/>
          <p:nvPr/>
        </p:nvGrpSpPr>
        <p:grpSpPr>
          <a:xfrm>
            <a:off x="4138583" y="3294934"/>
            <a:ext cx="7381904" cy="801176"/>
            <a:chOff x="4136995" y="3233565"/>
            <a:chExt cx="7381904" cy="801176"/>
          </a:xfrm>
        </p:grpSpPr>
        <p:sp>
          <p:nvSpPr>
            <p:cNvPr id="46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îŝľîḓè"/>
            <p:cNvSpPr txBox="1"/>
            <p:nvPr/>
          </p:nvSpPr>
          <p:spPr>
            <a:xfrm>
              <a:off x="4882718" y="3233565"/>
              <a:ext cx="6636181" cy="80117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rgbClr val="0000FF"/>
                  </a:solidFill>
                </a:rPr>
                <a:t>失去封闭性</a:t>
              </a:r>
              <a:endParaRPr lang="zh-CN" altLang="en-US" sz="2000" dirty="0">
                <a:solidFill>
                  <a:srgbClr val="0000FF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多个程序共享全机资源。</a:t>
              </a:r>
              <a:endParaRPr lang="zh-CN" altLang="en-US" sz="20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执行状态受外界因素影响。</a:t>
              </a:r>
              <a:endParaRPr lang="zh-CN" altLang="en-US" sz="2000" dirty="0"/>
            </a:p>
          </p:txBody>
        </p:sp>
      </p:grpSp>
      <p:grpSp>
        <p:nvGrpSpPr>
          <p:cNvPr id="48" name="ïSlíḍê"/>
          <p:cNvGrpSpPr/>
          <p:nvPr/>
        </p:nvGrpSpPr>
        <p:grpSpPr>
          <a:xfrm>
            <a:off x="4138583" y="4380642"/>
            <a:ext cx="7381903" cy="1311067"/>
            <a:chOff x="4136995" y="4714289"/>
            <a:chExt cx="7381903" cy="1311067"/>
          </a:xfrm>
        </p:grpSpPr>
        <p:sp>
          <p:nvSpPr>
            <p:cNvPr id="49" name="ïsľíḓê"/>
            <p:cNvSpPr/>
            <p:nvPr/>
          </p:nvSpPr>
          <p:spPr>
            <a:xfrm>
              <a:off x="4136995" y="5187860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íṧļîḋê"/>
            <p:cNvSpPr txBox="1"/>
            <p:nvPr/>
          </p:nvSpPr>
          <p:spPr>
            <a:xfrm>
              <a:off x="4882718" y="4714289"/>
              <a:ext cx="6636180" cy="131106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000" dirty="0"/>
            </a:p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rgbClr val="0000FF"/>
                  </a:solidFill>
                </a:rPr>
                <a:t>不可再现性</a:t>
              </a:r>
              <a:endParaRPr lang="zh-CN" altLang="en-US" sz="2000" dirty="0">
                <a:solidFill>
                  <a:srgbClr val="0000FF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程序经过多次执行后，虽然其执行时的环境和初始条件都相同，但得到的结果却各不相同。</a:t>
              </a:r>
              <a:endParaRPr lang="zh-CN" altLang="en-US" sz="2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文本框 31"/>
          <p:cNvSpPr txBox="1"/>
          <p:nvPr/>
        </p:nvSpPr>
        <p:spPr>
          <a:xfrm>
            <a:off x="1081405" y="1059815"/>
            <a:ext cx="9156700" cy="126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sz="2400" dirty="0"/>
              <a:t>有两个并发进程</a:t>
            </a:r>
            <a:r>
              <a:rPr lang="en-US" altLang="zh-CN" sz="2400" dirty="0"/>
              <a:t>P1</a:t>
            </a:r>
            <a:r>
              <a:rPr lang="zh-CN" altLang="en-US" sz="2400" dirty="0"/>
              <a:t>和</a:t>
            </a:r>
            <a:r>
              <a:rPr lang="en-US" altLang="zh-CN" sz="2400" dirty="0"/>
              <a:t>P2,</a:t>
            </a:r>
            <a:r>
              <a:rPr lang="zh-CN" altLang="en-US" sz="2400" dirty="0"/>
              <a:t>程序代码如下（其中</a:t>
            </a:r>
            <a:r>
              <a:rPr lang="en-US" altLang="zh-CN" sz="2400" dirty="0"/>
              <a:t>x</a:t>
            </a:r>
            <a:r>
              <a:rPr lang="zh-CN" altLang="en-US" sz="2400" dirty="0"/>
              <a:t>为共享变量）。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可能打印出的</a:t>
            </a:r>
            <a:r>
              <a:rPr lang="en-US" altLang="zh-CN" sz="2400" dirty="0"/>
              <a:t>z</a:t>
            </a:r>
            <a:r>
              <a:rPr lang="zh-CN" altLang="en-US" sz="2400" dirty="0"/>
              <a:t>和</a:t>
            </a:r>
            <a:r>
              <a:rPr lang="en-US" altLang="zh-CN" sz="2400" dirty="0"/>
              <a:t>c</a:t>
            </a:r>
            <a:r>
              <a:rPr lang="zh-CN" altLang="en-US" sz="2400" dirty="0"/>
              <a:t>的值有（）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8615" y="2514600"/>
            <a:ext cx="2781300" cy="28047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P1(){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x=0;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y=-1;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z=x*y;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print z;</a:t>
            </a: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3470" y="2514600"/>
            <a:ext cx="2781300" cy="28047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P2(){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x=3;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c=x*x;</a:t>
            </a:r>
            <a:endParaRPr lang="en-US" sz="2400" dirty="0"/>
          </a:p>
          <a:p>
            <a:pPr indent="457200">
              <a:lnSpc>
                <a:spcPct val="150000"/>
              </a:lnSpc>
            </a:pPr>
            <a:r>
              <a:rPr lang="en-US" sz="2400" dirty="0"/>
              <a:t>print c;</a:t>
            </a: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6285" y="1905000"/>
            <a:ext cx="326199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A.z=0</a:t>
            </a:r>
            <a:r>
              <a:rPr lang="zh-CN" altLang="en-US" sz="2400" dirty="0"/>
              <a:t>或</a:t>
            </a:r>
            <a:r>
              <a:rPr lang="en-US" altLang="zh-CN" sz="2400" dirty="0"/>
              <a:t>-3</a:t>
            </a:r>
            <a:r>
              <a:rPr lang="zh-CN" altLang="en-US" sz="2400" dirty="0"/>
              <a:t>；</a:t>
            </a:r>
            <a:r>
              <a:rPr lang="en-US" altLang="zh-CN" sz="2400" dirty="0"/>
              <a:t>c=0</a:t>
            </a:r>
            <a:r>
              <a:rPr lang="zh-CN" altLang="en-US" sz="2400" dirty="0"/>
              <a:t>或</a:t>
            </a:r>
            <a:r>
              <a:rPr lang="en-US" altLang="zh-CN" sz="2400" dirty="0"/>
              <a:t>9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76285" y="5063490"/>
            <a:ext cx="326199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D.z=0</a:t>
            </a:r>
            <a:r>
              <a:rPr lang="zh-CN" altLang="en-US" sz="2400" dirty="0"/>
              <a:t>；</a:t>
            </a:r>
            <a:r>
              <a:rPr lang="en-US" altLang="zh-CN" sz="2400" dirty="0"/>
              <a:t>c=0</a:t>
            </a:r>
            <a:r>
              <a:rPr lang="zh-CN" altLang="en-US" sz="2400" dirty="0"/>
              <a:t>或</a:t>
            </a:r>
            <a:r>
              <a:rPr lang="en-US" altLang="zh-CN" sz="2400" dirty="0"/>
              <a:t>9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76285" y="2957830"/>
            <a:ext cx="326199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B.z=0</a:t>
            </a:r>
            <a:r>
              <a:rPr lang="zh-CN" altLang="en-US" sz="2400" dirty="0"/>
              <a:t>或</a:t>
            </a:r>
            <a:r>
              <a:rPr lang="en-US" altLang="zh-CN" sz="2400" dirty="0"/>
              <a:t>3</a:t>
            </a:r>
            <a:r>
              <a:rPr lang="zh-CN" altLang="en-US" sz="2400" dirty="0"/>
              <a:t>；</a:t>
            </a:r>
            <a:r>
              <a:rPr lang="en-US" altLang="zh-CN" sz="2400" dirty="0"/>
              <a:t>c=0</a:t>
            </a:r>
            <a:r>
              <a:rPr lang="zh-CN" altLang="en-US" sz="2400" dirty="0"/>
              <a:t>或</a:t>
            </a:r>
            <a:r>
              <a:rPr lang="en-US" altLang="zh-CN" sz="2400" dirty="0"/>
              <a:t>9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76285" y="4010660"/>
            <a:ext cx="326199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sz="2400" dirty="0"/>
              <a:t>C.z=0</a:t>
            </a:r>
            <a:r>
              <a:rPr lang="zh-CN" altLang="en-US" sz="2400" dirty="0"/>
              <a:t>或</a:t>
            </a:r>
            <a:r>
              <a:rPr lang="en-US" altLang="zh-CN" sz="2400" dirty="0"/>
              <a:t>3</a:t>
            </a:r>
            <a:r>
              <a:rPr lang="zh-CN" altLang="en-US" sz="2400" dirty="0"/>
              <a:t>；</a:t>
            </a:r>
            <a:r>
              <a:rPr lang="en-US" altLang="zh-CN" sz="2400" dirty="0"/>
              <a:t>c=9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endParaRPr lang="zh-CN" altLang="en-US" sz="2200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进程同步的概念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4411" y="140707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0" name="文本框 9"/>
          <p:cNvSpPr txBox="1"/>
          <p:nvPr/>
        </p:nvSpPr>
        <p:spPr>
          <a:xfrm>
            <a:off x="1357630" y="1310005"/>
            <a:ext cx="9876790" cy="3215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主要</a:t>
            </a:r>
            <a:r>
              <a:rPr lang="zh-CN" altLang="en-US" sz="2400" dirty="0" smtClean="0">
                <a:latin typeface="+mn-ea"/>
              </a:rPr>
              <a:t>任务</a:t>
            </a: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ea"/>
              </a:rPr>
              <a:t>在</a:t>
            </a:r>
            <a:r>
              <a:rPr lang="zh-CN" altLang="en-US" sz="2800" b="1" dirty="0">
                <a:latin typeface="+mn-ea"/>
              </a:rPr>
              <a:t>执行次序</a:t>
            </a:r>
            <a:r>
              <a:rPr lang="zh-CN" altLang="en-US" sz="2800" dirty="0">
                <a:latin typeface="+mn-ea"/>
              </a:rPr>
              <a:t>上对多个协作进程进行协调，使</a:t>
            </a:r>
            <a:r>
              <a:rPr lang="zh-CN" altLang="en-US" sz="2800" b="1" dirty="0">
                <a:latin typeface="+mn-ea"/>
              </a:rPr>
              <a:t>并发</a:t>
            </a:r>
            <a:r>
              <a:rPr lang="zh-CN" altLang="en-US" sz="2800" dirty="0">
                <a:latin typeface="+mn-ea"/>
              </a:rPr>
              <a:t>执行的进程之间能有效地共享资源和相互合作，从而使程序的执行具有</a:t>
            </a:r>
            <a:r>
              <a:rPr lang="zh-CN" altLang="en-US" sz="2800" b="1" dirty="0">
                <a:latin typeface="+mn-ea"/>
              </a:rPr>
              <a:t>可再现性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400" dirty="0" smtClean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进程同步的概念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361" y="117085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953135" y="1082040"/>
            <a:ext cx="5143500" cy="3569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进程间的制约关系</a:t>
            </a:r>
            <a:endParaRPr lang="zh-CN" altLang="en-US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间接相互制约关系</a:t>
            </a:r>
            <a:r>
              <a:rPr lang="en-US" altLang="zh-CN" sz="2200" dirty="0">
                <a:latin typeface="+mn-ea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+mn-ea"/>
              </a:rPr>
              <a:t>互斥</a:t>
            </a:r>
            <a:r>
              <a:rPr lang="zh-CN" altLang="en-US" sz="2200" dirty="0">
                <a:latin typeface="+mn-ea"/>
              </a:rPr>
              <a:t>关系</a:t>
            </a:r>
            <a:r>
              <a:rPr lang="en-US" altLang="zh-CN" sz="2200" dirty="0">
                <a:latin typeface="+mn-ea"/>
              </a:rPr>
              <a:t>)</a:t>
            </a:r>
            <a:endParaRPr lang="en-US" altLang="zh-CN" sz="22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</a:rPr>
              <a:t>来源</a:t>
            </a:r>
            <a:r>
              <a:rPr lang="zh-CN" altLang="en-US" sz="2200" dirty="0">
                <a:latin typeface="+mn-ea"/>
              </a:rPr>
              <a:t>于进程互斥使用临界资源</a:t>
            </a:r>
            <a:endParaRPr lang="zh-CN" altLang="en-US" sz="22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直接相互制约关系（</a:t>
            </a:r>
            <a:r>
              <a:rPr lang="zh-CN" altLang="en-US" sz="2200" dirty="0">
                <a:solidFill>
                  <a:srgbClr val="0000FF"/>
                </a:solidFill>
                <a:latin typeface="+mn-ea"/>
              </a:rPr>
              <a:t>同步</a:t>
            </a:r>
            <a:r>
              <a:rPr lang="zh-CN" altLang="en-US" sz="2200" dirty="0">
                <a:latin typeface="+mn-ea"/>
              </a:rPr>
              <a:t>关系）</a:t>
            </a:r>
            <a:endParaRPr lang="zh-CN" altLang="en-US" sz="22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</a:rPr>
              <a:t>来源于进程间相互合作</a:t>
            </a:r>
            <a:endParaRPr lang="zh-CN" altLang="en-US" sz="22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+mn-ea"/>
              </a:rPr>
              <a:t>主要考虑进程推进</a:t>
            </a:r>
            <a:r>
              <a:rPr lang="zh-CN" altLang="en-US" sz="2200" dirty="0">
                <a:latin typeface="+mn-ea"/>
              </a:rPr>
              <a:t>顺序</a:t>
            </a:r>
            <a:endParaRPr lang="zh-CN" altLang="en-US" sz="2200" dirty="0">
              <a:latin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271" y="128235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7004440" y="1349468"/>
            <a:ext cx="4638061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临界资源（独占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资源）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系统中某些资源一次只允许一个进程使用，称这样的资源为临界资源或互斥资源或</a:t>
            </a:r>
            <a:r>
              <a:rPr lang="zh-CN" altLang="en-US" sz="2200" dirty="0" smtClean="0">
                <a:latin typeface="+mn-ea"/>
              </a:rPr>
              <a:t>共享变量。</a:t>
            </a:r>
            <a:endParaRPr lang="zh-CN" altLang="en-US" sz="22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举例：</a:t>
            </a:r>
            <a:endParaRPr lang="zh-CN" altLang="en-US" sz="2200" dirty="0" smtClean="0">
              <a:latin typeface="+mn-ea"/>
            </a:endParaRPr>
          </a:p>
          <a:p>
            <a:pPr indent="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 dirty="0" smtClean="0">
                <a:latin typeface="+mn-ea"/>
              </a:rPr>
              <a:t>1</a:t>
            </a:r>
            <a:r>
              <a:rPr lang="zh-CN" altLang="en-US" sz="2200" dirty="0" smtClean="0">
                <a:latin typeface="+mn-ea"/>
              </a:rPr>
              <a:t>、打印机、磁带机、扫描仪等物理设备</a:t>
            </a:r>
            <a:endParaRPr lang="zh-CN" altLang="en-US" sz="2200" dirty="0">
              <a:latin typeface="+mn-ea"/>
            </a:endParaRPr>
          </a:p>
          <a:p>
            <a:pPr indent="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 dirty="0" smtClean="0">
                <a:latin typeface="+mn-ea"/>
              </a:rPr>
              <a:t>2</a:t>
            </a:r>
            <a:r>
              <a:rPr lang="zh-CN" altLang="en-US" sz="2200" dirty="0" smtClean="0">
                <a:latin typeface="+mn-ea"/>
              </a:rPr>
              <a:t>、消息队列、变量、数据、文件等软件</a:t>
            </a:r>
            <a:r>
              <a:rPr lang="zh-CN" altLang="en-US" sz="2200" dirty="0" smtClean="0">
                <a:latin typeface="+mn-ea"/>
              </a:rPr>
              <a:t>资源</a:t>
            </a:r>
            <a:endParaRPr lang="zh-CN" altLang="en-US" sz="2200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75" name="Object 7"/>
          <p:cNvGraphicFramePr>
            <a:graphicFrameLocks noChangeAspect="1"/>
          </p:cNvGraphicFramePr>
          <p:nvPr/>
        </p:nvGraphicFramePr>
        <p:xfrm>
          <a:off x="786765" y="3333115"/>
          <a:ext cx="10618470" cy="303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VISIO" r:id="rId1" imgW="4585970" imgH="1311910" progId="Visio.Drawing.6">
                  <p:embed/>
                </p:oleObj>
              </mc:Choice>
              <mc:Fallback>
                <p:oleObj name="VISIO" r:id="rId1" imgW="4585970" imgH="1311910" progId="Visio.Drawing.6">
                  <p:embed/>
                  <p:pic>
                    <p:nvPicPr>
                      <p:cNvPr id="0" name="图片 20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" y="3333115"/>
                        <a:ext cx="10618470" cy="3037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iṧļiḑé"/>
          <p:cNvSpPr/>
          <p:nvPr/>
        </p:nvSpPr>
        <p:spPr>
          <a:xfrm>
            <a:off x="177165" y="880745"/>
            <a:ext cx="9463405" cy="594360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0000"/>
          </a:bodyPr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buffer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用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数组来表示具有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个缓冲区的缓冲池，</a:t>
            </a:r>
            <a:r>
              <a:rPr lang="zh-CN" altLang="en-US" sz="22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属于临界资源，需互斥</a:t>
            </a:r>
            <a:r>
              <a:rPr lang="zh-CN" altLang="en-US" sz="22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访问</a:t>
            </a:r>
            <a:endParaRPr lang="zh-CN" altLang="en-US" sz="2200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ïṥľïḑé"/>
          <p:cNvSpPr/>
          <p:nvPr/>
        </p:nvSpPr>
        <p:spPr>
          <a:xfrm>
            <a:off x="530860" y="1033145"/>
            <a:ext cx="9402445" cy="4419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p>
            <a:pPr>
              <a:lnSpc>
                <a:spcPct val="120000"/>
              </a:lnSpc>
            </a:pP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ísļiḋè"/>
          <p:cNvSpPr/>
          <p:nvPr/>
        </p:nvSpPr>
        <p:spPr>
          <a:xfrm>
            <a:off x="177165" y="1755140"/>
            <a:ext cx="11698605" cy="774065"/>
          </a:xfrm>
          <a:prstGeom prst="rect">
            <a:avLst/>
          </a:prstGeom>
        </p:spPr>
        <p:txBody>
          <a:bodyPr wrap="square" lIns="91440" tIns="45720" rIns="91440" bIns="45720" anchor="ctr">
            <a:normAutofit lnSpcReduction="10000"/>
          </a:bodyPr>
          <a:p>
            <a:pPr algn="l">
              <a:lnSpc>
                <a:spcPct val="140000"/>
              </a:lnSpc>
            </a:pPr>
            <a:r>
              <a:rPr lang="zh-CN" altLang="en-US" sz="2200" b="1" dirty="0">
                <a:solidFill>
                  <a:srgbClr val="FF0000"/>
                </a:solidFill>
              </a:rPr>
              <a:t>输入指针</a:t>
            </a:r>
            <a:r>
              <a:rPr lang="en-US" altLang="zh-CN" sz="2200" b="1" dirty="0">
                <a:solidFill>
                  <a:srgbClr val="FF0000"/>
                </a:solidFill>
              </a:rPr>
              <a:t>in</a:t>
            </a:r>
            <a:r>
              <a:rPr lang="zh-CN" alt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2200" dirty="0">
                <a:solidFill>
                  <a:schemeClr val="tx1"/>
                </a:solidFill>
              </a:rPr>
              <a:t>每当生产者进程生产并投放一个产品后，输入指针加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32" name="iŝļíḍe"/>
          <p:cNvSpPr/>
          <p:nvPr/>
        </p:nvSpPr>
        <p:spPr>
          <a:xfrm>
            <a:off x="177165" y="2458085"/>
            <a:ext cx="11019790" cy="67437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FF0000"/>
                </a:solidFill>
              </a:rPr>
              <a:t>输出指针</a:t>
            </a:r>
            <a:r>
              <a:rPr lang="en-US" altLang="zh-CN" sz="2200" b="1" dirty="0">
                <a:solidFill>
                  <a:srgbClr val="FF0000"/>
                </a:solidFill>
              </a:rPr>
              <a:t>out</a:t>
            </a:r>
            <a:r>
              <a:rPr lang="zh-CN" alt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2200" dirty="0">
                <a:solidFill>
                  <a:schemeClr val="tx1"/>
                </a:solidFill>
              </a:rPr>
              <a:t>每当消费者进程取走一个产品后，输出指针加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165" y="1353820"/>
            <a:ext cx="6096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sym typeface="+mn-ea"/>
              </a:rPr>
              <a:t>count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：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初值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，表示缓冲区中的产品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个数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ísļiḋè"/>
          <p:cNvSpPr/>
          <p:nvPr/>
        </p:nvSpPr>
        <p:spPr>
          <a:xfrm>
            <a:off x="246380" y="1501140"/>
            <a:ext cx="11698605" cy="25120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输入指针</a:t>
            </a:r>
            <a:r>
              <a:rPr lang="en-US" altLang="zh-CN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in+1</a:t>
            </a:r>
            <a:r>
              <a:rPr lang="zh-CN" altLang="en-US" sz="27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2700" dirty="0">
                <a:solidFill>
                  <a:schemeClr val="tx1"/>
                </a:solidFill>
              </a:rPr>
              <a:t>in=</a:t>
            </a:r>
            <a:r>
              <a:rPr lang="zh-CN" altLang="en-US" sz="2700" dirty="0">
                <a:solidFill>
                  <a:schemeClr val="tx1"/>
                </a:solidFill>
              </a:rPr>
              <a:t>（</a:t>
            </a:r>
            <a:r>
              <a:rPr lang="en-US" altLang="zh-CN" sz="2700" dirty="0">
                <a:solidFill>
                  <a:schemeClr val="tx1"/>
                </a:solidFill>
              </a:rPr>
              <a:t>in+1</a:t>
            </a:r>
            <a:r>
              <a:rPr lang="zh-CN" altLang="en-US" sz="2700" dirty="0">
                <a:solidFill>
                  <a:schemeClr val="tx1"/>
                </a:solidFill>
              </a:rPr>
              <a:t>）</a:t>
            </a:r>
            <a:r>
              <a:rPr lang="en-US" altLang="zh-CN" sz="2700" dirty="0">
                <a:solidFill>
                  <a:schemeClr val="tx1"/>
                </a:solidFill>
              </a:rPr>
              <a:t>mod n</a:t>
            </a:r>
            <a:endParaRPr lang="en-US" altLang="zh-CN" sz="2700" dirty="0">
              <a:solidFill>
                <a:schemeClr val="tx1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输出指针</a:t>
            </a:r>
            <a:r>
              <a:rPr lang="en-US" altLang="zh-CN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out+1</a:t>
            </a:r>
            <a:r>
              <a:rPr lang="zh-CN" altLang="en-US" sz="2700" dirty="0">
                <a:solidFill>
                  <a:schemeClr val="tx1"/>
                </a:solidFill>
              </a:rPr>
              <a:t>：</a:t>
            </a:r>
            <a:r>
              <a:rPr lang="en-US" altLang="zh-CN" sz="2700" dirty="0">
                <a:solidFill>
                  <a:schemeClr val="tx1"/>
                </a:solidFill>
              </a:rPr>
              <a:t>out=</a:t>
            </a:r>
            <a:r>
              <a:rPr lang="zh-CN" altLang="en-US" sz="2700" dirty="0">
                <a:solidFill>
                  <a:schemeClr val="tx1"/>
                </a:solidFill>
              </a:rPr>
              <a:t>（</a:t>
            </a:r>
            <a:r>
              <a:rPr lang="en-US" altLang="zh-CN" sz="2700" dirty="0">
                <a:solidFill>
                  <a:schemeClr val="tx1"/>
                </a:solidFill>
              </a:rPr>
              <a:t>out+1</a:t>
            </a:r>
            <a:r>
              <a:rPr lang="zh-CN" altLang="en-US" sz="2700" dirty="0">
                <a:solidFill>
                  <a:schemeClr val="tx1"/>
                </a:solidFill>
              </a:rPr>
              <a:t>）</a:t>
            </a:r>
            <a:r>
              <a:rPr lang="en-US" altLang="zh-CN" sz="2700" dirty="0">
                <a:solidFill>
                  <a:schemeClr val="tx1"/>
                </a:solidFill>
              </a:rPr>
              <a:t>mod n</a:t>
            </a:r>
            <a:endParaRPr lang="en-US" altLang="zh-CN" sz="2700" dirty="0">
              <a:solidFill>
                <a:schemeClr val="tx1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缓冲区满：</a:t>
            </a:r>
            <a:r>
              <a:rPr lang="zh-CN" altLang="en-US" sz="2700" dirty="0">
                <a:solidFill>
                  <a:schemeClr val="tx1"/>
                </a:solidFill>
              </a:rPr>
              <a:t>（</a:t>
            </a:r>
            <a:r>
              <a:rPr lang="en-US" altLang="zh-CN" sz="2700" dirty="0">
                <a:solidFill>
                  <a:schemeClr val="tx1"/>
                </a:solidFill>
              </a:rPr>
              <a:t>in+1</a:t>
            </a:r>
            <a:r>
              <a:rPr lang="zh-CN" altLang="en-US" sz="2700" dirty="0">
                <a:solidFill>
                  <a:schemeClr val="tx1"/>
                </a:solidFill>
              </a:rPr>
              <a:t>）</a:t>
            </a:r>
            <a:r>
              <a:rPr lang="en-US" altLang="zh-CN" sz="2700" dirty="0">
                <a:solidFill>
                  <a:schemeClr val="tx1"/>
                </a:solidFill>
              </a:rPr>
              <a:t>mod n=</a:t>
            </a:r>
            <a:r>
              <a:rPr lang="en-US" altLang="zh-CN" sz="2700" dirty="0">
                <a:solidFill>
                  <a:schemeClr val="tx1"/>
                </a:solidFill>
              </a:rPr>
              <a:t>out</a:t>
            </a:r>
            <a:endParaRPr lang="en-US" altLang="zh-CN" sz="2700" dirty="0">
              <a:solidFill>
                <a:schemeClr val="tx1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27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缓冲区空：</a:t>
            </a:r>
            <a:r>
              <a:rPr lang="en-US" altLang="zh-CN" sz="2700" dirty="0">
                <a:solidFill>
                  <a:schemeClr val="tx1"/>
                </a:solidFill>
              </a:rPr>
              <a:t>in=</a:t>
            </a:r>
            <a:r>
              <a:rPr lang="en-US" altLang="zh-CN" sz="2700" dirty="0">
                <a:solidFill>
                  <a:schemeClr val="tx1"/>
                </a:solidFill>
              </a:rPr>
              <a:t>out</a:t>
            </a:r>
            <a:endParaRPr lang="en-US" altLang="zh-CN" sz="2700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825" y="1323975"/>
            <a:ext cx="3514725" cy="3168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消费者进程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89535" y="1062355"/>
            <a:ext cx="6322695" cy="53016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producer( 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while(1){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produce an item in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…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while (count == n) ;   // do nothing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	</a:t>
            </a:r>
            <a:r>
              <a:rPr lang="en-US" altLang="zh-CN" sz="2400" dirty="0" smtClean="0">
                <a:sym typeface="+mn-ea"/>
              </a:rPr>
              <a:t>// add an item to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buffer[in] =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in = (in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count++;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}</a:t>
            </a:r>
            <a:endParaRPr lang="en-US" altLang="zh-CN" sz="2400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984875" y="1062355"/>
            <a:ext cx="6023610" cy="53009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consumer()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while(1){ 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 while (count == 0) ; // do nothing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 // remove an item from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 = buffer[out];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out = (out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 --;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	consumer the item in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…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}</a:t>
            </a:r>
            <a:endParaRPr lang="en-US" altLang="zh-CN" sz="24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count++</a:t>
            </a:r>
            <a:r>
              <a:rPr lang="zh-CN" altLang="en-US" sz="2800" b="1" dirty="0">
                <a:solidFill>
                  <a:schemeClr val="bg1"/>
                </a:solidFill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</a:rPr>
              <a:t>count--</a:t>
            </a:r>
            <a:r>
              <a:rPr lang="zh-CN" altLang="en-US" sz="2800" b="1" dirty="0">
                <a:solidFill>
                  <a:schemeClr val="bg1"/>
                </a:solidFill>
              </a:rPr>
              <a:t>的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机器语言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>
          <a:xfrm>
            <a:off x="669925" y="1319727"/>
            <a:ext cx="3943350" cy="411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467995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600" dirty="0" smtClean="0"/>
              <a:t>count</a:t>
            </a:r>
            <a:r>
              <a:rPr lang="zh-CN" altLang="en-US" sz="2600" dirty="0" smtClean="0"/>
              <a:t>++</a:t>
            </a:r>
            <a:r>
              <a:rPr lang="en-US" altLang="zh-CN" sz="2600" dirty="0" smtClean="0"/>
              <a:t>: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R1=count; 	1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R1=R1+1; 	2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count=R1; 	3</a:t>
            </a:r>
            <a:endParaRPr lang="en-US" altLang="zh-CN" sz="2600" dirty="0" smtClean="0"/>
          </a:p>
          <a:p>
            <a:pPr marL="360045" indent="-467995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600" dirty="0" smtClean="0"/>
              <a:t>count--: 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R2=count;       4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R2=R2-1;        5</a:t>
            </a:r>
            <a:endParaRPr lang="en-US" altLang="zh-CN" sz="2600" dirty="0" smtClean="0"/>
          </a:p>
          <a:p>
            <a:pPr lvl="1">
              <a:lnSpc>
                <a:spcPct val="132000"/>
              </a:lnSpc>
            </a:pPr>
            <a:r>
              <a:rPr lang="en-US" altLang="zh-CN" sz="2600" dirty="0" smtClean="0"/>
              <a:t>count=R2;       6</a:t>
            </a:r>
            <a:endParaRPr lang="en-US" altLang="zh-CN" sz="2600" dirty="0" smtClean="0"/>
          </a:p>
        </p:txBody>
      </p:sp>
      <p:sp>
        <p:nvSpPr>
          <p:cNvPr id="7" name="Text Box 1028"/>
          <p:cNvSpPr txBox="1">
            <a:spLocks noChangeArrowheads="1"/>
          </p:cNvSpPr>
          <p:nvPr/>
        </p:nvSpPr>
        <p:spPr bwMode="auto">
          <a:xfrm>
            <a:off x="4691603" y="1319727"/>
            <a:ext cx="7298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latin typeface="+mn-lt"/>
                <a:ea typeface="+mn-ea"/>
              </a:rPr>
              <a:t>Count</a:t>
            </a:r>
            <a:r>
              <a:rPr lang="zh-CN" altLang="en-US" sz="2400" dirty="0">
                <a:latin typeface="+mn-ea"/>
                <a:ea typeface="+mn-ea"/>
              </a:rPr>
              <a:t>初值为</a:t>
            </a:r>
            <a:r>
              <a:rPr lang="en-US" altLang="zh-CN" sz="2400" dirty="0">
                <a:latin typeface="+mn-lt"/>
                <a:ea typeface="+mn-ea"/>
              </a:rPr>
              <a:t>4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  <a:r>
              <a:rPr lang="zh-CN" altLang="en-US" sz="2400" dirty="0">
                <a:latin typeface="+mn-ea"/>
                <a:ea typeface="+mn-ea"/>
              </a:rPr>
              <a:t>并发执行</a:t>
            </a:r>
            <a:r>
              <a:rPr lang="en-US" altLang="zh-CN" sz="2400" dirty="0">
                <a:latin typeface="+mn-lt"/>
                <a:ea typeface="+mn-ea"/>
              </a:rPr>
              <a:t>produce()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lt"/>
                <a:ea typeface="+mn-ea"/>
              </a:rPr>
              <a:t>consume()</a:t>
            </a:r>
            <a:r>
              <a:rPr lang="zh-CN" altLang="en-US" sz="2400" dirty="0">
                <a:latin typeface="+mn-ea"/>
                <a:ea typeface="+mn-ea"/>
              </a:rPr>
              <a:t>进程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8" name="Group 1056"/>
          <p:cNvGraphicFramePr/>
          <p:nvPr>
            <p:custDataLst>
              <p:tags r:id="rId1"/>
            </p:custDataLst>
          </p:nvPr>
        </p:nvGraphicFramePr>
        <p:xfrm>
          <a:off x="4832313" y="1945979"/>
          <a:ext cx="6720036" cy="23562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0012"/>
                <a:gridCol w="2240012"/>
                <a:gridCol w="2240012"/>
              </a:tblGrid>
              <a:tr h="526073"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执行次序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结果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是否正确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</a:tr>
              <a:tr h="511093"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123456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是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</a:tr>
              <a:tr h="511093"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142536</a:t>
                      </a:r>
                      <a:endParaRPr kumimoji="0" lang="en-US" altLang="zh-CN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 </a:t>
                      </a:r>
                      <a:endParaRPr kumimoji="0" lang="en-US" altLang="zh-CN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否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</a:tr>
              <a:tr h="511093"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142563</a:t>
                      </a:r>
                      <a:endParaRPr kumimoji="0" lang="en-US" altLang="zh-CN" sz="3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en-US" altLang="zh-CN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CN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50000"/>
                        </a:spcBef>
                        <a:buSzPct val="140000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85000"/>
                        <a:buFont typeface="Monotype Sorts" pitchFamily="2" charset="2"/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Pct val="140000"/>
                        <a:buFontTx/>
                        <a:buNone/>
                      </a:pPr>
                      <a:r>
                        <a:rPr kumimoji="0" lang="zh-CN" altLang="en-US" sz="3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否</a:t>
                      </a:r>
                      <a:endParaRPr kumimoji="0" lang="zh-CN" altLang="en-US" sz="3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6635" marR="116635" marT="58317" marB="58317" horzOverflow="overflow"/>
                </a:tc>
              </a:tr>
            </a:tbl>
          </a:graphicData>
        </a:graphic>
      </p:graphicFrame>
      <p:sp>
        <p:nvSpPr>
          <p:cNvPr id="9" name="文本框 1"/>
          <p:cNvSpPr txBox="1">
            <a:spLocks noChangeArrowheads="1"/>
          </p:cNvSpPr>
          <p:nvPr/>
        </p:nvSpPr>
        <p:spPr bwMode="auto">
          <a:xfrm>
            <a:off x="4697425" y="4563549"/>
            <a:ext cx="6989812" cy="1633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解决方法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zh-CN" altLang="en-US" sz="2400" dirty="0">
                <a:latin typeface="+mn-ea"/>
                <a:ea typeface="+mn-ea"/>
              </a:rPr>
              <a:t>下列语句必须被原子性地执行</a:t>
            </a:r>
            <a:br>
              <a:rPr lang="en-US" altLang="zh-CN" sz="2400" dirty="0">
                <a:latin typeface="+mn-ea"/>
                <a:ea typeface="+mn-ea"/>
              </a:rPr>
            </a:br>
            <a:r>
              <a:rPr lang="en-US" altLang="zh-CN" sz="2600" dirty="0">
                <a:latin typeface="+mn-lt"/>
                <a:ea typeface="+mn-ea"/>
              </a:rPr>
              <a:t>count++;</a:t>
            </a:r>
            <a:br>
              <a:rPr lang="en-US" altLang="zh-CN" sz="2600" dirty="0">
                <a:latin typeface="+mn-lt"/>
                <a:ea typeface="+mn-ea"/>
              </a:rPr>
            </a:br>
            <a:r>
              <a:rPr lang="en-US" altLang="zh-CN" sz="2600" dirty="0">
                <a:latin typeface="+mn-lt"/>
                <a:ea typeface="+mn-ea"/>
              </a:rPr>
              <a:t>count--;</a:t>
            </a:r>
            <a:endParaRPr lang="en-US" altLang="zh-CN" sz="2600" dirty="0">
              <a:latin typeface="+mn-lt"/>
              <a:ea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324730" y="1448890"/>
            <a:ext cx="0" cy="469470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临界区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9925" y="1021715"/>
            <a:ext cx="1016889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临界区</a:t>
            </a: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critical section)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：进程中涉及临界资源的代码段</a:t>
            </a:r>
            <a:endParaRPr lang="zh-CN" altLang="en-US" sz="2200" dirty="0">
              <a:solidFill>
                <a:srgbClr val="FF0000"/>
              </a:solidFill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进入区</a:t>
            </a:r>
            <a:r>
              <a:rPr lang="en-US" altLang="zh-CN" sz="2200" dirty="0">
                <a:latin typeface="+mn-ea"/>
              </a:rPr>
              <a:t>(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entry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 section</a:t>
            </a:r>
            <a:r>
              <a:rPr lang="en-US" altLang="zh-CN" sz="2200" dirty="0">
                <a:latin typeface="+mn-ea"/>
              </a:rPr>
              <a:t>)</a:t>
            </a:r>
            <a:r>
              <a:rPr lang="zh-CN" altLang="en-US" sz="2200" dirty="0">
                <a:latin typeface="+mn-ea"/>
              </a:rPr>
              <a:t>：用于检查是否可以进入临界区的代码段。如果空闲，设正</a:t>
            </a:r>
            <a:r>
              <a:rPr lang="zh-CN" altLang="en-US" sz="2200" dirty="0">
                <a:latin typeface="+mn-ea"/>
              </a:rPr>
              <a:t>被访问</a:t>
            </a:r>
            <a:r>
              <a:rPr lang="zh-CN" altLang="en-US" sz="2200" dirty="0">
                <a:latin typeface="+mn-ea"/>
              </a:rPr>
              <a:t>标志</a:t>
            </a:r>
            <a:endParaRPr lang="zh-CN" altLang="en-US" sz="2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退出区</a:t>
            </a:r>
            <a:r>
              <a:rPr lang="en-US" altLang="zh-CN" sz="2200" dirty="0">
                <a:latin typeface="+mn-ea"/>
              </a:rPr>
              <a:t>(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exit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 section</a:t>
            </a:r>
            <a:r>
              <a:rPr lang="en-US" altLang="zh-CN" sz="2200" dirty="0">
                <a:latin typeface="+mn-ea"/>
              </a:rPr>
              <a:t>)</a:t>
            </a:r>
            <a:r>
              <a:rPr lang="zh-CN" altLang="en-US" sz="2200" dirty="0">
                <a:latin typeface="+mn-ea"/>
              </a:rPr>
              <a:t>：将临界区正被访问的标志恢复为未被访问标志。</a:t>
            </a:r>
            <a:endParaRPr lang="zh-CN" altLang="en-US" sz="2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剩余区</a:t>
            </a:r>
            <a:r>
              <a:rPr lang="en-US" altLang="zh-CN" sz="2200" dirty="0">
                <a:latin typeface="+mn-ea"/>
              </a:rPr>
              <a:t>(</a:t>
            </a:r>
            <a:r>
              <a:rPr lang="en-US" altLang="zh-CN" sz="220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  <a:sym typeface="+mn-ea"/>
              </a:rPr>
              <a:t>remainder section</a:t>
            </a:r>
            <a:r>
              <a:rPr lang="en-US" altLang="zh-CN" sz="2200" dirty="0">
                <a:latin typeface="+mn-ea"/>
              </a:rPr>
              <a:t>)</a:t>
            </a:r>
            <a:r>
              <a:rPr lang="zh-CN" altLang="en-US" sz="2200" dirty="0">
                <a:latin typeface="+mn-ea"/>
              </a:rPr>
              <a:t>：其他代码</a:t>
            </a:r>
            <a:endParaRPr lang="zh-CN" altLang="en-US" sz="2200" dirty="0">
              <a:latin typeface="+mn-ea"/>
            </a:endParaRPr>
          </a:p>
        </p:txBody>
      </p:sp>
      <p:sp>
        <p:nvSpPr>
          <p:cNvPr id="11" name="Rectangle 1026"/>
          <p:cNvSpPr txBox="1">
            <a:spLocks noChangeArrowheads="1"/>
          </p:cNvSpPr>
          <p:nvPr/>
        </p:nvSpPr>
        <p:spPr bwMode="auto">
          <a:xfrm>
            <a:off x="511734" y="3667863"/>
            <a:ext cx="5618610" cy="2963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一个访问临界资源的循环进程的描述</a:t>
            </a:r>
            <a:endParaRPr lang="zh-CN" altLang="en-US" sz="24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While(TRUE</a:t>
            </a:r>
            <a:r>
              <a:rPr lang="en-US" altLang="zh-CN" dirty="0" smtClean="0"/>
              <a:t>){</a:t>
            </a:r>
            <a:endParaRPr lang="en-US" altLang="zh-CN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进入区：申请临界资源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临界区：使用临界资源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</a:t>
            </a:r>
            <a:r>
              <a:rPr lang="zh-CN" altLang="en-US" sz="2400" dirty="0" smtClean="0">
                <a:solidFill>
                  <a:schemeClr val="tx1"/>
                </a:solidFill>
              </a:rPr>
              <a:t>退出</a:t>
            </a:r>
            <a:r>
              <a:rPr lang="zh-CN" altLang="en-US" sz="2400" dirty="0">
                <a:solidFill>
                  <a:schemeClr val="tx1"/>
                </a:solidFill>
              </a:rPr>
              <a:t>区：释放临界资源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</a:t>
            </a:r>
            <a:r>
              <a:rPr lang="zh-CN" altLang="en-US" sz="2400" dirty="0" smtClean="0"/>
              <a:t>剩余</a:t>
            </a:r>
            <a:r>
              <a:rPr lang="zh-CN" altLang="en-US" sz="2400" dirty="0"/>
              <a:t>区</a:t>
            </a:r>
            <a:endParaRPr lang="en-US" altLang="zh-CN" sz="24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741832" y="3590590"/>
            <a:ext cx="103930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323528" y="3667863"/>
            <a:ext cx="0" cy="2525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191612" y="3139879"/>
            <a:ext cx="4944168" cy="32818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2000" dirty="0" smtClean="0"/>
              <a:t>item </a:t>
            </a:r>
            <a:r>
              <a:rPr lang="en-US" altLang="zh-CN" sz="2000" dirty="0" err="1" smtClean="0"/>
              <a:t>nextConsumed</a:t>
            </a:r>
            <a:r>
              <a:rPr lang="en-US" altLang="zh-CN" sz="2000" dirty="0" smtClean="0"/>
              <a:t>;</a:t>
            </a:r>
            <a:br>
              <a:rPr lang="en-US" altLang="zh-CN" sz="2000" dirty="0" smtClean="0"/>
            </a:br>
            <a:r>
              <a:rPr lang="en-US" altLang="zh-CN" sz="2000" dirty="0" smtClean="0"/>
              <a:t>while (1) {</a:t>
            </a:r>
            <a:endParaRPr lang="en-US" altLang="zh-CN" sz="2000" dirty="0" smtClean="0"/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2000" dirty="0" smtClean="0"/>
              <a:t>	while (count == 0)</a:t>
            </a:r>
            <a:endParaRPr lang="en-US" altLang="zh-CN" sz="2000" dirty="0" smtClean="0"/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2000" dirty="0" smtClean="0"/>
              <a:t>			; /* do nothing */</a:t>
            </a:r>
            <a:endParaRPr lang="en-US" altLang="zh-CN" sz="2000" dirty="0" smtClean="0"/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nextC</a:t>
            </a:r>
            <a:r>
              <a:rPr lang="en-US" altLang="zh-CN" sz="2000" dirty="0" smtClean="0"/>
              <a:t> = buffer[out];</a:t>
            </a:r>
            <a:endParaRPr lang="en-US" altLang="zh-CN" sz="2000" dirty="0" smtClean="0"/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2000" dirty="0" smtClean="0"/>
              <a:t>	out = (out + 1) </a:t>
            </a:r>
            <a:r>
              <a:rPr lang="en-US" altLang="zh-CN" sz="2000" dirty="0" smtClean="0"/>
              <a:t>mod </a:t>
            </a:r>
            <a:r>
              <a:rPr lang="en-US" altLang="zh-CN" sz="2000" dirty="0" smtClean="0"/>
              <a:t>n;</a:t>
            </a:r>
            <a:endParaRPr lang="en-US" altLang="zh-CN" sz="2000" dirty="0" smtClean="0"/>
          </a:p>
          <a:p>
            <a:pPr>
              <a:lnSpc>
                <a:spcPct val="132000"/>
              </a:lnSpc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count--;</a:t>
            </a:r>
            <a:endParaRPr lang="en-US" altLang="zh-CN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endParaRPr lang="en-US" altLang="zh-CN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r>
              <a:rPr lang="en-US" altLang="zh-CN" sz="1600" dirty="0" smtClean="0"/>
              <a:t>	}</a:t>
            </a:r>
            <a:endParaRPr lang="en-US" altLang="zh-CN" sz="1600" dirty="0" smtClean="0"/>
          </a:p>
          <a:p>
            <a:pPr>
              <a:lnSpc>
                <a:spcPct val="132000"/>
              </a:lnSpc>
              <a:buFont typeface="Monotype Sorts" pitchFamily="2" charset="2"/>
              <a:buNone/>
              <a:defRPr/>
            </a:pPr>
            <a:endParaRPr lang="zh-CN" altLang="en-US" sz="2000" dirty="0" smtClean="0"/>
          </a:p>
          <a:p>
            <a:pPr>
              <a:lnSpc>
                <a:spcPct val="132000"/>
              </a:lnSpc>
              <a:defRPr/>
            </a:pP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7" name="圆角矩形标注 4"/>
          <p:cNvSpPr>
            <a:spLocks noChangeArrowheads="1"/>
          </p:cNvSpPr>
          <p:nvPr/>
        </p:nvSpPr>
        <p:spPr bwMode="auto">
          <a:xfrm>
            <a:off x="5436962" y="5386388"/>
            <a:ext cx="1196975" cy="400050"/>
          </a:xfrm>
          <a:prstGeom prst="wedgeRoundRectCallout">
            <a:avLst>
              <a:gd name="adj1" fmla="val 94986"/>
              <a:gd name="adj2" fmla="val 6428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beve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临界资源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3205" y="1360170"/>
            <a:ext cx="11696700" cy="431736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2800"/>
              <a:t>一个正在访问临界资源的进程突然被操作系统阻塞，那么它</a:t>
            </a:r>
            <a:r>
              <a:rPr lang="en-US" altLang="zh-CN" sz="2800"/>
              <a:t>()</a:t>
            </a:r>
            <a:r>
              <a:rPr lang="zh-CN" altLang="en-US" sz="2800"/>
              <a:t>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zh-CN" altLang="en-US" sz="2800"/>
              <a:t> </a:t>
            </a:r>
            <a:r>
              <a:rPr lang="en-US" altLang="zh-CN" sz="2800"/>
              <a:t>A </a:t>
            </a:r>
            <a:r>
              <a:rPr lang="zh-CN" altLang="en-US" sz="2800"/>
              <a:t>．允许其他进程抢占处理器，且允许其他进程进入该进程的临界区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zh-CN" altLang="en-US" sz="2800"/>
              <a:t> </a:t>
            </a:r>
            <a:r>
              <a:rPr lang="en-US" altLang="zh-CN" sz="2800"/>
              <a:t>B </a:t>
            </a:r>
            <a:r>
              <a:rPr lang="zh-CN" altLang="en-US" sz="2800"/>
              <a:t>．允许其他进程抢占处理器，但不允许其他进程进入该进程的临界区 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C </a:t>
            </a:r>
            <a:r>
              <a:rPr lang="zh-CN" altLang="en-US" sz="2800"/>
              <a:t>．不允许其他进程抢占处理器，但允许其他进程进入该进程的临界区 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D </a:t>
            </a:r>
            <a:r>
              <a:rPr lang="zh-CN" altLang="en-US" sz="2800"/>
              <a:t>．不允许其他进程抢占处理器，且不允许其他进程进入该进程的临界区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795145"/>
            <a:ext cx="1132522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1414145"/>
            <a:ext cx="1205865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同步机制应遵循的准则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8257" y="1439655"/>
            <a:ext cx="11026836" cy="4417899"/>
            <a:chOff x="673099" y="1194957"/>
            <a:chExt cx="11026836" cy="4417899"/>
          </a:xfrm>
        </p:grpSpPr>
        <p:sp>
          <p:nvSpPr>
            <p:cNvPr id="14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2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911290" y="1194957"/>
              <a:ext cx="22299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>
                  <a:solidFill>
                    <a:srgbClr val="FF0000"/>
                  </a:solidFill>
                </a:rPr>
                <a:t>空闲让进</a:t>
              </a:r>
              <a:endParaRPr lang="en-US" altLang="zh-CN" sz="2200" b="1" dirty="0"/>
            </a:p>
          </p:txBody>
        </p:sp>
        <p:sp>
          <p:nvSpPr>
            <p:cNvPr id="24" name="isľîdê"/>
            <p:cNvSpPr txBox="1"/>
            <p:nvPr>
              <p:custDataLst>
                <p:tags r:id="rId8"/>
              </p:custDataLst>
            </p:nvPr>
          </p:nvSpPr>
          <p:spPr>
            <a:xfrm>
              <a:off x="673099" y="4123968"/>
              <a:ext cx="2598408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 algn="ctr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当无进程处于临界区，应允许一个请求进入临界区的进程立即进入自己的临界区；</a:t>
              </a:r>
              <a:endParaRPr lang="zh-CN" altLang="en-US" sz="2200" dirty="0"/>
            </a:p>
          </p:txBody>
        </p:sp>
        <p:sp>
          <p:nvSpPr>
            <p:cNvPr id="25" name="íṩ1ïḑe"/>
            <p:cNvSpPr txBox="1"/>
            <p:nvPr>
              <p:custDataLst>
                <p:tags r:id="rId9"/>
              </p:custDataLst>
            </p:nvPr>
          </p:nvSpPr>
          <p:spPr>
            <a:xfrm>
              <a:off x="3955444" y="1194957"/>
              <a:ext cx="174626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忙则等待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ïsḻiďê"/>
            <p:cNvSpPr txBox="1"/>
            <p:nvPr>
              <p:custDataLst>
                <p:tags r:id="rId10"/>
              </p:custDataLst>
            </p:nvPr>
          </p:nvSpPr>
          <p:spPr>
            <a:xfrm>
              <a:off x="6299501" y="1196059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有限等待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isḷiḋé"/>
            <p:cNvSpPr txBox="1"/>
            <p:nvPr>
              <p:custDataLst>
                <p:tags r:id="rId11"/>
              </p:custDataLst>
            </p:nvPr>
          </p:nvSpPr>
          <p:spPr>
            <a:xfrm>
              <a:off x="8612913" y="1194957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让权等待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îṣḻidé"/>
            <p:cNvSpPr txBox="1"/>
            <p:nvPr>
              <p:custDataLst>
                <p:tags r:id="rId12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9" name="ïŝ1ïḋè"/>
            <p:cNvSpPr txBox="1"/>
            <p:nvPr>
              <p:custDataLst>
                <p:tags r:id="rId13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0" name="í$lîdé"/>
            <p:cNvSpPr txBox="1"/>
            <p:nvPr>
              <p:custDataLst>
                <p:tags r:id="rId14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1" name="išḻïďè"/>
            <p:cNvSpPr txBox="1"/>
            <p:nvPr>
              <p:custDataLst>
                <p:tags r:id="rId15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2" name="isľîdê"/>
            <p:cNvSpPr txBox="1"/>
            <p:nvPr>
              <p:custDataLst>
                <p:tags r:id="rId16"/>
              </p:custDataLst>
            </p:nvPr>
          </p:nvSpPr>
          <p:spPr>
            <a:xfrm>
              <a:off x="3458154" y="4151140"/>
              <a:ext cx="2610970" cy="9231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已有进程处于其临界区，其它试图进入临界区的进程必须等待；</a:t>
              </a:r>
              <a:endParaRPr lang="zh-CN" altLang="en-US" sz="2200" dirty="0"/>
            </a:p>
          </p:txBody>
        </p:sp>
        <p:sp>
          <p:nvSpPr>
            <p:cNvPr id="33" name="isľîdê"/>
            <p:cNvSpPr txBox="1"/>
            <p:nvPr>
              <p:custDataLst>
                <p:tags r:id="rId17"/>
              </p:custDataLst>
            </p:nvPr>
          </p:nvSpPr>
          <p:spPr>
            <a:xfrm>
              <a:off x="6299199" y="4150882"/>
              <a:ext cx="2584450" cy="1461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等待进入临界区的进程不能</a:t>
              </a:r>
              <a:r>
                <a:rPr lang="en-US" altLang="zh-CN" sz="2200" dirty="0"/>
                <a:t>"</a:t>
              </a:r>
              <a:r>
                <a:rPr lang="zh-CN" altLang="en-US" sz="2200" dirty="0"/>
                <a:t>死等</a:t>
              </a:r>
              <a:r>
                <a:rPr lang="en-US" altLang="zh-CN" sz="2200" dirty="0"/>
                <a:t>",</a:t>
              </a:r>
              <a:r>
                <a:rPr lang="zh-CN" altLang="en-US" sz="2200" dirty="0"/>
                <a:t>如设置超时</a:t>
              </a:r>
              <a:r>
                <a:rPr lang="zh-CN" altLang="en-US" sz="2200" dirty="0"/>
                <a:t>时间；</a:t>
              </a:r>
              <a:endParaRPr lang="zh-CN" altLang="en-US" sz="2200" dirty="0"/>
            </a:p>
          </p:txBody>
        </p:sp>
        <p:sp>
          <p:nvSpPr>
            <p:cNvPr id="34" name="isľîdê"/>
            <p:cNvSpPr txBox="1"/>
            <p:nvPr>
              <p:custDataLst>
                <p:tags r:id="rId18"/>
              </p:custDataLst>
            </p:nvPr>
          </p:nvSpPr>
          <p:spPr>
            <a:xfrm>
              <a:off x="8978306" y="4151140"/>
              <a:ext cx="256578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不能进入临界区的进程，应释放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（如转换到阻塞状态）</a:t>
              </a:r>
              <a:endParaRPr lang="zh-CN" altLang="en-US" sz="22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进程同步机制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8257" y="1439655"/>
            <a:ext cx="11026836" cy="4417899"/>
            <a:chOff x="673099" y="1194957"/>
            <a:chExt cx="11026836" cy="4417899"/>
          </a:xfrm>
        </p:grpSpPr>
        <p:sp>
          <p:nvSpPr>
            <p:cNvPr id="14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2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911290" y="1194957"/>
              <a:ext cx="22299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软件同步机制</a:t>
              </a:r>
              <a:endParaRPr lang="zh-CN" altLang="en-US" sz="2200" b="1" dirty="0"/>
            </a:p>
          </p:txBody>
        </p:sp>
        <p:sp>
          <p:nvSpPr>
            <p:cNvPr id="24" name="isľîdê"/>
            <p:cNvSpPr txBox="1"/>
            <p:nvPr>
              <p:custDataLst>
                <p:tags r:id="rId8"/>
              </p:custDataLst>
            </p:nvPr>
          </p:nvSpPr>
          <p:spPr>
            <a:xfrm>
              <a:off x="673099" y="4123968"/>
              <a:ext cx="2598408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使用编程方法解决临界区问题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有难度、具有局限性，现在很少采用</a:t>
              </a:r>
              <a:endParaRPr lang="zh-CN" altLang="en-US" sz="2200" dirty="0"/>
            </a:p>
          </p:txBody>
        </p:sp>
        <p:sp>
          <p:nvSpPr>
            <p:cNvPr id="25" name="íṩ1ïḑe"/>
            <p:cNvSpPr txBox="1"/>
            <p:nvPr>
              <p:custDataLst>
                <p:tags r:id="rId9"/>
              </p:custDataLst>
            </p:nvPr>
          </p:nvSpPr>
          <p:spPr>
            <a:xfrm>
              <a:off x="3657518" y="1194957"/>
              <a:ext cx="21136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/>
                <a:t>硬件同步机制</a:t>
              </a:r>
              <a:endParaRPr lang="zh-CN" altLang="en-US" sz="2400" b="1" dirty="0"/>
            </a:p>
          </p:txBody>
        </p:sp>
        <p:sp>
          <p:nvSpPr>
            <p:cNvPr id="26" name="ïsḻiďê"/>
            <p:cNvSpPr txBox="1"/>
            <p:nvPr>
              <p:custDataLst>
                <p:tags r:id="rId10"/>
              </p:custDataLst>
            </p:nvPr>
          </p:nvSpPr>
          <p:spPr>
            <a:xfrm>
              <a:off x="6299501" y="1196059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信号量机制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isḷiḋé"/>
            <p:cNvSpPr txBox="1"/>
            <p:nvPr>
              <p:custDataLst>
                <p:tags r:id="rId11"/>
              </p:custDataLst>
            </p:nvPr>
          </p:nvSpPr>
          <p:spPr>
            <a:xfrm>
              <a:off x="8929487" y="1194957"/>
              <a:ext cx="2770448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管程机制</a:t>
              </a:r>
              <a:endParaRPr lang="zh-CN" altLang="en-US" sz="2400" b="1" dirty="0"/>
            </a:p>
          </p:txBody>
        </p:sp>
        <p:sp>
          <p:nvSpPr>
            <p:cNvPr id="28" name="îṣḻidé"/>
            <p:cNvSpPr txBox="1"/>
            <p:nvPr>
              <p:custDataLst>
                <p:tags r:id="rId12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9" name="ïŝ1ïḋè"/>
            <p:cNvSpPr txBox="1"/>
            <p:nvPr>
              <p:custDataLst>
                <p:tags r:id="rId13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0" name="í$lîdé"/>
            <p:cNvSpPr txBox="1"/>
            <p:nvPr>
              <p:custDataLst>
                <p:tags r:id="rId14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1" name="išḻïďè"/>
            <p:cNvSpPr txBox="1"/>
            <p:nvPr>
              <p:custDataLst>
                <p:tags r:id="rId15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2" name="isľîdê"/>
            <p:cNvSpPr txBox="1"/>
            <p:nvPr>
              <p:custDataLst>
                <p:tags r:id="rId16"/>
              </p:custDataLst>
            </p:nvPr>
          </p:nvSpPr>
          <p:spPr>
            <a:xfrm>
              <a:off x="3458154" y="4151140"/>
              <a:ext cx="2610970" cy="9231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使用特殊的硬件指令，可有效实现进程互斥</a:t>
              </a:r>
              <a:endParaRPr lang="zh-CN" altLang="en-US" sz="2200" dirty="0"/>
            </a:p>
          </p:txBody>
        </p:sp>
        <p:sp>
          <p:nvSpPr>
            <p:cNvPr id="33" name="isľîdê"/>
            <p:cNvSpPr txBox="1"/>
            <p:nvPr>
              <p:custDataLst>
                <p:tags r:id="rId17"/>
              </p:custDataLst>
            </p:nvPr>
          </p:nvSpPr>
          <p:spPr>
            <a:xfrm>
              <a:off x="6299501" y="4151140"/>
              <a:ext cx="2448428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一种有效的进程同步机制，已被广泛应用</a:t>
              </a:r>
              <a:endParaRPr lang="zh-CN" altLang="en-US" sz="2200" dirty="0"/>
            </a:p>
          </p:txBody>
        </p:sp>
        <p:sp>
          <p:nvSpPr>
            <p:cNvPr id="34" name="isľîdê"/>
            <p:cNvSpPr txBox="1"/>
            <p:nvPr>
              <p:custDataLst>
                <p:tags r:id="rId18"/>
              </p:custDataLst>
            </p:nvPr>
          </p:nvSpPr>
          <p:spPr>
            <a:xfrm>
              <a:off x="8978306" y="4151140"/>
              <a:ext cx="256578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新的进程同步机制</a:t>
              </a:r>
              <a:endParaRPr lang="zh-CN" altLang="en-US" sz="22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4.2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软件同步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机制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>
                <a:latin typeface="+mj-ea"/>
              </a:rPr>
              <a:t>硬件同步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800" b="1" dirty="0">
                <a:solidFill>
                  <a:schemeClr val="bg1"/>
                </a:solidFill>
              </a:rPr>
              <a:t>前期工作</a:t>
            </a:r>
            <a:r>
              <a:rPr lang="zh-CN" altLang="en-US" sz="2800" b="1" dirty="0">
                <a:solidFill>
                  <a:schemeClr val="bg1"/>
                </a:solidFill>
              </a:rPr>
              <a:t>解决方案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465195" y="1339403"/>
            <a:ext cx="0" cy="359320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55700" y="956310"/>
            <a:ext cx="5080000" cy="342900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Pi</a:t>
            </a:r>
            <a:r>
              <a:rPr lang="zh-CN" altLang="en-US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进程</a:t>
            </a:r>
            <a:endParaRPr lang="zh-CN" altLang="en-US" sz="2800" b="0" i="0">
              <a:solidFill>
                <a:srgbClr val="FF0000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/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flag[i] = True;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while</a:t>
            </a: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(flag[j]);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critical section;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flag[i] = False;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remainder section;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3525" y="956310"/>
            <a:ext cx="5080000" cy="342836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Pj</a:t>
            </a:r>
            <a:r>
              <a:rPr lang="zh-CN" altLang="en-US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进程</a:t>
            </a:r>
            <a:endParaRPr lang="zh-CN" altLang="en-US" sz="2800" b="0" i="0">
              <a:solidFill>
                <a:srgbClr val="FF0000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/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flag[j] = True;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while</a:t>
            </a: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(flag[i]);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critical section;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flag[j] = False;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remainder section;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9925" y="4473575"/>
            <a:ext cx="10318750" cy="19043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flag[i]表示进程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Pi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表示想要进入临界区，</a:t>
            </a:r>
            <a:endParaRPr lang="zh-CN" altLang="en-US" sz="2000" b="0" i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while(flag[j])可以理解为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Pi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在自己进临界区之前，先问问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Pj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是否想要进入临界区，</a:t>
            </a:r>
            <a:endParaRPr lang="zh-CN" altLang="en-US" sz="2000" b="0" i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如果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Pj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想进的话它就等待（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Pi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品德高尚）；</a:t>
            </a:r>
            <a:endParaRPr lang="zh-CN" altLang="en-US" sz="2000" b="0" i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类似的，</a:t>
            </a:r>
            <a:r>
              <a:rPr lang="en-US" altLang="zh-CN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Pj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也是同样的。双方互相谦让的结果是，最终两个进程谁也进不了临界区，</a:t>
            </a:r>
            <a:r>
              <a:rPr lang="zh-CN" altLang="en-US" sz="2000" b="0" i="0">
                <a:solidFill>
                  <a:srgbClr val="000000"/>
                </a:solidFill>
                <a:latin typeface="Verdana" panose="020B0604030504040204"/>
                <a:ea typeface="Verdana" panose="020B0604030504040204"/>
              </a:rPr>
              <a:t>饥饿。</a:t>
            </a:r>
            <a:endParaRPr lang="zh-CN" altLang="en-US" sz="2000" b="0" i="0">
              <a:solidFill>
                <a:srgbClr val="000000"/>
              </a:solidFill>
              <a:latin typeface="Verdana" panose="020B0604030504040204"/>
              <a:ea typeface="Verdana" panose="020B060403050404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Peterson</a:t>
            </a:r>
            <a:r>
              <a:rPr lang="zh-CN" altLang="en-US" sz="2800" b="1" dirty="0">
                <a:solidFill>
                  <a:schemeClr val="bg1"/>
                </a:solidFill>
              </a:rPr>
              <a:t>解决方案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465195" y="1339403"/>
            <a:ext cx="0" cy="359320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65150" y="1714500"/>
            <a:ext cx="5556250" cy="398272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Pi</a:t>
            </a:r>
            <a:r>
              <a:rPr lang="zh-CN" altLang="en-US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进程</a:t>
            </a:r>
            <a:endParaRPr lang="zh-CN" altLang="en-US" sz="2800" b="0" i="0">
              <a:solidFill>
                <a:srgbClr val="FF0000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/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flag[i] = True;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turn = j;</a:t>
            </a:r>
            <a:endParaRPr lang="en-US" altLang="zh-CN" sz="2800" b="0" i="0"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400" b="0" i="0">
                <a:latin typeface="Courier New" panose="02070309020205020404"/>
                <a:ea typeface="Courier New" panose="02070309020205020404"/>
              </a:rPr>
              <a:t>while(flag[j] &amp;&amp; turn == j);</a:t>
            </a:r>
            <a:endParaRPr lang="en-US" altLang="zh-CN" sz="2800" b="0" i="0"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critical section;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flag[i] = False;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remainder section;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3525" y="956310"/>
            <a:ext cx="5384165" cy="397637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Pj</a:t>
            </a:r>
            <a:r>
              <a:rPr lang="zh-CN" altLang="en-US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进程</a:t>
            </a:r>
            <a:endParaRPr lang="zh-CN" altLang="en-US" sz="2800" b="0" i="0">
              <a:solidFill>
                <a:srgbClr val="FF0000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/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flag[j] = True;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FF0000"/>
                </a:solidFill>
                <a:latin typeface="Courier New" panose="02070309020205020404"/>
                <a:ea typeface="Courier New" panose="02070309020205020404"/>
              </a:rPr>
              <a:t>turn = i;</a:t>
            </a:r>
            <a:endParaRPr lang="en-US" altLang="zh-CN" sz="2800" b="0" i="0">
              <a:solidFill>
                <a:srgbClr val="FF0000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400" b="0" i="0">
                <a:latin typeface="Courier New" panose="02070309020205020404"/>
                <a:ea typeface="Courier New" panose="02070309020205020404"/>
              </a:rPr>
              <a:t>while(flag[i] &amp;&amp; turn == i);</a:t>
            </a:r>
            <a:r>
              <a:rPr lang="en-US" altLang="zh-CN" sz="24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 </a:t>
            </a:r>
            <a:endParaRPr lang="en-US" altLang="zh-CN" sz="24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critical section;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flag[j] = False; 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lnSpc>
                <a:spcPct val="150000"/>
              </a:lnSpc>
            </a:pPr>
            <a:r>
              <a:rPr lang="en-US" altLang="zh-CN" sz="2800" b="0" i="0">
                <a:solidFill>
                  <a:srgbClr val="444444"/>
                </a:solidFill>
                <a:latin typeface="Courier New" panose="02070309020205020404"/>
                <a:ea typeface="Courier New" panose="02070309020205020404"/>
              </a:rPr>
              <a:t>remainder section;</a:t>
            </a:r>
            <a:endParaRPr lang="en-US" altLang="zh-CN" sz="2800" b="0" i="0">
              <a:solidFill>
                <a:srgbClr val="444444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29" name="TextBox 4"/>
          <p:cNvSpPr txBox="1"/>
          <p:nvPr/>
        </p:nvSpPr>
        <p:spPr>
          <a:xfrm>
            <a:off x="148590" y="1032510"/>
            <a:ext cx="6355080" cy="57594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  <a:defRPr/>
            </a:pPr>
            <a:r>
              <a:rPr sz="2000" dirty="0">
                <a:solidFill>
                  <a:schemeClr val="tx1"/>
                </a:solidFill>
              </a:rPr>
              <a:t>引入一个变量</a:t>
            </a:r>
            <a:r>
              <a:rPr sz="2000" b="1" dirty="0">
                <a:solidFill>
                  <a:srgbClr val="FF0000"/>
                </a:solidFill>
              </a:rPr>
              <a:t>turn</a:t>
            </a:r>
            <a:r>
              <a:rPr sz="2000" dirty="0">
                <a:solidFill>
                  <a:schemeClr val="tx1"/>
                </a:solidFill>
              </a:rPr>
              <a:t>，打破因为谦让而导致“饥饿”的现象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4.3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硬件同步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机制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硬件同步机制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4903" y="1091958"/>
            <a:ext cx="3946662" cy="6506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>
                <a:latin typeface="+mn-ea"/>
              </a:rPr>
              <a:t>关中断</a:t>
            </a:r>
            <a:endParaRPr lang="zh-CN" altLang="en-US" sz="4000" dirty="0"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153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4" name="内容占位符 2"/>
          <p:cNvSpPr txBox="1"/>
          <p:nvPr/>
        </p:nvSpPr>
        <p:spPr>
          <a:xfrm>
            <a:off x="1376680" y="1981835"/>
            <a:ext cx="2583815" cy="2683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：</a:t>
            </a:r>
            <a:endParaRPr lang="zh-CN" altLang="en-US" sz="2400" dirty="0"/>
          </a:p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关中断；</a:t>
            </a:r>
            <a:endParaRPr lang="zh-CN" altLang="en-US" sz="2400" dirty="0"/>
          </a:p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临界区；</a:t>
            </a:r>
            <a:endParaRPr lang="zh-CN" altLang="en-US" sz="2400" dirty="0"/>
          </a:p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开中断；</a:t>
            </a:r>
            <a:endParaRPr lang="zh-CN" altLang="en-US" sz="2400" dirty="0"/>
          </a:p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：</a:t>
            </a:r>
            <a:endParaRPr lang="zh-CN" altLang="en-US" sz="2400" dirty="0"/>
          </a:p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5525770" y="1264920"/>
            <a:ext cx="6096000" cy="3583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+mn-ea"/>
              </a:rPr>
              <a:t>可有效保证互斥，但存在许多缺点</a:t>
            </a:r>
            <a:endParaRPr lang="zh-CN" altLang="en-US" sz="2800" dirty="0"/>
          </a:p>
          <a:p>
            <a:pPr marL="800100" lvl="2" indent="-342900">
              <a:lnSpc>
                <a:spcPct val="132000"/>
              </a:lnSpc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sym typeface="+mn-ea"/>
              </a:rPr>
              <a:t>滥用关中断权力可能会导致严重后果，不应将权限交给用户进程。</a:t>
            </a:r>
            <a:endParaRPr lang="zh-CN" altLang="en-US" sz="2400" dirty="0"/>
          </a:p>
          <a:p>
            <a:pPr marL="800100" lvl="2" indent="-342900">
              <a:lnSpc>
                <a:spcPct val="132000"/>
              </a:lnSpc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sym typeface="+mn-ea"/>
              </a:rPr>
              <a:t>关中断运行在</a:t>
            </a:r>
            <a:r>
              <a:rPr lang="zh-CN" altLang="en-US" sz="2400" dirty="0">
                <a:sym typeface="+mn-ea"/>
              </a:rPr>
              <a:t>内核态，关中断就是暂停进程调度，让进程独占处理机</a:t>
            </a:r>
            <a:r>
              <a:rPr lang="zh-CN" altLang="en-US" sz="2400" dirty="0">
                <a:sym typeface="+mn-ea"/>
              </a:rPr>
              <a:t>。</a:t>
            </a:r>
            <a:r>
              <a:rPr lang="zh-CN" altLang="en-US" sz="2400" dirty="0">
                <a:sym typeface="+mn-ea"/>
              </a:rPr>
              <a:t>关中断时间过长会影响系统效率。</a:t>
            </a:r>
            <a:endParaRPr lang="zh-CN" altLang="en-US" sz="2400" dirty="0">
              <a:sym typeface="+mn-ea"/>
            </a:endParaRPr>
          </a:p>
          <a:p>
            <a:pPr marL="800100" lvl="2" indent="-342900">
              <a:lnSpc>
                <a:spcPct val="132000"/>
              </a:lnSpc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sym typeface="+mn-ea"/>
              </a:rPr>
              <a:t>不适用于多</a:t>
            </a: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系统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846963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硬件指令方式（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r>
              <a:rPr lang="en-US" altLang="zh-CN" sz="2800" b="1" dirty="0" smtClean="0">
                <a:solidFill>
                  <a:schemeClr val="bg1"/>
                </a:solidFill>
                <a:sym typeface="+mn-ea"/>
              </a:rPr>
              <a:t>Test-and-Set</a:t>
            </a:r>
            <a:r>
              <a:rPr lang="zh-CN" altLang="en-US" sz="2800" b="1" dirty="0" smtClean="0">
                <a:solidFill>
                  <a:schemeClr val="bg1"/>
                </a:solidFill>
                <a:sym typeface="+mn-ea"/>
              </a:rPr>
              <a:t>指令实现互斥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760730" y="1320800"/>
            <a:ext cx="50063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原子</a:t>
            </a:r>
            <a:r>
              <a:rPr lang="zh-CN" altLang="en-US" sz="2400" b="1" dirty="0"/>
              <a:t>操作：检查和修改字的内容</a:t>
            </a:r>
            <a:endParaRPr lang="zh-CN" altLang="en-US" sz="2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760768" y="1901489"/>
            <a:ext cx="5408212" cy="3017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boolean </a:t>
            </a:r>
            <a:r>
              <a:rPr lang="en-US" altLang="zh-CN" sz="2400" dirty="0" err="1"/>
              <a:t>TestAndSet</a:t>
            </a:r>
            <a:r>
              <a:rPr lang="en-US" altLang="zh-CN" sz="2400" dirty="0"/>
              <a:t>(Boolean *lock) </a:t>
            </a:r>
            <a:endParaRPr lang="en-US" altLang="zh-CN" sz="2400" dirty="0" smtClean="0"/>
          </a:p>
          <a:p>
            <a:pPr>
              <a:lnSpc>
                <a:spcPct val="132000"/>
              </a:lnSpc>
            </a:pPr>
            <a:r>
              <a:rPr lang="en-US" altLang="zh-CN" sz="2400" dirty="0" smtClean="0"/>
              <a:t>{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 smtClean="0"/>
              <a:t>	boolean </a:t>
            </a:r>
            <a:r>
              <a:rPr lang="en-US" altLang="zh-CN" sz="2400" dirty="0"/>
              <a:t>old = *lock;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*lock = TRUE;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     </a:t>
            </a:r>
            <a:r>
              <a:rPr lang="en-US" altLang="zh-CN" sz="2400" dirty="0" smtClean="0"/>
              <a:t>	return </a:t>
            </a:r>
            <a:r>
              <a:rPr lang="en-US" altLang="zh-CN" sz="2400" dirty="0"/>
              <a:t>old;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  <p:sp>
        <p:nvSpPr>
          <p:cNvPr id="19" name="TextBox 4"/>
          <p:cNvSpPr txBox="1"/>
          <p:nvPr/>
        </p:nvSpPr>
        <p:spPr>
          <a:xfrm>
            <a:off x="6642120" y="924957"/>
            <a:ext cx="46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共享数据</a:t>
            </a:r>
            <a:r>
              <a:rPr lang="en-US" altLang="zh-CN" sz="2400" b="1" dirty="0"/>
              <a:t>: </a:t>
            </a:r>
            <a:endParaRPr lang="zh-CN" altLang="en-US" sz="2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6642120" y="1503344"/>
            <a:ext cx="5408212" cy="52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boolean lock = FALSE</a:t>
            </a:r>
            <a:r>
              <a:rPr lang="en-US" altLang="zh-CN" sz="2400" dirty="0" smtClean="0"/>
              <a:t>;</a:t>
            </a:r>
            <a:endParaRPr lang="en-US" altLang="zh-CN" sz="2400" dirty="0"/>
          </a:p>
        </p:txBody>
      </p:sp>
      <p:sp>
        <p:nvSpPr>
          <p:cNvPr id="25" name="TextBox 4"/>
          <p:cNvSpPr txBox="1"/>
          <p:nvPr/>
        </p:nvSpPr>
        <p:spPr>
          <a:xfrm>
            <a:off x="6642120" y="2052982"/>
            <a:ext cx="46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进程 </a:t>
            </a:r>
            <a:r>
              <a:rPr lang="en-US" altLang="zh-CN" sz="2400" b="1" dirty="0"/>
              <a:t>Pi</a:t>
            </a:r>
            <a:endParaRPr lang="en-US" altLang="zh-CN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6642120" y="2655005"/>
            <a:ext cx="5013260" cy="3017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do {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while (</a:t>
            </a:r>
            <a:r>
              <a:rPr lang="en-US" altLang="zh-CN" sz="2400" dirty="0" err="1"/>
              <a:t>TestAndSet</a:t>
            </a:r>
            <a:r>
              <a:rPr lang="en-US" altLang="zh-CN" sz="2400" dirty="0"/>
              <a:t>(lock)) 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 critical </a:t>
            </a:r>
            <a:r>
              <a:rPr lang="en-US" altLang="zh-CN" sz="2400" dirty="0"/>
              <a:t>section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       </a:t>
            </a:r>
            <a:r>
              <a:rPr lang="en-US" altLang="zh-CN" sz="2400" dirty="0" smtClean="0"/>
              <a:t>	 </a:t>
            </a:r>
            <a:r>
              <a:rPr lang="en-US" altLang="zh-CN" sz="2400" dirty="0"/>
              <a:t>lock = FALSE;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 remainder </a:t>
            </a:r>
            <a:r>
              <a:rPr lang="en-US" altLang="zh-CN" sz="2400" dirty="0"/>
              <a:t>section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6168980" y="925186"/>
            <a:ext cx="0" cy="428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41935" y="5153660"/>
            <a:ext cx="111493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有的教材简称为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TSL(Test-and_SetLock)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指令</a:t>
            </a: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由于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lock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是内存地址共享，所以该方法适用于多处理机</a:t>
            </a:r>
            <a:endParaRPr lang="zh-CN" altLang="en-US" sz="2400" dirty="0"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其他进程会不断测试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while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语句，使得其他进程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“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忙等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”</a:t>
            </a:r>
            <a:endParaRPr lang="en-US" altLang="zh-CN" sz="2400" dirty="0"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硬件指令方式（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）</a:t>
            </a:r>
            <a:r>
              <a:rPr lang="en-US" altLang="zh-CN" sz="2800" b="1" dirty="0">
                <a:solidFill>
                  <a:schemeClr val="bg1"/>
                </a:solidFill>
              </a:rPr>
              <a:t>Swap</a:t>
            </a:r>
            <a:r>
              <a:rPr lang="zh-CN" altLang="en-US" sz="2800" b="1" dirty="0">
                <a:solidFill>
                  <a:schemeClr val="bg1"/>
                </a:solidFill>
              </a:rPr>
              <a:t>指令实现互斥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760768" y="1321074"/>
            <a:ext cx="4635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原子操作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交换两个</a:t>
            </a:r>
            <a:r>
              <a:rPr lang="zh-CN" altLang="en-US" sz="2400" b="1" dirty="0" smtClean="0"/>
              <a:t>变量</a:t>
            </a:r>
            <a:endParaRPr lang="zh-CN" altLang="en-US" sz="2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760768" y="1901489"/>
            <a:ext cx="5408212" cy="252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  <a:buClr>
                <a:srgbClr val="0000FF"/>
              </a:buClr>
            </a:pPr>
            <a:r>
              <a:rPr lang="en-US" altLang="zh-CN" sz="2400" dirty="0"/>
              <a:t>void Swap(boolean *a, boolean *b) {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boolean </a:t>
            </a:r>
            <a:r>
              <a:rPr lang="en-US" altLang="zh-CN" sz="2400" dirty="0"/>
              <a:t>temp = *a;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*</a:t>
            </a:r>
            <a:r>
              <a:rPr lang="en-US" altLang="zh-CN" sz="2400" dirty="0"/>
              <a:t>a = *b;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*</a:t>
            </a:r>
            <a:r>
              <a:rPr lang="en-US" altLang="zh-CN" sz="2400" dirty="0"/>
              <a:t>b = temp;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  <p:sp>
        <p:nvSpPr>
          <p:cNvPr id="19" name="TextBox 4"/>
          <p:cNvSpPr txBox="1"/>
          <p:nvPr/>
        </p:nvSpPr>
        <p:spPr>
          <a:xfrm>
            <a:off x="669925" y="4825279"/>
            <a:ext cx="4635480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共享数据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初始化为 </a:t>
            </a:r>
            <a:r>
              <a:rPr lang="en-US" altLang="zh-CN" sz="2400" b="1" dirty="0"/>
              <a:t>false): </a:t>
            </a:r>
            <a:endParaRPr lang="zh-CN" altLang="en-US" sz="2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669925" y="5403666"/>
            <a:ext cx="5408212" cy="57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boolean lock;</a:t>
            </a:r>
            <a:endParaRPr lang="en-US" altLang="zh-CN" sz="2400" dirty="0"/>
          </a:p>
        </p:txBody>
      </p:sp>
      <p:sp>
        <p:nvSpPr>
          <p:cNvPr id="25" name="TextBox 4"/>
          <p:cNvSpPr txBox="1"/>
          <p:nvPr/>
        </p:nvSpPr>
        <p:spPr>
          <a:xfrm>
            <a:off x="6642120" y="1321073"/>
            <a:ext cx="46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/>
              <a:t>进程 </a:t>
            </a:r>
            <a:r>
              <a:rPr lang="en-US" altLang="zh-CN" sz="2400" b="1" dirty="0"/>
              <a:t>Pi</a:t>
            </a:r>
            <a:endParaRPr lang="en-US" altLang="zh-CN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6642119" y="1901489"/>
            <a:ext cx="4844230" cy="4479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do {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  key = true;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  do {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    </a:t>
            </a:r>
            <a:r>
              <a:rPr lang="en-US" altLang="zh-CN" sz="2400" dirty="0" smtClean="0"/>
              <a:t>	  	Swap(</a:t>
            </a:r>
            <a:r>
              <a:rPr lang="en-US" altLang="zh-CN" sz="2400" dirty="0" err="1" smtClean="0"/>
              <a:t>lock,key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    </a:t>
            </a:r>
            <a:r>
              <a:rPr lang="en-US" altLang="zh-CN" sz="2400" dirty="0" smtClean="0"/>
              <a:t>	   }</a:t>
            </a:r>
            <a:r>
              <a:rPr lang="en-US" altLang="zh-CN" sz="2400" dirty="0"/>
              <a:t>while (key != false) 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  </a:t>
            </a:r>
            <a:r>
              <a:rPr lang="zh-CN" altLang="en-US" sz="2400" dirty="0">
                <a:solidFill>
                  <a:srgbClr val="FF0000"/>
                </a:solidFill>
              </a:rPr>
              <a:t>临界区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lnSpc>
                <a:spcPct val="132000"/>
              </a:lnSpc>
            </a:pPr>
            <a:r>
              <a:rPr lang="zh-CN" altLang="en-US" sz="2400" dirty="0"/>
              <a:t>	  </a:t>
            </a:r>
            <a:r>
              <a:rPr lang="en-US" altLang="zh-CN" sz="2400" dirty="0"/>
              <a:t>lock = false;</a:t>
            </a:r>
            <a:endParaRPr lang="en-US" altLang="zh-CN" sz="2400" dirty="0"/>
          </a:p>
          <a:p>
            <a:pPr>
              <a:lnSpc>
                <a:spcPct val="132000"/>
              </a:lnSpc>
            </a:pPr>
            <a:r>
              <a:rPr lang="en-US" altLang="zh-CN" sz="2400" dirty="0"/>
              <a:t>	  </a:t>
            </a:r>
            <a:r>
              <a:rPr lang="zh-CN" altLang="en-US" sz="2400" dirty="0"/>
              <a:t>剩余区</a:t>
            </a:r>
            <a:endParaRPr lang="zh-CN" altLang="en-US" sz="2400" dirty="0"/>
          </a:p>
          <a:p>
            <a:pPr>
              <a:lnSpc>
                <a:spcPct val="132000"/>
              </a:lnSpc>
            </a:pPr>
            <a:r>
              <a:rPr lang="zh-CN" altLang="en-US" sz="2400" dirty="0"/>
              <a:t>	</a:t>
            </a:r>
            <a:r>
              <a:rPr lang="en-US" altLang="zh-CN" sz="2400" dirty="0"/>
              <a:t>}while(true)</a:t>
            </a:r>
            <a:endParaRPr lang="en-US" altLang="zh-CN" sz="2400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6168980" y="1416676"/>
            <a:ext cx="0" cy="428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936625"/>
            <a:ext cx="11696700" cy="4486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422900"/>
            <a:ext cx="8592820" cy="11347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硬件同步机制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365" y="1060450"/>
            <a:ext cx="1647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缺点：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1520825"/>
            <a:ext cx="9850120" cy="39636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altLang="zh-CN" sz="2800"/>
              <a:t>( a )</a:t>
            </a:r>
            <a:r>
              <a:rPr lang="zh-CN" altLang="en-US" sz="2800"/>
              <a:t>不满足</a:t>
            </a:r>
            <a:r>
              <a:rPr lang="en-US" altLang="zh-CN" sz="2800"/>
              <a:t>"</a:t>
            </a:r>
            <a:r>
              <a:rPr lang="zh-CN" altLang="en-US" sz="2800"/>
              <a:t>让权等待</a:t>
            </a:r>
            <a:r>
              <a:rPr lang="en-US" altLang="zh-CN" sz="2800"/>
              <a:t>"</a:t>
            </a:r>
            <a:r>
              <a:rPr lang="zh-CN" altLang="en-US" sz="2800"/>
              <a:t>，会发生</a:t>
            </a:r>
            <a:r>
              <a:rPr lang="en-US" altLang="zh-CN" sz="2800"/>
              <a:t>"</a:t>
            </a:r>
            <a:r>
              <a:rPr lang="zh-CN" altLang="en-US" sz="2800"/>
              <a:t>忙等</a:t>
            </a:r>
            <a:r>
              <a:rPr lang="en-US" altLang="zh-CN" sz="2800"/>
              <a:t>"</a:t>
            </a:r>
            <a:r>
              <a:rPr lang="zh-CN" altLang="en-US" sz="2800"/>
              <a:t>，不能有效利用处理器时间。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 b </a:t>
            </a:r>
            <a:r>
              <a:rPr lang="zh-CN" altLang="en-US" sz="2800"/>
              <a:t>）可能导致饥饿（不能保证</a:t>
            </a:r>
            <a:r>
              <a:rPr lang="en-US" altLang="zh-CN" sz="2800"/>
              <a:t>"</a:t>
            </a:r>
            <a:r>
              <a:rPr lang="zh-CN" altLang="en-US" sz="2800"/>
              <a:t>有限等待</a:t>
            </a:r>
            <a:r>
              <a:rPr lang="en-US" altLang="zh-CN" sz="2800"/>
              <a:t>")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( c </a:t>
            </a:r>
            <a:r>
              <a:rPr lang="zh-CN" altLang="en-US" sz="2800"/>
              <a:t>）受调度算法影响，有可能产生</a:t>
            </a:r>
            <a:r>
              <a:rPr lang="zh-CN" altLang="en-US" sz="2800"/>
              <a:t>死锁。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 d </a:t>
            </a:r>
            <a:r>
              <a:rPr lang="zh-CN" altLang="en-US" sz="2800"/>
              <a:t>）难以应用于复杂的多进程同步问题。</a:t>
            </a:r>
            <a:endParaRPr lang="zh-CN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 smtClean="0">
                <a:latin typeface="+mj-ea"/>
              </a:rPr>
              <a:t>硬件同步机制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4.4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信号量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机制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5306656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Signature</a:t>
            </a:r>
            <a:endParaRPr lang="en-US" altLang="zh-CN" dirty="0"/>
          </a:p>
        </p:txBody>
      </p:sp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信号量机制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42" name="í$1iďè"/>
          <p:cNvGrpSpPr/>
          <p:nvPr/>
        </p:nvGrpSpPr>
        <p:grpSpPr>
          <a:xfrm>
            <a:off x="4138583" y="1139269"/>
            <a:ext cx="7634605" cy="1200150"/>
            <a:chOff x="4136995" y="1126569"/>
            <a:chExt cx="7634605" cy="1200150"/>
          </a:xfrm>
        </p:grpSpPr>
        <p:sp>
          <p:nvSpPr>
            <p:cNvPr id="43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ïSḻiḍé"/>
            <p:cNvSpPr txBox="1"/>
            <p:nvPr/>
          </p:nvSpPr>
          <p:spPr>
            <a:xfrm>
              <a:off x="4237325" y="1126569"/>
              <a:ext cx="7534275" cy="120015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>
                  <a:latin typeface="+mj-ea"/>
                  <a:ea typeface="+mj-ea"/>
                </a:rPr>
                <a:t>1965</a:t>
              </a:r>
              <a:r>
                <a:rPr lang="zh-CN" altLang="en-US" sz="2400" dirty="0">
                  <a:latin typeface="+mj-ea"/>
                  <a:ea typeface="+mj-ea"/>
                </a:rPr>
                <a:t>年，由荷兰学者迪科斯彻</a:t>
              </a:r>
              <a:r>
                <a:rPr lang="en-US" altLang="zh-CN" sz="2400" dirty="0" err="1">
                  <a:latin typeface="+mj-ea"/>
                  <a:ea typeface="+mj-ea"/>
                </a:rPr>
                <a:t>Dijkstra</a:t>
              </a:r>
              <a:r>
                <a:rPr lang="zh-CN" altLang="en-US" sz="2400" dirty="0">
                  <a:latin typeface="+mj-ea"/>
                  <a:ea typeface="+mj-ea"/>
                </a:rPr>
                <a:t>提出（</a:t>
              </a:r>
              <a:r>
                <a:rPr lang="en-US" altLang="zh-CN" sz="2400" dirty="0">
                  <a:latin typeface="+mj-ea"/>
                  <a:ea typeface="+mj-ea"/>
                </a:rPr>
                <a:t>P</a:t>
              </a:r>
              <a:r>
                <a:rPr lang="zh-CN" altLang="en-US" sz="2400" dirty="0">
                  <a:latin typeface="+mj-ea"/>
                  <a:ea typeface="+mj-ea"/>
                </a:rPr>
                <a:t>、</a:t>
              </a:r>
              <a:r>
                <a:rPr lang="en-US" altLang="zh-CN" sz="2400" dirty="0">
                  <a:latin typeface="+mj-ea"/>
                  <a:ea typeface="+mj-ea"/>
                </a:rPr>
                <a:t>V</a:t>
              </a:r>
              <a:r>
                <a:rPr lang="zh-CN" altLang="en-US" sz="2400" dirty="0">
                  <a:latin typeface="+mj-ea"/>
                  <a:ea typeface="+mj-ea"/>
                </a:rPr>
                <a:t>分别代表荷兰语的</a:t>
              </a:r>
              <a:r>
                <a:rPr lang="en-US" altLang="zh-CN" sz="2400" dirty="0" err="1">
                  <a:latin typeface="+mj-ea"/>
                  <a:ea typeface="+mj-ea"/>
                </a:rPr>
                <a:t>Proberen</a:t>
              </a:r>
              <a:r>
                <a:rPr lang="en-US" altLang="zh-CN" sz="2400" dirty="0">
                  <a:latin typeface="+mj-ea"/>
                  <a:ea typeface="+mj-ea"/>
                </a:rPr>
                <a:t> (test)</a:t>
              </a:r>
              <a:r>
                <a:rPr lang="zh-CN" altLang="en-US" sz="2400" dirty="0">
                  <a:latin typeface="+mj-ea"/>
                  <a:ea typeface="+mj-ea"/>
                </a:rPr>
                <a:t>和</a:t>
              </a:r>
              <a:r>
                <a:rPr lang="en-US" altLang="zh-CN" sz="2400" dirty="0" err="1">
                  <a:latin typeface="+mj-ea"/>
                  <a:ea typeface="+mj-ea"/>
                </a:rPr>
                <a:t>Verhogen</a:t>
              </a:r>
              <a:r>
                <a:rPr lang="en-US" altLang="zh-CN" sz="2400" dirty="0">
                  <a:latin typeface="+mj-ea"/>
                  <a:ea typeface="+mj-ea"/>
                </a:rPr>
                <a:t> (increment)</a:t>
              </a:r>
              <a:r>
                <a:rPr lang="zh-CN" altLang="en-US" sz="2400" dirty="0">
                  <a:latin typeface="+mj-ea"/>
                  <a:ea typeface="+mj-ea"/>
                </a:rPr>
                <a:t>），是一种卓有成效的进程同步机制。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46" name="íśľïḋé"/>
          <p:cNvSpPr/>
          <p:nvPr/>
        </p:nvSpPr>
        <p:spPr>
          <a:xfrm>
            <a:off x="4131945" y="367919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419241" y="2884456"/>
            <a:ext cx="64846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http://a0.att.hudong.com/80/32/01300000939397131132321237253_s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98" y="1065544"/>
            <a:ext cx="3372181" cy="35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îs1iďé"/>
          <p:cNvSpPr/>
          <p:nvPr/>
        </p:nvSpPr>
        <p:spPr>
          <a:xfrm>
            <a:off x="4419208" y="3022849"/>
            <a:ext cx="6620302" cy="24877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marL="342900" indent="-342900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信号量和</a:t>
            </a:r>
            <a:r>
              <a:rPr lang="en-US" altLang="zh-CN" sz="2400" dirty="0">
                <a:solidFill>
                  <a:srgbClr val="FF0000"/>
                </a:solidFill>
              </a:rPr>
              <a:t>PV</a:t>
            </a:r>
            <a:r>
              <a:rPr lang="zh-CN" altLang="en-US" sz="2400" dirty="0">
                <a:solidFill>
                  <a:srgbClr val="FF0000"/>
                </a:solidFill>
              </a:rPr>
              <a:t>原语发明者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解决了“</a:t>
            </a:r>
            <a:r>
              <a:rPr lang="zh-CN" altLang="en-US" sz="2400" b="1" dirty="0"/>
              <a:t>哲学家就餐</a:t>
            </a:r>
            <a:r>
              <a:rPr lang="zh-CN" altLang="en-US" sz="2400" dirty="0"/>
              <a:t>”问题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最短路径算法</a:t>
            </a:r>
            <a:r>
              <a:rPr lang="en-US" altLang="zh-CN" sz="2400" dirty="0"/>
              <a:t>(SPF)</a:t>
            </a:r>
            <a:r>
              <a:rPr lang="zh-CN" altLang="en-US" sz="2400" dirty="0"/>
              <a:t>和</a:t>
            </a:r>
            <a:r>
              <a:rPr lang="zh-CN" altLang="en-US" sz="2400" b="1" dirty="0"/>
              <a:t>银行家算法</a:t>
            </a:r>
            <a:r>
              <a:rPr lang="zh-CN" altLang="en-US" sz="2400" dirty="0"/>
              <a:t>的创造者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结构程序设计之父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/>
              <a:t>THE</a:t>
            </a:r>
            <a:r>
              <a:rPr lang="zh-CN" altLang="en-US" sz="2400" b="1" dirty="0"/>
              <a:t>操作系统</a:t>
            </a:r>
            <a:r>
              <a:rPr lang="zh-CN" altLang="en-US" sz="2400" dirty="0"/>
              <a:t>设计者和开发者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5306695"/>
            <a:ext cx="1572260" cy="29654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Signature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信号量机制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45" name="išḷîḓé"/>
          <p:cNvGrpSpPr/>
          <p:nvPr/>
        </p:nvGrpSpPr>
        <p:grpSpPr>
          <a:xfrm>
            <a:off x="-154305" y="1402715"/>
            <a:ext cx="11059160" cy="2459355"/>
            <a:chOff x="4130670" y="1575129"/>
            <a:chExt cx="7388229" cy="2459612"/>
          </a:xfrm>
        </p:grpSpPr>
        <p:sp>
          <p:nvSpPr>
            <p:cNvPr id="46" name="íśľïḋé"/>
            <p:cNvSpPr/>
            <p:nvPr/>
          </p:nvSpPr>
          <p:spPr>
            <a:xfrm>
              <a:off x="4130670" y="2682216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3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îŝľîḓè"/>
            <p:cNvSpPr txBox="1"/>
            <p:nvPr/>
          </p:nvSpPr>
          <p:spPr>
            <a:xfrm>
              <a:off x="4539195" y="1575129"/>
              <a:ext cx="6979704" cy="245961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信号量代表可用资源</a:t>
              </a:r>
              <a:r>
                <a:rPr lang="zh-CN" altLang="en-US" sz="2400" dirty="0"/>
                <a:t>数量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ym typeface="+mn-ea"/>
                </a:rPr>
                <a:t>多个进程并发操作时，进入关键代码之前，</a:t>
              </a:r>
              <a:r>
                <a:rPr lang="zh-CN" altLang="en-US" sz="2400" dirty="0"/>
                <a:t>进程必须获取一个信号量，否则不能运行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执行完该关键代码段，必须释放信号量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信号量的值，</a:t>
              </a:r>
              <a:r>
                <a:rPr lang="zh-CN" altLang="en-US" sz="2400" dirty="0">
                  <a:sym typeface="+mn-ea"/>
                </a:rPr>
                <a:t>若为非负值表示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当前的空闲资源数</a:t>
              </a:r>
              <a:r>
                <a:rPr lang="zh-CN" altLang="en-US" sz="2400" dirty="0">
                  <a:sym typeface="+mn-ea"/>
                </a:rPr>
                <a:t>，若为负值其绝对值表示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当前等待临界区的进程数</a:t>
              </a:r>
              <a:endParaRPr lang="zh-CN" altLang="en-US" sz="2400" dirty="0"/>
            </a:p>
          </p:txBody>
        </p:sp>
      </p:grpSp>
      <p:grpSp>
        <p:nvGrpSpPr>
          <p:cNvPr id="48" name="ïSlíḍê"/>
          <p:cNvGrpSpPr/>
          <p:nvPr/>
        </p:nvGrpSpPr>
        <p:grpSpPr>
          <a:xfrm>
            <a:off x="-530225" y="4398645"/>
            <a:ext cx="4531874" cy="497838"/>
            <a:chOff x="4130670" y="5387697"/>
            <a:chExt cx="2607995" cy="497937"/>
          </a:xfrm>
        </p:grpSpPr>
        <p:sp>
          <p:nvSpPr>
            <p:cNvPr id="49" name="ïsľíḓê"/>
            <p:cNvSpPr/>
            <p:nvPr/>
          </p:nvSpPr>
          <p:spPr>
            <a:xfrm>
              <a:off x="4130670" y="5484055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íṧļîḋê"/>
            <p:cNvSpPr txBox="1"/>
            <p:nvPr/>
          </p:nvSpPr>
          <p:spPr>
            <a:xfrm>
              <a:off x="4882717" y="5387697"/>
              <a:ext cx="1855948" cy="4979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000" dirty="0"/>
            </a:p>
            <a:p>
              <a:pPr>
                <a:lnSpc>
                  <a:spcPct val="130000"/>
                </a:lnSpc>
              </a:pPr>
              <a:r>
                <a:rPr lang="zh-CN" altLang="en-US" sz="2000" b="1" dirty="0" smtClean="0"/>
                <a:t>类型</a:t>
              </a:r>
              <a:endParaRPr lang="zh-CN" altLang="en-US" sz="2000" b="1" dirty="0" smtClean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/>
                <a:t>整型</a:t>
              </a:r>
              <a:r>
                <a:rPr lang="zh-CN" altLang="en-US" sz="2000" dirty="0" smtClean="0"/>
                <a:t>信号量</a:t>
              </a:r>
              <a:endParaRPr lang="zh-CN" altLang="en-US" sz="2000" dirty="0"/>
            </a:p>
          </p:txBody>
        </p:sp>
      </p:grpSp>
      <p:sp>
        <p:nvSpPr>
          <p:cNvPr id="2" name="íṧļîḋê"/>
          <p:cNvSpPr txBox="1"/>
          <p:nvPr/>
        </p:nvSpPr>
        <p:spPr>
          <a:xfrm>
            <a:off x="783235" y="6272425"/>
            <a:ext cx="3219091" cy="50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/>
              <a:t>信号量集</a:t>
            </a:r>
            <a:endParaRPr lang="zh-CN" altLang="en-US" sz="2000" dirty="0"/>
          </a:p>
        </p:txBody>
      </p:sp>
      <p:sp>
        <p:nvSpPr>
          <p:cNvPr id="3" name="íṧļîḋê"/>
          <p:cNvSpPr txBox="1"/>
          <p:nvPr/>
        </p:nvSpPr>
        <p:spPr>
          <a:xfrm>
            <a:off x="783217" y="5768975"/>
            <a:ext cx="3043293" cy="50355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AND</a:t>
            </a:r>
            <a:r>
              <a:rPr lang="zh-CN" altLang="en-US" sz="2000" dirty="0"/>
              <a:t>型</a:t>
            </a:r>
            <a:r>
              <a:rPr lang="zh-CN" altLang="en-US" sz="2000" dirty="0" smtClean="0"/>
              <a:t>信号量</a:t>
            </a:r>
            <a:endParaRPr lang="en-US" altLang="zh-CN" sz="2000" dirty="0" smtClean="0"/>
          </a:p>
        </p:txBody>
      </p:sp>
      <p:sp>
        <p:nvSpPr>
          <p:cNvPr id="4" name="íṧļîḋê"/>
          <p:cNvSpPr txBox="1"/>
          <p:nvPr/>
        </p:nvSpPr>
        <p:spPr>
          <a:xfrm>
            <a:off x="782834" y="5315909"/>
            <a:ext cx="3923646" cy="482647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FF0000"/>
                </a:solidFill>
              </a:rPr>
              <a:t>记录</a:t>
            </a:r>
            <a:r>
              <a:rPr lang="zh-CN" altLang="en-US" sz="2000" dirty="0">
                <a:solidFill>
                  <a:srgbClr val="FF0000"/>
                </a:solidFill>
              </a:rPr>
              <a:t>型</a:t>
            </a:r>
            <a:r>
              <a:rPr lang="zh-CN" altLang="en-US" sz="2000" dirty="0" smtClean="0">
                <a:solidFill>
                  <a:srgbClr val="FF0000"/>
                </a:solidFill>
              </a:rPr>
              <a:t>信号量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整型信号量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îṥľíḑé"/>
          <p:cNvSpPr txBox="1"/>
          <p:nvPr/>
        </p:nvSpPr>
        <p:spPr>
          <a:xfrm>
            <a:off x="953135" y="1205865"/>
            <a:ext cx="9462770" cy="54737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信号量</a:t>
            </a:r>
            <a:r>
              <a:rPr lang="en-US" altLang="zh-CN" sz="2400" b="1" dirty="0">
                <a:solidFill>
                  <a:srgbClr val="FF0000"/>
                </a:solidFill>
              </a:rPr>
              <a:t>S</a:t>
            </a:r>
            <a:r>
              <a:rPr lang="zh-CN" altLang="en-US" sz="2400" b="1" dirty="0"/>
              <a:t>，表示资源数量，除初始化为非负</a:t>
            </a:r>
            <a:r>
              <a:rPr lang="zh-CN" altLang="en-US" sz="2400" b="1" dirty="0"/>
              <a:t>整数之外，仅能通过两种</a:t>
            </a:r>
            <a:r>
              <a:rPr lang="zh-CN" alt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原子</a:t>
            </a:r>
            <a:r>
              <a:rPr lang="zh-CN" altLang="en-US" sz="2400" b="1" dirty="0"/>
              <a:t>操作</a:t>
            </a:r>
            <a:r>
              <a:rPr lang="en-US" altLang="zh-CN" sz="2400" b="1" dirty="0"/>
              <a:t>wait(s)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sign</a:t>
            </a:r>
            <a:r>
              <a:rPr lang="en-US" altLang="zh-CN" sz="2400" b="1" dirty="0"/>
              <a:t>al(s)</a:t>
            </a:r>
            <a:r>
              <a:rPr lang="zh-CN" altLang="en-US" sz="2400" b="1" dirty="0"/>
              <a:t>来访问</a:t>
            </a:r>
            <a:endParaRPr lang="zh-CN" altLang="en-US" sz="2400" b="1" dirty="0"/>
          </a:p>
        </p:txBody>
      </p:sp>
      <p:sp>
        <p:nvSpPr>
          <p:cNvPr id="16" name="îṥľíḑé"/>
          <p:cNvSpPr txBox="1"/>
          <p:nvPr/>
        </p:nvSpPr>
        <p:spPr>
          <a:xfrm>
            <a:off x="1314460" y="2479101"/>
            <a:ext cx="4759872" cy="206062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182245" indent="0">
              <a:lnSpc>
                <a:spcPct val="110000"/>
              </a:lnSpc>
              <a:buClr>
                <a:schemeClr val="accent2"/>
              </a:buClr>
              <a:buFont typeface="Wingdings 2" panose="05020102010507070707" pitchFamily="18" charset="2"/>
              <a:buNone/>
              <a:defRPr/>
            </a:pPr>
            <a:r>
              <a:rPr lang="en-US" altLang="zh-CN" sz="2400" i="1" dirty="0" smtClean="0">
                <a:solidFill>
                  <a:srgbClr val="C00000"/>
                </a:solidFill>
              </a:rPr>
              <a:t>wait(S</a:t>
            </a:r>
            <a:r>
              <a:rPr lang="en-US" altLang="zh-CN" sz="2400" i="1" dirty="0">
                <a:solidFill>
                  <a:srgbClr val="C00000"/>
                </a:solidFill>
              </a:rPr>
              <a:t>)</a:t>
            </a:r>
            <a:r>
              <a:rPr lang="zh-CN" altLang="en-US" sz="2400" i="1" dirty="0">
                <a:solidFill>
                  <a:srgbClr val="C00000"/>
                </a:solidFill>
              </a:rPr>
              <a:t>：</a:t>
            </a:r>
            <a:endParaRPr lang="en-US" altLang="zh-CN" sz="2400" i="1" dirty="0">
              <a:solidFill>
                <a:srgbClr val="C00000"/>
              </a:solidFill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	while s&lt;=0 ; </a:t>
            </a: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/*do no-op*/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990600" lvl="1" indent="-53340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	s:=s-1;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182245" indent="0">
              <a:lnSpc>
                <a:spcPct val="110000"/>
              </a:lnSpc>
              <a:buClr>
                <a:schemeClr val="accent2"/>
              </a:buClr>
              <a:buFont typeface="Wingdings 2" panose="05020102010507070707" pitchFamily="18" charset="2"/>
              <a:buNone/>
              <a:defRPr/>
            </a:pPr>
            <a:r>
              <a:rPr lang="en-US" altLang="zh-CN" sz="2400" i="1" dirty="0">
                <a:solidFill>
                  <a:srgbClr val="C00000"/>
                </a:solidFill>
              </a:rPr>
              <a:t>signal(S)</a:t>
            </a:r>
            <a:r>
              <a:rPr lang="zh-CN" altLang="en-US" sz="2400" i="1" dirty="0">
                <a:solidFill>
                  <a:srgbClr val="C00000"/>
                </a:solidFill>
              </a:rPr>
              <a:t>：</a:t>
            </a:r>
            <a:endParaRPr lang="zh-CN" altLang="en-US" sz="2400" i="1" dirty="0">
              <a:solidFill>
                <a:srgbClr val="C00000"/>
              </a:solidFill>
            </a:endParaRPr>
          </a:p>
          <a:p>
            <a:pPr marL="990600" lvl="1" indent="-53340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	s:=s+1; 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îṥľíḑé"/>
          <p:cNvSpPr txBox="1"/>
          <p:nvPr/>
        </p:nvSpPr>
        <p:spPr>
          <a:xfrm>
            <a:off x="1134745" y="4681855"/>
            <a:ext cx="9045575" cy="162941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-34290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/>
              <a:t>Wait(s)</a:t>
            </a:r>
            <a:r>
              <a:rPr lang="zh-CN" altLang="en-US" sz="2400" b="1" dirty="0"/>
              <a:t>又称为</a:t>
            </a:r>
            <a:r>
              <a:rPr lang="en-US" altLang="zh-CN" sz="2400" b="1" dirty="0"/>
              <a:t>P(S)</a:t>
            </a:r>
            <a:r>
              <a:rPr lang="zh-CN" altLang="en-US" sz="2400" b="1" dirty="0"/>
              <a:t>操作，属于进入区，申请资源，实现</a:t>
            </a:r>
            <a:r>
              <a:rPr lang="en-US" altLang="zh-CN" sz="2400" b="1" dirty="0"/>
              <a:t>s-1</a:t>
            </a:r>
            <a:r>
              <a:rPr lang="zh-CN" altLang="en-US" sz="2400" b="1" dirty="0"/>
              <a:t>操作</a:t>
            </a:r>
            <a:endParaRPr lang="en-US" altLang="zh-CN" sz="2400" b="1" dirty="0"/>
          </a:p>
          <a:p>
            <a:pPr marL="342900" indent="-34290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/>
              <a:t>Signal(s)</a:t>
            </a:r>
            <a:r>
              <a:rPr lang="zh-CN" altLang="en-US" sz="2400" b="1" dirty="0"/>
              <a:t>又称为</a:t>
            </a:r>
            <a:r>
              <a:rPr lang="en-US" altLang="zh-CN" sz="2400" b="1" dirty="0"/>
              <a:t>V(S)</a:t>
            </a:r>
            <a:r>
              <a:rPr lang="zh-CN" altLang="en-US" sz="2400" b="1" dirty="0"/>
              <a:t>，属于退出区，释放资源，实现</a:t>
            </a:r>
            <a:r>
              <a:rPr lang="en-US" altLang="zh-CN" sz="2400" b="1" dirty="0"/>
              <a:t>s+1</a:t>
            </a:r>
            <a:r>
              <a:rPr lang="zh-CN" altLang="en-US" sz="2400" b="1" dirty="0"/>
              <a:t>操作</a:t>
            </a:r>
            <a:endParaRPr lang="en-US" altLang="zh-CN" sz="2400" b="1" dirty="0"/>
          </a:p>
          <a:p>
            <a:pPr marL="342900" indent="-34290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400" b="1" dirty="0"/>
          </a:p>
        </p:txBody>
      </p:sp>
      <p:sp>
        <p:nvSpPr>
          <p:cNvPr id="2" name="椭圆形标注 2"/>
          <p:cNvSpPr>
            <a:spLocks noChangeArrowheads="1"/>
          </p:cNvSpPr>
          <p:nvPr/>
        </p:nvSpPr>
        <p:spPr bwMode="auto">
          <a:xfrm>
            <a:off x="8018145" y="2662555"/>
            <a:ext cx="3889375" cy="1693545"/>
          </a:xfrm>
          <a:prstGeom prst="wedgeEllipseCallout">
            <a:avLst>
              <a:gd name="adj1" fmla="val -106366"/>
              <a:gd name="adj2" fmla="val -1767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beve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未遵循</a:t>
            </a:r>
            <a:r>
              <a:rPr lang="en-US" altLang="zh-CN" sz="2400">
                <a:latin typeface="+mn-ea"/>
                <a:ea typeface="+mn-ea"/>
              </a:rPr>
              <a:t>“</a:t>
            </a:r>
            <a:r>
              <a:rPr lang="zh-CN" altLang="en-US" sz="2400">
                <a:latin typeface="+mn-ea"/>
                <a:ea typeface="+mn-ea"/>
              </a:rPr>
              <a:t>让权等待</a:t>
            </a:r>
            <a:r>
              <a:rPr lang="en-US" altLang="zh-CN" sz="2400">
                <a:latin typeface="+mn-ea"/>
                <a:ea typeface="+mn-ea"/>
              </a:rPr>
              <a:t>”</a:t>
            </a:r>
            <a:endParaRPr lang="zh-CN" altLang="en-US" sz="2400">
              <a:latin typeface="+mn-ea"/>
              <a:ea typeface="+mn-ea"/>
            </a:endParaRPr>
          </a:p>
          <a:p>
            <a:pPr>
              <a:buFont typeface="Monotype Sorts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导致</a:t>
            </a:r>
            <a:r>
              <a:rPr lang="en-US" altLang="zh-CN" sz="2400">
                <a:latin typeface="+mn-ea"/>
                <a:ea typeface="+mn-ea"/>
              </a:rPr>
              <a:t>cpu</a:t>
            </a:r>
            <a:r>
              <a:rPr lang="zh-CN" altLang="en-US" sz="2400">
                <a:latin typeface="+mn-ea"/>
                <a:ea typeface="+mn-ea"/>
              </a:rPr>
              <a:t>实际空闲忙等</a:t>
            </a:r>
            <a:endParaRPr lang="zh-CN" altLang="en-US" sz="24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6290" y="1101090"/>
            <a:ext cx="1076579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/>
              <a:t>若一个信号量的初始值为</a:t>
            </a:r>
            <a:r>
              <a:rPr lang="en-US" altLang="zh-CN" sz="2400"/>
              <a:t>4</a:t>
            </a:r>
            <a:r>
              <a:rPr lang="zh-CN" altLang="en-US" sz="2400"/>
              <a:t>，经过多次 </a:t>
            </a:r>
            <a:r>
              <a:rPr lang="en-US" altLang="zh-CN" sz="2400"/>
              <a:t>P / V </a:t>
            </a:r>
            <a:r>
              <a:rPr lang="zh-CN" altLang="en-US" sz="2400"/>
              <a:t>操作后，该信号量的值为﹣</a:t>
            </a:r>
            <a:r>
              <a:rPr lang="en-US" altLang="zh-CN" sz="2400"/>
              <a:t>2</a:t>
            </a:r>
            <a:r>
              <a:rPr lang="zh-CN" altLang="en-US" sz="2400"/>
              <a:t>，那么等待进入临界区的进程数是</a:t>
            </a:r>
            <a:r>
              <a:rPr lang="en-US" altLang="zh-CN" sz="2400"/>
              <a:t>()</a:t>
            </a:r>
            <a:r>
              <a:rPr lang="zh-CN" altLang="en-US" sz="2400"/>
              <a:t>。 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A.1      B.2      C.3       D.4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796290" y="2857500"/>
            <a:ext cx="10184765" cy="26765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/>
              <a:t>有一个信号量 </a:t>
            </a:r>
            <a:r>
              <a:rPr lang="en-US" altLang="zh-CN" sz="2800"/>
              <a:t>S </a:t>
            </a:r>
            <a:r>
              <a:rPr lang="zh-CN" altLang="en-US" sz="2800"/>
              <a:t>，假如若干进程对 </a:t>
            </a:r>
            <a:r>
              <a:rPr lang="en-US" altLang="zh-CN" sz="2800"/>
              <a:t>S </a:t>
            </a:r>
            <a:r>
              <a:rPr lang="zh-CN" altLang="en-US" sz="2800"/>
              <a:t>执行</a:t>
            </a:r>
            <a:r>
              <a:rPr lang="en-US" altLang="zh-CN" sz="2800"/>
              <a:t>36</a:t>
            </a:r>
            <a:r>
              <a:rPr lang="zh-CN" altLang="en-US" sz="2800"/>
              <a:t>次 </a:t>
            </a:r>
            <a:r>
              <a:rPr lang="en-US" altLang="zh-CN" sz="2800"/>
              <a:t>P </a:t>
            </a:r>
            <a:r>
              <a:rPr lang="zh-CN" altLang="en-US" sz="2800"/>
              <a:t>操作和</a:t>
            </a:r>
            <a:r>
              <a:rPr lang="en-US" altLang="zh-CN" sz="2800"/>
              <a:t>26</a:t>
            </a:r>
            <a:r>
              <a:rPr lang="zh-CN" altLang="en-US" sz="2800"/>
              <a:t>次 </a:t>
            </a:r>
            <a:r>
              <a:rPr lang="en-US" altLang="zh-CN" sz="2800"/>
              <a:t>V </a:t>
            </a:r>
            <a:r>
              <a:rPr lang="zh-CN" altLang="en-US" sz="2800"/>
              <a:t>操作后，信号量 </a:t>
            </a:r>
            <a:r>
              <a:rPr lang="en-US" altLang="zh-CN" sz="2800"/>
              <a:t>S </a:t>
            </a:r>
            <a:r>
              <a:rPr lang="zh-CN" altLang="en-US" sz="2800"/>
              <a:t>的值变为</a:t>
            </a:r>
            <a:r>
              <a:rPr lang="en-US" altLang="zh-CN" sz="2800"/>
              <a:t>0</a:t>
            </a:r>
            <a:r>
              <a:rPr lang="zh-CN" altLang="en-US" sz="2800"/>
              <a:t>。假设未执行上述 </a:t>
            </a:r>
            <a:r>
              <a:rPr lang="en-US" altLang="zh-CN" sz="2800"/>
              <a:t>P / V </a:t>
            </a:r>
            <a:r>
              <a:rPr lang="zh-CN" altLang="en-US" sz="2800"/>
              <a:t>操作，若干进程对信号量 </a:t>
            </a:r>
            <a:r>
              <a:rPr lang="en-US" altLang="zh-CN" sz="2800"/>
              <a:t>S </a:t>
            </a:r>
            <a:r>
              <a:rPr lang="zh-CN" altLang="en-US" sz="2800"/>
              <a:t>执行</a:t>
            </a:r>
            <a:r>
              <a:rPr lang="en-US" altLang="zh-CN" sz="2800"/>
              <a:t>16</a:t>
            </a:r>
            <a:r>
              <a:rPr lang="zh-CN" altLang="en-US" sz="2800"/>
              <a:t>次 </a:t>
            </a:r>
            <a:r>
              <a:rPr lang="en-US" altLang="zh-CN" sz="2800"/>
              <a:t>P </a:t>
            </a:r>
            <a:r>
              <a:rPr lang="zh-CN" altLang="en-US" sz="2800"/>
              <a:t>操作和</a:t>
            </a:r>
            <a:r>
              <a:rPr lang="en-US" altLang="zh-CN" sz="2800"/>
              <a:t>1</a:t>
            </a:r>
            <a:r>
              <a:rPr lang="zh-CN" altLang="en-US" sz="2800"/>
              <a:t>次 </a:t>
            </a:r>
            <a:r>
              <a:rPr lang="en-US" altLang="zh-CN" sz="2800"/>
              <a:t>V </a:t>
            </a:r>
            <a:r>
              <a:rPr lang="zh-CN" altLang="en-US" sz="2800"/>
              <a:t>操作后，在信号量 </a:t>
            </a:r>
            <a:r>
              <a:rPr lang="en-US" altLang="zh-CN" sz="2800"/>
              <a:t>S </a:t>
            </a:r>
            <a:r>
              <a:rPr lang="zh-CN" altLang="en-US" sz="2800"/>
              <a:t>的等待队列中等待的进程数为（</a:t>
            </a:r>
            <a:r>
              <a:rPr lang="en-US" altLang="zh-CN" sz="2800"/>
              <a:t>)</a:t>
            </a:r>
            <a:r>
              <a:rPr lang="zh-CN" altLang="en-US" sz="2800"/>
              <a:t>。 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A .2     B.3       C.5      D.7</a:t>
            </a:r>
            <a:endParaRPr lang="en-US" altLang="zh-CN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记录型信号量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ïSḻiḍé"/>
          <p:cNvSpPr txBox="1"/>
          <p:nvPr/>
        </p:nvSpPr>
        <p:spPr>
          <a:xfrm>
            <a:off x="489621" y="1068945"/>
            <a:ext cx="10843788" cy="1200279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457200" algn="just">
              <a:lnSpc>
                <a:spcPct val="120000"/>
              </a:lnSpc>
            </a:pPr>
            <a:r>
              <a:rPr lang="zh-CN" altLang="en-US" sz="2400" dirty="0">
                <a:latin typeface="+mn-ea"/>
              </a:rPr>
              <a:t>每个信号量</a:t>
            </a:r>
            <a:r>
              <a:rPr lang="en-US" altLang="zh-CN" sz="2400" dirty="0">
                <a:latin typeface="+mn-ea"/>
              </a:rPr>
              <a:t>S</a:t>
            </a:r>
            <a:r>
              <a:rPr lang="zh-CN" altLang="en-US" sz="2400" dirty="0">
                <a:latin typeface="+mn-ea"/>
              </a:rPr>
              <a:t>除了</a:t>
            </a:r>
            <a:r>
              <a:rPr lang="zh-CN" altLang="en-US" sz="2400" dirty="0">
                <a:latin typeface="+mn-ea"/>
              </a:rPr>
              <a:t>有一个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整数值</a:t>
            </a:r>
            <a:r>
              <a:rPr lang="en-US" altLang="zh-CN" sz="2400" dirty="0" err="1">
                <a:latin typeface="+mn-ea"/>
              </a:rPr>
              <a:t>S.value</a:t>
            </a:r>
            <a:r>
              <a:rPr lang="zh-CN" altLang="en-US" sz="2400" dirty="0">
                <a:latin typeface="+mn-ea"/>
              </a:rPr>
              <a:t>外，还有一个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进程等待队列</a:t>
            </a:r>
            <a:r>
              <a:rPr lang="en-US" altLang="zh-CN" sz="2400" dirty="0" err="1">
                <a:latin typeface="+mn-ea"/>
              </a:rPr>
              <a:t>S.list</a:t>
            </a:r>
            <a:r>
              <a:rPr lang="zh-CN" altLang="en-US" sz="2400" dirty="0">
                <a:latin typeface="+mn-ea"/>
              </a:rPr>
              <a:t>，存放阻塞在该信号量的各个进程</a:t>
            </a:r>
            <a:r>
              <a:rPr lang="en-US" altLang="zh-CN" sz="2400" dirty="0">
                <a:latin typeface="+mn-ea"/>
              </a:rPr>
              <a:t>PCB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" name="îṥľíḑé"/>
          <p:cNvSpPr txBox="1"/>
          <p:nvPr/>
        </p:nvSpPr>
        <p:spPr>
          <a:xfrm>
            <a:off x="2222901" y="2499971"/>
            <a:ext cx="5892328" cy="240580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lIns="91440" tIns="45720" rIns="91440" bIns="45720">
            <a:noAutofit/>
          </a:bodyPr>
          <a:lstStyle/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altLang="zh-CN" sz="2400" dirty="0" smtClean="0"/>
              <a:t>typedef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{</a:t>
            </a:r>
            <a:endParaRPr lang="en-US" alt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altLang="zh-CN" sz="2400" dirty="0"/>
              <a:t>	int value;</a:t>
            </a:r>
            <a:endParaRPr lang="en-US" alt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altLang="zh-CN" sz="2400" dirty="0"/>
              <a:t>	</a:t>
            </a:r>
            <a:r>
              <a:rPr lang="en-US" altLang="zh-CN" sz="2400" dirty="0" err="1"/>
              <a:t>stuct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process_control_block</a:t>
            </a:r>
            <a:r>
              <a:rPr lang="en-US" altLang="zh-CN" sz="2400" dirty="0"/>
              <a:t> *list;</a:t>
            </a:r>
            <a:endParaRPr lang="en-US" alt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altLang="zh-CN" sz="2400" dirty="0"/>
              <a:t>}semaphore; 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134745" y="51365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去除忙等的信号量</a:t>
            </a:r>
            <a:endParaRPr lang="zh-CN" altLang="en-US" sz="28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</a:rPr>
              <a:t>wait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2800" b="1" dirty="0" smtClean="0">
                <a:solidFill>
                  <a:schemeClr val="bg1"/>
                </a:solidFill>
              </a:rPr>
              <a:t>signal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操作定义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791026" y="902091"/>
            <a:ext cx="10610471" cy="50524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wait(semaphores *S) {   		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请求一个单位的资源</a:t>
            </a:r>
            <a:endParaRPr lang="zh-CN" altLang="en-US" sz="2400" dirty="0" smtClean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		  S.value --; 			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资源减少一个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		  if (</a:t>
            </a:r>
            <a:r>
              <a:rPr lang="en-US" altLang="zh-CN" sz="24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S.value&lt;0</a:t>
            </a:r>
            <a:r>
              <a:rPr lang="en-US" altLang="zh-CN" sz="2400" dirty="0" smtClean="0"/>
              <a:t>) block(S.list)</a:t>
            </a:r>
            <a:r>
              <a:rPr lang="en-US" altLang="zh-CN" sz="2400" dirty="0" smtClean="0">
                <a:solidFill>
                  <a:schemeClr val="accent1">
                    <a:lumMod val="75000"/>
                  </a:schemeClr>
                </a:solidFill>
              </a:rPr>
              <a:t> 	           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进程自我阻塞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}</a:t>
            </a:r>
            <a:endParaRPr lang="en-US" altLang="zh-CN" sz="2400" dirty="0" smtClean="0"/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endParaRPr lang="en-US" altLang="zh-CN" sz="2400" dirty="0" smtClean="0"/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signal(semaphores *S) 		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释放一个单位资源</a:t>
            </a:r>
            <a:endParaRPr lang="zh-CN" altLang="en-US" sz="2400" dirty="0" smtClean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{</a:t>
            </a:r>
            <a:endParaRPr lang="en-US" altLang="zh-CN" sz="2400" dirty="0" smtClean="0"/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	  S.value++; 			           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资源增加一个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	  if (S.value&lt;=0) wakeup(S.list); 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唤醒等待队列中的一个进程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marL="609600" indent="-609600">
              <a:buFont typeface="Wingdings 2" panose="05020102010507070707" pitchFamily="18" charset="2"/>
              <a:buNone/>
              <a:defRPr/>
            </a:pPr>
            <a:r>
              <a:rPr lang="en-US" altLang="zh-CN" sz="2400" dirty="0" smtClean="0"/>
              <a:t>}</a:t>
            </a:r>
            <a:r>
              <a:rPr lang="zh-CN" altLang="en-US" sz="2400" dirty="0" smtClean="0"/>
              <a:t>		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5690" y="1167130"/>
            <a:ext cx="103708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有两个优先级相同的并发进程P</a:t>
            </a:r>
            <a:r>
              <a:rPr lang="en-US" altLang="zh-CN" sz="2800"/>
              <a:t>1</a:t>
            </a:r>
            <a:r>
              <a:rPr lang="zh-CN" altLang="en-US" sz="2800"/>
              <a:t>和 P2，它们的执行过程如下。假设当前信号量s1=0，s2=0,并假设z=1，那么进程运行完毕后，</a:t>
            </a:r>
            <a:endParaRPr lang="zh-CN" altLang="en-US" sz="2800"/>
          </a:p>
          <a:p>
            <a:r>
              <a:rPr lang="zh-CN" altLang="en-US" sz="2800"/>
              <a:t>x、y和z的值分别是（）。</a:t>
            </a:r>
            <a:endParaRPr lang="zh-CN" altLang="en-US" sz="2800"/>
          </a:p>
          <a:p>
            <a:r>
              <a:rPr lang="zh-CN" altLang="en-US" sz="2800"/>
              <a:t>    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1567180" y="2981960"/>
            <a:ext cx="2421890" cy="3107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进程P1{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Y=1;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Y=Y+2</a:t>
            </a:r>
            <a:r>
              <a:rPr lang="en-US" altLang="zh-CN" sz="2800">
                <a:sym typeface="+mn-ea"/>
              </a:rPr>
              <a:t>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Z=Y+1</a:t>
            </a:r>
            <a:r>
              <a:rPr lang="en-US" altLang="zh-CN" sz="2800">
                <a:sym typeface="+mn-ea"/>
              </a:rPr>
              <a:t>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V(s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)</a:t>
            </a:r>
            <a:r>
              <a:rPr lang="en-US" altLang="zh-CN" sz="2800">
                <a:sym typeface="+mn-ea"/>
              </a:rPr>
              <a:t>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P(s2)</a:t>
            </a:r>
            <a:r>
              <a:rPr lang="en-US" altLang="zh-CN" sz="2800">
                <a:sym typeface="+mn-ea"/>
              </a:rPr>
              <a:t>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</a:t>
            </a:r>
            <a:r>
              <a:rPr lang="en-US" altLang="zh-CN" sz="2800">
                <a:sym typeface="+mn-ea"/>
              </a:rPr>
              <a:t>Y=X+Y+Z;</a:t>
            </a:r>
            <a:endParaRPr lang="en-US" altLang="zh-CN" sz="28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6820" y="2981960"/>
            <a:ext cx="2421890" cy="3107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进程P</a:t>
            </a:r>
            <a:r>
              <a:rPr lang="en-US" altLang="zh-CN" sz="2800">
                <a:sym typeface="+mn-ea"/>
              </a:rPr>
              <a:t>2</a:t>
            </a:r>
            <a:r>
              <a:rPr lang="zh-CN" altLang="en-US" sz="2800">
                <a:sym typeface="+mn-ea"/>
              </a:rPr>
              <a:t>{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</a:t>
            </a:r>
            <a:r>
              <a:rPr lang="en-US" altLang="zh-CN" sz="2800">
                <a:sym typeface="+mn-ea"/>
              </a:rPr>
              <a:t>X</a:t>
            </a:r>
            <a:r>
              <a:rPr lang="zh-CN" altLang="en-US" sz="2800">
                <a:sym typeface="+mn-ea"/>
              </a:rPr>
              <a:t>=</a:t>
            </a:r>
            <a:r>
              <a:rPr lang="en-US" altLang="zh-CN" sz="2800">
                <a:sym typeface="+mn-ea"/>
              </a:rPr>
              <a:t>2</a:t>
            </a:r>
            <a:r>
              <a:rPr lang="zh-CN" altLang="en-US" sz="2800">
                <a:sym typeface="+mn-ea"/>
              </a:rPr>
              <a:t>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</a:t>
            </a:r>
            <a:r>
              <a:rPr lang="en-US" altLang="zh-CN" sz="2800">
                <a:sym typeface="+mn-ea"/>
              </a:rPr>
              <a:t>X</a:t>
            </a:r>
            <a:r>
              <a:rPr lang="zh-CN" altLang="en-US" sz="2800">
                <a:sym typeface="+mn-ea"/>
              </a:rPr>
              <a:t>=</a:t>
            </a:r>
            <a:r>
              <a:rPr lang="en-US" altLang="zh-CN" sz="2800">
                <a:sym typeface="+mn-ea"/>
              </a:rPr>
              <a:t>X</a:t>
            </a:r>
            <a:r>
              <a:rPr lang="zh-CN" altLang="en-US" sz="2800">
                <a:sym typeface="+mn-ea"/>
              </a:rPr>
              <a:t>+</a:t>
            </a:r>
            <a:r>
              <a:rPr lang="en-US" altLang="zh-CN" sz="2800">
                <a:sym typeface="+mn-ea"/>
              </a:rPr>
              <a:t>1;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P(s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):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    </a:t>
            </a:r>
            <a:r>
              <a:rPr lang="en-US" altLang="zh-CN" sz="2800">
                <a:sym typeface="+mn-ea"/>
              </a:rPr>
              <a:t>X=X+Y;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 Z=Y+Z;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    V(S2)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信号量的应用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i$lîďê"/>
          <p:cNvSpPr/>
          <p:nvPr>
            <p:custDataLst>
              <p:tags r:id="rId1"/>
            </p:custDataLst>
          </p:nvPr>
        </p:nvSpPr>
        <p:spPr>
          <a:xfrm>
            <a:off x="1705543" y="3168385"/>
            <a:ext cx="461566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l"/>
            <a:r>
              <a:rPr lang="zh-CN" altLang="en-US" sz="2600" dirty="0"/>
              <a:t>利用信号量实现</a:t>
            </a:r>
            <a:r>
              <a:rPr lang="zh-CN" altLang="en-US" sz="2600" dirty="0">
                <a:solidFill>
                  <a:srgbClr val="FF0000"/>
                </a:solidFill>
                <a:sym typeface="+mn-ea"/>
              </a:rPr>
              <a:t>前趋关系</a:t>
            </a:r>
            <a:endParaRPr lang="zh-CN" altLang="en-US" sz="26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ïṧḷïḋè"/>
          <p:cNvSpPr/>
          <p:nvPr>
            <p:custDataLst>
              <p:tags r:id="rId2"/>
            </p:custDataLst>
          </p:nvPr>
        </p:nvSpPr>
        <p:spPr>
          <a:xfrm>
            <a:off x="1649907" y="4653325"/>
            <a:ext cx="461566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l"/>
            <a:r>
              <a:rPr lang="zh-CN" altLang="en-US" sz="2600" dirty="0"/>
              <a:t>利用信号量实现</a:t>
            </a:r>
            <a:r>
              <a:rPr lang="zh-CN" altLang="en-US" sz="2600" dirty="0">
                <a:solidFill>
                  <a:srgbClr val="FF0000"/>
                </a:solidFill>
              </a:rPr>
              <a:t>进程同步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  <p:sp>
        <p:nvSpPr>
          <p:cNvPr id="11" name="íšḻíḑê"/>
          <p:cNvSpPr/>
          <p:nvPr>
            <p:custDataLst>
              <p:tags r:id="rId3"/>
            </p:custDataLst>
          </p:nvPr>
        </p:nvSpPr>
        <p:spPr>
          <a:xfrm>
            <a:off x="1644976" y="1582379"/>
            <a:ext cx="5083008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l"/>
            <a:r>
              <a:rPr lang="zh-CN" altLang="en-US" sz="2600" dirty="0"/>
              <a:t>利用信号量实现</a:t>
            </a:r>
            <a:r>
              <a:rPr lang="zh-CN" altLang="en-US" sz="2600" dirty="0">
                <a:solidFill>
                  <a:srgbClr val="FF0000"/>
                </a:solidFill>
                <a:sym typeface="+mn-ea"/>
              </a:rPr>
              <a:t>进程互斥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  <p:sp>
        <p:nvSpPr>
          <p:cNvPr id="12" name="îSļiḓè"/>
          <p:cNvSpPr/>
          <p:nvPr>
            <p:custDataLst>
              <p:tags r:id="rId4"/>
            </p:custDataLst>
          </p:nvPr>
        </p:nvSpPr>
        <p:spPr>
          <a:xfrm>
            <a:off x="961473" y="1568817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l"/>
          </a:p>
        </p:txBody>
      </p:sp>
      <p:sp>
        <p:nvSpPr>
          <p:cNvPr id="13" name="íṥḻîḓe"/>
          <p:cNvSpPr/>
          <p:nvPr>
            <p:custDataLst>
              <p:tags r:id="rId5"/>
            </p:custDataLst>
          </p:nvPr>
        </p:nvSpPr>
        <p:spPr>
          <a:xfrm>
            <a:off x="1017203" y="456183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l"/>
          </a:p>
        </p:txBody>
      </p:sp>
      <p:sp>
        <p:nvSpPr>
          <p:cNvPr id="14" name="îşļiḓè"/>
          <p:cNvSpPr/>
          <p:nvPr>
            <p:custDataLst>
              <p:tags r:id="rId6"/>
            </p:custDataLst>
          </p:nvPr>
        </p:nvSpPr>
        <p:spPr>
          <a:xfrm>
            <a:off x="1022041" y="3065248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l"/>
          </a:p>
        </p:txBody>
      </p:sp>
      <p:sp>
        <p:nvSpPr>
          <p:cNvPr id="15" name="îṡḷíďe"/>
          <p:cNvSpPr/>
          <p:nvPr>
            <p:custDataLst>
              <p:tags r:id="rId7"/>
            </p:custDataLst>
          </p:nvPr>
        </p:nvSpPr>
        <p:spPr>
          <a:xfrm>
            <a:off x="1151728" y="176495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l"/>
          </a:p>
        </p:txBody>
      </p:sp>
      <p:sp>
        <p:nvSpPr>
          <p:cNvPr id="16" name="íSlíḋe"/>
          <p:cNvSpPr/>
          <p:nvPr>
            <p:custDataLst>
              <p:tags r:id="rId8"/>
            </p:custDataLst>
          </p:nvPr>
        </p:nvSpPr>
        <p:spPr>
          <a:xfrm>
            <a:off x="1212295" y="328726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l"/>
          </a:p>
        </p:txBody>
      </p:sp>
      <p:sp>
        <p:nvSpPr>
          <p:cNvPr id="17" name="ïśḷïḓe"/>
          <p:cNvSpPr/>
          <p:nvPr>
            <p:custDataLst>
              <p:tags r:id="rId9"/>
            </p:custDataLst>
          </p:nvPr>
        </p:nvSpPr>
        <p:spPr>
          <a:xfrm>
            <a:off x="1236396" y="475129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利用信号量实现进程互斥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6673215" y="1192530"/>
            <a:ext cx="4954905" cy="47942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semaphore </a:t>
            </a:r>
            <a:r>
              <a:rPr lang="en-US" altLang="zh-CN" sz="2600" dirty="0" err="1" smtClean="0">
                <a:solidFill>
                  <a:schemeClr val="tx1"/>
                </a:solidFill>
                <a:sym typeface="MT Extra" panose="05050102010205020202" pitchFamily="18" charset="2"/>
              </a:rPr>
              <a:t>mutex</a:t>
            </a: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; 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err="1" smtClean="0">
                <a:solidFill>
                  <a:schemeClr val="tx1"/>
                </a:solidFill>
                <a:sym typeface="MT Extra" panose="05050102010205020202" pitchFamily="18" charset="2"/>
              </a:rPr>
              <a:t>mutex</a:t>
            </a: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=1; // </a:t>
            </a:r>
            <a:r>
              <a:rPr lang="zh-CN" altLang="en-US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初始化为</a:t>
            </a: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 1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while(1)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{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	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P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(</a:t>
            </a:r>
            <a:r>
              <a:rPr lang="en-US" altLang="zh-CN" sz="2600" b="1" dirty="0" err="1" smtClean="0">
                <a:solidFill>
                  <a:schemeClr val="tx1"/>
                </a:solidFill>
                <a:sym typeface="MT Extra" panose="05050102010205020202" pitchFamily="18" charset="2"/>
              </a:rPr>
              <a:t>mutex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);</a:t>
            </a:r>
            <a:endParaRPr lang="en-US" altLang="zh-CN" sz="2600" b="1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	</a:t>
            </a:r>
            <a:r>
              <a:rPr lang="zh-CN" altLang="en-US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临界区；</a:t>
            </a:r>
            <a:endParaRPr lang="zh-CN" altLang="en-US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	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V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(</a:t>
            </a:r>
            <a:r>
              <a:rPr lang="en-US" altLang="zh-CN" sz="2600" b="1" dirty="0" err="1" smtClean="0">
                <a:solidFill>
                  <a:schemeClr val="tx1"/>
                </a:solidFill>
                <a:sym typeface="MT Extra" panose="05050102010205020202" pitchFamily="18" charset="2"/>
              </a:rPr>
              <a:t>mutex</a:t>
            </a:r>
            <a:r>
              <a:rPr lang="en-US" altLang="zh-CN" sz="2600" b="1" dirty="0" smtClean="0">
                <a:solidFill>
                  <a:schemeClr val="tx1"/>
                </a:solidFill>
                <a:sym typeface="MT Extra" panose="05050102010205020202" pitchFamily="18" charset="2"/>
              </a:rPr>
              <a:t>);</a:t>
            </a:r>
            <a:endParaRPr lang="en-US" altLang="zh-CN" sz="2600" b="1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	</a:t>
            </a:r>
            <a:r>
              <a:rPr lang="zh-CN" altLang="en-US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剩余区；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2600" dirty="0" smtClean="0">
                <a:solidFill>
                  <a:schemeClr val="tx1"/>
                </a:solidFill>
                <a:sym typeface="MT Extra" panose="05050102010205020202" pitchFamily="18" charset="2"/>
              </a:rPr>
              <a:t>}</a:t>
            </a:r>
            <a:endParaRPr lang="en-US" altLang="zh-CN" sz="26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2725" y="1454785"/>
            <a:ext cx="5434965" cy="4119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为使多个进程互斥的访问某临界资源，须为该资源设置一</a:t>
            </a:r>
            <a:r>
              <a:rPr lang="zh-CN" altLang="en-US" sz="2400">
                <a:solidFill>
                  <a:schemeClr val="accent3">
                    <a:lumMod val="50000"/>
                    <a:lumOff val="50000"/>
                  </a:schemeClr>
                </a:solidFill>
              </a:rPr>
              <a:t>互斥信号量</a:t>
            </a:r>
            <a:r>
              <a:rPr lang="zh-CN" altLang="en-US" sz="2400" b="1">
                <a:solidFill>
                  <a:srgbClr val="C00000"/>
                </a:solidFill>
              </a:rPr>
              <a:t>mutex</a:t>
            </a:r>
            <a:r>
              <a:rPr lang="zh-CN" altLang="en-US" sz="2400"/>
              <a:t>，并设其</a:t>
            </a:r>
            <a:r>
              <a:rPr lang="zh-CN" altLang="en-US" sz="2400" b="1">
                <a:solidFill>
                  <a:srgbClr val="C00000"/>
                </a:solidFill>
              </a:rPr>
              <a:t>初始值为1</a:t>
            </a:r>
            <a:r>
              <a:rPr lang="zh-CN" altLang="en-US" sz="2400"/>
              <a:t>。</a:t>
            </a:r>
            <a:endParaRPr lang="zh-CN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然后将各进程访问资源的临界区置于wait（mutex）和signal（mutex)之间即可。</a:t>
            </a:r>
            <a:endParaRPr lang="zh-CN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PV</a:t>
            </a:r>
            <a:r>
              <a:rPr lang="zh-CN" altLang="en-US" sz="2400"/>
              <a:t>操作必须成对</a:t>
            </a:r>
            <a:r>
              <a:rPr lang="zh-CN" altLang="en-US" sz="2400"/>
              <a:t>出现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7026275" cy="643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消费者问题描述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增加互斥机制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8390" y="1031196"/>
            <a:ext cx="107743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问题：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如何实现生产者和消费者之间的同步和互斥？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8185" y="2044065"/>
            <a:ext cx="9495155" cy="429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200" dirty="0">
                <a:latin typeface="+mn-ea"/>
                <a:sym typeface="+mn-ea"/>
              </a:rPr>
              <a:t>互斥：缓冲池是临界资源，需互斥使用，定义互斥信号量</a:t>
            </a:r>
            <a:r>
              <a:rPr lang="en-US" altLang="zh-CN" sz="2200" b="1" dirty="0" err="1">
                <a:latin typeface="+mn-ea"/>
                <a:sym typeface="+mn-ea"/>
              </a:rPr>
              <a:t>mutex=1</a:t>
            </a:r>
            <a:endParaRPr lang="en-US" altLang="zh-CN" sz="2200" b="1" dirty="0" err="1">
              <a:latin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94885" y="7993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89535" y="1062355"/>
            <a:ext cx="6322695" cy="58813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producer( 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while(1){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produce an item in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…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while (count == n) ;   // do nothing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P(Mutex);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400" dirty="0" smtClean="0"/>
              <a:t>      	</a:t>
            </a:r>
            <a:r>
              <a:rPr lang="en-US" altLang="zh-CN" sz="2400" dirty="0" smtClean="0">
                <a:sym typeface="+mn-ea"/>
              </a:rPr>
              <a:t>// add an item to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buffer[in] =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in = (in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count++;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         V(Mutex);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}</a:t>
            </a:r>
            <a:endParaRPr lang="en-US" altLang="zh-CN" sz="2400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984875" y="1062355"/>
            <a:ext cx="6023610" cy="5882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consumer()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while(1){ 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 while (count == 0) ; // do nothing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 // remove an item from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</a:t>
            </a: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P(Mutex);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 = buffer[out];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out = (out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 --;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V(Mutex);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	consumer the item in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}</a:t>
            </a:r>
            <a:endParaRPr lang="en-US" altLang="zh-CN" sz="2400" dirty="0" smtClean="0"/>
          </a:p>
        </p:txBody>
      </p:sp>
      <p:sp>
        <p:nvSpPr>
          <p:cNvPr id="2" name="矩形 1"/>
          <p:cNvSpPr/>
          <p:nvPr/>
        </p:nvSpPr>
        <p:spPr>
          <a:xfrm>
            <a:off x="669925" y="78740"/>
            <a:ext cx="7026275" cy="643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消费者问题描述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增加互斥机制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利用信号量实现前趋关系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9925" y="1139190"/>
            <a:ext cx="11020425" cy="2601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/>
              <a:t>问题</a:t>
            </a:r>
            <a:r>
              <a:rPr lang="zh-CN" altLang="en-US" sz="2400"/>
              <a:t>：设有两个并发执行的进程P1和P2，P1中有语句S1，P2中有语句S2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，希望在S1执行后再执行S2。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 b="1"/>
              <a:t>实现方法</a:t>
            </a:r>
            <a:r>
              <a:rPr lang="zh-CN" altLang="en-US" sz="2400"/>
              <a:t>：使进程P1和P2共享一个</a:t>
            </a:r>
            <a:r>
              <a:rPr lang="zh-CN" altLang="en-US" sz="2400"/>
              <a:t>公用信号量S，并赋予其</a:t>
            </a:r>
            <a:r>
              <a:rPr lang="zh-CN" altLang="en-US" sz="2400" b="1">
                <a:solidFill>
                  <a:srgbClr val="C00000"/>
                </a:solidFill>
              </a:rPr>
              <a:t>初值为0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380" y="2237740"/>
            <a:ext cx="1988820" cy="640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91945" y="3578225"/>
            <a:ext cx="3889375" cy="2620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r>
              <a:rPr lang="zh-CN" altLang="en-US" sz="2800"/>
              <a:t>进程P1:    </a:t>
            </a:r>
            <a:endParaRPr lang="zh-CN" altLang="en-US" sz="2800"/>
          </a:p>
          <a:p>
            <a:r>
              <a:rPr lang="zh-CN" altLang="en-US" sz="2800"/>
              <a:t>S1;  </a:t>
            </a:r>
            <a:r>
              <a:rPr lang="en-US" altLang="zh-CN" sz="2800"/>
              <a:t>            </a:t>
            </a:r>
            <a:endParaRPr lang="en-US" altLang="zh-CN" sz="2800"/>
          </a:p>
          <a:p>
            <a:r>
              <a:rPr lang="en-US" altLang="zh-CN" sz="2800"/>
              <a:t>V</a:t>
            </a:r>
            <a:r>
              <a:rPr lang="zh-CN" altLang="en-US" sz="2800"/>
              <a:t>(S);</a:t>
            </a:r>
            <a:endParaRPr lang="zh-CN" altLang="en-US" sz="2800"/>
          </a:p>
          <a:p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6189345" y="3578225"/>
            <a:ext cx="3889375" cy="2620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r>
              <a:rPr lang="zh-CN" altLang="en-US" sz="2800"/>
              <a:t>进程P2:   </a:t>
            </a:r>
            <a:endParaRPr lang="zh-CN" altLang="en-US" sz="2800"/>
          </a:p>
          <a:p>
            <a:r>
              <a:rPr lang="zh-CN" altLang="en-US" sz="2800"/>
              <a:t> </a:t>
            </a:r>
            <a:r>
              <a:rPr lang="en-US" altLang="zh-CN" sz="2800"/>
              <a:t>P</a:t>
            </a:r>
            <a:r>
              <a:rPr lang="zh-CN" altLang="en-US" sz="2800"/>
              <a:t>(S);</a:t>
            </a:r>
            <a:r>
              <a:rPr lang="en-US" altLang="zh-CN" sz="2800"/>
              <a:t>         </a:t>
            </a:r>
            <a:endParaRPr lang="en-US" altLang="zh-CN" sz="2800"/>
          </a:p>
          <a:p>
            <a:r>
              <a:rPr lang="en-US" altLang="zh-CN" sz="2800"/>
              <a:t> </a:t>
            </a:r>
            <a:r>
              <a:rPr lang="zh-CN" altLang="en-US" sz="2800"/>
              <a:t>S2;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利用信号量实现前趋关系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4" name="内容占位符 2"/>
          <p:cNvSpPr txBox="1"/>
          <p:nvPr/>
        </p:nvSpPr>
        <p:spPr>
          <a:xfrm>
            <a:off x="669925" y="1280634"/>
            <a:ext cx="6915731" cy="5059680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  <a:buFont typeface="Wingdings 2" panose="05020102010507070707" pitchFamily="18" charset="2"/>
              <a:buNone/>
            </a:pPr>
            <a:r>
              <a:rPr lang="en-US" altLang="zh-CN" sz="2600" smtClean="0"/>
              <a:t>   Semaphore    a=b=</a:t>
            </a:r>
            <a:r>
              <a:rPr lang="en-US" altLang="zh-CN" sz="2600" smtClean="0"/>
              <a:t>c=d=e=f=g=0;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cobegin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{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S1;V(a);V(b); 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P(a);S2;V(c) ;V(d);}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P(b);S3;V(e); 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P(c);S4;V(f); 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P(d);S5;V(g); 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	{ P(e);P(f);P(g);S6; 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}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r>
              <a:rPr lang="en-US" altLang="zh-CN" sz="2600" smtClean="0"/>
              <a:t>	coend</a:t>
            </a:r>
            <a:endParaRPr lang="en-US" altLang="zh-CN" sz="2600" smtClean="0"/>
          </a:p>
          <a:p>
            <a:pPr>
              <a:lnSpc>
                <a:spcPct val="70000"/>
              </a:lnSpc>
              <a:spcBef>
                <a:spcPct val="35000"/>
              </a:spcBef>
              <a:buFont typeface="Monotype Sorts" pitchFamily="2" charset="2"/>
              <a:buNone/>
            </a:pPr>
            <a:endParaRPr lang="en-US" altLang="zh-CN" sz="2600" smtClean="0"/>
          </a:p>
          <a:p>
            <a:endParaRPr lang="zh-CN" altLang="en-US" sz="2600" dirty="0" smtClean="0"/>
          </a:p>
        </p:txBody>
      </p:sp>
      <p:grpSp>
        <p:nvGrpSpPr>
          <p:cNvPr id="29" name="Group 3"/>
          <p:cNvGrpSpPr/>
          <p:nvPr/>
        </p:nvGrpSpPr>
        <p:grpSpPr bwMode="auto">
          <a:xfrm>
            <a:off x="7824568" y="1280634"/>
            <a:ext cx="3483082" cy="4554800"/>
            <a:chOff x="2832" y="1440"/>
            <a:chExt cx="1872" cy="2448"/>
          </a:xfrm>
        </p:grpSpPr>
        <p:sp>
          <p:nvSpPr>
            <p:cNvPr id="32" name="Oval 4"/>
            <p:cNvSpPr>
              <a:spLocks noChangeArrowheads="1"/>
            </p:cNvSpPr>
            <p:nvPr/>
          </p:nvSpPr>
          <p:spPr bwMode="auto">
            <a:xfrm>
              <a:off x="3840" y="1440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>
                  <a:latin typeface="Arial" panose="020B0604020202020204" pitchFamily="34" charset="0"/>
                </a:rPr>
                <a:t>1</a:t>
              </a:r>
              <a:endParaRPr lang="en-US" altLang="zh-CN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312" y="2112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 dirty="0">
                  <a:latin typeface="Arial" panose="020B0604020202020204" pitchFamily="34" charset="0"/>
                </a:rPr>
                <a:t>2</a:t>
              </a:r>
              <a:endParaRPr lang="en-US" altLang="zh-CN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4" name="Oval 6"/>
            <p:cNvSpPr>
              <a:spLocks noChangeArrowheads="1"/>
            </p:cNvSpPr>
            <p:nvPr/>
          </p:nvSpPr>
          <p:spPr bwMode="auto">
            <a:xfrm>
              <a:off x="4368" y="2064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>
                  <a:latin typeface="Arial" panose="020B0604020202020204" pitchFamily="34" charset="0"/>
                </a:rPr>
                <a:t>3</a:t>
              </a:r>
              <a:endParaRPr lang="en-US" altLang="zh-CN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2832" y="2736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 dirty="0">
                  <a:latin typeface="Arial" panose="020B0604020202020204" pitchFamily="34" charset="0"/>
                </a:rPr>
                <a:t>4</a:t>
              </a:r>
              <a:endParaRPr lang="en-US" altLang="zh-CN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6" name="Oval 8"/>
            <p:cNvSpPr>
              <a:spLocks noChangeArrowheads="1"/>
            </p:cNvSpPr>
            <p:nvPr/>
          </p:nvSpPr>
          <p:spPr bwMode="auto">
            <a:xfrm>
              <a:off x="3744" y="2688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 dirty="0">
                  <a:latin typeface="Arial" panose="020B0604020202020204" pitchFamily="34" charset="0"/>
                </a:rPr>
                <a:t>5</a:t>
              </a:r>
              <a:endParaRPr lang="en-US" altLang="zh-CN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3744" y="3552"/>
              <a:ext cx="336" cy="3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S</a:t>
              </a:r>
              <a:r>
                <a:rPr lang="en-US" altLang="zh-CN" sz="2400" baseline="-25000">
                  <a:latin typeface="Arial" panose="020B0604020202020204" pitchFamily="34" charset="0"/>
                </a:rPr>
                <a:t>6</a:t>
              </a:r>
              <a:endParaRPr lang="en-US" altLang="zh-CN" sz="2400" baseline="-25000">
                <a:latin typeface="Arial" panose="020B0604020202020204" pitchFamily="34" charset="0"/>
              </a:endParaRPr>
            </a:p>
          </p:txBody>
        </p:sp>
        <p:cxnSp>
          <p:nvCxnSpPr>
            <p:cNvPr id="38" name="AutoShape 10"/>
            <p:cNvCxnSpPr>
              <a:cxnSpLocks noChangeShapeType="1"/>
              <a:stCxn id="32" idx="3"/>
              <a:endCxn id="33" idx="7"/>
            </p:cNvCxnSpPr>
            <p:nvPr/>
          </p:nvCxnSpPr>
          <p:spPr bwMode="auto">
            <a:xfrm flipH="1">
              <a:off x="3599" y="1736"/>
              <a:ext cx="290" cy="416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"/>
            <p:cNvCxnSpPr>
              <a:cxnSpLocks noChangeShapeType="1"/>
              <a:stCxn id="32" idx="5"/>
              <a:endCxn id="34" idx="1"/>
            </p:cNvCxnSpPr>
            <p:nvPr/>
          </p:nvCxnSpPr>
          <p:spPr bwMode="auto">
            <a:xfrm>
              <a:off x="4127" y="1736"/>
              <a:ext cx="290" cy="368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2"/>
            <p:cNvCxnSpPr>
              <a:cxnSpLocks noChangeShapeType="1"/>
              <a:stCxn id="36" idx="4"/>
              <a:endCxn id="37" idx="0"/>
            </p:cNvCxnSpPr>
            <p:nvPr/>
          </p:nvCxnSpPr>
          <p:spPr bwMode="auto">
            <a:xfrm>
              <a:off x="3912" y="3033"/>
              <a:ext cx="0" cy="510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3"/>
            <p:cNvCxnSpPr>
              <a:cxnSpLocks noChangeShapeType="1"/>
              <a:stCxn id="34" idx="4"/>
              <a:endCxn id="37" idx="7"/>
            </p:cNvCxnSpPr>
            <p:nvPr/>
          </p:nvCxnSpPr>
          <p:spPr bwMode="auto">
            <a:xfrm flipH="1">
              <a:off x="4031" y="2409"/>
              <a:ext cx="505" cy="1183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4"/>
            <p:cNvCxnSpPr>
              <a:cxnSpLocks noChangeShapeType="1"/>
              <a:stCxn id="33" idx="3"/>
              <a:endCxn id="35" idx="7"/>
            </p:cNvCxnSpPr>
            <p:nvPr/>
          </p:nvCxnSpPr>
          <p:spPr bwMode="auto">
            <a:xfrm flipH="1">
              <a:off x="3119" y="2408"/>
              <a:ext cx="242" cy="368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5"/>
            <p:cNvCxnSpPr>
              <a:cxnSpLocks noChangeShapeType="1"/>
              <a:stCxn id="35" idx="5"/>
              <a:endCxn id="37" idx="1"/>
            </p:cNvCxnSpPr>
            <p:nvPr/>
          </p:nvCxnSpPr>
          <p:spPr bwMode="auto">
            <a:xfrm>
              <a:off x="3119" y="3032"/>
              <a:ext cx="674" cy="560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6"/>
            <p:cNvCxnSpPr>
              <a:cxnSpLocks noChangeShapeType="1"/>
              <a:stCxn id="33" idx="5"/>
              <a:endCxn id="36" idx="1"/>
            </p:cNvCxnSpPr>
            <p:nvPr/>
          </p:nvCxnSpPr>
          <p:spPr bwMode="auto">
            <a:xfrm>
              <a:off x="3599" y="2408"/>
              <a:ext cx="194" cy="320"/>
            </a:xfrm>
            <a:prstGeom prst="straightConnector1">
              <a:avLst/>
            </a:prstGeom>
            <a:noFill/>
            <a:ln w="2857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57910" y="1614170"/>
            <a:ext cx="10052050" cy="26765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【</a:t>
            </a:r>
            <a:r>
              <a:rPr lang="en-US" altLang="zh-CN" sz="2800"/>
              <a:t>2020</a:t>
            </a:r>
            <a:r>
              <a:rPr lang="zh-CN" altLang="en-US" sz="2800"/>
              <a:t>】现有</a:t>
            </a:r>
            <a:r>
              <a:rPr lang="en-US" altLang="zh-CN" sz="2800"/>
              <a:t>5</a:t>
            </a:r>
            <a:r>
              <a:rPr lang="zh-CN" altLang="en-US" sz="2800"/>
              <a:t>个操作 </a:t>
            </a:r>
            <a:r>
              <a:rPr lang="en-US" altLang="zh-CN" sz="2800"/>
              <a:t>A </a:t>
            </a:r>
            <a:r>
              <a:rPr lang="zh-CN" altLang="en-US" sz="2800"/>
              <a:t>、 </a:t>
            </a:r>
            <a:r>
              <a:rPr lang="en-US" altLang="zh-CN" sz="2800"/>
              <a:t>B </a:t>
            </a:r>
            <a:r>
              <a:rPr lang="zh-CN" altLang="en-US" sz="2800"/>
              <a:t>、 </a:t>
            </a:r>
            <a:r>
              <a:rPr lang="en-US" altLang="zh-CN" sz="2800"/>
              <a:t>C </a:t>
            </a:r>
            <a:r>
              <a:rPr lang="zh-CN" altLang="en-US" sz="2800"/>
              <a:t>、 </a:t>
            </a:r>
            <a:r>
              <a:rPr lang="en-US" altLang="zh-CN" sz="2800"/>
              <a:t>D </a:t>
            </a:r>
            <a:r>
              <a:rPr lang="zh-CN" altLang="en-US" sz="2800"/>
              <a:t>和 </a:t>
            </a:r>
            <a:r>
              <a:rPr lang="en-US" altLang="zh-CN" sz="2800"/>
              <a:t>E </a:t>
            </a:r>
            <a:r>
              <a:rPr lang="zh-CN" altLang="en-US" sz="2800"/>
              <a:t>，操作 </a:t>
            </a:r>
            <a:r>
              <a:rPr lang="en-US" altLang="zh-CN" sz="2800"/>
              <a:t>C </a:t>
            </a:r>
            <a:r>
              <a:rPr lang="zh-CN" altLang="en-US" sz="2800"/>
              <a:t>必须在 </a:t>
            </a:r>
            <a:r>
              <a:rPr lang="en-US" altLang="zh-CN" sz="2800"/>
              <a:t>A </a:t>
            </a:r>
            <a:r>
              <a:rPr lang="zh-CN" altLang="en-US" sz="2800"/>
              <a:t>和 </a:t>
            </a:r>
            <a:r>
              <a:rPr lang="en-US" altLang="zh-CN" sz="2800"/>
              <a:t>B </a:t>
            </a:r>
            <a:r>
              <a:rPr lang="zh-CN" altLang="en-US" sz="2800"/>
              <a:t>完成后执行，操作 </a:t>
            </a:r>
            <a:r>
              <a:rPr lang="en-US" altLang="zh-CN" sz="2800"/>
              <a:t>E </a:t>
            </a:r>
            <a:r>
              <a:rPr lang="zh-CN" altLang="en-US" sz="2800"/>
              <a:t>必须在 </a:t>
            </a:r>
            <a:r>
              <a:rPr lang="en-US" altLang="zh-CN" sz="2800"/>
              <a:t>C </a:t>
            </a:r>
            <a:r>
              <a:rPr lang="zh-CN" altLang="en-US" sz="2800"/>
              <a:t>和 </a:t>
            </a:r>
            <a:r>
              <a:rPr lang="en-US" altLang="zh-CN" sz="2800"/>
              <a:t>D </a:t>
            </a:r>
            <a:r>
              <a:rPr lang="zh-CN" altLang="en-US" sz="2800"/>
              <a:t>完成后执行，请使用信号量的 </a:t>
            </a:r>
            <a:r>
              <a:rPr lang="en-US" altLang="zh-CN" sz="2800"/>
              <a:t>wait ()</a:t>
            </a:r>
            <a:r>
              <a:rPr lang="zh-CN" altLang="en-US" sz="2800"/>
              <a:t>、 </a:t>
            </a:r>
            <a:r>
              <a:rPr lang="en-US" altLang="zh-CN" sz="2800"/>
              <a:t>signal ()</a:t>
            </a:r>
            <a:r>
              <a:rPr lang="zh-CN" altLang="en-US" sz="2800"/>
              <a:t>操作</a:t>
            </a:r>
            <a:r>
              <a:rPr lang="en-US" altLang="zh-CN" sz="2800"/>
              <a:t>( P / V </a:t>
            </a:r>
            <a:r>
              <a:rPr lang="zh-CN" altLang="en-US" sz="2800"/>
              <a:t>操作）描述上述操作之间的同步关系，并说明所用信号量及其初值。</a:t>
            </a:r>
            <a:endParaRPr lang="zh-CN" altLang="en-US"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0"/>
            <a:ext cx="4370070" cy="36677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48350" y="153035"/>
            <a:ext cx="5855335" cy="6499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400"/>
              <a:t>Semaphore a=b=c=d=0</a:t>
            </a:r>
            <a:r>
              <a:rPr lang="en-US" altLang="zh-CN" sz="2400">
                <a:sym typeface="+mn-ea"/>
              </a:rPr>
              <a:t>;</a:t>
            </a:r>
            <a:endParaRPr lang="en-US" altLang="zh-CN" sz="2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Cobegin {</a:t>
            </a:r>
            <a:endParaRPr lang="en-US" altLang="zh-CN" sz="2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A{ </a:t>
            </a:r>
            <a:r>
              <a:rPr lang="en-US" altLang="zh-CN" sz="2400">
                <a:sym typeface="+mn-ea"/>
              </a:rPr>
              <a:t>A</a:t>
            </a:r>
            <a:r>
              <a:rPr lang="zh-CN" altLang="en-US" sz="2400">
                <a:sym typeface="+mn-ea"/>
              </a:rPr>
              <a:t>完成</a:t>
            </a:r>
            <a:r>
              <a:rPr lang="zh-CN" altLang="en-US" sz="2400">
                <a:sym typeface="+mn-ea"/>
              </a:rPr>
              <a:t>操作</a:t>
            </a:r>
            <a:r>
              <a:rPr lang="en-US" altLang="zh-CN" sz="2400">
                <a:sym typeface="+mn-ea"/>
              </a:rPr>
              <a:t>;V(a);}</a:t>
            </a:r>
            <a:endParaRPr lang="en-US" altLang="zh-CN" sz="2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B{ B</a:t>
            </a:r>
            <a:r>
              <a:rPr lang="zh-CN" altLang="en-US" sz="2400">
                <a:sym typeface="+mn-ea"/>
              </a:rPr>
              <a:t>完成操作</a:t>
            </a:r>
            <a:r>
              <a:rPr lang="en-US" altLang="zh-CN" sz="2400">
                <a:sym typeface="+mn-ea"/>
              </a:rPr>
              <a:t>;V(b);}</a:t>
            </a:r>
            <a:endParaRPr lang="en-US" altLang="zh-CN" sz="2400"/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C{ P(a);P(b);C</a:t>
            </a:r>
            <a:r>
              <a:rPr lang="zh-CN" altLang="en-US" sz="2400">
                <a:sym typeface="+mn-ea"/>
              </a:rPr>
              <a:t>完成操作</a:t>
            </a:r>
            <a:r>
              <a:rPr lang="en-US" altLang="zh-CN" sz="2400">
                <a:sym typeface="+mn-ea"/>
              </a:rPr>
              <a:t>;V(c);}</a:t>
            </a:r>
            <a:endParaRPr lang="en-US" altLang="zh-CN" sz="2400"/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D{ D</a:t>
            </a:r>
            <a:r>
              <a:rPr lang="zh-CN" altLang="en-US" sz="2400">
                <a:sym typeface="+mn-ea"/>
              </a:rPr>
              <a:t>完成操作</a:t>
            </a:r>
            <a:r>
              <a:rPr lang="en-US" altLang="zh-CN" sz="2400">
                <a:sym typeface="+mn-ea"/>
              </a:rPr>
              <a:t>;V(d);}</a:t>
            </a:r>
            <a:endParaRPr lang="en-US" altLang="zh-CN" sz="2400"/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E{  P(c);P(d);E</a:t>
            </a:r>
            <a:r>
              <a:rPr lang="zh-CN" altLang="en-US" sz="2400">
                <a:sym typeface="+mn-ea"/>
              </a:rPr>
              <a:t>完成操作</a:t>
            </a:r>
            <a:r>
              <a:rPr lang="en-US" altLang="zh-CN" sz="2400">
                <a:sym typeface="+mn-ea"/>
              </a:rPr>
              <a:t>;}</a:t>
            </a:r>
            <a:endParaRPr lang="en-US" altLang="zh-CN" sz="2400"/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}</a:t>
            </a:r>
            <a:endParaRPr lang="en-US" altLang="zh-CN" sz="2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>
                <a:sym typeface="+mn-ea"/>
              </a:rPr>
              <a:t>Coend</a:t>
            </a:r>
            <a:endParaRPr lang="en-US" altLang="zh-CN" sz="240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利用信号量实现进程同步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9525" y="1628775"/>
            <a:ext cx="9569450" cy="2084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p</a:t>
            </a:r>
            <a:r>
              <a:rPr lang="zh-CN" altLang="en-US" sz="2800"/>
              <a:t>1，p2两进程因合作完成一项任务而共用一个变量x。</a:t>
            </a:r>
            <a:endParaRPr lang="zh-CN" altLang="en-US" sz="2800"/>
          </a:p>
          <a:p>
            <a:r>
              <a:rPr lang="zh-CN" altLang="en-US" sz="2800"/>
              <a:t>进程p2将处理结果送入x；进程</a:t>
            </a:r>
            <a:r>
              <a:rPr lang="en-US" altLang="zh-CN" sz="2800"/>
              <a:t>p</a:t>
            </a:r>
            <a:r>
              <a:rPr lang="zh-CN" altLang="en-US" sz="2800"/>
              <a:t>1将x的结果打印。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如何实现该合作</a:t>
            </a:r>
            <a:r>
              <a:rPr lang="zh-CN" altLang="en-US" sz="2800"/>
              <a:t>呢？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179195" y="3940810"/>
            <a:ext cx="9569450" cy="2084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解决方法：设置两个</a:t>
            </a:r>
            <a:r>
              <a:rPr lang="zh-CN" altLang="en-US" sz="2800" b="1"/>
              <a:t>资源信号量</a:t>
            </a:r>
            <a:r>
              <a:rPr lang="en-US" altLang="zh-CN" sz="2800"/>
              <a:t>Empty=1</a:t>
            </a:r>
            <a:r>
              <a:rPr lang="zh-CN" altLang="en-US" sz="2800"/>
              <a:t>；</a:t>
            </a:r>
            <a:r>
              <a:rPr lang="en-US" altLang="zh-CN" sz="2800"/>
              <a:t>Full=0</a:t>
            </a:r>
            <a:r>
              <a:rPr lang="zh-CN" altLang="en-US" sz="2800"/>
              <a:t>；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1300" y="1226185"/>
            <a:ext cx="5855335" cy="4796790"/>
          </a:xfrm>
          <a:prstGeom prst="rect">
            <a:avLst/>
          </a:prstGeom>
          <a:solidFill>
            <a:srgbClr val="F6F5C5"/>
          </a:solidFill>
        </p:spPr>
        <p:txBody>
          <a:bodyPr wrap="square" rtlCol="0" anchor="t">
            <a:noAutofit/>
          </a:bodyPr>
          <a:p>
            <a:r>
              <a:rPr lang="zh-CN" altLang="en-US" sz="3200"/>
              <a:t> p</a:t>
            </a:r>
            <a:r>
              <a:rPr lang="en-US" altLang="zh-CN" sz="3200"/>
              <a:t>1</a:t>
            </a:r>
            <a:r>
              <a:rPr lang="zh-CN" altLang="en-US" sz="3200"/>
              <a:t>:</a:t>
            </a:r>
            <a:endParaRPr lang="zh-CN" altLang="en-US" sz="3200"/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zh-CN" altLang="en-US" sz="3200"/>
              <a:t> </a:t>
            </a:r>
            <a:r>
              <a:rPr lang="en-US" altLang="zh-CN" sz="3200" dirty="0" smtClean="0">
                <a:sym typeface="MT Extra" panose="05050102010205020202" pitchFamily="18" charset="2"/>
              </a:rPr>
              <a:t>while(1)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{</a:t>
            </a:r>
            <a:endParaRPr lang="en-US" altLang="zh-CN" sz="3200" dirty="0" smtClean="0">
              <a:sym typeface="MT Extra" panose="05050102010205020202" pitchFamily="18" charset="2"/>
            </a:endParaRPr>
          </a:p>
          <a:p>
            <a:pPr algn="l"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........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 algn="l"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P(</a:t>
            </a:r>
            <a:r>
              <a:rPr lang="en-US" altLang="zh-CN" sz="3200" dirty="0" err="1" smtClean="0">
                <a:sym typeface="MT Extra" panose="05050102010205020202" pitchFamily="18" charset="2"/>
              </a:rPr>
              <a:t>full</a:t>
            </a:r>
            <a:r>
              <a:rPr lang="en-US" altLang="zh-CN" sz="3200" dirty="0" smtClean="0">
                <a:sym typeface="MT Extra" panose="05050102010205020202" pitchFamily="18" charset="2"/>
              </a:rPr>
              <a:t>);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 algn="l"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print(x);</a:t>
            </a:r>
            <a:endParaRPr lang="zh-CN" altLang="en-US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 algn="l"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V(</a:t>
            </a:r>
            <a:r>
              <a:rPr lang="en-US" altLang="zh-CN" sz="3200" dirty="0" err="1" smtClean="0">
                <a:sym typeface="MT Extra" panose="05050102010205020202" pitchFamily="18" charset="2"/>
              </a:rPr>
              <a:t>empty</a:t>
            </a:r>
            <a:r>
              <a:rPr lang="en-US" altLang="zh-CN" sz="3200" dirty="0" smtClean="0">
                <a:sym typeface="MT Extra" panose="05050102010205020202" pitchFamily="18" charset="2"/>
              </a:rPr>
              <a:t>);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 algn="l"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.......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}</a:t>
            </a:r>
            <a:endParaRPr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6096635" y="1226185"/>
            <a:ext cx="5941060" cy="4796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zh-CN" altLang="en-US" sz="3200"/>
              <a:t> p</a:t>
            </a:r>
            <a:r>
              <a:rPr lang="en-US" altLang="zh-CN" sz="3200"/>
              <a:t>2</a:t>
            </a:r>
            <a:r>
              <a:rPr lang="zh-CN" altLang="en-US" sz="3200"/>
              <a:t>:</a:t>
            </a:r>
            <a:endParaRPr lang="zh-CN" altLang="en-US" sz="3200"/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zh-CN" altLang="en-US" sz="3200"/>
              <a:t> </a:t>
            </a:r>
            <a:r>
              <a:rPr lang="en-US" altLang="zh-CN" sz="3200" dirty="0" smtClean="0">
                <a:sym typeface="MT Extra" panose="05050102010205020202" pitchFamily="18" charset="2"/>
              </a:rPr>
              <a:t>while(1)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{</a:t>
            </a:r>
            <a:endParaRPr lang="en-US" altLang="zh-CN" sz="3200" dirty="0" smtClean="0"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 ........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 P(</a:t>
            </a:r>
            <a:r>
              <a:rPr lang="en-US" altLang="zh-CN" sz="3200" dirty="0" err="1" smtClean="0">
                <a:sym typeface="MT Extra" panose="05050102010205020202" pitchFamily="18" charset="2"/>
              </a:rPr>
              <a:t>empty</a:t>
            </a:r>
            <a:r>
              <a:rPr lang="en-US" altLang="zh-CN" sz="3200" dirty="0" smtClean="0">
                <a:sym typeface="MT Extra" panose="05050102010205020202" pitchFamily="18" charset="2"/>
              </a:rPr>
              <a:t>);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 x=</a:t>
            </a:r>
            <a:r>
              <a:rPr lang="zh-CN" altLang="en-US" sz="3200" dirty="0" smtClean="0">
                <a:sym typeface="MT Extra" panose="05050102010205020202" pitchFamily="18" charset="2"/>
              </a:rPr>
              <a:t>赋值</a:t>
            </a:r>
            <a:r>
              <a:rPr lang="en-US" altLang="zh-CN" sz="3200" dirty="0" smtClean="0">
                <a:sym typeface="MT Extra" panose="05050102010205020202" pitchFamily="18" charset="2"/>
              </a:rPr>
              <a:t>;</a:t>
            </a:r>
            <a:endParaRPr lang="zh-CN" altLang="en-US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 V(</a:t>
            </a:r>
            <a:r>
              <a:rPr lang="en-US" altLang="zh-CN" sz="3200" dirty="0" err="1" smtClean="0">
                <a:sym typeface="MT Extra" panose="05050102010205020202" pitchFamily="18" charset="2"/>
              </a:rPr>
              <a:t>full</a:t>
            </a:r>
            <a:r>
              <a:rPr lang="en-US" altLang="zh-CN" sz="3200" dirty="0" smtClean="0">
                <a:sym typeface="MT Extra" panose="05050102010205020202" pitchFamily="18" charset="2"/>
              </a:rPr>
              <a:t>);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     .......</a:t>
            </a:r>
            <a:endParaRPr lang="en-US" altLang="zh-CN" sz="3200" dirty="0" smtClean="0">
              <a:solidFill>
                <a:schemeClr val="tx1"/>
              </a:solidFill>
              <a:sym typeface="MT Extra" panose="05050102010205020202" pitchFamily="18" charset="2"/>
            </a:endParaRPr>
          </a:p>
          <a:p>
            <a:pPr>
              <a:buFont typeface="Wingdings 2" panose="05020102010507070707" pitchFamily="18" charset="2"/>
              <a:buNone/>
              <a:tabLst>
                <a:tab pos="2004695" algn="ctr"/>
                <a:tab pos="4518025" algn="ctr"/>
              </a:tabLst>
            </a:pPr>
            <a:r>
              <a:rPr lang="en-US" altLang="zh-CN" sz="3200" dirty="0" smtClean="0">
                <a:sym typeface="MT Extra" panose="05050102010205020202" pitchFamily="18" charset="2"/>
              </a:rPr>
              <a:t>}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132715" y="374015"/>
            <a:ext cx="11843385" cy="5835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en-US" altLang="zh-CN" sz="3200" smtClean="0">
                <a:sym typeface="+mn-ea"/>
              </a:rPr>
              <a:t>Semaphore </a:t>
            </a:r>
            <a:r>
              <a:rPr lang="zh-CN" altLang="en-US" sz="3200">
                <a:sym typeface="+mn-ea"/>
              </a:rPr>
              <a:t> empty=1;    </a:t>
            </a:r>
            <a:r>
              <a:rPr lang="en-US" altLang="zh-CN" sz="3200">
                <a:sym typeface="+mn-ea"/>
              </a:rPr>
              <a:t>f</a:t>
            </a:r>
            <a:r>
              <a:rPr lang="zh-CN" altLang="en-US" sz="3200">
                <a:sym typeface="+mn-ea"/>
              </a:rPr>
              <a:t>ull=0;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7026275" cy="615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消费者问题描述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增加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同步机制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8390" y="1031196"/>
            <a:ext cx="107743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问题：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如何实现生产者和消费者之间的同步和互斥？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69925" y="1920875"/>
            <a:ext cx="9509125" cy="460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 dirty="0">
                <a:latin typeface="+mn-ea"/>
                <a:sym typeface="+mn-ea"/>
              </a:rPr>
              <a:t>同步：定义资源信号量</a:t>
            </a:r>
            <a:r>
              <a:rPr lang="en-US" altLang="zh-CN" sz="2400" dirty="0" err="1">
                <a:latin typeface="+mn-ea"/>
                <a:sym typeface="+mn-ea"/>
              </a:rPr>
              <a:t>empty=n</a:t>
            </a:r>
            <a:r>
              <a:rPr lang="zh-CN" altLang="en-US" sz="2400" dirty="0" err="1">
                <a:latin typeface="+mn-ea"/>
                <a:sym typeface="+mn-ea"/>
              </a:rPr>
              <a:t>，</a:t>
            </a:r>
            <a:r>
              <a:rPr lang="en-US" altLang="zh-CN" sz="2400" dirty="0" err="1">
                <a:latin typeface="+mn-ea"/>
                <a:sym typeface="+mn-ea"/>
              </a:rPr>
              <a:t>full=0</a:t>
            </a:r>
            <a:endParaRPr lang="en-US" altLang="zh-CN" sz="2400" dirty="0" err="1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89535" y="793115"/>
            <a:ext cx="6322695" cy="58813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producer( 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while(1){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produce an item in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…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while (count == n) ;   // do nothing</a:t>
            </a:r>
            <a:endParaRPr lang="en-US" altLang="zh-CN" sz="2400" dirty="0" smtClean="0"/>
          </a:p>
          <a:p>
            <a:pPr indent="457200">
              <a:buFontTx/>
              <a:buNone/>
            </a:pPr>
            <a:r>
              <a:rPr lang="en-US" altLang="zh-CN" sz="2400" dirty="0" smtClean="0"/>
              <a:t>  </a:t>
            </a:r>
            <a:r>
              <a:rPr lang="en-US" altLang="zh-CN" sz="2400" dirty="0" smtClean="0">
                <a:solidFill>
                  <a:srgbClr val="0000FF"/>
                </a:solidFill>
              </a:rPr>
              <a:t>P(empty)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P(Mutex);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400" dirty="0" smtClean="0"/>
              <a:t>      	</a:t>
            </a:r>
            <a:r>
              <a:rPr lang="en-US" altLang="zh-CN" sz="2400" dirty="0" smtClean="0">
                <a:sym typeface="+mn-ea"/>
              </a:rPr>
              <a:t>// add an item to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buffer[in] = </a:t>
            </a:r>
            <a:r>
              <a:rPr lang="en-US" altLang="zh-CN" sz="2400" dirty="0" err="1" smtClean="0"/>
              <a:t>nextp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in = (in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count++;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         V(Mutex);</a:t>
            </a:r>
            <a:endParaRPr lang="en-US" altLang="zh-CN" sz="2400" dirty="0" smtClean="0">
              <a:solidFill>
                <a:srgbClr val="FF0000"/>
              </a:solidFill>
              <a:sym typeface="+mn-ea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         </a:t>
            </a:r>
            <a:r>
              <a:rPr lang="en-US" altLang="zh-CN" sz="2400" dirty="0" smtClean="0">
                <a:solidFill>
                  <a:srgbClr val="0000FF"/>
                </a:solidFill>
                <a:sym typeface="+mn-ea"/>
              </a:rPr>
              <a:t>V(full)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}</a:t>
            </a:r>
            <a:endParaRPr lang="en-US" altLang="zh-CN" sz="2400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936615" y="792480"/>
            <a:ext cx="6023610" cy="5882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/>
              <a:t>void consumer() {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while(1){ 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 while (count == 0) ; // do nothing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 // remove an item from the buffer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	</a:t>
            </a:r>
            <a:r>
              <a:rPr lang="en-US" altLang="zh-CN" sz="2400" dirty="0" smtClean="0">
                <a:solidFill>
                  <a:srgbClr val="0000FF"/>
                </a:solidFill>
              </a:rPr>
              <a:t>P(full)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P(Mutex);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 = buffer[out];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  out = (out + 1) </a:t>
            </a:r>
            <a:r>
              <a:rPr lang="en-US" altLang="zh-CN" sz="2400" dirty="0" smtClean="0"/>
              <a:t>mod n;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  count --;</a:t>
            </a:r>
            <a:endParaRPr lang="en-US" altLang="zh-CN" sz="2400" dirty="0" smtClean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/>
              <a:t>          </a:t>
            </a: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V(Mutex);</a:t>
            </a:r>
            <a:endParaRPr lang="en-US" altLang="zh-CN" sz="2400" dirty="0" smtClean="0">
              <a:solidFill>
                <a:srgbClr val="FF0000"/>
              </a:solidFill>
              <a:sym typeface="+mn-ea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  <a:sym typeface="+mn-ea"/>
              </a:rPr>
              <a:t>         </a:t>
            </a:r>
            <a:r>
              <a:rPr lang="en-US" altLang="zh-CN" sz="2400" dirty="0" smtClean="0">
                <a:solidFill>
                  <a:srgbClr val="0000FF"/>
                </a:solidFill>
                <a:sym typeface="+mn-ea"/>
              </a:rPr>
              <a:t> V(empty)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2400" dirty="0" smtClean="0"/>
              <a:t>      	consumer the item in </a:t>
            </a:r>
            <a:r>
              <a:rPr lang="en-US" altLang="zh-CN" sz="2400" dirty="0" err="1" smtClean="0"/>
              <a:t>nextc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   }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}</a:t>
            </a:r>
            <a:endParaRPr lang="en-US" altLang="zh-CN" sz="2400" dirty="0" smtClean="0"/>
          </a:p>
        </p:txBody>
      </p:sp>
      <p:sp>
        <p:nvSpPr>
          <p:cNvPr id="3" name="矩形 2"/>
          <p:cNvSpPr/>
          <p:nvPr/>
        </p:nvSpPr>
        <p:spPr>
          <a:xfrm>
            <a:off x="669925" y="78740"/>
            <a:ext cx="7026275" cy="615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消费者问题描述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增加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同步机制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 smtClean="0">
                <a:latin typeface="+mj-ea"/>
              </a:rPr>
              <a:t>硬件同步机制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</a:rPr>
              <a:t>4.6 </a:t>
            </a:r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</a:rPr>
              <a:t>经典进程的同步</a:t>
            </a:r>
            <a:r>
              <a:rPr lang="zh-CN" altLang="en-US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</a:rPr>
              <a:t>问题</a:t>
            </a:r>
            <a:endParaRPr lang="zh-CN" altLang="en-US" sz="2400" b="1" dirty="0" smtClean="0">
              <a:solidFill>
                <a:schemeClr val="accent4">
                  <a:lumMod val="60000"/>
                  <a:lumOff val="40000"/>
                </a:schemeClr>
              </a:solidFill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5225274" y="4947771"/>
            <a:ext cx="505825" cy="312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08275" y="4337865"/>
            <a:ext cx="425315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4.6.1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生产者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消费者问题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4.6.2 </a:t>
            </a:r>
            <a:r>
              <a:rPr lang="zh-CN" altLang="en-US" sz="2400" dirty="0">
                <a:latin typeface="+mj-ea"/>
              </a:rPr>
              <a:t>哲学家进餐问题</a:t>
            </a:r>
            <a:endParaRPr lang="zh-CN" altLang="en-US" sz="24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4.6.3 </a:t>
            </a:r>
            <a:r>
              <a:rPr lang="zh-CN" altLang="en-US" sz="2400" dirty="0">
                <a:latin typeface="+mj-ea"/>
              </a:rPr>
              <a:t>读者</a:t>
            </a:r>
            <a:r>
              <a:rPr lang="en-US" altLang="zh-CN" sz="2400" dirty="0">
                <a:latin typeface="+mj-ea"/>
              </a:rPr>
              <a:t>-</a:t>
            </a:r>
            <a:r>
              <a:rPr lang="zh-CN" altLang="en-US" sz="2400" dirty="0">
                <a:latin typeface="+mj-ea"/>
              </a:rPr>
              <a:t>写者问题</a:t>
            </a:r>
            <a:endParaRPr lang="zh-CN" altLang="en-US" sz="2400" dirty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71195" y="3893185"/>
            <a:ext cx="1038606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应先执行对资源信号量</a:t>
            </a:r>
            <a:r>
              <a:rPr lang="en-US" altLang="zh-CN" sz="2800"/>
              <a:t>P</a:t>
            </a:r>
            <a:r>
              <a:rPr lang="zh-CN" altLang="en-US" sz="2800"/>
              <a:t>操作，再对互斥信号量</a:t>
            </a:r>
            <a:r>
              <a:rPr lang="en-US" altLang="zh-CN" sz="2800"/>
              <a:t>P</a:t>
            </a:r>
            <a:r>
              <a:rPr lang="zh-CN" altLang="en-US" sz="2800"/>
              <a:t>操作，</a:t>
            </a:r>
            <a:r>
              <a:rPr lang="zh-CN" altLang="en-US" sz="2800">
                <a:sym typeface="+mn-ea"/>
              </a:rPr>
              <a:t>顺序不能颠倒，</a:t>
            </a:r>
            <a:r>
              <a:rPr lang="zh-CN" altLang="en-US" sz="2800"/>
              <a:t>否则可能引起进程死锁。</a:t>
            </a:r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signal</a:t>
            </a:r>
            <a:r>
              <a:rPr lang="zh-CN" altLang="en-US" sz="2800"/>
              <a:t>顺序</a:t>
            </a:r>
            <a:r>
              <a:rPr lang="zh-CN" altLang="en-US" sz="2800"/>
              <a:t>无所谓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671195" y="1311910"/>
            <a:ext cx="1115695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/>
              <a:t>每个程序中用于实现互斥的wait(mutex)和signal(mutex)必须成对地出现。</a:t>
            </a:r>
            <a:endParaRPr lang="zh-CN" alt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/>
              <a:t>对资源信号量empty和full的</a:t>
            </a:r>
            <a:r>
              <a:rPr lang="en-US" altLang="zh-CN" sz="2800"/>
              <a:t>P</a:t>
            </a:r>
            <a:r>
              <a:rPr lang="zh-CN" altLang="en-US" sz="2800"/>
              <a:t>和</a:t>
            </a:r>
            <a:r>
              <a:rPr lang="en-US" altLang="zh-CN" sz="2800"/>
              <a:t>V</a:t>
            </a:r>
            <a:r>
              <a:rPr lang="zh-CN" altLang="en-US" sz="2800"/>
              <a:t>操作，同样需要成对地出现，但处于不同的程序中。</a:t>
            </a:r>
            <a:endParaRPr lang="zh-CN" altLang="en-US" sz="280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生产者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消费者互斥同步注意</a:t>
            </a:r>
            <a:r>
              <a:rPr lang="zh-CN" altLang="en-US" sz="2800" b="1" dirty="0">
                <a:solidFill>
                  <a:schemeClr val="bg1"/>
                </a:solidFill>
              </a:rPr>
              <a:t>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 smtClean="0">
                <a:latin typeface="+mj-ea"/>
              </a:rPr>
              <a:t>硬件同步机制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5225274" y="4947771"/>
            <a:ext cx="505825" cy="312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08275" y="4337865"/>
            <a:ext cx="425315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4.6.1 </a:t>
            </a:r>
            <a:r>
              <a:rPr lang="zh-CN" altLang="en-US" sz="2400" dirty="0">
                <a:latin typeface="+mj-ea"/>
              </a:rPr>
              <a:t>生产者</a:t>
            </a:r>
            <a:r>
              <a:rPr lang="en-US" altLang="zh-CN" sz="2400" dirty="0">
                <a:latin typeface="+mj-ea"/>
              </a:rPr>
              <a:t>-</a:t>
            </a:r>
            <a:r>
              <a:rPr lang="zh-CN" altLang="en-US" sz="2400" dirty="0">
                <a:latin typeface="+mj-ea"/>
              </a:rPr>
              <a:t>消费者问题</a:t>
            </a:r>
            <a:endParaRPr lang="zh-CN" altLang="en-US" sz="24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4.6.2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哲学家进餐问题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4.6.3 </a:t>
            </a:r>
            <a:r>
              <a:rPr lang="zh-CN" altLang="en-US" sz="2400" dirty="0">
                <a:latin typeface="+mj-ea"/>
              </a:rPr>
              <a:t>读者</a:t>
            </a:r>
            <a:r>
              <a:rPr lang="en-US" altLang="zh-CN" sz="2400" dirty="0">
                <a:latin typeface="+mj-ea"/>
              </a:rPr>
              <a:t>-</a:t>
            </a:r>
            <a:r>
              <a:rPr lang="zh-CN" altLang="en-US" sz="2400" dirty="0">
                <a:latin typeface="+mj-ea"/>
              </a:rPr>
              <a:t>写者问题</a:t>
            </a:r>
            <a:endParaRPr lang="zh-CN" altLang="en-US" sz="2400" dirty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哲学家就餐问题描述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7875" y="1194435"/>
            <a:ext cx="6498590" cy="3321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 五</a:t>
            </a:r>
            <a:r>
              <a:rPr lang="zh-CN" altLang="en-US" sz="2200" dirty="0">
                <a:latin typeface="+mn-ea"/>
              </a:rPr>
              <a:t>个哲学家的生活方式：交替思考和进餐</a:t>
            </a:r>
            <a:endParaRPr lang="zh-CN" altLang="en-US" sz="2200" dirty="0">
              <a:latin typeface="+mn-ea"/>
            </a:endParaRPr>
          </a:p>
          <a:p>
            <a:pPr lvl="1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</a:pPr>
            <a:r>
              <a:rPr lang="zh-CN" altLang="en-US" sz="2200" dirty="0">
                <a:latin typeface="+mn-ea"/>
              </a:rPr>
              <a:t>共用一张圆桌，分别坐在五张椅子上</a:t>
            </a:r>
            <a:endParaRPr lang="zh-CN" altLang="en-US" sz="2200" dirty="0">
              <a:latin typeface="+mn-ea"/>
            </a:endParaRPr>
          </a:p>
          <a:p>
            <a:pPr lvl="1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</a:pPr>
            <a:r>
              <a:rPr lang="zh-CN" altLang="en-US" sz="2200" dirty="0">
                <a:latin typeface="+mn-ea"/>
              </a:rPr>
              <a:t>在圆桌上有五个碗和</a:t>
            </a:r>
            <a:r>
              <a:rPr lang="zh-CN" altLang="en-US" sz="2200" b="1" dirty="0">
                <a:latin typeface="+mn-ea"/>
              </a:rPr>
              <a:t>五支</a:t>
            </a:r>
            <a:r>
              <a:rPr lang="zh-CN" altLang="en-US" sz="2200" dirty="0">
                <a:latin typeface="+mn-ea"/>
              </a:rPr>
              <a:t>筷子</a:t>
            </a:r>
            <a:endParaRPr lang="zh-CN" altLang="en-US" sz="2200" dirty="0">
              <a:latin typeface="+mn-ea"/>
            </a:endParaRPr>
          </a:p>
          <a:p>
            <a:pPr lvl="1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</a:pPr>
            <a:r>
              <a:rPr lang="zh-CN" altLang="en-US" sz="2200" dirty="0">
                <a:latin typeface="+mn-ea"/>
              </a:rPr>
              <a:t>平时哲学家思考，饥饿时便试图取用其左、右最靠近他的筷子，只有在拿到两支筷子时才能进餐</a:t>
            </a:r>
            <a:endParaRPr lang="zh-CN" altLang="en-US" sz="2200" dirty="0">
              <a:latin typeface="+mn-ea"/>
            </a:endParaRPr>
          </a:p>
          <a:p>
            <a:pPr lvl="1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</a:pPr>
            <a:r>
              <a:rPr lang="zh-CN" altLang="en-US" sz="2200" dirty="0">
                <a:latin typeface="+mn-ea"/>
              </a:rPr>
              <a:t>进餐毕，放下筷子又继续</a:t>
            </a:r>
            <a:r>
              <a:rPr lang="zh-CN" altLang="en-US" sz="2200" dirty="0" smtClean="0">
                <a:latin typeface="+mn-ea"/>
              </a:rPr>
              <a:t>思考</a:t>
            </a:r>
            <a:endParaRPr lang="en-US" altLang="zh-CN" sz="2200" dirty="0" smtClean="0">
              <a:latin typeface="+mn-ea"/>
            </a:endParaRPr>
          </a:p>
          <a:p>
            <a:pPr lvl="1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</a:pPr>
            <a:endParaRPr lang="en-US" altLang="zh-CN" sz="2200" dirty="0" smtClean="0">
              <a:latin typeface="+mn-ea"/>
            </a:endParaRPr>
          </a:p>
          <a:p>
            <a:pPr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 sz="2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4745" y="4815205"/>
            <a:ext cx="4830445" cy="829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400"/>
              <a:t>可见：相邻两位不能同时进餐;</a:t>
            </a:r>
            <a:endParaRPr lang="zh-CN" altLang="en-US" sz="2400"/>
          </a:p>
          <a:p>
            <a:r>
              <a:rPr lang="zh-CN" altLang="en-US" sz="2400"/>
              <a:t>    </a:t>
            </a:r>
            <a:r>
              <a:rPr lang="en-US" altLang="zh-CN" sz="2400"/>
              <a:t>      </a:t>
            </a:r>
            <a:r>
              <a:rPr lang="zh-CN" altLang="en-US" sz="2400"/>
              <a:t>最多只能有两人同时进餐。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115" y="1422400"/>
            <a:ext cx="4572000" cy="3230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利用记录型信号量解决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2" name="Rectangle 7"/>
          <p:cNvSpPr txBox="1">
            <a:spLocks noChangeArrowheads="1"/>
          </p:cNvSpPr>
          <p:nvPr/>
        </p:nvSpPr>
        <p:spPr>
          <a:xfrm>
            <a:off x="228600" y="1073150"/>
            <a:ext cx="9028430" cy="45631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Semaphore chopstick[5] = {1,1,1,1,1};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Philosopher i: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do {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 </a:t>
            </a:r>
            <a:r>
              <a:rPr lang="en-US" altLang="zh-CN" sz="2400" dirty="0"/>
              <a:t>P(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                   // get left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 </a:t>
            </a:r>
            <a:r>
              <a:rPr lang="en-US" altLang="zh-CN" sz="2400" dirty="0"/>
              <a:t>P(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+ 1) mod 5]);   // get right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 …	 // eat for awhile	     			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V(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                  //return left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V(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+ 1) mod 5]); // return right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…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	} while (true) 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096000" y="946785"/>
            <a:ext cx="5901055" cy="922020"/>
          </a:xfrm>
          <a:prstGeom prst="rect">
            <a:avLst/>
          </a:prstGeom>
          <a:solidFill>
            <a:srgbClr val="F6F5C5"/>
          </a:solidFill>
        </p:spPr>
        <p:txBody>
          <a:bodyPr wrap="square" rtlCol="0" anchor="t">
            <a:spAutoFit/>
          </a:bodyPr>
          <a:p>
            <a:r>
              <a:rPr lang="zh-CN" altLang="en-US"/>
              <a:t>放在桌子上的筷子是临界资源，在一段时间内只允许一个哲学家使用。为实现对筷子的互斥使用，用一个信号量表示一只筷子，五个信号量构成信号量数组，初始都设为</a:t>
            </a:r>
            <a:r>
              <a:rPr lang="en-US" altLang="zh-CN"/>
              <a:t>1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365" y="4378960"/>
            <a:ext cx="3858895" cy="272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9154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存在问题及解决方案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0" name="iṡļiḓe"/>
          <p:cNvGrpSpPr/>
          <p:nvPr/>
        </p:nvGrpSpPr>
        <p:grpSpPr>
          <a:xfrm>
            <a:off x="330200" y="1055298"/>
            <a:ext cx="5840792" cy="2038782"/>
            <a:chOff x="653628" y="1293168"/>
            <a:chExt cx="5840792" cy="2038782"/>
          </a:xfrm>
        </p:grpSpPr>
        <p:sp>
          <p:nvSpPr>
            <p:cNvPr id="24" name="îṧľîḋé"/>
            <p:cNvSpPr txBox="1"/>
            <p:nvPr/>
          </p:nvSpPr>
          <p:spPr>
            <a:xfrm>
              <a:off x="1309446" y="1293168"/>
              <a:ext cx="5184974" cy="203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/>
                <a:t>可能引起死锁，如五个哲学家同时饥饿而各自拿起左筷子时，会使信号量</a:t>
              </a:r>
              <a:r>
                <a:rPr lang="en-US" altLang="zh-CN" sz="2400" dirty="0"/>
                <a:t>chopstick</a:t>
              </a:r>
              <a:r>
                <a:rPr lang="zh-CN" altLang="en-US" sz="2400" dirty="0"/>
                <a:t>均为</a:t>
              </a:r>
              <a:r>
                <a:rPr lang="en-US" altLang="zh-CN" sz="2400" dirty="0"/>
                <a:t>0</a:t>
              </a:r>
              <a:r>
                <a:rPr lang="zh-CN" altLang="en-US" sz="2400" dirty="0"/>
                <a:t>；因此他们试图去拿右筷子时，无法拿到而无限期等待。</a:t>
              </a:r>
              <a:endParaRPr lang="zh-CN" altLang="en-US" sz="2400" dirty="0"/>
            </a:p>
          </p:txBody>
        </p:sp>
        <p:grpSp>
          <p:nvGrpSpPr>
            <p:cNvPr id="21" name="ïS1íḋé"/>
            <p:cNvGrpSpPr/>
            <p:nvPr/>
          </p:nvGrpSpPr>
          <p:grpSpPr>
            <a:xfrm>
              <a:off x="653628" y="1989925"/>
              <a:ext cx="497734" cy="497734"/>
              <a:chOff x="653628" y="1989925"/>
              <a:chExt cx="497734" cy="497734"/>
            </a:xfrm>
          </p:grpSpPr>
          <p:sp>
            <p:nvSpPr>
              <p:cNvPr id="22" name="islîḋe"/>
              <p:cNvSpPr/>
              <p:nvPr/>
            </p:nvSpPr>
            <p:spPr>
              <a:xfrm>
                <a:off x="653628" y="1989925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ŝlîďe"/>
              <p:cNvSpPr/>
              <p:nvPr/>
            </p:nvSpPr>
            <p:spPr>
              <a:xfrm>
                <a:off x="773076" y="212136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3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329045" y="1128860"/>
            <a:ext cx="5661269" cy="3375835"/>
            <a:chOff x="6557645" y="-542498"/>
            <a:chExt cx="5661269" cy="3375835"/>
          </a:xfrm>
        </p:grpSpPr>
        <p:grpSp>
          <p:nvGrpSpPr>
            <p:cNvPr id="13" name="ïṧļïḓe"/>
            <p:cNvGrpSpPr/>
            <p:nvPr/>
          </p:nvGrpSpPr>
          <p:grpSpPr>
            <a:xfrm>
              <a:off x="6875856" y="-542498"/>
              <a:ext cx="5343058" cy="3375835"/>
              <a:chOff x="8333448" y="-542498"/>
              <a:chExt cx="6738934" cy="3375835"/>
            </a:xfrm>
          </p:grpSpPr>
          <p:sp>
            <p:nvSpPr>
              <p:cNvPr id="17" name="ïšļíďè"/>
              <p:cNvSpPr txBox="1"/>
              <p:nvPr/>
            </p:nvSpPr>
            <p:spPr>
              <a:xfrm>
                <a:off x="8631380" y="-542498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解决方法：</a:t>
                </a:r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íşľíḑè"/>
              <p:cNvSpPr/>
              <p:nvPr/>
            </p:nvSpPr>
            <p:spPr bwMode="auto">
              <a:xfrm>
                <a:off x="8333448" y="361232"/>
                <a:ext cx="6738934" cy="2472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1" indent="-457200">
                  <a:lnSpc>
                    <a:spcPct val="123000"/>
                  </a:lnSpc>
                  <a:buClr>
                    <a:srgbClr val="FF0000"/>
                  </a:buClr>
                  <a:buFont typeface="+mj-ea"/>
                  <a:buAutoNum type="circleNumDbPlain"/>
                </a:pPr>
                <a:r>
                  <a:rPr lang="zh-CN" altLang="en-US" sz="2800" dirty="0"/>
                  <a:t>最多允许</a:t>
                </a:r>
                <a:r>
                  <a:rPr lang="en-US" altLang="zh-CN" sz="2800" dirty="0"/>
                  <a:t>4</a:t>
                </a:r>
                <a:r>
                  <a:rPr lang="zh-CN" altLang="en-US" sz="2800" dirty="0"/>
                  <a:t>个哲学家同时坐在桌子周围</a:t>
                </a:r>
                <a:endParaRPr lang="zh-CN" altLang="en-US" sz="2800" dirty="0"/>
              </a:p>
              <a:p>
                <a:pPr lvl="1" indent="-457200">
                  <a:lnSpc>
                    <a:spcPct val="123000"/>
                  </a:lnSpc>
                  <a:buClr>
                    <a:srgbClr val="FF0000"/>
                  </a:buClr>
                  <a:buFont typeface="+mj-ea"/>
                  <a:buAutoNum type="circleNumDbPlain"/>
                </a:pPr>
                <a:r>
                  <a:rPr lang="zh-CN" altLang="en-US" sz="2800" dirty="0"/>
                  <a:t>仅当一个哲学家左右两边的筷子都可用时，才允许他拿筷子。</a:t>
                </a:r>
                <a:endParaRPr lang="zh-CN" altLang="en-US" sz="2800" dirty="0"/>
              </a:p>
              <a:p>
                <a:pPr lvl="1" indent="-457200">
                  <a:lnSpc>
                    <a:spcPct val="123000"/>
                  </a:lnSpc>
                  <a:buClr>
                    <a:srgbClr val="FF0000"/>
                  </a:buClr>
                  <a:buFont typeface="+mj-ea"/>
                  <a:buAutoNum type="circleNumDbPlain"/>
                </a:pPr>
                <a:r>
                  <a:rPr lang="zh-CN" altLang="en-US" sz="2800" dirty="0"/>
                  <a:t>给所有哲学家编号，奇数号的哲学家必须首先拿左边的筷子，偶数号的哲学家则反之</a:t>
                </a:r>
                <a:endParaRPr lang="zh-CN" altLang="en-US" sz="2800" dirty="0"/>
              </a:p>
            </p:txBody>
          </p:sp>
        </p:grpSp>
        <p:grpSp>
          <p:nvGrpSpPr>
            <p:cNvPr id="14" name="ïŝľídè"/>
            <p:cNvGrpSpPr/>
            <p:nvPr/>
          </p:nvGrpSpPr>
          <p:grpSpPr>
            <a:xfrm>
              <a:off x="6557645" y="-519320"/>
              <a:ext cx="497734" cy="497734"/>
              <a:chOff x="6557645" y="-519320"/>
              <a:chExt cx="497734" cy="497734"/>
            </a:xfrm>
          </p:grpSpPr>
          <p:sp>
            <p:nvSpPr>
              <p:cNvPr id="15" name="ïṡľïde"/>
              <p:cNvSpPr/>
              <p:nvPr/>
            </p:nvSpPr>
            <p:spPr>
              <a:xfrm>
                <a:off x="6557645" y="-519320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ïšliḍe"/>
              <p:cNvSpPr/>
              <p:nvPr/>
            </p:nvSpPr>
            <p:spPr>
              <a:xfrm>
                <a:off x="6677093" y="-387885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7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解决方法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代码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2" name="Rectangle 7"/>
          <p:cNvSpPr txBox="1">
            <a:spLocks noChangeArrowheads="1"/>
          </p:cNvSpPr>
          <p:nvPr/>
        </p:nvSpPr>
        <p:spPr>
          <a:xfrm>
            <a:off x="669925" y="1032179"/>
            <a:ext cx="9912699" cy="56326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Semaphore chopstick[5] = {1,1,1,1,1};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Philosopher i: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Semaphore </a:t>
            </a:r>
            <a:r>
              <a:rPr lang="en-US" altLang="zh-CN" sz="2400" dirty="0">
                <a:solidFill>
                  <a:srgbClr val="FF0000"/>
                </a:solidFill>
              </a:rPr>
              <a:t>count=4</a:t>
            </a:r>
            <a:r>
              <a:rPr lang="zh-CN" altLang="en-US" sz="2400" dirty="0">
                <a:solidFill>
                  <a:srgbClr val="FF0000"/>
                </a:solidFill>
              </a:rPr>
              <a:t>；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do {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 </a:t>
            </a:r>
            <a:r>
              <a:rPr lang="en-US" altLang="zh-CN" sz="2400" dirty="0">
                <a:solidFill>
                  <a:srgbClr val="FF0000"/>
                </a:solidFill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(count)</a:t>
            </a:r>
            <a:r>
              <a:rPr lang="zh-CN" altLang="en-US" sz="2400" dirty="0">
                <a:solidFill>
                  <a:srgbClr val="FF0000"/>
                </a:solidFill>
              </a:rPr>
              <a:t>；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                  P(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         // get left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P(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+ 1) mod 5]);   // get right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 …</a:t>
            </a:r>
            <a:r>
              <a:rPr lang="en-US" altLang="zh-CN" sz="2400" dirty="0">
                <a:sym typeface="+mn-ea"/>
              </a:rPr>
              <a:t> // eat for awhile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V(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                  //return left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V(</a:t>
            </a:r>
            <a:r>
              <a:rPr lang="en-US" altLang="zh-CN" sz="2400" dirty="0" err="1"/>
              <a:t>chopStick</a:t>
            </a:r>
            <a:r>
              <a:rPr lang="en-US" altLang="zh-CN" sz="2400" dirty="0"/>
              <a:t>[(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+ 1) mod 5]); // return right chopstick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                 </a:t>
            </a:r>
            <a:r>
              <a:rPr lang="en-US" altLang="zh-CN" sz="2400" dirty="0">
                <a:solidFill>
                  <a:srgbClr val="FF0000"/>
                </a:solidFill>
              </a:rPr>
              <a:t> V(count);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       …      	                             	      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400" dirty="0"/>
              <a:t>	} while (true) </a:t>
            </a:r>
            <a:endParaRPr lang="en-US" altLang="zh-CN" sz="24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516890"/>
            <a:ext cx="3923665" cy="27724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73650" y="5679440"/>
            <a:ext cx="6919595" cy="460375"/>
          </a:xfrm>
          <a:prstGeom prst="rect">
            <a:avLst/>
          </a:prstGeom>
          <a:solidFill>
            <a:srgbClr val="F6F5C5"/>
          </a:solidFill>
        </p:spPr>
        <p:txBody>
          <a:bodyPr wrap="square" rtlCol="0" anchor="t">
            <a:spAutoFit/>
          </a:bodyPr>
          <a:p>
            <a:r>
              <a:rPr lang="zh-CN" altLang="en-US" sz="2400"/>
              <a:t>注意一定先申请资源信号量，再申请互斥信号量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7"/>
          <p:cNvSpPr txBox="1">
            <a:spLocks noChangeArrowheads="1"/>
          </p:cNvSpPr>
          <p:nvPr/>
        </p:nvSpPr>
        <p:spPr>
          <a:xfrm>
            <a:off x="669925" y="506095"/>
            <a:ext cx="9912985" cy="51346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Semaphore chopstick[5] = {1,1,1,1,1};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Philosopher i: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do {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       if(</a:t>
            </a:r>
            <a:r>
              <a:rPr lang="en-US" altLang="zh-CN" sz="2000" dirty="0">
                <a:solidFill>
                  <a:srgbClr val="FF0000"/>
                </a:solidFill>
              </a:rPr>
              <a:t>i mod 2==1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                    P(</a:t>
            </a:r>
            <a:r>
              <a:rPr lang="en-US" altLang="zh-CN" sz="2000" dirty="0" err="1"/>
              <a:t>chopStick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]);         // get left chopstick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       P(</a:t>
            </a:r>
            <a:r>
              <a:rPr lang="en-US" altLang="zh-CN" sz="2000" dirty="0" err="1"/>
              <a:t>chopStick</a:t>
            </a:r>
            <a:r>
              <a:rPr lang="en-US" altLang="zh-CN" sz="2000" dirty="0"/>
              <a:t>[(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+ 1) mod 5]);   // get right chopstick</a:t>
            </a:r>
            <a:endParaRPr lang="en-US" altLang="zh-CN" sz="2000" dirty="0"/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else</a:t>
            </a:r>
            <a:endParaRPr lang="en-US" altLang="zh-CN" sz="2000" dirty="0"/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ym typeface="+mn-ea"/>
              </a:rPr>
              <a:t>P</a:t>
            </a:r>
            <a:r>
              <a:rPr lang="en-US" altLang="zh-CN" sz="2000" dirty="0">
                <a:sym typeface="+mn-ea"/>
              </a:rPr>
              <a:t>(</a:t>
            </a:r>
            <a:r>
              <a:rPr lang="en-US" altLang="zh-CN" sz="2000" dirty="0" err="1">
                <a:sym typeface="+mn-ea"/>
              </a:rPr>
              <a:t>chopStick</a:t>
            </a:r>
            <a:r>
              <a:rPr lang="en-US" altLang="zh-CN" sz="2000" dirty="0">
                <a:sym typeface="+mn-ea"/>
              </a:rPr>
              <a:t>[(</a:t>
            </a:r>
            <a:r>
              <a:rPr lang="en-US" altLang="zh-CN" sz="2000" dirty="0" err="1">
                <a:sym typeface="+mn-ea"/>
              </a:rPr>
              <a:t>i</a:t>
            </a:r>
            <a:r>
              <a:rPr lang="en-US" altLang="zh-CN" sz="2000" dirty="0">
                <a:sym typeface="+mn-ea"/>
              </a:rPr>
              <a:t> + 1) mod 5]);   // get right chopstick</a:t>
            </a:r>
            <a:endParaRPr lang="en-US" altLang="zh-CN" sz="2000" dirty="0">
              <a:sym typeface="+mn-ea"/>
            </a:endParaRPr>
          </a:p>
          <a:p>
            <a:pPr marL="914400" lvl="2" indent="45720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ym typeface="+mn-ea"/>
              </a:rPr>
              <a:t>    P(</a:t>
            </a:r>
            <a:r>
              <a:rPr lang="en-US" altLang="zh-CN" sz="2000" dirty="0" err="1">
                <a:sym typeface="+mn-ea"/>
              </a:rPr>
              <a:t>chopStick</a:t>
            </a:r>
            <a:r>
              <a:rPr lang="en-US" altLang="zh-CN" sz="2000" dirty="0">
                <a:sym typeface="+mn-ea"/>
              </a:rPr>
              <a:t>[</a:t>
            </a:r>
            <a:r>
              <a:rPr lang="en-US" altLang="zh-CN" sz="2000" dirty="0" err="1">
                <a:sym typeface="+mn-ea"/>
              </a:rPr>
              <a:t>i</a:t>
            </a:r>
            <a:r>
              <a:rPr lang="en-US" altLang="zh-CN" sz="2000" dirty="0">
                <a:sym typeface="+mn-ea"/>
              </a:rPr>
              <a:t>]);         // get left chopstick</a:t>
            </a:r>
            <a:br>
              <a:rPr lang="en-US" altLang="zh-CN" sz="2000" dirty="0"/>
            </a:br>
            <a:r>
              <a:rPr lang="en-US" altLang="zh-CN" sz="2000" dirty="0"/>
              <a:t>}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        …</a:t>
            </a:r>
            <a:r>
              <a:rPr lang="en-US" altLang="zh-CN" sz="2000" dirty="0">
                <a:sym typeface="+mn-ea"/>
              </a:rPr>
              <a:t> // eat for awhile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       V(</a:t>
            </a:r>
            <a:r>
              <a:rPr lang="en-US" altLang="zh-CN" sz="2000" dirty="0" err="1"/>
              <a:t>chopStick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]);                  //return left chopstick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       V(</a:t>
            </a:r>
            <a:r>
              <a:rPr lang="en-US" altLang="zh-CN" sz="2000" dirty="0" err="1"/>
              <a:t>chopStick</a:t>
            </a:r>
            <a:r>
              <a:rPr lang="en-US" altLang="zh-CN" sz="2000" dirty="0"/>
              <a:t>[(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+ 1) % 5]); // return right chopstick       	                             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/>
              <a:t>	} while (true) </a:t>
            </a:r>
            <a:endParaRPr lang="en-US" altLang="zh-CN" sz="2000" dirty="0"/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endParaRPr lang="en-US" altLang="zh-CN" sz="2000" dirty="0"/>
          </a:p>
        </p:txBody>
      </p:sp>
      <p:sp>
        <p:nvSpPr>
          <p:cNvPr id="20" name="矩形 19"/>
          <p:cNvSpPr/>
          <p:nvPr/>
        </p:nvSpPr>
        <p:spPr>
          <a:xfrm>
            <a:off x="669925" y="2468"/>
            <a:ext cx="7026275" cy="52197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解决方法</a:t>
            </a: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代码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 smtClean="0">
                <a:latin typeface="+mj-ea"/>
              </a:rPr>
              <a:t>硬件同步机制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4.5 </a:t>
            </a:r>
            <a:r>
              <a:rPr lang="zh-CN" altLang="en-US" sz="2400" dirty="0">
                <a:latin typeface="+mj-ea"/>
              </a:rPr>
              <a:t>管程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5225274" y="4947771"/>
            <a:ext cx="505825" cy="312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08275" y="4337865"/>
            <a:ext cx="425315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4.6.1 </a:t>
            </a:r>
            <a:r>
              <a:rPr lang="zh-CN" altLang="en-US" sz="2400" dirty="0">
                <a:latin typeface="+mj-ea"/>
              </a:rPr>
              <a:t>生产者</a:t>
            </a:r>
            <a:r>
              <a:rPr lang="en-US" altLang="zh-CN" sz="2400" dirty="0">
                <a:latin typeface="+mj-ea"/>
              </a:rPr>
              <a:t>-</a:t>
            </a:r>
            <a:r>
              <a:rPr lang="zh-CN" altLang="en-US" sz="2400" dirty="0">
                <a:latin typeface="+mj-ea"/>
              </a:rPr>
              <a:t>消费者问题</a:t>
            </a:r>
            <a:endParaRPr lang="zh-CN" altLang="en-US" sz="24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j-ea"/>
              </a:rPr>
              <a:t>4.6.2 </a:t>
            </a:r>
            <a:r>
              <a:rPr lang="zh-CN" altLang="en-US" sz="2400" dirty="0">
                <a:latin typeface="+mj-ea"/>
              </a:rPr>
              <a:t>哲学家进餐问题</a:t>
            </a:r>
            <a:endParaRPr lang="zh-CN" altLang="en-US" sz="24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4.6.3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读者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写者问题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读者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写者问题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9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4015" y="1296589"/>
            <a:ext cx="10845801" cy="4380661"/>
            <a:chOff x="673099" y="1232195"/>
            <a:chExt cx="10845801" cy="4380661"/>
          </a:xfrm>
        </p:grpSpPr>
        <p:sp>
          <p:nvSpPr>
            <p:cNvPr id="30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3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5212715" y="226200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8645288" y="2213112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7" name="isľîdê"/>
            <p:cNvSpPr txBox="1"/>
            <p:nvPr>
              <p:custDataLst>
                <p:tags r:id="rId6"/>
              </p:custDataLst>
            </p:nvPr>
          </p:nvSpPr>
          <p:spPr>
            <a:xfrm>
              <a:off x="673099" y="4123968"/>
              <a:ext cx="2151107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 smtClean="0"/>
                <a:t>读者</a:t>
              </a:r>
              <a:r>
                <a:rPr lang="zh-CN" altLang="en-US" sz="2200" dirty="0"/>
                <a:t>和写者，共享一组数据区。</a:t>
              </a:r>
              <a:endParaRPr lang="zh-CN" altLang="en-US" sz="2200" dirty="0"/>
            </a:p>
          </p:txBody>
        </p:sp>
        <p:sp>
          <p:nvSpPr>
            <p:cNvPr id="38" name="íṩ1ïḑe"/>
            <p:cNvSpPr txBox="1"/>
            <p:nvPr/>
          </p:nvSpPr>
          <p:spPr>
            <a:xfrm>
              <a:off x="5142043" y="1232422"/>
              <a:ext cx="174626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要求：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ïsḻiďê"/>
            <p:cNvSpPr txBox="1"/>
            <p:nvPr/>
          </p:nvSpPr>
          <p:spPr>
            <a:xfrm>
              <a:off x="8312255" y="1232422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分类：</a:t>
              </a:r>
              <a:endParaRPr lang="zh-CN" altLang="en-US" sz="2400" b="1" dirty="0"/>
            </a:p>
          </p:txBody>
        </p:sp>
        <p:sp>
          <p:nvSpPr>
            <p:cNvPr id="42" name="îṣḻidé"/>
            <p:cNvSpPr txBox="1"/>
            <p:nvPr>
              <p:custDataLst>
                <p:tags r:id="rId7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3" name="ïŝ1ïḋè"/>
            <p:cNvSpPr txBox="1"/>
            <p:nvPr>
              <p:custDataLst>
                <p:tags r:id="rId8"/>
              </p:custDataLst>
            </p:nvPr>
          </p:nvSpPr>
          <p:spPr>
            <a:xfrm>
              <a:off x="6356402" y="272605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4" name="í$lîdé"/>
            <p:cNvSpPr txBox="1"/>
            <p:nvPr>
              <p:custDataLst>
                <p:tags r:id="rId9"/>
              </p:custDataLst>
            </p:nvPr>
          </p:nvSpPr>
          <p:spPr>
            <a:xfrm>
              <a:off x="9363395" y="2606039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6" name="isľîdê"/>
            <p:cNvSpPr txBox="1"/>
            <p:nvPr>
              <p:custDataLst>
                <p:tags r:id="rId10"/>
              </p:custDataLst>
            </p:nvPr>
          </p:nvSpPr>
          <p:spPr>
            <a:xfrm>
              <a:off x="5053329" y="4055405"/>
              <a:ext cx="2011680" cy="1489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读读</a:t>
              </a:r>
              <a:r>
                <a:rPr lang="zh-CN" altLang="en-US" sz="2200" dirty="0"/>
                <a:t>共享；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读写</a:t>
              </a:r>
              <a:r>
                <a:rPr lang="zh-CN" altLang="en-US" sz="2200" dirty="0"/>
                <a:t>互斥；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写写</a:t>
              </a:r>
              <a:r>
                <a:rPr lang="zh-CN" altLang="en-US" sz="2200" dirty="0"/>
                <a:t>互斥。</a:t>
              </a:r>
              <a:endParaRPr lang="zh-CN" altLang="en-US" sz="2200" dirty="0"/>
            </a:p>
          </p:txBody>
        </p:sp>
        <p:sp>
          <p:nvSpPr>
            <p:cNvPr id="47" name="isľîdê"/>
            <p:cNvSpPr txBox="1"/>
            <p:nvPr>
              <p:custDataLst>
                <p:tags r:id="rId11"/>
              </p:custDataLst>
            </p:nvPr>
          </p:nvSpPr>
          <p:spPr>
            <a:xfrm>
              <a:off x="8336269" y="4151140"/>
              <a:ext cx="2763284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读者优先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写者优先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读写</a:t>
              </a:r>
              <a:r>
                <a:rPr lang="zh-CN" altLang="en-US" sz="2200" dirty="0"/>
                <a:t>公平</a:t>
              </a:r>
              <a:endParaRPr lang="zh-CN" altLang="en-US" sz="2200" dirty="0"/>
            </a:p>
          </p:txBody>
        </p:sp>
        <p:sp>
          <p:nvSpPr>
            <p:cNvPr id="21" name="íṩ1ïḑe"/>
            <p:cNvSpPr txBox="1"/>
            <p:nvPr/>
          </p:nvSpPr>
          <p:spPr>
            <a:xfrm>
              <a:off x="1077943" y="1232195"/>
              <a:ext cx="174626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/>
                <a:t>有两组并发进程：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读者优先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4305" y="1426845"/>
            <a:ext cx="9030970" cy="377126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2800"/>
              <a:t>读者优先的算法描述如下：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(1</a:t>
            </a:r>
            <a:r>
              <a:rPr lang="zh-CN" altLang="en-US" sz="2800"/>
              <a:t>）当一个读进程正在读取时，写进程必须等待。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(2</a:t>
            </a:r>
            <a:r>
              <a:rPr lang="zh-CN" altLang="en-US" sz="2800"/>
              <a:t>）在写进程等待时，随后的读进程仍可以进入临界区读取。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(3</a:t>
            </a:r>
            <a:r>
              <a:rPr lang="zh-CN" altLang="en-US" sz="2800"/>
              <a:t>）只有在没有读进程在读取的情况下，写进程才可以写入。</a:t>
            </a:r>
            <a:endParaRPr lang="zh-CN" altLang="en-US" sz="2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写者优先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085" y="1648460"/>
            <a:ext cx="9483090" cy="3969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写者优先的算法描述如下：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(1</a:t>
            </a:r>
            <a:r>
              <a:rPr lang="zh-CN" altLang="en-US" sz="2800"/>
              <a:t>）当一个读进程在读取时，写进程不能进入临界区。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(2</a:t>
            </a:r>
            <a:r>
              <a:rPr lang="zh-CN" altLang="en-US" sz="2800"/>
              <a:t>）当一个写进程表示希望进行写入时，随后的读进程不得进入临界区读取。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(3</a:t>
            </a:r>
            <a:r>
              <a:rPr lang="zh-CN" altLang="en-US" sz="2800"/>
              <a:t>）只有当所有的写进程都离开临界区后，读进程才可以进入临界区读取。</a:t>
            </a:r>
            <a:endParaRPr lang="zh-CN" altLang="en-US" sz="2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读写</a:t>
            </a:r>
            <a:r>
              <a:rPr lang="zh-CN" altLang="en-US" sz="2800" b="1" dirty="0">
                <a:solidFill>
                  <a:schemeClr val="bg1"/>
                </a:solidFill>
              </a:rPr>
              <a:t>公平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185" y="1294130"/>
            <a:ext cx="11010900" cy="3969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读写公平的算法描述如下：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(1</a:t>
            </a:r>
            <a:r>
              <a:rPr lang="zh-CN" altLang="en-US" sz="2800"/>
              <a:t>）当没有读进程或写进程时，允许读进程或写进程进入。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(2</a:t>
            </a:r>
            <a:r>
              <a:rPr lang="zh-CN" altLang="en-US" sz="2800"/>
              <a:t>）当一个读进程试图读取时，若有写者正在等待或进行写操作时，应等待其完成写操作后，才可以开始读操作。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(3</a:t>
            </a:r>
            <a:r>
              <a:rPr lang="zh-CN" altLang="en-US" sz="2800"/>
              <a:t>）同理，当一个写进程试图写入时，若有读者正在等待或进行读操作时，也需要进行等待。</a:t>
            </a:r>
            <a:endParaRPr lang="zh-CN" altLang="en-US" sz="2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读者优先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669925" y="1018741"/>
            <a:ext cx="5339840" cy="6561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void </a:t>
            </a:r>
            <a:r>
              <a:rPr kumimoji="1" lang="en-US" altLang="zh-CN" sz="2200" dirty="0" smtClean="0">
                <a:solidFill>
                  <a:srgbClr val="FF0000"/>
                </a:solidFill>
                <a:latin typeface="+mn-ea"/>
              </a:rPr>
              <a:t>reader</a:t>
            </a:r>
            <a:r>
              <a:rPr kumimoji="1" lang="en-US" altLang="zh-CN" sz="2200" dirty="0" smtClean="0">
                <a:latin typeface="+mn-ea"/>
              </a:rPr>
              <a:t>() {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do {  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if (</a:t>
            </a:r>
            <a:r>
              <a:rPr kumimoji="1" lang="en-US" altLang="zh-CN" sz="2200" dirty="0" err="1" smtClean="0">
                <a:latin typeface="+mn-ea"/>
              </a:rPr>
              <a:t>readcount</a:t>
            </a:r>
            <a:r>
              <a:rPr kumimoji="1" lang="en-US" altLang="zh-CN" sz="2200" dirty="0" smtClean="0">
                <a:latin typeface="+mn-ea"/>
              </a:rPr>
              <a:t>==0) 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     P(</a:t>
            </a:r>
            <a:r>
              <a:rPr lang="en-US" altLang="zh-CN" sz="2200">
                <a:sym typeface="+mn-ea"/>
              </a:rPr>
              <a:t>wmutex</a:t>
            </a:r>
            <a:r>
              <a:rPr kumimoji="1" lang="en-US" altLang="zh-CN" sz="2200" dirty="0" smtClean="0">
                <a:latin typeface="+mn-ea"/>
              </a:rPr>
              <a:t>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err="1" smtClean="0">
                <a:latin typeface="+mn-ea"/>
              </a:rPr>
              <a:t>      </a:t>
            </a:r>
            <a:r>
              <a:rPr kumimoji="1" lang="en-US" altLang="zh-CN" sz="2200" dirty="0" smtClean="0">
                <a:latin typeface="+mn-ea"/>
                <a:sym typeface="+mn-ea"/>
              </a:rPr>
              <a:t>P(r</a:t>
            </a:r>
            <a:r>
              <a:rPr kumimoji="1" lang="en-US" altLang="zh-CN" sz="2200" dirty="0" err="1" smtClean="0">
                <a:latin typeface="+mn-ea"/>
                <a:sym typeface="+mn-ea"/>
              </a:rPr>
              <a:t>mutex</a:t>
            </a:r>
            <a:r>
              <a:rPr kumimoji="1" lang="en-US" altLang="zh-CN" sz="2200" dirty="0" smtClean="0">
                <a:latin typeface="+mn-ea"/>
                <a:sym typeface="+mn-ea"/>
              </a:rPr>
              <a:t>);</a:t>
            </a:r>
            <a:endParaRPr kumimoji="1" lang="en-US" altLang="zh-CN" sz="2200" dirty="0" err="1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err="1" smtClean="0">
                <a:latin typeface="+mn-ea"/>
              </a:rPr>
              <a:t>      readcount</a:t>
            </a:r>
            <a:r>
              <a:rPr kumimoji="1" lang="en-US" altLang="zh-CN" sz="2200" dirty="0" smtClean="0">
                <a:latin typeface="+mn-ea"/>
              </a:rPr>
              <a:t>++;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V(r</a:t>
            </a:r>
            <a:r>
              <a:rPr kumimoji="1" lang="en-US" altLang="zh-CN" sz="2200" dirty="0" err="1" smtClean="0">
                <a:latin typeface="+mn-ea"/>
              </a:rPr>
              <a:t>mutex</a:t>
            </a:r>
            <a:r>
              <a:rPr kumimoji="1" lang="en-US" altLang="zh-CN" sz="2200" dirty="0" smtClean="0">
                <a:latin typeface="+mn-ea"/>
              </a:rPr>
              <a:t>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		</a:t>
            </a:r>
            <a:r>
              <a:rPr kumimoji="1" lang="zh-CN" altLang="en-US" sz="2200" dirty="0" smtClean="0">
                <a:solidFill>
                  <a:srgbClr val="FF0000"/>
                </a:solidFill>
                <a:latin typeface="+mn-ea"/>
              </a:rPr>
              <a:t>读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P(r</a:t>
            </a:r>
            <a:r>
              <a:rPr kumimoji="1" lang="en-US" altLang="zh-CN" sz="2200" dirty="0" err="1" smtClean="0">
                <a:latin typeface="+mn-ea"/>
              </a:rPr>
              <a:t>mutex</a:t>
            </a:r>
            <a:r>
              <a:rPr kumimoji="1" lang="en-US" altLang="zh-CN" sz="2200" dirty="0" smtClean="0">
                <a:latin typeface="+mn-ea"/>
              </a:rPr>
              <a:t>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	</a:t>
            </a:r>
            <a:r>
              <a:rPr kumimoji="1" lang="en-US" altLang="zh-CN" sz="2200" dirty="0" err="1" smtClean="0">
                <a:latin typeface="+mn-ea"/>
              </a:rPr>
              <a:t>readcount</a:t>
            </a:r>
            <a:r>
              <a:rPr kumimoji="1" lang="en-US" altLang="zh-CN" sz="2200" dirty="0" smtClean="0">
                <a:latin typeface="+mn-ea"/>
              </a:rPr>
              <a:t>--;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</a:t>
            </a:r>
            <a:r>
              <a:rPr kumimoji="1" lang="en-US" altLang="zh-CN" sz="2200" dirty="0" smtClean="0">
                <a:latin typeface="+mn-ea"/>
                <a:sym typeface="+mn-ea"/>
              </a:rPr>
              <a:t>V(r</a:t>
            </a:r>
            <a:r>
              <a:rPr kumimoji="1" lang="en-US" altLang="zh-CN" sz="2200" dirty="0" err="1" smtClean="0">
                <a:latin typeface="+mn-ea"/>
                <a:sym typeface="+mn-ea"/>
              </a:rPr>
              <a:t>mutex</a:t>
            </a:r>
            <a:r>
              <a:rPr kumimoji="1" lang="en-US" altLang="zh-CN" sz="2200" dirty="0" smtClean="0">
                <a:latin typeface="+mn-ea"/>
                <a:sym typeface="+mn-ea"/>
              </a:rPr>
              <a:t>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  if (</a:t>
            </a:r>
            <a:r>
              <a:rPr kumimoji="1" lang="en-US" altLang="zh-CN" sz="2200" dirty="0" err="1" smtClean="0">
                <a:latin typeface="+mn-ea"/>
              </a:rPr>
              <a:t>readcount</a:t>
            </a:r>
            <a:r>
              <a:rPr kumimoji="1" lang="en-US" altLang="zh-CN" sz="2200" dirty="0" smtClean="0">
                <a:latin typeface="+mn-ea"/>
              </a:rPr>
              <a:t>==0)            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  <a:sym typeface="+mn-ea"/>
              </a:rPr>
              <a:t>           V(</a:t>
            </a:r>
            <a:r>
              <a:rPr lang="en-US" altLang="zh-CN" sz="2200">
                <a:sym typeface="+mn-ea"/>
              </a:rPr>
              <a:t>wmutex</a:t>
            </a:r>
            <a:r>
              <a:rPr kumimoji="1" lang="en-US" altLang="zh-CN" sz="2200" dirty="0" smtClean="0">
                <a:latin typeface="+mn-ea"/>
                <a:sym typeface="+mn-ea"/>
              </a:rPr>
              <a:t>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    }while(TRUE);</a:t>
            </a:r>
            <a:endParaRPr kumimoji="1" lang="en-US" altLang="zh-CN" sz="2200" dirty="0" smtClean="0">
              <a:latin typeface="+mn-ea"/>
            </a:endParaRPr>
          </a:p>
          <a:p>
            <a:pPr marL="0" indent="0" algn="just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kumimoji="1" lang="en-US" altLang="zh-CN" sz="2200" dirty="0" smtClean="0">
                <a:latin typeface="+mn-ea"/>
              </a:rPr>
              <a:t>}</a:t>
            </a:r>
            <a:endParaRPr kumimoji="1" lang="en-US" altLang="zh-CN" sz="2200" dirty="0" smtClean="0">
              <a:latin typeface="+mn-ea"/>
            </a:endParaRPr>
          </a:p>
          <a:p>
            <a:pPr marL="0" indent="0">
              <a:spcBef>
                <a:spcPts val="600"/>
              </a:spcBef>
              <a:buFont typeface="Wingdings 2" panose="05020102010507070707" pitchFamily="18" charset="2"/>
              <a:buNone/>
            </a:pPr>
            <a:endParaRPr lang="zh-CN" altLang="en-US" sz="2200" dirty="0" smtClean="0">
              <a:latin typeface="+mn-ea"/>
            </a:endParaRPr>
          </a:p>
        </p:txBody>
      </p:sp>
      <p:sp>
        <p:nvSpPr>
          <p:cNvPr id="9" name="内容占位符 5"/>
          <p:cNvSpPr txBox="1"/>
          <p:nvPr/>
        </p:nvSpPr>
        <p:spPr>
          <a:xfrm>
            <a:off x="6672580" y="2639695"/>
            <a:ext cx="3748405" cy="3481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void </a:t>
            </a:r>
            <a:r>
              <a:rPr kumimoji="1" lang="en-US" altLang="zh-CN" sz="2400" dirty="0" smtClean="0">
                <a:solidFill>
                  <a:srgbClr val="0000CC"/>
                </a:solidFill>
                <a:latin typeface="+mn-ea"/>
              </a:rPr>
              <a:t>writer</a:t>
            </a:r>
            <a:r>
              <a:rPr kumimoji="1" lang="en-US" altLang="zh-CN" sz="2400" dirty="0" smtClean="0">
                <a:latin typeface="+mn-ea"/>
              </a:rPr>
              <a:t>() {</a:t>
            </a:r>
            <a:endParaRPr kumimoji="1" lang="en-US" altLang="zh-CN" sz="2400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  do {</a:t>
            </a:r>
            <a:endParaRPr kumimoji="1" lang="en-US" altLang="zh-CN" sz="2400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	</a:t>
            </a:r>
            <a:r>
              <a:rPr kumimoji="1" lang="en-US" altLang="zh-CN" sz="2400" dirty="0" smtClean="0">
                <a:latin typeface="+mn-ea"/>
              </a:rPr>
              <a:t>P(</a:t>
            </a:r>
            <a:r>
              <a:rPr lang="en-US" altLang="zh-CN" sz="2400">
                <a:sym typeface="+mn-ea"/>
              </a:rPr>
              <a:t>w</a:t>
            </a:r>
            <a:r>
              <a:rPr lang="en-US" altLang="zh-CN" sz="2400">
                <a:sym typeface="+mn-ea"/>
              </a:rPr>
              <a:t>mutex</a:t>
            </a:r>
            <a:r>
              <a:rPr kumimoji="1" lang="en-US" altLang="zh-CN" sz="2400" dirty="0" smtClean="0">
                <a:latin typeface="+mn-ea"/>
              </a:rPr>
              <a:t>);</a:t>
            </a:r>
            <a:endParaRPr kumimoji="1" lang="en-US" altLang="zh-CN" sz="2400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	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+mn-ea"/>
              </a:rPr>
              <a:t>写</a:t>
            </a:r>
            <a:endParaRPr kumimoji="1" lang="zh-CN" altLang="en-US" sz="2400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	</a:t>
            </a:r>
            <a:r>
              <a:rPr kumimoji="1" lang="en-US" altLang="zh-CN" sz="2400" dirty="0" smtClean="0">
                <a:latin typeface="+mn-ea"/>
              </a:rPr>
              <a:t>V(</a:t>
            </a:r>
            <a:r>
              <a:rPr lang="en-US" altLang="zh-CN" sz="2400">
                <a:sym typeface="+mn-ea"/>
              </a:rPr>
              <a:t>w</a:t>
            </a:r>
            <a:r>
              <a:rPr lang="en-US" altLang="zh-CN" sz="2400">
                <a:sym typeface="+mn-ea"/>
              </a:rPr>
              <a:t>mutex</a:t>
            </a:r>
            <a:r>
              <a:rPr kumimoji="1" lang="en-US" altLang="zh-CN" sz="2400" dirty="0" smtClean="0">
                <a:latin typeface="+mn-ea"/>
              </a:rPr>
              <a:t>);</a:t>
            </a:r>
            <a:endParaRPr kumimoji="1" lang="en-US" altLang="zh-CN" sz="2400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+mn-ea"/>
              </a:rPr>
              <a:t>    </a:t>
            </a:r>
            <a:r>
              <a:rPr lang="en-US" altLang="zh-CN" sz="2400" dirty="0" smtClean="0">
                <a:latin typeface="+mn-ea"/>
              </a:rPr>
              <a:t>}</a:t>
            </a:r>
            <a:endParaRPr lang="en-US" altLang="zh-CN" dirty="0" smtClean="0">
              <a:latin typeface="+mn-ea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kumimoji="1" lang="en-US" altLang="zh-CN" sz="2400" dirty="0" smtClean="0">
                <a:latin typeface="+mn-ea"/>
              </a:rPr>
              <a:t>}while(TRUE)</a:t>
            </a:r>
            <a:endParaRPr kumimoji="1" lang="en-US" altLang="zh-CN" sz="2400" dirty="0" smtClean="0">
              <a:latin typeface="+mn-ea"/>
            </a:endParaRPr>
          </a:p>
        </p:txBody>
      </p:sp>
      <p:sp>
        <p:nvSpPr>
          <p:cNvPr id="10" name="文本框 6"/>
          <p:cNvSpPr txBox="1">
            <a:spLocks noChangeArrowheads="1"/>
          </p:cNvSpPr>
          <p:nvPr/>
        </p:nvSpPr>
        <p:spPr bwMode="auto">
          <a:xfrm>
            <a:off x="6579235" y="1381760"/>
            <a:ext cx="4706620" cy="1198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初始化：</a:t>
            </a:r>
            <a:endParaRPr lang="en-US" altLang="zh-CN" sz="2400" dirty="0">
              <a:latin typeface="+mn-ea"/>
              <a:ea typeface="+mn-ea"/>
            </a:endParaRPr>
          </a:p>
          <a:p>
            <a:r>
              <a:rPr lang="en-US" altLang="zh-CN" sz="2400" dirty="0"/>
              <a:t>semaphore r</a:t>
            </a:r>
            <a:r>
              <a:rPr lang="en-US" altLang="zh-CN" sz="2400" dirty="0" err="1"/>
              <a:t>mutex</a:t>
            </a:r>
            <a:r>
              <a:rPr lang="en-US" altLang="zh-CN" sz="2400" dirty="0"/>
              <a:t>=1, </a:t>
            </a:r>
            <a:r>
              <a:rPr lang="en-US" altLang="zh-CN" sz="2400">
                <a:sym typeface="+mn-ea"/>
              </a:rPr>
              <a:t>w</a:t>
            </a:r>
            <a:r>
              <a:rPr lang="en-US" altLang="zh-CN" sz="2400">
                <a:sym typeface="+mn-ea"/>
              </a:rPr>
              <a:t>mutex</a:t>
            </a:r>
            <a:r>
              <a:rPr lang="en-US" altLang="zh-CN" sz="2400" dirty="0"/>
              <a:t>=1;</a:t>
            </a:r>
            <a:endParaRPr lang="en-US" altLang="zh-CN" sz="2400" dirty="0"/>
          </a:p>
          <a:p>
            <a:r>
              <a:rPr lang="en-US" altLang="zh-CN" sz="2400" dirty="0"/>
              <a:t>int </a:t>
            </a:r>
            <a:r>
              <a:rPr lang="en-US" altLang="zh-CN" sz="2400" dirty="0" err="1"/>
              <a:t>readcount</a:t>
            </a:r>
            <a:r>
              <a:rPr lang="en-US" altLang="zh-CN" sz="2400" dirty="0"/>
              <a:t>=0;</a:t>
            </a:r>
            <a:endParaRPr lang="zh-CN" altLang="en-US" sz="2400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6009765" y="1018741"/>
            <a:ext cx="0" cy="50729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009640" y="78740"/>
            <a:ext cx="6182360" cy="1243965"/>
          </a:xfrm>
          <a:prstGeom prst="rect">
            <a:avLst/>
          </a:prstGeom>
          <a:solidFill>
            <a:srgbClr val="F6F5C5"/>
          </a:solidFill>
        </p:spPr>
        <p:txBody>
          <a:bodyPr wrap="square" rtlCol="0" anchor="t">
            <a:noAutofit/>
          </a:bodyPr>
          <a:p>
            <a:r>
              <a:rPr lang="en-US" altLang="zh-CN" sz="2400"/>
              <a:t>rmutex</a:t>
            </a:r>
            <a:r>
              <a:rPr lang="zh-CN" altLang="en-US" sz="2400"/>
              <a:t>：访问</a:t>
            </a:r>
            <a:r>
              <a:rPr lang="en-US" altLang="zh-CN" sz="2400"/>
              <a:t>readcount</a:t>
            </a:r>
            <a:r>
              <a:rPr lang="zh-CN" altLang="en-US" sz="2400"/>
              <a:t>变量互斥信号量</a:t>
            </a:r>
            <a:endParaRPr lang="zh-CN" altLang="en-US" sz="2400"/>
          </a:p>
          <a:p>
            <a:r>
              <a:rPr lang="en-US" altLang="zh-CN" sz="2400"/>
              <a:t>w</a:t>
            </a:r>
            <a:r>
              <a:rPr lang="en-US" altLang="zh-CN" sz="2400">
                <a:sym typeface="+mn-ea"/>
              </a:rPr>
              <a:t>mutex</a:t>
            </a:r>
            <a:r>
              <a:rPr lang="zh-CN" altLang="en-US" sz="2400"/>
              <a:t>：代表读写互斥，写写互斥的信号量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readcount</a:t>
            </a:r>
            <a:r>
              <a:rPr lang="zh-CN" altLang="en-US" sz="2400">
                <a:sym typeface="+mn-ea"/>
              </a:rPr>
              <a:t>：读者数量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1440180"/>
            <a:ext cx="1054544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lang="en-US" altLang="zh-CN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消费者属于高频考点，一定勤加练习。</a:t>
            </a:r>
            <a:endParaRPr lang="zh-CN" altLang="en-US" sz="2800" b="0" i="0">
              <a:solidFill>
                <a:srgbClr val="373A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2207260"/>
            <a:ext cx="10545445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哲学家进餐问题属于低频考点，也很难出变体，没必要研究太深，套个模板就能搞定。桌子上的筷子数就是临界值，这个甚至比生产消费还要简单，P(i)，P(i+1</a:t>
            </a:r>
            <a:r>
              <a:rPr lang="en-US" altLang="zh-CN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mod </a:t>
            </a: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5),VV就行了</a:t>
            </a:r>
            <a:endParaRPr lang="zh-CN" altLang="en-US" sz="2800" b="0" i="0">
              <a:solidFill>
                <a:srgbClr val="373A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280" y="4081780"/>
            <a:ext cx="10545445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读者</a:t>
            </a:r>
            <a:r>
              <a:rPr lang="en-US" altLang="zh-CN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写者问题属于无频考点，一次没考过，如考研，复习时借助百度可自行</a:t>
            </a:r>
            <a:r>
              <a:rPr lang="zh-CN" altLang="en-US" sz="2800" b="0" i="0">
                <a:solidFill>
                  <a:srgbClr val="373A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研究。</a:t>
            </a:r>
            <a:endParaRPr lang="zh-CN" altLang="en-US" sz="2800" b="0" i="0">
              <a:solidFill>
                <a:srgbClr val="373A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三个经典问题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4810" y="944880"/>
            <a:ext cx="11515725" cy="265112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【</a:t>
            </a:r>
            <a:r>
              <a:rPr lang="en-US" altLang="zh-CN" sz="2400"/>
              <a:t>2013</a:t>
            </a:r>
            <a:r>
              <a:rPr lang="zh-CN" altLang="en-US" sz="2400"/>
              <a:t>】某博物馆最多可容纳</a:t>
            </a:r>
            <a:r>
              <a:rPr lang="en-US" altLang="zh-CN" sz="2400"/>
              <a:t>500</a:t>
            </a:r>
            <a:r>
              <a:rPr lang="zh-CN" altLang="en-US" sz="2400"/>
              <a:t>人同时参观，有一个出入口，该出入口一次仅允许一个人，参观者的活动为：进门</a:t>
            </a:r>
            <a:r>
              <a:rPr lang="en-US" altLang="zh-CN" sz="2400"/>
              <a:t>——</a:t>
            </a:r>
            <a:r>
              <a:rPr lang="zh-CN" altLang="en-US" sz="2400"/>
              <a:t>》参观</a:t>
            </a:r>
            <a:r>
              <a:rPr lang="en-US" altLang="zh-CN" sz="2400"/>
              <a:t>——</a:t>
            </a:r>
            <a:r>
              <a:rPr lang="zh-CN" altLang="en-US" sz="2400"/>
              <a:t>》出门。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使用信号量</a:t>
            </a:r>
            <a:r>
              <a:rPr lang="en-US" altLang="zh-CN" sz="2400"/>
              <a:t>PV</a:t>
            </a:r>
            <a:r>
              <a:rPr lang="zh-CN" altLang="en-US" sz="2400"/>
              <a:t>操作，实现参观者的完整</a:t>
            </a:r>
            <a:r>
              <a:rPr lang="zh-CN" altLang="en-US" sz="2400"/>
              <a:t>活动。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315" y="153035"/>
            <a:ext cx="3873500" cy="1250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400"/>
              <a:t>Semaphore </a:t>
            </a:r>
            <a:r>
              <a:rPr lang="en-US" altLang="zh-CN" sz="2400"/>
              <a:t>door=1;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</a:t>
            </a:r>
            <a:r>
              <a:rPr lang="en-US" altLang="zh-CN" sz="2400">
                <a:sym typeface="+mn-ea"/>
              </a:rPr>
              <a:t>empty=500;</a:t>
            </a: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4295140" y="153035"/>
            <a:ext cx="3240405" cy="6493510"/>
          </a:xfrm>
          <a:prstGeom prst="rect">
            <a:avLst/>
          </a:prstGeom>
          <a:solidFill>
            <a:srgbClr val="E9E9FF"/>
          </a:solidFill>
        </p:spPr>
        <p:txBody>
          <a:bodyPr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Cobegin{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Process </a:t>
            </a:r>
            <a:r>
              <a:rPr lang="zh-CN" altLang="en-US" sz="2000"/>
              <a:t>参观者</a:t>
            </a:r>
            <a:r>
              <a:rPr lang="en-US" altLang="zh-CN" sz="2000"/>
              <a:t>{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while(true){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P(empty);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P(</a:t>
            </a:r>
            <a:r>
              <a:rPr lang="en-US" altLang="zh-CN" sz="2000"/>
              <a:t>door);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进门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V(</a:t>
            </a:r>
            <a:r>
              <a:rPr lang="en-US" altLang="zh-CN" sz="2000"/>
              <a:t>door);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参观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P(</a:t>
            </a:r>
            <a:r>
              <a:rPr lang="en-US" altLang="zh-CN" sz="2000"/>
              <a:t>door);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出门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V(</a:t>
            </a:r>
            <a:r>
              <a:rPr lang="en-US" altLang="zh-CN" sz="2000"/>
              <a:t>door);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V(empty);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2730" y="1158240"/>
            <a:ext cx="11515725" cy="265112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某寺庙有小和尚、老和尚若干，有一水缸，由小和尚提水入缸供老和尚饮用。水缸可容</a:t>
            </a:r>
            <a:r>
              <a:rPr lang="en-US" altLang="zh-CN" sz="2400"/>
              <a:t>10</a:t>
            </a:r>
            <a:r>
              <a:rPr lang="zh-CN" altLang="en-US" sz="2400"/>
              <a:t>桶水，水取自同一井中。水井径窄，每次只能容一个桶取水。水桶总数为</a:t>
            </a:r>
            <a:r>
              <a:rPr lang="en-US" altLang="zh-CN" sz="2400"/>
              <a:t>3</a:t>
            </a:r>
            <a:r>
              <a:rPr lang="zh-CN" altLang="en-US" sz="2400"/>
              <a:t>个。每次入缸取水仅为</a:t>
            </a:r>
            <a:r>
              <a:rPr lang="en-US" altLang="zh-CN" sz="2400"/>
              <a:t>1</a:t>
            </a:r>
            <a:r>
              <a:rPr lang="zh-CN" altLang="en-US" sz="2400"/>
              <a:t>桶水，且不可同时进行。试用信号量和 </a:t>
            </a:r>
            <a:r>
              <a:rPr lang="en-US" altLang="zh-CN" sz="2400"/>
              <a:t>P / V </a:t>
            </a:r>
            <a:r>
              <a:rPr lang="zh-CN" altLang="en-US" sz="2400"/>
              <a:t>操作给出有关从缸取水、入水的算法描述。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448810" y="3215005"/>
            <a:ext cx="4035425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400"/>
              <a:t>Semaphore </a:t>
            </a:r>
            <a:r>
              <a:rPr lang="en-US" altLang="zh-CN" sz="2400"/>
              <a:t>jing=1;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gang=1;</a:t>
            </a:r>
            <a:endParaRPr lang="en-US" altLang="zh-CN" sz="24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empty=10;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full=0;</a:t>
            </a:r>
            <a:endParaRPr lang="en-US" altLang="zh-CN" sz="24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</a:t>
            </a:r>
            <a:r>
              <a:rPr lang="en-US" altLang="zh-CN" sz="2400">
                <a:sym typeface="+mn-ea"/>
              </a:rPr>
              <a:t>tong=3;</a:t>
            </a: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315" y="153035"/>
            <a:ext cx="4035425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400"/>
              <a:t>Semaphore </a:t>
            </a:r>
            <a:r>
              <a:rPr lang="en-US" altLang="zh-CN" sz="2400"/>
              <a:t>jing=1;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gang=1;</a:t>
            </a:r>
            <a:endParaRPr lang="en-US" altLang="zh-CN" sz="24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empty=10;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full=0;</a:t>
            </a:r>
            <a:endParaRPr lang="en-US" altLang="zh-CN" sz="24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Semaphore </a:t>
            </a:r>
            <a:r>
              <a:rPr lang="en-US" altLang="zh-CN" sz="2400">
                <a:sym typeface="+mn-ea"/>
              </a:rPr>
              <a:t>tong=3;</a:t>
            </a: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  <a:p>
            <a:pPr>
              <a:lnSpc>
                <a:spcPct val="150000"/>
              </a:lnSpc>
            </a:pP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4295140" y="153035"/>
            <a:ext cx="3240405" cy="6493510"/>
          </a:xfrm>
          <a:prstGeom prst="rect">
            <a:avLst/>
          </a:prstGeom>
          <a:solidFill>
            <a:srgbClr val="E9E9FF"/>
          </a:solidFill>
        </p:spPr>
        <p:txBody>
          <a:bodyPr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Cobegin{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Process </a:t>
            </a:r>
            <a:r>
              <a:rPr lang="zh-CN" altLang="en-US" sz="2000"/>
              <a:t>小和尚</a:t>
            </a:r>
            <a:r>
              <a:rPr lang="en-US" altLang="zh-CN" sz="2000"/>
              <a:t>{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while(true){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____(1)______;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____(2)______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____(3)______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从水井取水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____(4)______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____(5)______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水倒入水缸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____(6)______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____(7)______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____(8)______</a:t>
            </a:r>
            <a:r>
              <a:rPr lang="en-US" altLang="zh-CN" sz="2000"/>
              <a:t>;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8204835" y="153035"/>
            <a:ext cx="3288030" cy="5837555"/>
          </a:xfrm>
          <a:prstGeom prst="rect">
            <a:avLst/>
          </a:prstGeom>
          <a:solidFill>
            <a:srgbClr val="F6F5C5"/>
          </a:solidFill>
        </p:spPr>
        <p:txBody>
          <a:bodyPr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Process </a:t>
            </a:r>
            <a:r>
              <a:rPr lang="zh-CN" altLang="en-US" sz="2000"/>
              <a:t>老和尚</a:t>
            </a:r>
            <a:r>
              <a:rPr lang="en-US" altLang="zh-CN" sz="2000"/>
              <a:t>{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while(true){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____(9)______</a:t>
            </a:r>
            <a:r>
              <a:rPr lang="en-US" altLang="zh-CN" sz="2000"/>
              <a:t>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____(10)______</a:t>
            </a:r>
            <a:r>
              <a:rPr lang="en-US" altLang="zh-CN" sz="2000"/>
              <a:t>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____(11)______</a:t>
            </a:r>
            <a:r>
              <a:rPr lang="en-US" altLang="zh-CN" sz="2000"/>
              <a:t>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从水</a:t>
            </a:r>
            <a:r>
              <a:rPr lang="zh-CN" altLang="en-US" sz="2000"/>
              <a:t>缸取水</a:t>
            </a:r>
            <a:r>
              <a:rPr lang="en-US" altLang="zh-CN" sz="2000"/>
              <a:t>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V(gang);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V(</a:t>
            </a:r>
            <a:r>
              <a:rPr lang="en-US" altLang="zh-CN" sz="2000"/>
              <a:t>empty);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喝水</a:t>
            </a:r>
            <a:endParaRPr lang="zh-CN" altLang="en-US" sz="2000"/>
          </a:p>
          <a:p>
            <a:pPr marL="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ym typeface="+mn-ea"/>
              </a:rPr>
              <a:t>       V(</a:t>
            </a:r>
            <a:r>
              <a:rPr lang="en-US" altLang="zh-CN" sz="2000">
                <a:sym typeface="+mn-ea"/>
              </a:rPr>
              <a:t>tong</a:t>
            </a:r>
            <a:r>
              <a:rPr lang="en-US" altLang="zh-CN" sz="2000">
                <a:sym typeface="+mn-ea"/>
              </a:rPr>
              <a:t>)</a:t>
            </a:r>
            <a:r>
              <a:rPr lang="zh-CN" altLang="en-US" sz="2000">
                <a:sym typeface="+mn-ea"/>
              </a:rPr>
              <a:t>；</a:t>
            </a:r>
            <a:endParaRPr lang="en-US" altLang="zh-CN" sz="2000"/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} </a:t>
            </a:r>
            <a:r>
              <a:rPr lang="en-US" altLang="zh-CN" sz="2000"/>
              <a:t>coend</a:t>
            </a: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3"/>
          <p:cNvSpPr txBox="1"/>
          <p:nvPr/>
        </p:nvSpPr>
        <p:spPr>
          <a:xfrm>
            <a:off x="669925" y="5602927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Date</a:t>
            </a:r>
            <a:endParaRPr lang="zh-CN" altLang="en-US" dirty="0"/>
          </a:p>
        </p:txBody>
      </p:sp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1255" y="2458210"/>
            <a:ext cx="3449983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sym typeface="+mn-ea"/>
              </a:rPr>
              <a:t>4</a:t>
            </a:r>
            <a:r>
              <a:rPr lang="zh-CN" altLang="en-US" sz="3600" dirty="0">
                <a:solidFill>
                  <a:srgbClr val="000000"/>
                </a:solidFill>
                <a:sym typeface="+mn-ea"/>
              </a:rPr>
              <a:t>章 进程同步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59899" y="3190471"/>
            <a:ext cx="3987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167941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26455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292002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3538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1645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480229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7670" y="173546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4.1 </a:t>
            </a:r>
            <a:r>
              <a:rPr lang="zh-CN" altLang="en-US" sz="2400" dirty="0">
                <a:latin typeface="+mj-ea"/>
                <a:ea typeface="+mj-ea"/>
              </a:rPr>
              <a:t>进程同步的</a:t>
            </a:r>
            <a:r>
              <a:rPr lang="zh-CN" altLang="en-US" sz="2400" dirty="0" smtClean="0">
                <a:latin typeface="+mj-ea"/>
                <a:ea typeface="+mj-ea"/>
              </a:rPr>
              <a:t>概念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97671" y="2354594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4.2 </a:t>
            </a:r>
            <a:r>
              <a:rPr lang="zh-CN" altLang="en-US" sz="2400" dirty="0">
                <a:latin typeface="+mj-ea"/>
              </a:rPr>
              <a:t>软件同步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97670" y="2973719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4.3 </a:t>
            </a:r>
            <a:r>
              <a:rPr lang="zh-CN" altLang="en-US" sz="2400" dirty="0" smtClean="0">
                <a:latin typeface="+mj-ea"/>
              </a:rPr>
              <a:t>硬件同步机制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97670" y="3592844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4.4 </a:t>
            </a:r>
            <a:r>
              <a:rPr lang="zh-CN" altLang="en-US" sz="2400" dirty="0">
                <a:latin typeface="+mj-ea"/>
              </a:rPr>
              <a:t>信号量</a:t>
            </a:r>
            <a:r>
              <a:rPr lang="zh-CN" altLang="en-US" sz="2400" dirty="0" smtClean="0">
                <a:latin typeface="+mj-ea"/>
              </a:rPr>
              <a:t>机制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97670" y="4211969"/>
            <a:ext cx="3367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4.5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管程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机制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97670" y="4831094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4.6 </a:t>
            </a:r>
            <a:r>
              <a:rPr lang="zh-CN" altLang="en-US" sz="2400" dirty="0">
                <a:latin typeface="+mj-ea"/>
              </a:rPr>
              <a:t>经典进程的同步</a:t>
            </a:r>
            <a:r>
              <a:rPr lang="zh-CN" altLang="en-US" sz="2400" dirty="0" smtClean="0">
                <a:latin typeface="+mj-ea"/>
              </a:rPr>
              <a:t>问题</a:t>
            </a:r>
            <a:endParaRPr lang="zh-CN" altLang="en-US" sz="2400" dirty="0">
              <a:latin typeface="+mj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51" y="540872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4" name="矩形 23"/>
          <p:cNvSpPr/>
          <p:nvPr/>
        </p:nvSpPr>
        <p:spPr>
          <a:xfrm>
            <a:off x="1697670" y="543753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4.7 Linux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进程同步机制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9154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信号量机制的问题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íSľïdé"/>
          <p:cNvSpPr/>
          <p:nvPr/>
        </p:nvSpPr>
        <p:spPr>
          <a:xfrm>
            <a:off x="1713745" y="1641494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30" name="ïŝļíḓê"/>
          <p:cNvSpPr/>
          <p:nvPr/>
        </p:nvSpPr>
        <p:spPr bwMode="auto">
          <a:xfrm>
            <a:off x="8726038" y="1348781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32" name="内容占位符 2"/>
          <p:cNvSpPr txBox="1"/>
          <p:nvPr/>
        </p:nvSpPr>
        <p:spPr>
          <a:xfrm>
            <a:off x="292100" y="2273300"/>
            <a:ext cx="4742180" cy="33134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None/>
              <a:defRPr/>
            </a:pPr>
            <a:r>
              <a:rPr lang="zh-CN" altLang="en-US" sz="2400" dirty="0">
                <a:sym typeface="+mn-ea"/>
              </a:rPr>
              <a:t>每个进程分别定义自己的</a:t>
            </a:r>
            <a:r>
              <a:rPr lang="en-US" altLang="zh-CN" sz="2400" dirty="0">
                <a:sym typeface="+mn-ea"/>
              </a:rPr>
              <a:t>PV</a:t>
            </a:r>
            <a:r>
              <a:rPr lang="zh-CN" altLang="en-US" sz="2400" dirty="0">
                <a:sym typeface="+mn-ea"/>
              </a:rPr>
              <a:t>操作，众多同步操作会分散在各个进程。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维护困难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容易出错</a:t>
            </a:r>
            <a:endParaRPr lang="zh-CN" altLang="en-US" sz="2400" dirty="0"/>
          </a:p>
          <a:p>
            <a:pPr lvl="1"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dirty="0" smtClean="0">
                <a:latin typeface="+mn-ea"/>
              </a:rPr>
              <a:t>  wait/signal</a:t>
            </a:r>
            <a:r>
              <a:rPr lang="zh-CN" altLang="en-US" sz="2400" dirty="0">
                <a:latin typeface="+mn-ea"/>
              </a:rPr>
              <a:t>位置错</a:t>
            </a:r>
            <a:endParaRPr lang="zh-CN" altLang="en-US" sz="2400" dirty="0">
              <a:latin typeface="+mn-ea"/>
            </a:endParaRPr>
          </a:p>
          <a:p>
            <a:pPr lvl="1"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dirty="0" smtClean="0">
                <a:latin typeface="+mn-ea"/>
              </a:rPr>
              <a:t>  wait/signal</a:t>
            </a:r>
            <a:r>
              <a:rPr lang="zh-CN" altLang="en-US" sz="2400" dirty="0" smtClean="0">
                <a:latin typeface="+mn-ea"/>
              </a:rPr>
              <a:t>不配对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3" name="内容占位符 2"/>
          <p:cNvSpPr txBox="1"/>
          <p:nvPr/>
        </p:nvSpPr>
        <p:spPr>
          <a:xfrm>
            <a:off x="6889750" y="2517775"/>
            <a:ext cx="5217160" cy="26346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None/>
              <a:defRPr/>
            </a:pPr>
            <a:r>
              <a:rPr lang="zh-CN" altLang="en-US" sz="2400" dirty="0"/>
              <a:t>引入管程的</a:t>
            </a:r>
            <a:r>
              <a:rPr lang="zh-CN" altLang="en-US" sz="2400" dirty="0"/>
              <a:t>目的：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集中管理分散于不同进程的</a:t>
            </a:r>
            <a:r>
              <a:rPr lang="zh-CN" altLang="en-US" sz="2400" dirty="0"/>
              <a:t>临界区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ym typeface="+mn-ea"/>
              </a:rPr>
              <a:t>将共享资源和操作封装起来，</a:t>
            </a:r>
            <a:r>
              <a:rPr lang="zh-CN" altLang="en-US" sz="2400" dirty="0"/>
              <a:t>防止进程违反</a:t>
            </a:r>
            <a:r>
              <a:rPr lang="zh-CN" altLang="en-US" sz="2400" dirty="0"/>
              <a:t>同步操作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ym typeface="+mn-ea"/>
              </a:rPr>
              <a:t>提供了一种更简单的编程模型，</a:t>
            </a:r>
            <a:r>
              <a:rPr lang="zh-CN" altLang="en-US" sz="2400" dirty="0"/>
              <a:t>便于用高级语言编写程序</a:t>
            </a:r>
            <a:endParaRPr lang="zh-CN" altLang="en-US" sz="2400" dirty="0"/>
          </a:p>
        </p:txBody>
      </p:sp>
      <p:sp>
        <p:nvSpPr>
          <p:cNvPr id="8" name="对角圆角矩形 7"/>
          <p:cNvSpPr/>
          <p:nvPr/>
        </p:nvSpPr>
        <p:spPr bwMode="auto">
          <a:xfrm>
            <a:off x="4706224" y="1097353"/>
            <a:ext cx="2780921" cy="1056261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/>
              <a:t>信号量：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分散式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zh-CN" altLang="en-US" sz="2800" dirty="0"/>
              <a:t>管    程：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集中式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管程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7525" y="1168535"/>
            <a:ext cx="4020551" cy="2427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400" dirty="0"/>
              <a:t>管程定义</a:t>
            </a:r>
            <a:endParaRPr lang="zh-CN" altLang="en-US" sz="2400" dirty="0"/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一个管程定义了一个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数据结构</a:t>
            </a:r>
            <a:r>
              <a:rPr lang="zh-CN" altLang="en-US" sz="2000" dirty="0">
                <a:latin typeface="+mn-ea"/>
              </a:rPr>
              <a:t>和能为并发进程所执行（在该数据结构上）的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一组操作</a:t>
            </a:r>
            <a:r>
              <a:rPr lang="zh-CN" altLang="en-US" sz="2000" dirty="0">
                <a:latin typeface="+mn-ea"/>
              </a:rPr>
              <a:t>，这组操作能</a:t>
            </a:r>
            <a:r>
              <a:rPr lang="zh-CN" altLang="en-US" sz="2000" b="1" dirty="0">
                <a:latin typeface="+mn-ea"/>
              </a:rPr>
              <a:t>同步进程</a:t>
            </a:r>
            <a:r>
              <a:rPr lang="zh-CN" altLang="en-US" sz="2000" dirty="0">
                <a:latin typeface="+mn-ea"/>
              </a:rPr>
              <a:t>和</a:t>
            </a:r>
            <a:r>
              <a:rPr lang="zh-CN" altLang="en-US" sz="2000" b="1" dirty="0">
                <a:latin typeface="+mn-ea"/>
              </a:rPr>
              <a:t>改变管程中的</a:t>
            </a:r>
            <a:r>
              <a:rPr lang="zh-CN" altLang="en-US" sz="2000" b="1" dirty="0" smtClean="0">
                <a:latin typeface="+mn-ea"/>
              </a:rPr>
              <a:t>数据</a:t>
            </a:r>
            <a:endParaRPr lang="zh-CN" altLang="en-US" sz="2000" b="1" dirty="0" smtClean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930" y="116853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8077" y="116853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5" name="矩形 14"/>
          <p:cNvSpPr/>
          <p:nvPr/>
        </p:nvSpPr>
        <p:spPr>
          <a:xfrm>
            <a:off x="5590852" y="1695585"/>
            <a:ext cx="648187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/>
              <a:t>Monitor </a:t>
            </a:r>
            <a:r>
              <a:rPr lang="en-US" altLang="zh-CN" sz="2000" dirty="0" err="1"/>
              <a:t>monitor_name</a:t>
            </a:r>
            <a:r>
              <a:rPr lang="en-US" altLang="zh-CN" sz="2000" dirty="0"/>
              <a:t>  {      </a:t>
            </a:r>
            <a:r>
              <a:rPr lang="en-US" altLang="zh-CN" sz="2000" dirty="0" smtClean="0"/>
              <a:t>	 /*</a:t>
            </a:r>
            <a:r>
              <a:rPr lang="ar-SA" altLang="zh-CN" sz="2000" dirty="0"/>
              <a:t>管程名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/>
              <a:t>share variable declarations</a:t>
            </a:r>
            <a:r>
              <a:rPr lang="ar-SA" altLang="zh-CN" sz="2000" dirty="0" smtClean="0"/>
              <a:t>；</a:t>
            </a:r>
            <a:r>
              <a:rPr lang="en-US" altLang="zh-CN" sz="2000" dirty="0" smtClean="0"/>
              <a:t> /*</a:t>
            </a:r>
            <a:r>
              <a:rPr lang="ar-SA" altLang="zh-CN" sz="2000" dirty="0"/>
              <a:t>共享变量说明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 err="1"/>
              <a:t>cond</a:t>
            </a:r>
            <a:r>
              <a:rPr lang="en-US" altLang="zh-CN" sz="2000" dirty="0"/>
              <a:t> declarations</a:t>
            </a:r>
            <a:r>
              <a:rPr lang="ar-SA" altLang="zh-CN" sz="2000" dirty="0"/>
              <a:t>；</a:t>
            </a:r>
            <a:r>
              <a:rPr lang="en-US" altLang="zh-CN" sz="2000" dirty="0"/>
              <a:t>          </a:t>
            </a:r>
            <a:r>
              <a:rPr lang="en-US" altLang="zh-CN" sz="2000" dirty="0" smtClean="0"/>
              <a:t>	 </a:t>
            </a:r>
            <a:r>
              <a:rPr lang="en-US" altLang="zh-CN" sz="2000" dirty="0"/>
              <a:t>/*</a:t>
            </a:r>
            <a:r>
              <a:rPr lang="ar-SA" altLang="zh-CN" sz="2000" dirty="0"/>
              <a:t>条件变量说明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/>
              <a:t>public:                       </a:t>
            </a:r>
            <a:r>
              <a:rPr lang="en-US" altLang="zh-CN" sz="2000" dirty="0" smtClean="0"/>
              <a:t>	/*</a:t>
            </a:r>
            <a:r>
              <a:rPr lang="ar-SA" altLang="zh-CN" sz="2000" dirty="0"/>
              <a:t>能被进程调用的过程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lvl="2">
              <a:defRPr/>
            </a:pPr>
            <a:r>
              <a:rPr lang="en-US" altLang="zh-CN" sz="2000" dirty="0"/>
              <a:t>void P1(</a:t>
            </a:r>
            <a:r>
              <a:rPr lang="zh-CN" altLang="zh-CN" sz="2000" dirty="0"/>
              <a:t>……</a:t>
            </a:r>
            <a:r>
              <a:rPr lang="en-US" altLang="zh-CN" sz="2000" dirty="0"/>
              <a:t>) {</a:t>
            </a:r>
            <a:r>
              <a:rPr lang="zh-CN" altLang="zh-CN" sz="2000" dirty="0"/>
              <a:t>……</a:t>
            </a:r>
            <a:r>
              <a:rPr lang="en-US" altLang="zh-CN" sz="2000" dirty="0"/>
              <a:t>}  </a:t>
            </a:r>
            <a:r>
              <a:rPr lang="en-US" altLang="zh-CN" sz="2000" dirty="0" smtClean="0"/>
              <a:t>/*</a:t>
            </a:r>
            <a:r>
              <a:rPr lang="ar-SA" altLang="zh-CN" sz="2000" dirty="0"/>
              <a:t>对数据结构操作的过程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lvl="2">
              <a:defRPr/>
            </a:pPr>
            <a:r>
              <a:rPr lang="en-US" altLang="zh-CN" sz="2000" dirty="0"/>
              <a:t>void P2(</a:t>
            </a:r>
            <a:r>
              <a:rPr lang="zh-CN" altLang="zh-CN" sz="2000" dirty="0"/>
              <a:t>……</a:t>
            </a:r>
            <a:r>
              <a:rPr lang="en-US" altLang="zh-CN" sz="2000" dirty="0"/>
              <a:t>) {</a:t>
            </a:r>
            <a:r>
              <a:rPr lang="zh-CN" altLang="zh-CN" sz="2000" dirty="0"/>
              <a:t>……</a:t>
            </a:r>
            <a:r>
              <a:rPr lang="en-US" altLang="zh-CN" sz="2000" dirty="0"/>
              <a:t>}</a:t>
            </a:r>
            <a:endParaRPr lang="zh-CN" altLang="zh-CN" sz="2000" dirty="0"/>
          </a:p>
          <a:p>
            <a:pPr lvl="2">
              <a:defRPr/>
            </a:pPr>
            <a:r>
              <a:rPr lang="zh-CN" altLang="zh-CN" sz="2000" dirty="0"/>
              <a:t>……</a:t>
            </a:r>
            <a:endParaRPr lang="zh-CN" altLang="zh-CN" sz="2000" dirty="0"/>
          </a:p>
          <a:p>
            <a:pPr lvl="2">
              <a:defRPr/>
            </a:pPr>
            <a:r>
              <a:rPr lang="en-US" altLang="zh-CN" sz="2000" dirty="0"/>
              <a:t>void (</a:t>
            </a:r>
            <a:r>
              <a:rPr lang="zh-CN" altLang="zh-CN" sz="2000" dirty="0"/>
              <a:t>……</a:t>
            </a:r>
            <a:r>
              <a:rPr lang="en-US" altLang="zh-CN" sz="2000" dirty="0"/>
              <a:t>) {</a:t>
            </a:r>
            <a:r>
              <a:rPr lang="zh-CN" altLang="zh-CN" sz="2000" dirty="0"/>
              <a:t>……</a:t>
            </a:r>
            <a:r>
              <a:rPr lang="en-US" altLang="zh-CN" sz="2000" dirty="0"/>
              <a:t>}</a:t>
            </a:r>
            <a:endParaRPr lang="zh-CN" altLang="zh-CN" sz="2000" dirty="0"/>
          </a:p>
          <a:p>
            <a:pPr lvl="1">
              <a:defRPr/>
            </a:pPr>
            <a:r>
              <a:rPr lang="zh-CN" altLang="zh-CN" sz="2000" dirty="0"/>
              <a:t>……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/>
              <a:t>{                            </a:t>
            </a:r>
            <a:r>
              <a:rPr lang="en-US" altLang="zh-CN" sz="2000" dirty="0" smtClean="0"/>
              <a:t>		/*</a:t>
            </a:r>
            <a:r>
              <a:rPr lang="ar-SA" altLang="zh-CN" sz="2000" dirty="0"/>
              <a:t>管程主体</a:t>
            </a:r>
            <a:r>
              <a:rPr lang="en-US" altLang="zh-CN" sz="2000" dirty="0"/>
              <a:t>*/       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/>
              <a:t>initialization code;     </a:t>
            </a:r>
            <a:r>
              <a:rPr lang="en-US" altLang="zh-CN" sz="2000" dirty="0" smtClean="0"/>
              <a:t>	/*</a:t>
            </a:r>
            <a:r>
              <a:rPr lang="ar-SA" altLang="zh-CN" sz="2000" dirty="0"/>
              <a:t>初始化代码</a:t>
            </a:r>
            <a:r>
              <a:rPr lang="en-US" altLang="zh-CN" sz="2000" dirty="0"/>
              <a:t>*/ </a:t>
            </a:r>
            <a:endParaRPr lang="zh-CN" altLang="zh-CN" sz="2000" dirty="0"/>
          </a:p>
          <a:p>
            <a:pPr lvl="1">
              <a:defRPr/>
            </a:pPr>
            <a:r>
              <a:rPr lang="zh-CN" altLang="zh-CN" sz="2000" dirty="0"/>
              <a:t>……</a:t>
            </a:r>
            <a:r>
              <a:rPr lang="en-US" altLang="zh-CN" sz="2000" dirty="0"/>
              <a:t>      </a:t>
            </a:r>
            <a:endParaRPr lang="zh-CN" altLang="zh-CN" sz="2000" dirty="0"/>
          </a:p>
          <a:p>
            <a:pPr lvl="1">
              <a:defRPr/>
            </a:pPr>
            <a:r>
              <a:rPr lang="en-US" altLang="zh-CN" sz="2000" dirty="0"/>
              <a:t>}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}	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05672" y="1168535"/>
            <a:ext cx="4553883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400" dirty="0" smtClean="0">
                <a:latin typeface="+mn-ea"/>
              </a:rPr>
              <a:t>语法描述如下：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7525" y="3847600"/>
            <a:ext cx="4020551" cy="2319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400" dirty="0"/>
              <a:t>管程</a:t>
            </a:r>
            <a:r>
              <a:rPr lang="zh-CN" altLang="en-US" sz="2400" dirty="0"/>
              <a:t>组成</a:t>
            </a:r>
            <a:endParaRPr lang="zh-CN" altLang="en-US" sz="2400" dirty="0"/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名称</a:t>
            </a:r>
            <a:endParaRPr lang="zh-CN" altLang="en-US" sz="2000" dirty="0">
              <a:latin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共享</a:t>
            </a:r>
            <a:r>
              <a:rPr lang="zh-CN" altLang="en-US" sz="2000" dirty="0">
                <a:latin typeface="+mn-ea"/>
              </a:rPr>
              <a:t>数据结构</a:t>
            </a:r>
            <a:endParaRPr lang="zh-CN" altLang="en-US" sz="2000" dirty="0">
              <a:latin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操作</a:t>
            </a:r>
            <a:r>
              <a:rPr lang="zh-CN" altLang="en-US" sz="2000" dirty="0">
                <a:latin typeface="+mn-ea"/>
              </a:rPr>
              <a:t>函数</a:t>
            </a:r>
            <a:endParaRPr lang="zh-CN" altLang="en-US" sz="2000" dirty="0">
              <a:latin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初始化</a:t>
            </a:r>
            <a:r>
              <a:rPr lang="zh-CN" altLang="en-US" sz="2000" dirty="0">
                <a:latin typeface="+mn-ea"/>
              </a:rPr>
              <a:t>语句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930" y="384760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管程功能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íSľïdé"/>
          <p:cNvSpPr/>
          <p:nvPr/>
        </p:nvSpPr>
        <p:spPr>
          <a:xfrm>
            <a:off x="2349189" y="1747512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12" name="ïŝļíḓê"/>
          <p:cNvSpPr/>
          <p:nvPr/>
        </p:nvSpPr>
        <p:spPr bwMode="auto">
          <a:xfrm>
            <a:off x="8776728" y="1705624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7" name="îṧľîdé"/>
          <p:cNvSpPr/>
          <p:nvPr/>
        </p:nvSpPr>
        <p:spPr>
          <a:xfrm>
            <a:off x="3532300" y="909452"/>
            <a:ext cx="4319847" cy="2188265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内容占位符 2"/>
          <p:cNvSpPr txBox="1"/>
          <p:nvPr/>
        </p:nvSpPr>
        <p:spPr>
          <a:xfrm>
            <a:off x="391160" y="2379345"/>
            <a:ext cx="5800090" cy="33134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互斥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管程中的变量只能被管程中的操作访问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任何时候只有一个进程在管程中操作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类似临界区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由编译器完成</a:t>
            </a:r>
            <a:endParaRPr lang="zh-CN" altLang="en-US" sz="2400" dirty="0"/>
          </a:p>
        </p:txBody>
      </p:sp>
      <p:sp>
        <p:nvSpPr>
          <p:cNvPr id="19" name="内容占位符 2"/>
          <p:cNvSpPr txBox="1"/>
          <p:nvPr/>
        </p:nvSpPr>
        <p:spPr>
          <a:xfrm>
            <a:off x="7852160" y="2474899"/>
            <a:ext cx="4495800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同步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条件变量</a:t>
            </a:r>
            <a:endParaRPr lang="zh-CN" altLang="en-US" sz="2400" dirty="0"/>
          </a:p>
          <a:p>
            <a:pPr>
              <a:lnSpc>
                <a:spcPct val="132000"/>
              </a:lnSpc>
              <a:spcBef>
                <a:spcPts val="58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唤醒和阻塞操作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2090" y="793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用管程解决生产者消费者问题</a:t>
            </a: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" y="826770"/>
            <a:ext cx="6019800" cy="52044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40" y="826770"/>
            <a:ext cx="5897880" cy="32156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4083050" y="2747010"/>
            <a:ext cx="293306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</a:rPr>
              <a:t>管程随堂练习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KSO_WM_UNIT_TABLE_BEAUTIFY" val="smartTable{58a06314-7e72-4d48-85a8-7253ed818c17}"/>
</p:tagLst>
</file>

<file path=ppt/tags/tag4.xml><?xml version="1.0" encoding="utf-8"?>
<p:tagLst xmlns:p="http://schemas.openxmlformats.org/presentationml/2006/main">
  <p:tag name="KSO_WM_DIAGRAM_VIRTUALLY_FRAME" val="{&quot;height&quot;:409.95732283464565,&quot;left&quot;:16.327637795275585,&quot;top&quot;:85.2,&quot;width&quot;:900.4047244094488}"/>
</p:tagLst>
</file>

<file path=ppt/tags/tag5.xml><?xml version="1.0" encoding="utf-8"?>
<p:tagLst xmlns:p="http://schemas.openxmlformats.org/presentationml/2006/main">
  <p:tag name="KSO_WM_DIAGRAM_VIRTUALLY_FRAME" val="{&quot;height&quot;:409.95732283464565,&quot;left&quot;:16.327637795275585,&quot;top&quot;:85.2,&quot;width&quot;:900.4047244094488}"/>
</p:tagLst>
</file>

<file path=ppt/tags/tag6.xml><?xml version="1.0" encoding="utf-8"?>
<p:tagLst xmlns:p="http://schemas.openxmlformats.org/presentationml/2006/main">
  <p:tag name="KSO_WM_DIAGRAM_VIRTUALLY_FRAME" val="{&quot;height&quot;:409.95732283464565,&quot;left&quot;:16.327637795275585,&quot;top&quot;:85.2,&quot;width&quot;:900.4047244094488}"/>
</p:tagLst>
</file>

<file path=ppt/tags/tag7.xml><?xml version="1.0" encoding="utf-8"?>
<p:tagLst xmlns:p="http://schemas.openxmlformats.org/presentationml/2006/main">
  <p:tag name="KSO_WM_DIAGRAM_VIRTUALLY_FRAME" val="{&quot;height&quot;:409.95732283464565,&quot;left&quot;:16.327637795275585,&quot;top&quot;:85.2,&quot;width&quot;:900.4047244094488}"/>
</p:tagLst>
</file>

<file path=ppt/tags/tag8.xml><?xml version="1.0" encoding="utf-8"?>
<p:tagLst xmlns:p="http://schemas.openxmlformats.org/presentationml/2006/main">
  <p:tag name="KSO_WM_UNIT_TABLE_BEAUTIFY" val="smartTable{0fcf7ac9-8331-437b-b8a5-63319f053ca2}"/>
</p:tagLst>
</file>

<file path=ppt/tags/tag9.xml><?xml version="1.0" encoding="utf-8"?>
<p:tagLst xmlns:p="http://schemas.openxmlformats.org/presentationml/2006/main">
  <p:tag name="ISLIDE.DIAGRAM" val="217641"/>
  <p:tag name="KSO_WM_DIAGRAM_VIRTUALLY_FRAME" val="{&quot;height&quot;:347.866062992126,&quot;left&quot;:41.59503937007874,&quot;top&quot;:113.35866141732284,&quot;width&quot;:868.2548031496062}"/>
</p:tagLst>
</file>

<file path=ppt/tags/tag10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1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2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3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4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5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6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7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8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19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0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1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2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3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4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5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6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7.xml><?xml version="1.0" encoding="utf-8"?>
<p:tagLst xmlns:p="http://schemas.openxmlformats.org/presentationml/2006/main">
  <p:tag name="ISLIDE.DIAGRAM" val="217641"/>
</p:tagLst>
</file>

<file path=ppt/tags/tag28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29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0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1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2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3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4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5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6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7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8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39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0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1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2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3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4.xml><?xml version="1.0" encoding="utf-8"?>
<p:tagLst xmlns:p="http://schemas.openxmlformats.org/presentationml/2006/main">
  <p:tag name="KSO_WM_DIAGRAM_VIRTUALLY_FRAME" val="{&quot;height&quot;:347.866062992126,&quot;left&quot;:41.59503937007874,&quot;top&quot;:113.35866141732284,&quot;width&quot;:868.2548031496062}"/>
</p:tagLst>
</file>

<file path=ppt/tags/tag45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46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47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48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49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50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51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52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53.xml><?xml version="1.0" encoding="utf-8"?>
<p:tagLst xmlns:p="http://schemas.openxmlformats.org/presentationml/2006/main">
  <p:tag name="KSO_WM_DIAGRAM_VIRTUALLY_FRAME" val="{&quot;height&quot;:285.1088976377952,&quot;left&quot;:75.70653543307085,&quot;top&quot;:123.52889763779528,&quot;width&quot;:454.0559842519686}"/>
</p:tagLst>
</file>

<file path=ppt/tags/tag54.xml><?xml version="1.0" encoding="utf-8"?>
<p:tagLst xmlns:p="http://schemas.openxmlformats.org/presentationml/2006/main">
  <p:tag name="KSO_WM_DIAGRAM_VIRTUALLY_FRAME" val="{&quot;height&quot;:60.5,&quot;left&quot;:501.3,&quot;top&quot;:207.65,&quot;width&quot;:382.45}"/>
</p:tagLst>
</file>

<file path=ppt/tags/tag55.xml><?xml version="1.0" encoding="utf-8"?>
<p:tagLst xmlns:p="http://schemas.openxmlformats.org/presentationml/2006/main">
  <p:tag name="ISLIDE.DIAGRAM" val="217641"/>
</p:tagLst>
</file>

<file path=ppt/tags/tag56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57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58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59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0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1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2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3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4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5.xml><?xml version="1.0" encoding="utf-8"?>
<p:tagLst xmlns:p="http://schemas.openxmlformats.org/presentationml/2006/main">
  <p:tag name="KSO_WM_DIAGRAM_VIRTUALLY_FRAME" val="{&quot;height&quot;:344.933937007874,&quot;left&quot;:43.62322834645669,&quot;top&quot;:102.0936220472441,&quot;width&quot;:854.0000787401575}"/>
</p:tagLst>
</file>

<file path=ppt/tags/tag66.xml><?xml version="1.0" encoding="utf-8"?>
<p:tagLst xmlns:p="http://schemas.openxmlformats.org/presentationml/2006/main">
  <p:tag name="THINKCELLSHAPEDONOTDELETE" val="thinkcellActiveDocDoNotDelete"/>
</p:tagLst>
</file>

<file path=ppt/tags/tag67.xml><?xml version="1.0" encoding="utf-8"?>
<p:tagLst xmlns:p="http://schemas.openxmlformats.org/presentationml/2006/main">
  <p:tag name="THINKCELLSHAPEDONOTDELETE" val="t1Smkff3fSzGMOuItfjj3Fw"/>
</p:tagLst>
</file>

<file path=ppt/tags/tag68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  <p:tag name="commondata" val="eyJoZGlkIjoiOTM4NmFhY2UyMzhhZmVhN2ZlMGY3Mzg4ZTJhZTk3NmQifQ==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12970</Words>
  <Application>WPS 演示</Application>
  <PresentationFormat>自定义</PresentationFormat>
  <Paragraphs>1203</Paragraphs>
  <Slides>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72</vt:i4>
      </vt:variant>
    </vt:vector>
  </HeadingPairs>
  <TitlesOfParts>
    <vt:vector size="90" baseType="lpstr">
      <vt:lpstr>Arial</vt:lpstr>
      <vt:lpstr>宋体</vt:lpstr>
      <vt:lpstr>Wingdings</vt:lpstr>
      <vt:lpstr>微软雅黑</vt:lpstr>
      <vt:lpstr>华文楷体</vt:lpstr>
      <vt:lpstr>Wingdings 2</vt:lpstr>
      <vt:lpstr>Arial Unicode MS</vt:lpstr>
      <vt:lpstr>Calibri</vt:lpstr>
      <vt:lpstr>Helvetica</vt:lpstr>
      <vt:lpstr>Monotype Sorts</vt:lpstr>
      <vt:lpstr>Wingdings</vt:lpstr>
      <vt:lpstr>Courier New</vt:lpstr>
      <vt:lpstr>Verdana</vt:lpstr>
      <vt:lpstr>MT Extra</vt:lpstr>
      <vt:lpstr>主题5</vt:lpstr>
      <vt:lpstr>TCLayout.ActiveDocument.1</vt:lpstr>
      <vt:lpstr>Visio.Drawing.6</vt:lpstr>
      <vt:lpstr>TCLayout.ActiveDocument.1</vt:lpstr>
      <vt:lpstr>第4章 进程同步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沉默是金</cp:lastModifiedBy>
  <cp:revision>482</cp:revision>
  <cp:lastPrinted>2019-04-18T16:00:00Z</cp:lastPrinted>
  <dcterms:created xsi:type="dcterms:W3CDTF">2019-04-18T16:00:00Z</dcterms:created>
  <dcterms:modified xsi:type="dcterms:W3CDTF">2026-01-11T13:08:53Z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32F3C5AE60D146C691F4FE4AD8AA5121</vt:lpwstr>
  </property>
  <property fmtid="{D5CDD505-2E9C-101B-9397-08002B2CF9AE}" pid="4" name="KSOProductBuildVer">
    <vt:lpwstr>2052-12.1.0.23125</vt:lpwstr>
  </property>
</Properties>
</file>