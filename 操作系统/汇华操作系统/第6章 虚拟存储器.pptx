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8"/>
  </p:notesMasterIdLst>
  <p:sldIdLst>
    <p:sldId id="311" r:id="rId3"/>
    <p:sldId id="312" r:id="rId4"/>
    <p:sldId id="315" r:id="rId5"/>
    <p:sldId id="296" r:id="rId6"/>
    <p:sldId id="305" r:id="rId7"/>
    <p:sldId id="297" r:id="rId9"/>
    <p:sldId id="362" r:id="rId10"/>
    <p:sldId id="320" r:id="rId11"/>
    <p:sldId id="363" r:id="rId12"/>
    <p:sldId id="364" r:id="rId13"/>
    <p:sldId id="409" r:id="rId14"/>
    <p:sldId id="410" r:id="rId15"/>
    <p:sldId id="469" r:id="rId16"/>
    <p:sldId id="365" r:id="rId17"/>
    <p:sldId id="470" r:id="rId18"/>
    <p:sldId id="474" r:id="rId19"/>
    <p:sldId id="475" r:id="rId20"/>
    <p:sldId id="370" r:id="rId21"/>
    <p:sldId id="368" r:id="rId22"/>
    <p:sldId id="372" r:id="rId23"/>
    <p:sldId id="371" r:id="rId24"/>
    <p:sldId id="471" r:id="rId25"/>
    <p:sldId id="441" r:id="rId26"/>
    <p:sldId id="380" r:id="rId27"/>
    <p:sldId id="472" r:id="rId28"/>
    <p:sldId id="302" r:id="rId29"/>
    <p:sldId id="473" r:id="rId30"/>
    <p:sldId id="455" r:id="rId31"/>
    <p:sldId id="477" r:id="rId32"/>
    <p:sldId id="382" r:id="rId33"/>
    <p:sldId id="466" r:id="rId34"/>
    <p:sldId id="384" r:id="rId35"/>
    <p:sldId id="381" r:id="rId36"/>
    <p:sldId id="467" r:id="rId37"/>
    <p:sldId id="391" r:id="rId38"/>
    <p:sldId id="261" r:id="rId39"/>
  </p:sldIdLst>
  <p:sldSz cx="12192000" cy="6858000"/>
  <p:notesSz cx="6858000" cy="9144000"/>
  <p:custDataLst>
    <p:tags r:id="rId4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7" userDrawn="1">
          <p15:clr>
            <a:srgbClr val="A4A3A4"/>
          </p15:clr>
        </p15:guide>
        <p15:guide id="2" pos="37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519AB"/>
    <a:srgbClr val="0000FF"/>
    <a:srgbClr val="FFFF00"/>
    <a:srgbClr val="00005C"/>
    <a:srgbClr val="06D24C"/>
    <a:srgbClr val="035920"/>
    <a:srgbClr val="F6F5F3"/>
    <a:srgbClr val="04862F"/>
    <a:srgbClr val="07DB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18" autoAdjust="0"/>
    <p:restoredTop sz="96182" autoAdjust="0"/>
  </p:normalViewPr>
  <p:slideViewPr>
    <p:cSldViewPr snapToGrid="0" showGuides="1">
      <p:cViewPr varScale="1">
        <p:scale>
          <a:sx n="114" d="100"/>
          <a:sy n="114" d="100"/>
        </p:scale>
        <p:origin x="-780" y="-108"/>
      </p:cViewPr>
      <p:guideLst>
        <p:guide orient="horz" pos="2147"/>
        <p:guide pos="3770"/>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3" Type="http://schemas.openxmlformats.org/officeDocument/2006/relationships/tags" Target="tags/tag35.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时间局部性主要是因为程序中存在大量的</a:t>
            </a:r>
            <a:r>
              <a:rPr lang="zh-CN" altLang="en-US"/>
              <a:t>循环</a:t>
            </a:r>
            <a:endParaRPr lang="zh-CN" altLang="en-US"/>
          </a:p>
          <a:p>
            <a:r>
              <a:rPr lang="zh-CN" altLang="en-US"/>
              <a:t>空间局部性是因为程序中数据一般以集合、数组、表等簇聚方式</a:t>
            </a:r>
            <a:r>
              <a:rPr lang="zh-CN" altLang="en-US"/>
              <a:t>存储。</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思考答案：最少</a:t>
            </a:r>
            <a:r>
              <a:rPr lang="en-US" altLang="zh-CN"/>
              <a:t>1</a:t>
            </a:r>
            <a:r>
              <a:rPr lang="zh-CN" altLang="en-US"/>
              <a:t>次，最多</a:t>
            </a:r>
            <a:r>
              <a:rPr lang="en-US" altLang="zh-CN"/>
              <a:t>4</a:t>
            </a:r>
            <a:r>
              <a:rPr lang="zh-CN" altLang="en-US"/>
              <a:t>次</a:t>
            </a:r>
            <a:endParaRPr lang="zh-CN" altLang="en-US"/>
          </a:p>
          <a:p>
            <a:r>
              <a:rPr lang="zh-CN" altLang="en-US"/>
              <a:t>最少：命中快表，只需要最后一次访问物理地址时</a:t>
            </a:r>
            <a:endParaRPr lang="zh-CN" altLang="en-US"/>
          </a:p>
          <a:p>
            <a:r>
              <a:rPr lang="zh-CN" altLang="en-US"/>
              <a:t>最多：快表没命中，也不在内存。一次查页表，一次缺页换入时写入内存，一次修改页表，一次访问物理内存地址</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a:p>
            <a:endParaRPr lang="zh-CN" altLang="en-US"/>
          </a:p>
          <a:p>
            <a:endParaRPr lang="zh-CN" altLang="en-US"/>
          </a:p>
          <a:p>
            <a:r>
              <a:rPr lang="zh-CN" altLang="en-US"/>
              <a:t>由于全局置换肯定，所以不存在固定分配全局置换策略。</a:t>
            </a:r>
            <a:endParaRPr lang="zh-CN" altLang="en-US"/>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a:p>
            <a:r>
              <a:rPr lang="zh-CN" altLang="en-US"/>
              <a:t>由于全局置换肯定会导致进程所拥有的物理块数量变化，所以不存在固定分配全局置换策略。</a:t>
            </a:r>
            <a:endParaRPr lang="zh-CN" altLang="en-US"/>
          </a:p>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对换区采用连续分配方式，文件区采用离散分配方式，因此对换区的速度比文件区</a:t>
            </a:r>
            <a:r>
              <a:rPr lang="zh-CN" altLang="en-US"/>
              <a:t>要快</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由于</a:t>
            </a:r>
            <a:r>
              <a:rPr lang="en-US" altLang="zh-CN"/>
              <a:t>FIFO</a:t>
            </a:r>
            <a:r>
              <a:rPr lang="zh-CN" altLang="en-US"/>
              <a:t>是基于队列的算法，才会产生</a:t>
            </a:r>
            <a:r>
              <a:rPr lang="en-US" altLang="zh-CN"/>
              <a:t>Belady</a:t>
            </a:r>
            <a:r>
              <a:rPr lang="zh-CN" altLang="en-US"/>
              <a:t>现象，其他算法是基于堆栈算法，不会产生</a:t>
            </a:r>
            <a:r>
              <a:rPr lang="zh-CN" altLang="en-US"/>
              <a:t>此现象。</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答案</a:t>
            </a:r>
            <a:r>
              <a:rPr lang="en-US" altLang="zh-CN"/>
              <a:t>D</a:t>
            </a:r>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答案</a:t>
            </a:r>
            <a:r>
              <a:rPr lang="en-US" altLang="zh-CN"/>
              <a:t>D</a:t>
            </a:r>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答案：</a:t>
            </a:r>
            <a:r>
              <a:rPr lang="en-US" altLang="zh-CN"/>
              <a:t>2</a:t>
            </a:r>
            <a:r>
              <a:rPr lang="zh-CN" altLang="en-US"/>
              <a:t>号页框</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答案</a:t>
            </a:r>
            <a:r>
              <a:rPr lang="en-US" altLang="zh-CN"/>
              <a:t>C</a:t>
            </a:r>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情况</a:t>
            </a:r>
            <a:r>
              <a:rPr lang="en-US" altLang="zh-CN"/>
              <a:t>1</a:t>
            </a:r>
            <a:r>
              <a:rPr lang="zh-CN" altLang="en-US"/>
              <a:t>中</a:t>
            </a:r>
            <a:r>
              <a:rPr lang="en-US" altLang="zh-CN"/>
              <a:t> CPU </a:t>
            </a:r>
            <a:r>
              <a:rPr lang="zh-CN" altLang="en-US"/>
              <a:t>利用率高，对换区利用率低，说明</a:t>
            </a:r>
            <a:r>
              <a:rPr lang="en-US" altLang="zh-CN"/>
              <a:t> CPU </a:t>
            </a:r>
            <a:r>
              <a:rPr lang="zh-CN" altLang="en-US"/>
              <a:t>被充分利用，且进程运行良好，缺页率低。</a:t>
            </a:r>
            <a:endParaRPr lang="zh-CN" altLang="en-US"/>
          </a:p>
          <a:p>
            <a:r>
              <a:rPr lang="zh-CN" altLang="en-US"/>
              <a:t>情况</a:t>
            </a:r>
            <a:r>
              <a:rPr lang="en-US" altLang="zh-CN"/>
              <a:t>2</a:t>
            </a:r>
            <a:r>
              <a:rPr lang="zh-CN" altLang="en-US"/>
              <a:t>中磁盘对换区利用率低说明不是抖动现象造成的</a:t>
            </a:r>
            <a:r>
              <a:rPr lang="en-US" altLang="zh-CN"/>
              <a:t> CPU </a:t>
            </a:r>
            <a:r>
              <a:rPr lang="zh-CN" altLang="en-US"/>
              <a:t>利用率低，所以这应当是运行进程少造成的，需要增加并发进程数。</a:t>
            </a:r>
            <a:endParaRPr lang="zh-CN" altLang="en-US"/>
          </a:p>
          <a:p>
            <a:r>
              <a:rPr lang="zh-CN" altLang="en-US"/>
              <a:t>情况</a:t>
            </a:r>
            <a:r>
              <a:rPr lang="en-US" altLang="zh-CN"/>
              <a:t>3</a:t>
            </a:r>
            <a:r>
              <a:rPr lang="zh-CN" altLang="en-US"/>
              <a:t>中磁盘对换区占用满，说明系统在频繁地调入调出页面，是抖动造成了</a:t>
            </a:r>
            <a:r>
              <a:rPr lang="en-US" altLang="zh-CN"/>
              <a:t> CPU </a:t>
            </a:r>
            <a:r>
              <a:rPr lang="zh-CN" altLang="en-US"/>
              <a:t>利用率低，所以此时应该减小并发进程数。</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userDrawn="1">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userDrawn="1">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userDrawn="1">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9802" name="标题 1"/>
          <p:cNvSpPr>
            <a:spLocks noGrp="1"/>
          </p:cNvSpPr>
          <p:nvPr userDrawn="1">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showMasterSp="0"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userDrawn="1">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bwMode="auto">
          <a:xfrm flipH="1" flipV="1">
            <a:off x="-1219199" y="239311"/>
            <a:ext cx="13411199" cy="801180"/>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1" name="任意多边形: 形状 10"/>
          <p:cNvSpPr/>
          <p:nvPr userDrawn="1"/>
        </p:nvSpPr>
        <p:spPr>
          <a:xfrm rot="10800000">
            <a:off x="-28575" y="6321199"/>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任意多边形: 形状 11"/>
          <p:cNvSpPr/>
          <p:nvPr userDrawn="1"/>
        </p:nvSpPr>
        <p:spPr bwMode="auto">
          <a:xfrm>
            <a:off x="-9525" y="6230938"/>
            <a:ext cx="12201525" cy="801179"/>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userDrawn="1">
            <p:ph type="ctrTitle" hasCustomPrompt="1"/>
          </p:nvPr>
        </p:nvSpPr>
        <p:spPr>
          <a:xfrm>
            <a:off x="4034971" y="2163199"/>
            <a:ext cx="6536871" cy="2390427"/>
          </a:xfrm>
        </p:spPr>
        <p:txBody>
          <a:bodyPr anchor="b">
            <a:normAutofit/>
          </a:bodyPr>
          <a:lstStyle>
            <a:lvl1pPr marL="0" indent="0" algn="ct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1.xml"/><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tags" Target="../tags/tag2.xml"/><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image" Target="../media/image2.png"/><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2" Type="http://schemas.openxmlformats.org/officeDocument/2006/relationships/slideLayout" Target="../slideLayouts/slideLayout5.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3.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0.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3.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3.xml"/><Relationship Id="rId2" Type="http://schemas.openxmlformats.org/officeDocument/2006/relationships/image" Target="../media/image15.png"/><Relationship Id="rId1"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7.png"/><Relationship Id="rId1" Type="http://schemas.openxmlformats.org/officeDocument/2006/relationships/image" Target="../media/image16.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image" Target="../media/image18.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5.xml"/><Relationship Id="rId2" Type="http://schemas.openxmlformats.org/officeDocument/2006/relationships/image" Target="../media/image20.png"/><Relationship Id="rId1"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6.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tags" Target="../tags/tag34.xml"/><Relationship Id="rId3" Type="http://schemas.openxmlformats.org/officeDocument/2006/relationships/image" Target="../media/image3.emf"/><Relationship Id="rId2" Type="http://schemas.openxmlformats.org/officeDocument/2006/relationships/oleObject" Target="../embeddings/oleObject2.bin"/><Relationship Id="rId1" Type="http://schemas.openxmlformats.org/officeDocument/2006/relationships/tags" Target="../tags/tag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102" name="think-cell Slide" r:id="rId2" imgW="9525" imgH="9525" progId="TCLayout.ActiveDocument.1">
                  <p:embed/>
                </p:oleObj>
              </mc:Choice>
              <mc:Fallback>
                <p:oleObj name="think-cell Slide" r:id="rId2" imgW="9525" imgH="9525" progId="TCLayout.ActiveDocument.1">
                  <p:embed/>
                  <p:pic>
                    <p:nvPicPr>
                      <p:cNvPr id="0" name="图片 2095"/>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2" name="矩形 1" hidden="1"/>
          <p:cNvSpPr/>
          <p:nvPr>
            <p:custDataLst>
              <p:tags r:id="rId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cs typeface="+mn-ea"/>
              <a:sym typeface="+mn-lt"/>
            </a:endParaRPr>
          </a:p>
        </p:txBody>
      </p:sp>
      <p:sp>
        <p:nvSpPr>
          <p:cNvPr id="4" name="标题 3"/>
          <p:cNvSpPr>
            <a:spLocks noGrp="1"/>
          </p:cNvSpPr>
          <p:nvPr>
            <p:ph type="ctrTitle"/>
          </p:nvPr>
        </p:nvSpPr>
        <p:spPr>
          <a:xfrm>
            <a:off x="669925" y="1319455"/>
            <a:ext cx="10850563" cy="3136900"/>
          </a:xfrm>
        </p:spPr>
        <p:txBody>
          <a:bodyPr>
            <a:normAutofit/>
          </a:bodyPr>
          <a:lstStyle/>
          <a:p>
            <a:r>
              <a:rPr lang="zh-CN" altLang="en-US" sz="4800" dirty="0">
                <a:latin typeface="+mn-lt"/>
                <a:ea typeface="+mn-ea"/>
                <a:cs typeface="+mn-ea"/>
                <a:sym typeface="+mn-lt"/>
              </a:rPr>
              <a:t>第</a:t>
            </a:r>
            <a:r>
              <a:rPr lang="zh-CN" altLang="en-US" sz="4800" dirty="0">
                <a:latin typeface="Arial" panose="020B0604020202020204" pitchFamily="34" charset="0"/>
                <a:ea typeface="+mn-ea"/>
                <a:cs typeface="Arial" panose="020B0604020202020204" pitchFamily="34" charset="0"/>
                <a:sym typeface="+mn-lt"/>
              </a:rPr>
              <a:t>6</a:t>
            </a:r>
            <a:r>
              <a:rPr lang="zh-CN" altLang="en-US" sz="4800" dirty="0">
                <a:latin typeface="+mn-lt"/>
                <a:ea typeface="+mn-ea"/>
                <a:cs typeface="+mn-ea"/>
                <a:sym typeface="+mn-lt"/>
              </a:rPr>
              <a:t>章 虚拟存储器</a:t>
            </a:r>
            <a:endParaRPr lang="zh-CN" altLang="en-US" sz="2000" b="0" dirty="0">
              <a:latin typeface="+mn-lt"/>
              <a:ea typeface="+mn-ea"/>
              <a:cs typeface="+mn-ea"/>
              <a:sym typeface="+mn-lt"/>
            </a:endParaRPr>
          </a:p>
        </p:txBody>
      </p:sp>
      <p:sp>
        <p:nvSpPr>
          <p:cNvPr id="29" name="任意多边形: 形状 28"/>
          <p:cNvSpPr/>
          <p:nvPr/>
        </p:nvSpPr>
        <p:spPr>
          <a:xfrm>
            <a:off x="10968292" y="649047"/>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5" name="图片 2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611186" y="488949"/>
            <a:ext cx="631826" cy="631826"/>
          </a:xfrm>
          <a:prstGeom prst="rect">
            <a:avLst/>
          </a:prstGeom>
        </p:spPr>
      </p:pic>
      <p:sp>
        <p:nvSpPr>
          <p:cNvPr id="11" name="矩形 10"/>
          <p:cNvSpPr/>
          <p:nvPr/>
        </p:nvSpPr>
        <p:spPr>
          <a:xfrm>
            <a:off x="1243012" y="589418"/>
            <a:ext cx="4698723" cy="430887"/>
          </a:xfrm>
          <a:prstGeom prst="rect">
            <a:avLst/>
          </a:prstGeom>
        </p:spPr>
        <p:txBody>
          <a:bodyPr wrap="none">
            <a:spAutoFit/>
          </a:bodyPr>
          <a:lstStyle/>
          <a:p>
            <a:pPr algn="ctr"/>
            <a:r>
              <a:rPr lang="zh-CN" altLang="en-US" sz="2200" dirty="0">
                <a:solidFill>
                  <a:schemeClr val="bg1"/>
                </a:solidFill>
                <a:cs typeface="+mn-ea"/>
                <a:sym typeface="+mn-lt"/>
              </a:rPr>
              <a:t>经典教材《计算机操作系统》</a:t>
            </a:r>
            <a:r>
              <a:rPr lang="zh-CN" altLang="en-US" sz="2200" b="1" dirty="0">
                <a:solidFill>
                  <a:schemeClr val="accent2"/>
                </a:solidFill>
                <a:cs typeface="+mn-ea"/>
                <a:sym typeface="+mn-lt"/>
              </a:rPr>
              <a:t>最新版</a:t>
            </a:r>
            <a:endParaRPr lang="zh-CN" altLang="en-US" sz="2200" b="1" dirty="0">
              <a:solidFill>
                <a:schemeClr val="accent2"/>
              </a:solidFill>
              <a:cs typeface="+mn-ea"/>
              <a:sym typeface="+mn-lt"/>
            </a:endParaRPr>
          </a:p>
        </p:txBody>
      </p:sp>
      <p:sp>
        <p:nvSpPr>
          <p:cNvPr id="17" name="矩形: 圆角 21"/>
          <p:cNvSpPr/>
          <p:nvPr/>
        </p:nvSpPr>
        <p:spPr>
          <a:xfrm>
            <a:off x="800099" y="4579447"/>
            <a:ext cx="4235540"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cs typeface="+mn-ea"/>
                <a:sym typeface="+mn-lt"/>
              </a:rPr>
              <a:t>主讲教师：解春燕</a:t>
            </a:r>
            <a:endParaRPr lang="zh-CN" altLang="en-US" b="1" dirty="0">
              <a:solidFill>
                <a:schemeClr val="tx1"/>
              </a:solidFill>
              <a:cs typeface="+mn-ea"/>
              <a:sym typeface="+mn-lt"/>
            </a:endParaRPr>
          </a:p>
        </p:txBody>
      </p:sp>
      <p:pic>
        <p:nvPicPr>
          <p:cNvPr id="12" name="图片 11"/>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9684121" y="5993053"/>
            <a:ext cx="2074491" cy="431799"/>
          </a:xfrm>
          <a:prstGeom prst="rect">
            <a:avLst/>
          </a:prstGeom>
        </p:spPr>
      </p:pic>
      <p:pic>
        <p:nvPicPr>
          <p:cNvPr id="14" name="图片 13"/>
          <p:cNvPicPr>
            <a:picLocks noChangeAspect="1"/>
          </p:cNvPicPr>
          <p:nvPr/>
        </p:nvPicPr>
        <p:blipFill>
          <a:blip r:embed="rId7"/>
          <a:stretch>
            <a:fillRect/>
          </a:stretch>
        </p:blipFill>
        <p:spPr>
          <a:xfrm>
            <a:off x="7055100" y="844791"/>
            <a:ext cx="3007096" cy="426154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2539478" cy="523220"/>
          </a:xfrm>
          <a:prstGeom prst="rect">
            <a:avLst/>
          </a:prstGeom>
        </p:spPr>
        <p:txBody>
          <a:bodyPr wrap="none">
            <a:spAutoFit/>
          </a:bodyPr>
          <a:lstStyle/>
          <a:p>
            <a:r>
              <a:rPr lang="zh-CN" altLang="en-US" sz="2800" b="1" dirty="0">
                <a:solidFill>
                  <a:schemeClr val="bg1"/>
                </a:solidFill>
                <a:cs typeface="+mn-ea"/>
                <a:sym typeface="+mn-lt"/>
              </a:rPr>
              <a:t>第</a:t>
            </a:r>
            <a:r>
              <a:rPr lang="en-US" altLang="zh-CN" sz="2800" b="1" dirty="0">
                <a:solidFill>
                  <a:schemeClr val="bg1"/>
                </a:solidFill>
                <a:cs typeface="+mn-ea"/>
                <a:sym typeface="+mn-lt"/>
              </a:rPr>
              <a:t>6</a:t>
            </a:r>
            <a:r>
              <a:rPr lang="zh-CN" altLang="en-US" sz="2800" b="1" dirty="0">
                <a:solidFill>
                  <a:schemeClr val="bg1"/>
                </a:solidFill>
                <a:cs typeface="+mn-ea"/>
                <a:sym typeface="+mn-lt"/>
              </a:rPr>
              <a:t>章知识导图</a:t>
            </a:r>
            <a:endParaRPr lang="zh-CN" altLang="en-US" sz="2800" b="1" dirty="0">
              <a:solidFill>
                <a:schemeClr val="bg1"/>
              </a:solidFill>
              <a:cs typeface="+mn-ea"/>
              <a:sym typeface="+mn-lt"/>
            </a:endParaRPr>
          </a:p>
        </p:txBody>
      </p:sp>
      <p:graphicFrame>
        <p:nvGraphicFramePr>
          <p:cNvPr id="30" name="表格 29"/>
          <p:cNvGraphicFramePr/>
          <p:nvPr>
            <p:custDataLst>
              <p:tags r:id="rId1"/>
            </p:custDataLst>
          </p:nvPr>
        </p:nvGraphicFramePr>
        <p:xfrm>
          <a:off x="462431" y="1634204"/>
          <a:ext cx="4173963" cy="4796155"/>
        </p:xfrm>
        <a:graphic>
          <a:graphicData uri="http://schemas.openxmlformats.org/drawingml/2006/table">
            <a:tbl>
              <a:tblPr firstRow="1" bandRow="1">
                <a:tableStyleId>{72833802-FEF1-4C79-8D5D-14CF1EAF98D9}</a:tableStyleId>
              </a:tblPr>
              <a:tblGrid>
                <a:gridCol w="1221039"/>
                <a:gridCol w="2952924"/>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mn-lt"/>
                          <a:ea typeface="+mn-ea"/>
                          <a:cs typeface="+mn-ea"/>
                          <a:sym typeface="+mn-lt"/>
                        </a:rPr>
                        <a:t>第1章</a:t>
                      </a:r>
                      <a:endParaRPr lang="en-US" altLang="en-US" sz="2000" b="0" dirty="0">
                        <a:solidFill>
                          <a:schemeClr val="tx1"/>
                        </a:solidFill>
                        <a:latin typeface="+mn-lt"/>
                        <a:ea typeface="+mn-ea"/>
                        <a:cs typeface="+mn-ea"/>
                        <a:sym typeface="+mn-lt"/>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mn-lt"/>
                          <a:ea typeface="+mn-ea"/>
                          <a:cs typeface="+mn-ea"/>
                          <a:sym typeface="+mn-lt"/>
                        </a:rPr>
                        <a:t>操作系统引论</a:t>
                      </a:r>
                      <a:endParaRPr lang="en-US" altLang="en-US" sz="2000" b="0" dirty="0">
                        <a:solidFill>
                          <a:schemeClr val="tx1"/>
                        </a:solidFill>
                        <a:latin typeface="+mn-lt"/>
                        <a:ea typeface="+mn-ea"/>
                        <a:cs typeface="+mn-ea"/>
                        <a:sym typeface="+mn-lt"/>
                      </a:endParaRPr>
                    </a:p>
                  </a:txBody>
                  <a:tcPr marL="98738" marR="98738" marT="0" marB="0" anchor="ctr">
                    <a:noFill/>
                  </a:tcP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第2章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进程的描述与控制</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mn-lt"/>
                          <a:ea typeface="+mn-ea"/>
                          <a:cs typeface="+mn-ea"/>
                          <a:sym typeface="+mn-lt"/>
                        </a:rPr>
                        <a:t>第3章</a:t>
                      </a:r>
                      <a:endParaRPr lang="en-US" altLang="en-US" sz="2000" b="0" dirty="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处理机调度与死锁</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mn-lt"/>
                          <a:ea typeface="+mn-ea"/>
                          <a:cs typeface="+mn-ea"/>
                          <a:sym typeface="+mn-lt"/>
                        </a:rPr>
                        <a:t>第4章</a:t>
                      </a:r>
                      <a:endParaRPr lang="en-US" altLang="en-US" sz="2000" b="0" dirty="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进程同步</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第5章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存储器管理</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b="1" dirty="0">
                          <a:solidFill>
                            <a:schemeClr val="bg1"/>
                          </a:solidFill>
                          <a:latin typeface="+mn-lt"/>
                          <a:ea typeface="+mn-ea"/>
                          <a:cs typeface="+mn-ea"/>
                          <a:sym typeface="+mn-lt"/>
                        </a:rPr>
                        <a:t>第6章</a:t>
                      </a:r>
                      <a:endParaRPr lang="en-US" altLang="en-US" sz="2000" b="1" dirty="0">
                        <a:solidFill>
                          <a:schemeClr val="bg1"/>
                        </a:solidFill>
                        <a:latin typeface="+mn-lt"/>
                        <a:ea typeface="+mn-ea"/>
                        <a:cs typeface="+mn-ea"/>
                        <a:sym typeface="+mn-lt"/>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sz="2000" b="1" dirty="0" err="1">
                          <a:solidFill>
                            <a:schemeClr val="bg1"/>
                          </a:solidFill>
                          <a:latin typeface="+mn-lt"/>
                          <a:ea typeface="+mn-ea"/>
                          <a:cs typeface="+mn-ea"/>
                          <a:sym typeface="+mn-lt"/>
                        </a:rPr>
                        <a:t>虚拟存储器</a:t>
                      </a:r>
                      <a:endParaRPr lang="en-US" altLang="en-US" sz="2000" b="1" dirty="0">
                        <a:solidFill>
                          <a:schemeClr val="bg1"/>
                        </a:solidFill>
                        <a:latin typeface="+mn-lt"/>
                        <a:ea typeface="+mn-ea"/>
                        <a:cs typeface="+mn-ea"/>
                        <a:sym typeface="+mn-lt"/>
                      </a:endParaRPr>
                    </a:p>
                  </a:txBody>
                  <a:tcPr marL="98738" marR="98738" marT="0" marB="0" anchor="ctr">
                    <a:solidFill>
                      <a:schemeClr val="accent2"/>
                    </a:solidFill>
                  </a:tcP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第7章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输入</a:t>
                      </a:r>
                      <a:r>
                        <a:rPr lang="en-US" sz="2000" dirty="0">
                          <a:latin typeface="+mn-lt"/>
                          <a:ea typeface="+mn-ea"/>
                          <a:cs typeface="+mn-ea"/>
                          <a:sym typeface="+mn-lt"/>
                        </a:rPr>
                        <a:t>/</a:t>
                      </a:r>
                      <a:r>
                        <a:rPr lang="en-US" sz="2000" dirty="0" err="1">
                          <a:latin typeface="+mn-lt"/>
                          <a:ea typeface="+mn-ea"/>
                          <a:cs typeface="+mn-ea"/>
                          <a:sym typeface="+mn-lt"/>
                        </a:rPr>
                        <a:t>输出系统</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第8章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文件管理</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algn="l">
                        <a:lnSpc>
                          <a:spcPct val="100000"/>
                        </a:lnSpc>
                        <a:spcBef>
                          <a:spcPts val="300"/>
                        </a:spcBef>
                        <a:spcAft>
                          <a:spcPts val="300"/>
                        </a:spcAft>
                        <a:buClrTx/>
                        <a:buSzTx/>
                        <a:buFontTx/>
                        <a:buNone/>
                      </a:pPr>
                      <a:r>
                        <a:rPr lang="en-US" sz="2000" dirty="0" err="1">
                          <a:solidFill>
                            <a:schemeClr val="bg1">
                              <a:lumMod val="85000"/>
                            </a:schemeClr>
                          </a:solidFill>
                          <a:latin typeface="+mn-lt"/>
                          <a:ea typeface="+mn-ea"/>
                          <a:cs typeface="+mn-ea"/>
                          <a:sym typeface="+mn-lt"/>
                        </a:rPr>
                        <a:t>第9章</a:t>
                      </a:r>
                      <a:endParaRPr lang="en-US" sz="2000" b="0" dirty="0" err="1">
                        <a:solidFill>
                          <a:schemeClr val="bg1">
                            <a:lumMod val="85000"/>
                          </a:schemeClr>
                        </a:solidFill>
                        <a:latin typeface="+mn-lt"/>
                        <a:ea typeface="+mn-ea"/>
                        <a:cs typeface="+mn-ea"/>
                        <a:sym typeface="+mn-lt"/>
                      </a:endParaRPr>
                    </a:p>
                  </a:txBody>
                  <a:tcPr marL="98738" marR="98738" marT="0" marB="0" anchor="ctr"/>
                </a:tc>
                <a:tc>
                  <a:txBody>
                    <a:bodyPr/>
                    <a:lstStyle/>
                    <a:p>
                      <a:pPr marL="71755" algn="l">
                        <a:lnSpc>
                          <a:spcPct val="100000"/>
                        </a:lnSpc>
                        <a:spcBef>
                          <a:spcPts val="300"/>
                        </a:spcBef>
                        <a:spcAft>
                          <a:spcPts val="300"/>
                        </a:spcAft>
                        <a:buClrTx/>
                        <a:buSzTx/>
                        <a:buFontTx/>
                        <a:buNone/>
                      </a:pPr>
                      <a:r>
                        <a:rPr lang="en-US" sz="2000" dirty="0" err="1">
                          <a:solidFill>
                            <a:schemeClr val="bg1">
                              <a:lumMod val="85000"/>
                            </a:schemeClr>
                          </a:solidFill>
                          <a:latin typeface="+mn-lt"/>
                          <a:ea typeface="+mn-ea"/>
                          <a:cs typeface="+mn-ea"/>
                          <a:sym typeface="+mn-lt"/>
                        </a:rPr>
                        <a:t>磁盘存储器管理</a:t>
                      </a:r>
                      <a:endParaRPr lang="en-US" sz="2000" b="0" dirty="0" err="1">
                        <a:solidFill>
                          <a:schemeClr val="bg1">
                            <a:lumMod val="85000"/>
                          </a:schemeClr>
                        </a:solidFill>
                        <a:latin typeface="+mn-lt"/>
                        <a:ea typeface="+mn-ea"/>
                        <a:cs typeface="+mn-ea"/>
                        <a:sym typeface="+mn-lt"/>
                      </a:endParaRPr>
                    </a:p>
                  </a:txBody>
                  <a:tcPr marL="98738" marR="98738" marT="0" marB="0" anchor="ctr"/>
                </a:tc>
              </a:tr>
              <a:tr h="405765">
                <a:tc>
                  <a:txBody>
                    <a:bodyPr/>
                    <a:lstStyle/>
                    <a:p>
                      <a:pPr marL="71755" indent="0" algn="ctr">
                        <a:lnSpc>
                          <a:spcPct val="100000"/>
                        </a:lnSpc>
                        <a:spcBef>
                          <a:spcPts val="300"/>
                        </a:spcBef>
                        <a:spcAft>
                          <a:spcPts val="300"/>
                        </a:spcAft>
                        <a:buNone/>
                      </a:pPr>
                      <a:r>
                        <a:rPr lang="en-US" sz="2000">
                          <a:solidFill>
                            <a:schemeClr val="bg1">
                              <a:lumMod val="85000"/>
                            </a:schemeClr>
                          </a:solidFill>
                          <a:latin typeface="+mn-lt"/>
                          <a:ea typeface="+mn-ea"/>
                          <a:cs typeface="+mn-ea"/>
                          <a:sym typeface="+mn-lt"/>
                        </a:rPr>
                        <a:t>第10章</a:t>
                      </a:r>
                      <a:endParaRPr lang="en-US" altLang="en-US" sz="2000" b="0">
                        <a:solidFill>
                          <a:schemeClr val="bg1">
                            <a:lumMod val="85000"/>
                          </a:schemeClr>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solidFill>
                            <a:schemeClr val="bg1">
                              <a:lumMod val="85000"/>
                            </a:schemeClr>
                          </a:solidFill>
                          <a:latin typeface="+mn-lt"/>
                          <a:ea typeface="+mn-ea"/>
                          <a:cs typeface="+mn-ea"/>
                          <a:sym typeface="+mn-lt"/>
                        </a:rPr>
                        <a:t>多处理机操作系统</a:t>
                      </a:r>
                      <a:endParaRPr lang="en-US" altLang="en-US" sz="2000" b="0" dirty="0" err="1">
                        <a:solidFill>
                          <a:schemeClr val="bg1">
                            <a:lumMod val="85000"/>
                          </a:schemeClr>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solidFill>
                            <a:schemeClr val="bg1">
                              <a:lumMod val="85000"/>
                            </a:schemeClr>
                          </a:solidFill>
                          <a:latin typeface="+mn-lt"/>
                          <a:ea typeface="+mn-ea"/>
                          <a:cs typeface="+mn-ea"/>
                          <a:sym typeface="+mn-lt"/>
                        </a:rPr>
                        <a:t>第11章</a:t>
                      </a:r>
                      <a:endParaRPr lang="en-US" altLang="en-US" sz="2000" b="0">
                        <a:solidFill>
                          <a:schemeClr val="bg1">
                            <a:lumMod val="85000"/>
                          </a:schemeClr>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solidFill>
                            <a:schemeClr val="bg1">
                              <a:lumMod val="85000"/>
                            </a:schemeClr>
                          </a:solidFill>
                          <a:latin typeface="+mn-lt"/>
                          <a:ea typeface="+mn-ea"/>
                          <a:cs typeface="+mn-ea"/>
                          <a:sym typeface="+mn-lt"/>
                        </a:rPr>
                        <a:t>虚拟化和云计算</a:t>
                      </a:r>
                      <a:endParaRPr lang="en-US" altLang="en-US" sz="2000" b="0">
                        <a:solidFill>
                          <a:schemeClr val="bg1">
                            <a:lumMod val="85000"/>
                          </a:schemeClr>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solidFill>
                            <a:schemeClr val="bg1">
                              <a:lumMod val="85000"/>
                            </a:schemeClr>
                          </a:solidFill>
                          <a:latin typeface="+mn-lt"/>
                          <a:ea typeface="+mn-ea"/>
                          <a:cs typeface="+mn-ea"/>
                          <a:sym typeface="+mn-lt"/>
                        </a:rPr>
                        <a:t>第12章</a:t>
                      </a:r>
                      <a:endParaRPr lang="en-US" altLang="en-US" sz="2000" b="0">
                        <a:solidFill>
                          <a:schemeClr val="bg1">
                            <a:lumMod val="85000"/>
                          </a:schemeClr>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solidFill>
                            <a:schemeClr val="bg1">
                              <a:lumMod val="85000"/>
                            </a:schemeClr>
                          </a:solidFill>
                          <a:latin typeface="+mn-lt"/>
                          <a:ea typeface="+mn-ea"/>
                          <a:cs typeface="+mn-ea"/>
                          <a:sym typeface="+mn-lt"/>
                        </a:rPr>
                        <a:t>保护和安全</a:t>
                      </a:r>
                      <a:endParaRPr lang="en-US" altLang="en-US" sz="2000" b="0" dirty="0" err="1">
                        <a:solidFill>
                          <a:schemeClr val="bg1">
                            <a:lumMod val="85000"/>
                          </a:schemeClr>
                        </a:solidFill>
                        <a:latin typeface="+mn-lt"/>
                        <a:ea typeface="+mn-ea"/>
                        <a:cs typeface="+mn-ea"/>
                        <a:sym typeface="+mn-lt"/>
                      </a:endParaRPr>
                    </a:p>
                  </a:txBody>
                  <a:tcPr marL="98738" marR="98738" marT="0" marB="0" anchor="ctr"/>
                </a:tc>
              </a:tr>
            </a:tbl>
          </a:graphicData>
        </a:graphic>
      </p:graphicFrame>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2" name="图片 1" descr="第6章 知识导图"/>
          <p:cNvPicPr>
            <a:picLocks noChangeAspect="1"/>
          </p:cNvPicPr>
          <p:nvPr/>
        </p:nvPicPr>
        <p:blipFill>
          <a:blip r:embed="rId3"/>
          <a:stretch>
            <a:fillRect/>
          </a:stretch>
        </p:blipFill>
        <p:spPr>
          <a:xfrm>
            <a:off x="4688205" y="1718310"/>
            <a:ext cx="7465695" cy="45046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cs typeface="+mn-ea"/>
                <a:sym typeface="+mn-lt"/>
              </a:rPr>
              <a:t>Date</a:t>
            </a:r>
            <a:endParaRPr lang="zh-CN" altLang="en-US" dirty="0">
              <a:cs typeface="+mn-ea"/>
              <a:sym typeface="+mn-lt"/>
            </a:endParaRPr>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cs typeface="+mn-ea"/>
                <a:sym typeface="+mn-lt"/>
              </a:rPr>
              <a:t>内容导航：</a:t>
            </a:r>
            <a:endParaRPr lang="zh-CN" altLang="en-US" sz="2800" b="1" dirty="0">
              <a:solidFill>
                <a:schemeClr val="bg1"/>
              </a:solidFill>
              <a:cs typeface="+mn-ea"/>
              <a:sym typeface="+mn-lt"/>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b="1" dirty="0">
                <a:solidFill>
                  <a:srgbClr val="0000FF"/>
                </a:solidFill>
                <a:cs typeface="+mn-ea"/>
                <a:sym typeface="+mn-lt"/>
              </a:rPr>
              <a:t>6.1 </a:t>
            </a:r>
            <a:r>
              <a:rPr lang="zh-CN" altLang="en-US" sz="2400" b="1" dirty="0">
                <a:solidFill>
                  <a:srgbClr val="0000FF"/>
                </a:solidFill>
                <a:cs typeface="+mn-ea"/>
                <a:sym typeface="+mn-lt"/>
              </a:rPr>
              <a:t>虚拟存储器概述</a:t>
            </a:r>
            <a:endParaRPr lang="zh-CN" altLang="en-US" sz="2400" b="1" dirty="0">
              <a:solidFill>
                <a:srgbClr val="0000FF"/>
              </a:solidFill>
              <a:cs typeface="+mn-ea"/>
              <a:sym typeface="+mn-lt"/>
            </a:endParaRPr>
          </a:p>
        </p:txBody>
      </p:sp>
      <p:sp>
        <p:nvSpPr>
          <p:cNvPr id="23" name="矩形 22"/>
          <p:cNvSpPr/>
          <p:nvPr>
            <p:custDataLst>
              <p:tags r:id="rId1"/>
            </p:custDataLst>
          </p:nvPr>
        </p:nvSpPr>
        <p:spPr>
          <a:xfrm>
            <a:off x="1696468" y="2375673"/>
            <a:ext cx="4399531" cy="461665"/>
          </a:xfrm>
          <a:prstGeom prst="rect">
            <a:avLst/>
          </a:prstGeom>
        </p:spPr>
        <p:txBody>
          <a:bodyPr wrap="square">
            <a:spAutoFit/>
          </a:bodyPr>
          <a:lstStyle/>
          <a:p>
            <a:r>
              <a:rPr lang="en-US" altLang="zh-CN" sz="2400" dirty="0">
                <a:cs typeface="+mn-ea"/>
                <a:sym typeface="+mn-lt"/>
              </a:rPr>
              <a:t>6.2 </a:t>
            </a:r>
            <a:r>
              <a:rPr lang="zh-CN" altLang="en-US" sz="2400" dirty="0">
                <a:cs typeface="+mn-ea"/>
                <a:sym typeface="+mn-lt"/>
              </a:rPr>
              <a:t>请求分页存储管理方式</a:t>
            </a:r>
            <a:endParaRPr lang="en-US" altLang="zh-CN" sz="2400" dirty="0">
              <a:cs typeface="+mn-ea"/>
              <a:sym typeface="+mn-lt"/>
            </a:endParaRPr>
          </a:p>
        </p:txBody>
      </p:sp>
      <p:sp>
        <p:nvSpPr>
          <p:cNvPr id="24" name="矩形 23"/>
          <p:cNvSpPr/>
          <p:nvPr>
            <p:custDataLst>
              <p:tags r:id="rId2"/>
            </p:custDataLst>
          </p:nvPr>
        </p:nvSpPr>
        <p:spPr>
          <a:xfrm>
            <a:off x="1696468" y="2994798"/>
            <a:ext cx="3488967" cy="461665"/>
          </a:xfrm>
          <a:prstGeom prst="rect">
            <a:avLst/>
          </a:prstGeom>
        </p:spPr>
        <p:txBody>
          <a:bodyPr wrap="square">
            <a:spAutoFit/>
          </a:bodyPr>
          <a:lstStyle/>
          <a:p>
            <a:r>
              <a:rPr lang="en-US" altLang="zh-CN" sz="2400" dirty="0">
                <a:cs typeface="+mn-ea"/>
                <a:sym typeface="+mn-lt"/>
              </a:rPr>
              <a:t>6.3 </a:t>
            </a:r>
            <a:r>
              <a:rPr lang="zh-CN" altLang="en-US" sz="2400" dirty="0">
                <a:cs typeface="+mn-ea"/>
                <a:sym typeface="+mn-lt"/>
              </a:rPr>
              <a:t>页面置换算法</a:t>
            </a:r>
            <a:endParaRPr lang="en-US" altLang="zh-CN" sz="2400" dirty="0">
              <a:cs typeface="+mn-ea"/>
              <a:sym typeface="+mn-lt"/>
            </a:endParaRPr>
          </a:p>
        </p:txBody>
      </p:sp>
      <p:sp>
        <p:nvSpPr>
          <p:cNvPr id="25" name="矩形 24"/>
          <p:cNvSpPr/>
          <p:nvPr>
            <p:custDataLst>
              <p:tags r:id="rId3"/>
            </p:custDataLst>
          </p:nvPr>
        </p:nvSpPr>
        <p:spPr>
          <a:xfrm>
            <a:off x="1696468" y="3613923"/>
            <a:ext cx="3488967" cy="461665"/>
          </a:xfrm>
          <a:prstGeom prst="rect">
            <a:avLst/>
          </a:prstGeom>
        </p:spPr>
        <p:txBody>
          <a:bodyPr wrap="square">
            <a:spAutoFit/>
          </a:bodyPr>
          <a:lstStyle/>
          <a:p>
            <a:r>
              <a:rPr lang="en-US" altLang="zh-CN" sz="2400" dirty="0">
                <a:cs typeface="+mn-ea"/>
                <a:sym typeface="+mn-lt"/>
              </a:rPr>
              <a:t>6.4 </a:t>
            </a:r>
            <a:r>
              <a:rPr lang="zh-CN" altLang="en-US" sz="2400" dirty="0">
                <a:cs typeface="+mn-ea"/>
                <a:sym typeface="+mn-lt"/>
              </a:rPr>
              <a:t>抖动与工作集</a:t>
            </a:r>
            <a:endParaRPr lang="zh-CN" altLang="en-US" sz="2400" dirty="0">
              <a:cs typeface="+mn-ea"/>
              <a:sym typeface="+mn-lt"/>
            </a:endParaRPr>
          </a:p>
        </p:txBody>
      </p:sp>
      <p:sp>
        <p:nvSpPr>
          <p:cNvPr id="27" name="矩形 26"/>
          <p:cNvSpPr/>
          <p:nvPr>
            <p:custDataLst>
              <p:tags r:id="rId4"/>
            </p:custDataLst>
          </p:nvPr>
        </p:nvSpPr>
        <p:spPr>
          <a:xfrm>
            <a:off x="1696469" y="4233048"/>
            <a:ext cx="3905342" cy="461665"/>
          </a:xfrm>
          <a:prstGeom prst="rect">
            <a:avLst/>
          </a:prstGeom>
        </p:spPr>
        <p:txBody>
          <a:bodyPr wrap="square">
            <a:spAutoFit/>
          </a:bodyPr>
          <a:lstStyle/>
          <a:p>
            <a:r>
              <a:rPr lang="en-US" altLang="zh-CN" sz="2400" dirty="0">
                <a:solidFill>
                  <a:schemeClr val="bg1">
                    <a:lumMod val="75000"/>
                  </a:schemeClr>
                </a:solidFill>
                <a:cs typeface="+mn-ea"/>
                <a:sym typeface="+mn-lt"/>
              </a:rPr>
              <a:t>6.5 </a:t>
            </a:r>
            <a:r>
              <a:rPr lang="zh-CN" altLang="en-US" sz="2400" dirty="0">
                <a:solidFill>
                  <a:schemeClr val="bg1">
                    <a:lumMod val="75000"/>
                  </a:schemeClr>
                </a:solidFill>
                <a:cs typeface="+mn-ea"/>
                <a:sym typeface="+mn-lt"/>
              </a:rPr>
              <a:t>请求分段存储管理方式</a:t>
            </a:r>
            <a:endParaRPr lang="zh-CN" altLang="en-US" sz="2400" dirty="0">
              <a:solidFill>
                <a:schemeClr val="bg1">
                  <a:lumMod val="75000"/>
                </a:schemeClr>
              </a:solidFill>
              <a:cs typeface="+mn-ea"/>
              <a:sym typeface="+mn-lt"/>
            </a:endParaRPr>
          </a:p>
        </p:txBody>
      </p:sp>
      <p:sp>
        <p:nvSpPr>
          <p:cNvPr id="28" name="矩形 27"/>
          <p:cNvSpPr/>
          <p:nvPr>
            <p:custDataLst>
              <p:tags r:id="rId5"/>
            </p:custDataLst>
          </p:nvPr>
        </p:nvSpPr>
        <p:spPr>
          <a:xfrm>
            <a:off x="1696468" y="4852173"/>
            <a:ext cx="3682151" cy="461665"/>
          </a:xfrm>
          <a:prstGeom prst="rect">
            <a:avLst/>
          </a:prstGeom>
        </p:spPr>
        <p:txBody>
          <a:bodyPr wrap="square">
            <a:spAutoFit/>
          </a:bodyPr>
          <a:lstStyle/>
          <a:p>
            <a:r>
              <a:rPr lang="en-US" altLang="zh-CN" sz="2400" dirty="0">
                <a:solidFill>
                  <a:schemeClr val="bg1">
                    <a:lumMod val="75000"/>
                  </a:schemeClr>
                </a:solidFill>
                <a:cs typeface="+mn-ea"/>
                <a:sym typeface="+mn-lt"/>
              </a:rPr>
              <a:t>6.6 </a:t>
            </a:r>
            <a:r>
              <a:rPr lang="zh-CN" altLang="en-US" sz="2400" dirty="0">
                <a:solidFill>
                  <a:schemeClr val="bg1">
                    <a:lumMod val="75000"/>
                  </a:schemeClr>
                </a:solidFill>
                <a:cs typeface="+mn-ea"/>
                <a:sym typeface="+mn-lt"/>
              </a:rPr>
              <a:t>虚拟存储器实现实例</a:t>
            </a:r>
            <a:endParaRPr lang="zh-CN" altLang="en-US" sz="2400" dirty="0">
              <a:solidFill>
                <a:schemeClr val="bg1">
                  <a:lumMod val="75000"/>
                </a:schemeClr>
              </a:solidFill>
              <a:cs typeface="+mn-ea"/>
              <a:sym typeface="+mn-lt"/>
            </a:endParaRPr>
          </a:p>
        </p:txBody>
      </p:sp>
      <p:sp>
        <p:nvSpPr>
          <p:cNvPr id="3" name="矩形 2"/>
          <p:cNvSpPr/>
          <p:nvPr/>
        </p:nvSpPr>
        <p:spPr>
          <a:xfrm>
            <a:off x="7395099" y="2386337"/>
            <a:ext cx="3801041" cy="646331"/>
          </a:xfrm>
          <a:prstGeom prst="rect">
            <a:avLst/>
          </a:prstGeom>
        </p:spPr>
        <p:txBody>
          <a:bodyPr wrap="none">
            <a:spAutoFit/>
          </a:bodyPr>
          <a:lstStyle/>
          <a:p>
            <a:r>
              <a:rPr lang="zh-CN" altLang="en-US" sz="3600" dirty="0">
                <a:solidFill>
                  <a:srgbClr val="000000"/>
                </a:solidFill>
                <a:cs typeface="+mn-ea"/>
                <a:sym typeface="+mn-lt"/>
              </a:rPr>
              <a:t>第</a:t>
            </a:r>
            <a:r>
              <a:rPr lang="en-US" altLang="zh-CN" sz="3600" dirty="0">
                <a:solidFill>
                  <a:srgbClr val="000000"/>
                </a:solidFill>
                <a:cs typeface="+mn-ea"/>
                <a:sym typeface="+mn-lt"/>
              </a:rPr>
              <a:t>6</a:t>
            </a:r>
            <a:r>
              <a:rPr lang="zh-CN" altLang="en-US" sz="3600" dirty="0">
                <a:solidFill>
                  <a:srgbClr val="000000"/>
                </a:solidFill>
                <a:cs typeface="+mn-ea"/>
                <a:sym typeface="+mn-lt"/>
              </a:rPr>
              <a:t>章 虚拟存储器</a:t>
            </a:r>
            <a:endParaRPr lang="zh-CN" altLang="en-US" sz="3600" dirty="0">
              <a:cs typeface="+mn-ea"/>
              <a:sym typeface="+mn-lt"/>
            </a:endParaRPr>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custDataLst>
              <p:tags r:id="rId7"/>
            </p:custDataLst>
          </p:nvPr>
        </p:nvPicPr>
        <p:blipFill>
          <a:blip r:embed="rId6"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custDataLst>
              <p:tags r:id="rId8"/>
            </p:custDataLst>
          </p:nvPr>
        </p:nvPicPr>
        <p:blipFill>
          <a:blip r:embed="rId6"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custDataLst>
              <p:tags r:id="rId9"/>
            </p:custDataLst>
          </p:nvPr>
        </p:nvPicPr>
        <p:blipFill>
          <a:blip r:embed="rId6"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custDataLst>
              <p:tags r:id="rId10"/>
            </p:custDataLst>
          </p:nvPr>
        </p:nvPicPr>
        <p:blipFill>
          <a:blip r:embed="rId6"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custDataLst>
              <p:tags r:id="rId11"/>
            </p:custDataLst>
          </p:nvPr>
        </p:nvPicPr>
        <p:blipFill>
          <a:blip r:embed="rId6"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6.1 </a:t>
            </a:r>
            <a:r>
              <a:rPr lang="zh-CN" altLang="en-US" sz="2800" b="1" dirty="0">
                <a:solidFill>
                  <a:schemeClr val="bg1"/>
                </a:solidFill>
                <a:cs typeface="+mn-ea"/>
                <a:sym typeface="+mn-lt"/>
              </a:rPr>
              <a:t>虚拟存储器概述</a:t>
            </a:r>
            <a:endParaRPr lang="zh-CN" altLang="en-US" sz="2800" b="1" dirty="0">
              <a:solidFill>
                <a:schemeClr val="bg1"/>
              </a:solidFill>
              <a:cs typeface="+mn-ea"/>
              <a:sym typeface="+mn-lt"/>
            </a:endParaRPr>
          </a:p>
        </p:txBody>
      </p:sp>
      <p:sp>
        <p:nvSpPr>
          <p:cNvPr id="4" name="文本框 3"/>
          <p:cNvSpPr txBox="1"/>
          <p:nvPr/>
        </p:nvSpPr>
        <p:spPr>
          <a:xfrm>
            <a:off x="881658" y="1327589"/>
            <a:ext cx="10688301" cy="1076325"/>
          </a:xfrm>
          <a:prstGeom prst="rect">
            <a:avLst/>
          </a:prstGeom>
          <a:noFill/>
        </p:spPr>
        <p:txBody>
          <a:bodyPr wrap="square" rtlCol="0">
            <a:spAutoFit/>
          </a:bodyPr>
          <a:lstStyle/>
          <a:p>
            <a:pPr indent="457200" algn="just">
              <a:lnSpc>
                <a:spcPct val="123000"/>
              </a:lnSpc>
              <a:spcAft>
                <a:spcPts val="600"/>
              </a:spcAft>
            </a:pPr>
            <a:r>
              <a:rPr lang="zh-CN" altLang="en-US" sz="2400" dirty="0">
                <a:cs typeface="+mn-ea"/>
                <a:sym typeface="+mn-lt"/>
              </a:rPr>
              <a:t>前面所介绍的</a:t>
            </a:r>
            <a:r>
              <a:rPr lang="zh-CN" altLang="en-US" sz="2400" dirty="0">
                <a:cs typeface="+mn-ea"/>
                <a:sym typeface="+mn-lt"/>
              </a:rPr>
              <a:t>基本存储器管理方式，有一个</a:t>
            </a:r>
            <a:r>
              <a:rPr lang="zh-CN" altLang="en-US" sz="2400" dirty="0">
                <a:solidFill>
                  <a:srgbClr val="0000FF"/>
                </a:solidFill>
                <a:cs typeface="+mn-ea"/>
                <a:sym typeface="+mn-lt"/>
              </a:rPr>
              <a:t>共同特点</a:t>
            </a:r>
            <a:r>
              <a:rPr lang="zh-CN" altLang="en-US" sz="2400" dirty="0">
                <a:cs typeface="+mn-ea"/>
                <a:sym typeface="+mn-lt"/>
              </a:rPr>
              <a:t>：</a:t>
            </a:r>
            <a:endParaRPr lang="zh-CN" altLang="en-US" sz="2400" dirty="0">
              <a:cs typeface="+mn-ea"/>
              <a:sym typeface="+mn-lt"/>
            </a:endParaRPr>
          </a:p>
          <a:p>
            <a:pPr indent="457200" algn="just">
              <a:lnSpc>
                <a:spcPct val="123000"/>
              </a:lnSpc>
              <a:spcAft>
                <a:spcPts val="600"/>
              </a:spcAft>
            </a:pPr>
            <a:r>
              <a:rPr lang="zh-CN" altLang="en-US" sz="2400" u="sng" dirty="0">
                <a:solidFill>
                  <a:srgbClr val="FF0000"/>
                </a:solidFill>
                <a:cs typeface="+mn-ea"/>
                <a:sym typeface="+mn-lt"/>
              </a:rPr>
              <a:t>作业全部装入内存后方能运行。</a:t>
            </a:r>
            <a:endParaRPr lang="zh-CN" altLang="en-US" sz="2400" u="sng" dirty="0">
              <a:solidFill>
                <a:srgbClr val="FF0000"/>
              </a:solidFill>
              <a:cs typeface="+mn-ea"/>
              <a:sym typeface="+mn-lt"/>
            </a:endParaRPr>
          </a:p>
        </p:txBody>
      </p:sp>
      <p:sp>
        <p:nvSpPr>
          <p:cNvPr id="9" name="文本框 8"/>
          <p:cNvSpPr txBox="1"/>
          <p:nvPr/>
        </p:nvSpPr>
        <p:spPr>
          <a:xfrm>
            <a:off x="2020570" y="2487930"/>
            <a:ext cx="9389110" cy="3615055"/>
          </a:xfrm>
          <a:prstGeom prst="rect">
            <a:avLst/>
          </a:prstGeom>
          <a:noFill/>
        </p:spPr>
        <p:txBody>
          <a:bodyPr wrap="square" rtlCol="0">
            <a:spAutoFit/>
          </a:bodyPr>
          <a:lstStyle/>
          <a:p>
            <a:pPr algn="just">
              <a:lnSpc>
                <a:spcPct val="150000"/>
              </a:lnSpc>
              <a:spcAft>
                <a:spcPts val="600"/>
              </a:spcAft>
            </a:pPr>
            <a:r>
              <a:rPr lang="zh-CN" altLang="en-US" sz="2400" dirty="0">
                <a:cs typeface="+mn-ea"/>
                <a:sym typeface="+mn-lt"/>
              </a:rPr>
              <a:t>问题：</a:t>
            </a:r>
            <a:endParaRPr lang="zh-CN" altLang="en-US" sz="2400" dirty="0">
              <a:cs typeface="+mn-ea"/>
              <a:sym typeface="+mn-lt"/>
            </a:endParaRPr>
          </a:p>
          <a:p>
            <a:pPr marL="342900" indent="-342900" algn="just">
              <a:lnSpc>
                <a:spcPct val="150000"/>
              </a:lnSpc>
              <a:spcAft>
                <a:spcPts val="600"/>
              </a:spcAft>
              <a:buClr>
                <a:srgbClr val="0000FF"/>
              </a:buClr>
              <a:buFont typeface="Wingdings" panose="05000000000000000000" pitchFamily="2" charset="2"/>
              <a:buChar char="Ø"/>
            </a:pPr>
            <a:r>
              <a:rPr lang="zh-CN" altLang="en-US" sz="2200" dirty="0">
                <a:cs typeface="+mn-ea"/>
                <a:sym typeface="+mn-lt"/>
              </a:rPr>
              <a:t>大作业不能全部装入内存</a:t>
            </a:r>
            <a:endParaRPr lang="zh-CN" altLang="en-US" sz="2200" dirty="0">
              <a:cs typeface="+mn-ea"/>
              <a:sym typeface="+mn-lt"/>
            </a:endParaRPr>
          </a:p>
          <a:p>
            <a:pPr marL="342900" indent="-342900" algn="just">
              <a:lnSpc>
                <a:spcPct val="150000"/>
              </a:lnSpc>
              <a:spcAft>
                <a:spcPts val="600"/>
              </a:spcAft>
              <a:buClr>
                <a:srgbClr val="0000FF"/>
              </a:buClr>
              <a:buFont typeface="Wingdings" panose="05000000000000000000" pitchFamily="2" charset="2"/>
              <a:buChar char="Ø"/>
            </a:pPr>
            <a:r>
              <a:rPr lang="zh-CN" altLang="en-US" sz="2200" dirty="0">
                <a:cs typeface="+mn-ea"/>
                <a:sym typeface="+mn-lt"/>
              </a:rPr>
              <a:t>内存不足以容纳所有作业。少数作业得到运行，大量作业留在外存等待</a:t>
            </a:r>
            <a:endParaRPr lang="zh-CN" altLang="en-US" sz="2200" dirty="0">
              <a:cs typeface="+mn-ea"/>
              <a:sym typeface="+mn-lt"/>
            </a:endParaRPr>
          </a:p>
          <a:p>
            <a:pPr algn="just">
              <a:lnSpc>
                <a:spcPct val="150000"/>
              </a:lnSpc>
              <a:spcAft>
                <a:spcPts val="600"/>
              </a:spcAft>
            </a:pPr>
            <a:r>
              <a:rPr lang="zh-CN" altLang="en-US" sz="2400" dirty="0">
                <a:cs typeface="+mn-ea"/>
                <a:sym typeface="+mn-lt"/>
              </a:rPr>
              <a:t>解决办法：</a:t>
            </a:r>
            <a:endParaRPr lang="zh-CN" altLang="en-US" sz="2400" dirty="0">
              <a:cs typeface="+mn-ea"/>
              <a:sym typeface="+mn-lt"/>
            </a:endParaRPr>
          </a:p>
          <a:p>
            <a:pPr marL="342900" indent="-342900" algn="just">
              <a:lnSpc>
                <a:spcPct val="150000"/>
              </a:lnSpc>
              <a:spcAft>
                <a:spcPts val="600"/>
              </a:spcAft>
              <a:buClr>
                <a:srgbClr val="0000FF"/>
              </a:buClr>
              <a:buFont typeface="Wingdings" panose="05000000000000000000" pitchFamily="2" charset="2"/>
              <a:buChar char="Ø"/>
            </a:pPr>
            <a:r>
              <a:rPr lang="zh-CN" altLang="en-US" sz="2200" dirty="0">
                <a:cs typeface="+mn-ea"/>
                <a:sym typeface="+mn-lt"/>
              </a:rPr>
              <a:t>物理上扩充</a:t>
            </a:r>
            <a:r>
              <a:rPr lang="zh-CN" altLang="en-US" sz="2200" dirty="0">
                <a:cs typeface="+mn-ea"/>
                <a:sym typeface="+mn-lt"/>
              </a:rPr>
              <a:t>硬件</a:t>
            </a:r>
            <a:r>
              <a:rPr lang="zh-CN" altLang="en-US" sz="2200" dirty="0">
                <a:cs typeface="+mn-ea"/>
                <a:sym typeface="+mn-lt"/>
              </a:rPr>
              <a:t>内存</a:t>
            </a:r>
            <a:endParaRPr lang="zh-CN" altLang="en-US" sz="2200" dirty="0">
              <a:cs typeface="+mn-ea"/>
              <a:sym typeface="+mn-lt"/>
            </a:endParaRPr>
          </a:p>
          <a:p>
            <a:pPr marL="342900" indent="-342900" algn="just">
              <a:lnSpc>
                <a:spcPct val="150000"/>
              </a:lnSpc>
              <a:spcAft>
                <a:spcPts val="600"/>
              </a:spcAft>
              <a:buClr>
                <a:srgbClr val="0000FF"/>
              </a:buClr>
              <a:buFont typeface="Wingdings" panose="05000000000000000000" pitchFamily="2" charset="2"/>
              <a:buChar char="Ø"/>
            </a:pPr>
            <a:r>
              <a:rPr lang="zh-CN" altLang="en-US" sz="2200" dirty="0">
                <a:cs typeface="+mn-ea"/>
                <a:sym typeface="+mn-lt"/>
              </a:rPr>
              <a:t>逻辑上扩充内存容量（虚拟存储器）</a:t>
            </a:r>
            <a:endParaRPr lang="zh-CN" altLang="en-US" sz="2200" dirty="0">
              <a:cs typeface="+mn-ea"/>
              <a:sym typeface="+mn-lt"/>
            </a:endParaRPr>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82028" y="2600245"/>
            <a:ext cx="527050" cy="527050"/>
          </a:xfrm>
          <a:prstGeom prst="rect">
            <a:avLst/>
          </a:prstGeom>
          <a:ln>
            <a:noFill/>
          </a:ln>
          <a:effectLst>
            <a:softEdge rad="0"/>
          </a:effectLst>
        </p:spPr>
      </p:pic>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295033" y="4388864"/>
            <a:ext cx="527050" cy="527050"/>
          </a:xfrm>
          <a:prstGeom prst="rect">
            <a:avLst/>
          </a:prstGeom>
          <a:ln>
            <a:noFill/>
          </a:ln>
          <a:effectLst>
            <a:softEdge rad="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cs typeface="+mn-ea"/>
                <a:sym typeface="+mn-lt"/>
              </a:rPr>
              <a:t>虚拟存储的理论</a:t>
            </a:r>
            <a:r>
              <a:rPr lang="zh-CN" altLang="en-US" sz="2800" b="1" dirty="0">
                <a:solidFill>
                  <a:schemeClr val="bg1"/>
                </a:solidFill>
                <a:cs typeface="+mn-ea"/>
                <a:sym typeface="+mn-lt"/>
              </a:rPr>
              <a:t>支持</a:t>
            </a:r>
            <a:endParaRPr lang="zh-CN" altLang="en-US" sz="2800" b="1" dirty="0">
              <a:solidFill>
                <a:schemeClr val="bg1"/>
              </a:solidFill>
              <a:cs typeface="+mn-ea"/>
              <a:sym typeface="+mn-lt"/>
            </a:endParaRPr>
          </a:p>
        </p:txBody>
      </p:sp>
      <p:sp>
        <p:nvSpPr>
          <p:cNvPr id="220" name="íšḻîḋè"/>
          <p:cNvSpPr/>
          <p:nvPr/>
        </p:nvSpPr>
        <p:spPr>
          <a:xfrm>
            <a:off x="283210" y="1534795"/>
            <a:ext cx="11779250" cy="1951355"/>
          </a:xfrm>
          <a:prstGeom prst="rect">
            <a:avLst/>
          </a:prstGeom>
          <a:solidFill>
            <a:schemeClr val="bg1">
              <a:lumMod val="85000"/>
            </a:schemeClr>
          </a:solidFill>
          <a:ln>
            <a:noFill/>
          </a:ln>
        </p:spPr>
        <p:txBody>
          <a:bodyPr wrap="square" lIns="91440" tIns="45720" rIns="91440" bIns="45720" anchor="t" anchorCtr="0">
            <a:noAutofit/>
          </a:bodyPr>
          <a:lstStyle/>
          <a:p>
            <a:pPr marL="342900" indent="-342900">
              <a:lnSpc>
                <a:spcPct val="133000"/>
              </a:lnSpc>
              <a:spcBef>
                <a:spcPts val="600"/>
              </a:spcBef>
              <a:buClr>
                <a:srgbClr val="FF0000"/>
              </a:buClr>
              <a:buFont typeface="Wingdings" panose="05000000000000000000" pitchFamily="2" charset="2"/>
              <a:buChar char="Ø"/>
            </a:pPr>
            <a:r>
              <a:rPr lang="zh-CN" altLang="en-US" sz="2800" dirty="0">
                <a:cs typeface="+mn-ea"/>
                <a:sym typeface="+mn-lt"/>
              </a:rPr>
              <a:t>时间局部性：一条指令被执行了，则在不久的将来它可能再被执行。</a:t>
            </a:r>
            <a:endParaRPr lang="zh-CN" altLang="en-US" sz="2800" dirty="0">
              <a:cs typeface="+mn-ea"/>
              <a:sym typeface="+mn-lt"/>
            </a:endParaRPr>
          </a:p>
          <a:p>
            <a:pPr marL="342900" indent="-342900">
              <a:lnSpc>
                <a:spcPct val="133000"/>
              </a:lnSpc>
              <a:spcBef>
                <a:spcPts val="600"/>
              </a:spcBef>
              <a:buClr>
                <a:srgbClr val="FF0000"/>
              </a:buClr>
              <a:buFont typeface="Wingdings" panose="05000000000000000000" pitchFamily="2" charset="2"/>
              <a:buChar char="Ø"/>
            </a:pPr>
            <a:r>
              <a:rPr lang="zh-CN" altLang="en-US" sz="2800" dirty="0">
                <a:cs typeface="+mn-ea"/>
                <a:sym typeface="+mn-lt"/>
              </a:rPr>
              <a:t>空间局部性：若某一存储单元被使用，则在一定时间内，与该存储单</a:t>
            </a:r>
            <a:r>
              <a:rPr lang="en-US" altLang="zh-CN" sz="2800" dirty="0">
                <a:cs typeface="+mn-ea"/>
                <a:sym typeface="+mn-lt"/>
              </a:rPr>
              <a:t>               </a:t>
            </a:r>
            <a:r>
              <a:rPr lang="zh-CN" altLang="en-US" sz="2800" dirty="0">
                <a:cs typeface="+mn-ea"/>
                <a:sym typeface="+mn-lt"/>
              </a:rPr>
              <a:t>元</a:t>
            </a:r>
            <a:r>
              <a:rPr lang="zh-CN" altLang="en-US" sz="2800" b="1" dirty="0">
                <a:cs typeface="+mn-ea"/>
                <a:sym typeface="+mn-lt"/>
              </a:rPr>
              <a:t>相邻</a:t>
            </a:r>
            <a:r>
              <a:rPr lang="zh-CN" altLang="en-US" sz="2800" dirty="0">
                <a:cs typeface="+mn-ea"/>
                <a:sym typeface="+mn-lt"/>
              </a:rPr>
              <a:t>的单元可能被使用。</a:t>
            </a:r>
            <a:endParaRPr lang="zh-CN" altLang="en-US" sz="2800" dirty="0">
              <a:cs typeface="+mn-ea"/>
              <a:sym typeface="+mn-lt"/>
            </a:endParaRPr>
          </a:p>
        </p:txBody>
      </p:sp>
      <p:sp>
        <p:nvSpPr>
          <p:cNvPr id="225" name="íšḻíḑê"/>
          <p:cNvSpPr/>
          <p:nvPr/>
        </p:nvSpPr>
        <p:spPr>
          <a:xfrm>
            <a:off x="474345" y="1057275"/>
            <a:ext cx="7417435" cy="405765"/>
          </a:xfrm>
          <a:prstGeom prst="rect">
            <a:avLst/>
          </a:prstGeom>
          <a:noFill/>
          <a:ln>
            <a:noFill/>
          </a:ln>
        </p:spPr>
        <p:txBody>
          <a:bodyPr wrap="square" lIns="91440" tIns="45720" rIns="91440" bIns="45720" anchor="ctr" anchorCtr="0">
            <a:noAutofit/>
          </a:bodyPr>
          <a:lstStyle/>
          <a:p>
            <a:r>
              <a:rPr lang="en-US" altLang="zh-CN" sz="3200" dirty="0">
                <a:cs typeface="+mn-ea"/>
                <a:sym typeface="+mn-lt"/>
              </a:rPr>
              <a:t>1968</a:t>
            </a:r>
            <a:r>
              <a:rPr lang="zh-CN" altLang="en-US" sz="3200" dirty="0">
                <a:cs typeface="+mn-ea"/>
                <a:sym typeface="+mn-lt"/>
              </a:rPr>
              <a:t>年，</a:t>
            </a:r>
            <a:r>
              <a:rPr lang="en-US" altLang="zh-CN" sz="3200" dirty="0">
                <a:cs typeface="+mn-ea"/>
                <a:sym typeface="+mn-lt"/>
              </a:rPr>
              <a:t>P. denning </a:t>
            </a:r>
            <a:r>
              <a:rPr lang="zh-CN" altLang="en-US" sz="3200" dirty="0">
                <a:cs typeface="+mn-ea"/>
                <a:sym typeface="+mn-lt"/>
              </a:rPr>
              <a:t>提出</a:t>
            </a:r>
            <a:r>
              <a:rPr lang="zh-CN" altLang="en-US" sz="3200" b="1" dirty="0">
                <a:cs typeface="+mn-ea"/>
                <a:sym typeface="+mn-lt"/>
              </a:rPr>
              <a:t>局部性原理</a:t>
            </a:r>
            <a:endParaRPr lang="zh-CN" altLang="en-US" sz="3200" b="1" dirty="0">
              <a:cs typeface="+mn-ea"/>
              <a:sym typeface="+mn-lt"/>
            </a:endParaRPr>
          </a:p>
        </p:txBody>
      </p:sp>
      <p:sp>
        <p:nvSpPr>
          <p:cNvPr id="3" name="文本框 2"/>
          <p:cNvSpPr txBox="1"/>
          <p:nvPr/>
        </p:nvSpPr>
        <p:spPr>
          <a:xfrm>
            <a:off x="141605" y="3935095"/>
            <a:ext cx="11920855" cy="1210945"/>
          </a:xfrm>
          <a:prstGeom prst="rect">
            <a:avLst/>
          </a:prstGeom>
          <a:noFill/>
        </p:spPr>
        <p:txBody>
          <a:bodyPr wrap="square" rtlCol="0" anchor="t">
            <a:spAutoFit/>
          </a:bodyPr>
          <a:p>
            <a:pPr algn="just">
              <a:lnSpc>
                <a:spcPct val="130000"/>
              </a:lnSpc>
            </a:pPr>
            <a:r>
              <a:rPr lang="zh-CN" altLang="en-US" sz="2800" dirty="0">
                <a:cs typeface="+mn-ea"/>
                <a:sym typeface="+mn-lt"/>
              </a:rPr>
              <a:t>基于局部性原理，应用程序在运行之前，没有必要全部装入内存，仅须将那些当前要运行的部分页面或段先装入内存便可运行，其余部分暂留在外存。</a:t>
            </a:r>
            <a:endParaRPr lang="zh-CN" altLang="en-US" sz="2800" dirty="0">
              <a:cs typeface="+mn-ea"/>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虚拟存储器定义</a:t>
            </a:r>
            <a:endParaRPr lang="zh-CN" altLang="en-US" sz="2800" b="1" dirty="0">
              <a:solidFill>
                <a:schemeClr val="bg1"/>
              </a:solidFill>
              <a:cs typeface="+mn-ea"/>
              <a:sym typeface="+mn-lt"/>
            </a:endParaRPr>
          </a:p>
        </p:txBody>
      </p:sp>
      <p:sp>
        <p:nvSpPr>
          <p:cNvPr id="41" name="îŝļiḋe"/>
          <p:cNvSpPr/>
          <p:nvPr/>
        </p:nvSpPr>
        <p:spPr>
          <a:xfrm>
            <a:off x="225078" y="102998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cs typeface="+mn-ea"/>
              <a:sym typeface="+mn-lt"/>
            </a:endParaRPr>
          </a:p>
        </p:txBody>
      </p:sp>
      <p:sp>
        <p:nvSpPr>
          <p:cNvPr id="43" name="îslîďê"/>
          <p:cNvSpPr/>
          <p:nvPr>
            <p:custDataLst>
              <p:tags r:id="rId1"/>
            </p:custDataLst>
          </p:nvPr>
        </p:nvSpPr>
        <p:spPr>
          <a:xfrm>
            <a:off x="3348355" y="1716405"/>
            <a:ext cx="408305" cy="363855"/>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cs typeface="+mn-ea"/>
              <a:sym typeface="+mn-lt"/>
            </a:endParaRPr>
          </a:p>
        </p:txBody>
      </p:sp>
      <p:grpSp>
        <p:nvGrpSpPr>
          <p:cNvPr id="45" name="išḷîḓé"/>
          <p:cNvGrpSpPr/>
          <p:nvPr>
            <p:custDataLst>
              <p:tags r:id="rId2"/>
            </p:custDataLst>
          </p:nvPr>
        </p:nvGrpSpPr>
        <p:grpSpPr>
          <a:xfrm>
            <a:off x="349366" y="1393121"/>
            <a:ext cx="8378932" cy="801176"/>
            <a:chOff x="4136995" y="3233565"/>
            <a:chExt cx="8378932" cy="801176"/>
          </a:xfrm>
        </p:grpSpPr>
        <p:sp>
          <p:nvSpPr>
            <p:cNvPr id="46" name="íśľïḋé"/>
            <p:cNvSpPr/>
            <p:nvPr>
              <p:custDataLst>
                <p:tags r:id="rId3"/>
              </p:custDataLst>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cs typeface="+mn-ea"/>
                <a:sym typeface="+mn-lt"/>
              </a:endParaRPr>
            </a:p>
          </p:txBody>
        </p:sp>
        <p:sp>
          <p:nvSpPr>
            <p:cNvPr id="47" name="îŝľîḓè"/>
            <p:cNvSpPr txBox="1"/>
            <p:nvPr>
              <p:custDataLst>
                <p:tags r:id="rId4"/>
              </p:custDataLst>
            </p:nvPr>
          </p:nvSpPr>
          <p:spPr>
            <a:xfrm>
              <a:off x="4882718" y="3233565"/>
              <a:ext cx="7633209"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0000FF"/>
                  </a:solidFill>
                  <a:cs typeface="+mn-ea"/>
                  <a:sym typeface="+mn-lt"/>
                </a:rPr>
                <a:t>虚拟存储器：</a:t>
              </a:r>
              <a:r>
                <a:rPr lang="zh-CN" altLang="en-US" sz="2400" dirty="0">
                  <a:solidFill>
                    <a:schemeClr val="tx1"/>
                  </a:solidFill>
                  <a:cs typeface="+mn-ea"/>
                  <a:sym typeface="+mn-lt"/>
                </a:rPr>
                <a:t>具有</a:t>
              </a:r>
              <a:r>
                <a:rPr lang="zh-CN" altLang="en-US" sz="2400" b="1" dirty="0">
                  <a:solidFill>
                    <a:srgbClr val="FF0000"/>
                  </a:solidFill>
                  <a:cs typeface="+mn-ea"/>
                  <a:sym typeface="+mn-lt"/>
                </a:rPr>
                <a:t>请求调入</a:t>
              </a:r>
              <a:r>
                <a:rPr lang="zh-CN" altLang="en-US" sz="2400" dirty="0">
                  <a:solidFill>
                    <a:schemeClr val="tx1"/>
                  </a:solidFill>
                  <a:cs typeface="+mn-ea"/>
                  <a:sym typeface="+mn-lt"/>
                </a:rPr>
                <a:t>功能和</a:t>
              </a:r>
              <a:r>
                <a:rPr lang="zh-CN" altLang="en-US" sz="2400" b="1" dirty="0">
                  <a:solidFill>
                    <a:srgbClr val="FF0000"/>
                  </a:solidFill>
                  <a:cs typeface="+mn-ea"/>
                  <a:sym typeface="+mn-lt"/>
                </a:rPr>
                <a:t>置换功能</a:t>
              </a:r>
              <a:r>
                <a:rPr lang="zh-CN" altLang="en-US" sz="2400" dirty="0">
                  <a:solidFill>
                    <a:schemeClr val="tx1"/>
                  </a:solidFill>
                  <a:cs typeface="+mn-ea"/>
                  <a:sym typeface="+mn-lt"/>
                </a:rPr>
                <a:t>，能从逻辑上对内存容量加以扩充的一种存储器系统。</a:t>
              </a:r>
              <a:endParaRPr lang="zh-CN" altLang="en-US" sz="2400" dirty="0">
                <a:solidFill>
                  <a:schemeClr val="tx1"/>
                </a:solidFill>
                <a:cs typeface="+mn-ea"/>
                <a:sym typeface="+mn-lt"/>
              </a:endParaRPr>
            </a:p>
          </p:txBody>
        </p:sp>
      </p:grpSp>
      <p:sp>
        <p:nvSpPr>
          <p:cNvPr id="49" name="ïsľíḓê"/>
          <p:cNvSpPr/>
          <p:nvPr>
            <p:custDataLst>
              <p:tags r:id="rId5"/>
            </p:custDataLst>
          </p:nvPr>
        </p:nvSpPr>
        <p:spPr>
          <a:xfrm>
            <a:off x="363855" y="2793365"/>
            <a:ext cx="408305" cy="363855"/>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cs typeface="+mn-ea"/>
              <a:sym typeface="+mn-lt"/>
            </a:endParaRPr>
          </a:p>
        </p:txBody>
      </p:sp>
      <p:sp>
        <p:nvSpPr>
          <p:cNvPr id="2" name="文本框 1"/>
          <p:cNvSpPr txBox="1"/>
          <p:nvPr/>
        </p:nvSpPr>
        <p:spPr>
          <a:xfrm>
            <a:off x="991870" y="2793365"/>
            <a:ext cx="10946130" cy="2302510"/>
          </a:xfrm>
          <a:prstGeom prst="rect">
            <a:avLst/>
          </a:prstGeom>
          <a:solidFill>
            <a:schemeClr val="bg1">
              <a:lumMod val="85000"/>
            </a:schemeClr>
          </a:solidFill>
        </p:spPr>
        <p:txBody>
          <a:bodyPr wrap="square" rtlCol="0" anchor="t">
            <a:noAutofit/>
          </a:bodyPr>
          <a:p>
            <a:r>
              <a:rPr lang="zh-CN" altLang="en-US" sz="2400" b="1">
                <a:solidFill>
                  <a:schemeClr val="accent4">
                    <a:lumMod val="60000"/>
                    <a:lumOff val="40000"/>
                  </a:schemeClr>
                </a:solidFill>
                <a:sym typeface="+mn-ea"/>
              </a:rPr>
              <a:t>补充</a:t>
            </a:r>
            <a:r>
              <a:rPr lang="zh-CN" altLang="en-US" sz="2400">
                <a:sym typeface="+mn-ea"/>
              </a:rPr>
              <a:t>：</a:t>
            </a:r>
            <a:endParaRPr lang="zh-CN" altLang="en-US" sz="2400">
              <a:sym typeface="+mn-ea"/>
            </a:endParaRPr>
          </a:p>
          <a:p>
            <a:r>
              <a:rPr lang="zh-CN" altLang="en-US" sz="2400">
                <a:sym typeface="+mn-ea"/>
              </a:rPr>
              <a:t>实际的虚拟存储器的大小除了和内外存之和有关之外，跟</a:t>
            </a:r>
            <a:r>
              <a:rPr lang="en-US" altLang="zh-CN" sz="2400">
                <a:sym typeface="+mn-ea"/>
              </a:rPr>
              <a:t>CPU</a:t>
            </a:r>
            <a:r>
              <a:rPr lang="zh-CN" altLang="en-US" sz="2400">
                <a:sym typeface="+mn-ea"/>
              </a:rPr>
              <a:t>的</a:t>
            </a:r>
            <a:r>
              <a:rPr lang="zh-CN" altLang="en-US" sz="2400" b="1">
                <a:sym typeface="+mn-ea"/>
              </a:rPr>
              <a:t>寻址范围</a:t>
            </a:r>
            <a:r>
              <a:rPr lang="zh-CN" altLang="en-US" sz="2400">
                <a:sym typeface="+mn-ea"/>
              </a:rPr>
              <a:t>也有关。</a:t>
            </a:r>
            <a:r>
              <a:rPr lang="zh-CN" altLang="en-US" sz="2400">
                <a:sym typeface="+mn-ea"/>
              </a:rPr>
              <a:t>寻址范围</a:t>
            </a:r>
            <a:r>
              <a:rPr lang="zh-CN" altLang="en-US" sz="2400">
                <a:sym typeface="+mn-ea"/>
              </a:rPr>
              <a:t>即</a:t>
            </a:r>
            <a:r>
              <a:rPr lang="zh-CN" altLang="en-US" sz="2400" b="1">
                <a:sym typeface="+mn-ea"/>
              </a:rPr>
              <a:t>地址总线</a:t>
            </a:r>
            <a:r>
              <a:rPr lang="zh-CN" altLang="en-US" sz="2400">
                <a:sym typeface="+mn-ea"/>
              </a:rPr>
              <a:t>的宽度（</a:t>
            </a:r>
            <a:r>
              <a:rPr lang="en-US" altLang="zh-CN" sz="2400">
                <a:sym typeface="+mn-ea"/>
              </a:rPr>
              <a:t>32</a:t>
            </a:r>
            <a:r>
              <a:rPr lang="zh-CN" altLang="en-US" sz="2400">
                <a:sym typeface="+mn-ea"/>
              </a:rPr>
              <a:t>位机子的寻址范围就是</a:t>
            </a:r>
            <a:r>
              <a:rPr lang="en-US" altLang="zh-CN" sz="2400">
                <a:sym typeface="+mn-ea"/>
              </a:rPr>
              <a:t>2</a:t>
            </a:r>
            <a:r>
              <a:rPr lang="zh-CN" altLang="en-US" sz="2400">
                <a:sym typeface="+mn-ea"/>
              </a:rPr>
              <a:t>的</a:t>
            </a:r>
            <a:r>
              <a:rPr lang="en-US" altLang="zh-CN" sz="2400">
                <a:sym typeface="+mn-ea"/>
              </a:rPr>
              <a:t>32</a:t>
            </a:r>
            <a:r>
              <a:rPr lang="zh-CN" altLang="en-US" sz="2400">
                <a:sym typeface="+mn-ea"/>
              </a:rPr>
              <a:t>次方）</a:t>
            </a:r>
            <a:endParaRPr lang="zh-CN" altLang="en-US" sz="2400"/>
          </a:p>
          <a:p>
            <a:r>
              <a:rPr lang="zh-CN" altLang="en-US" sz="2400">
                <a:sym typeface="+mn-ea"/>
              </a:rPr>
              <a:t>如果</a:t>
            </a:r>
            <a:r>
              <a:rPr lang="en-US" altLang="zh-CN" sz="2400">
                <a:sym typeface="+mn-ea"/>
              </a:rPr>
              <a:t>cpu</a:t>
            </a:r>
            <a:r>
              <a:rPr lang="zh-CN" altLang="en-US" sz="2400">
                <a:sym typeface="+mn-ea"/>
              </a:rPr>
              <a:t>寻址范围小，给再大的内存也是浪费，所以虚拟内存的实际大小应该是</a:t>
            </a:r>
            <a:r>
              <a:rPr lang="en-US" altLang="zh-CN" sz="2400" b="1">
                <a:solidFill>
                  <a:schemeClr val="accent4">
                    <a:lumMod val="60000"/>
                    <a:lumOff val="40000"/>
                  </a:schemeClr>
                </a:solidFill>
                <a:sym typeface="+mn-ea"/>
              </a:rPr>
              <a:t>MIN</a:t>
            </a:r>
            <a:r>
              <a:rPr lang="zh-CN" altLang="en-US" sz="2400" b="1">
                <a:solidFill>
                  <a:schemeClr val="accent4">
                    <a:lumMod val="60000"/>
                    <a:lumOff val="40000"/>
                  </a:schemeClr>
                </a:solidFill>
                <a:sym typeface="+mn-ea"/>
              </a:rPr>
              <a:t>（</a:t>
            </a:r>
            <a:r>
              <a:rPr lang="en-US" altLang="zh-CN" sz="2400" b="1">
                <a:solidFill>
                  <a:schemeClr val="accent4">
                    <a:lumMod val="60000"/>
                    <a:lumOff val="40000"/>
                  </a:schemeClr>
                </a:solidFill>
                <a:sym typeface="+mn-ea"/>
              </a:rPr>
              <a:t>cpu</a:t>
            </a:r>
            <a:r>
              <a:rPr lang="zh-CN" altLang="en-US" sz="2400" b="1">
                <a:solidFill>
                  <a:schemeClr val="accent4">
                    <a:lumMod val="60000"/>
                    <a:lumOff val="40000"/>
                  </a:schemeClr>
                </a:solidFill>
                <a:sym typeface="+mn-ea"/>
              </a:rPr>
              <a:t>寻址范围，内外存之和）</a:t>
            </a:r>
            <a:endParaRPr lang="zh-CN" altLang="en-US" sz="2400" b="1">
              <a:solidFill>
                <a:schemeClr val="accent4">
                  <a:lumMod val="60000"/>
                  <a:lumOff val="40000"/>
                </a:schemeClr>
              </a:solidFill>
              <a:sym typeface="+mn-ea"/>
            </a:endParaRPr>
          </a:p>
        </p:txBody>
      </p:sp>
      <p:sp>
        <p:nvSpPr>
          <p:cNvPr id="3" name="文本框 2"/>
          <p:cNvSpPr txBox="1"/>
          <p:nvPr/>
        </p:nvSpPr>
        <p:spPr>
          <a:xfrm>
            <a:off x="8319135" y="5452745"/>
            <a:ext cx="1475105" cy="480695"/>
          </a:xfrm>
          <a:prstGeom prst="rect">
            <a:avLst/>
          </a:prstGeom>
          <a:noFill/>
        </p:spPr>
        <p:txBody>
          <a:bodyPr wrap="square" rtlCol="0" anchor="t">
            <a:noAutofit/>
          </a:bodyPr>
          <a:p>
            <a:r>
              <a:rPr lang="zh-CN" altLang="en-US" sz="2400" b="1">
                <a:solidFill>
                  <a:srgbClr val="FF0000"/>
                </a:solidFill>
                <a:sym typeface="+mn-ea"/>
              </a:rPr>
              <a:t>随堂练习</a:t>
            </a:r>
            <a:endParaRPr lang="zh-CN" altLang="en-US" sz="2400" b="1">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3"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虚拟存储器的特征</a:t>
            </a:r>
            <a:endParaRPr lang="zh-CN" altLang="en-US" sz="2800" b="1" dirty="0">
              <a:solidFill>
                <a:schemeClr val="bg1"/>
              </a:solidFill>
              <a:cs typeface="+mn-ea"/>
              <a:sym typeface="+mn-lt"/>
            </a:endParaRPr>
          </a:p>
        </p:txBody>
      </p:sp>
      <p:sp>
        <p:nvSpPr>
          <p:cNvPr id="41" name="îŝļiḋe"/>
          <p:cNvSpPr/>
          <p:nvPr/>
        </p:nvSpPr>
        <p:spPr>
          <a:xfrm>
            <a:off x="733425" y="1133475"/>
            <a:ext cx="675005"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cs typeface="+mn-ea"/>
              <a:sym typeface="+mn-lt"/>
            </a:endParaRPr>
          </a:p>
        </p:txBody>
      </p:sp>
      <p:sp>
        <p:nvSpPr>
          <p:cNvPr id="43" name="îslîďê"/>
          <p:cNvSpPr/>
          <p:nvPr/>
        </p:nvSpPr>
        <p:spPr>
          <a:xfrm>
            <a:off x="857885" y="1715770"/>
            <a:ext cx="419735" cy="363855"/>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cs typeface="+mn-ea"/>
              <a:sym typeface="+mn-lt"/>
            </a:endParaRPr>
          </a:p>
        </p:txBody>
      </p:sp>
      <p:sp>
        <p:nvSpPr>
          <p:cNvPr id="46" name="íśľïḋé"/>
          <p:cNvSpPr/>
          <p:nvPr/>
        </p:nvSpPr>
        <p:spPr>
          <a:xfrm>
            <a:off x="857885" y="2938780"/>
            <a:ext cx="419735" cy="363855"/>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cs typeface="+mn-ea"/>
              <a:sym typeface="+mn-lt"/>
            </a:endParaRPr>
          </a:p>
        </p:txBody>
      </p:sp>
      <p:sp>
        <p:nvSpPr>
          <p:cNvPr id="49" name="ïsľíḓê"/>
          <p:cNvSpPr/>
          <p:nvPr/>
        </p:nvSpPr>
        <p:spPr>
          <a:xfrm>
            <a:off x="857885" y="3973195"/>
            <a:ext cx="419735" cy="363855"/>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cs typeface="+mn-ea"/>
              <a:sym typeface="+mn-lt"/>
            </a:endParaRPr>
          </a:p>
        </p:txBody>
      </p:sp>
      <p:sp>
        <p:nvSpPr>
          <p:cNvPr id="2" name="ïSḻiḍé"/>
          <p:cNvSpPr txBox="1"/>
          <p:nvPr/>
        </p:nvSpPr>
        <p:spPr>
          <a:xfrm>
            <a:off x="1488440" y="1474470"/>
            <a:ext cx="8628380" cy="845820"/>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b="1" dirty="0">
                <a:cs typeface="+mn-ea"/>
                <a:sym typeface="+mn-lt"/>
              </a:rPr>
              <a:t>多次性</a:t>
            </a:r>
            <a:r>
              <a:rPr lang="zh-CN" altLang="en-US" sz="2400" dirty="0">
                <a:cs typeface="+mn-ea"/>
                <a:sym typeface="+mn-lt"/>
              </a:rPr>
              <a:t>：作业中的程序和数据允许被分成多次调入内存允许</a:t>
            </a:r>
            <a:endParaRPr lang="zh-CN" altLang="en-US" sz="2400" dirty="0">
              <a:cs typeface="+mn-ea"/>
              <a:sym typeface="+mn-lt"/>
            </a:endParaRPr>
          </a:p>
        </p:txBody>
      </p:sp>
      <p:sp>
        <p:nvSpPr>
          <p:cNvPr id="3" name="îŝľîḓè"/>
          <p:cNvSpPr txBox="1"/>
          <p:nvPr/>
        </p:nvSpPr>
        <p:spPr>
          <a:xfrm>
            <a:off x="1537175" y="2627630"/>
            <a:ext cx="7843680" cy="801370"/>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b="1" dirty="0">
                <a:cs typeface="+mn-ea"/>
                <a:sym typeface="+mn-lt"/>
              </a:rPr>
              <a:t>对换性</a:t>
            </a:r>
            <a:r>
              <a:rPr lang="zh-CN" altLang="en-US" sz="2400" dirty="0">
                <a:cs typeface="+mn-ea"/>
                <a:sym typeface="+mn-lt"/>
              </a:rPr>
              <a:t>：作业运行时无须常驻内存，</a:t>
            </a:r>
            <a:r>
              <a:rPr lang="zh-CN" altLang="en-US" sz="2400" dirty="0">
                <a:cs typeface="+mn-ea"/>
                <a:sym typeface="+mn-lt"/>
              </a:rPr>
              <a:t>可以换进和换出</a:t>
            </a:r>
            <a:endParaRPr lang="zh-CN" altLang="en-US" sz="2400" dirty="0">
              <a:cs typeface="+mn-ea"/>
              <a:sym typeface="+mn-lt"/>
            </a:endParaRPr>
          </a:p>
        </p:txBody>
      </p:sp>
      <p:sp>
        <p:nvSpPr>
          <p:cNvPr id="4" name="íṧļîḋê"/>
          <p:cNvSpPr txBox="1"/>
          <p:nvPr/>
        </p:nvSpPr>
        <p:spPr>
          <a:xfrm>
            <a:off x="1488440" y="3794760"/>
            <a:ext cx="10274300" cy="78803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b="1" dirty="0">
                <a:cs typeface="+mn-ea"/>
                <a:sym typeface="+mn-lt"/>
              </a:rPr>
              <a:t>虚拟性</a:t>
            </a:r>
            <a:r>
              <a:rPr lang="zh-CN" altLang="en-US" sz="2400" dirty="0">
                <a:cs typeface="+mn-ea"/>
                <a:sym typeface="+mn-lt"/>
              </a:rPr>
              <a:t>：逻辑上扩充了内存，使用户看到的内存容量远大于实际内存容量</a:t>
            </a:r>
            <a:endParaRPr lang="zh-CN" altLang="en-US" sz="2400" dirty="0">
              <a:cs typeface="+mn-ea"/>
              <a:sym typeface="+mn-lt"/>
            </a:endParaRPr>
          </a:p>
        </p:txBody>
      </p:sp>
      <p:sp>
        <p:nvSpPr>
          <p:cNvPr id="5" name="文本框 4"/>
          <p:cNvSpPr txBox="1"/>
          <p:nvPr/>
        </p:nvSpPr>
        <p:spPr>
          <a:xfrm>
            <a:off x="2030730" y="4817110"/>
            <a:ext cx="6348095" cy="829945"/>
          </a:xfrm>
          <a:prstGeom prst="rect">
            <a:avLst/>
          </a:prstGeom>
          <a:noFill/>
        </p:spPr>
        <p:txBody>
          <a:bodyPr wrap="square" rtlCol="0" anchor="t">
            <a:spAutoFit/>
          </a:bodyPr>
          <a:p>
            <a:r>
              <a:rPr lang="zh-CN" altLang="en-US" sz="2400" dirty="0">
                <a:solidFill>
                  <a:srgbClr val="0519AB"/>
                </a:solidFill>
                <a:cs typeface="+mn-ea"/>
                <a:sym typeface="+mn-lt"/>
              </a:rPr>
              <a:t>虚拟性以多次性和对换性为基础；</a:t>
            </a:r>
            <a:endParaRPr lang="zh-CN" altLang="en-US" sz="2400" dirty="0">
              <a:solidFill>
                <a:srgbClr val="0519AB"/>
              </a:solidFill>
              <a:cs typeface="+mn-ea"/>
              <a:sym typeface="+mn-lt"/>
            </a:endParaRPr>
          </a:p>
          <a:p>
            <a:r>
              <a:rPr lang="zh-CN" altLang="en-US" sz="2400" dirty="0">
                <a:solidFill>
                  <a:srgbClr val="0519AB"/>
                </a:solidFill>
                <a:cs typeface="+mn-ea"/>
                <a:sym typeface="+mn-lt"/>
              </a:rPr>
              <a:t>多次性和对换性必须建立在</a:t>
            </a:r>
            <a:r>
              <a:rPr lang="zh-CN" altLang="en-US" sz="2400" b="1" dirty="0">
                <a:solidFill>
                  <a:srgbClr val="0519AB"/>
                </a:solidFill>
                <a:cs typeface="+mn-ea"/>
                <a:sym typeface="+mn-lt"/>
              </a:rPr>
              <a:t>离散分配</a:t>
            </a:r>
            <a:r>
              <a:rPr lang="zh-CN" altLang="en-US" sz="2400" dirty="0">
                <a:solidFill>
                  <a:srgbClr val="0519AB"/>
                </a:solidFill>
                <a:cs typeface="+mn-ea"/>
                <a:sym typeface="+mn-lt"/>
              </a:rPr>
              <a:t>基础上。</a:t>
            </a:r>
            <a:endParaRPr lang="zh-CN" altLang="en-US" sz="2400" dirty="0">
              <a:solidFill>
                <a:srgbClr val="0519AB"/>
              </a:solidFill>
              <a:cs typeface="+mn-ea"/>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虚拟存储器的实现方法</a:t>
            </a:r>
            <a:endParaRPr lang="zh-CN" altLang="en-US" sz="2800" b="1" dirty="0">
              <a:solidFill>
                <a:schemeClr val="bg1"/>
              </a:solidFill>
              <a:cs typeface="+mn-ea"/>
              <a:sym typeface="+mn-lt"/>
            </a:endParaRPr>
          </a:p>
        </p:txBody>
      </p:sp>
      <p:sp>
        <p:nvSpPr>
          <p:cNvPr id="220" name="íšḻîḋè"/>
          <p:cNvSpPr/>
          <p:nvPr>
            <p:custDataLst>
              <p:tags r:id="rId1"/>
            </p:custDataLst>
          </p:nvPr>
        </p:nvSpPr>
        <p:spPr>
          <a:xfrm>
            <a:off x="1767605" y="3614339"/>
            <a:ext cx="8656789" cy="943950"/>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cs typeface="+mn-ea"/>
                <a:sym typeface="+mn-lt"/>
              </a:rPr>
              <a:t>硬件支持：段表、缺段中断、地址变换机构。</a:t>
            </a:r>
            <a:endParaRPr lang="zh-CN" altLang="en-US" sz="2400" dirty="0">
              <a:cs typeface="+mn-ea"/>
              <a:sym typeface="+mn-lt"/>
            </a:endParaRPr>
          </a:p>
          <a:p>
            <a:pPr marL="342900" indent="-342900">
              <a:lnSpc>
                <a:spcPct val="120000"/>
              </a:lnSpc>
              <a:buClr>
                <a:srgbClr val="FF0000"/>
              </a:buClr>
              <a:buFont typeface="Wingdings" panose="05000000000000000000" pitchFamily="2" charset="2"/>
              <a:buChar char="Ø"/>
            </a:pPr>
            <a:r>
              <a:rPr lang="zh-CN" altLang="en-US" sz="2400" dirty="0">
                <a:cs typeface="+mn-ea"/>
                <a:sym typeface="+mn-lt"/>
              </a:rPr>
              <a:t>软件支持：请求调段软件、段置换软件。</a:t>
            </a:r>
            <a:endParaRPr lang="zh-CN" altLang="en-US" sz="2400" dirty="0">
              <a:cs typeface="+mn-ea"/>
              <a:sym typeface="+mn-lt"/>
            </a:endParaRPr>
          </a:p>
        </p:txBody>
      </p:sp>
      <p:sp>
        <p:nvSpPr>
          <p:cNvPr id="221" name="i$lîďê"/>
          <p:cNvSpPr/>
          <p:nvPr>
            <p:custDataLst>
              <p:tags r:id="rId2"/>
            </p:custDataLst>
          </p:nvPr>
        </p:nvSpPr>
        <p:spPr>
          <a:xfrm>
            <a:off x="1823241" y="3140156"/>
            <a:ext cx="3696051" cy="392877"/>
          </a:xfrm>
          <a:prstGeom prst="rect">
            <a:avLst/>
          </a:prstGeom>
          <a:noFill/>
          <a:ln>
            <a:noFill/>
          </a:ln>
        </p:spPr>
        <p:txBody>
          <a:bodyPr wrap="square" lIns="91440" tIns="45720" rIns="91440" bIns="45720" anchor="ctr" anchorCtr="0">
            <a:noAutofit/>
          </a:bodyPr>
          <a:lstStyle/>
          <a:p>
            <a:r>
              <a:rPr lang="zh-CN" altLang="en-US" sz="2400" dirty="0">
                <a:solidFill>
                  <a:srgbClr val="0000FF"/>
                </a:solidFill>
                <a:cs typeface="+mn-ea"/>
                <a:sym typeface="+mn-lt"/>
              </a:rPr>
              <a:t>请求分段系统</a:t>
            </a:r>
            <a:endParaRPr lang="zh-CN" altLang="en-US" sz="2400" dirty="0">
              <a:solidFill>
                <a:srgbClr val="0000FF"/>
              </a:solidFill>
              <a:cs typeface="+mn-ea"/>
              <a:sym typeface="+mn-lt"/>
            </a:endParaRPr>
          </a:p>
        </p:txBody>
      </p:sp>
      <p:sp>
        <p:nvSpPr>
          <p:cNvPr id="222" name="î$ļíḋè"/>
          <p:cNvSpPr/>
          <p:nvPr/>
        </p:nvSpPr>
        <p:spPr>
          <a:xfrm>
            <a:off x="1802481" y="5431648"/>
            <a:ext cx="5459358"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cs typeface="+mn-ea"/>
                <a:sym typeface="+mn-lt"/>
              </a:rPr>
              <a:t>增加请求调页和页面置换。</a:t>
            </a:r>
            <a:endParaRPr lang="zh-CN" altLang="en-US" sz="2400" dirty="0">
              <a:cs typeface="+mn-ea"/>
              <a:sym typeface="+mn-lt"/>
            </a:endParaRPr>
          </a:p>
        </p:txBody>
      </p:sp>
      <p:sp>
        <p:nvSpPr>
          <p:cNvPr id="223" name="ïṧḷïḋè"/>
          <p:cNvSpPr/>
          <p:nvPr/>
        </p:nvSpPr>
        <p:spPr>
          <a:xfrm>
            <a:off x="1802481" y="4918873"/>
            <a:ext cx="3696051" cy="415102"/>
          </a:xfrm>
          <a:prstGeom prst="rect">
            <a:avLst/>
          </a:prstGeom>
          <a:noFill/>
          <a:ln>
            <a:noFill/>
          </a:ln>
        </p:spPr>
        <p:txBody>
          <a:bodyPr wrap="square" lIns="91440" tIns="45720" rIns="91440" bIns="45720" anchor="ctr" anchorCtr="0">
            <a:noAutofit/>
          </a:bodyPr>
          <a:lstStyle/>
          <a:p>
            <a:r>
              <a:rPr lang="zh-CN" altLang="en-US" sz="2400" dirty="0">
                <a:solidFill>
                  <a:srgbClr val="0000FF"/>
                </a:solidFill>
                <a:cs typeface="+mn-ea"/>
                <a:sym typeface="+mn-lt"/>
              </a:rPr>
              <a:t>段页式虚拟存储器</a:t>
            </a:r>
            <a:endParaRPr lang="zh-CN" altLang="en-US" sz="2400" dirty="0">
              <a:solidFill>
                <a:srgbClr val="0000FF"/>
              </a:solidFill>
              <a:cs typeface="+mn-ea"/>
              <a:sym typeface="+mn-lt"/>
            </a:endParaRPr>
          </a:p>
        </p:txBody>
      </p:sp>
      <p:sp>
        <p:nvSpPr>
          <p:cNvPr id="224" name="îs1iďé"/>
          <p:cNvSpPr/>
          <p:nvPr>
            <p:custDataLst>
              <p:tags r:id="rId3"/>
            </p:custDataLst>
          </p:nvPr>
        </p:nvSpPr>
        <p:spPr>
          <a:xfrm>
            <a:off x="1821537" y="1830118"/>
            <a:ext cx="9711234" cy="1163415"/>
          </a:xfrm>
          <a:prstGeom prst="rect">
            <a:avLst/>
          </a:prstGeom>
          <a:noFill/>
          <a:ln>
            <a:noFill/>
          </a:ln>
        </p:spPr>
        <p:txBody>
          <a:bodyPr wrap="square" lIns="91440" tIns="45720" rIns="91440" bIns="45720" anchor="t" anchorCtr="0">
            <a:no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400" dirty="0">
                <a:cs typeface="+mn-ea"/>
                <a:sym typeface="+mn-lt"/>
              </a:rPr>
              <a:t>硬件支持：页表、缺页中断、地址变换机构。</a:t>
            </a:r>
            <a:endParaRPr lang="zh-CN" altLang="en-US" sz="2400" dirty="0">
              <a:cs typeface="+mn-ea"/>
              <a:sym typeface="+mn-lt"/>
            </a:endParaRPr>
          </a:p>
          <a:p>
            <a:pPr marL="342900" indent="-342900">
              <a:lnSpc>
                <a:spcPct val="120000"/>
              </a:lnSpc>
              <a:spcBef>
                <a:spcPts val="800"/>
              </a:spcBef>
              <a:buClr>
                <a:srgbClr val="FF0000"/>
              </a:buClr>
              <a:buFont typeface="Wingdings" panose="05000000000000000000" pitchFamily="2" charset="2"/>
              <a:buChar char="Ø"/>
            </a:pPr>
            <a:r>
              <a:rPr lang="zh-CN" altLang="en-US" sz="2400" dirty="0">
                <a:cs typeface="+mn-ea"/>
                <a:sym typeface="+mn-lt"/>
              </a:rPr>
              <a:t>软件支持：请求调页软件、页面置换软件。</a:t>
            </a:r>
            <a:endParaRPr lang="zh-CN" altLang="en-US" sz="2400" dirty="0">
              <a:cs typeface="+mn-ea"/>
              <a:sym typeface="+mn-lt"/>
            </a:endParaRPr>
          </a:p>
        </p:txBody>
      </p:sp>
      <p:sp>
        <p:nvSpPr>
          <p:cNvPr id="225" name="íšḻíḑê"/>
          <p:cNvSpPr/>
          <p:nvPr>
            <p:custDataLst>
              <p:tags r:id="rId4"/>
            </p:custDataLst>
          </p:nvPr>
        </p:nvSpPr>
        <p:spPr>
          <a:xfrm>
            <a:off x="1802765" y="1361440"/>
            <a:ext cx="6264275" cy="405765"/>
          </a:xfrm>
          <a:prstGeom prst="rect">
            <a:avLst/>
          </a:prstGeom>
          <a:noFill/>
          <a:ln>
            <a:noFill/>
          </a:ln>
        </p:spPr>
        <p:txBody>
          <a:bodyPr wrap="square" lIns="91440" tIns="45720" rIns="91440" bIns="45720" anchor="ctr" anchorCtr="0">
            <a:noAutofit/>
          </a:bodyPr>
          <a:lstStyle/>
          <a:p>
            <a:r>
              <a:rPr lang="zh-CN" altLang="en-US" sz="2400" dirty="0">
                <a:solidFill>
                  <a:srgbClr val="FF0000"/>
                </a:solidFill>
                <a:cs typeface="+mn-ea"/>
                <a:sym typeface="+mn-lt"/>
              </a:rPr>
              <a:t>请求分页系统</a:t>
            </a:r>
            <a:r>
              <a:rPr lang="en-US" altLang="zh-CN" sz="2400" dirty="0">
                <a:solidFill>
                  <a:srgbClr val="FF0000"/>
                </a:solidFill>
                <a:cs typeface="+mn-ea"/>
                <a:sym typeface="+mn-lt"/>
              </a:rPr>
              <a:t>(</a:t>
            </a:r>
            <a:r>
              <a:rPr lang="zh-CN" altLang="en-US" sz="2400" dirty="0">
                <a:solidFill>
                  <a:srgbClr val="FF0000"/>
                </a:solidFill>
                <a:cs typeface="+mn-ea"/>
                <a:sym typeface="+mn-lt"/>
              </a:rPr>
              <a:t>在基本分页系统基础上</a:t>
            </a:r>
            <a:r>
              <a:rPr lang="en-US" altLang="zh-CN" sz="2400" dirty="0">
                <a:solidFill>
                  <a:srgbClr val="FF0000"/>
                </a:solidFill>
                <a:cs typeface="+mn-ea"/>
                <a:sym typeface="+mn-lt"/>
              </a:rPr>
              <a:t>)</a:t>
            </a:r>
            <a:endParaRPr lang="en-US" altLang="zh-CN" sz="2400" dirty="0">
              <a:solidFill>
                <a:srgbClr val="FF0000"/>
              </a:solidFill>
              <a:cs typeface="+mn-ea"/>
              <a:sym typeface="+mn-lt"/>
            </a:endParaRPr>
          </a:p>
        </p:txBody>
      </p:sp>
      <p:sp>
        <p:nvSpPr>
          <p:cNvPr id="226" name="îSļiḓè"/>
          <p:cNvSpPr/>
          <p:nvPr>
            <p:custDataLst>
              <p:tags r:id="rId5"/>
            </p:custDataLst>
          </p:nvPr>
        </p:nvSpPr>
        <p:spPr>
          <a:xfrm>
            <a:off x="1118977" y="13479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27" name="íṥḻîḓe"/>
          <p:cNvSpPr/>
          <p:nvPr/>
        </p:nvSpPr>
        <p:spPr>
          <a:xfrm>
            <a:off x="1118977" y="483627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28" name="îşļiḓè"/>
          <p:cNvSpPr/>
          <p:nvPr>
            <p:custDataLst>
              <p:tags r:id="rId6"/>
            </p:custDataLst>
          </p:nvPr>
        </p:nvSpPr>
        <p:spPr>
          <a:xfrm>
            <a:off x="1139739" y="3039630"/>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29" name="îṡḷíďe"/>
          <p:cNvSpPr/>
          <p:nvPr>
            <p:custDataLst>
              <p:tags r:id="rId7"/>
            </p:custDataLst>
          </p:nvPr>
        </p:nvSpPr>
        <p:spPr>
          <a:xfrm>
            <a:off x="1309232" y="154413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230" name="íSlíḋe"/>
          <p:cNvSpPr/>
          <p:nvPr>
            <p:custDataLst>
              <p:tags r:id="rId8"/>
            </p:custDataLst>
          </p:nvPr>
        </p:nvSpPr>
        <p:spPr>
          <a:xfrm>
            <a:off x="1329993" y="3261647"/>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231" name="ïśḷïḓe"/>
          <p:cNvSpPr/>
          <p:nvPr/>
        </p:nvSpPr>
        <p:spPr>
          <a:xfrm>
            <a:off x="1338170" y="5025731"/>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23" name="î$ļíḋè"/>
          <p:cNvSpPr/>
          <p:nvPr/>
        </p:nvSpPr>
        <p:spPr>
          <a:xfrm>
            <a:off x="6243852" y="5464138"/>
            <a:ext cx="5459358"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en-US" altLang="zh-CN" sz="2400" dirty="0">
                <a:cs typeface="+mn-ea"/>
                <a:sym typeface="+mn-lt"/>
              </a:rPr>
              <a:t>Intel 80386 </a:t>
            </a:r>
            <a:r>
              <a:rPr lang="zh-CN" altLang="en-US" sz="2400" dirty="0">
                <a:cs typeface="+mn-ea"/>
                <a:sym typeface="+mn-lt"/>
              </a:rPr>
              <a:t>及以后。</a:t>
            </a:r>
            <a:endParaRPr lang="zh-CN" altLang="en-US" sz="2400" dirty="0">
              <a:cs typeface="+mn-ea"/>
              <a:sym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cs typeface="+mn-ea"/>
                <a:sym typeface="+mn-lt"/>
              </a:rPr>
              <a:t>Date</a:t>
            </a:r>
            <a:endParaRPr lang="zh-CN" altLang="en-US" dirty="0">
              <a:cs typeface="+mn-ea"/>
              <a:sym typeface="+mn-lt"/>
            </a:endParaRPr>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cs typeface="+mn-ea"/>
                <a:sym typeface="+mn-lt"/>
              </a:rPr>
              <a:t>内容导航：</a:t>
            </a:r>
            <a:endParaRPr lang="zh-CN" altLang="en-US" sz="2800" b="1" dirty="0">
              <a:solidFill>
                <a:schemeClr val="bg1"/>
              </a:solidFill>
              <a:cs typeface="+mn-ea"/>
              <a:sym typeface="+mn-lt"/>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cs typeface="+mn-ea"/>
                <a:sym typeface="+mn-lt"/>
              </a:rPr>
              <a:t>6.1 </a:t>
            </a:r>
            <a:r>
              <a:rPr lang="zh-CN" altLang="en-US" sz="2400" dirty="0">
                <a:cs typeface="+mn-ea"/>
                <a:sym typeface="+mn-lt"/>
              </a:rPr>
              <a:t>虚拟存储器概述</a:t>
            </a:r>
            <a:endParaRPr lang="zh-CN" altLang="en-US" sz="2400" dirty="0">
              <a:cs typeface="+mn-ea"/>
              <a:sym typeface="+mn-lt"/>
            </a:endParaRPr>
          </a:p>
        </p:txBody>
      </p:sp>
      <p:sp>
        <p:nvSpPr>
          <p:cNvPr id="23" name="矩形 22"/>
          <p:cNvSpPr/>
          <p:nvPr/>
        </p:nvSpPr>
        <p:spPr>
          <a:xfrm>
            <a:off x="1696468" y="2375673"/>
            <a:ext cx="4399531" cy="461665"/>
          </a:xfrm>
          <a:prstGeom prst="rect">
            <a:avLst/>
          </a:prstGeom>
        </p:spPr>
        <p:txBody>
          <a:bodyPr wrap="square">
            <a:spAutoFit/>
          </a:bodyPr>
          <a:lstStyle/>
          <a:p>
            <a:r>
              <a:rPr lang="en-US" altLang="zh-CN" sz="2400" b="1" dirty="0">
                <a:solidFill>
                  <a:srgbClr val="0000FF"/>
                </a:solidFill>
                <a:cs typeface="+mn-ea"/>
                <a:sym typeface="+mn-lt"/>
              </a:rPr>
              <a:t>6.2 </a:t>
            </a:r>
            <a:r>
              <a:rPr lang="zh-CN" altLang="en-US" sz="2400" b="1" dirty="0">
                <a:solidFill>
                  <a:srgbClr val="0000FF"/>
                </a:solidFill>
                <a:cs typeface="+mn-ea"/>
                <a:sym typeface="+mn-lt"/>
              </a:rPr>
              <a:t>请求分页存储管理方式</a:t>
            </a:r>
            <a:endParaRPr lang="en-US" altLang="zh-CN" sz="2400" b="1" dirty="0">
              <a:solidFill>
                <a:srgbClr val="0000FF"/>
              </a:solidFill>
              <a:cs typeface="+mn-ea"/>
              <a:sym typeface="+mn-lt"/>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cs typeface="+mn-ea"/>
                <a:sym typeface="+mn-lt"/>
              </a:rPr>
              <a:t>6.3 </a:t>
            </a:r>
            <a:r>
              <a:rPr lang="zh-CN" altLang="en-US" sz="2400" dirty="0">
                <a:cs typeface="+mn-ea"/>
                <a:sym typeface="+mn-lt"/>
              </a:rPr>
              <a:t>页面置换算法</a:t>
            </a:r>
            <a:endParaRPr lang="en-US" altLang="zh-CN" sz="2400" dirty="0">
              <a:cs typeface="+mn-ea"/>
              <a:sym typeface="+mn-lt"/>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cs typeface="+mn-ea"/>
                <a:sym typeface="+mn-lt"/>
              </a:rPr>
              <a:t>6.4 </a:t>
            </a:r>
            <a:r>
              <a:rPr lang="zh-CN" altLang="en-US" sz="2400" dirty="0">
                <a:cs typeface="+mn-ea"/>
                <a:sym typeface="+mn-lt"/>
              </a:rPr>
              <a:t>抖动与工作集</a:t>
            </a:r>
            <a:endParaRPr lang="zh-CN" altLang="en-US" sz="2400" dirty="0">
              <a:cs typeface="+mn-ea"/>
              <a:sym typeface="+mn-lt"/>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solidFill>
                  <a:schemeClr val="bg1">
                    <a:lumMod val="75000"/>
                  </a:schemeClr>
                </a:solidFill>
                <a:cs typeface="+mn-ea"/>
                <a:sym typeface="+mn-lt"/>
              </a:rPr>
              <a:t>6.5 </a:t>
            </a:r>
            <a:r>
              <a:rPr lang="zh-CN" altLang="en-US" sz="2400" dirty="0">
                <a:solidFill>
                  <a:schemeClr val="bg1">
                    <a:lumMod val="75000"/>
                  </a:schemeClr>
                </a:solidFill>
                <a:cs typeface="+mn-ea"/>
                <a:sym typeface="+mn-lt"/>
              </a:rPr>
              <a:t>请求分段存储管理方式</a:t>
            </a:r>
            <a:endParaRPr lang="zh-CN" altLang="en-US" sz="2400" dirty="0">
              <a:solidFill>
                <a:schemeClr val="bg1">
                  <a:lumMod val="75000"/>
                </a:schemeClr>
              </a:solidFill>
              <a:cs typeface="+mn-ea"/>
              <a:sym typeface="+mn-lt"/>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solidFill>
                  <a:schemeClr val="bg1">
                    <a:lumMod val="75000"/>
                  </a:schemeClr>
                </a:solidFill>
                <a:cs typeface="+mn-ea"/>
                <a:sym typeface="+mn-lt"/>
              </a:rPr>
              <a:t>6.6 </a:t>
            </a:r>
            <a:r>
              <a:rPr lang="zh-CN" altLang="en-US" sz="2400" dirty="0">
                <a:solidFill>
                  <a:schemeClr val="bg1">
                    <a:lumMod val="75000"/>
                  </a:schemeClr>
                </a:solidFill>
                <a:cs typeface="+mn-ea"/>
                <a:sym typeface="+mn-lt"/>
              </a:rPr>
              <a:t>虚拟存储器实现实例</a:t>
            </a:r>
            <a:endParaRPr lang="zh-CN" altLang="en-US" sz="2400" dirty="0">
              <a:solidFill>
                <a:schemeClr val="bg1">
                  <a:lumMod val="75000"/>
                </a:schemeClr>
              </a:solidFill>
              <a:cs typeface="+mn-ea"/>
              <a:sym typeface="+mn-lt"/>
            </a:endParaRPr>
          </a:p>
        </p:txBody>
      </p:sp>
      <p:sp>
        <p:nvSpPr>
          <p:cNvPr id="3" name="矩形 2"/>
          <p:cNvSpPr/>
          <p:nvPr/>
        </p:nvSpPr>
        <p:spPr>
          <a:xfrm>
            <a:off x="7395099" y="2386337"/>
            <a:ext cx="3801041" cy="646331"/>
          </a:xfrm>
          <a:prstGeom prst="rect">
            <a:avLst/>
          </a:prstGeom>
        </p:spPr>
        <p:txBody>
          <a:bodyPr wrap="none">
            <a:spAutoFit/>
          </a:bodyPr>
          <a:lstStyle/>
          <a:p>
            <a:r>
              <a:rPr lang="zh-CN" altLang="en-US" sz="3600" dirty="0">
                <a:solidFill>
                  <a:srgbClr val="000000"/>
                </a:solidFill>
                <a:cs typeface="+mn-ea"/>
                <a:sym typeface="+mn-lt"/>
              </a:rPr>
              <a:t>第</a:t>
            </a:r>
            <a:r>
              <a:rPr lang="en-US" altLang="zh-CN" sz="3600" dirty="0">
                <a:solidFill>
                  <a:srgbClr val="000000"/>
                </a:solidFill>
                <a:cs typeface="+mn-ea"/>
                <a:sym typeface="+mn-lt"/>
              </a:rPr>
              <a:t>6</a:t>
            </a:r>
            <a:r>
              <a:rPr lang="zh-CN" altLang="en-US" sz="3600" dirty="0">
                <a:solidFill>
                  <a:srgbClr val="000000"/>
                </a:solidFill>
                <a:cs typeface="+mn-ea"/>
                <a:sym typeface="+mn-lt"/>
              </a:rPr>
              <a:t>章 虚拟存储器</a:t>
            </a:r>
            <a:endParaRPr lang="zh-CN" altLang="en-US" sz="3600" dirty="0">
              <a:cs typeface="+mn-ea"/>
              <a:sym typeface="+mn-lt"/>
            </a:endParaRPr>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pPr algn="l">
              <a:buClrTx/>
              <a:buSzTx/>
              <a:buFontTx/>
            </a:pPr>
            <a:r>
              <a:rPr lang="zh-CN" altLang="en-US" sz="2800" b="1" dirty="0">
                <a:solidFill>
                  <a:schemeClr val="bg1"/>
                </a:solidFill>
                <a:cs typeface="+mn-ea"/>
                <a:sym typeface="+mn-lt"/>
              </a:rPr>
              <a:t>请求分页存储管理</a:t>
            </a:r>
            <a:r>
              <a:rPr lang="en-US" altLang="zh-CN" sz="2800" b="1" dirty="0">
                <a:solidFill>
                  <a:schemeClr val="bg1"/>
                </a:solidFill>
                <a:cs typeface="+mn-ea"/>
                <a:sym typeface="+mn-lt"/>
              </a:rPr>
              <a:t>——</a:t>
            </a:r>
            <a:r>
              <a:rPr lang="zh-CN" altLang="en-US" sz="2800" b="1" dirty="0">
                <a:solidFill>
                  <a:schemeClr val="bg1"/>
                </a:solidFill>
                <a:cs typeface="+mn-ea"/>
                <a:sym typeface="+mn-lt"/>
              </a:rPr>
              <a:t>硬件支持</a:t>
            </a:r>
            <a:endParaRPr lang="zh-CN" altLang="en-US" sz="2800" b="1" dirty="0">
              <a:solidFill>
                <a:schemeClr val="bg1"/>
              </a:solidFill>
              <a:cs typeface="+mn-ea"/>
              <a:sym typeface="+mn-lt"/>
            </a:endParaRPr>
          </a:p>
        </p:txBody>
      </p:sp>
      <p:sp>
        <p:nvSpPr>
          <p:cNvPr id="224" name="îs1iďé"/>
          <p:cNvSpPr/>
          <p:nvPr/>
        </p:nvSpPr>
        <p:spPr>
          <a:xfrm>
            <a:off x="1524635" y="2252345"/>
            <a:ext cx="10316210" cy="1904365"/>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200" dirty="0">
                <a:cs typeface="+mn-ea"/>
                <a:sym typeface="+mn-lt"/>
              </a:rPr>
              <a:t>状态位</a:t>
            </a:r>
            <a:r>
              <a:rPr lang="en-US" altLang="zh-CN" sz="2200" dirty="0">
                <a:cs typeface="+mn-ea"/>
                <a:sym typeface="+mn-lt"/>
              </a:rPr>
              <a:t>P</a:t>
            </a:r>
            <a:r>
              <a:rPr lang="zh-CN" altLang="en-US" sz="2200" dirty="0">
                <a:cs typeface="+mn-ea"/>
                <a:sym typeface="+mn-lt"/>
              </a:rPr>
              <a:t>：指示该页是否在内存</a:t>
            </a:r>
            <a:endParaRPr lang="zh-CN" altLang="en-US" sz="2200" dirty="0">
              <a:cs typeface="+mn-ea"/>
              <a:sym typeface="+mn-lt"/>
            </a:endParaRPr>
          </a:p>
          <a:p>
            <a:pPr marL="342900" indent="-342900">
              <a:lnSpc>
                <a:spcPct val="120000"/>
              </a:lnSpc>
              <a:spcBef>
                <a:spcPts val="600"/>
              </a:spcBef>
              <a:buClr>
                <a:srgbClr val="FF0000"/>
              </a:buClr>
              <a:buFont typeface="Wingdings" panose="05000000000000000000" pitchFamily="2" charset="2"/>
              <a:buChar char="Ø"/>
            </a:pPr>
            <a:r>
              <a:rPr lang="zh-CN" altLang="en-US" sz="2200" dirty="0">
                <a:cs typeface="+mn-ea"/>
                <a:sym typeface="+mn-lt"/>
              </a:rPr>
              <a:t>访问字段</a:t>
            </a:r>
            <a:r>
              <a:rPr lang="en-US" altLang="zh-CN" sz="2200" dirty="0">
                <a:cs typeface="+mn-ea"/>
                <a:sym typeface="+mn-lt"/>
              </a:rPr>
              <a:t>A</a:t>
            </a:r>
            <a:r>
              <a:rPr lang="zh-CN" altLang="en-US" sz="2200" dirty="0">
                <a:cs typeface="+mn-ea"/>
                <a:sym typeface="+mn-lt"/>
              </a:rPr>
              <a:t>：记录该页在一段时间内被访问的次数或记录本页最近多久未被访问</a:t>
            </a:r>
            <a:endParaRPr lang="zh-CN" altLang="en-US" sz="2200" dirty="0">
              <a:cs typeface="+mn-ea"/>
              <a:sym typeface="+mn-lt"/>
            </a:endParaRPr>
          </a:p>
          <a:p>
            <a:pPr marL="342900" indent="-342900">
              <a:lnSpc>
                <a:spcPct val="120000"/>
              </a:lnSpc>
              <a:spcBef>
                <a:spcPts val="600"/>
              </a:spcBef>
              <a:buClr>
                <a:srgbClr val="FF0000"/>
              </a:buClr>
              <a:buFont typeface="Wingdings" panose="05000000000000000000" pitchFamily="2" charset="2"/>
              <a:buChar char="Ø"/>
            </a:pPr>
            <a:r>
              <a:rPr lang="zh-CN" altLang="en-US" sz="2200" dirty="0">
                <a:cs typeface="+mn-ea"/>
                <a:sym typeface="+mn-lt"/>
              </a:rPr>
              <a:t>修改位</a:t>
            </a:r>
            <a:r>
              <a:rPr lang="en-US" altLang="zh-CN" sz="2200" dirty="0">
                <a:cs typeface="+mn-ea"/>
                <a:sym typeface="+mn-lt"/>
              </a:rPr>
              <a:t>M</a:t>
            </a:r>
            <a:r>
              <a:rPr lang="zh-CN" altLang="en-US" sz="2200" dirty="0">
                <a:cs typeface="+mn-ea"/>
                <a:sym typeface="+mn-lt"/>
              </a:rPr>
              <a:t>：也称脏位，标志该页是否被修改过，以确定置换时是否写回外</a:t>
            </a:r>
            <a:r>
              <a:rPr lang="zh-CN" altLang="en-US" sz="2200" dirty="0">
                <a:cs typeface="+mn-ea"/>
                <a:sym typeface="+mn-lt"/>
              </a:rPr>
              <a:t>存</a:t>
            </a:r>
            <a:endParaRPr lang="zh-CN" altLang="en-US" sz="2200" dirty="0">
              <a:cs typeface="+mn-ea"/>
              <a:sym typeface="+mn-lt"/>
            </a:endParaRPr>
          </a:p>
          <a:p>
            <a:pPr marL="342900" indent="-342900">
              <a:lnSpc>
                <a:spcPct val="120000"/>
              </a:lnSpc>
              <a:spcBef>
                <a:spcPts val="600"/>
              </a:spcBef>
              <a:buClr>
                <a:srgbClr val="FF0000"/>
              </a:buClr>
              <a:buFont typeface="Wingdings" panose="05000000000000000000" pitchFamily="2" charset="2"/>
              <a:buChar char="Ø"/>
            </a:pPr>
            <a:r>
              <a:rPr lang="zh-CN" altLang="en-US" sz="2200" dirty="0">
                <a:cs typeface="+mn-ea"/>
                <a:sym typeface="+mn-lt"/>
              </a:rPr>
              <a:t>外存地址：指示该页在外存中的地址</a:t>
            </a:r>
            <a:endParaRPr lang="zh-CN" altLang="en-US" sz="2200" dirty="0">
              <a:cs typeface="+mn-ea"/>
              <a:sym typeface="+mn-lt"/>
            </a:endParaRPr>
          </a:p>
        </p:txBody>
      </p:sp>
      <p:sp>
        <p:nvSpPr>
          <p:cNvPr id="225" name="íšḻíḑê"/>
          <p:cNvSpPr/>
          <p:nvPr/>
        </p:nvSpPr>
        <p:spPr>
          <a:xfrm>
            <a:off x="1524796" y="1118400"/>
            <a:ext cx="3696051" cy="405747"/>
          </a:xfrm>
          <a:prstGeom prst="rect">
            <a:avLst/>
          </a:prstGeom>
          <a:noFill/>
          <a:ln>
            <a:noFill/>
          </a:ln>
        </p:spPr>
        <p:txBody>
          <a:bodyPr wrap="square" lIns="91440" tIns="45720" rIns="91440" bIns="45720" anchor="ctr" anchorCtr="0">
            <a:noAutofit/>
          </a:bodyPr>
          <a:lstStyle/>
          <a:p>
            <a:r>
              <a:rPr lang="zh-CN" altLang="en-US" sz="2400" dirty="0">
                <a:solidFill>
                  <a:srgbClr val="FF0000"/>
                </a:solidFill>
                <a:cs typeface="+mn-ea"/>
                <a:sym typeface="+mn-lt"/>
              </a:rPr>
              <a:t>请求页表机制</a:t>
            </a:r>
            <a:endParaRPr lang="zh-CN" altLang="en-US" sz="2400" dirty="0">
              <a:solidFill>
                <a:srgbClr val="FF0000"/>
              </a:solidFill>
              <a:cs typeface="+mn-ea"/>
              <a:sym typeface="+mn-lt"/>
            </a:endParaRPr>
          </a:p>
        </p:txBody>
      </p:sp>
      <p:sp>
        <p:nvSpPr>
          <p:cNvPr id="226" name="îSļiḓè"/>
          <p:cNvSpPr/>
          <p:nvPr/>
        </p:nvSpPr>
        <p:spPr>
          <a:xfrm>
            <a:off x="669843" y="114801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29" name="îṡḷíďe"/>
          <p:cNvSpPr/>
          <p:nvPr/>
        </p:nvSpPr>
        <p:spPr>
          <a:xfrm>
            <a:off x="853748" y="1302881"/>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graphicFrame>
        <p:nvGraphicFramePr>
          <p:cNvPr id="17" name="表格 16"/>
          <p:cNvGraphicFramePr>
            <a:graphicFrameLocks noGrp="1"/>
          </p:cNvGraphicFramePr>
          <p:nvPr/>
        </p:nvGraphicFramePr>
        <p:xfrm>
          <a:off x="1592513" y="1886856"/>
          <a:ext cx="9986557" cy="365760"/>
        </p:xfrm>
        <a:graphic>
          <a:graphicData uri="http://schemas.openxmlformats.org/drawingml/2006/table">
            <a:tbl>
              <a:tblPr>
                <a:tableStyleId>{5C22544A-7EE6-4342-B048-85BDC9FD1C3A}</a:tableStyleId>
              </a:tblPr>
              <a:tblGrid>
                <a:gridCol w="1245745"/>
                <a:gridCol w="1848028"/>
                <a:gridCol w="1848028"/>
                <a:gridCol w="1848028"/>
                <a:gridCol w="1549461"/>
                <a:gridCol w="1647267"/>
              </a:tblGrid>
              <a:tr h="362862">
                <a:tc>
                  <a:txBody>
                    <a:bodyPr/>
                    <a:lstStyle/>
                    <a:p>
                      <a:pPr indent="0" algn="ctr" fontAlgn="auto">
                        <a:spcAft>
                          <a:spcPts val="0"/>
                        </a:spcAft>
                      </a:pPr>
                      <a:r>
                        <a:rPr lang="zh-CN" sz="2400" kern="1050" dirty="0">
                          <a:solidFill>
                            <a:schemeClr val="bg1"/>
                          </a:solidFill>
                          <a:effectLst/>
                          <a:latin typeface="+mn-lt"/>
                          <a:ea typeface="+mn-ea"/>
                          <a:cs typeface="+mn-ea"/>
                          <a:sym typeface="+mn-lt"/>
                        </a:rPr>
                        <a:t>页号</a:t>
                      </a:r>
                      <a:endParaRPr lang="zh-CN" sz="2400" kern="1050" dirty="0">
                        <a:solidFill>
                          <a:schemeClr val="bg1"/>
                        </a:solidFill>
                        <a:effectLst/>
                        <a:latin typeface="+mn-lt"/>
                        <a:ea typeface="+mn-ea"/>
                        <a:cs typeface="+mn-ea"/>
                        <a:sym typeface="+mn-lt"/>
                      </a:endParaRPr>
                    </a:p>
                  </a:txBody>
                  <a:tcPr marL="68580" marR="68580" marT="0" marB="0" anchor="ctr">
                    <a:solidFill>
                      <a:srgbClr val="FFC000"/>
                    </a:solidFill>
                  </a:tcPr>
                </a:tc>
                <a:tc>
                  <a:txBody>
                    <a:bodyPr/>
                    <a:lstStyle/>
                    <a:p>
                      <a:pPr indent="0" algn="ctr" fontAlgn="auto">
                        <a:spcAft>
                          <a:spcPts val="0"/>
                        </a:spcAft>
                      </a:pPr>
                      <a:r>
                        <a:rPr lang="zh-CN" sz="2400" kern="1050" dirty="0">
                          <a:solidFill>
                            <a:schemeClr val="bg1"/>
                          </a:solidFill>
                          <a:effectLst/>
                          <a:latin typeface="+mn-lt"/>
                          <a:ea typeface="+mn-ea"/>
                          <a:cs typeface="+mn-ea"/>
                          <a:sym typeface="+mn-lt"/>
                        </a:rPr>
                        <a:t>物理块号</a:t>
                      </a:r>
                      <a:endParaRPr lang="zh-CN" sz="2400" kern="1050" dirty="0">
                        <a:solidFill>
                          <a:schemeClr val="bg1"/>
                        </a:solidFill>
                        <a:effectLst/>
                        <a:latin typeface="+mn-lt"/>
                        <a:ea typeface="+mn-ea"/>
                        <a:cs typeface="+mn-ea"/>
                        <a:sym typeface="+mn-lt"/>
                      </a:endParaRPr>
                    </a:p>
                  </a:txBody>
                  <a:tcPr marL="68580" marR="68580" marT="0" marB="0" anchor="ctr">
                    <a:solidFill>
                      <a:srgbClr val="FFC000"/>
                    </a:solidFill>
                  </a:tcPr>
                </a:tc>
                <a:tc>
                  <a:txBody>
                    <a:bodyPr/>
                    <a:lstStyle/>
                    <a:p>
                      <a:pPr indent="0" algn="ctr" fontAlgn="auto">
                        <a:spcAft>
                          <a:spcPts val="0"/>
                        </a:spcAft>
                      </a:pPr>
                      <a:r>
                        <a:rPr lang="zh-CN" sz="2400" kern="1050" dirty="0">
                          <a:solidFill>
                            <a:schemeClr val="bg1"/>
                          </a:solidFill>
                          <a:effectLst/>
                          <a:latin typeface="+mn-lt"/>
                          <a:ea typeface="+mn-ea"/>
                          <a:cs typeface="+mn-ea"/>
                          <a:sym typeface="+mn-lt"/>
                        </a:rPr>
                        <a:t>状态位</a:t>
                      </a:r>
                      <a:r>
                        <a:rPr lang="en-US" sz="2400" kern="1050" dirty="0">
                          <a:solidFill>
                            <a:schemeClr val="bg1"/>
                          </a:solidFill>
                          <a:effectLst/>
                          <a:latin typeface="+mn-lt"/>
                          <a:ea typeface="+mn-ea"/>
                          <a:cs typeface="+mn-ea"/>
                          <a:sym typeface="+mn-lt"/>
                        </a:rPr>
                        <a:t>P</a:t>
                      </a:r>
                      <a:endParaRPr lang="zh-CN" sz="2400" kern="1050" dirty="0">
                        <a:solidFill>
                          <a:schemeClr val="bg1"/>
                        </a:solidFill>
                        <a:effectLst/>
                        <a:latin typeface="+mn-lt"/>
                        <a:ea typeface="+mn-ea"/>
                        <a:cs typeface="+mn-ea"/>
                        <a:sym typeface="+mn-lt"/>
                      </a:endParaRPr>
                    </a:p>
                  </a:txBody>
                  <a:tcPr marL="68580" marR="68580" marT="0" marB="0" anchor="ctr">
                    <a:solidFill>
                      <a:srgbClr val="FFC000"/>
                    </a:solidFill>
                  </a:tcPr>
                </a:tc>
                <a:tc>
                  <a:txBody>
                    <a:bodyPr/>
                    <a:lstStyle/>
                    <a:p>
                      <a:pPr indent="0" algn="ctr" fontAlgn="auto">
                        <a:spcAft>
                          <a:spcPts val="0"/>
                        </a:spcAft>
                      </a:pPr>
                      <a:r>
                        <a:rPr lang="zh-CN" sz="2400" kern="1050" dirty="0">
                          <a:solidFill>
                            <a:schemeClr val="bg1"/>
                          </a:solidFill>
                          <a:effectLst/>
                          <a:latin typeface="+mn-lt"/>
                          <a:ea typeface="+mn-ea"/>
                          <a:cs typeface="+mn-ea"/>
                          <a:sym typeface="+mn-lt"/>
                        </a:rPr>
                        <a:t>访问字段</a:t>
                      </a:r>
                      <a:r>
                        <a:rPr lang="en-US" sz="2400" kern="1050" dirty="0">
                          <a:solidFill>
                            <a:schemeClr val="bg1"/>
                          </a:solidFill>
                          <a:effectLst/>
                          <a:latin typeface="+mn-lt"/>
                          <a:ea typeface="+mn-ea"/>
                          <a:cs typeface="+mn-ea"/>
                          <a:sym typeface="+mn-lt"/>
                        </a:rPr>
                        <a:t>A</a:t>
                      </a:r>
                      <a:endParaRPr lang="zh-CN" sz="2400" kern="1050" dirty="0">
                        <a:solidFill>
                          <a:schemeClr val="bg1"/>
                        </a:solidFill>
                        <a:effectLst/>
                        <a:latin typeface="+mn-lt"/>
                        <a:ea typeface="+mn-ea"/>
                        <a:cs typeface="+mn-ea"/>
                        <a:sym typeface="+mn-lt"/>
                      </a:endParaRPr>
                    </a:p>
                  </a:txBody>
                  <a:tcPr marL="68580" marR="68580" marT="0" marB="0" anchor="ctr">
                    <a:solidFill>
                      <a:srgbClr val="FFC000"/>
                    </a:solidFill>
                  </a:tcPr>
                </a:tc>
                <a:tc>
                  <a:txBody>
                    <a:bodyPr/>
                    <a:lstStyle/>
                    <a:p>
                      <a:pPr indent="0" algn="ctr" fontAlgn="auto">
                        <a:spcAft>
                          <a:spcPts val="0"/>
                        </a:spcAft>
                      </a:pPr>
                      <a:r>
                        <a:rPr lang="zh-CN" sz="2400" kern="1050" dirty="0">
                          <a:solidFill>
                            <a:schemeClr val="bg1"/>
                          </a:solidFill>
                          <a:effectLst/>
                          <a:latin typeface="+mn-lt"/>
                          <a:ea typeface="+mn-ea"/>
                          <a:cs typeface="+mn-ea"/>
                          <a:sym typeface="+mn-lt"/>
                        </a:rPr>
                        <a:t>修改位</a:t>
                      </a:r>
                      <a:r>
                        <a:rPr lang="en-US" sz="2400" kern="1050" dirty="0">
                          <a:solidFill>
                            <a:schemeClr val="bg1"/>
                          </a:solidFill>
                          <a:effectLst/>
                          <a:latin typeface="+mn-lt"/>
                          <a:ea typeface="+mn-ea"/>
                          <a:cs typeface="+mn-ea"/>
                          <a:sym typeface="+mn-lt"/>
                        </a:rPr>
                        <a:t>M</a:t>
                      </a:r>
                      <a:endParaRPr lang="zh-CN" sz="2400" kern="1050" dirty="0">
                        <a:solidFill>
                          <a:schemeClr val="bg1"/>
                        </a:solidFill>
                        <a:effectLst/>
                        <a:latin typeface="+mn-lt"/>
                        <a:ea typeface="+mn-ea"/>
                        <a:cs typeface="+mn-ea"/>
                        <a:sym typeface="+mn-lt"/>
                      </a:endParaRPr>
                    </a:p>
                  </a:txBody>
                  <a:tcPr marL="68580" marR="68580" marT="0" marB="0" anchor="ctr">
                    <a:solidFill>
                      <a:srgbClr val="FFC000"/>
                    </a:solidFill>
                  </a:tcPr>
                </a:tc>
                <a:tc>
                  <a:txBody>
                    <a:bodyPr/>
                    <a:lstStyle/>
                    <a:p>
                      <a:pPr indent="0" algn="ctr" fontAlgn="auto">
                        <a:spcAft>
                          <a:spcPts val="0"/>
                        </a:spcAft>
                      </a:pPr>
                      <a:r>
                        <a:rPr lang="zh-CN" sz="2400" kern="1050" dirty="0">
                          <a:solidFill>
                            <a:schemeClr val="bg1"/>
                          </a:solidFill>
                          <a:effectLst/>
                          <a:latin typeface="+mn-lt"/>
                          <a:ea typeface="+mn-ea"/>
                          <a:cs typeface="+mn-ea"/>
                          <a:sym typeface="+mn-lt"/>
                        </a:rPr>
                        <a:t>外存地址</a:t>
                      </a:r>
                      <a:endParaRPr lang="zh-CN" sz="2400" kern="1050" dirty="0">
                        <a:solidFill>
                          <a:schemeClr val="bg1"/>
                        </a:solidFill>
                        <a:effectLst/>
                        <a:latin typeface="+mn-lt"/>
                        <a:ea typeface="+mn-ea"/>
                        <a:cs typeface="+mn-ea"/>
                        <a:sym typeface="+mn-lt"/>
                      </a:endParaRPr>
                    </a:p>
                  </a:txBody>
                  <a:tcPr marL="68580" marR="68580" marT="0" marB="0" anchor="ctr">
                    <a:solidFill>
                      <a:srgbClr val="FFC000"/>
                    </a:solidFill>
                  </a:tcPr>
                </a:tc>
              </a:tr>
            </a:tbl>
          </a:graphicData>
        </a:graphic>
      </p:graphicFrame>
      <p:sp>
        <p:nvSpPr>
          <p:cNvPr id="2" name="íšḻíḑê"/>
          <p:cNvSpPr/>
          <p:nvPr/>
        </p:nvSpPr>
        <p:spPr>
          <a:xfrm>
            <a:off x="1524635" y="4293870"/>
            <a:ext cx="3919855" cy="1656080"/>
          </a:xfrm>
          <a:prstGeom prst="rect">
            <a:avLst/>
          </a:prstGeom>
          <a:solidFill>
            <a:schemeClr val="accent1">
              <a:lumMod val="40000"/>
              <a:lumOff val="60000"/>
            </a:schemeClr>
          </a:solidFill>
          <a:ln>
            <a:noFill/>
          </a:ln>
        </p:spPr>
        <p:txBody>
          <a:bodyPr wrap="square" lIns="91440" tIns="45720" rIns="91440" bIns="45720" anchor="ctr" anchorCtr="0">
            <a:noAutofit/>
          </a:bodyPr>
          <a:p>
            <a:r>
              <a:rPr lang="zh-CN" altLang="en-US" sz="2400" dirty="0">
                <a:solidFill>
                  <a:schemeClr val="tx1"/>
                </a:solidFill>
                <a:cs typeface="+mn-ea"/>
                <a:sym typeface="+mn-lt"/>
              </a:rPr>
              <a:t>状态位和外存地址是支持请求</a:t>
            </a:r>
            <a:r>
              <a:rPr lang="zh-CN" altLang="en-US" sz="2400" dirty="0">
                <a:solidFill>
                  <a:srgbClr val="FF0000"/>
                </a:solidFill>
                <a:cs typeface="+mn-ea"/>
                <a:sym typeface="+mn-lt"/>
              </a:rPr>
              <a:t>调入</a:t>
            </a:r>
            <a:r>
              <a:rPr lang="zh-CN" altLang="en-US" sz="2400" dirty="0">
                <a:solidFill>
                  <a:schemeClr val="tx1"/>
                </a:solidFill>
                <a:cs typeface="+mn-ea"/>
                <a:sym typeface="+mn-lt"/>
              </a:rPr>
              <a:t>功能的，必须要有</a:t>
            </a:r>
            <a:endParaRPr lang="zh-CN" altLang="en-US" sz="2400" dirty="0">
              <a:solidFill>
                <a:schemeClr val="tx1"/>
              </a:solidFill>
              <a:cs typeface="+mn-ea"/>
              <a:sym typeface="+mn-lt"/>
            </a:endParaRPr>
          </a:p>
        </p:txBody>
      </p:sp>
      <p:sp>
        <p:nvSpPr>
          <p:cNvPr id="3" name="íšḻíḑê"/>
          <p:cNvSpPr/>
          <p:nvPr/>
        </p:nvSpPr>
        <p:spPr>
          <a:xfrm>
            <a:off x="6990080" y="4293870"/>
            <a:ext cx="3808730" cy="1656715"/>
          </a:xfrm>
          <a:prstGeom prst="rect">
            <a:avLst/>
          </a:prstGeom>
          <a:solidFill>
            <a:schemeClr val="accent1">
              <a:lumMod val="40000"/>
              <a:lumOff val="60000"/>
            </a:schemeClr>
          </a:solidFill>
          <a:ln>
            <a:noFill/>
          </a:ln>
        </p:spPr>
        <p:txBody>
          <a:bodyPr wrap="square" lIns="91440" tIns="45720" rIns="91440" bIns="45720" anchor="ctr" anchorCtr="0">
            <a:noAutofit/>
          </a:bodyPr>
          <a:p>
            <a:r>
              <a:rPr lang="zh-CN" altLang="en-US" sz="2400" dirty="0">
                <a:solidFill>
                  <a:schemeClr val="tx1"/>
                </a:solidFill>
                <a:cs typeface="+mn-ea"/>
                <a:sym typeface="+mn-lt"/>
              </a:rPr>
              <a:t>修改位和访问字段位具体根据写回策略和</a:t>
            </a:r>
            <a:r>
              <a:rPr lang="zh-CN" altLang="en-US" sz="2400" dirty="0">
                <a:solidFill>
                  <a:srgbClr val="FF0000"/>
                </a:solidFill>
                <a:cs typeface="+mn-ea"/>
                <a:sym typeface="+mn-lt"/>
              </a:rPr>
              <a:t>置换</a:t>
            </a:r>
            <a:r>
              <a:rPr lang="zh-CN" altLang="en-US" sz="2400" dirty="0">
                <a:solidFill>
                  <a:schemeClr val="tx1"/>
                </a:solidFill>
                <a:cs typeface="+mn-ea"/>
                <a:sym typeface="+mn-lt"/>
              </a:rPr>
              <a:t>策略决定是否需要</a:t>
            </a:r>
            <a:endParaRPr lang="zh-CN" altLang="en-US" sz="2400" dirty="0">
              <a:solidFill>
                <a:schemeClr val="tx1"/>
              </a:solidFill>
              <a:cs typeface="+mn-ea"/>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pPr algn="l">
              <a:buClrTx/>
              <a:buSzTx/>
              <a:buFontTx/>
            </a:pPr>
            <a:r>
              <a:rPr lang="zh-CN" altLang="en-US" sz="2800" b="1" dirty="0">
                <a:solidFill>
                  <a:schemeClr val="bg1"/>
                </a:solidFill>
                <a:cs typeface="+mn-ea"/>
                <a:sym typeface="+mn-lt"/>
              </a:rPr>
              <a:t>请求分页存储管理</a:t>
            </a:r>
            <a:r>
              <a:rPr lang="en-US" altLang="zh-CN" sz="2800" b="1" dirty="0">
                <a:solidFill>
                  <a:schemeClr val="bg1"/>
                </a:solidFill>
                <a:cs typeface="+mn-ea"/>
                <a:sym typeface="+mn-lt"/>
              </a:rPr>
              <a:t>——</a:t>
            </a:r>
            <a:r>
              <a:rPr lang="zh-CN" altLang="en-US" sz="2800" b="1" dirty="0">
                <a:solidFill>
                  <a:schemeClr val="bg1"/>
                </a:solidFill>
                <a:cs typeface="+mn-ea"/>
                <a:sym typeface="+mn-lt"/>
              </a:rPr>
              <a:t>硬件支持</a:t>
            </a:r>
            <a:endParaRPr lang="zh-CN" altLang="en-US" sz="2800" b="1" dirty="0">
              <a:solidFill>
                <a:schemeClr val="bg1"/>
              </a:solidFill>
              <a:cs typeface="+mn-ea"/>
              <a:sym typeface="+mn-lt"/>
            </a:endParaRPr>
          </a:p>
        </p:txBody>
      </p:sp>
      <p:sp>
        <p:nvSpPr>
          <p:cNvPr id="220" name="íšḻîḋè"/>
          <p:cNvSpPr/>
          <p:nvPr/>
        </p:nvSpPr>
        <p:spPr>
          <a:xfrm>
            <a:off x="1614170" y="1717675"/>
            <a:ext cx="7075170" cy="89598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cs typeface="+mn-ea"/>
                <a:sym typeface="+mn-lt"/>
              </a:rPr>
              <a:t>在指令执行期间产生和处理中断信号</a:t>
            </a:r>
            <a:endParaRPr lang="zh-CN" altLang="en-US" sz="2200" dirty="0">
              <a:cs typeface="+mn-ea"/>
              <a:sym typeface="+mn-lt"/>
            </a:endParaRPr>
          </a:p>
          <a:p>
            <a:pPr marL="342900" indent="-342900">
              <a:lnSpc>
                <a:spcPct val="120000"/>
              </a:lnSpc>
              <a:buClr>
                <a:srgbClr val="FF0000"/>
              </a:buClr>
              <a:buFont typeface="Wingdings" panose="05000000000000000000" pitchFamily="2" charset="2"/>
              <a:buChar char="Ø"/>
            </a:pPr>
            <a:r>
              <a:rPr lang="zh-CN" altLang="en-US" sz="2200" dirty="0">
                <a:cs typeface="+mn-ea"/>
                <a:sym typeface="+mn-lt"/>
              </a:rPr>
              <a:t>一条指令在执行期间，可能产生多次缺页中断</a:t>
            </a:r>
            <a:endParaRPr lang="zh-CN" altLang="en-US" sz="2200" dirty="0">
              <a:cs typeface="+mn-ea"/>
              <a:sym typeface="+mn-lt"/>
            </a:endParaRPr>
          </a:p>
        </p:txBody>
      </p:sp>
      <p:sp>
        <p:nvSpPr>
          <p:cNvPr id="221" name="i$lîďê"/>
          <p:cNvSpPr/>
          <p:nvPr/>
        </p:nvSpPr>
        <p:spPr>
          <a:xfrm>
            <a:off x="1669575" y="1243343"/>
            <a:ext cx="3696051" cy="392877"/>
          </a:xfrm>
          <a:prstGeom prst="rect">
            <a:avLst/>
          </a:prstGeom>
          <a:noFill/>
          <a:ln>
            <a:noFill/>
          </a:ln>
        </p:spPr>
        <p:txBody>
          <a:bodyPr wrap="square" lIns="91440" tIns="45720" rIns="91440" bIns="45720" anchor="ctr" anchorCtr="0">
            <a:noAutofit/>
          </a:bodyPr>
          <a:lstStyle/>
          <a:p>
            <a:r>
              <a:rPr lang="zh-CN" altLang="en-US" sz="2400" dirty="0">
                <a:cs typeface="+mn-ea"/>
                <a:sym typeface="+mn-lt"/>
              </a:rPr>
              <a:t>缺页中断机构</a:t>
            </a:r>
            <a:endParaRPr lang="zh-CN" altLang="en-US" sz="2400" dirty="0">
              <a:cs typeface="+mn-ea"/>
              <a:sym typeface="+mn-lt"/>
            </a:endParaRPr>
          </a:p>
        </p:txBody>
      </p:sp>
      <p:sp>
        <p:nvSpPr>
          <p:cNvPr id="228" name="îşļiḓè"/>
          <p:cNvSpPr/>
          <p:nvPr/>
        </p:nvSpPr>
        <p:spPr>
          <a:xfrm>
            <a:off x="986073" y="114281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30" name="íSlíḋe"/>
          <p:cNvSpPr/>
          <p:nvPr/>
        </p:nvSpPr>
        <p:spPr>
          <a:xfrm>
            <a:off x="1176327" y="1364834"/>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4" name="文本框 3"/>
          <p:cNvSpPr txBox="1"/>
          <p:nvPr/>
        </p:nvSpPr>
        <p:spPr>
          <a:xfrm>
            <a:off x="777875" y="3160395"/>
            <a:ext cx="10459085" cy="2416810"/>
          </a:xfrm>
          <a:prstGeom prst="rect">
            <a:avLst/>
          </a:prstGeom>
          <a:noFill/>
        </p:spPr>
        <p:txBody>
          <a:bodyPr wrap="square" rtlCol="0" anchor="t">
            <a:noAutofit/>
          </a:bodyPr>
          <a:p>
            <a:pPr marL="457200" indent="-457200">
              <a:lnSpc>
                <a:spcPct val="150000"/>
              </a:lnSpc>
              <a:buFont typeface="Wingdings" panose="05000000000000000000" charset="0"/>
              <a:buChar char="u"/>
            </a:pPr>
            <a:r>
              <a:rPr lang="zh-CN" altLang="en-US" sz="2800" b="1">
                <a:sym typeface="+mn-ea"/>
              </a:rPr>
              <a:t>一般中断</a:t>
            </a:r>
            <a:r>
              <a:rPr lang="zh-CN" altLang="en-US" sz="2800">
                <a:sym typeface="+mn-ea"/>
              </a:rPr>
              <a:t>会在指令执行周期结束后，才会去处理。</a:t>
            </a:r>
            <a:endParaRPr lang="zh-CN" altLang="en-US" sz="2800"/>
          </a:p>
          <a:p>
            <a:pPr marL="457200" indent="-457200">
              <a:buFont typeface="Wingdings" panose="05000000000000000000" charset="0"/>
              <a:buChar char="u"/>
            </a:pPr>
            <a:r>
              <a:rPr lang="zh-CN" altLang="en-US" sz="2800" b="1">
                <a:sym typeface="+mn-ea"/>
              </a:rPr>
              <a:t>缺页中断</a:t>
            </a:r>
            <a:r>
              <a:rPr lang="zh-CN" altLang="en-US" sz="2800">
                <a:sym typeface="+mn-ea"/>
              </a:rPr>
              <a:t>会立即去处理，否则指令将无法进行。</a:t>
            </a:r>
            <a:endParaRPr lang="zh-CN" altLang="en-US" sz="280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4044315" y="912495"/>
            <a:ext cx="7078345" cy="5330190"/>
          </a:xfrm>
          <a:prstGeom prst="rect">
            <a:avLst/>
          </a:prstGeom>
        </p:spPr>
      </p:pic>
      <p:sp>
        <p:nvSpPr>
          <p:cNvPr id="20" name="矩形 19"/>
          <p:cNvSpPr/>
          <p:nvPr/>
        </p:nvSpPr>
        <p:spPr>
          <a:xfrm>
            <a:off x="669925" y="78668"/>
            <a:ext cx="7026275" cy="521970"/>
          </a:xfrm>
          <a:prstGeom prst="rect">
            <a:avLst/>
          </a:prstGeom>
        </p:spPr>
        <p:txBody>
          <a:bodyPr wrap="square">
            <a:spAutoFit/>
          </a:bodyPr>
          <a:lstStyle/>
          <a:p>
            <a:pPr algn="l">
              <a:buClrTx/>
              <a:buSzTx/>
              <a:buFontTx/>
            </a:pPr>
            <a:r>
              <a:rPr lang="zh-CN" altLang="en-US" sz="2800" b="1" dirty="0">
                <a:solidFill>
                  <a:schemeClr val="bg1"/>
                </a:solidFill>
                <a:cs typeface="+mn-ea"/>
                <a:sym typeface="+mn-lt"/>
              </a:rPr>
              <a:t>请求分页存储管理</a:t>
            </a:r>
            <a:r>
              <a:rPr lang="en-US" altLang="zh-CN" sz="2800" b="1" dirty="0">
                <a:solidFill>
                  <a:schemeClr val="bg1"/>
                </a:solidFill>
                <a:cs typeface="+mn-ea"/>
                <a:sym typeface="+mn-lt"/>
              </a:rPr>
              <a:t>——</a:t>
            </a:r>
            <a:r>
              <a:rPr lang="zh-CN" altLang="en-US" sz="2800" b="1" dirty="0">
                <a:solidFill>
                  <a:schemeClr val="bg1"/>
                </a:solidFill>
                <a:cs typeface="+mn-ea"/>
                <a:sym typeface="+mn-lt"/>
              </a:rPr>
              <a:t>硬件支持</a:t>
            </a:r>
            <a:endParaRPr lang="zh-CN" altLang="en-US" sz="2800" b="1" dirty="0">
              <a:solidFill>
                <a:schemeClr val="bg1"/>
              </a:solidFill>
              <a:cs typeface="+mn-ea"/>
              <a:sym typeface="+mn-lt"/>
            </a:endParaRPr>
          </a:p>
        </p:txBody>
      </p:sp>
      <p:sp>
        <p:nvSpPr>
          <p:cNvPr id="231" name="ïśḷïḓe"/>
          <p:cNvSpPr/>
          <p:nvPr/>
        </p:nvSpPr>
        <p:spPr>
          <a:xfrm>
            <a:off x="991173" y="1096993"/>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6" name="文本框 5"/>
          <p:cNvSpPr txBox="1"/>
          <p:nvPr/>
        </p:nvSpPr>
        <p:spPr>
          <a:xfrm>
            <a:off x="476250" y="3102610"/>
            <a:ext cx="2478405" cy="2734945"/>
          </a:xfrm>
          <a:prstGeom prst="rect">
            <a:avLst/>
          </a:prstGeom>
          <a:noFill/>
          <a:ln w="63500" cmpd="thickThin">
            <a:solidFill>
              <a:srgbClr val="FF0000"/>
            </a:solidFill>
            <a:prstDash val="solid"/>
          </a:ln>
        </p:spPr>
        <p:txBody>
          <a:bodyPr wrap="square" rtlCol="0" anchor="t">
            <a:noAutofit/>
          </a:bodyPr>
          <a:p>
            <a:r>
              <a:rPr lang="zh-CN" altLang="en-US" sz="2200" b="1" dirty="0">
                <a:solidFill>
                  <a:srgbClr val="FF0000"/>
                </a:solidFill>
                <a:cs typeface="+mn-ea"/>
                <a:sym typeface="+mn-lt"/>
              </a:rPr>
              <a:t>学习建议</a:t>
            </a:r>
            <a:endParaRPr lang="zh-CN" altLang="en-US" sz="2200" b="1" dirty="0">
              <a:solidFill>
                <a:srgbClr val="FF0000"/>
              </a:solidFill>
              <a:cs typeface="+mn-ea"/>
              <a:sym typeface="+mn-lt"/>
            </a:endParaRPr>
          </a:p>
          <a:p>
            <a:r>
              <a:rPr lang="zh-CN" altLang="en-US" sz="2200" dirty="0">
                <a:solidFill>
                  <a:srgbClr val="FF0000"/>
                </a:solidFill>
                <a:cs typeface="+mn-ea"/>
                <a:sym typeface="+mn-lt"/>
              </a:rPr>
              <a:t>最好能独立画出该流程图。</a:t>
            </a:r>
            <a:endParaRPr lang="zh-CN" altLang="en-US" sz="2200" dirty="0">
              <a:solidFill>
                <a:srgbClr val="FF0000"/>
              </a:solidFill>
              <a:cs typeface="+mn-ea"/>
              <a:sym typeface="+mn-lt"/>
            </a:endParaRPr>
          </a:p>
          <a:p>
            <a:r>
              <a:rPr lang="zh-CN" altLang="en-US" sz="2200" dirty="0">
                <a:cs typeface="+mn-ea"/>
                <a:sym typeface="+mn-lt"/>
              </a:rPr>
              <a:t>对地址变换细节把握和综合大题都有较大的帮助</a:t>
            </a:r>
            <a:endParaRPr lang="zh-CN" altLang="en-US" sz="2200" dirty="0">
              <a:cs typeface="+mn-ea"/>
              <a:sym typeface="+mn-lt"/>
            </a:endParaRPr>
          </a:p>
        </p:txBody>
      </p:sp>
      <p:sp>
        <p:nvSpPr>
          <p:cNvPr id="2" name="文本框 1"/>
          <p:cNvSpPr txBox="1"/>
          <p:nvPr/>
        </p:nvSpPr>
        <p:spPr>
          <a:xfrm>
            <a:off x="567055" y="1172210"/>
            <a:ext cx="2296160" cy="1445260"/>
          </a:xfrm>
          <a:prstGeom prst="rect">
            <a:avLst/>
          </a:prstGeom>
          <a:solidFill>
            <a:schemeClr val="accent4">
              <a:lumMod val="20000"/>
              <a:lumOff val="80000"/>
            </a:schemeClr>
          </a:solidFill>
        </p:spPr>
        <p:txBody>
          <a:bodyPr wrap="square" rtlCol="0" anchor="t">
            <a:spAutoFit/>
          </a:bodyPr>
          <a:p>
            <a:r>
              <a:rPr lang="zh-CN" altLang="en-US" sz="2200" dirty="0">
                <a:cs typeface="+mn-ea"/>
                <a:sym typeface="+mn-lt"/>
              </a:rPr>
              <a:t>思考：有快表的前提下，地址转换最少和最多访问几次内存？</a:t>
            </a:r>
            <a:endParaRPr lang="zh-CN" altLang="en-US" sz="2200" dirty="0">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35585" y="469900"/>
            <a:ext cx="11721465" cy="3477260"/>
          </a:xfrm>
          <a:prstGeom prst="rect">
            <a:avLst/>
          </a:prstGeom>
          <a:noFill/>
        </p:spPr>
        <p:txBody>
          <a:bodyPr wrap="square" rtlCol="0" anchor="t">
            <a:noAutofit/>
          </a:bodyPr>
          <a:p>
            <a:r>
              <a:rPr lang="zh-CN" altLang="en-US" sz="2800"/>
              <a:t>某计算机系统按字节编址，采用请求分页式存储管理方式，页表由寄存器保存，访问一次内存需</a:t>
            </a:r>
            <a:r>
              <a:rPr lang="en-US" altLang="zh-CN" sz="2800"/>
              <a:t>100μs</a:t>
            </a:r>
            <a:r>
              <a:rPr lang="zh-CN" altLang="en-US" sz="2800"/>
              <a:t>。在系统发生缺页中断时，若不需要调出页面或调出页面未被修改不需要写回磁盘，则缺页处理需要</a:t>
            </a:r>
            <a:r>
              <a:rPr lang="en-US" altLang="zh-CN" sz="2800"/>
              <a:t>9ms</a:t>
            </a:r>
            <a:r>
              <a:rPr lang="zh-CN" altLang="en-US" sz="2800"/>
              <a:t>。若调出页面被修改过，需要写回磁盘，则缺页处理需要</a:t>
            </a:r>
            <a:r>
              <a:rPr lang="en-US" altLang="zh-CN" sz="2800"/>
              <a:t>21ms</a:t>
            </a:r>
            <a:r>
              <a:rPr lang="zh-CN" altLang="en-US" sz="2800"/>
              <a:t>。若系统中有</a:t>
            </a:r>
            <a:r>
              <a:rPr lang="en-US" altLang="zh-CN" sz="2800"/>
              <a:t>80%</a:t>
            </a:r>
            <a:r>
              <a:rPr lang="zh-CN" altLang="en-US" sz="2800"/>
              <a:t>的页面被修改过，要保证有效访问时间不超过</a:t>
            </a:r>
            <a:r>
              <a:rPr lang="en-US" altLang="zh-CN" sz="2800"/>
              <a:t>286μs</a:t>
            </a:r>
            <a:r>
              <a:rPr lang="zh-CN" altLang="en-US" sz="2800"/>
              <a:t>，则缺页率不可以超过（）。</a:t>
            </a:r>
            <a:endParaRPr lang="zh-CN" altLang="en-US" sz="2800"/>
          </a:p>
          <a:p>
            <a:endParaRPr lang="zh-CN" altLang="en-US" sz="2800"/>
          </a:p>
          <a:p>
            <a:r>
              <a:rPr lang="en-US" altLang="zh-CN" sz="2800"/>
              <a:t>    A.3%  	B.4%   	 C.2%   	 D.1%</a:t>
            </a:r>
            <a:endParaRPr lang="en-US" altLang="zh-CN" sz="2800"/>
          </a:p>
          <a:p>
            <a:endParaRPr lang="zh-CN" altLang="en-US" sz="2800"/>
          </a:p>
        </p:txBody>
      </p:sp>
      <p:sp>
        <p:nvSpPr>
          <p:cNvPr id="3" name="文本框 2"/>
          <p:cNvSpPr txBox="1"/>
          <p:nvPr/>
        </p:nvSpPr>
        <p:spPr>
          <a:xfrm>
            <a:off x="753110" y="3730625"/>
            <a:ext cx="2316480" cy="521970"/>
          </a:xfrm>
          <a:prstGeom prst="rect">
            <a:avLst/>
          </a:prstGeom>
          <a:noFill/>
        </p:spPr>
        <p:txBody>
          <a:bodyPr wrap="square" rtlCol="0" anchor="t">
            <a:spAutoFit/>
          </a:bodyPr>
          <a:p>
            <a:r>
              <a:rPr lang="zh-CN" altLang="en-US" sz="2800">
                <a:solidFill>
                  <a:srgbClr val="FF0000"/>
                </a:solidFill>
                <a:sym typeface="+mn-ea"/>
              </a:rPr>
              <a:t>答案：</a:t>
            </a:r>
            <a:r>
              <a:rPr lang="en-US" altLang="zh-CN" sz="2800">
                <a:solidFill>
                  <a:srgbClr val="FF0000"/>
                </a:solidFill>
                <a:sym typeface="+mn-ea"/>
              </a:rPr>
              <a:t>D</a:t>
            </a:r>
            <a:endParaRPr lang="en-US" altLang="zh-CN" sz="2800">
              <a:solidFill>
                <a:srgbClr val="FF0000"/>
              </a:solidFill>
              <a:sym typeface="+mn-ea"/>
            </a:endParaRPr>
          </a:p>
        </p:txBody>
      </p:sp>
      <p:sp>
        <p:nvSpPr>
          <p:cNvPr id="5" name="文本框 4"/>
          <p:cNvSpPr txBox="1"/>
          <p:nvPr/>
        </p:nvSpPr>
        <p:spPr>
          <a:xfrm>
            <a:off x="377190" y="4342130"/>
            <a:ext cx="11738610" cy="2033270"/>
          </a:xfrm>
          <a:prstGeom prst="rect">
            <a:avLst/>
          </a:prstGeom>
          <a:solidFill>
            <a:schemeClr val="bg1">
              <a:lumMod val="85000"/>
            </a:schemeClr>
          </a:solidFill>
        </p:spPr>
        <p:txBody>
          <a:bodyPr wrap="square" rtlCol="0" anchor="t">
            <a:noAutofit/>
          </a:bodyPr>
          <a:p>
            <a:pPr>
              <a:lnSpc>
                <a:spcPct val="150000"/>
              </a:lnSpc>
            </a:pPr>
            <a:r>
              <a:rPr lang="zh-CN" altLang="en-US" sz="2800"/>
              <a:t>【解析】设缺页率为</a:t>
            </a:r>
            <a:r>
              <a:rPr lang="en-US" altLang="zh-CN" sz="2800"/>
              <a:t>x</a:t>
            </a:r>
            <a:endParaRPr lang="zh-CN" altLang="en-US" sz="2800"/>
          </a:p>
          <a:p>
            <a:pPr>
              <a:lnSpc>
                <a:spcPct val="150000"/>
              </a:lnSpc>
            </a:pPr>
            <a:r>
              <a:rPr lang="zh-CN" altLang="en-US" sz="2800"/>
              <a:t>有效访问时间</a:t>
            </a:r>
            <a:r>
              <a:rPr lang="en-US" altLang="zh-CN" sz="2800"/>
              <a:t>=100μs</a:t>
            </a:r>
            <a:r>
              <a:rPr lang="en-US" altLang="en-US" sz="2800"/>
              <a:t>*</a:t>
            </a:r>
            <a:r>
              <a:rPr lang="en-US" altLang="zh-CN" sz="2800"/>
              <a:t>(1-x)+x(</a:t>
            </a:r>
            <a:r>
              <a:rPr lang="en-US" altLang="zh-CN" sz="2800">
                <a:sym typeface="+mn-ea"/>
              </a:rPr>
              <a:t>9*</a:t>
            </a:r>
            <a:r>
              <a:rPr lang="en-US" altLang="zh-CN" sz="2800"/>
              <a:t>0.2+21*0.8+100μs)</a:t>
            </a:r>
            <a:r>
              <a:rPr lang="en-US" altLang="zh-CN" sz="2800">
                <a:sym typeface="+mn-ea"/>
              </a:rPr>
              <a:t>&lt;286μs</a:t>
            </a:r>
            <a:r>
              <a:rPr lang="zh-CN" altLang="en-US" sz="2800">
                <a:sym typeface="+mn-ea"/>
              </a:rPr>
              <a:t>，</a:t>
            </a:r>
            <a:endParaRPr lang="zh-CN" altLang="en-US" sz="2800">
              <a:sym typeface="+mn-ea"/>
            </a:endParaRPr>
          </a:p>
          <a:p>
            <a:pPr>
              <a:lnSpc>
                <a:spcPct val="150000"/>
              </a:lnSpc>
            </a:pPr>
            <a:r>
              <a:rPr lang="en-US" altLang="zh-CN" sz="2800"/>
              <a:t>x&lt;0.01</a:t>
            </a:r>
            <a:r>
              <a:rPr lang="zh-CN" altLang="en-US" sz="2800"/>
              <a:t>，即缺页率不超过</a:t>
            </a:r>
            <a:r>
              <a:rPr lang="en-US" altLang="zh-CN" sz="2800"/>
              <a:t>1%</a:t>
            </a:r>
            <a:r>
              <a:rPr lang="zh-CN" altLang="en-US" sz="2800"/>
              <a:t>。</a:t>
            </a:r>
            <a:endParaRPr lang="zh-CN" altLang="en-US" sz="2800"/>
          </a:p>
          <a:p>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cs typeface="+mn-ea"/>
                <a:sym typeface="+mn-lt"/>
              </a:rPr>
              <a:t>请求分页中的物理内存分配和置换</a:t>
            </a:r>
            <a:r>
              <a:rPr lang="zh-CN" altLang="en-US" sz="2800" b="1" dirty="0">
                <a:solidFill>
                  <a:schemeClr val="bg1"/>
                </a:solidFill>
                <a:cs typeface="+mn-ea"/>
                <a:sym typeface="+mn-lt"/>
              </a:rPr>
              <a:t>策略</a:t>
            </a:r>
            <a:endParaRPr lang="zh-CN" altLang="en-US" sz="2800" b="1" dirty="0">
              <a:solidFill>
                <a:schemeClr val="bg1"/>
              </a:solidFill>
              <a:cs typeface="+mn-ea"/>
              <a:sym typeface="+mn-lt"/>
            </a:endParaRPr>
          </a:p>
        </p:txBody>
      </p:sp>
      <p:sp>
        <p:nvSpPr>
          <p:cNvPr id="2" name="文本框 1"/>
          <p:cNvSpPr txBox="1"/>
          <p:nvPr/>
        </p:nvSpPr>
        <p:spPr>
          <a:xfrm>
            <a:off x="480060" y="1002030"/>
            <a:ext cx="8371840" cy="628015"/>
          </a:xfrm>
          <a:prstGeom prst="rect">
            <a:avLst/>
          </a:prstGeom>
          <a:solidFill>
            <a:schemeClr val="accent2"/>
          </a:solidFill>
        </p:spPr>
        <p:txBody>
          <a:bodyPr wrap="square" rtlCol="0" anchor="t">
            <a:noAutofit/>
          </a:bodyPr>
          <a:p>
            <a:pPr marL="285750" indent="-285750">
              <a:lnSpc>
                <a:spcPct val="150000"/>
              </a:lnSpc>
              <a:buFont typeface="Wingdings" panose="05000000000000000000" charset="0"/>
              <a:buChar char="n"/>
            </a:pPr>
            <a:r>
              <a:rPr lang="zh-CN" altLang="en-US" sz="2400" b="1">
                <a:solidFill>
                  <a:schemeClr val="tx1"/>
                </a:solidFill>
                <a:sym typeface="+mn-ea"/>
              </a:rPr>
              <a:t>两种分配策略：固定分配和可变分配</a:t>
            </a:r>
            <a:endParaRPr lang="zh-CN" altLang="en-US" sz="2400" b="1">
              <a:solidFill>
                <a:schemeClr val="tx1"/>
              </a:solidFill>
            </a:endParaRPr>
          </a:p>
          <a:p>
            <a:pPr marL="285750" indent="-285750">
              <a:lnSpc>
                <a:spcPct val="150000"/>
              </a:lnSpc>
              <a:buFont typeface="Wingdings" panose="05000000000000000000" charset="0"/>
              <a:buChar char="n"/>
            </a:pPr>
            <a:endParaRPr lang="zh-CN" altLang="en-US" sz="2400" b="1">
              <a:solidFill>
                <a:schemeClr val="tx1"/>
              </a:solidFill>
              <a:sym typeface="+mn-ea"/>
            </a:endParaRPr>
          </a:p>
        </p:txBody>
      </p:sp>
      <p:sp>
        <p:nvSpPr>
          <p:cNvPr id="4" name="文本框 3"/>
          <p:cNvSpPr txBox="1"/>
          <p:nvPr/>
        </p:nvSpPr>
        <p:spPr>
          <a:xfrm>
            <a:off x="419735" y="3696970"/>
            <a:ext cx="8432165" cy="680085"/>
          </a:xfrm>
          <a:prstGeom prst="rect">
            <a:avLst/>
          </a:prstGeom>
          <a:solidFill>
            <a:srgbClr val="00B0F0"/>
          </a:solidFill>
        </p:spPr>
        <p:txBody>
          <a:bodyPr wrap="square" rtlCol="0" anchor="t">
            <a:noAutofit/>
          </a:bodyPr>
          <a:p>
            <a:pPr marL="285750" indent="-285750">
              <a:lnSpc>
                <a:spcPct val="150000"/>
              </a:lnSpc>
              <a:buFont typeface="Wingdings" panose="05000000000000000000" charset="0"/>
              <a:buChar char="n"/>
            </a:pPr>
            <a:r>
              <a:rPr lang="zh-CN" altLang="en-US" sz="2400" b="1">
                <a:sym typeface="+mn-ea"/>
              </a:rPr>
              <a:t>两种置换策略：局部置换</a:t>
            </a:r>
            <a:r>
              <a:rPr lang="zh-CN" altLang="en-US" sz="2400" b="1">
                <a:sym typeface="+mn-ea"/>
              </a:rPr>
              <a:t>和全局置换</a:t>
            </a:r>
            <a:endParaRPr lang="zh-CN" altLang="en-US" sz="2400" b="1">
              <a:sym typeface="+mn-ea"/>
            </a:endParaRPr>
          </a:p>
        </p:txBody>
      </p:sp>
      <p:sp>
        <p:nvSpPr>
          <p:cNvPr id="6" name="文本框 5"/>
          <p:cNvSpPr txBox="1"/>
          <p:nvPr/>
        </p:nvSpPr>
        <p:spPr>
          <a:xfrm>
            <a:off x="335915" y="1851025"/>
            <a:ext cx="11570970" cy="1753235"/>
          </a:xfrm>
          <a:prstGeom prst="rect">
            <a:avLst/>
          </a:prstGeom>
          <a:noFill/>
        </p:spPr>
        <p:txBody>
          <a:bodyPr wrap="square" rtlCol="0" anchor="t">
            <a:spAutoFit/>
          </a:bodyPr>
          <a:p>
            <a:pPr marL="342900" indent="-342900">
              <a:lnSpc>
                <a:spcPct val="150000"/>
              </a:lnSpc>
              <a:buFont typeface="Arial" panose="020B0604020202020204" pitchFamily="34" charset="0"/>
              <a:buChar char="•"/>
            </a:pPr>
            <a:r>
              <a:rPr lang="zh-CN" altLang="en-US" sz="2400">
                <a:sym typeface="+mn-ea"/>
              </a:rPr>
              <a:t>固定分配是一种事先的估算分配，可以根据进程大小分配不同的物理块数量，后期数量不再发生</a:t>
            </a:r>
            <a:r>
              <a:rPr lang="zh-CN" altLang="en-US" sz="2400">
                <a:sym typeface="+mn-ea"/>
              </a:rPr>
              <a:t>变化。</a:t>
            </a:r>
            <a:r>
              <a:rPr lang="en-US" altLang="zh-CN" sz="2400">
                <a:sym typeface="+mn-ea"/>
              </a:rPr>
              <a:t>    </a:t>
            </a:r>
            <a:r>
              <a:rPr lang="zh-CN" altLang="en-US" sz="2400">
                <a:sym typeface="+mn-ea"/>
              </a:rPr>
              <a:t>但事先估算对获得合适的物理块数较为困难。</a:t>
            </a:r>
            <a:endParaRPr lang="zh-CN" altLang="en-US" sz="2400"/>
          </a:p>
          <a:p>
            <a:pPr marL="342900" indent="-342900">
              <a:lnSpc>
                <a:spcPct val="150000"/>
              </a:lnSpc>
              <a:buFont typeface="Arial" panose="020B0604020202020204" pitchFamily="34" charset="0"/>
              <a:buChar char="•"/>
            </a:pPr>
            <a:r>
              <a:rPr lang="zh-CN" altLang="en-US" sz="2400">
                <a:sym typeface="+mn-ea"/>
              </a:rPr>
              <a:t>可变分配观察进程的运行情况后，对分配数量进行调整</a:t>
            </a:r>
            <a:endParaRPr lang="zh-CN" altLang="en-US" sz="2400">
              <a:sym typeface="+mn-ea"/>
            </a:endParaRPr>
          </a:p>
        </p:txBody>
      </p:sp>
      <p:sp>
        <p:nvSpPr>
          <p:cNvPr id="12" name="文本框 11"/>
          <p:cNvSpPr txBox="1"/>
          <p:nvPr/>
        </p:nvSpPr>
        <p:spPr>
          <a:xfrm>
            <a:off x="96520" y="4589780"/>
            <a:ext cx="12095480" cy="1739900"/>
          </a:xfrm>
          <a:prstGeom prst="rect">
            <a:avLst/>
          </a:prstGeom>
          <a:noFill/>
        </p:spPr>
        <p:txBody>
          <a:bodyPr wrap="square" rtlCol="0" anchor="t">
            <a:noAutofit/>
          </a:bodyPr>
          <a:p>
            <a:pPr marL="342900" indent="-342900">
              <a:lnSpc>
                <a:spcPct val="150000"/>
              </a:lnSpc>
              <a:buFont typeface="Arial" panose="020B0604020202020204" pitchFamily="34" charset="0"/>
              <a:buChar char="•"/>
            </a:pPr>
            <a:r>
              <a:rPr lang="zh-CN" altLang="en-US" sz="2400">
                <a:sym typeface="+mn-ea"/>
              </a:rPr>
              <a:t>局部置换是置换操作只作用于本程序的物理块上。</a:t>
            </a:r>
            <a:endParaRPr lang="zh-CN" altLang="en-US" sz="2400"/>
          </a:p>
          <a:p>
            <a:pPr marL="342900" indent="-342900">
              <a:lnSpc>
                <a:spcPct val="150000"/>
              </a:lnSpc>
              <a:buFont typeface="Arial" panose="020B0604020202020204" pitchFamily="34" charset="0"/>
              <a:buChar char="•"/>
            </a:pPr>
            <a:r>
              <a:rPr lang="zh-CN" altLang="en-US" sz="2400">
                <a:sym typeface="+mn-ea"/>
              </a:rPr>
              <a:t>全局置换是置换操作可作用在系统所保留的空闲物理块及任意用户程序下的物理块上。</a:t>
            </a:r>
            <a:endParaRPr lang="zh-CN" altLang="en-US" sz="2400">
              <a:sym typeface="+mn-ea"/>
            </a:endParaRPr>
          </a:p>
          <a:p>
            <a:pPr indent="0">
              <a:lnSpc>
                <a:spcPct val="150000"/>
              </a:lnSpc>
              <a:buNone/>
            </a:pPr>
            <a:r>
              <a:rPr lang="en-US" altLang="zh-CN" sz="2400">
                <a:sym typeface="+mn-ea"/>
              </a:rPr>
              <a:t>                        </a:t>
            </a:r>
            <a:r>
              <a:rPr lang="zh-CN" altLang="en-US" sz="2400">
                <a:sym typeface="+mn-ea"/>
              </a:rPr>
              <a:t>会导致进程所拥有的物理块数量变化</a:t>
            </a:r>
            <a:endParaRPr lang="zh-CN" altLang="en-US" sz="2400">
              <a:sym typeface="+mn-ea"/>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cs typeface="+mn-ea"/>
                <a:sym typeface="+mn-lt"/>
              </a:rPr>
              <a:t>请求分页中的</a:t>
            </a:r>
            <a:r>
              <a:rPr lang="zh-CN" altLang="en-US" sz="2800" b="1" dirty="0">
                <a:solidFill>
                  <a:schemeClr val="bg1"/>
                </a:solidFill>
                <a:cs typeface="+mn-ea"/>
                <a:sym typeface="+mn-lt"/>
              </a:rPr>
              <a:t>物理内存分配</a:t>
            </a:r>
            <a:endParaRPr lang="zh-CN" altLang="en-US" sz="2800" b="1" dirty="0">
              <a:solidFill>
                <a:schemeClr val="bg1"/>
              </a:solidFill>
              <a:cs typeface="+mn-ea"/>
              <a:sym typeface="+mn-lt"/>
            </a:endParaRPr>
          </a:p>
        </p:txBody>
      </p:sp>
      <p:sp>
        <p:nvSpPr>
          <p:cNvPr id="8" name="文本框 7"/>
          <p:cNvSpPr txBox="1"/>
          <p:nvPr/>
        </p:nvSpPr>
        <p:spPr>
          <a:xfrm>
            <a:off x="264160" y="1022350"/>
            <a:ext cx="11807190" cy="1215390"/>
          </a:xfrm>
          <a:prstGeom prst="rect">
            <a:avLst/>
          </a:prstGeom>
          <a:solidFill>
            <a:schemeClr val="accent1">
              <a:lumMod val="20000"/>
              <a:lumOff val="80000"/>
            </a:schemeClr>
          </a:solidFill>
        </p:spPr>
        <p:txBody>
          <a:bodyPr wrap="square" rtlCol="0" anchor="t">
            <a:noAutofit/>
          </a:bodyPr>
          <a:p>
            <a:r>
              <a:rPr lang="zh-CN" altLang="en-US" sz="2400" b="1"/>
              <a:t>固定分配局部置换</a:t>
            </a:r>
            <a:r>
              <a:rPr lang="zh-CN" altLang="en-US" sz="2400"/>
              <a:t>：</a:t>
            </a:r>
            <a:r>
              <a:rPr lang="zh-CN" altLang="en-US" sz="2400"/>
              <a:t>为每个进程分配一定数目的物理块，在整个运行期间不再改变。</a:t>
            </a:r>
            <a:endParaRPr lang="zh-CN" altLang="en-US" sz="2400"/>
          </a:p>
          <a:p>
            <a:r>
              <a:rPr lang="zh-CN" altLang="en-US" sz="2400"/>
              <a:t>如果进程在运行中发现缺页，只能从该进程在内存中的页面中选出一页换出，然后再调入一页。</a:t>
            </a:r>
            <a:endParaRPr lang="zh-CN" altLang="en-US" sz="2400"/>
          </a:p>
        </p:txBody>
      </p:sp>
      <p:sp>
        <p:nvSpPr>
          <p:cNvPr id="9" name="文本框 8"/>
          <p:cNvSpPr txBox="1"/>
          <p:nvPr/>
        </p:nvSpPr>
        <p:spPr>
          <a:xfrm>
            <a:off x="264160" y="2527935"/>
            <a:ext cx="11806555" cy="1397000"/>
          </a:xfrm>
          <a:prstGeom prst="rect">
            <a:avLst/>
          </a:prstGeom>
          <a:solidFill>
            <a:schemeClr val="accent4">
              <a:lumMod val="20000"/>
              <a:lumOff val="80000"/>
            </a:schemeClr>
          </a:solidFill>
        </p:spPr>
        <p:txBody>
          <a:bodyPr wrap="square" rtlCol="0" anchor="t">
            <a:noAutofit/>
          </a:bodyPr>
          <a:p>
            <a:r>
              <a:rPr lang="zh-CN" altLang="en-US" sz="2400" b="1"/>
              <a:t>可变分配全局置换</a:t>
            </a:r>
            <a:r>
              <a:rPr lang="zh-CN" altLang="en-US" sz="2400"/>
              <a:t>，先为系统中的每个进程分配一定数目的物理块，而</a:t>
            </a:r>
            <a:r>
              <a:rPr lang="en-US" altLang="zh-CN" sz="2400"/>
              <a:t>OS</a:t>
            </a:r>
            <a:r>
              <a:rPr lang="zh-CN" altLang="en-US" sz="2400"/>
              <a:t>也保持一些空闲物理块。如果某进程发生缺页，由系统从空闲的物理块中，取出一个物理块分配给该进程；当空闲物理块用完后，</a:t>
            </a:r>
            <a:r>
              <a:rPr lang="en-US" altLang="zh-CN" sz="2400"/>
              <a:t>OS</a:t>
            </a:r>
            <a:r>
              <a:rPr lang="zh-CN" altLang="en-US" sz="2400"/>
              <a:t>会能从系统中的</a:t>
            </a:r>
            <a:r>
              <a:rPr lang="zh-CN" altLang="en-US" sz="2400">
                <a:solidFill>
                  <a:srgbClr val="FF0000"/>
                </a:solidFill>
              </a:rPr>
              <a:t>任一</a:t>
            </a:r>
            <a:r>
              <a:rPr lang="zh-CN" altLang="en-US" sz="2400"/>
              <a:t>进程中选择一页调出。</a:t>
            </a:r>
            <a:endParaRPr lang="zh-CN" altLang="en-US" sz="2400"/>
          </a:p>
          <a:p>
            <a:endParaRPr lang="zh-CN" altLang="en-US" sz="2400"/>
          </a:p>
        </p:txBody>
      </p:sp>
      <p:sp>
        <p:nvSpPr>
          <p:cNvPr id="10" name="文本框 9"/>
          <p:cNvSpPr txBox="1"/>
          <p:nvPr/>
        </p:nvSpPr>
        <p:spPr>
          <a:xfrm>
            <a:off x="264160" y="4215130"/>
            <a:ext cx="11805920" cy="1664970"/>
          </a:xfrm>
          <a:prstGeom prst="rect">
            <a:avLst/>
          </a:prstGeom>
          <a:solidFill>
            <a:srgbClr val="92D050"/>
          </a:solidFill>
        </p:spPr>
        <p:txBody>
          <a:bodyPr wrap="square" rtlCol="0" anchor="t">
            <a:noAutofit/>
          </a:bodyPr>
          <a:p>
            <a:r>
              <a:rPr lang="zh-CN" altLang="en-US" sz="2400" b="1"/>
              <a:t>可变分配局部置换</a:t>
            </a:r>
            <a:r>
              <a:rPr lang="zh-CN" altLang="en-US" sz="2400"/>
              <a:t>，为每个进程分配一定数目的物理块，如果发生缺页，只允许从该进程在内存的页面中选出一页换出，不会影响其他进程执行。</a:t>
            </a:r>
            <a:endParaRPr lang="zh-CN" altLang="en-US" sz="2400"/>
          </a:p>
          <a:p>
            <a:r>
              <a:rPr lang="zh-CN" altLang="en-US" sz="2400"/>
              <a:t>如果进程频繁发生缺页中断，则系统再为进程分配若干物理块；如果缺页率特别低，则适当减少分配给该进程的物理块。</a:t>
            </a:r>
            <a:endParaRPr lang="zh-CN" altLang="en-US" sz="2400"/>
          </a:p>
          <a:p>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P spid="9" grpId="0" bldLvl="0" animBg="1"/>
      <p:bldP spid="9" grpId="1" animBg="1"/>
      <p:bldP spid="10" grpId="0" bldLvl="0" animBg="1"/>
      <p:bldP spid="10"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cs typeface="+mn-ea"/>
                <a:sym typeface="+mn-lt"/>
              </a:rPr>
              <a:t>物理块分配算法</a:t>
            </a:r>
            <a:endParaRPr lang="zh-CN" altLang="en-US" sz="2800" b="1" dirty="0">
              <a:solidFill>
                <a:schemeClr val="bg1"/>
              </a:solidFill>
              <a:cs typeface="+mn-ea"/>
              <a:sym typeface="+mn-lt"/>
            </a:endParaRPr>
          </a:p>
        </p:txBody>
      </p:sp>
      <p:sp>
        <p:nvSpPr>
          <p:cNvPr id="21" name="î$ļíḋè"/>
          <p:cNvSpPr/>
          <p:nvPr/>
        </p:nvSpPr>
        <p:spPr>
          <a:xfrm>
            <a:off x="1162050" y="1253490"/>
            <a:ext cx="8924290" cy="4798060"/>
          </a:xfrm>
          <a:prstGeom prst="rect">
            <a:avLst/>
          </a:prstGeom>
          <a:noFill/>
          <a:ln>
            <a:noFill/>
          </a:ln>
        </p:spPr>
        <p:txBody>
          <a:bodyPr wrap="square" lIns="91440" tIns="45720" rIns="91440" bIns="45720" anchor="t" anchorCtr="0">
            <a:noAutofit/>
          </a:bodyPr>
          <a:lstStyle/>
          <a:p>
            <a:pPr marL="342900" indent="-342900">
              <a:lnSpc>
                <a:spcPct val="150000"/>
              </a:lnSpc>
              <a:buClr>
                <a:srgbClr val="FF0000"/>
              </a:buClr>
              <a:buFont typeface="Wingdings" panose="05000000000000000000" pitchFamily="2" charset="2"/>
              <a:buChar char="Ø"/>
            </a:pPr>
            <a:r>
              <a:rPr lang="zh-CN" altLang="en-US" sz="2800" b="1" dirty="0">
                <a:cs typeface="+mn-ea"/>
                <a:sym typeface="+mn-lt"/>
              </a:rPr>
              <a:t>平均分配算法</a:t>
            </a:r>
            <a:endParaRPr lang="zh-CN" altLang="en-US" sz="2800" b="1" dirty="0">
              <a:cs typeface="+mn-ea"/>
              <a:sym typeface="+mn-lt"/>
            </a:endParaRPr>
          </a:p>
          <a:p>
            <a:pPr lvl="1" indent="0">
              <a:lnSpc>
                <a:spcPct val="150000"/>
              </a:lnSpc>
              <a:buClr>
                <a:srgbClr val="FF0000"/>
              </a:buClr>
              <a:buNone/>
            </a:pPr>
            <a:r>
              <a:rPr lang="zh-CN" altLang="en-US" sz="2400" dirty="0">
                <a:cs typeface="+mn-ea"/>
                <a:sym typeface="+mn-lt"/>
              </a:rPr>
              <a:t>缺点：未考虑进程大小</a:t>
            </a:r>
            <a:endParaRPr lang="zh-CN" altLang="en-US" sz="2400" dirty="0">
              <a:cs typeface="+mn-ea"/>
              <a:sym typeface="+mn-lt"/>
            </a:endParaRPr>
          </a:p>
          <a:p>
            <a:pPr marL="342900" indent="-342900" algn="l">
              <a:lnSpc>
                <a:spcPct val="150000"/>
              </a:lnSpc>
              <a:buClr>
                <a:srgbClr val="FF0000"/>
              </a:buClr>
              <a:buSzTx/>
              <a:buFont typeface="Wingdings" panose="05000000000000000000" pitchFamily="2" charset="2"/>
              <a:buChar char="Ø"/>
            </a:pPr>
            <a:r>
              <a:rPr lang="zh-CN" altLang="en-US" sz="2800" b="1" dirty="0">
                <a:solidFill>
                  <a:schemeClr val="tx1"/>
                </a:solidFill>
                <a:cs typeface="+mn-ea"/>
                <a:sym typeface="+mn-lt"/>
              </a:rPr>
              <a:t>按比例分配算法</a:t>
            </a:r>
            <a:endParaRPr lang="zh-CN" altLang="en-US" sz="2800" b="1" dirty="0">
              <a:solidFill>
                <a:schemeClr val="tx1"/>
              </a:solidFill>
              <a:cs typeface="+mn-ea"/>
              <a:sym typeface="+mn-lt"/>
            </a:endParaRPr>
          </a:p>
          <a:p>
            <a:pPr lvl="1" indent="0">
              <a:lnSpc>
                <a:spcPct val="150000"/>
              </a:lnSpc>
              <a:buClr>
                <a:srgbClr val="FF0000"/>
              </a:buClr>
              <a:buNone/>
            </a:pPr>
            <a:r>
              <a:rPr lang="zh-CN" altLang="en-US" sz="2400" dirty="0">
                <a:solidFill>
                  <a:schemeClr val="tx1"/>
                </a:solidFill>
                <a:cs typeface="+mn-ea"/>
                <a:sym typeface="+mn-lt"/>
              </a:rPr>
              <a:t>缺点：未考虑优先级</a:t>
            </a:r>
            <a:endParaRPr lang="zh-CN" altLang="en-US" sz="2400" dirty="0">
              <a:solidFill>
                <a:schemeClr val="tx1"/>
              </a:solidFill>
              <a:cs typeface="+mn-ea"/>
              <a:sym typeface="+mn-lt"/>
            </a:endParaRPr>
          </a:p>
          <a:p>
            <a:pPr marL="342900" indent="-342900" algn="l">
              <a:lnSpc>
                <a:spcPct val="150000"/>
              </a:lnSpc>
              <a:buClr>
                <a:srgbClr val="FF0000"/>
              </a:buClr>
              <a:buSzTx/>
              <a:buFont typeface="Wingdings" panose="05000000000000000000" pitchFamily="2" charset="2"/>
              <a:buChar char="Ø"/>
            </a:pPr>
            <a:r>
              <a:rPr lang="zh-CN" altLang="en-US" sz="2800" b="1" dirty="0">
                <a:cs typeface="+mn-ea"/>
                <a:sym typeface="+mn-lt"/>
              </a:rPr>
              <a:t>考虑优先权的分配算法</a:t>
            </a:r>
            <a:endParaRPr lang="zh-CN" altLang="en-US" sz="2800" b="1" dirty="0">
              <a:cs typeface="+mn-ea"/>
              <a:sym typeface="+mn-lt"/>
            </a:endParaRPr>
          </a:p>
          <a:p>
            <a:pPr lvl="0" indent="0">
              <a:lnSpc>
                <a:spcPct val="150000"/>
              </a:lnSpc>
              <a:buClr>
                <a:srgbClr val="FF0000"/>
              </a:buClr>
              <a:buNone/>
            </a:pPr>
            <a:r>
              <a:rPr lang="zh-CN" altLang="en-US" sz="2400" dirty="0">
                <a:cs typeface="+mn-ea"/>
                <a:sym typeface="+mn-lt"/>
              </a:rPr>
              <a:t>方法：将可供分配的物理块分成两</a:t>
            </a:r>
            <a:r>
              <a:rPr lang="zh-CN" altLang="en-US" sz="2400" dirty="0">
                <a:cs typeface="+mn-ea"/>
                <a:sym typeface="+mn-lt"/>
              </a:rPr>
              <a:t>部分</a:t>
            </a:r>
            <a:endParaRPr lang="zh-CN" altLang="en-US" sz="2400" dirty="0">
              <a:cs typeface="+mn-ea"/>
              <a:sym typeface="+mn-lt"/>
            </a:endParaRPr>
          </a:p>
          <a:p>
            <a:pPr lvl="0" indent="0">
              <a:lnSpc>
                <a:spcPct val="150000"/>
              </a:lnSpc>
              <a:buClr>
                <a:srgbClr val="FF0000"/>
              </a:buClr>
              <a:buNone/>
            </a:pPr>
            <a:r>
              <a:rPr lang="zh-CN" altLang="en-US" sz="2400" dirty="0">
                <a:cs typeface="+mn-ea"/>
                <a:sym typeface="+mn-lt"/>
              </a:rPr>
              <a:t>一部分按比例分配给各进程；</a:t>
            </a:r>
            <a:endParaRPr lang="zh-CN" altLang="en-US" sz="2400" dirty="0">
              <a:cs typeface="+mn-ea"/>
              <a:sym typeface="+mn-lt"/>
            </a:endParaRPr>
          </a:p>
          <a:p>
            <a:pPr lvl="0" indent="0">
              <a:lnSpc>
                <a:spcPct val="150000"/>
              </a:lnSpc>
              <a:buClr>
                <a:srgbClr val="FF0000"/>
              </a:buClr>
              <a:buNone/>
            </a:pPr>
            <a:r>
              <a:rPr lang="zh-CN" altLang="en-US" sz="2400" dirty="0">
                <a:cs typeface="+mn-ea"/>
                <a:sym typeface="+mn-lt"/>
              </a:rPr>
              <a:t>一部分按照优先权，适当增加和减少其份额</a:t>
            </a:r>
            <a:endParaRPr lang="zh-CN" altLang="en-US" sz="2400" dirty="0">
              <a:cs typeface="+mn-ea"/>
              <a:sym typeface="+mn-lt"/>
            </a:endParaRPr>
          </a:p>
        </p:txBody>
      </p:sp>
      <p:sp>
        <p:nvSpPr>
          <p:cNvPr id="22" name="ïṧḷïḋè"/>
          <p:cNvSpPr/>
          <p:nvPr/>
        </p:nvSpPr>
        <p:spPr>
          <a:xfrm>
            <a:off x="1124307" y="1097241"/>
            <a:ext cx="3696051" cy="415102"/>
          </a:xfrm>
          <a:prstGeom prst="rect">
            <a:avLst/>
          </a:prstGeom>
          <a:noFill/>
          <a:ln>
            <a:noFill/>
          </a:ln>
        </p:spPr>
        <p:txBody>
          <a:bodyPr wrap="square" lIns="91440" tIns="45720" rIns="91440" bIns="45720" anchor="ctr" anchorCtr="0">
            <a:noAutofit/>
          </a:bodyPr>
          <a:lstStyle/>
          <a:p>
            <a:endParaRPr lang="zh-CN" altLang="en-US" sz="2400" dirty="0">
              <a:cs typeface="+mn-ea"/>
              <a:sym typeface="+mn-lt"/>
            </a:endParaRPr>
          </a:p>
        </p:txBody>
      </p:sp>
      <p:grpSp>
        <p:nvGrpSpPr>
          <p:cNvPr id="6" name="组合 5"/>
          <p:cNvGrpSpPr/>
          <p:nvPr/>
        </p:nvGrpSpPr>
        <p:grpSpPr>
          <a:xfrm>
            <a:off x="127000" y="1064260"/>
            <a:ext cx="627380" cy="627380"/>
            <a:chOff x="1792" y="7097"/>
            <a:chExt cx="988" cy="988"/>
          </a:xfrm>
        </p:grpSpPr>
        <p:sp>
          <p:nvSpPr>
            <p:cNvPr id="26" name="íṥḻîḓe"/>
            <p:cNvSpPr/>
            <p:nvPr/>
          </p:nvSpPr>
          <p:spPr>
            <a:xfrm>
              <a:off x="1792" y="7097"/>
              <a:ext cx="989" cy="989"/>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30" name="ïśḷïḓe"/>
            <p:cNvSpPr/>
            <p:nvPr/>
          </p:nvSpPr>
          <p:spPr>
            <a:xfrm>
              <a:off x="2137" y="7395"/>
              <a:ext cx="333" cy="408"/>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cs typeface="+mn-ea"/>
                <a:sym typeface="+mn-lt"/>
              </a:rPr>
              <a:t>调入</a:t>
            </a:r>
            <a:r>
              <a:rPr lang="zh-CN" altLang="en-US" sz="2800" b="1" dirty="0">
                <a:solidFill>
                  <a:schemeClr val="bg1"/>
                </a:solidFill>
                <a:cs typeface="+mn-ea"/>
                <a:sym typeface="+mn-lt"/>
              </a:rPr>
              <a:t>页面的</a:t>
            </a:r>
            <a:r>
              <a:rPr lang="zh-CN" altLang="en-US" sz="2800" b="1" dirty="0">
                <a:solidFill>
                  <a:schemeClr val="bg1"/>
                </a:solidFill>
                <a:cs typeface="+mn-ea"/>
                <a:sym typeface="+mn-lt"/>
              </a:rPr>
              <a:t>时机</a:t>
            </a:r>
            <a:endParaRPr lang="zh-CN" altLang="en-US" sz="2800" b="1" dirty="0">
              <a:solidFill>
                <a:schemeClr val="bg1"/>
              </a:solidFill>
              <a:cs typeface="+mn-ea"/>
              <a:sym typeface="+mn-lt"/>
            </a:endParaRPr>
          </a:p>
        </p:txBody>
      </p:sp>
      <p:sp>
        <p:nvSpPr>
          <p:cNvPr id="18" name="íšḻîḋè"/>
          <p:cNvSpPr/>
          <p:nvPr/>
        </p:nvSpPr>
        <p:spPr>
          <a:xfrm>
            <a:off x="1746885" y="3296285"/>
            <a:ext cx="9509760" cy="2237105"/>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cs typeface="+mn-ea"/>
                <a:sym typeface="+mn-lt"/>
              </a:rPr>
              <a:t>如系统拥有足够的对换区空间，全部从对换区调入所需页面</a:t>
            </a:r>
            <a:endParaRPr lang="zh-CN" altLang="en-US" sz="2400" dirty="0">
              <a:cs typeface="+mn-ea"/>
              <a:sym typeface="+mn-lt"/>
            </a:endParaRPr>
          </a:p>
          <a:p>
            <a:pPr marL="342900" indent="-342900">
              <a:lnSpc>
                <a:spcPct val="120000"/>
              </a:lnSpc>
              <a:buClr>
                <a:srgbClr val="FF0000"/>
              </a:buClr>
              <a:buFont typeface="Wingdings" panose="05000000000000000000" pitchFamily="2" charset="2"/>
              <a:buChar char="Ø"/>
            </a:pPr>
            <a:r>
              <a:rPr lang="zh-CN" altLang="en-US" sz="2400" dirty="0">
                <a:cs typeface="+mn-ea"/>
                <a:sym typeface="+mn-lt"/>
              </a:rPr>
              <a:t>如系统缺少足够的对换区空间，凡是不会被修改的文件，都直接从文件区调入；当换出这些页面时，由于未被修改而不必再将它们重写磁盘，直接丢到即可，以后再调入时，仍从文件区直接调入。</a:t>
            </a:r>
            <a:r>
              <a:rPr lang="zh-CN" altLang="en-US" sz="2400" dirty="0">
                <a:cs typeface="+mn-ea"/>
                <a:sym typeface="+mn-lt"/>
              </a:rPr>
              <a:t>修改过的部分，换出时需调到对换区，换入时再从对换区调入。</a:t>
            </a:r>
            <a:endParaRPr lang="zh-CN" altLang="en-US" sz="2400" dirty="0">
              <a:cs typeface="+mn-ea"/>
              <a:sym typeface="+mn-lt"/>
            </a:endParaRPr>
          </a:p>
          <a:p>
            <a:pPr indent="0">
              <a:lnSpc>
                <a:spcPct val="120000"/>
              </a:lnSpc>
              <a:buClr>
                <a:srgbClr val="FF0000"/>
              </a:buClr>
              <a:buFont typeface="Wingdings" panose="05000000000000000000" pitchFamily="2" charset="2"/>
              <a:buNone/>
            </a:pPr>
            <a:endParaRPr lang="zh-CN" altLang="en-US" sz="2400" dirty="0">
              <a:cs typeface="+mn-ea"/>
              <a:sym typeface="+mn-lt"/>
            </a:endParaRPr>
          </a:p>
        </p:txBody>
      </p:sp>
      <p:sp>
        <p:nvSpPr>
          <p:cNvPr id="19" name="i$lîďê"/>
          <p:cNvSpPr/>
          <p:nvPr>
            <p:custDataLst>
              <p:tags r:id="rId1"/>
            </p:custDataLst>
          </p:nvPr>
        </p:nvSpPr>
        <p:spPr>
          <a:xfrm>
            <a:off x="1802479" y="2866253"/>
            <a:ext cx="3696051" cy="392877"/>
          </a:xfrm>
          <a:prstGeom prst="rect">
            <a:avLst/>
          </a:prstGeom>
          <a:noFill/>
          <a:ln>
            <a:noFill/>
          </a:ln>
        </p:spPr>
        <p:txBody>
          <a:bodyPr wrap="square" lIns="91440" tIns="45720" rIns="91440" bIns="45720" anchor="ctr" anchorCtr="0">
            <a:noAutofit/>
          </a:bodyPr>
          <a:lstStyle/>
          <a:p>
            <a:r>
              <a:rPr lang="zh-CN" altLang="en-US" sz="2400" dirty="0">
                <a:cs typeface="+mn-ea"/>
                <a:sym typeface="+mn-lt"/>
              </a:rPr>
              <a:t>从</a:t>
            </a:r>
            <a:r>
              <a:rPr lang="zh-CN" altLang="en-US" sz="2400" b="1" dirty="0">
                <a:cs typeface="+mn-ea"/>
                <a:sym typeface="+mn-lt"/>
              </a:rPr>
              <a:t>何处</a:t>
            </a:r>
            <a:r>
              <a:rPr lang="zh-CN" altLang="en-US" sz="2400" dirty="0">
                <a:cs typeface="+mn-ea"/>
                <a:sym typeface="+mn-lt"/>
              </a:rPr>
              <a:t>调入页面</a:t>
            </a:r>
            <a:endParaRPr lang="zh-CN" altLang="en-US" sz="2400" dirty="0">
              <a:cs typeface="+mn-ea"/>
              <a:sym typeface="+mn-lt"/>
            </a:endParaRPr>
          </a:p>
        </p:txBody>
      </p:sp>
      <p:sp>
        <p:nvSpPr>
          <p:cNvPr id="23" name="îs1iďé"/>
          <p:cNvSpPr/>
          <p:nvPr/>
        </p:nvSpPr>
        <p:spPr>
          <a:xfrm>
            <a:off x="1821537" y="1661439"/>
            <a:ext cx="9711234" cy="1163415"/>
          </a:xfrm>
          <a:prstGeom prst="rect">
            <a:avLst/>
          </a:prstGeom>
          <a:noFill/>
          <a:ln>
            <a:noFill/>
          </a:ln>
        </p:spPr>
        <p:txBody>
          <a:bodyPr wrap="square" lIns="91440" tIns="45720" rIns="91440" bIns="45720" anchor="t" anchorCtr="0">
            <a:no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400" dirty="0">
                <a:cs typeface="+mn-ea"/>
                <a:sym typeface="+mn-lt"/>
              </a:rPr>
              <a:t>预调页策略：预先调入一些页面到内存，一般用于首次</a:t>
            </a:r>
            <a:r>
              <a:rPr lang="zh-CN" altLang="en-US" sz="2400" dirty="0">
                <a:cs typeface="+mn-ea"/>
                <a:sym typeface="+mn-lt"/>
              </a:rPr>
              <a:t>调入。</a:t>
            </a:r>
            <a:endParaRPr lang="zh-CN" altLang="en-US" sz="2400" dirty="0">
              <a:cs typeface="+mn-ea"/>
              <a:sym typeface="+mn-lt"/>
            </a:endParaRPr>
          </a:p>
          <a:p>
            <a:pPr marL="342900" indent="-342900">
              <a:lnSpc>
                <a:spcPct val="120000"/>
              </a:lnSpc>
              <a:spcBef>
                <a:spcPts val="800"/>
              </a:spcBef>
              <a:buClr>
                <a:srgbClr val="FF0000"/>
              </a:buClr>
              <a:buFont typeface="Wingdings" panose="05000000000000000000" pitchFamily="2" charset="2"/>
              <a:buChar char="Ø"/>
            </a:pPr>
            <a:r>
              <a:rPr lang="zh-CN" altLang="en-US" sz="2400" dirty="0">
                <a:cs typeface="+mn-ea"/>
                <a:sym typeface="+mn-lt"/>
              </a:rPr>
              <a:t>请求调页策略：</a:t>
            </a:r>
            <a:r>
              <a:rPr lang="zh-CN" altLang="en-US" sz="2400" dirty="0">
                <a:cs typeface="+mn-ea"/>
                <a:sym typeface="+mn-lt"/>
              </a:rPr>
              <a:t>运行时发现需要访问的页面不在内存时，调入内存</a:t>
            </a:r>
            <a:endParaRPr lang="zh-CN" altLang="en-US" sz="2400" dirty="0">
              <a:cs typeface="+mn-ea"/>
              <a:sym typeface="+mn-lt"/>
            </a:endParaRPr>
          </a:p>
        </p:txBody>
      </p:sp>
      <p:sp>
        <p:nvSpPr>
          <p:cNvPr id="24" name="íšḻíḑê"/>
          <p:cNvSpPr/>
          <p:nvPr>
            <p:custDataLst>
              <p:tags r:id="rId2"/>
            </p:custDataLst>
          </p:nvPr>
        </p:nvSpPr>
        <p:spPr>
          <a:xfrm>
            <a:off x="1802480" y="1192877"/>
            <a:ext cx="3696051" cy="405747"/>
          </a:xfrm>
          <a:prstGeom prst="rect">
            <a:avLst/>
          </a:prstGeom>
          <a:noFill/>
          <a:ln>
            <a:noFill/>
          </a:ln>
        </p:spPr>
        <p:txBody>
          <a:bodyPr wrap="square" lIns="91440" tIns="45720" rIns="91440" bIns="45720" anchor="ctr" anchorCtr="0">
            <a:noAutofit/>
          </a:bodyPr>
          <a:lstStyle/>
          <a:p>
            <a:r>
              <a:rPr lang="zh-CN" altLang="en-US" sz="2400" b="1" dirty="0">
                <a:cs typeface="+mn-ea"/>
                <a:sym typeface="+mn-lt"/>
              </a:rPr>
              <a:t>何时</a:t>
            </a:r>
            <a:r>
              <a:rPr lang="zh-CN" altLang="en-US" sz="2400" dirty="0">
                <a:cs typeface="+mn-ea"/>
                <a:sym typeface="+mn-lt"/>
              </a:rPr>
              <a:t>调入页面</a:t>
            </a:r>
            <a:endParaRPr lang="zh-CN" altLang="en-US" sz="2400" dirty="0">
              <a:cs typeface="+mn-ea"/>
              <a:sym typeface="+mn-lt"/>
            </a:endParaRPr>
          </a:p>
        </p:txBody>
      </p:sp>
      <p:sp>
        <p:nvSpPr>
          <p:cNvPr id="25" name="îSļiḓè"/>
          <p:cNvSpPr/>
          <p:nvPr>
            <p:custDataLst>
              <p:tags r:id="rId3"/>
            </p:custDataLst>
          </p:nvPr>
        </p:nvSpPr>
        <p:spPr>
          <a:xfrm>
            <a:off x="1118977" y="117931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7" name="îşļiḓè"/>
          <p:cNvSpPr/>
          <p:nvPr>
            <p:custDataLst>
              <p:tags r:id="rId4"/>
            </p:custDataLst>
          </p:nvPr>
        </p:nvSpPr>
        <p:spPr>
          <a:xfrm>
            <a:off x="1118977" y="276572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8" name="îṡḷíďe"/>
          <p:cNvSpPr/>
          <p:nvPr>
            <p:custDataLst>
              <p:tags r:id="rId5"/>
            </p:custDataLst>
          </p:nvPr>
        </p:nvSpPr>
        <p:spPr>
          <a:xfrm>
            <a:off x="1309232" y="1375453"/>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29" name="íSlíḋe"/>
          <p:cNvSpPr/>
          <p:nvPr>
            <p:custDataLst>
              <p:tags r:id="rId6"/>
            </p:custDataLst>
          </p:nvPr>
        </p:nvSpPr>
        <p:spPr>
          <a:xfrm>
            <a:off x="1309231" y="2987744"/>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2" name="内容占位符 2"/>
          <p:cNvSpPr txBox="1"/>
          <p:nvPr/>
        </p:nvSpPr>
        <p:spPr>
          <a:xfrm>
            <a:off x="2018665" y="5718175"/>
            <a:ext cx="7898765" cy="539115"/>
          </a:xfrm>
          <a:prstGeom prst="rect">
            <a:avLst/>
          </a:prstGeom>
          <a:solidFill>
            <a:schemeClr val="accent1">
              <a:lumMod val="20000"/>
              <a:lumOff val="80000"/>
            </a:schemeClr>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600" dirty="0">
                <a:cs typeface="+mn-ea"/>
                <a:sym typeface="+mn-lt"/>
              </a:rPr>
              <a:t>整个页面调入过程对用户是透明的</a:t>
            </a:r>
            <a:endParaRPr lang="zh-CN" altLang="en-US" sz="2600" dirty="0">
              <a:cs typeface="+mn-ea"/>
              <a:sym typeface="+mn-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cs typeface="+mn-ea"/>
                <a:sym typeface="+mn-lt"/>
              </a:rPr>
              <a:t>Date</a:t>
            </a:r>
            <a:endParaRPr lang="zh-CN" altLang="en-US" dirty="0">
              <a:cs typeface="+mn-ea"/>
              <a:sym typeface="+mn-lt"/>
            </a:endParaRPr>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cs typeface="+mn-ea"/>
                <a:sym typeface="+mn-lt"/>
              </a:rPr>
              <a:t>内容导航：</a:t>
            </a:r>
            <a:endParaRPr lang="zh-CN" altLang="en-US" sz="2800" b="1" dirty="0">
              <a:solidFill>
                <a:schemeClr val="bg1"/>
              </a:solidFill>
              <a:cs typeface="+mn-ea"/>
              <a:sym typeface="+mn-lt"/>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cs typeface="+mn-ea"/>
                <a:sym typeface="+mn-lt"/>
              </a:rPr>
              <a:t>6.1 </a:t>
            </a:r>
            <a:r>
              <a:rPr lang="zh-CN" altLang="en-US" sz="2400" dirty="0">
                <a:cs typeface="+mn-ea"/>
                <a:sym typeface="+mn-lt"/>
              </a:rPr>
              <a:t>虚拟存储器概述</a:t>
            </a:r>
            <a:endParaRPr lang="zh-CN" altLang="en-US" sz="2400" dirty="0">
              <a:cs typeface="+mn-ea"/>
              <a:sym typeface="+mn-lt"/>
            </a:endParaRPr>
          </a:p>
        </p:txBody>
      </p:sp>
      <p:sp>
        <p:nvSpPr>
          <p:cNvPr id="23" name="矩形 22"/>
          <p:cNvSpPr/>
          <p:nvPr/>
        </p:nvSpPr>
        <p:spPr>
          <a:xfrm>
            <a:off x="1696468" y="2375673"/>
            <a:ext cx="4399531" cy="461665"/>
          </a:xfrm>
          <a:prstGeom prst="rect">
            <a:avLst/>
          </a:prstGeom>
        </p:spPr>
        <p:txBody>
          <a:bodyPr wrap="square">
            <a:spAutoFit/>
          </a:bodyPr>
          <a:lstStyle/>
          <a:p>
            <a:r>
              <a:rPr lang="en-US" altLang="zh-CN" sz="2400" dirty="0">
                <a:cs typeface="+mn-ea"/>
                <a:sym typeface="+mn-lt"/>
              </a:rPr>
              <a:t>6.2 </a:t>
            </a:r>
            <a:r>
              <a:rPr lang="zh-CN" altLang="en-US" sz="2400" dirty="0">
                <a:cs typeface="+mn-ea"/>
                <a:sym typeface="+mn-lt"/>
              </a:rPr>
              <a:t>请求分页存储管理方式</a:t>
            </a:r>
            <a:endParaRPr lang="en-US" altLang="zh-CN" sz="2400" dirty="0">
              <a:cs typeface="+mn-ea"/>
              <a:sym typeface="+mn-lt"/>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b="1" dirty="0">
                <a:solidFill>
                  <a:srgbClr val="0000FF"/>
                </a:solidFill>
                <a:cs typeface="+mn-ea"/>
                <a:sym typeface="+mn-lt"/>
              </a:rPr>
              <a:t>6.3 </a:t>
            </a:r>
            <a:r>
              <a:rPr lang="zh-CN" altLang="en-US" sz="2400" b="1" dirty="0">
                <a:solidFill>
                  <a:srgbClr val="0000FF"/>
                </a:solidFill>
                <a:cs typeface="+mn-ea"/>
                <a:sym typeface="+mn-lt"/>
              </a:rPr>
              <a:t>页面置换算法</a:t>
            </a:r>
            <a:endParaRPr lang="en-US" altLang="zh-CN" sz="2400" b="1" dirty="0">
              <a:solidFill>
                <a:srgbClr val="0000FF"/>
              </a:solidFill>
              <a:cs typeface="+mn-ea"/>
              <a:sym typeface="+mn-lt"/>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cs typeface="+mn-ea"/>
                <a:sym typeface="+mn-lt"/>
              </a:rPr>
              <a:t>6.4 </a:t>
            </a:r>
            <a:r>
              <a:rPr lang="zh-CN" altLang="en-US" sz="2400" dirty="0">
                <a:cs typeface="+mn-ea"/>
                <a:sym typeface="+mn-lt"/>
              </a:rPr>
              <a:t>抖动与工作集</a:t>
            </a:r>
            <a:endParaRPr lang="zh-CN" altLang="en-US" sz="2400" dirty="0">
              <a:cs typeface="+mn-ea"/>
              <a:sym typeface="+mn-lt"/>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solidFill>
                  <a:schemeClr val="bg1">
                    <a:lumMod val="75000"/>
                  </a:schemeClr>
                </a:solidFill>
                <a:cs typeface="+mn-ea"/>
                <a:sym typeface="+mn-lt"/>
              </a:rPr>
              <a:t>6.5 </a:t>
            </a:r>
            <a:r>
              <a:rPr lang="zh-CN" altLang="en-US" sz="2400" dirty="0">
                <a:solidFill>
                  <a:schemeClr val="bg1">
                    <a:lumMod val="75000"/>
                  </a:schemeClr>
                </a:solidFill>
                <a:cs typeface="+mn-ea"/>
                <a:sym typeface="+mn-lt"/>
              </a:rPr>
              <a:t>请求分段存储管理方式</a:t>
            </a:r>
            <a:endParaRPr lang="zh-CN" altLang="en-US" sz="2400" dirty="0">
              <a:solidFill>
                <a:schemeClr val="bg1">
                  <a:lumMod val="75000"/>
                </a:schemeClr>
              </a:solidFill>
              <a:cs typeface="+mn-ea"/>
              <a:sym typeface="+mn-lt"/>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solidFill>
                  <a:schemeClr val="bg1">
                    <a:lumMod val="75000"/>
                  </a:schemeClr>
                </a:solidFill>
                <a:cs typeface="+mn-ea"/>
                <a:sym typeface="+mn-lt"/>
              </a:rPr>
              <a:t>6.6 </a:t>
            </a:r>
            <a:r>
              <a:rPr lang="zh-CN" altLang="en-US" sz="2400" dirty="0">
                <a:solidFill>
                  <a:schemeClr val="bg1">
                    <a:lumMod val="75000"/>
                  </a:schemeClr>
                </a:solidFill>
                <a:cs typeface="+mn-ea"/>
                <a:sym typeface="+mn-lt"/>
              </a:rPr>
              <a:t>虚拟存储器实现实例</a:t>
            </a:r>
            <a:endParaRPr lang="zh-CN" altLang="en-US" sz="2400" dirty="0">
              <a:solidFill>
                <a:schemeClr val="bg1">
                  <a:lumMod val="75000"/>
                </a:schemeClr>
              </a:solidFill>
              <a:cs typeface="+mn-ea"/>
              <a:sym typeface="+mn-lt"/>
            </a:endParaRPr>
          </a:p>
        </p:txBody>
      </p:sp>
      <p:sp>
        <p:nvSpPr>
          <p:cNvPr id="3" name="矩形 2"/>
          <p:cNvSpPr/>
          <p:nvPr/>
        </p:nvSpPr>
        <p:spPr>
          <a:xfrm>
            <a:off x="7395099" y="2386337"/>
            <a:ext cx="3801041" cy="646331"/>
          </a:xfrm>
          <a:prstGeom prst="rect">
            <a:avLst/>
          </a:prstGeom>
        </p:spPr>
        <p:txBody>
          <a:bodyPr wrap="none">
            <a:spAutoFit/>
          </a:bodyPr>
          <a:lstStyle/>
          <a:p>
            <a:r>
              <a:rPr lang="zh-CN" altLang="en-US" sz="3600" dirty="0">
                <a:solidFill>
                  <a:srgbClr val="000000"/>
                </a:solidFill>
                <a:cs typeface="+mn-ea"/>
                <a:sym typeface="+mn-lt"/>
              </a:rPr>
              <a:t>第</a:t>
            </a:r>
            <a:r>
              <a:rPr lang="en-US" altLang="zh-CN" sz="3600" dirty="0">
                <a:solidFill>
                  <a:srgbClr val="000000"/>
                </a:solidFill>
                <a:cs typeface="+mn-ea"/>
                <a:sym typeface="+mn-lt"/>
              </a:rPr>
              <a:t>6</a:t>
            </a:r>
            <a:r>
              <a:rPr lang="zh-CN" altLang="en-US" sz="3600" dirty="0">
                <a:solidFill>
                  <a:srgbClr val="000000"/>
                </a:solidFill>
                <a:cs typeface="+mn-ea"/>
                <a:sym typeface="+mn-lt"/>
              </a:rPr>
              <a:t>章 虚拟存储器</a:t>
            </a:r>
            <a:endParaRPr lang="zh-CN" altLang="en-US" sz="3600" dirty="0">
              <a:cs typeface="+mn-ea"/>
              <a:sym typeface="+mn-lt"/>
            </a:endParaRPr>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页面置换</a:t>
            </a:r>
            <a:endParaRPr lang="zh-CN" altLang="en-US" sz="2800" b="1" dirty="0">
              <a:solidFill>
                <a:schemeClr val="bg1"/>
              </a:solidFill>
              <a:cs typeface="+mn-ea"/>
              <a:sym typeface="+mn-lt"/>
            </a:endParaRPr>
          </a:p>
        </p:txBody>
      </p:sp>
      <p:sp>
        <p:nvSpPr>
          <p:cNvPr id="27" name="ïslíḓé"/>
          <p:cNvSpPr/>
          <p:nvPr/>
        </p:nvSpPr>
        <p:spPr bwMode="auto">
          <a:xfrm>
            <a:off x="1342362" y="1555365"/>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sz="2400">
              <a:cs typeface="+mn-ea"/>
              <a:sym typeface="+mn-lt"/>
            </a:endParaRPr>
          </a:p>
        </p:txBody>
      </p:sp>
      <p:sp>
        <p:nvSpPr>
          <p:cNvPr id="8" name="íšḻíḑê"/>
          <p:cNvSpPr/>
          <p:nvPr/>
        </p:nvSpPr>
        <p:spPr>
          <a:xfrm>
            <a:off x="1937100" y="1384699"/>
            <a:ext cx="3696051" cy="405747"/>
          </a:xfrm>
          <a:prstGeom prst="rect">
            <a:avLst/>
          </a:prstGeom>
          <a:noFill/>
          <a:ln>
            <a:noFill/>
          </a:ln>
        </p:spPr>
        <p:txBody>
          <a:bodyPr wrap="square" lIns="91440" tIns="45720" rIns="91440" bIns="45720" anchor="ctr" anchorCtr="0">
            <a:noAutofit/>
          </a:bodyPr>
          <a:p>
            <a:r>
              <a:rPr lang="zh-CN" altLang="en-US" sz="2400" dirty="0">
                <a:solidFill>
                  <a:schemeClr val="tx1"/>
                </a:solidFill>
                <a:cs typeface="+mn-ea"/>
                <a:sym typeface="+mn-lt"/>
              </a:rPr>
              <a:t>页面置换算法</a:t>
            </a:r>
            <a:endParaRPr lang="zh-CN" altLang="en-US" sz="2400" dirty="0">
              <a:solidFill>
                <a:schemeClr val="tx1"/>
              </a:solidFill>
              <a:cs typeface="+mn-ea"/>
              <a:sym typeface="+mn-lt"/>
            </a:endParaRPr>
          </a:p>
        </p:txBody>
      </p:sp>
      <p:grpSp>
        <p:nvGrpSpPr>
          <p:cNvPr id="3" name="组合 2"/>
          <p:cNvGrpSpPr/>
          <p:nvPr/>
        </p:nvGrpSpPr>
        <p:grpSpPr>
          <a:xfrm>
            <a:off x="1118870" y="1479550"/>
            <a:ext cx="627380" cy="627380"/>
            <a:chOff x="1762" y="4431"/>
            <a:chExt cx="988" cy="988"/>
          </a:xfrm>
        </p:grpSpPr>
        <p:sp>
          <p:nvSpPr>
            <p:cNvPr id="9" name="îSļiḓè"/>
            <p:cNvSpPr/>
            <p:nvPr/>
          </p:nvSpPr>
          <p:spPr>
            <a:xfrm>
              <a:off x="1762" y="4431"/>
              <a:ext cx="989" cy="989"/>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p>
              <a:pPr algn="ctr"/>
              <a:endParaRPr>
                <a:cs typeface="+mn-ea"/>
                <a:sym typeface="+mn-lt"/>
              </a:endParaRPr>
            </a:p>
          </p:txBody>
        </p:sp>
        <p:sp>
          <p:nvSpPr>
            <p:cNvPr id="12" name="îṡḷíďe"/>
            <p:cNvSpPr/>
            <p:nvPr/>
          </p:nvSpPr>
          <p:spPr>
            <a:xfrm>
              <a:off x="2062" y="4740"/>
              <a:ext cx="411" cy="39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p>
              <a:pPr algn="ctr"/>
              <a:endParaRPr>
                <a:cs typeface="+mn-ea"/>
                <a:sym typeface="+mn-lt"/>
              </a:endParaRPr>
            </a:p>
          </p:txBody>
        </p:sp>
      </p:grpSp>
      <p:grpSp>
        <p:nvGrpSpPr>
          <p:cNvPr id="2" name="组合 1"/>
          <p:cNvGrpSpPr/>
          <p:nvPr/>
        </p:nvGrpSpPr>
        <p:grpSpPr>
          <a:xfrm>
            <a:off x="1937385" y="1923415"/>
            <a:ext cx="4650105" cy="3451225"/>
            <a:chOff x="2869" y="5188"/>
            <a:chExt cx="7323" cy="5435"/>
          </a:xfrm>
        </p:grpSpPr>
        <p:sp>
          <p:nvSpPr>
            <p:cNvPr id="7" name="îs1iďé"/>
            <p:cNvSpPr/>
            <p:nvPr/>
          </p:nvSpPr>
          <p:spPr>
            <a:xfrm>
              <a:off x="2869" y="5188"/>
              <a:ext cx="7323" cy="3840"/>
            </a:xfrm>
            <a:prstGeom prst="rect">
              <a:avLst/>
            </a:prstGeom>
            <a:noFill/>
            <a:ln>
              <a:noFill/>
            </a:ln>
          </p:spPr>
          <p:txBody>
            <a:bodyPr wrap="square" lIns="91440" tIns="45720" rIns="91440" bIns="45720" anchor="t" anchorCtr="0">
              <a:normAutofit/>
            </a:bodyPr>
            <a:p>
              <a:pPr marL="342900" indent="-342900">
                <a:lnSpc>
                  <a:spcPct val="150000"/>
                </a:lnSpc>
                <a:spcBef>
                  <a:spcPts val="600"/>
                </a:spcBef>
                <a:buClr>
                  <a:srgbClr val="FF0000"/>
                </a:buClr>
                <a:buFont typeface="Wingdings" panose="05000000000000000000" pitchFamily="2" charset="2"/>
                <a:buChar char="Ø"/>
              </a:pPr>
              <a:r>
                <a:rPr lang="zh-CN" altLang="en-US" sz="2200" dirty="0">
                  <a:solidFill>
                    <a:srgbClr val="FF0000"/>
                  </a:solidFill>
                  <a:cs typeface="+mn-ea"/>
                  <a:sym typeface="+mn-lt"/>
                </a:rPr>
                <a:t>最佳置换算法（</a:t>
              </a:r>
              <a:r>
                <a:rPr lang="en-US" altLang="zh-CN" sz="2200" dirty="0">
                  <a:solidFill>
                    <a:srgbClr val="FF0000"/>
                  </a:solidFill>
                  <a:cs typeface="+mn-ea"/>
                  <a:sym typeface="+mn-lt"/>
                </a:rPr>
                <a:t>OPT</a:t>
              </a:r>
              <a:r>
                <a:rPr lang="zh-CN" altLang="en-US" sz="2200" dirty="0">
                  <a:solidFill>
                    <a:srgbClr val="FF0000"/>
                  </a:solidFill>
                  <a:cs typeface="+mn-ea"/>
                  <a:sym typeface="+mn-lt"/>
                </a:rPr>
                <a:t>）</a:t>
              </a:r>
              <a:endParaRPr lang="zh-CN" altLang="en-US" sz="2200" dirty="0">
                <a:solidFill>
                  <a:srgbClr val="FF0000"/>
                </a:solidFill>
                <a:cs typeface="+mn-ea"/>
                <a:sym typeface="+mn-lt"/>
              </a:endParaRPr>
            </a:p>
            <a:p>
              <a:pPr marL="342900" indent="-342900">
                <a:lnSpc>
                  <a:spcPct val="150000"/>
                </a:lnSpc>
                <a:spcBef>
                  <a:spcPts val="600"/>
                </a:spcBef>
                <a:buClr>
                  <a:srgbClr val="FF0000"/>
                </a:buClr>
                <a:buFont typeface="Wingdings" panose="05000000000000000000" pitchFamily="2" charset="2"/>
                <a:buChar char="Ø"/>
              </a:pPr>
              <a:r>
                <a:rPr lang="zh-CN" altLang="en-US" sz="2200" dirty="0">
                  <a:solidFill>
                    <a:srgbClr val="FF0000"/>
                  </a:solidFill>
                  <a:cs typeface="+mn-ea"/>
                  <a:sym typeface="+mn-lt"/>
                </a:rPr>
                <a:t>先进先出置换算法（</a:t>
              </a:r>
              <a:r>
                <a:rPr lang="en-US" altLang="zh-CN" sz="2200" dirty="0">
                  <a:solidFill>
                    <a:srgbClr val="FF0000"/>
                  </a:solidFill>
                  <a:cs typeface="+mn-ea"/>
                  <a:sym typeface="+mn-lt"/>
                </a:rPr>
                <a:t>FIFO</a:t>
              </a:r>
              <a:r>
                <a:rPr lang="zh-CN" altLang="en-US" sz="2200" dirty="0">
                  <a:solidFill>
                    <a:srgbClr val="FF0000"/>
                  </a:solidFill>
                  <a:cs typeface="+mn-ea"/>
                  <a:sym typeface="+mn-lt"/>
                </a:rPr>
                <a:t>）</a:t>
              </a:r>
              <a:endParaRPr lang="zh-CN" altLang="en-US" sz="2200" dirty="0">
                <a:solidFill>
                  <a:srgbClr val="FF0000"/>
                </a:solidFill>
                <a:cs typeface="+mn-ea"/>
                <a:sym typeface="+mn-lt"/>
              </a:endParaRPr>
            </a:p>
            <a:p>
              <a:pPr marL="342900" indent="-342900">
                <a:lnSpc>
                  <a:spcPct val="150000"/>
                </a:lnSpc>
                <a:spcBef>
                  <a:spcPts val="600"/>
                </a:spcBef>
                <a:buClr>
                  <a:srgbClr val="FF0000"/>
                </a:buClr>
                <a:buFont typeface="Wingdings" panose="05000000000000000000" pitchFamily="2" charset="2"/>
                <a:buChar char="Ø"/>
              </a:pPr>
              <a:r>
                <a:rPr lang="zh-CN" altLang="en-US" sz="2200" dirty="0">
                  <a:solidFill>
                    <a:srgbClr val="FF0000"/>
                  </a:solidFill>
                  <a:cs typeface="+mn-ea"/>
                  <a:sym typeface="+mn-lt"/>
                </a:rPr>
                <a:t>最近最久未使用置换算法（</a:t>
              </a:r>
              <a:r>
                <a:rPr lang="en-US" altLang="zh-CN" sz="2200" dirty="0">
                  <a:solidFill>
                    <a:srgbClr val="FF0000"/>
                  </a:solidFill>
                  <a:cs typeface="+mn-ea"/>
                  <a:sym typeface="+mn-lt"/>
                </a:rPr>
                <a:t>LRU</a:t>
              </a:r>
              <a:r>
                <a:rPr lang="zh-CN" altLang="en-US" sz="2200" dirty="0">
                  <a:solidFill>
                    <a:srgbClr val="FF0000"/>
                  </a:solidFill>
                  <a:cs typeface="+mn-ea"/>
                  <a:sym typeface="+mn-lt"/>
                </a:rPr>
                <a:t>）</a:t>
              </a:r>
              <a:endParaRPr lang="zh-CN" altLang="en-US" sz="2200" dirty="0">
                <a:solidFill>
                  <a:srgbClr val="FF0000"/>
                </a:solidFill>
                <a:cs typeface="+mn-ea"/>
                <a:sym typeface="+mn-lt"/>
              </a:endParaRPr>
            </a:p>
          </p:txBody>
        </p:sp>
        <p:sp>
          <p:nvSpPr>
            <p:cNvPr id="15" name="îs1iďé"/>
            <p:cNvSpPr/>
            <p:nvPr/>
          </p:nvSpPr>
          <p:spPr>
            <a:xfrm>
              <a:off x="2869" y="7970"/>
              <a:ext cx="7323" cy="2653"/>
            </a:xfrm>
            <a:prstGeom prst="rect">
              <a:avLst/>
            </a:prstGeom>
            <a:noFill/>
            <a:ln>
              <a:noFill/>
            </a:ln>
          </p:spPr>
          <p:txBody>
            <a:bodyPr wrap="square" lIns="91440" tIns="45720" rIns="91440" bIns="45720" anchor="t" anchorCtr="0">
              <a:normAutofit/>
            </a:bodyPr>
            <a:p>
              <a:pPr marL="342900" indent="-342900">
                <a:lnSpc>
                  <a:spcPct val="150000"/>
                </a:lnSpc>
                <a:spcBef>
                  <a:spcPts val="600"/>
                </a:spcBef>
                <a:buClr>
                  <a:srgbClr val="FF0000"/>
                </a:buClr>
                <a:buFont typeface="Wingdings" panose="05000000000000000000" pitchFamily="2" charset="2"/>
                <a:buChar char="Ø"/>
              </a:pPr>
              <a:r>
                <a:rPr lang="en-US" altLang="zh-CN" sz="2200" dirty="0">
                  <a:solidFill>
                    <a:srgbClr val="FF0000"/>
                  </a:solidFill>
                  <a:cs typeface="+mn-ea"/>
                  <a:sym typeface="+mn-lt"/>
                </a:rPr>
                <a:t>Clock</a:t>
              </a:r>
              <a:r>
                <a:rPr lang="zh-CN" altLang="en-US" sz="2200" dirty="0">
                  <a:solidFill>
                    <a:srgbClr val="FF0000"/>
                  </a:solidFill>
                  <a:cs typeface="+mn-ea"/>
                  <a:sym typeface="+mn-lt"/>
                </a:rPr>
                <a:t>置换算法</a:t>
              </a:r>
              <a:endParaRPr lang="zh-CN" altLang="en-US" sz="2200" dirty="0">
                <a:solidFill>
                  <a:srgbClr val="FF0000"/>
                </a:solidFill>
                <a:cs typeface="+mn-ea"/>
                <a:sym typeface="+mn-lt"/>
              </a:endParaRPr>
            </a:p>
            <a:p>
              <a:pPr marL="342900" indent="-342900">
                <a:lnSpc>
                  <a:spcPct val="150000"/>
                </a:lnSpc>
                <a:spcBef>
                  <a:spcPts val="600"/>
                </a:spcBef>
                <a:buClr>
                  <a:srgbClr val="FF0000"/>
                </a:buClr>
                <a:buFont typeface="Wingdings" panose="05000000000000000000" pitchFamily="2" charset="2"/>
                <a:buChar char="Ø"/>
              </a:pPr>
              <a:r>
                <a:rPr lang="zh-CN" altLang="en-US" sz="2200" dirty="0">
                  <a:solidFill>
                    <a:srgbClr val="FF0000"/>
                  </a:solidFill>
                  <a:cs typeface="+mn-ea"/>
                  <a:sym typeface="+mn-lt"/>
                </a:rPr>
                <a:t>改进型</a:t>
              </a:r>
              <a:r>
                <a:rPr lang="en-US" altLang="zh-CN" sz="2200" dirty="0">
                  <a:solidFill>
                    <a:srgbClr val="FF0000"/>
                  </a:solidFill>
                  <a:cs typeface="+mn-ea"/>
                  <a:sym typeface="+mn-lt"/>
                </a:rPr>
                <a:t>Clock</a:t>
              </a:r>
              <a:r>
                <a:rPr lang="zh-CN" altLang="en-US" sz="2200" dirty="0">
                  <a:solidFill>
                    <a:srgbClr val="FF0000"/>
                  </a:solidFill>
                  <a:cs typeface="+mn-ea"/>
                  <a:sym typeface="+mn-lt"/>
                </a:rPr>
                <a:t>置换</a:t>
              </a:r>
              <a:r>
                <a:rPr lang="zh-CN" altLang="en-US" sz="2200" dirty="0">
                  <a:solidFill>
                    <a:srgbClr val="FF0000"/>
                  </a:solidFill>
                  <a:cs typeface="+mn-ea"/>
                  <a:sym typeface="+mn-lt"/>
                </a:rPr>
                <a:t>算法</a:t>
              </a:r>
              <a:endParaRPr lang="zh-CN" altLang="en-US" sz="2200" dirty="0">
                <a:solidFill>
                  <a:srgbClr val="FF0000"/>
                </a:solidFill>
                <a:cs typeface="+mn-ea"/>
                <a:sym typeface="+mn-lt"/>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最佳置换算法</a:t>
            </a:r>
            <a:r>
              <a:rPr lang="en-US" altLang="zh-CN" sz="2800" b="1" dirty="0">
                <a:solidFill>
                  <a:schemeClr val="bg1"/>
                </a:solidFill>
                <a:cs typeface="+mn-ea"/>
                <a:sym typeface="+mn-lt"/>
              </a:rPr>
              <a:t>OPT</a:t>
            </a:r>
            <a:endParaRPr lang="zh-CN" altLang="en-US" sz="2800" b="1" dirty="0">
              <a:solidFill>
                <a:schemeClr val="bg1"/>
              </a:solidFill>
              <a:cs typeface="+mn-ea"/>
              <a:sym typeface="+mn-lt"/>
            </a:endParaRPr>
          </a:p>
        </p:txBody>
      </p:sp>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17744" y="1095014"/>
            <a:ext cx="527050" cy="527050"/>
          </a:xfrm>
          <a:prstGeom prst="rect">
            <a:avLst/>
          </a:prstGeom>
          <a:ln>
            <a:noFill/>
          </a:ln>
          <a:effectLst>
            <a:softEdge rad="0"/>
          </a:effectLst>
        </p:spPr>
      </p:pic>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17744" y="1874001"/>
            <a:ext cx="527050" cy="527050"/>
          </a:xfrm>
          <a:prstGeom prst="rect">
            <a:avLst/>
          </a:prstGeom>
          <a:ln>
            <a:noFill/>
          </a:ln>
          <a:effectLst>
            <a:softEdge rad="0"/>
          </a:effectLst>
        </p:spPr>
      </p:pic>
      <p:sp>
        <p:nvSpPr>
          <p:cNvPr id="31" name="内容占位符 2"/>
          <p:cNvSpPr txBox="1"/>
          <p:nvPr/>
        </p:nvSpPr>
        <p:spPr>
          <a:xfrm>
            <a:off x="981075" y="976630"/>
            <a:ext cx="8315325" cy="6451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buNone/>
              <a:tabLst>
                <a:tab pos="1890395" algn="l"/>
              </a:tabLst>
            </a:pPr>
            <a:r>
              <a:rPr lang="zh-CN" altLang="en-US" sz="2400" b="1" dirty="0">
                <a:cs typeface="+mn-ea"/>
                <a:sym typeface="+mn-lt"/>
              </a:rPr>
              <a:t>算法思想</a:t>
            </a:r>
            <a:r>
              <a:rPr lang="zh-CN" altLang="en-US" sz="2400" dirty="0">
                <a:cs typeface="+mn-ea"/>
                <a:sym typeface="+mn-lt"/>
              </a:rPr>
              <a:t>：被置换的页</a:t>
            </a:r>
            <a:r>
              <a:rPr lang="zh-CN" altLang="en-US" sz="2400" b="1" dirty="0">
                <a:cs typeface="+mn-ea"/>
                <a:sym typeface="+mn-lt"/>
              </a:rPr>
              <a:t>将来最长时间</a:t>
            </a:r>
            <a:r>
              <a:rPr lang="zh-CN" altLang="en-US" sz="2400" dirty="0">
                <a:cs typeface="+mn-ea"/>
                <a:sym typeface="+mn-lt"/>
              </a:rPr>
              <a:t>不被使用的页</a:t>
            </a:r>
            <a:endParaRPr lang="zh-CN" altLang="en-US" sz="2400" dirty="0">
              <a:cs typeface="+mn-ea"/>
              <a:sym typeface="+mn-lt"/>
            </a:endParaRPr>
          </a:p>
          <a:p>
            <a:pPr marL="0" indent="0">
              <a:lnSpc>
                <a:spcPct val="123000"/>
              </a:lnSpc>
              <a:buNone/>
              <a:tabLst>
                <a:tab pos="1890395" algn="l"/>
              </a:tabLst>
            </a:pPr>
            <a:endParaRPr lang="zh-CN" altLang="en-US" sz="2400" dirty="0">
              <a:cs typeface="+mn-ea"/>
              <a:sym typeface="+mn-lt"/>
            </a:endParaRPr>
          </a:p>
        </p:txBody>
      </p:sp>
      <p:sp>
        <p:nvSpPr>
          <p:cNvPr id="2" name="文本框 1"/>
          <p:cNvSpPr txBox="1"/>
          <p:nvPr/>
        </p:nvSpPr>
        <p:spPr>
          <a:xfrm>
            <a:off x="981075" y="1711325"/>
            <a:ext cx="9448165" cy="1452880"/>
          </a:xfrm>
          <a:prstGeom prst="rect">
            <a:avLst/>
          </a:prstGeom>
          <a:noFill/>
        </p:spPr>
        <p:txBody>
          <a:bodyPr wrap="square" rtlCol="0" anchor="t">
            <a:spAutoFit/>
          </a:bodyPr>
          <a:p>
            <a:pPr marL="0" indent="0">
              <a:lnSpc>
                <a:spcPct val="123000"/>
              </a:lnSpc>
              <a:buNone/>
              <a:tabLst>
                <a:tab pos="1890395" algn="l"/>
              </a:tabLst>
            </a:pPr>
            <a:r>
              <a:rPr lang="zh-CN" altLang="en-US" sz="2400" b="1" dirty="0">
                <a:cs typeface="+mn-ea"/>
                <a:sym typeface="+mn-lt"/>
              </a:rPr>
              <a:t>优点：</a:t>
            </a:r>
            <a:r>
              <a:rPr lang="zh-CN" altLang="en-US" sz="2400" dirty="0">
                <a:cs typeface="+mn-ea"/>
                <a:sym typeface="+mn-lt"/>
              </a:rPr>
              <a:t>最高效置换算法</a:t>
            </a:r>
            <a:r>
              <a:rPr lang="zh-CN" altLang="en-US" sz="2400" b="1" dirty="0">
                <a:cs typeface="+mn-ea"/>
                <a:sym typeface="+mn-lt"/>
              </a:rPr>
              <a:t>，</a:t>
            </a:r>
            <a:r>
              <a:rPr lang="zh-CN" altLang="en-US" sz="2400" dirty="0">
                <a:cs typeface="+mn-ea"/>
                <a:sym typeface="+mn-lt"/>
              </a:rPr>
              <a:t>缺页率</a:t>
            </a:r>
            <a:r>
              <a:rPr lang="zh-CN" altLang="en-US" sz="2400" dirty="0">
                <a:cs typeface="+mn-ea"/>
                <a:sym typeface="+mn-lt"/>
              </a:rPr>
              <a:t>最低</a:t>
            </a:r>
            <a:endParaRPr lang="zh-CN" altLang="en-US" sz="2400" b="1" dirty="0">
              <a:cs typeface="+mn-ea"/>
              <a:sym typeface="+mn-lt"/>
            </a:endParaRPr>
          </a:p>
          <a:p>
            <a:pPr marL="0" indent="0">
              <a:lnSpc>
                <a:spcPct val="123000"/>
              </a:lnSpc>
              <a:buNone/>
              <a:tabLst>
                <a:tab pos="1890395" algn="l"/>
              </a:tabLst>
            </a:pPr>
            <a:r>
              <a:rPr lang="zh-CN" altLang="en-US" sz="2400" b="1" dirty="0">
                <a:cs typeface="+mn-ea"/>
                <a:sym typeface="+mn-lt"/>
              </a:rPr>
              <a:t>缺点</a:t>
            </a:r>
            <a:r>
              <a:rPr lang="zh-CN" altLang="en-US" sz="2400" dirty="0">
                <a:cs typeface="+mn-ea"/>
                <a:sym typeface="+mn-lt"/>
              </a:rPr>
              <a:t>：太过</a:t>
            </a:r>
            <a:r>
              <a:rPr lang="zh-CN" altLang="en-US" sz="2400" dirty="0">
                <a:cs typeface="+mn-ea"/>
                <a:sym typeface="+mn-lt"/>
              </a:rPr>
              <a:t>理想，怎样知道被置换的页是之后最长时间不被使用的页？</a:t>
            </a:r>
            <a:endParaRPr lang="zh-CN" altLang="en-US" sz="2400" dirty="0">
              <a:cs typeface="+mn-ea"/>
              <a:sym typeface="+mn-lt"/>
            </a:endParaRPr>
          </a:p>
          <a:p>
            <a:pPr marL="0" indent="0">
              <a:lnSpc>
                <a:spcPct val="123000"/>
              </a:lnSpc>
              <a:buNone/>
              <a:tabLst>
                <a:tab pos="1890395" algn="l"/>
              </a:tabLst>
            </a:pPr>
            <a:r>
              <a:rPr lang="zh-CN" altLang="en-US" sz="2400" dirty="0">
                <a:cs typeface="+mn-ea"/>
                <a:sym typeface="+mn-lt"/>
              </a:rPr>
              <a:t>所以该算法属于无法实现的算法，可用来评价其他算法</a:t>
            </a:r>
            <a:r>
              <a:rPr lang="zh-CN" altLang="en-US" sz="2400" dirty="0">
                <a:cs typeface="+mn-ea"/>
                <a:sym typeface="+mn-lt"/>
              </a:rPr>
              <a:t>好坏</a:t>
            </a:r>
            <a:endParaRPr lang="zh-CN" altLang="en-US" sz="2400" dirty="0">
              <a:cs typeface="+mn-ea"/>
              <a:sym typeface="+mn-lt"/>
            </a:endParaRPr>
          </a:p>
        </p:txBody>
      </p:sp>
      <p:pic>
        <p:nvPicPr>
          <p:cNvPr id="16" name="Picture 5"/>
          <p:cNvPicPr>
            <a:picLocks noChangeAspect="1" noChangeArrowheads="1"/>
          </p:cNvPicPr>
          <p:nvPr/>
        </p:nvPicPr>
        <p:blipFill>
          <a:blip r:embed="rId2">
            <a:extLst>
              <a:ext uri="{28A0092B-C50C-407E-A947-70E740481C1C}">
                <a14:useLocalDpi xmlns:a14="http://schemas.microsoft.com/office/drawing/2010/main" val="0"/>
              </a:ext>
            </a:extLst>
          </a:blip>
          <a:srcRect l="471" t="32074" r="781" b="32076"/>
          <a:stretch>
            <a:fillRect/>
          </a:stretch>
        </p:blipFill>
        <p:spPr bwMode="auto">
          <a:xfrm>
            <a:off x="457834" y="3253579"/>
            <a:ext cx="11635227" cy="2425897"/>
          </a:xfrm>
          <a:prstGeom prst="rect">
            <a:avLst/>
          </a:prstGeom>
          <a:noFill/>
          <a:ln w="38100" cmpd="dbl">
            <a:solidFill>
              <a:schemeClr val="accent2">
                <a:lumMod val="40000"/>
                <a:lumOff val="6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cs typeface="+mn-ea"/>
                <a:sym typeface="+mn-lt"/>
              </a:rPr>
              <a:t>先进先出置换算法</a:t>
            </a:r>
            <a:r>
              <a:rPr lang="en-US" altLang="zh-CN" sz="2800" b="1" dirty="0">
                <a:solidFill>
                  <a:schemeClr val="bg1"/>
                </a:solidFill>
                <a:cs typeface="+mn-ea"/>
                <a:sym typeface="+mn-lt"/>
              </a:rPr>
              <a:t>FIFO</a:t>
            </a:r>
            <a:endParaRPr lang="en-US" altLang="zh-CN" sz="2800" b="1" dirty="0">
              <a:solidFill>
                <a:schemeClr val="bg1"/>
              </a:solidFill>
              <a:cs typeface="+mn-ea"/>
              <a:sym typeface="+mn-lt"/>
            </a:endParaRPr>
          </a:p>
        </p:txBody>
      </p:sp>
      <p:sp>
        <p:nvSpPr>
          <p:cNvPr id="22" name="内容占位符 2"/>
          <p:cNvSpPr txBox="1"/>
          <p:nvPr/>
        </p:nvSpPr>
        <p:spPr>
          <a:xfrm>
            <a:off x="930275" y="1148715"/>
            <a:ext cx="11143615" cy="12630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600"/>
              </a:spcBef>
              <a:spcAft>
                <a:spcPts val="600"/>
              </a:spcAft>
              <a:buNone/>
            </a:pPr>
            <a:r>
              <a:rPr lang="zh-CN" altLang="en-US" sz="3200" dirty="0">
                <a:solidFill>
                  <a:schemeClr val="tx1"/>
                </a:solidFill>
              </a:rPr>
              <a:t>总是淘汰最先进入内存的页面，</a:t>
            </a:r>
            <a:r>
              <a:rPr lang="zh-CN" altLang="en-US" sz="3200" dirty="0"/>
              <a:t>即选择在内存中驻留时间最久的页面予以淘汰。实现简单，性能最差，很少使用。</a:t>
            </a:r>
            <a:endParaRPr lang="en-US" altLang="zh-CN" sz="3200" dirty="0"/>
          </a:p>
          <a:p>
            <a:pPr marL="0" indent="0">
              <a:lnSpc>
                <a:spcPct val="123000"/>
              </a:lnSpc>
              <a:spcBef>
                <a:spcPts val="600"/>
              </a:spcBef>
              <a:spcAft>
                <a:spcPts val="600"/>
              </a:spcAft>
              <a:buNone/>
            </a:pPr>
            <a:endParaRPr lang="zh-CN" altLang="en-US" sz="3200" dirty="0"/>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10454" y="1081044"/>
            <a:ext cx="527050" cy="527050"/>
          </a:xfrm>
          <a:prstGeom prst="rect">
            <a:avLst/>
          </a:prstGeom>
          <a:ln>
            <a:noFill/>
          </a:ln>
          <a:effectLst>
            <a:softEdge rad="0"/>
          </a:effectLst>
        </p:spPr>
      </p:pic>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l="655" t="32359" r="452" b="32361"/>
          <a:stretch>
            <a:fillRect/>
          </a:stretch>
        </p:blipFill>
        <p:spPr bwMode="auto">
          <a:xfrm>
            <a:off x="222151" y="2727774"/>
            <a:ext cx="11969947" cy="2401305"/>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40080" y="373380"/>
            <a:ext cx="11099165" cy="1330325"/>
          </a:xfrm>
          <a:prstGeom prst="rect">
            <a:avLst/>
          </a:prstGeom>
        </p:spPr>
        <p:txBody>
          <a:bodyPr>
            <a:noAutofit/>
          </a:bodyPr>
          <a:p>
            <a:r>
              <a:rPr lang="zh-CN" altLang="en-US" sz="2800"/>
              <a:t>给一个进程分配</a:t>
            </a:r>
            <a:r>
              <a:rPr lang="en-US" altLang="zh-CN" sz="2800"/>
              <a:t>4</a:t>
            </a:r>
            <a:r>
              <a:rPr lang="zh-CN" altLang="en-US" sz="2800"/>
              <a:t>个页框，其页表如下。在时间</a:t>
            </a:r>
            <a:r>
              <a:rPr lang="en-US" altLang="zh-CN" sz="2800"/>
              <a:t>164</a:t>
            </a:r>
            <a:r>
              <a:rPr lang="zh-CN" altLang="en-US" sz="2800"/>
              <a:t>产生虚页号</a:t>
            </a:r>
            <a:r>
              <a:rPr lang="en-US" altLang="zh-CN" sz="2800"/>
              <a:t>4</a:t>
            </a:r>
            <a:r>
              <a:rPr lang="zh-CN" altLang="en-US" sz="2800"/>
              <a:t>缺页。按照 </a:t>
            </a:r>
            <a:r>
              <a:rPr lang="en-US" altLang="zh-CN" sz="2800"/>
              <a:t>FIFO </a:t>
            </a:r>
            <a:r>
              <a:rPr lang="zh-CN" altLang="en-US" sz="2800"/>
              <a:t>策略，被置换出的页框号是（</a:t>
            </a:r>
            <a:r>
              <a:rPr lang="en-US" altLang="zh-CN" sz="2800"/>
              <a:t>)</a:t>
            </a:r>
            <a:r>
              <a:rPr lang="zh-CN" altLang="en-US" sz="2800"/>
              <a:t>。</a:t>
            </a:r>
            <a:endParaRPr lang="zh-CN" altLang="en-US" sz="2800"/>
          </a:p>
        </p:txBody>
      </p:sp>
      <p:sp>
        <p:nvSpPr>
          <p:cNvPr id="3" name="文本框 2"/>
          <p:cNvSpPr txBox="1"/>
          <p:nvPr/>
        </p:nvSpPr>
        <p:spPr>
          <a:xfrm>
            <a:off x="640080" y="1558290"/>
            <a:ext cx="10973435" cy="737235"/>
          </a:xfrm>
          <a:prstGeom prst="rect">
            <a:avLst/>
          </a:prstGeom>
        </p:spPr>
        <p:txBody>
          <a:bodyPr>
            <a:noAutofit/>
          </a:bodyPr>
          <a:p>
            <a:r>
              <a:rPr lang="en-US" altLang="zh-CN" sz="2800"/>
              <a:t>A.0          B.</a:t>
            </a:r>
            <a:r>
              <a:rPr lang="en-US" sz="2800"/>
              <a:t>1</a:t>
            </a:r>
            <a:r>
              <a:rPr lang="en-US" altLang="zh-CN" sz="2800"/>
              <a:t>            C.2             D.3</a:t>
            </a:r>
            <a:endParaRPr lang="zh-CN" altLang="en-US" sz="2800"/>
          </a:p>
        </p:txBody>
      </p:sp>
      <p:pic>
        <p:nvPicPr>
          <p:cNvPr id="4" name="图片 3"/>
          <p:cNvPicPr>
            <a:picLocks noChangeAspect="1"/>
          </p:cNvPicPr>
          <p:nvPr/>
        </p:nvPicPr>
        <p:blipFill>
          <a:blip r:embed="rId1"/>
          <a:srcRect r="42708"/>
          <a:stretch>
            <a:fillRect/>
          </a:stretch>
        </p:blipFill>
        <p:spPr>
          <a:xfrm>
            <a:off x="2918460" y="2158365"/>
            <a:ext cx="4737100" cy="3603625"/>
          </a:xfrm>
          <a:prstGeom prst="rect">
            <a:avLst/>
          </a:prstGeom>
        </p:spPr>
      </p:pic>
      <p:sp>
        <p:nvSpPr>
          <p:cNvPr id="6" name="文本框 5"/>
          <p:cNvSpPr txBox="1"/>
          <p:nvPr/>
        </p:nvSpPr>
        <p:spPr>
          <a:xfrm>
            <a:off x="1108075" y="5973445"/>
            <a:ext cx="2054225" cy="583565"/>
          </a:xfrm>
          <a:prstGeom prst="rect">
            <a:avLst/>
          </a:prstGeom>
          <a:noFill/>
        </p:spPr>
        <p:txBody>
          <a:bodyPr wrap="square" rtlCol="0" anchor="t">
            <a:spAutoFit/>
          </a:bodyPr>
          <a:p>
            <a:r>
              <a:rPr lang="zh-CN" altLang="en-US" sz="3200">
                <a:solidFill>
                  <a:srgbClr val="FF0000"/>
                </a:solidFill>
                <a:sym typeface="+mn-ea"/>
              </a:rPr>
              <a:t>答案：</a:t>
            </a:r>
            <a:r>
              <a:rPr lang="en-US" altLang="zh-CN" sz="3200">
                <a:solidFill>
                  <a:srgbClr val="FF0000"/>
                </a:solidFill>
                <a:sym typeface="+mn-ea"/>
              </a:rPr>
              <a:t>D</a:t>
            </a:r>
            <a:endParaRPr lang="en-US" altLang="zh-CN" sz="320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cs typeface="+mn-ea"/>
                <a:sym typeface="+mn-lt"/>
              </a:rPr>
              <a:t>先进先出置换算法</a:t>
            </a:r>
            <a:r>
              <a:rPr lang="en-US" altLang="zh-CN" sz="2800" b="1" dirty="0">
                <a:solidFill>
                  <a:schemeClr val="bg1"/>
                </a:solidFill>
                <a:cs typeface="+mn-ea"/>
                <a:sym typeface="+mn-lt"/>
              </a:rPr>
              <a:t>FIFO——</a:t>
            </a:r>
            <a:r>
              <a:rPr lang="en-US" altLang="zh-CN" sz="2800" b="1" dirty="0">
                <a:solidFill>
                  <a:schemeClr val="bg1"/>
                </a:solidFill>
                <a:sym typeface="+mn-ea"/>
              </a:rPr>
              <a:t>Belady</a:t>
            </a:r>
            <a:r>
              <a:rPr lang="zh-CN" altLang="en-US" sz="2800" b="1" dirty="0">
                <a:solidFill>
                  <a:schemeClr val="bg1"/>
                </a:solidFill>
                <a:sym typeface="+mn-ea"/>
              </a:rPr>
              <a:t>现象</a:t>
            </a:r>
            <a:endParaRPr lang="zh-CN" altLang="en-US" sz="2800" b="1" dirty="0">
              <a:solidFill>
                <a:schemeClr val="bg1"/>
              </a:solidFill>
              <a:cs typeface="+mn-ea"/>
              <a:sym typeface="+mn-ea"/>
            </a:endParaRPr>
          </a:p>
        </p:txBody>
      </p:sp>
      <p:sp>
        <p:nvSpPr>
          <p:cNvPr id="22" name="内容占位符 2"/>
          <p:cNvSpPr txBox="1"/>
          <p:nvPr/>
        </p:nvSpPr>
        <p:spPr>
          <a:xfrm>
            <a:off x="930275" y="1148715"/>
            <a:ext cx="10659745" cy="47002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600"/>
              </a:spcBef>
              <a:spcAft>
                <a:spcPts val="600"/>
              </a:spcAft>
              <a:buNone/>
            </a:pPr>
            <a:r>
              <a:rPr lang="en-US" altLang="zh-CN" sz="2400" b="1" dirty="0">
                <a:solidFill>
                  <a:srgbClr val="FF0000"/>
                </a:solidFill>
              </a:rPr>
              <a:t>Belady</a:t>
            </a:r>
            <a:r>
              <a:rPr lang="zh-CN" altLang="en-US" sz="2400" b="1" dirty="0">
                <a:solidFill>
                  <a:srgbClr val="FF0000"/>
                </a:solidFill>
              </a:rPr>
              <a:t>（</a:t>
            </a:r>
            <a:r>
              <a:rPr lang="zh-CN" altLang="en-US" sz="2400" b="1" dirty="0">
                <a:solidFill>
                  <a:srgbClr val="FF0000"/>
                </a:solidFill>
              </a:rPr>
              <a:t>贝莱迪）现象</a:t>
            </a:r>
            <a:endParaRPr lang="zh-CN" altLang="en-US" sz="2400" b="1" dirty="0">
              <a:solidFill>
                <a:srgbClr val="FF0000"/>
              </a:solidFill>
            </a:endParaRPr>
          </a:p>
          <a:p>
            <a:pPr marL="0" indent="0">
              <a:lnSpc>
                <a:spcPct val="123000"/>
              </a:lnSpc>
              <a:spcBef>
                <a:spcPts val="600"/>
              </a:spcBef>
              <a:spcAft>
                <a:spcPts val="600"/>
              </a:spcAft>
              <a:buNone/>
            </a:pPr>
            <a:r>
              <a:rPr lang="zh-CN" altLang="en-US" sz="2400" dirty="0"/>
              <a:t>对一个进程分配它所要求的页面时，会出现分配的页面数增多，但缺页率反而提高的异常现象。</a:t>
            </a:r>
            <a:endParaRPr lang="zh-CN" altLang="en-US" sz="2400" dirty="0"/>
          </a:p>
          <a:p>
            <a:pPr marL="0" indent="0">
              <a:lnSpc>
                <a:spcPct val="123000"/>
              </a:lnSpc>
              <a:spcBef>
                <a:spcPts val="600"/>
              </a:spcBef>
              <a:spcAft>
                <a:spcPts val="600"/>
              </a:spcAft>
              <a:buNone/>
            </a:pPr>
            <a:endParaRPr lang="zh-CN" altLang="en-US" sz="2400" dirty="0"/>
          </a:p>
          <a:p>
            <a:pPr marL="0" indent="0">
              <a:lnSpc>
                <a:spcPct val="123000"/>
              </a:lnSpc>
              <a:spcBef>
                <a:spcPts val="600"/>
              </a:spcBef>
              <a:spcAft>
                <a:spcPts val="600"/>
              </a:spcAft>
              <a:buNone/>
            </a:pPr>
            <a:r>
              <a:rPr lang="zh-CN" altLang="en-US" sz="2400" dirty="0"/>
              <a:t>引用串 </a:t>
            </a:r>
            <a:r>
              <a:rPr lang="en-US" altLang="zh-CN" sz="2400" dirty="0"/>
              <a:t>: 1, 2, 3, 4, 1, 2, 5, 1, 2, 3, 4, 5</a:t>
            </a:r>
            <a:endParaRPr lang="en-US" altLang="zh-CN" sz="2400" dirty="0"/>
          </a:p>
          <a:p>
            <a:pPr lvl="1">
              <a:lnSpc>
                <a:spcPct val="123000"/>
              </a:lnSpc>
              <a:spcBef>
                <a:spcPts val="600"/>
              </a:spcBef>
              <a:spcAft>
                <a:spcPts val="600"/>
              </a:spcAft>
              <a:buClr>
                <a:srgbClr val="FF0000"/>
              </a:buClr>
              <a:buFont typeface="Wingdings" panose="05000000000000000000" pitchFamily="2" charset="2"/>
              <a:buChar char="Ø"/>
            </a:pPr>
            <a:r>
              <a:rPr lang="en-US" altLang="zh-CN" sz="2400" dirty="0"/>
              <a:t>3 </a:t>
            </a:r>
            <a:r>
              <a:rPr lang="zh-CN" altLang="en-US" sz="2400" dirty="0"/>
              <a:t>个页：</a:t>
            </a:r>
            <a:r>
              <a:rPr lang="en-US" altLang="zh-CN" sz="2400" dirty="0"/>
              <a:t>9</a:t>
            </a:r>
            <a:r>
              <a:rPr lang="zh-CN" altLang="en-US" sz="2400" dirty="0"/>
              <a:t>次缺页</a:t>
            </a:r>
            <a:endParaRPr lang="en-US" altLang="zh-CN" sz="2400" dirty="0"/>
          </a:p>
          <a:p>
            <a:pPr lvl="1">
              <a:lnSpc>
                <a:spcPct val="123000"/>
              </a:lnSpc>
              <a:spcBef>
                <a:spcPts val="600"/>
              </a:spcBef>
              <a:spcAft>
                <a:spcPts val="600"/>
              </a:spcAft>
              <a:buClr>
                <a:srgbClr val="FF0000"/>
              </a:buClr>
              <a:buFont typeface="Wingdings" panose="05000000000000000000" pitchFamily="2" charset="2"/>
              <a:buChar char="Ø"/>
            </a:pPr>
            <a:r>
              <a:rPr lang="en-US" altLang="zh-CN" sz="2400" dirty="0"/>
              <a:t>4 </a:t>
            </a:r>
            <a:r>
              <a:rPr lang="zh-CN" altLang="en-US" sz="2400" dirty="0"/>
              <a:t>个页框：</a:t>
            </a:r>
            <a:r>
              <a:rPr lang="en-US" altLang="zh-CN" sz="2400" dirty="0"/>
              <a:t>10</a:t>
            </a:r>
            <a:r>
              <a:rPr lang="zh-CN" altLang="en-US" sz="2400" dirty="0"/>
              <a:t>次缺页</a:t>
            </a:r>
            <a:endParaRPr lang="zh-CN" altLang="en-US" sz="2400" dirty="0"/>
          </a:p>
        </p:txBody>
      </p:sp>
      <p:pic>
        <p:nvPicPr>
          <p:cNvPr id="24" name="图片 2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19649" y="1153237"/>
            <a:ext cx="527050" cy="527050"/>
          </a:xfrm>
          <a:prstGeom prst="rect">
            <a:avLst/>
          </a:prstGeom>
          <a:ln>
            <a:noFill/>
          </a:ln>
          <a:effectLst>
            <a:softEdge rad="0"/>
          </a:effectLst>
        </p:spPr>
      </p:pic>
      <p:grpSp>
        <p:nvGrpSpPr>
          <p:cNvPr id="3" name="组合 2"/>
          <p:cNvGrpSpPr/>
          <p:nvPr/>
        </p:nvGrpSpPr>
        <p:grpSpPr>
          <a:xfrm>
            <a:off x="7784565" y="2701922"/>
            <a:ext cx="4003829" cy="3325313"/>
            <a:chOff x="6871317" y="2854402"/>
            <a:chExt cx="4003829" cy="3325313"/>
          </a:xfrm>
        </p:grpSpPr>
        <p:grpSp>
          <p:nvGrpSpPr>
            <p:cNvPr id="25" name="组合 3"/>
            <p:cNvGrpSpPr/>
            <p:nvPr/>
          </p:nvGrpSpPr>
          <p:grpSpPr bwMode="auto">
            <a:xfrm>
              <a:off x="6954101" y="2935158"/>
              <a:ext cx="3791487" cy="3189201"/>
              <a:chOff x="3209425" y="2109978"/>
              <a:chExt cx="3246225" cy="3828671"/>
            </a:xfrm>
          </p:grpSpPr>
          <p:sp>
            <p:nvSpPr>
              <p:cNvPr id="26" name="Rectangle 4"/>
              <p:cNvSpPr>
                <a:spLocks noChangeArrowheads="1"/>
              </p:cNvSpPr>
              <p:nvPr/>
            </p:nvSpPr>
            <p:spPr bwMode="auto">
              <a:xfrm>
                <a:off x="3657600" y="2238375"/>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b="0">
                    <a:latin typeface="+mn-ea"/>
                    <a:ea typeface="+mn-ea"/>
                  </a:rPr>
                  <a:t>1</a:t>
                </a:r>
                <a:endParaRPr lang="zh-CN" altLang="en-US" b="0">
                  <a:latin typeface="+mn-ea"/>
                  <a:ea typeface="+mn-ea"/>
                </a:endParaRPr>
              </a:p>
            </p:txBody>
          </p:sp>
          <p:sp>
            <p:nvSpPr>
              <p:cNvPr id="27" name="Rectangle 5"/>
              <p:cNvSpPr>
                <a:spLocks noChangeArrowheads="1"/>
              </p:cNvSpPr>
              <p:nvPr/>
            </p:nvSpPr>
            <p:spPr bwMode="auto">
              <a:xfrm>
                <a:off x="3657600" y="2695575"/>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b="0">
                    <a:latin typeface="+mn-ea"/>
                    <a:ea typeface="+mn-ea"/>
                  </a:rPr>
                  <a:t>2</a:t>
                </a:r>
                <a:endParaRPr lang="zh-CN" altLang="en-US" b="0">
                  <a:latin typeface="+mn-ea"/>
                  <a:ea typeface="+mn-ea"/>
                </a:endParaRPr>
              </a:p>
            </p:txBody>
          </p:sp>
          <p:sp>
            <p:nvSpPr>
              <p:cNvPr id="28" name="Rectangle 6"/>
              <p:cNvSpPr>
                <a:spLocks noChangeArrowheads="1"/>
              </p:cNvSpPr>
              <p:nvPr/>
            </p:nvSpPr>
            <p:spPr bwMode="auto">
              <a:xfrm>
                <a:off x="3657600" y="3152775"/>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b="0">
                    <a:latin typeface="+mn-ea"/>
                    <a:ea typeface="+mn-ea"/>
                  </a:rPr>
                  <a:t>3</a:t>
                </a:r>
                <a:endParaRPr lang="zh-CN" altLang="en-US" b="0">
                  <a:latin typeface="+mn-ea"/>
                  <a:ea typeface="+mn-ea"/>
                </a:endParaRPr>
              </a:p>
            </p:txBody>
          </p:sp>
          <p:sp>
            <p:nvSpPr>
              <p:cNvPr id="29" name="Text Box 7"/>
              <p:cNvSpPr txBox="1">
                <a:spLocks noChangeArrowheads="1"/>
              </p:cNvSpPr>
              <p:nvPr/>
            </p:nvSpPr>
            <p:spPr bwMode="auto">
              <a:xfrm>
                <a:off x="3241177" y="2109978"/>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1</a:t>
                </a:r>
                <a:endParaRPr lang="zh-CN" altLang="en-US" b="0">
                  <a:latin typeface="+mn-ea"/>
                  <a:ea typeface="+mn-ea"/>
                </a:endParaRPr>
              </a:p>
            </p:txBody>
          </p:sp>
          <p:sp>
            <p:nvSpPr>
              <p:cNvPr id="30" name="Text Box 8"/>
              <p:cNvSpPr txBox="1">
                <a:spLocks noChangeArrowheads="1"/>
              </p:cNvSpPr>
              <p:nvPr/>
            </p:nvSpPr>
            <p:spPr bwMode="auto">
              <a:xfrm>
                <a:off x="3241177" y="2552890"/>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2</a:t>
                </a:r>
                <a:endParaRPr lang="zh-CN" altLang="en-US" b="0">
                  <a:latin typeface="+mn-ea"/>
                  <a:ea typeface="+mn-ea"/>
                </a:endParaRPr>
              </a:p>
            </p:txBody>
          </p:sp>
          <p:sp>
            <p:nvSpPr>
              <p:cNvPr id="31" name="Text Box 9"/>
              <p:cNvSpPr txBox="1">
                <a:spLocks noChangeArrowheads="1"/>
              </p:cNvSpPr>
              <p:nvPr/>
            </p:nvSpPr>
            <p:spPr bwMode="auto">
              <a:xfrm>
                <a:off x="3241177" y="3029140"/>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3</a:t>
                </a:r>
                <a:endParaRPr lang="zh-CN" altLang="en-US" b="0">
                  <a:latin typeface="+mn-ea"/>
                  <a:ea typeface="+mn-ea"/>
                </a:endParaRPr>
              </a:p>
            </p:txBody>
          </p:sp>
          <p:sp>
            <p:nvSpPr>
              <p:cNvPr id="32" name="Text Box 10"/>
              <p:cNvSpPr txBox="1">
                <a:spLocks noChangeArrowheads="1"/>
              </p:cNvSpPr>
              <p:nvPr/>
            </p:nvSpPr>
            <p:spPr bwMode="auto">
              <a:xfrm>
                <a:off x="4085727" y="2148078"/>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4</a:t>
                </a:r>
                <a:endParaRPr lang="zh-CN" altLang="en-US" b="0">
                  <a:latin typeface="+mn-ea"/>
                  <a:ea typeface="+mn-ea"/>
                </a:endParaRPr>
              </a:p>
            </p:txBody>
          </p:sp>
          <p:sp>
            <p:nvSpPr>
              <p:cNvPr id="33" name="Text Box 11"/>
              <p:cNvSpPr txBox="1">
                <a:spLocks noChangeArrowheads="1"/>
              </p:cNvSpPr>
              <p:nvPr/>
            </p:nvSpPr>
            <p:spPr bwMode="auto">
              <a:xfrm>
                <a:off x="4085727" y="2590989"/>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1</a:t>
                </a:r>
                <a:endParaRPr lang="zh-CN" altLang="en-US" b="0">
                  <a:latin typeface="+mn-ea"/>
                  <a:ea typeface="+mn-ea"/>
                </a:endParaRPr>
              </a:p>
            </p:txBody>
          </p:sp>
          <p:sp>
            <p:nvSpPr>
              <p:cNvPr id="34" name="Text Box 12"/>
              <p:cNvSpPr txBox="1">
                <a:spLocks noChangeArrowheads="1"/>
              </p:cNvSpPr>
              <p:nvPr/>
            </p:nvSpPr>
            <p:spPr bwMode="auto">
              <a:xfrm>
                <a:off x="4085727" y="3067239"/>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2</a:t>
                </a:r>
                <a:endParaRPr lang="zh-CN" altLang="en-US" b="0">
                  <a:latin typeface="+mn-ea"/>
                  <a:ea typeface="+mn-ea"/>
                </a:endParaRPr>
              </a:p>
            </p:txBody>
          </p:sp>
          <p:sp>
            <p:nvSpPr>
              <p:cNvPr id="35" name="Text Box 13"/>
              <p:cNvSpPr txBox="1">
                <a:spLocks noChangeArrowheads="1"/>
              </p:cNvSpPr>
              <p:nvPr/>
            </p:nvSpPr>
            <p:spPr bwMode="auto">
              <a:xfrm>
                <a:off x="4466726" y="2148078"/>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5</a:t>
                </a:r>
                <a:endParaRPr lang="zh-CN" altLang="en-US" b="0">
                  <a:latin typeface="+mn-ea"/>
                  <a:ea typeface="+mn-ea"/>
                </a:endParaRPr>
              </a:p>
            </p:txBody>
          </p:sp>
          <p:sp>
            <p:nvSpPr>
              <p:cNvPr id="36" name="Text Box 14"/>
              <p:cNvSpPr txBox="1">
                <a:spLocks noChangeArrowheads="1"/>
              </p:cNvSpPr>
              <p:nvPr/>
            </p:nvSpPr>
            <p:spPr bwMode="auto">
              <a:xfrm>
                <a:off x="4466726" y="2590989"/>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dirty="0">
                    <a:latin typeface="+mn-ea"/>
                    <a:ea typeface="+mn-ea"/>
                  </a:rPr>
                  <a:t>3</a:t>
                </a:r>
                <a:endParaRPr lang="zh-CN" altLang="en-US" b="0" dirty="0">
                  <a:latin typeface="+mn-ea"/>
                  <a:ea typeface="+mn-ea"/>
                </a:endParaRPr>
              </a:p>
            </p:txBody>
          </p:sp>
          <p:sp>
            <p:nvSpPr>
              <p:cNvPr id="37" name="Text Box 15"/>
              <p:cNvSpPr txBox="1">
                <a:spLocks noChangeArrowheads="1"/>
              </p:cNvSpPr>
              <p:nvPr/>
            </p:nvSpPr>
            <p:spPr bwMode="auto">
              <a:xfrm>
                <a:off x="4466726" y="3067239"/>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4</a:t>
                </a:r>
                <a:endParaRPr lang="zh-CN" altLang="en-US" b="0">
                  <a:latin typeface="+mn-ea"/>
                  <a:ea typeface="+mn-ea"/>
                </a:endParaRPr>
              </a:p>
            </p:txBody>
          </p:sp>
          <p:sp>
            <p:nvSpPr>
              <p:cNvPr id="38" name="Text Box 16"/>
              <p:cNvSpPr txBox="1">
                <a:spLocks noChangeArrowheads="1"/>
              </p:cNvSpPr>
              <p:nvPr/>
            </p:nvSpPr>
            <p:spPr bwMode="auto">
              <a:xfrm>
                <a:off x="5002284" y="2590989"/>
                <a:ext cx="1393682"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9 次缺页</a:t>
                </a:r>
                <a:endParaRPr lang="en-US" altLang="zh-CN" b="0">
                  <a:latin typeface="+mn-ea"/>
                  <a:ea typeface="+mn-ea"/>
                </a:endParaRPr>
              </a:p>
            </p:txBody>
          </p:sp>
          <p:sp>
            <p:nvSpPr>
              <p:cNvPr id="39" name="Rectangle 17"/>
              <p:cNvSpPr>
                <a:spLocks noChangeArrowheads="1"/>
              </p:cNvSpPr>
              <p:nvPr/>
            </p:nvSpPr>
            <p:spPr bwMode="auto">
              <a:xfrm>
                <a:off x="3625850" y="3962400"/>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b="0">
                    <a:latin typeface="+mn-ea"/>
                    <a:ea typeface="+mn-ea"/>
                  </a:rPr>
                  <a:t>1</a:t>
                </a:r>
                <a:endParaRPr lang="zh-CN" altLang="en-US" b="0">
                  <a:latin typeface="+mn-ea"/>
                  <a:ea typeface="+mn-ea"/>
                </a:endParaRPr>
              </a:p>
            </p:txBody>
          </p:sp>
          <p:sp>
            <p:nvSpPr>
              <p:cNvPr id="40" name="Rectangle 18"/>
              <p:cNvSpPr>
                <a:spLocks noChangeArrowheads="1"/>
              </p:cNvSpPr>
              <p:nvPr/>
            </p:nvSpPr>
            <p:spPr bwMode="auto">
              <a:xfrm>
                <a:off x="3625850" y="4419600"/>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b="0">
                    <a:latin typeface="+mn-ea"/>
                    <a:ea typeface="+mn-ea"/>
                  </a:rPr>
                  <a:t>2</a:t>
                </a:r>
                <a:endParaRPr lang="zh-CN" altLang="en-US" b="0">
                  <a:latin typeface="+mn-ea"/>
                  <a:ea typeface="+mn-ea"/>
                </a:endParaRPr>
              </a:p>
            </p:txBody>
          </p:sp>
          <p:sp>
            <p:nvSpPr>
              <p:cNvPr id="41" name="Rectangle 19"/>
              <p:cNvSpPr>
                <a:spLocks noChangeArrowheads="1"/>
              </p:cNvSpPr>
              <p:nvPr/>
            </p:nvSpPr>
            <p:spPr bwMode="auto">
              <a:xfrm>
                <a:off x="3625850" y="4876800"/>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b="0">
                    <a:latin typeface="+mn-ea"/>
                    <a:ea typeface="+mn-ea"/>
                  </a:rPr>
                  <a:t>3</a:t>
                </a:r>
                <a:endParaRPr lang="zh-CN" altLang="en-US" b="0">
                  <a:latin typeface="+mn-ea"/>
                  <a:ea typeface="+mn-ea"/>
                </a:endParaRPr>
              </a:p>
            </p:txBody>
          </p:sp>
          <p:sp>
            <p:nvSpPr>
              <p:cNvPr id="42" name="Text Box 20"/>
              <p:cNvSpPr txBox="1">
                <a:spLocks noChangeArrowheads="1"/>
              </p:cNvSpPr>
              <p:nvPr/>
            </p:nvSpPr>
            <p:spPr bwMode="auto">
              <a:xfrm>
                <a:off x="3209426" y="3834003"/>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1</a:t>
                </a:r>
                <a:endParaRPr lang="zh-CN" altLang="en-US" b="0">
                  <a:latin typeface="+mn-ea"/>
                  <a:ea typeface="+mn-ea"/>
                </a:endParaRPr>
              </a:p>
            </p:txBody>
          </p:sp>
          <p:sp>
            <p:nvSpPr>
              <p:cNvPr id="43" name="Text Box 21"/>
              <p:cNvSpPr txBox="1">
                <a:spLocks noChangeArrowheads="1"/>
              </p:cNvSpPr>
              <p:nvPr/>
            </p:nvSpPr>
            <p:spPr bwMode="auto">
              <a:xfrm>
                <a:off x="3209425" y="4276913"/>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2</a:t>
                </a:r>
                <a:endParaRPr lang="zh-CN" altLang="en-US" b="0">
                  <a:latin typeface="+mn-ea"/>
                  <a:ea typeface="+mn-ea"/>
                </a:endParaRPr>
              </a:p>
            </p:txBody>
          </p:sp>
          <p:sp>
            <p:nvSpPr>
              <p:cNvPr id="44" name="Text Box 22"/>
              <p:cNvSpPr txBox="1">
                <a:spLocks noChangeArrowheads="1"/>
              </p:cNvSpPr>
              <p:nvPr/>
            </p:nvSpPr>
            <p:spPr bwMode="auto">
              <a:xfrm>
                <a:off x="3209425" y="4753165"/>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dirty="0">
                    <a:latin typeface="+mn-ea"/>
                    <a:ea typeface="+mn-ea"/>
                  </a:rPr>
                  <a:t>3</a:t>
                </a:r>
                <a:endParaRPr lang="zh-CN" altLang="en-US" b="0" dirty="0">
                  <a:latin typeface="+mn-ea"/>
                  <a:ea typeface="+mn-ea"/>
                </a:endParaRPr>
              </a:p>
            </p:txBody>
          </p:sp>
          <p:sp>
            <p:nvSpPr>
              <p:cNvPr id="45" name="Text Box 23"/>
              <p:cNvSpPr txBox="1">
                <a:spLocks noChangeArrowheads="1"/>
              </p:cNvSpPr>
              <p:nvPr/>
            </p:nvSpPr>
            <p:spPr bwMode="auto">
              <a:xfrm>
                <a:off x="4053975" y="3872103"/>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5</a:t>
                </a:r>
                <a:endParaRPr lang="zh-CN" altLang="en-US" b="0">
                  <a:latin typeface="+mn-ea"/>
                  <a:ea typeface="+mn-ea"/>
                </a:endParaRPr>
              </a:p>
            </p:txBody>
          </p:sp>
          <p:sp>
            <p:nvSpPr>
              <p:cNvPr id="46" name="Text Box 24"/>
              <p:cNvSpPr txBox="1">
                <a:spLocks noChangeArrowheads="1"/>
              </p:cNvSpPr>
              <p:nvPr/>
            </p:nvSpPr>
            <p:spPr bwMode="auto">
              <a:xfrm>
                <a:off x="4053975" y="4315015"/>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1</a:t>
                </a:r>
                <a:endParaRPr lang="zh-CN" altLang="en-US" b="0">
                  <a:latin typeface="+mn-ea"/>
                  <a:ea typeface="+mn-ea"/>
                </a:endParaRPr>
              </a:p>
            </p:txBody>
          </p:sp>
          <p:sp>
            <p:nvSpPr>
              <p:cNvPr id="47" name="Text Box 25"/>
              <p:cNvSpPr txBox="1">
                <a:spLocks noChangeArrowheads="1"/>
              </p:cNvSpPr>
              <p:nvPr/>
            </p:nvSpPr>
            <p:spPr bwMode="auto">
              <a:xfrm>
                <a:off x="4053975" y="4791264"/>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2</a:t>
                </a:r>
                <a:endParaRPr lang="zh-CN" altLang="en-US" b="0">
                  <a:latin typeface="+mn-ea"/>
                  <a:ea typeface="+mn-ea"/>
                </a:endParaRPr>
              </a:p>
            </p:txBody>
          </p:sp>
          <p:sp>
            <p:nvSpPr>
              <p:cNvPr id="48" name="Text Box 26"/>
              <p:cNvSpPr txBox="1">
                <a:spLocks noChangeArrowheads="1"/>
              </p:cNvSpPr>
              <p:nvPr/>
            </p:nvSpPr>
            <p:spPr bwMode="auto">
              <a:xfrm>
                <a:off x="4434976" y="3872103"/>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4</a:t>
                </a:r>
                <a:endParaRPr lang="zh-CN" altLang="en-US" b="0">
                  <a:latin typeface="+mn-ea"/>
                  <a:ea typeface="+mn-ea"/>
                </a:endParaRPr>
              </a:p>
            </p:txBody>
          </p:sp>
          <p:sp>
            <p:nvSpPr>
              <p:cNvPr id="49" name="Text Box 28"/>
              <p:cNvSpPr txBox="1">
                <a:spLocks noChangeArrowheads="1"/>
              </p:cNvSpPr>
              <p:nvPr/>
            </p:nvSpPr>
            <p:spPr bwMode="auto">
              <a:xfrm>
                <a:off x="4434976" y="4334065"/>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5</a:t>
                </a:r>
                <a:endParaRPr lang="zh-CN" altLang="en-US" b="0">
                  <a:latin typeface="+mn-ea"/>
                  <a:ea typeface="+mn-ea"/>
                </a:endParaRPr>
              </a:p>
            </p:txBody>
          </p:sp>
          <p:sp>
            <p:nvSpPr>
              <p:cNvPr id="50" name="Text Box 29"/>
              <p:cNvSpPr txBox="1">
                <a:spLocks noChangeArrowheads="1"/>
              </p:cNvSpPr>
              <p:nvPr/>
            </p:nvSpPr>
            <p:spPr bwMode="auto">
              <a:xfrm>
                <a:off x="4879099" y="4315015"/>
                <a:ext cx="1576551"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dirty="0">
                    <a:latin typeface="+mn-ea"/>
                    <a:ea typeface="+mn-ea"/>
                  </a:rPr>
                  <a:t>10 次缺页</a:t>
                </a:r>
                <a:endParaRPr lang="en-US" altLang="zh-CN" b="0" dirty="0">
                  <a:latin typeface="+mn-ea"/>
                  <a:ea typeface="+mn-ea"/>
                </a:endParaRPr>
              </a:p>
            </p:txBody>
          </p:sp>
          <p:sp>
            <p:nvSpPr>
              <p:cNvPr id="51" name="Rectangle 30"/>
              <p:cNvSpPr>
                <a:spLocks noChangeArrowheads="1"/>
              </p:cNvSpPr>
              <p:nvPr/>
            </p:nvSpPr>
            <p:spPr bwMode="auto">
              <a:xfrm>
                <a:off x="3625850" y="5334000"/>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b="0" dirty="0">
                    <a:latin typeface="+mn-ea"/>
                    <a:ea typeface="+mn-ea"/>
                  </a:rPr>
                  <a:t>4</a:t>
                </a:r>
                <a:endParaRPr lang="zh-CN" altLang="en-US" b="0" dirty="0">
                  <a:latin typeface="+mn-ea"/>
                  <a:ea typeface="+mn-ea"/>
                </a:endParaRPr>
              </a:p>
            </p:txBody>
          </p:sp>
          <p:sp>
            <p:nvSpPr>
              <p:cNvPr id="52" name="Text Box 31"/>
              <p:cNvSpPr txBox="1">
                <a:spLocks noChangeArrowheads="1"/>
              </p:cNvSpPr>
              <p:nvPr/>
            </p:nvSpPr>
            <p:spPr bwMode="auto">
              <a:xfrm>
                <a:off x="3215776" y="5248465"/>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4</a:t>
                </a:r>
                <a:endParaRPr lang="zh-CN" altLang="en-US" b="0">
                  <a:latin typeface="+mn-ea"/>
                  <a:ea typeface="+mn-ea"/>
                </a:endParaRPr>
              </a:p>
            </p:txBody>
          </p:sp>
          <p:sp>
            <p:nvSpPr>
              <p:cNvPr id="53" name="Text Box 32"/>
              <p:cNvSpPr txBox="1">
                <a:spLocks noChangeArrowheads="1"/>
              </p:cNvSpPr>
              <p:nvPr/>
            </p:nvSpPr>
            <p:spPr bwMode="auto">
              <a:xfrm>
                <a:off x="4053976" y="5248465"/>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3</a:t>
                </a:r>
                <a:endParaRPr lang="zh-CN" altLang="en-US" b="0">
                  <a:latin typeface="+mn-ea"/>
                  <a:ea typeface="+mn-ea"/>
                </a:endParaRPr>
              </a:p>
            </p:txBody>
          </p:sp>
        </p:grpSp>
        <p:sp>
          <p:nvSpPr>
            <p:cNvPr id="2" name="矩形 1"/>
            <p:cNvSpPr/>
            <p:nvPr/>
          </p:nvSpPr>
          <p:spPr>
            <a:xfrm>
              <a:off x="6871317" y="2854402"/>
              <a:ext cx="4003829" cy="33253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740"/>
            <a:ext cx="7954645" cy="521970"/>
          </a:xfrm>
          <a:prstGeom prst="rect">
            <a:avLst/>
          </a:prstGeom>
        </p:spPr>
        <p:txBody>
          <a:bodyPr wrap="square">
            <a:spAutoFit/>
          </a:bodyPr>
          <a:lstStyle/>
          <a:p>
            <a:r>
              <a:rPr lang="zh-CN" altLang="en-US" sz="2800" b="1" dirty="0">
                <a:solidFill>
                  <a:schemeClr val="bg1"/>
                </a:solidFill>
                <a:cs typeface="+mn-ea"/>
                <a:sym typeface="+mn-lt"/>
              </a:rPr>
              <a:t>最近最久</a:t>
            </a:r>
            <a:r>
              <a:rPr lang="zh-CN" altLang="en-US" sz="2800" b="1" dirty="0">
                <a:solidFill>
                  <a:schemeClr val="bg1"/>
                </a:solidFill>
                <a:cs typeface="+mn-ea"/>
                <a:sym typeface="+mn-lt"/>
              </a:rPr>
              <a:t>未使用算法</a:t>
            </a:r>
            <a:r>
              <a:rPr lang="en-US" altLang="zh-CN" sz="2800" b="1" dirty="0">
                <a:solidFill>
                  <a:schemeClr val="bg1"/>
                </a:solidFill>
                <a:cs typeface="+mn-ea"/>
                <a:sym typeface="+mn-lt"/>
              </a:rPr>
              <a:t>(LRU) </a:t>
            </a:r>
            <a:endParaRPr lang="zh-CN" altLang="en-US" sz="2800" b="1" dirty="0">
              <a:solidFill>
                <a:schemeClr val="bg1"/>
              </a:solidFill>
              <a:cs typeface="+mn-ea"/>
              <a:sym typeface="+mn-lt"/>
            </a:endParaRPr>
          </a:p>
        </p:txBody>
      </p:sp>
      <p:pic>
        <p:nvPicPr>
          <p:cNvPr id="5" name="Picture 7"/>
          <p:cNvPicPr>
            <a:picLocks noChangeAspect="1" noChangeArrowheads="1"/>
          </p:cNvPicPr>
          <p:nvPr/>
        </p:nvPicPr>
        <p:blipFill>
          <a:blip r:embed="rId1">
            <a:extLst>
              <a:ext uri="{28A0092B-C50C-407E-A947-70E740481C1C}">
                <a14:useLocalDpi xmlns:a14="http://schemas.microsoft.com/office/drawing/2010/main" val="0"/>
              </a:ext>
            </a:extLst>
          </a:blip>
          <a:srcRect l="809" t="32875" r="789" b="32362"/>
          <a:stretch>
            <a:fillRect/>
          </a:stretch>
        </p:blipFill>
        <p:spPr bwMode="auto">
          <a:xfrm>
            <a:off x="278667" y="1729099"/>
            <a:ext cx="11634666" cy="2311523"/>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i$lîďê"/>
          <p:cNvSpPr/>
          <p:nvPr/>
        </p:nvSpPr>
        <p:spPr>
          <a:xfrm>
            <a:off x="480060" y="1149985"/>
            <a:ext cx="11125200" cy="393065"/>
          </a:xfrm>
          <a:prstGeom prst="rect">
            <a:avLst/>
          </a:prstGeom>
          <a:noFill/>
          <a:ln>
            <a:noFill/>
          </a:ln>
        </p:spPr>
        <p:txBody>
          <a:bodyPr wrap="square" lIns="91440" tIns="45720" rIns="91440" bIns="45720" anchor="ctr" anchorCtr="0">
            <a:noAutofit/>
          </a:bodyPr>
          <a:lstStyle/>
          <a:p>
            <a:r>
              <a:rPr lang="en-US" altLang="zh-CN" sz="2800" dirty="0">
                <a:solidFill>
                  <a:srgbClr val="FF0000"/>
                </a:solidFill>
              </a:rPr>
              <a:t>LRU</a:t>
            </a:r>
            <a:r>
              <a:rPr lang="zh-CN" altLang="en-US" sz="2800" dirty="0"/>
              <a:t>（</a:t>
            </a:r>
            <a:r>
              <a:rPr lang="en-US" altLang="zh-CN" sz="2800" dirty="0"/>
              <a:t>Least Recently Used</a:t>
            </a:r>
            <a:r>
              <a:rPr lang="zh-CN" altLang="en-US" sz="2800" dirty="0"/>
              <a:t>）选择</a:t>
            </a:r>
            <a:r>
              <a:rPr lang="zh-CN" altLang="en-US" sz="2800" dirty="0">
                <a:solidFill>
                  <a:srgbClr val="FF0000"/>
                </a:solidFill>
              </a:rPr>
              <a:t>最久</a:t>
            </a:r>
            <a:r>
              <a:rPr lang="zh-CN" altLang="en-US" sz="2800" dirty="0">
                <a:solidFill>
                  <a:schemeClr val="tx1"/>
                </a:solidFill>
              </a:rPr>
              <a:t>未使用的页面</a:t>
            </a:r>
            <a:r>
              <a:rPr lang="zh-CN" altLang="en-US" sz="2800" dirty="0"/>
              <a:t>予以淘汰</a:t>
            </a:r>
            <a:endParaRPr lang="zh-CN" alt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40080" y="373380"/>
            <a:ext cx="11099165" cy="1330325"/>
          </a:xfrm>
          <a:prstGeom prst="rect">
            <a:avLst/>
          </a:prstGeom>
        </p:spPr>
        <p:txBody>
          <a:bodyPr>
            <a:noAutofit/>
          </a:bodyPr>
          <a:p>
            <a:r>
              <a:rPr lang="zh-CN" altLang="en-US" sz="2800"/>
              <a:t>给一个进程分配</a:t>
            </a:r>
            <a:r>
              <a:rPr lang="en-US" altLang="zh-CN" sz="2800"/>
              <a:t>4</a:t>
            </a:r>
            <a:r>
              <a:rPr lang="zh-CN" altLang="en-US" sz="2800"/>
              <a:t>个页框，其页表如下。在时间</a:t>
            </a:r>
            <a:r>
              <a:rPr lang="en-US" altLang="zh-CN" sz="2800"/>
              <a:t>164</a:t>
            </a:r>
            <a:r>
              <a:rPr lang="zh-CN" altLang="en-US" sz="2800"/>
              <a:t>产生虚页号</a:t>
            </a:r>
            <a:r>
              <a:rPr lang="en-US" altLang="zh-CN" sz="2800"/>
              <a:t>4</a:t>
            </a:r>
            <a:r>
              <a:rPr lang="zh-CN" altLang="en-US" sz="2800"/>
              <a:t>缺页。按照</a:t>
            </a:r>
            <a:r>
              <a:rPr lang="en-US" altLang="zh-CN" sz="2800"/>
              <a:t>LRU </a:t>
            </a:r>
            <a:r>
              <a:rPr lang="zh-CN" altLang="en-US" sz="2800"/>
              <a:t>策略，被置换出的页框号是（</a:t>
            </a:r>
            <a:r>
              <a:rPr lang="en-US" altLang="zh-CN" sz="2800"/>
              <a:t>)</a:t>
            </a:r>
            <a:r>
              <a:rPr lang="zh-CN" altLang="en-US" sz="2800"/>
              <a:t>。</a:t>
            </a:r>
            <a:endParaRPr lang="zh-CN" altLang="en-US" sz="2800"/>
          </a:p>
        </p:txBody>
      </p:sp>
      <p:sp>
        <p:nvSpPr>
          <p:cNvPr id="3" name="文本框 2"/>
          <p:cNvSpPr txBox="1"/>
          <p:nvPr/>
        </p:nvSpPr>
        <p:spPr>
          <a:xfrm>
            <a:off x="640080" y="1558290"/>
            <a:ext cx="10973435" cy="737235"/>
          </a:xfrm>
          <a:prstGeom prst="rect">
            <a:avLst/>
          </a:prstGeom>
        </p:spPr>
        <p:txBody>
          <a:bodyPr>
            <a:noAutofit/>
          </a:bodyPr>
          <a:p>
            <a:r>
              <a:rPr lang="en-US" altLang="zh-CN" sz="2800"/>
              <a:t>A.0          B.</a:t>
            </a:r>
            <a:r>
              <a:rPr lang="en-US" sz="2800"/>
              <a:t>1</a:t>
            </a:r>
            <a:r>
              <a:rPr lang="en-US" altLang="zh-CN" sz="2800"/>
              <a:t>            C.2             D.3</a:t>
            </a:r>
            <a:endParaRPr lang="zh-CN" altLang="en-US" sz="2800"/>
          </a:p>
        </p:txBody>
      </p:sp>
      <p:pic>
        <p:nvPicPr>
          <p:cNvPr id="4" name="图片 3"/>
          <p:cNvPicPr>
            <a:picLocks noChangeAspect="1"/>
          </p:cNvPicPr>
          <p:nvPr/>
        </p:nvPicPr>
        <p:blipFill>
          <a:blip r:embed="rId1"/>
          <a:srcRect r="21081"/>
          <a:stretch>
            <a:fillRect/>
          </a:stretch>
        </p:blipFill>
        <p:spPr>
          <a:xfrm>
            <a:off x="2283460" y="2089785"/>
            <a:ext cx="6525260" cy="3603625"/>
          </a:xfrm>
          <a:prstGeom prst="rect">
            <a:avLst/>
          </a:prstGeom>
        </p:spPr>
      </p:pic>
      <p:sp>
        <p:nvSpPr>
          <p:cNvPr id="5" name="文本框 4"/>
          <p:cNvSpPr txBox="1"/>
          <p:nvPr/>
        </p:nvSpPr>
        <p:spPr>
          <a:xfrm>
            <a:off x="1108075" y="5973445"/>
            <a:ext cx="2054225" cy="583565"/>
          </a:xfrm>
          <a:prstGeom prst="rect">
            <a:avLst/>
          </a:prstGeom>
          <a:noFill/>
        </p:spPr>
        <p:txBody>
          <a:bodyPr wrap="square" rtlCol="0" anchor="t">
            <a:spAutoFit/>
          </a:bodyPr>
          <a:p>
            <a:r>
              <a:rPr lang="zh-CN" altLang="en-US" sz="3200">
                <a:solidFill>
                  <a:srgbClr val="FF0000"/>
                </a:solidFill>
                <a:sym typeface="+mn-ea"/>
              </a:rPr>
              <a:t>答案：</a:t>
            </a:r>
            <a:r>
              <a:rPr lang="en-US" altLang="zh-CN" sz="3200">
                <a:solidFill>
                  <a:srgbClr val="FF0000"/>
                </a:solidFill>
                <a:sym typeface="+mn-ea"/>
              </a:rPr>
              <a:t>B</a:t>
            </a:r>
            <a:endParaRPr lang="en-US" altLang="zh-CN" sz="320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Clock</a:t>
            </a:r>
            <a:r>
              <a:rPr lang="zh-CN" altLang="en-US" sz="2800" b="1" dirty="0">
                <a:solidFill>
                  <a:schemeClr val="bg1"/>
                </a:solidFill>
                <a:cs typeface="+mn-ea"/>
                <a:sym typeface="+mn-lt"/>
              </a:rPr>
              <a:t>置换算法</a:t>
            </a:r>
            <a:endParaRPr lang="zh-CN" altLang="en-US" sz="2800" b="1" dirty="0">
              <a:solidFill>
                <a:schemeClr val="bg1"/>
              </a:solidFill>
              <a:cs typeface="+mn-ea"/>
              <a:sym typeface="+mn-lt"/>
            </a:endParaRPr>
          </a:p>
        </p:txBody>
      </p:sp>
      <p:sp>
        <p:nvSpPr>
          <p:cNvPr id="11" name="矩形 10"/>
          <p:cNvSpPr/>
          <p:nvPr/>
        </p:nvSpPr>
        <p:spPr>
          <a:xfrm>
            <a:off x="1458809" y="1036938"/>
            <a:ext cx="9327559" cy="1291969"/>
          </a:xfrm>
          <a:prstGeom prst="rect">
            <a:avLst/>
          </a:prstGeom>
        </p:spPr>
        <p:txBody>
          <a:bodyPr wrap="square">
            <a:noAutofit/>
          </a:bodyPr>
          <a:lstStyle/>
          <a:p>
            <a:pPr>
              <a:lnSpc>
                <a:spcPct val="132000"/>
              </a:lnSpc>
              <a:spcBef>
                <a:spcPts val="600"/>
              </a:spcBef>
              <a:spcAft>
                <a:spcPts val="600"/>
              </a:spcAft>
            </a:pPr>
            <a:r>
              <a:rPr lang="en-US" altLang="zh-CN" sz="2400" dirty="0">
                <a:cs typeface="+mn-ea"/>
                <a:sym typeface="+mn-lt"/>
              </a:rPr>
              <a:t>LRU</a:t>
            </a:r>
            <a:r>
              <a:rPr lang="zh-CN" altLang="en-US" sz="2400" dirty="0">
                <a:cs typeface="+mn-ea"/>
                <a:sym typeface="+mn-lt"/>
              </a:rPr>
              <a:t>的近似算法，又称最近未用</a:t>
            </a:r>
            <a:r>
              <a:rPr lang="en-US" altLang="zh-CN" sz="2400" dirty="0">
                <a:cs typeface="+mn-ea"/>
                <a:sym typeface="+mn-lt"/>
              </a:rPr>
              <a:t>(NRU)</a:t>
            </a:r>
            <a:r>
              <a:rPr lang="zh-CN" altLang="en-US" sz="2400" dirty="0">
                <a:cs typeface="+mn-ea"/>
                <a:sym typeface="+mn-lt"/>
              </a:rPr>
              <a:t>或二次机会页面置换算法</a:t>
            </a:r>
            <a:endParaRPr lang="zh-CN" altLang="en-US" sz="2400" dirty="0">
              <a:cs typeface="+mn-ea"/>
              <a:sym typeface="+mn-lt"/>
            </a:endParaRPr>
          </a:p>
          <a:p>
            <a:pPr>
              <a:lnSpc>
                <a:spcPct val="132000"/>
              </a:lnSpc>
              <a:spcBef>
                <a:spcPts val="600"/>
              </a:spcBef>
              <a:spcAft>
                <a:spcPts val="600"/>
              </a:spcAft>
            </a:pPr>
            <a:r>
              <a:rPr lang="zh-CN" altLang="en-US" sz="2400" dirty="0">
                <a:solidFill>
                  <a:srgbClr val="FF0000"/>
                </a:solidFill>
                <a:cs typeface="+mn-ea"/>
                <a:sym typeface="+mn-lt"/>
              </a:rPr>
              <a:t>简单的</a:t>
            </a:r>
            <a:r>
              <a:rPr lang="en-US" altLang="zh-CN" sz="2400" dirty="0">
                <a:cs typeface="+mn-ea"/>
                <a:sym typeface="+mn-lt"/>
              </a:rPr>
              <a:t>Clock</a:t>
            </a:r>
            <a:r>
              <a:rPr lang="zh-CN" altLang="en-US" sz="2400" dirty="0">
                <a:cs typeface="+mn-ea"/>
                <a:sym typeface="+mn-lt"/>
              </a:rPr>
              <a:t>算法</a:t>
            </a:r>
            <a:endParaRPr lang="zh-CN" altLang="en-US" sz="2400" dirty="0">
              <a:cs typeface="+mn-ea"/>
              <a:sym typeface="+mn-lt"/>
            </a:endParaRPr>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88137" y="1082813"/>
            <a:ext cx="527050" cy="527050"/>
          </a:xfrm>
          <a:prstGeom prst="rect">
            <a:avLst/>
          </a:prstGeom>
          <a:ln>
            <a:noFill/>
          </a:ln>
          <a:effectLst>
            <a:softEdge rad="0"/>
          </a:effectLst>
        </p:spPr>
      </p:pic>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88137" y="1731959"/>
            <a:ext cx="527050" cy="527050"/>
          </a:xfrm>
          <a:prstGeom prst="rect">
            <a:avLst/>
          </a:prstGeom>
          <a:ln>
            <a:noFill/>
          </a:ln>
          <a:effectLst>
            <a:softEdge rad="0"/>
          </a:effectLst>
        </p:spPr>
      </p:pic>
      <p:sp>
        <p:nvSpPr>
          <p:cNvPr id="14" name="矩形 13"/>
          <p:cNvSpPr/>
          <p:nvPr/>
        </p:nvSpPr>
        <p:spPr>
          <a:xfrm>
            <a:off x="720725" y="2215515"/>
            <a:ext cx="4535170" cy="3381375"/>
          </a:xfrm>
          <a:prstGeom prst="rect">
            <a:avLst/>
          </a:prstGeom>
          <a:solidFill>
            <a:schemeClr val="bg1">
              <a:lumMod val="95000"/>
            </a:schemeClr>
          </a:solidFill>
        </p:spPr>
        <p:txBody>
          <a:bodyPr wrap="square">
            <a:noAutofit/>
          </a:bodyPr>
          <a:lstStyle/>
          <a:p>
            <a:pPr marL="342900" indent="-342900">
              <a:lnSpc>
                <a:spcPct val="150000"/>
              </a:lnSpc>
              <a:buClr>
                <a:srgbClr val="FF0000"/>
              </a:buClr>
              <a:buFont typeface="Wingdings" panose="05000000000000000000" pitchFamily="2" charset="2"/>
              <a:buChar char="Ø"/>
            </a:pPr>
            <a:r>
              <a:rPr lang="zh-CN" altLang="en-US" sz="2400" dirty="0">
                <a:cs typeface="+mn-ea"/>
                <a:sym typeface="+mn-lt"/>
              </a:rPr>
              <a:t>每个页都与一个访问位相关联，初始值位</a:t>
            </a:r>
            <a:r>
              <a:rPr lang="en-US" altLang="zh-CN" sz="2400" dirty="0">
                <a:cs typeface="+mn-ea"/>
                <a:sym typeface="+mn-lt"/>
              </a:rPr>
              <a:t>0</a:t>
            </a:r>
            <a:endParaRPr lang="en-US" altLang="zh-CN" sz="2400" dirty="0">
              <a:cs typeface="+mn-ea"/>
              <a:sym typeface="+mn-lt"/>
            </a:endParaRPr>
          </a:p>
          <a:p>
            <a:pPr marL="342900" indent="-342900">
              <a:lnSpc>
                <a:spcPct val="150000"/>
              </a:lnSpc>
              <a:buClr>
                <a:srgbClr val="FF0000"/>
              </a:buClr>
              <a:buFont typeface="Wingdings" panose="05000000000000000000" pitchFamily="2" charset="2"/>
              <a:buChar char="Ø"/>
            </a:pPr>
            <a:r>
              <a:rPr lang="zh-CN" altLang="en-US" sz="2400" dirty="0">
                <a:cs typeface="+mn-ea"/>
                <a:sym typeface="+mn-lt"/>
              </a:rPr>
              <a:t>当页被访问时置访问位为</a:t>
            </a:r>
            <a:r>
              <a:rPr lang="en-US" altLang="zh-CN" sz="2400" dirty="0">
                <a:cs typeface="+mn-ea"/>
                <a:sym typeface="+mn-lt"/>
              </a:rPr>
              <a:t>1</a:t>
            </a:r>
            <a:endParaRPr lang="en-US" altLang="zh-CN" sz="2400" dirty="0">
              <a:cs typeface="+mn-ea"/>
              <a:sym typeface="+mn-lt"/>
            </a:endParaRPr>
          </a:p>
          <a:p>
            <a:pPr marL="342900" indent="-342900">
              <a:lnSpc>
                <a:spcPct val="150000"/>
              </a:lnSpc>
              <a:buClr>
                <a:srgbClr val="FF0000"/>
              </a:buClr>
              <a:buFont typeface="Wingdings" panose="05000000000000000000" pitchFamily="2" charset="2"/>
              <a:buChar char="Ø"/>
            </a:pPr>
            <a:r>
              <a:rPr lang="zh-CN" altLang="en-US" sz="2400" dirty="0">
                <a:cs typeface="+mn-ea"/>
                <a:sym typeface="+mn-lt"/>
              </a:rPr>
              <a:t>置换时选择访问位为</a:t>
            </a:r>
            <a:r>
              <a:rPr lang="en-US" altLang="zh-CN" sz="2400" dirty="0">
                <a:cs typeface="+mn-ea"/>
                <a:sym typeface="+mn-lt"/>
              </a:rPr>
              <a:t>0</a:t>
            </a:r>
            <a:r>
              <a:rPr lang="zh-CN" altLang="en-US" sz="2400" dirty="0">
                <a:cs typeface="+mn-ea"/>
                <a:sym typeface="+mn-lt"/>
              </a:rPr>
              <a:t>的页 ；若为</a:t>
            </a:r>
            <a:r>
              <a:rPr lang="en-US" altLang="zh-CN" sz="2400" dirty="0">
                <a:cs typeface="+mn-ea"/>
                <a:sym typeface="+mn-lt"/>
              </a:rPr>
              <a:t>1</a:t>
            </a:r>
            <a:r>
              <a:rPr lang="zh-CN" altLang="en-US" sz="2400" dirty="0">
                <a:cs typeface="+mn-ea"/>
                <a:sym typeface="+mn-lt"/>
              </a:rPr>
              <a:t>，重新置为</a:t>
            </a:r>
            <a:r>
              <a:rPr lang="en-US" altLang="zh-CN" sz="2400" dirty="0">
                <a:cs typeface="+mn-ea"/>
                <a:sym typeface="+mn-lt"/>
              </a:rPr>
              <a:t>0</a:t>
            </a:r>
            <a:endParaRPr lang="en-US" altLang="zh-CN" sz="2400" dirty="0">
              <a:cs typeface="+mn-ea"/>
              <a:sym typeface="+mn-lt"/>
            </a:endParaRPr>
          </a:p>
        </p:txBody>
      </p:sp>
      <p:pic>
        <p:nvPicPr>
          <p:cNvPr id="2" name="图片 1"/>
          <p:cNvPicPr>
            <a:picLocks noChangeAspect="1"/>
          </p:cNvPicPr>
          <p:nvPr/>
        </p:nvPicPr>
        <p:blipFill>
          <a:blip r:embed="rId2"/>
          <a:stretch>
            <a:fillRect/>
          </a:stretch>
        </p:blipFill>
        <p:spPr>
          <a:xfrm>
            <a:off x="6344920" y="1901190"/>
            <a:ext cx="5781675" cy="41338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40080" y="373380"/>
            <a:ext cx="11099165" cy="1330325"/>
          </a:xfrm>
          <a:prstGeom prst="rect">
            <a:avLst/>
          </a:prstGeom>
        </p:spPr>
        <p:txBody>
          <a:bodyPr>
            <a:noAutofit/>
          </a:bodyPr>
          <a:p>
            <a:r>
              <a:rPr lang="zh-CN" altLang="en-US" sz="2800"/>
              <a:t>给一个进程分配</a:t>
            </a:r>
            <a:r>
              <a:rPr lang="en-US" altLang="zh-CN" sz="2800"/>
              <a:t>4</a:t>
            </a:r>
            <a:r>
              <a:rPr lang="zh-CN" altLang="en-US" sz="2800"/>
              <a:t>个页框，其页表如下。在时间</a:t>
            </a:r>
            <a:r>
              <a:rPr lang="en-US" altLang="zh-CN" sz="2800"/>
              <a:t>164</a:t>
            </a:r>
            <a:r>
              <a:rPr lang="zh-CN" altLang="en-US" sz="2800"/>
              <a:t>产生虚页号</a:t>
            </a:r>
            <a:r>
              <a:rPr lang="en-US" altLang="zh-CN" sz="2800"/>
              <a:t>4</a:t>
            </a:r>
            <a:r>
              <a:rPr lang="zh-CN" altLang="en-US" sz="2800"/>
              <a:t>缺页。按照</a:t>
            </a:r>
            <a:r>
              <a:rPr lang="en-US" altLang="zh-CN" sz="2800"/>
              <a:t>CLOCK </a:t>
            </a:r>
            <a:r>
              <a:rPr lang="zh-CN" altLang="en-US" sz="2800"/>
              <a:t>策略，被置换出的页框号是（</a:t>
            </a:r>
            <a:r>
              <a:rPr lang="en-US" altLang="zh-CN" sz="2800"/>
              <a:t>)</a:t>
            </a:r>
            <a:r>
              <a:rPr lang="zh-CN" altLang="en-US" sz="2800"/>
              <a:t>。</a:t>
            </a:r>
            <a:endParaRPr lang="zh-CN" altLang="en-US" sz="2800"/>
          </a:p>
        </p:txBody>
      </p:sp>
      <p:sp>
        <p:nvSpPr>
          <p:cNvPr id="3" name="文本框 2"/>
          <p:cNvSpPr txBox="1"/>
          <p:nvPr/>
        </p:nvSpPr>
        <p:spPr>
          <a:xfrm>
            <a:off x="640080" y="1558290"/>
            <a:ext cx="10973435" cy="737235"/>
          </a:xfrm>
          <a:prstGeom prst="rect">
            <a:avLst/>
          </a:prstGeom>
        </p:spPr>
        <p:txBody>
          <a:bodyPr>
            <a:noAutofit/>
          </a:bodyPr>
          <a:p>
            <a:r>
              <a:rPr lang="en-US" altLang="zh-CN" sz="2800"/>
              <a:t>A.0          B.</a:t>
            </a:r>
            <a:r>
              <a:rPr lang="en-US" sz="2800"/>
              <a:t>1</a:t>
            </a:r>
            <a:r>
              <a:rPr lang="en-US" altLang="zh-CN" sz="2800"/>
              <a:t>            C.2             D.3</a:t>
            </a:r>
            <a:endParaRPr lang="zh-CN" altLang="en-US" sz="2800"/>
          </a:p>
        </p:txBody>
      </p:sp>
      <p:pic>
        <p:nvPicPr>
          <p:cNvPr id="4" name="图片 3"/>
          <p:cNvPicPr>
            <a:picLocks noChangeAspect="1"/>
          </p:cNvPicPr>
          <p:nvPr/>
        </p:nvPicPr>
        <p:blipFill>
          <a:blip r:embed="rId1"/>
          <a:stretch>
            <a:fillRect/>
          </a:stretch>
        </p:blipFill>
        <p:spPr>
          <a:xfrm>
            <a:off x="1855470" y="2158365"/>
            <a:ext cx="8268335" cy="3603625"/>
          </a:xfrm>
          <a:prstGeom prst="rect">
            <a:avLst/>
          </a:prstGeom>
        </p:spPr>
      </p:pic>
      <p:sp>
        <p:nvSpPr>
          <p:cNvPr id="5" name="文本框 4"/>
          <p:cNvSpPr txBox="1"/>
          <p:nvPr/>
        </p:nvSpPr>
        <p:spPr>
          <a:xfrm>
            <a:off x="1108075" y="5973445"/>
            <a:ext cx="2054225" cy="583565"/>
          </a:xfrm>
          <a:prstGeom prst="rect">
            <a:avLst/>
          </a:prstGeom>
          <a:noFill/>
        </p:spPr>
        <p:txBody>
          <a:bodyPr wrap="square" rtlCol="0" anchor="t">
            <a:spAutoFit/>
          </a:bodyPr>
          <a:p>
            <a:r>
              <a:rPr lang="zh-CN" altLang="en-US" sz="3200">
                <a:solidFill>
                  <a:srgbClr val="FF0000"/>
                </a:solidFill>
                <a:sym typeface="+mn-ea"/>
              </a:rPr>
              <a:t>答案：</a:t>
            </a:r>
            <a:r>
              <a:rPr lang="en-US" altLang="zh-CN" sz="3200">
                <a:solidFill>
                  <a:srgbClr val="FF0000"/>
                </a:solidFill>
                <a:sym typeface="+mn-ea"/>
              </a:rPr>
              <a:t>C</a:t>
            </a:r>
            <a:endParaRPr lang="en-US" altLang="zh-CN" sz="320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86740" y="1221105"/>
            <a:ext cx="11144885" cy="1198880"/>
          </a:xfrm>
          <a:prstGeom prst="rect">
            <a:avLst/>
          </a:prstGeom>
          <a:noFill/>
        </p:spPr>
        <p:txBody>
          <a:bodyPr wrap="square" rtlCol="0" anchor="t">
            <a:spAutoFit/>
          </a:bodyPr>
          <a:p>
            <a:r>
              <a:rPr lang="zh-CN" sz="2400" dirty="0">
                <a:cs typeface="+mn-ea"/>
                <a:sym typeface="+mn-lt"/>
              </a:rPr>
              <a:t>采用固定分配局部置换策略为某进程分配</a:t>
            </a:r>
            <a:r>
              <a:rPr lang="en-US" altLang="zh-CN" sz="2400" dirty="0">
                <a:cs typeface="+mn-ea"/>
                <a:sym typeface="+mn-lt"/>
              </a:rPr>
              <a:t>4</a:t>
            </a:r>
            <a:r>
              <a:rPr lang="zh-CN" altLang="en-US" sz="2400" dirty="0">
                <a:cs typeface="+mn-ea"/>
                <a:sym typeface="+mn-lt"/>
              </a:rPr>
              <a:t>个页框，在时刻</a:t>
            </a:r>
            <a:r>
              <a:rPr lang="en-US" altLang="zh-CN" sz="2400" dirty="0">
                <a:cs typeface="+mn-ea"/>
                <a:sym typeface="+mn-lt"/>
              </a:rPr>
              <a:t>260</a:t>
            </a:r>
            <a:r>
              <a:rPr lang="zh-CN" altLang="en-US" sz="2400" dirty="0">
                <a:cs typeface="+mn-ea"/>
                <a:sym typeface="+mn-lt"/>
              </a:rPr>
              <a:t>前的进程访问情况如下表所示。若采用</a:t>
            </a:r>
            <a:r>
              <a:rPr lang="en-US" altLang="zh-CN" sz="2400" dirty="0">
                <a:cs typeface="+mn-ea"/>
                <a:sym typeface="+mn-lt"/>
              </a:rPr>
              <a:t>Clock</a:t>
            </a:r>
            <a:r>
              <a:rPr lang="zh-CN" altLang="en-US" sz="2400" dirty="0">
                <a:cs typeface="+mn-ea"/>
                <a:sym typeface="+mn-lt"/>
              </a:rPr>
              <a:t>置换算法，搜索指针按照顺时针方向移动，且当前指向</a:t>
            </a:r>
            <a:r>
              <a:rPr lang="en-US" altLang="zh-CN" sz="2400" dirty="0">
                <a:cs typeface="+mn-ea"/>
                <a:sym typeface="+mn-lt"/>
              </a:rPr>
              <a:t>2</a:t>
            </a:r>
            <a:r>
              <a:rPr lang="zh-CN" altLang="en-US" sz="2400" dirty="0">
                <a:cs typeface="+mn-ea"/>
                <a:sym typeface="+mn-lt"/>
              </a:rPr>
              <a:t>号页框，此时要访问</a:t>
            </a:r>
            <a:r>
              <a:rPr lang="en-US" altLang="zh-CN" sz="2400" dirty="0">
                <a:cs typeface="+mn-ea"/>
                <a:sym typeface="+mn-lt"/>
              </a:rPr>
              <a:t>5</a:t>
            </a:r>
            <a:r>
              <a:rPr lang="zh-CN" altLang="en-US" sz="2400" dirty="0">
                <a:cs typeface="+mn-ea"/>
                <a:sym typeface="+mn-lt"/>
              </a:rPr>
              <a:t>号页面，则需要置换出哪号页框？</a:t>
            </a:r>
            <a:endParaRPr lang="zh-CN" altLang="en-US" sz="2400" dirty="0">
              <a:cs typeface="+mn-ea"/>
              <a:sym typeface="+mn-lt"/>
            </a:endParaRPr>
          </a:p>
        </p:txBody>
      </p:sp>
      <p:pic>
        <p:nvPicPr>
          <p:cNvPr id="3" name="图片 2"/>
          <p:cNvPicPr>
            <a:picLocks noChangeAspect="1"/>
          </p:cNvPicPr>
          <p:nvPr/>
        </p:nvPicPr>
        <p:blipFill>
          <a:blip r:embed="rId1"/>
          <a:stretch>
            <a:fillRect/>
          </a:stretch>
        </p:blipFill>
        <p:spPr>
          <a:xfrm>
            <a:off x="1138555" y="2546350"/>
            <a:ext cx="5572125" cy="2752725"/>
          </a:xfrm>
          <a:prstGeom prst="rect">
            <a:avLst/>
          </a:prstGeom>
        </p:spPr>
      </p:pic>
      <p:pic>
        <p:nvPicPr>
          <p:cNvPr id="4" name="图片 3"/>
          <p:cNvPicPr>
            <a:picLocks noChangeAspect="1"/>
          </p:cNvPicPr>
          <p:nvPr/>
        </p:nvPicPr>
        <p:blipFill>
          <a:blip r:embed="rId2"/>
          <a:stretch>
            <a:fillRect/>
          </a:stretch>
        </p:blipFill>
        <p:spPr>
          <a:xfrm>
            <a:off x="7134225" y="2546350"/>
            <a:ext cx="3448050" cy="2667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tretch>
            <a:fillRect/>
          </a:stretch>
        </p:blipFill>
        <p:spPr>
          <a:xfrm>
            <a:off x="304800" y="1235075"/>
            <a:ext cx="11582400" cy="2477770"/>
          </a:xfrm>
          <a:prstGeom prst="rect">
            <a:avLst/>
          </a:prstGeom>
        </p:spPr>
      </p:pic>
      <p:pic>
        <p:nvPicPr>
          <p:cNvPr id="10" name="图片 9"/>
          <p:cNvPicPr>
            <a:picLocks noChangeAspect="1"/>
          </p:cNvPicPr>
          <p:nvPr/>
        </p:nvPicPr>
        <p:blipFill>
          <a:blip r:embed="rId2"/>
          <a:stretch>
            <a:fillRect/>
          </a:stretch>
        </p:blipFill>
        <p:spPr>
          <a:xfrm>
            <a:off x="147955" y="4036060"/>
            <a:ext cx="11659870" cy="2479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改进型</a:t>
            </a:r>
            <a:r>
              <a:rPr lang="en-US" altLang="zh-CN" sz="2800" b="1" dirty="0">
                <a:solidFill>
                  <a:schemeClr val="bg1"/>
                </a:solidFill>
                <a:cs typeface="+mn-ea"/>
                <a:sym typeface="+mn-lt"/>
              </a:rPr>
              <a:t>Clock</a:t>
            </a:r>
            <a:r>
              <a:rPr lang="zh-CN" altLang="en-US" sz="2800" b="1" dirty="0">
                <a:solidFill>
                  <a:schemeClr val="bg1"/>
                </a:solidFill>
                <a:cs typeface="+mn-ea"/>
                <a:sym typeface="+mn-lt"/>
              </a:rPr>
              <a:t>算法</a:t>
            </a:r>
            <a:endParaRPr lang="zh-CN" altLang="en-US" sz="2800" b="1" dirty="0">
              <a:solidFill>
                <a:schemeClr val="bg1"/>
              </a:solidFill>
              <a:cs typeface="+mn-ea"/>
              <a:sym typeface="+mn-lt"/>
            </a:endParaRPr>
          </a:p>
        </p:txBody>
      </p:sp>
      <p:sp>
        <p:nvSpPr>
          <p:cNvPr id="11" name="矩形 10"/>
          <p:cNvSpPr/>
          <p:nvPr/>
        </p:nvSpPr>
        <p:spPr>
          <a:xfrm>
            <a:off x="1458595" y="1303020"/>
            <a:ext cx="9327515" cy="589280"/>
          </a:xfrm>
          <a:prstGeom prst="rect">
            <a:avLst/>
          </a:prstGeom>
        </p:spPr>
        <p:txBody>
          <a:bodyPr wrap="square">
            <a:noAutofit/>
          </a:bodyPr>
          <a:lstStyle/>
          <a:p>
            <a:pPr>
              <a:lnSpc>
                <a:spcPct val="132000"/>
              </a:lnSpc>
              <a:spcBef>
                <a:spcPts val="600"/>
              </a:spcBef>
              <a:spcAft>
                <a:spcPts val="600"/>
              </a:spcAft>
            </a:pPr>
            <a:r>
              <a:rPr lang="zh-CN" altLang="en-US" sz="2400" dirty="0">
                <a:cs typeface="+mn-ea"/>
                <a:sym typeface="+mn-lt"/>
              </a:rPr>
              <a:t>淘汰时，同时检查访问位</a:t>
            </a:r>
            <a:r>
              <a:rPr lang="en-US" altLang="zh-CN" sz="2400" dirty="0">
                <a:cs typeface="+mn-ea"/>
                <a:sym typeface="+mn-lt"/>
              </a:rPr>
              <a:t>A</a:t>
            </a:r>
            <a:r>
              <a:rPr lang="zh-CN" altLang="en-US" sz="2400" dirty="0">
                <a:cs typeface="+mn-ea"/>
                <a:sym typeface="+mn-lt"/>
              </a:rPr>
              <a:t>与修改位</a:t>
            </a:r>
            <a:r>
              <a:rPr lang="en-US" altLang="zh-CN" sz="2400" dirty="0">
                <a:cs typeface="+mn-ea"/>
                <a:sym typeface="+mn-lt"/>
              </a:rPr>
              <a:t>M</a:t>
            </a:r>
            <a:endParaRPr lang="en-US" altLang="zh-CN" sz="2400" dirty="0">
              <a:cs typeface="+mn-ea"/>
              <a:sym typeface="+mn-lt"/>
            </a:endParaRPr>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88137" y="1349145"/>
            <a:ext cx="527050" cy="527050"/>
          </a:xfrm>
          <a:prstGeom prst="rect">
            <a:avLst/>
          </a:prstGeom>
          <a:ln>
            <a:noFill/>
          </a:ln>
          <a:effectLst>
            <a:softEdge rad="0"/>
          </a:effectLst>
        </p:spPr>
      </p:pic>
      <p:sp>
        <p:nvSpPr>
          <p:cNvPr id="14" name="矩形 13"/>
          <p:cNvSpPr/>
          <p:nvPr/>
        </p:nvSpPr>
        <p:spPr>
          <a:xfrm>
            <a:off x="1458595" y="1892300"/>
            <a:ext cx="10588625" cy="2428240"/>
          </a:xfrm>
          <a:prstGeom prst="rect">
            <a:avLst/>
          </a:prstGeom>
        </p:spPr>
        <p:txBody>
          <a:bodyPr wrap="square">
            <a:noAutofit/>
          </a:bodyPr>
          <a:lstStyle/>
          <a:p>
            <a:pPr marL="342900" indent="-342900">
              <a:lnSpc>
                <a:spcPct val="150000"/>
              </a:lnSpc>
              <a:buClr>
                <a:srgbClr val="FF0000"/>
              </a:buClr>
              <a:buFont typeface="Wingdings" panose="05000000000000000000" pitchFamily="2" charset="2"/>
              <a:buChar char="Ø"/>
            </a:pPr>
            <a:r>
              <a:rPr lang="zh-CN" altLang="en-US" sz="2400" dirty="0">
                <a:solidFill>
                  <a:srgbClr val="FF0000"/>
                </a:solidFill>
                <a:cs typeface="+mn-ea"/>
                <a:sym typeface="+mn-lt"/>
              </a:rPr>
              <a:t>第</a:t>
            </a:r>
            <a:r>
              <a:rPr lang="en-US" altLang="zh-CN" sz="2400" dirty="0">
                <a:solidFill>
                  <a:srgbClr val="FF0000"/>
                </a:solidFill>
                <a:cs typeface="+mn-ea"/>
                <a:sym typeface="+mn-lt"/>
              </a:rPr>
              <a:t>1</a:t>
            </a:r>
            <a:r>
              <a:rPr lang="zh-CN" altLang="en-US" sz="2400" dirty="0">
                <a:solidFill>
                  <a:srgbClr val="FF0000"/>
                </a:solidFill>
                <a:cs typeface="+mn-ea"/>
                <a:sym typeface="+mn-lt"/>
              </a:rPr>
              <a:t>类</a:t>
            </a:r>
            <a:r>
              <a:rPr lang="zh-CN" altLang="en-US" sz="2400" dirty="0">
                <a:cs typeface="+mn-ea"/>
                <a:sym typeface="+mn-lt"/>
              </a:rPr>
              <a:t>（</a:t>
            </a:r>
            <a:r>
              <a:rPr lang="en-US" altLang="zh-CN" sz="2400" dirty="0">
                <a:cs typeface="+mn-ea"/>
                <a:sym typeface="+mn-lt"/>
              </a:rPr>
              <a:t>A=0</a:t>
            </a:r>
            <a:r>
              <a:rPr lang="zh-CN" altLang="en-US" sz="2400" dirty="0">
                <a:cs typeface="+mn-ea"/>
                <a:sym typeface="+mn-lt"/>
              </a:rPr>
              <a:t>，</a:t>
            </a:r>
            <a:r>
              <a:rPr lang="en-US" altLang="zh-CN" sz="2400" dirty="0">
                <a:cs typeface="+mn-ea"/>
                <a:sym typeface="+mn-lt"/>
              </a:rPr>
              <a:t>M=0</a:t>
            </a:r>
            <a:r>
              <a:rPr lang="zh-CN" altLang="en-US" sz="2400" dirty="0">
                <a:cs typeface="+mn-ea"/>
                <a:sym typeface="+mn-lt"/>
              </a:rPr>
              <a:t>）：表示最近未被访问且未被修改，淘汰优先级最高。</a:t>
            </a:r>
            <a:endParaRPr lang="zh-CN" altLang="en-US" sz="2400" dirty="0">
              <a:cs typeface="+mn-ea"/>
              <a:sym typeface="+mn-lt"/>
            </a:endParaRPr>
          </a:p>
          <a:p>
            <a:pPr marL="342900" indent="-342900">
              <a:lnSpc>
                <a:spcPct val="150000"/>
              </a:lnSpc>
              <a:buClr>
                <a:srgbClr val="FF0000"/>
              </a:buClr>
              <a:buFont typeface="Wingdings" panose="05000000000000000000" pitchFamily="2" charset="2"/>
              <a:buChar char="Ø"/>
            </a:pPr>
            <a:r>
              <a:rPr lang="zh-CN" altLang="en-US" sz="2400" dirty="0">
                <a:solidFill>
                  <a:srgbClr val="FF0000"/>
                </a:solidFill>
                <a:cs typeface="+mn-ea"/>
                <a:sym typeface="+mn-lt"/>
              </a:rPr>
              <a:t>第</a:t>
            </a:r>
            <a:r>
              <a:rPr lang="en-US" altLang="zh-CN" sz="2400" dirty="0">
                <a:solidFill>
                  <a:srgbClr val="FF0000"/>
                </a:solidFill>
                <a:cs typeface="+mn-ea"/>
                <a:sym typeface="+mn-lt"/>
              </a:rPr>
              <a:t>2</a:t>
            </a:r>
            <a:r>
              <a:rPr lang="zh-CN" altLang="en-US" sz="2400" dirty="0">
                <a:solidFill>
                  <a:srgbClr val="FF0000"/>
                </a:solidFill>
                <a:cs typeface="+mn-ea"/>
                <a:sym typeface="+mn-lt"/>
              </a:rPr>
              <a:t>类</a:t>
            </a:r>
            <a:r>
              <a:rPr lang="zh-CN" altLang="en-US" sz="2400" dirty="0">
                <a:cs typeface="+mn-ea"/>
                <a:sym typeface="+mn-lt"/>
              </a:rPr>
              <a:t>（</a:t>
            </a:r>
            <a:r>
              <a:rPr lang="en-US" altLang="zh-CN" sz="2400" dirty="0">
                <a:cs typeface="+mn-ea"/>
                <a:sym typeface="+mn-lt"/>
              </a:rPr>
              <a:t>A=0</a:t>
            </a:r>
            <a:r>
              <a:rPr lang="zh-CN" altLang="en-US" sz="2400" dirty="0">
                <a:cs typeface="+mn-ea"/>
                <a:sym typeface="+mn-lt"/>
              </a:rPr>
              <a:t>，</a:t>
            </a:r>
            <a:r>
              <a:rPr lang="en-US" altLang="zh-CN" sz="2400" dirty="0">
                <a:cs typeface="+mn-ea"/>
                <a:sym typeface="+mn-lt"/>
              </a:rPr>
              <a:t>M=1</a:t>
            </a:r>
            <a:r>
              <a:rPr lang="zh-CN" altLang="en-US" sz="2400" dirty="0">
                <a:cs typeface="+mn-ea"/>
                <a:sym typeface="+mn-lt"/>
              </a:rPr>
              <a:t>）：表示最近未被访问但已被修改，淘汰优先级次之。</a:t>
            </a:r>
            <a:endParaRPr lang="zh-CN" altLang="en-US" sz="2400" dirty="0">
              <a:cs typeface="+mn-ea"/>
              <a:sym typeface="+mn-lt"/>
            </a:endParaRPr>
          </a:p>
          <a:p>
            <a:pPr marL="342900" indent="-342900">
              <a:lnSpc>
                <a:spcPct val="150000"/>
              </a:lnSpc>
              <a:buClr>
                <a:srgbClr val="FF0000"/>
              </a:buClr>
              <a:buFont typeface="Wingdings" panose="05000000000000000000" pitchFamily="2" charset="2"/>
              <a:buChar char="Ø"/>
            </a:pPr>
            <a:r>
              <a:rPr lang="zh-CN" altLang="en-US" sz="2400" dirty="0">
                <a:solidFill>
                  <a:srgbClr val="FF0000"/>
                </a:solidFill>
                <a:cs typeface="+mn-ea"/>
                <a:sym typeface="+mn-lt"/>
              </a:rPr>
              <a:t>第</a:t>
            </a:r>
            <a:r>
              <a:rPr lang="en-US" altLang="zh-CN" sz="2400" dirty="0">
                <a:solidFill>
                  <a:srgbClr val="FF0000"/>
                </a:solidFill>
                <a:cs typeface="+mn-ea"/>
                <a:sym typeface="+mn-lt"/>
              </a:rPr>
              <a:t>3</a:t>
            </a:r>
            <a:r>
              <a:rPr lang="zh-CN" altLang="en-US" sz="2400" dirty="0">
                <a:solidFill>
                  <a:srgbClr val="FF0000"/>
                </a:solidFill>
                <a:cs typeface="+mn-ea"/>
                <a:sym typeface="+mn-lt"/>
              </a:rPr>
              <a:t>类</a:t>
            </a:r>
            <a:r>
              <a:rPr lang="zh-CN" altLang="en-US" sz="2400" dirty="0">
                <a:cs typeface="+mn-ea"/>
                <a:sym typeface="+mn-lt"/>
              </a:rPr>
              <a:t>（</a:t>
            </a:r>
            <a:r>
              <a:rPr lang="en-US" altLang="zh-CN" sz="2400" dirty="0">
                <a:cs typeface="+mn-ea"/>
                <a:sym typeface="+mn-lt"/>
              </a:rPr>
              <a:t>A=1</a:t>
            </a:r>
            <a:r>
              <a:rPr lang="zh-CN" altLang="en-US" sz="2400" dirty="0">
                <a:cs typeface="+mn-ea"/>
                <a:sym typeface="+mn-lt"/>
              </a:rPr>
              <a:t>，</a:t>
            </a:r>
            <a:r>
              <a:rPr lang="en-US" altLang="zh-CN" sz="2400" dirty="0">
                <a:cs typeface="+mn-ea"/>
                <a:sym typeface="+mn-lt"/>
              </a:rPr>
              <a:t>M=0</a:t>
            </a:r>
            <a:r>
              <a:rPr lang="zh-CN" altLang="en-US" sz="2400" dirty="0">
                <a:cs typeface="+mn-ea"/>
                <a:sym typeface="+mn-lt"/>
              </a:rPr>
              <a:t>）：表示最近已被访问但未被修改，淘汰优先级第三。</a:t>
            </a:r>
            <a:endParaRPr lang="zh-CN" altLang="en-US" sz="2400" dirty="0">
              <a:cs typeface="+mn-ea"/>
              <a:sym typeface="+mn-lt"/>
            </a:endParaRPr>
          </a:p>
          <a:p>
            <a:pPr marL="342900" indent="-342900">
              <a:lnSpc>
                <a:spcPct val="150000"/>
              </a:lnSpc>
              <a:buClr>
                <a:srgbClr val="FF0000"/>
              </a:buClr>
              <a:buFont typeface="Wingdings" panose="05000000000000000000" pitchFamily="2" charset="2"/>
              <a:buChar char="Ø"/>
            </a:pPr>
            <a:r>
              <a:rPr lang="zh-CN" altLang="en-US" sz="2400" dirty="0">
                <a:solidFill>
                  <a:srgbClr val="FF0000"/>
                </a:solidFill>
                <a:cs typeface="+mn-ea"/>
                <a:sym typeface="+mn-lt"/>
              </a:rPr>
              <a:t>第</a:t>
            </a:r>
            <a:r>
              <a:rPr lang="en-US" altLang="zh-CN" sz="2400" dirty="0">
                <a:solidFill>
                  <a:srgbClr val="FF0000"/>
                </a:solidFill>
                <a:cs typeface="+mn-ea"/>
                <a:sym typeface="+mn-lt"/>
              </a:rPr>
              <a:t>4</a:t>
            </a:r>
            <a:r>
              <a:rPr lang="zh-CN" altLang="en-US" sz="2400" dirty="0">
                <a:solidFill>
                  <a:srgbClr val="FF0000"/>
                </a:solidFill>
                <a:cs typeface="+mn-ea"/>
                <a:sym typeface="+mn-lt"/>
              </a:rPr>
              <a:t>类</a:t>
            </a:r>
            <a:r>
              <a:rPr lang="zh-CN" altLang="en-US" sz="2400" dirty="0">
                <a:cs typeface="+mn-ea"/>
                <a:sym typeface="+mn-lt"/>
              </a:rPr>
              <a:t>（</a:t>
            </a:r>
            <a:r>
              <a:rPr lang="en-US" altLang="zh-CN" sz="2400" dirty="0">
                <a:cs typeface="+mn-ea"/>
                <a:sym typeface="+mn-lt"/>
              </a:rPr>
              <a:t>A=1</a:t>
            </a:r>
            <a:r>
              <a:rPr lang="zh-CN" altLang="en-US" sz="2400" dirty="0">
                <a:cs typeface="+mn-ea"/>
                <a:sym typeface="+mn-lt"/>
              </a:rPr>
              <a:t>，</a:t>
            </a:r>
            <a:r>
              <a:rPr lang="en-US" altLang="zh-CN" sz="2400" dirty="0">
                <a:cs typeface="+mn-ea"/>
                <a:sym typeface="+mn-lt"/>
              </a:rPr>
              <a:t>M=1</a:t>
            </a:r>
            <a:r>
              <a:rPr lang="zh-CN" altLang="en-US" sz="2400" dirty="0">
                <a:cs typeface="+mn-ea"/>
                <a:sym typeface="+mn-lt"/>
              </a:rPr>
              <a:t>）：表示最近已被访问且被修改，淘汰优先级最低。</a:t>
            </a:r>
            <a:endParaRPr lang="zh-CN" altLang="en-US" sz="2400" dirty="0">
              <a:cs typeface="+mn-ea"/>
              <a:sym typeface="+mn-l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60985" y="160655"/>
            <a:ext cx="11515725" cy="1428750"/>
          </a:xfrm>
          <a:prstGeom prst="rect">
            <a:avLst/>
          </a:prstGeom>
        </p:spPr>
        <p:txBody>
          <a:bodyPr>
            <a:noAutofit/>
          </a:bodyPr>
          <a:p>
            <a:r>
              <a:rPr lang="zh-CN" altLang="en-US" sz="2400"/>
              <a:t>【</a:t>
            </a:r>
            <a:r>
              <a:rPr lang="en-US" altLang="zh-CN" sz="2400"/>
              <a:t>2021</a:t>
            </a:r>
            <a:r>
              <a:rPr lang="zh-CN" altLang="en-US" sz="2400"/>
              <a:t>】某请求分页存储系统的页大小为</a:t>
            </a:r>
            <a:r>
              <a:rPr lang="en-US" altLang="zh-CN" sz="2400"/>
              <a:t>4KB</a:t>
            </a:r>
            <a:r>
              <a:rPr lang="zh-CN" altLang="en-US" sz="2400"/>
              <a:t>，按字节编址。系统给进程 </a:t>
            </a:r>
            <a:r>
              <a:rPr lang="en-US" altLang="zh-CN" sz="2400"/>
              <a:t>P </a:t>
            </a:r>
            <a:r>
              <a:rPr lang="zh-CN" altLang="en-US" sz="2400"/>
              <a:t>分配</a:t>
            </a:r>
            <a:r>
              <a:rPr lang="en-US" altLang="zh-CN" sz="2400"/>
              <a:t>2</a:t>
            </a:r>
            <a:r>
              <a:rPr lang="zh-CN" altLang="en-US" sz="2400"/>
              <a:t>个固定的页框，并采用改进型 </a:t>
            </a:r>
            <a:r>
              <a:rPr lang="en-US" altLang="zh-CN" sz="2400"/>
              <a:t>Clock </a:t>
            </a:r>
            <a:r>
              <a:rPr lang="zh-CN" altLang="en-US" sz="2400"/>
              <a:t>置换算法，进程 </a:t>
            </a:r>
            <a:r>
              <a:rPr lang="en-US" altLang="zh-CN" sz="2400"/>
              <a:t>P </a:t>
            </a:r>
            <a:r>
              <a:rPr lang="zh-CN" altLang="en-US" sz="2400"/>
              <a:t>页表的部分内容如下表所示。若 </a:t>
            </a:r>
            <a:r>
              <a:rPr lang="en-US" altLang="zh-CN" sz="2400"/>
              <a:t>P </a:t>
            </a:r>
            <a:r>
              <a:rPr lang="zh-CN" altLang="en-US" sz="2400"/>
              <a:t>访问虚拟地址为</a:t>
            </a:r>
            <a:r>
              <a:rPr lang="en-US" altLang="zh-CN" sz="2400"/>
              <a:t>02A01H</a:t>
            </a:r>
            <a:r>
              <a:rPr lang="zh-CN" altLang="en-US" sz="2400"/>
              <a:t>的存储单元，则经地址变换后得到的物理地址是（</a:t>
            </a:r>
            <a:r>
              <a:rPr lang="en-US" altLang="zh-CN" sz="2400"/>
              <a:t>)</a:t>
            </a:r>
            <a:r>
              <a:rPr lang="zh-CN" altLang="en-US" sz="2400"/>
              <a:t>。</a:t>
            </a:r>
            <a:endParaRPr lang="zh-CN" altLang="en-US" sz="2400"/>
          </a:p>
        </p:txBody>
      </p:sp>
      <p:sp>
        <p:nvSpPr>
          <p:cNvPr id="3" name="文本框 2"/>
          <p:cNvSpPr txBox="1"/>
          <p:nvPr/>
        </p:nvSpPr>
        <p:spPr>
          <a:xfrm>
            <a:off x="1016000" y="1589405"/>
            <a:ext cx="9896475" cy="521970"/>
          </a:xfrm>
          <a:prstGeom prst="rect">
            <a:avLst/>
          </a:prstGeom>
        </p:spPr>
        <p:txBody>
          <a:bodyPr wrap="square">
            <a:spAutoFit/>
          </a:bodyPr>
          <a:p>
            <a:r>
              <a:rPr lang="en-US" altLang="zh-CN" sz="2800"/>
              <a:t>A .00A01H        B.20A01H        C.60A01H       D.80A01H</a:t>
            </a:r>
            <a:endParaRPr lang="en-US" altLang="zh-CN" sz="2800"/>
          </a:p>
        </p:txBody>
      </p:sp>
      <p:pic>
        <p:nvPicPr>
          <p:cNvPr id="4" name="图片 3"/>
          <p:cNvPicPr>
            <a:picLocks noChangeAspect="1"/>
          </p:cNvPicPr>
          <p:nvPr/>
        </p:nvPicPr>
        <p:blipFill>
          <a:blip r:embed="rId1"/>
          <a:stretch>
            <a:fillRect/>
          </a:stretch>
        </p:blipFill>
        <p:spPr>
          <a:xfrm>
            <a:off x="2127885" y="2759075"/>
            <a:ext cx="7325995" cy="2567305"/>
          </a:xfrm>
          <a:prstGeom prst="rect">
            <a:avLst/>
          </a:prstGeom>
        </p:spPr>
      </p:pic>
      <p:sp>
        <p:nvSpPr>
          <p:cNvPr id="5" name="文本框 4"/>
          <p:cNvSpPr txBox="1"/>
          <p:nvPr/>
        </p:nvSpPr>
        <p:spPr>
          <a:xfrm>
            <a:off x="1108075" y="5973445"/>
            <a:ext cx="2054225" cy="583565"/>
          </a:xfrm>
          <a:prstGeom prst="rect">
            <a:avLst/>
          </a:prstGeom>
          <a:noFill/>
        </p:spPr>
        <p:txBody>
          <a:bodyPr wrap="square" rtlCol="0" anchor="t">
            <a:spAutoFit/>
          </a:bodyPr>
          <a:p>
            <a:r>
              <a:rPr lang="zh-CN" altLang="en-US" sz="3200">
                <a:solidFill>
                  <a:srgbClr val="FF0000"/>
                </a:solidFill>
                <a:sym typeface="+mn-ea"/>
              </a:rPr>
              <a:t>答案：</a:t>
            </a:r>
            <a:r>
              <a:rPr lang="en-US" altLang="zh-CN" sz="3200">
                <a:solidFill>
                  <a:srgbClr val="FF0000"/>
                </a:solidFill>
                <a:sym typeface="+mn-ea"/>
              </a:rPr>
              <a:t>C</a:t>
            </a:r>
            <a:endParaRPr lang="en-US" altLang="zh-CN" sz="320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cs typeface="+mn-ea"/>
                <a:sym typeface="+mn-lt"/>
              </a:rPr>
              <a:t>Date</a:t>
            </a:r>
            <a:endParaRPr lang="zh-CN" altLang="en-US" dirty="0">
              <a:cs typeface="+mn-ea"/>
              <a:sym typeface="+mn-lt"/>
            </a:endParaRPr>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cs typeface="+mn-ea"/>
                <a:sym typeface="+mn-lt"/>
              </a:rPr>
              <a:t>内容导航：</a:t>
            </a:r>
            <a:endParaRPr lang="zh-CN" altLang="en-US" sz="2800" b="1" dirty="0">
              <a:solidFill>
                <a:schemeClr val="bg1"/>
              </a:solidFill>
              <a:cs typeface="+mn-ea"/>
              <a:sym typeface="+mn-lt"/>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cs typeface="+mn-ea"/>
                <a:sym typeface="+mn-lt"/>
              </a:rPr>
              <a:t>6.1 </a:t>
            </a:r>
            <a:r>
              <a:rPr lang="zh-CN" altLang="en-US" sz="2400" dirty="0">
                <a:cs typeface="+mn-ea"/>
                <a:sym typeface="+mn-lt"/>
              </a:rPr>
              <a:t>虚拟存储器概述</a:t>
            </a:r>
            <a:endParaRPr lang="zh-CN" altLang="en-US" sz="2400" dirty="0">
              <a:cs typeface="+mn-ea"/>
              <a:sym typeface="+mn-lt"/>
            </a:endParaRPr>
          </a:p>
        </p:txBody>
      </p:sp>
      <p:sp>
        <p:nvSpPr>
          <p:cNvPr id="23" name="矩形 22"/>
          <p:cNvSpPr/>
          <p:nvPr/>
        </p:nvSpPr>
        <p:spPr>
          <a:xfrm>
            <a:off x="1696468" y="2375673"/>
            <a:ext cx="4399531" cy="461665"/>
          </a:xfrm>
          <a:prstGeom prst="rect">
            <a:avLst/>
          </a:prstGeom>
        </p:spPr>
        <p:txBody>
          <a:bodyPr wrap="square">
            <a:spAutoFit/>
          </a:bodyPr>
          <a:lstStyle/>
          <a:p>
            <a:r>
              <a:rPr lang="en-US" altLang="zh-CN" sz="2400" dirty="0">
                <a:cs typeface="+mn-ea"/>
                <a:sym typeface="+mn-lt"/>
              </a:rPr>
              <a:t>6.2 </a:t>
            </a:r>
            <a:r>
              <a:rPr lang="zh-CN" altLang="en-US" sz="2400" dirty="0">
                <a:cs typeface="+mn-ea"/>
                <a:sym typeface="+mn-lt"/>
              </a:rPr>
              <a:t>请求分页存储管理方式</a:t>
            </a:r>
            <a:endParaRPr lang="en-US" altLang="zh-CN" sz="2400" dirty="0">
              <a:cs typeface="+mn-ea"/>
              <a:sym typeface="+mn-lt"/>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cs typeface="+mn-ea"/>
                <a:sym typeface="+mn-lt"/>
              </a:rPr>
              <a:t>6.3 </a:t>
            </a:r>
            <a:r>
              <a:rPr lang="zh-CN" altLang="en-US" sz="2400" dirty="0">
                <a:cs typeface="+mn-ea"/>
                <a:sym typeface="+mn-lt"/>
              </a:rPr>
              <a:t>页面置换算法</a:t>
            </a:r>
            <a:endParaRPr lang="en-US" altLang="zh-CN" sz="2400" dirty="0">
              <a:cs typeface="+mn-ea"/>
              <a:sym typeface="+mn-lt"/>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b="1" dirty="0">
                <a:solidFill>
                  <a:srgbClr val="0000FF"/>
                </a:solidFill>
                <a:cs typeface="+mn-ea"/>
                <a:sym typeface="+mn-lt"/>
              </a:rPr>
              <a:t>6.4 </a:t>
            </a:r>
            <a:r>
              <a:rPr lang="zh-CN" altLang="en-US" sz="2400" b="1" dirty="0">
                <a:solidFill>
                  <a:srgbClr val="0000FF"/>
                </a:solidFill>
                <a:cs typeface="+mn-ea"/>
                <a:sym typeface="+mn-lt"/>
              </a:rPr>
              <a:t>抖动与工作集</a:t>
            </a:r>
            <a:endParaRPr lang="zh-CN" altLang="en-US" sz="2400" b="1" dirty="0">
              <a:solidFill>
                <a:srgbClr val="0000FF"/>
              </a:solidFill>
              <a:cs typeface="+mn-ea"/>
              <a:sym typeface="+mn-lt"/>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solidFill>
                  <a:schemeClr val="bg1">
                    <a:lumMod val="75000"/>
                  </a:schemeClr>
                </a:solidFill>
                <a:cs typeface="+mn-ea"/>
                <a:sym typeface="+mn-lt"/>
              </a:rPr>
              <a:t>6.5 </a:t>
            </a:r>
            <a:r>
              <a:rPr lang="zh-CN" altLang="en-US" sz="2400" dirty="0">
                <a:solidFill>
                  <a:schemeClr val="bg1">
                    <a:lumMod val="75000"/>
                  </a:schemeClr>
                </a:solidFill>
                <a:cs typeface="+mn-ea"/>
                <a:sym typeface="+mn-lt"/>
              </a:rPr>
              <a:t>请求分段存储管理方式</a:t>
            </a:r>
            <a:endParaRPr lang="zh-CN" altLang="en-US" sz="2400" dirty="0">
              <a:solidFill>
                <a:schemeClr val="bg1">
                  <a:lumMod val="75000"/>
                </a:schemeClr>
              </a:solidFill>
              <a:cs typeface="+mn-ea"/>
              <a:sym typeface="+mn-lt"/>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solidFill>
                  <a:schemeClr val="bg1">
                    <a:lumMod val="75000"/>
                  </a:schemeClr>
                </a:solidFill>
                <a:cs typeface="+mn-ea"/>
                <a:sym typeface="+mn-lt"/>
              </a:rPr>
              <a:t>6.6 </a:t>
            </a:r>
            <a:r>
              <a:rPr lang="zh-CN" altLang="en-US" sz="2400" dirty="0">
                <a:solidFill>
                  <a:schemeClr val="bg1">
                    <a:lumMod val="75000"/>
                  </a:schemeClr>
                </a:solidFill>
                <a:cs typeface="+mn-ea"/>
                <a:sym typeface="+mn-lt"/>
              </a:rPr>
              <a:t>虚拟存储器实现实例</a:t>
            </a:r>
            <a:endParaRPr lang="zh-CN" altLang="en-US" sz="2400" dirty="0">
              <a:solidFill>
                <a:schemeClr val="bg1">
                  <a:lumMod val="75000"/>
                </a:schemeClr>
              </a:solidFill>
              <a:cs typeface="+mn-ea"/>
              <a:sym typeface="+mn-lt"/>
            </a:endParaRPr>
          </a:p>
        </p:txBody>
      </p:sp>
      <p:sp>
        <p:nvSpPr>
          <p:cNvPr id="3" name="矩形 2"/>
          <p:cNvSpPr/>
          <p:nvPr/>
        </p:nvSpPr>
        <p:spPr>
          <a:xfrm>
            <a:off x="7395099" y="2386337"/>
            <a:ext cx="3801041" cy="646331"/>
          </a:xfrm>
          <a:prstGeom prst="rect">
            <a:avLst/>
          </a:prstGeom>
        </p:spPr>
        <p:txBody>
          <a:bodyPr wrap="none">
            <a:spAutoFit/>
          </a:bodyPr>
          <a:lstStyle/>
          <a:p>
            <a:r>
              <a:rPr lang="zh-CN" altLang="en-US" sz="3600" dirty="0">
                <a:solidFill>
                  <a:srgbClr val="000000"/>
                </a:solidFill>
                <a:cs typeface="+mn-ea"/>
                <a:sym typeface="+mn-lt"/>
              </a:rPr>
              <a:t>第</a:t>
            </a:r>
            <a:r>
              <a:rPr lang="en-US" altLang="zh-CN" sz="3600" dirty="0">
                <a:solidFill>
                  <a:srgbClr val="000000"/>
                </a:solidFill>
                <a:cs typeface="+mn-ea"/>
                <a:sym typeface="+mn-lt"/>
              </a:rPr>
              <a:t>6</a:t>
            </a:r>
            <a:r>
              <a:rPr lang="zh-CN" altLang="en-US" sz="3600" dirty="0">
                <a:solidFill>
                  <a:srgbClr val="000000"/>
                </a:solidFill>
                <a:cs typeface="+mn-ea"/>
                <a:sym typeface="+mn-lt"/>
              </a:rPr>
              <a:t>章 虚拟存储器</a:t>
            </a:r>
            <a:endParaRPr lang="zh-CN" altLang="en-US" sz="3600" dirty="0">
              <a:cs typeface="+mn-ea"/>
              <a:sym typeface="+mn-lt"/>
            </a:endParaRPr>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cs typeface="+mn-ea"/>
                <a:sym typeface="+mn-lt"/>
              </a:rPr>
              <a:t>抖动（</a:t>
            </a:r>
            <a:r>
              <a:rPr lang="zh-CN" altLang="en-US" sz="2800" b="1" dirty="0">
                <a:solidFill>
                  <a:schemeClr val="bg1"/>
                </a:solidFill>
                <a:cs typeface="+mn-ea"/>
                <a:sym typeface="+mn-lt"/>
              </a:rPr>
              <a:t>颠簸）</a:t>
            </a:r>
            <a:endParaRPr lang="zh-CN" altLang="en-US" sz="2800" b="1" dirty="0">
              <a:solidFill>
                <a:schemeClr val="bg1"/>
              </a:solidFill>
              <a:cs typeface="+mn-ea"/>
              <a:sym typeface="+mn-lt"/>
            </a:endParaRPr>
          </a:p>
        </p:txBody>
      </p:sp>
      <p:sp>
        <p:nvSpPr>
          <p:cNvPr id="11" name="内容占位符 2"/>
          <p:cNvSpPr txBox="1"/>
          <p:nvPr/>
        </p:nvSpPr>
        <p:spPr>
          <a:xfrm>
            <a:off x="1146810" y="1275080"/>
            <a:ext cx="10139680" cy="22504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600"/>
              </a:spcBef>
              <a:spcAft>
                <a:spcPts val="600"/>
              </a:spcAft>
              <a:buNone/>
            </a:pPr>
            <a:r>
              <a:rPr lang="zh-CN" altLang="en-US" sz="2800" dirty="0"/>
              <a:t>如果一个进程缺页率将很高，这将导致:</a:t>
            </a:r>
            <a:endParaRPr lang="zh-CN" altLang="en-US" sz="2800" dirty="0"/>
          </a:p>
          <a:p>
            <a:pPr lvl="1">
              <a:lnSpc>
                <a:spcPct val="120000"/>
              </a:lnSpc>
              <a:spcBef>
                <a:spcPts val="600"/>
              </a:spcBef>
              <a:spcAft>
                <a:spcPts val="600"/>
              </a:spcAft>
              <a:buClr>
                <a:srgbClr val="FF0000"/>
              </a:buClr>
              <a:buFont typeface="Wingdings" panose="05000000000000000000" pitchFamily="2" charset="2"/>
              <a:buChar char="Ø"/>
            </a:pPr>
            <a:r>
              <a:rPr lang="en-US" altLang="zh-CN" sz="2800" dirty="0"/>
              <a:t>CPU</a:t>
            </a:r>
            <a:r>
              <a:rPr lang="zh-CN" altLang="en-US" sz="2800" dirty="0"/>
              <a:t>利用率低下.</a:t>
            </a:r>
            <a:endParaRPr lang="zh-CN" altLang="en-US" sz="2800" dirty="0"/>
          </a:p>
          <a:p>
            <a:pPr lvl="1">
              <a:lnSpc>
                <a:spcPct val="120000"/>
              </a:lnSpc>
              <a:spcBef>
                <a:spcPts val="600"/>
              </a:spcBef>
              <a:spcAft>
                <a:spcPts val="600"/>
              </a:spcAft>
              <a:buClr>
                <a:srgbClr val="FF0000"/>
              </a:buClr>
              <a:buFont typeface="Wingdings" panose="05000000000000000000" pitchFamily="2" charset="2"/>
              <a:buChar char="Ø"/>
            </a:pPr>
            <a:r>
              <a:rPr lang="zh-CN" altLang="en-US" sz="2800" dirty="0">
                <a:solidFill>
                  <a:srgbClr val="FF0000"/>
                </a:solidFill>
                <a:sym typeface="+mn-ea"/>
              </a:rPr>
              <a:t>抖动</a:t>
            </a:r>
            <a:r>
              <a:rPr lang="en-US" altLang="zh-CN" sz="2800" dirty="0">
                <a:sym typeface="+mn-ea"/>
              </a:rPr>
              <a:t>(Thrashing)</a:t>
            </a:r>
            <a:r>
              <a:rPr lang="zh-CN" altLang="en-US" sz="2800" dirty="0">
                <a:sym typeface="+mn-ea"/>
              </a:rPr>
              <a:t>  </a:t>
            </a:r>
            <a:r>
              <a:rPr lang="zh-CN" altLang="en-US" sz="2800" dirty="0">
                <a:sym typeface="Symbol" panose="05050102010706020507" pitchFamily="18" charset="2"/>
              </a:rPr>
              <a:t>：一个进程的页面经常换入换出</a:t>
            </a:r>
            <a:endParaRPr lang="zh-CN" altLang="en-US" sz="2800" dirty="0"/>
          </a:p>
          <a:p>
            <a:pPr marL="457200" lvl="1" indent="0">
              <a:lnSpc>
                <a:spcPct val="120000"/>
              </a:lnSpc>
              <a:spcBef>
                <a:spcPts val="600"/>
              </a:spcBef>
              <a:spcAft>
                <a:spcPts val="600"/>
              </a:spcAft>
              <a:buNone/>
            </a:pPr>
            <a:endParaRPr lang="zh-CN" altLang="en-US" sz="2800" dirty="0"/>
          </a:p>
          <a:p>
            <a:pPr marL="0" indent="0">
              <a:lnSpc>
                <a:spcPct val="120000"/>
              </a:lnSpc>
              <a:spcBef>
                <a:spcPts val="600"/>
              </a:spcBef>
              <a:spcAft>
                <a:spcPts val="600"/>
              </a:spcAft>
              <a:buNone/>
            </a:pPr>
            <a:endParaRPr lang="zh-CN" altLang="en-US" sz="2800" dirty="0">
              <a:sym typeface="Symbol" panose="05050102010706020507" pitchFamily="18" charset="2"/>
            </a:endParaRPr>
          </a:p>
          <a:p>
            <a:pPr marL="0" indent="0">
              <a:lnSpc>
                <a:spcPct val="120000"/>
              </a:lnSpc>
              <a:spcBef>
                <a:spcPts val="600"/>
              </a:spcBef>
              <a:spcAft>
                <a:spcPts val="600"/>
              </a:spcAft>
              <a:buNone/>
            </a:pPr>
            <a:endParaRPr lang="zh-CN" altLang="en-US" sz="2800" dirty="0"/>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1039" y="1275283"/>
            <a:ext cx="527050" cy="527050"/>
          </a:xfrm>
          <a:prstGeom prst="rect">
            <a:avLst/>
          </a:prstGeom>
          <a:ln>
            <a:noFill/>
          </a:ln>
          <a:effectLst>
            <a:softEdge rad="0"/>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78460" y="146050"/>
            <a:ext cx="11285220" cy="606425"/>
          </a:xfrm>
          <a:prstGeom prst="rect">
            <a:avLst/>
          </a:prstGeom>
        </p:spPr>
        <p:txBody>
          <a:bodyPr>
            <a:noAutofit/>
          </a:bodyPr>
          <a:p>
            <a:r>
              <a:rPr lang="zh-CN" altLang="en-US" sz="2800"/>
              <a:t>将下表补充完整，并说明理由。</a:t>
            </a:r>
            <a:endParaRPr lang="zh-CN" altLang="en-US" sz="2800"/>
          </a:p>
        </p:txBody>
      </p:sp>
      <p:pic>
        <p:nvPicPr>
          <p:cNvPr id="3" name="图片 2"/>
          <p:cNvPicPr>
            <a:picLocks noChangeAspect="1"/>
          </p:cNvPicPr>
          <p:nvPr/>
        </p:nvPicPr>
        <p:blipFill>
          <a:blip r:embed="rId1"/>
          <a:stretch>
            <a:fillRect/>
          </a:stretch>
        </p:blipFill>
        <p:spPr>
          <a:xfrm>
            <a:off x="561975" y="752475"/>
            <a:ext cx="11068050" cy="2657475"/>
          </a:xfrm>
          <a:prstGeom prst="rect">
            <a:avLst/>
          </a:prstGeom>
        </p:spPr>
      </p:pic>
      <p:pic>
        <p:nvPicPr>
          <p:cNvPr id="4" name="图片 3"/>
          <p:cNvPicPr>
            <a:picLocks noChangeAspect="1"/>
          </p:cNvPicPr>
          <p:nvPr/>
        </p:nvPicPr>
        <p:blipFill>
          <a:blip r:embed="rId2"/>
          <a:stretch>
            <a:fillRect/>
          </a:stretch>
        </p:blipFill>
        <p:spPr>
          <a:xfrm>
            <a:off x="476250" y="3657600"/>
            <a:ext cx="11239500" cy="27527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抖动的预防方法</a:t>
            </a:r>
            <a:endParaRPr lang="zh-CN" altLang="en-US" sz="2800" b="1" dirty="0">
              <a:solidFill>
                <a:schemeClr val="bg1"/>
              </a:solidFill>
              <a:cs typeface="+mn-ea"/>
              <a:sym typeface="+mn-lt"/>
            </a:endParaRPr>
          </a:p>
        </p:txBody>
      </p:sp>
      <p:sp>
        <p:nvSpPr>
          <p:cNvPr id="5" name="iśḷíḑe"/>
          <p:cNvSpPr/>
          <p:nvPr/>
        </p:nvSpPr>
        <p:spPr>
          <a:xfrm>
            <a:off x="669925" y="1035685"/>
            <a:ext cx="773430" cy="63627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cs typeface="+mn-ea"/>
                <a:sym typeface="+mn-lt"/>
              </a:rPr>
              <a:t>01</a:t>
            </a:r>
            <a:endParaRPr lang="zh-CN" altLang="en-US" sz="2400" b="1" kern="0" dirty="0">
              <a:solidFill>
                <a:prstClr val="white"/>
              </a:solidFill>
              <a:cs typeface="+mn-ea"/>
              <a:sym typeface="+mn-lt"/>
            </a:endParaRPr>
          </a:p>
        </p:txBody>
      </p:sp>
      <p:sp>
        <p:nvSpPr>
          <p:cNvPr id="6" name="ïś1ïḑè"/>
          <p:cNvSpPr/>
          <p:nvPr/>
        </p:nvSpPr>
        <p:spPr>
          <a:xfrm>
            <a:off x="669925" y="1809115"/>
            <a:ext cx="709930" cy="6051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cs typeface="+mn-ea"/>
                <a:sym typeface="+mn-lt"/>
              </a:rPr>
              <a:t>02</a:t>
            </a:r>
            <a:endParaRPr lang="zh-CN" altLang="en-US" sz="2400" b="1" kern="0" dirty="0">
              <a:solidFill>
                <a:prstClr val="white"/>
              </a:solidFill>
              <a:cs typeface="+mn-ea"/>
              <a:sym typeface="+mn-lt"/>
            </a:endParaRPr>
          </a:p>
        </p:txBody>
      </p:sp>
      <p:sp>
        <p:nvSpPr>
          <p:cNvPr id="8" name="ïś1ïḑè"/>
          <p:cNvSpPr/>
          <p:nvPr/>
        </p:nvSpPr>
        <p:spPr>
          <a:xfrm>
            <a:off x="669925" y="2763764"/>
            <a:ext cx="774099" cy="774099"/>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cs typeface="+mn-ea"/>
                <a:sym typeface="+mn-lt"/>
              </a:rPr>
              <a:t>03</a:t>
            </a:r>
            <a:endParaRPr lang="zh-CN" altLang="en-US" sz="2400" b="1" kern="0" dirty="0">
              <a:solidFill>
                <a:prstClr val="white"/>
              </a:solidFill>
              <a:cs typeface="+mn-ea"/>
              <a:sym typeface="+mn-lt"/>
            </a:endParaRPr>
          </a:p>
        </p:txBody>
      </p:sp>
      <p:sp>
        <p:nvSpPr>
          <p:cNvPr id="9" name="内容占位符 2"/>
          <p:cNvSpPr txBox="1"/>
          <p:nvPr/>
        </p:nvSpPr>
        <p:spPr>
          <a:xfrm>
            <a:off x="1620101" y="1243538"/>
            <a:ext cx="9901974" cy="34402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cs typeface="+mn-ea"/>
                <a:sym typeface="+mn-lt"/>
              </a:rPr>
              <a:t>采取可变分配</a:t>
            </a:r>
            <a:r>
              <a:rPr lang="zh-CN" altLang="en-US" sz="2400" dirty="0">
                <a:solidFill>
                  <a:schemeClr val="tx1"/>
                </a:solidFill>
                <a:cs typeface="+mn-ea"/>
                <a:sym typeface="+mn-lt"/>
              </a:rPr>
              <a:t>局部置换策略</a:t>
            </a:r>
            <a:endParaRPr lang="zh-CN" altLang="en-US" sz="2400" dirty="0">
              <a:cs typeface="+mn-ea"/>
              <a:sym typeface="+mn-lt"/>
            </a:endParaRPr>
          </a:p>
        </p:txBody>
      </p:sp>
      <p:sp>
        <p:nvSpPr>
          <p:cNvPr id="12" name="内容占位符 2"/>
          <p:cNvSpPr txBox="1"/>
          <p:nvPr/>
        </p:nvSpPr>
        <p:spPr>
          <a:xfrm>
            <a:off x="1604645" y="1928495"/>
            <a:ext cx="9917430" cy="3657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cs typeface="+mn-ea"/>
                <a:sym typeface="+mn-lt"/>
              </a:rPr>
              <a:t>调入作业前检查进程获得的内存块是否足够，不够将会明显增大缺页率，则不应调入新作业</a:t>
            </a:r>
            <a:endParaRPr lang="zh-CN" altLang="en-US" sz="2400" dirty="0">
              <a:cs typeface="+mn-ea"/>
              <a:sym typeface="+mn-lt"/>
            </a:endParaRPr>
          </a:p>
          <a:p>
            <a:pPr marL="0" indent="0">
              <a:buNone/>
            </a:pPr>
            <a:endParaRPr lang="zh-CN" altLang="en-US" sz="2400" dirty="0">
              <a:cs typeface="+mn-ea"/>
              <a:sym typeface="+mn-lt"/>
            </a:endParaRPr>
          </a:p>
        </p:txBody>
      </p:sp>
      <p:sp>
        <p:nvSpPr>
          <p:cNvPr id="13" name="内容占位符 2"/>
          <p:cNvSpPr txBox="1"/>
          <p:nvPr/>
        </p:nvSpPr>
        <p:spPr>
          <a:xfrm>
            <a:off x="1524851" y="2966517"/>
            <a:ext cx="7914516"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cs typeface="+mn-ea"/>
                <a:sym typeface="+mn-lt"/>
              </a:rPr>
              <a:t>利用“</a:t>
            </a:r>
            <a:r>
              <a:rPr lang="en-US" altLang="zh-CN" sz="2400" dirty="0">
                <a:solidFill>
                  <a:srgbClr val="0000FF"/>
                </a:solidFill>
                <a:cs typeface="+mn-ea"/>
                <a:sym typeface="+mn-lt"/>
              </a:rPr>
              <a:t>L=S”</a:t>
            </a:r>
            <a:r>
              <a:rPr lang="zh-CN" altLang="en-US" sz="2400" dirty="0">
                <a:solidFill>
                  <a:srgbClr val="0000FF"/>
                </a:solidFill>
                <a:cs typeface="+mn-ea"/>
                <a:sym typeface="+mn-lt"/>
              </a:rPr>
              <a:t>准则</a:t>
            </a:r>
            <a:r>
              <a:rPr lang="zh-CN" altLang="en-US" sz="2400" dirty="0">
                <a:cs typeface="+mn-ea"/>
                <a:sym typeface="+mn-lt"/>
              </a:rPr>
              <a:t>调节缺页率：</a:t>
            </a:r>
            <a:endParaRPr lang="zh-CN" altLang="en-US" sz="2400" dirty="0">
              <a:cs typeface="+mn-ea"/>
              <a:sym typeface="+mn-lt"/>
            </a:endParaRPr>
          </a:p>
        </p:txBody>
      </p:sp>
      <p:sp>
        <p:nvSpPr>
          <p:cNvPr id="14" name="内容占位符 2"/>
          <p:cNvSpPr txBox="1"/>
          <p:nvPr/>
        </p:nvSpPr>
        <p:spPr>
          <a:xfrm>
            <a:off x="1443990" y="5171440"/>
            <a:ext cx="10321290" cy="8197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cs typeface="+mn-ea"/>
                <a:sym typeface="+mn-lt"/>
              </a:rPr>
              <a:t>跟踪缺页率，发现过高时，将一些进程挂起，暂停进程，释放内存空间交给缺页率较高的进程使用。</a:t>
            </a:r>
            <a:endParaRPr lang="zh-CN" altLang="en-US" sz="2400" dirty="0">
              <a:cs typeface="+mn-ea"/>
              <a:sym typeface="+mn-lt"/>
            </a:endParaRPr>
          </a:p>
        </p:txBody>
      </p:sp>
      <p:sp>
        <p:nvSpPr>
          <p:cNvPr id="15" name="内容占位符 2"/>
          <p:cNvSpPr txBox="1"/>
          <p:nvPr/>
        </p:nvSpPr>
        <p:spPr>
          <a:xfrm>
            <a:off x="1000760" y="3392805"/>
            <a:ext cx="4347845" cy="20351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20000"/>
              </a:lnSpc>
              <a:buClr>
                <a:srgbClr val="0000FF"/>
              </a:buClr>
              <a:buFont typeface="Wingdings" panose="05000000000000000000" pitchFamily="2" charset="2"/>
              <a:buChar char="Ø"/>
            </a:pPr>
            <a:r>
              <a:rPr lang="en-US" altLang="zh-CN" sz="2400" dirty="0">
                <a:cs typeface="+mn-ea"/>
                <a:sym typeface="+mn-lt"/>
              </a:rPr>
              <a:t>L</a:t>
            </a:r>
            <a:r>
              <a:rPr lang="zh-CN" altLang="en-US" sz="2400" dirty="0">
                <a:cs typeface="+mn-ea"/>
                <a:sym typeface="+mn-lt"/>
              </a:rPr>
              <a:t>是缺页之间的平均时间</a:t>
            </a:r>
            <a:endParaRPr lang="zh-CN" altLang="en-US" sz="2400" dirty="0">
              <a:cs typeface="+mn-ea"/>
              <a:sym typeface="+mn-lt"/>
            </a:endParaRPr>
          </a:p>
          <a:p>
            <a:pPr lvl="1">
              <a:lnSpc>
                <a:spcPct val="120000"/>
              </a:lnSpc>
              <a:buClr>
                <a:srgbClr val="0000FF"/>
              </a:buClr>
              <a:buFont typeface="Wingdings" panose="05000000000000000000" pitchFamily="2" charset="2"/>
              <a:buChar char="Ø"/>
            </a:pPr>
            <a:r>
              <a:rPr lang="en-US" altLang="zh-CN" sz="2400" dirty="0">
                <a:cs typeface="+mn-ea"/>
                <a:sym typeface="+mn-lt"/>
              </a:rPr>
              <a:t>S</a:t>
            </a:r>
            <a:r>
              <a:rPr lang="zh-CN" altLang="en-US" sz="2400" dirty="0">
                <a:cs typeface="+mn-ea"/>
                <a:sym typeface="+mn-lt"/>
              </a:rPr>
              <a:t>是平均缺页服务时间</a:t>
            </a:r>
            <a:endParaRPr lang="zh-CN" altLang="en-US" sz="2400" dirty="0">
              <a:cs typeface="+mn-ea"/>
              <a:sym typeface="+mn-lt"/>
            </a:endParaRPr>
          </a:p>
        </p:txBody>
      </p:sp>
      <p:sp>
        <p:nvSpPr>
          <p:cNvPr id="16" name="内容占位符 2"/>
          <p:cNvSpPr txBox="1"/>
          <p:nvPr/>
        </p:nvSpPr>
        <p:spPr>
          <a:xfrm>
            <a:off x="5607685" y="3218815"/>
            <a:ext cx="6478270" cy="16440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a:lnSpc>
                <a:spcPct val="120000"/>
              </a:lnSpc>
              <a:buClr>
                <a:srgbClr val="0000FF"/>
              </a:buClr>
              <a:buFont typeface="Wingdings" panose="05000000000000000000" pitchFamily="2" charset="2"/>
              <a:buChar char="Ø"/>
            </a:pPr>
            <a:r>
              <a:rPr lang="en-US" altLang="zh-CN" sz="2400" dirty="0">
                <a:cs typeface="+mn-ea"/>
                <a:sym typeface="+mn-lt"/>
              </a:rPr>
              <a:t>L&lt;S</a:t>
            </a:r>
            <a:r>
              <a:rPr lang="zh-CN" altLang="en-US" sz="2400" dirty="0">
                <a:cs typeface="+mn-ea"/>
                <a:sym typeface="+mn-lt"/>
              </a:rPr>
              <a:t>，说明频繁缺页</a:t>
            </a:r>
            <a:endParaRPr lang="zh-CN" altLang="en-US" sz="2400" dirty="0">
              <a:cs typeface="+mn-ea"/>
              <a:sym typeface="+mn-lt"/>
            </a:endParaRPr>
          </a:p>
          <a:p>
            <a:pPr lvl="1" algn="l">
              <a:lnSpc>
                <a:spcPct val="120000"/>
              </a:lnSpc>
              <a:buClr>
                <a:srgbClr val="0000FF"/>
              </a:buClr>
              <a:buFont typeface="Wingdings" panose="05000000000000000000" pitchFamily="2" charset="2"/>
              <a:buChar char="Ø"/>
            </a:pPr>
            <a:r>
              <a:rPr lang="en-US" altLang="zh-CN" sz="2400" dirty="0">
                <a:cs typeface="+mn-ea"/>
                <a:sym typeface="+mn-lt"/>
              </a:rPr>
              <a:t>L&gt;S</a:t>
            </a:r>
            <a:r>
              <a:rPr lang="zh-CN" altLang="en-US" sz="2400" dirty="0">
                <a:cs typeface="+mn-ea"/>
                <a:sym typeface="+mn-lt"/>
              </a:rPr>
              <a:t>，说明很少发生缺页</a:t>
            </a:r>
            <a:endParaRPr lang="zh-CN" altLang="en-US" sz="2400" dirty="0">
              <a:cs typeface="+mn-ea"/>
              <a:sym typeface="+mn-lt"/>
            </a:endParaRPr>
          </a:p>
          <a:p>
            <a:pPr lvl="1">
              <a:lnSpc>
                <a:spcPct val="120000"/>
              </a:lnSpc>
              <a:buClr>
                <a:srgbClr val="0000FF"/>
              </a:buClr>
              <a:buFont typeface="Wingdings" panose="05000000000000000000" pitchFamily="2" charset="2"/>
              <a:buChar char="Ø"/>
            </a:pPr>
            <a:r>
              <a:rPr lang="en-US" altLang="zh-CN" sz="2400" dirty="0">
                <a:cs typeface="+mn-ea"/>
                <a:sym typeface="+mn-lt"/>
              </a:rPr>
              <a:t>L=S</a:t>
            </a:r>
            <a:r>
              <a:rPr lang="zh-CN" altLang="en-US" sz="2400" dirty="0">
                <a:cs typeface="+mn-ea"/>
                <a:sym typeface="+mn-lt"/>
              </a:rPr>
              <a:t>，磁盘和处理机都可达到最大利用率</a:t>
            </a:r>
            <a:endParaRPr lang="en-US" altLang="zh-CN" sz="2400" dirty="0">
              <a:cs typeface="+mn-ea"/>
              <a:sym typeface="+mn-lt"/>
            </a:endParaRPr>
          </a:p>
        </p:txBody>
      </p:sp>
      <p:sp>
        <p:nvSpPr>
          <p:cNvPr id="3" name="内容占位符 2"/>
          <p:cNvSpPr txBox="1"/>
          <p:nvPr/>
        </p:nvSpPr>
        <p:spPr>
          <a:xfrm>
            <a:off x="1619885" y="2361565"/>
            <a:ext cx="10850245" cy="6019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400" dirty="0">
              <a:cs typeface="+mn-ea"/>
              <a:sym typeface="+mn-lt"/>
            </a:endParaRPr>
          </a:p>
        </p:txBody>
      </p:sp>
      <p:sp>
        <p:nvSpPr>
          <p:cNvPr id="4" name="ïś1ïḑè"/>
          <p:cNvSpPr/>
          <p:nvPr/>
        </p:nvSpPr>
        <p:spPr>
          <a:xfrm>
            <a:off x="606425" y="5106035"/>
            <a:ext cx="773430" cy="6686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p>
            <a:pPr algn="ctr" defTabSz="1218565">
              <a:defRPr/>
            </a:pPr>
            <a:r>
              <a:rPr lang="en-US" altLang="zh-CN" sz="2400" b="1" kern="0" dirty="0">
                <a:solidFill>
                  <a:prstClr val="white"/>
                </a:solidFill>
                <a:cs typeface="+mn-ea"/>
                <a:sym typeface="+mn-lt"/>
              </a:rPr>
              <a:t>04</a:t>
            </a:r>
            <a:endParaRPr lang="zh-CN" altLang="en-US" sz="2400" b="1" kern="0" dirty="0">
              <a:solidFill>
                <a:prstClr val="white"/>
              </a:solidFill>
              <a:cs typeface="+mn-ea"/>
              <a:sym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077" name="think-cell Slide" r:id="rId2" imgW="9525" imgH="9525" progId="TCLayout.ActiveDocument.1">
                  <p:embed/>
                </p:oleObj>
              </mc:Choice>
              <mc:Fallback>
                <p:oleObj name="think-cell Slide" r:id="rId2" imgW="9525" imgH="9525" progId="TCLayout.ActiveDocument.1">
                  <p:embed/>
                  <p:pic>
                    <p:nvPicPr>
                      <p:cNvPr id="0" name="对象 2" hidden="1"/>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2" name="矩形 1" hidden="1"/>
          <p:cNvSpPr/>
          <p:nvPr>
            <p:custDataLst>
              <p:tags r:id="rId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2400" dirty="0">
              <a:cs typeface="+mn-ea"/>
              <a:sym typeface="+mn-lt"/>
            </a:endParaRPr>
          </a:p>
        </p:txBody>
      </p:sp>
      <p:sp>
        <p:nvSpPr>
          <p:cNvPr id="5" name="标题 4"/>
          <p:cNvSpPr>
            <a:spLocks noGrp="1"/>
          </p:cNvSpPr>
          <p:nvPr>
            <p:ph type="ctrTitle"/>
          </p:nvPr>
        </p:nvSpPr>
        <p:spPr>
          <a:xfrm>
            <a:off x="4742091" y="2077986"/>
            <a:ext cx="6536871" cy="2390427"/>
          </a:xfrm>
        </p:spPr>
        <p:txBody>
          <a:bodyPr>
            <a:normAutofit/>
          </a:bodyPr>
          <a:lstStyle/>
          <a:p>
            <a:r>
              <a:rPr lang="zh-CN" altLang="en-US" sz="6600" dirty="0">
                <a:latin typeface="+mn-lt"/>
                <a:ea typeface="+mn-ea"/>
                <a:cs typeface="+mn-ea"/>
                <a:sym typeface="+mn-lt"/>
              </a:rPr>
              <a:t>学 习 进 步 ！</a:t>
            </a:r>
            <a:endParaRPr lang="zh-CN" altLang="en-US" sz="4000" dirty="0">
              <a:latin typeface="+mn-lt"/>
              <a:ea typeface="+mn-ea"/>
              <a:cs typeface="+mn-ea"/>
              <a:sym typeface="+mn-lt"/>
            </a:endParaRPr>
          </a:p>
        </p:txBody>
      </p:sp>
      <p:sp>
        <p:nvSpPr>
          <p:cNvPr id="8" name="任意多边形: 形状 7"/>
          <p:cNvSpPr/>
          <p:nvPr/>
        </p:nvSpPr>
        <p:spPr>
          <a:xfrm>
            <a:off x="669925" y="2344255"/>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1243012" y="602297"/>
            <a:ext cx="4698723" cy="430887"/>
          </a:xfrm>
          <a:prstGeom prst="rect">
            <a:avLst/>
          </a:prstGeom>
        </p:spPr>
        <p:txBody>
          <a:bodyPr wrap="none">
            <a:spAutoFit/>
          </a:bodyPr>
          <a:lstStyle/>
          <a:p>
            <a:pPr algn="ctr"/>
            <a:r>
              <a:rPr lang="zh-CN" altLang="en-US" sz="2200" dirty="0">
                <a:solidFill>
                  <a:schemeClr val="bg1"/>
                </a:solidFill>
                <a:cs typeface="+mn-ea"/>
                <a:sym typeface="+mn-lt"/>
              </a:rPr>
              <a:t>经典教材《计算机操作系统》</a:t>
            </a:r>
            <a:r>
              <a:rPr lang="zh-CN" altLang="en-US" sz="2200" b="1" dirty="0">
                <a:solidFill>
                  <a:schemeClr val="accent2"/>
                </a:solidFill>
                <a:cs typeface="+mn-ea"/>
                <a:sym typeface="+mn-lt"/>
              </a:rPr>
              <a:t>最新版</a:t>
            </a:r>
            <a:endParaRPr lang="zh-CN" altLang="en-US" sz="2200" b="1" dirty="0">
              <a:solidFill>
                <a:schemeClr val="accent2"/>
              </a:solidFill>
              <a:cs typeface="+mn-ea"/>
              <a:sym typeface="+mn-lt"/>
            </a:endParaRPr>
          </a:p>
        </p:txBody>
      </p:sp>
      <p:pic>
        <p:nvPicPr>
          <p:cNvPr id="12" name="图片 11"/>
          <p:cNvPicPr>
            <a:picLocks noChangeAspect="1"/>
          </p:cNvPicPr>
          <p:nvPr/>
        </p:nvPicPr>
        <p:blipFill>
          <a:blip r:embed="rId5"/>
          <a:stretch>
            <a:fillRect/>
          </a:stretch>
        </p:blipFill>
        <p:spPr>
          <a:xfrm>
            <a:off x="1673475" y="2592475"/>
            <a:ext cx="2508000" cy="3554241"/>
          </a:xfrm>
          <a:prstGeom prst="rect">
            <a:avLst/>
          </a:prstGeom>
        </p:spPr>
      </p:pic>
      <p:pic>
        <p:nvPicPr>
          <p:cNvPr id="13" name="图片 12"/>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406400" y="522760"/>
            <a:ext cx="527050" cy="527050"/>
          </a:xfrm>
          <a:prstGeom prst="rect">
            <a:avLst/>
          </a:prstGeom>
        </p:spPr>
      </p:pic>
    </p:spTree>
  </p:cSld>
  <p:clrMapOvr>
    <a:masterClrMapping/>
  </p:clrMapOvr>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THINKCELLSHAPEDONOTDELETE" val="tA6S0wzOvQ8a50SA42PUNRg"/>
</p:tagLst>
</file>

<file path=ppt/tags/tag3.xml><?xml version="1.0" encoding="utf-8"?>
<p:tagLst xmlns:p="http://schemas.openxmlformats.org/presentationml/2006/main">
  <p:tag name="KSO_WM_UNIT_TABLE_BEAUTIFY" val="smartTable{aa511bc4-1952-4687-a565-8c9fe607fe8c}"/>
</p:tagLst>
</file>

<file path=ppt/tags/tag4.xml><?xml version="1.0" encoding="utf-8"?>
<p:tagLst xmlns:p="http://schemas.openxmlformats.org/presentationml/2006/main">
  <p:tag name="KSO_WM_DIAGRAM_VIRTUALLY_FRAME" val="{&quot;height&quot;:241.3216535433071,&quot;left&quot;:92.08015748031497,&quot;top&quot;:179.97070866141732,&quot;width&quot;:387.9197637795276}"/>
</p:tagLst>
</file>

<file path=ppt/tags/tag5.xml><?xml version="1.0" encoding="utf-8"?>
<p:tagLst xmlns:p="http://schemas.openxmlformats.org/presentationml/2006/main">
  <p:tag name="KSO_WM_DIAGRAM_VIRTUALLY_FRAME" val="{&quot;height&quot;:241.3216535433071,&quot;left&quot;:92.08015748031497,&quot;top&quot;:179.97070866141732,&quot;width&quot;:387.9197637795276}"/>
</p:tagLst>
</file>

<file path=ppt/tags/tag6.xml><?xml version="1.0" encoding="utf-8"?>
<p:tagLst xmlns:p="http://schemas.openxmlformats.org/presentationml/2006/main">
  <p:tag name="KSO_WM_DIAGRAM_VIRTUALLY_FRAME" val="{&quot;height&quot;:241.3216535433071,&quot;left&quot;:92.08015748031497,&quot;top&quot;:179.97070866141732,&quot;width&quot;:387.9197637795276}"/>
</p:tagLst>
</file>

<file path=ppt/tags/tag7.xml><?xml version="1.0" encoding="utf-8"?>
<p:tagLst xmlns:p="http://schemas.openxmlformats.org/presentationml/2006/main">
  <p:tag name="KSO_WM_DIAGRAM_VIRTUALLY_FRAME" val="{&quot;height&quot;:241.3216535433071,&quot;left&quot;:92.08015748031497,&quot;top&quot;:179.97070866141732,&quot;width&quot;:387.9197637795276}"/>
</p:tagLst>
</file>

<file path=ppt/tags/tag8.xml><?xml version="1.0" encoding="utf-8"?>
<p:tagLst xmlns:p="http://schemas.openxmlformats.org/presentationml/2006/main">
  <p:tag name="KSO_WM_DIAGRAM_VIRTUALLY_FRAME" val="{&quot;height&quot;:241.3216535433071,&quot;left&quot;:92.08015748031497,&quot;top&quot;:179.97070866141732,&quot;width&quot;:387.9197637795276}"/>
</p:tagLst>
</file>

<file path=ppt/tags/tag9.xml><?xml version="1.0" encoding="utf-8"?>
<p:tagLst xmlns:p="http://schemas.openxmlformats.org/presentationml/2006/main">
  <p:tag name="KSO_WM_DIAGRAM_VIRTUALLY_FRAME" val="{&quot;height&quot;:241.3216535433071,&quot;left&quot;:92.08015748031497,&quot;top&quot;:179.97070866141732,&quot;width&quot;:387.9197637795276}"/>
</p:tagLst>
</file>

<file path=ppt/tags/tag10.xml><?xml version="1.0" encoding="utf-8"?>
<p:tagLst xmlns:p="http://schemas.openxmlformats.org/presentationml/2006/main">
  <p:tag name="KSO_WM_DIAGRAM_VIRTUALLY_FRAME" val="{&quot;height&quot;:241.3216535433071,&quot;left&quot;:92.08015748031497,&quot;top&quot;:179.97070866141732,&quot;width&quot;:387.9197637795276}"/>
</p:tagLst>
</file>

<file path=ppt/tags/tag11.xml><?xml version="1.0" encoding="utf-8"?>
<p:tagLst xmlns:p="http://schemas.openxmlformats.org/presentationml/2006/main">
  <p:tag name="KSO_WM_DIAGRAM_VIRTUALLY_FRAME" val="{&quot;height&quot;:241.3216535433071,&quot;left&quot;:92.08015748031497,&quot;top&quot;:179.97070866141732,&quot;width&quot;:387.9197637795276}"/>
</p:tagLst>
</file>

<file path=ppt/tags/tag12.xml><?xml version="1.0" encoding="utf-8"?>
<p:tagLst xmlns:p="http://schemas.openxmlformats.org/presentationml/2006/main">
  <p:tag name="KSO_WM_DIAGRAM_VIRTUALLY_FRAME" val="{&quot;height&quot;:241.3216535433071,&quot;left&quot;:92.08015748031497,&quot;top&quot;:179.97070866141732,&quot;width&quot;:387.9197637795276}"/>
</p:tagLst>
</file>

<file path=ppt/tags/tag13.xml><?xml version="1.0" encoding="utf-8"?>
<p:tagLst xmlns:p="http://schemas.openxmlformats.org/presentationml/2006/main">
  <p:tag name="KSO_WM_DIAGRAM_VIRTUALLY_FRAME" val="{&quot;height&quot;:241.3216535433071,&quot;left&quot;:92.08015748031497,&quot;top&quot;:179.97070866141732,&quot;width&quot;:387.9197637795276}"/>
</p:tagLst>
</file>

<file path=ppt/tags/tag14.xml><?xml version="1.0" encoding="utf-8"?>
<p:tagLst xmlns:p="http://schemas.openxmlformats.org/presentationml/2006/main">
  <p:tag name="KSO_WM_DIAGRAM_VIRTUALLY_FRAME" val="{&quot;height&quot;:255.32244094488192,&quot;left&quot;:263.65,&quot;top&quot;:117.89456692913386,&quot;width&quot;:660.9174803149606}"/>
</p:tagLst>
</file>

<file path=ppt/tags/tag15.xml><?xml version="1.0" encoding="utf-8"?>
<p:tagLst xmlns:p="http://schemas.openxmlformats.org/presentationml/2006/main">
  <p:tag name="KSO_WM_DIAGRAM_VIRTUALLY_FRAME" val="{&quot;height&quot;:255.32244094488192,&quot;left&quot;:263.65,&quot;top&quot;:117.89456692913386,&quot;width&quot;:660.9174803149606}"/>
</p:tagLst>
</file>

<file path=ppt/tags/tag16.xml><?xml version="1.0" encoding="utf-8"?>
<p:tagLst xmlns:p="http://schemas.openxmlformats.org/presentationml/2006/main">
  <p:tag name="KSO_WM_DIAGRAM_VIRTUALLY_FRAME" val="{&quot;height&quot;:255.32244094488192,&quot;left&quot;:263.65,&quot;top&quot;:117.89456692913386,&quot;width&quot;:660.9174803149606}"/>
</p:tagLst>
</file>

<file path=ppt/tags/tag17.xml><?xml version="1.0" encoding="utf-8"?>
<p:tagLst xmlns:p="http://schemas.openxmlformats.org/presentationml/2006/main">
  <p:tag name="KSO_WM_DIAGRAM_VIRTUALLY_FRAME" val="{&quot;height&quot;:255.32244094488192,&quot;left&quot;:263.65,&quot;top&quot;:117.89456692913386,&quot;width&quot;:660.9174803149606}"/>
</p:tagLst>
</file>

<file path=ppt/tags/tag18.xml><?xml version="1.0" encoding="utf-8"?>
<p:tagLst xmlns:p="http://schemas.openxmlformats.org/presentationml/2006/main">
  <p:tag name="KSO_WM_DIAGRAM_VIRTUALLY_FRAME" val="{&quot;height&quot;:255.32244094488192,&quot;left&quot;:263.65,&quot;top&quot;:117.89456692913386,&quot;width&quot;:660.9174803149606}"/>
</p:tagLst>
</file>

<file path=ppt/tags/tag19.xml><?xml version="1.0" encoding="utf-8"?>
<p:tagLst xmlns:p="http://schemas.openxmlformats.org/presentationml/2006/main">
  <p:tag name="KSO_WM_DIAGRAM_VIRTUALLY_FRAME" val="{&quot;height&quot;:252.7791338582677,&quot;left&quot;:88.10842519685039,&quot;top&quot;:106.14125984251969,&quot;width&quot;:819.9837795275591}"/>
</p:tagLst>
</file>

<file path=ppt/tags/tag20.xml><?xml version="1.0" encoding="utf-8"?>
<p:tagLst xmlns:p="http://schemas.openxmlformats.org/presentationml/2006/main">
  <p:tag name="KSO_WM_DIAGRAM_VIRTUALLY_FRAME" val="{&quot;height&quot;:252.7791338582677,&quot;left&quot;:88.10842519685039,&quot;top&quot;:106.14125984251969,&quot;width&quot;:819.9837795275591}"/>
</p:tagLst>
</file>

<file path=ppt/tags/tag21.xml><?xml version="1.0" encoding="utf-8"?>
<p:tagLst xmlns:p="http://schemas.openxmlformats.org/presentationml/2006/main">
  <p:tag name="KSO_WM_DIAGRAM_VIRTUALLY_FRAME" val="{&quot;height&quot;:252.7791338582677,&quot;left&quot;:88.10842519685039,&quot;top&quot;:106.14125984251969,&quot;width&quot;:819.9837795275591}"/>
</p:tagLst>
</file>

<file path=ppt/tags/tag22.xml><?xml version="1.0" encoding="utf-8"?>
<p:tagLst xmlns:p="http://schemas.openxmlformats.org/presentationml/2006/main">
  <p:tag name="KSO_WM_DIAGRAM_VIRTUALLY_FRAME" val="{&quot;height&quot;:252.7791338582677,&quot;left&quot;:88.10842519685039,&quot;top&quot;:106.14125984251969,&quot;width&quot;:819.9837795275591}"/>
</p:tagLst>
</file>

<file path=ppt/tags/tag23.xml><?xml version="1.0" encoding="utf-8"?>
<p:tagLst xmlns:p="http://schemas.openxmlformats.org/presentationml/2006/main">
  <p:tag name="KSO_WM_DIAGRAM_VIRTUALLY_FRAME" val="{&quot;height&quot;:252.7791338582677,&quot;left&quot;:88.10842519685039,&quot;top&quot;:106.14125984251969,&quot;width&quot;:819.9837795275591}"/>
</p:tagLst>
</file>

<file path=ppt/tags/tag24.xml><?xml version="1.0" encoding="utf-8"?>
<p:tagLst xmlns:p="http://schemas.openxmlformats.org/presentationml/2006/main">
  <p:tag name="KSO_WM_DIAGRAM_VIRTUALLY_FRAME" val="{&quot;height&quot;:252.7791338582677,&quot;left&quot;:88.10842519685039,&quot;top&quot;:106.14125984251969,&quot;width&quot;:819.9837795275591}"/>
</p:tagLst>
</file>

<file path=ppt/tags/tag25.xml><?xml version="1.0" encoding="utf-8"?>
<p:tagLst xmlns:p="http://schemas.openxmlformats.org/presentationml/2006/main">
  <p:tag name="KSO_WM_DIAGRAM_VIRTUALLY_FRAME" val="{&quot;height&quot;:252.7791338582677,&quot;left&quot;:88.10842519685039,&quot;top&quot;:106.14125984251969,&quot;width&quot;:819.9837795275591}"/>
</p:tagLst>
</file>

<file path=ppt/tags/tag26.xml><?xml version="1.0" encoding="utf-8"?>
<p:tagLst xmlns:p="http://schemas.openxmlformats.org/presentationml/2006/main">
  <p:tag name="KSO_WM_DIAGRAM_VIRTUALLY_FRAME" val="{&quot;height&quot;:252.7791338582677,&quot;left&quot;:88.10842519685039,&quot;top&quot;:106.14125984251969,&quot;width&quot;:819.9837795275591}"/>
</p:tagLst>
</file>

<file path=ppt/tags/tag27.xml><?xml version="1.0" encoding="utf-8"?>
<p:tagLst xmlns:p="http://schemas.openxmlformats.org/presentationml/2006/main">
  <p:tag name="KSO_WM_DIAGRAM_VIRTUALLY_FRAME" val="{&quot;height&quot;:427.4606299212599,&quot;left&quot;:88.10842519685039,&quot;top&quot;:92.85944881889763,&quot;width&quot;:346.34732283464564}"/>
</p:tagLst>
</file>

<file path=ppt/tags/tag28.xml><?xml version="1.0" encoding="utf-8"?>
<p:tagLst xmlns:p="http://schemas.openxmlformats.org/presentationml/2006/main">
  <p:tag name="KSO_WM_DIAGRAM_VIRTUALLY_FRAME" val="{&quot;height&quot;:427.4606299212599,&quot;left&quot;:88.10842519685039,&quot;top&quot;:92.85944881889763,&quot;width&quot;:346.34732283464564}"/>
</p:tagLst>
</file>

<file path=ppt/tags/tag29.xml><?xml version="1.0" encoding="utf-8"?>
<p:tagLst xmlns:p="http://schemas.openxmlformats.org/presentationml/2006/main">
  <p:tag name="KSO_WM_DIAGRAM_VIRTUALLY_FRAME" val="{&quot;height&quot;:427.4606299212599,&quot;left&quot;:88.10842519685039,&quot;top&quot;:92.85944881889763,&quot;width&quot;:346.34732283464564}"/>
</p:tagLst>
</file>

<file path=ppt/tags/tag30.xml><?xml version="1.0" encoding="utf-8"?>
<p:tagLst xmlns:p="http://schemas.openxmlformats.org/presentationml/2006/main">
  <p:tag name="KSO_WM_DIAGRAM_VIRTUALLY_FRAME" val="{&quot;height&quot;:427.4606299212599,&quot;left&quot;:88.10842519685039,&quot;top&quot;:92.85944881889763,&quot;width&quot;:346.34732283464564}"/>
</p:tagLst>
</file>

<file path=ppt/tags/tag31.xml><?xml version="1.0" encoding="utf-8"?>
<p:tagLst xmlns:p="http://schemas.openxmlformats.org/presentationml/2006/main">
  <p:tag name="KSO_WM_DIAGRAM_VIRTUALLY_FRAME" val="{&quot;height&quot;:427.4606299212599,&quot;left&quot;:88.10842519685039,&quot;top&quot;:92.85944881889763,&quot;width&quot;:346.34732283464564}"/>
</p:tagLst>
</file>

<file path=ppt/tags/tag32.xml><?xml version="1.0" encoding="utf-8"?>
<p:tagLst xmlns:p="http://schemas.openxmlformats.org/presentationml/2006/main">
  <p:tag name="KSO_WM_DIAGRAM_VIRTUALLY_FRAME" val="{&quot;height&quot;:427.4606299212599,&quot;left&quot;:88.10842519685039,&quot;top&quot;:92.85944881889763,&quot;width&quot;:346.34732283464564}"/>
</p:tagLst>
</file>

<file path=ppt/tags/tag33.xml><?xml version="1.0" encoding="utf-8"?>
<p:tagLst xmlns:p="http://schemas.openxmlformats.org/presentationml/2006/main">
  <p:tag name="THINKCELLSHAPEDONOTDELETE" val="thinkcellActiveDocDoNotDelete"/>
</p:tagLst>
</file>

<file path=ppt/tags/tag34.xml><?xml version="1.0" encoding="utf-8"?>
<p:tagLst xmlns:p="http://schemas.openxmlformats.org/presentationml/2006/main">
  <p:tag name="THINKCELLSHAPEDONOTDELETE" val="t1Smkff3fSzGMOuItfjj3Fw"/>
</p:tagLst>
</file>

<file path=ppt/tags/tag35.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 name="commondata" val="eyJoZGlkIjoiOTM4NmFhY2UyMzhhZmVhN2ZlMGY3Mzg4ZTJhZTk3NmQifQ=="/>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1tffttnl">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4443</Words>
  <Application>WPS 演示</Application>
  <PresentationFormat>自定义</PresentationFormat>
  <Paragraphs>474</Paragraphs>
  <Slides>36</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36</vt:i4>
      </vt:variant>
    </vt:vector>
  </HeadingPairs>
  <TitlesOfParts>
    <vt:vector size="49" baseType="lpstr">
      <vt:lpstr>Arial</vt:lpstr>
      <vt:lpstr>宋体</vt:lpstr>
      <vt:lpstr>Wingdings</vt:lpstr>
      <vt:lpstr>Times New Roman</vt:lpstr>
      <vt:lpstr>微软雅黑</vt:lpstr>
      <vt:lpstr>Arial Unicode MS</vt:lpstr>
      <vt:lpstr>Calibri</vt:lpstr>
      <vt:lpstr>Wingdings</vt:lpstr>
      <vt:lpstr>华文新魏</vt:lpstr>
      <vt:lpstr>Symbol</vt:lpstr>
      <vt:lpstr>主题5</vt:lpstr>
      <vt:lpstr>TCLayout.ActiveDocument.1</vt:lpstr>
      <vt:lpstr>TCLayout.ActiveDocument.1</vt:lpstr>
      <vt:lpstr>第6章 虚拟存储器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学 习 进 步 ！</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沉默是金</cp:lastModifiedBy>
  <cp:revision>310</cp:revision>
  <cp:lastPrinted>2019-04-18T16:00:00Z</cp:lastPrinted>
  <dcterms:created xsi:type="dcterms:W3CDTF">2019-04-18T16:00:00Z</dcterms:created>
  <dcterms:modified xsi:type="dcterms:W3CDTF">2026-01-12T13:06:30Z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F67F328A13C842F7B830E4D49FD7FDA8</vt:lpwstr>
  </property>
  <property fmtid="{D5CDD505-2E9C-101B-9397-08002B2CF9AE}" pid="4" name="KSOProductBuildVer">
    <vt:lpwstr>2052-12.1.0.23125</vt:lpwstr>
  </property>
</Properties>
</file>