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sldIdLst>
    <p:sldId id="311" r:id="rId3"/>
    <p:sldId id="558" r:id="rId4"/>
    <p:sldId id="474" r:id="rId5"/>
    <p:sldId id="538" r:id="rId6"/>
    <p:sldId id="539" r:id="rId7"/>
    <p:sldId id="540" r:id="rId8"/>
    <p:sldId id="541" r:id="rId9"/>
    <p:sldId id="542" r:id="rId10"/>
    <p:sldId id="559" r:id="rId11"/>
    <p:sldId id="560" r:id="rId12"/>
    <p:sldId id="561" r:id="rId13"/>
    <p:sldId id="562" r:id="rId14"/>
    <p:sldId id="563" r:id="rId15"/>
    <p:sldId id="552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37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1908"/>
    <a:srgbClr val="0000FF"/>
    <a:srgbClr val="00005C"/>
    <a:srgbClr val="FFFF00"/>
    <a:srgbClr val="06D24C"/>
    <a:srgbClr val="035920"/>
    <a:srgbClr val="F6F5F3"/>
    <a:srgbClr val="04862F"/>
    <a:srgbClr val="07DB4E"/>
    <a:srgbClr val="0839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182" autoAdjust="0"/>
  </p:normalViewPr>
  <p:slideViewPr>
    <p:cSldViewPr snapToGrid="0" showGuides="1">
      <p:cViewPr varScale="1">
        <p:scale>
          <a:sx n="111" d="100"/>
          <a:sy n="111" d="100"/>
        </p:scale>
        <p:origin x="-224" y="-72"/>
      </p:cViewPr>
      <p:guideLst>
        <p:guide orient="horz" pos="2189"/>
        <p:guide pos="379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3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标题幻灯片"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3" name="任意多边形: 形状 22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0" name="任意多边形: 形状 19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5" y="5306656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5" y="5602927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4456729"/>
            <a:ext cx="10850563" cy="558799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5" y="1028701"/>
            <a:ext cx="10850563" cy="3136900"/>
          </a:xfrm>
        </p:spPr>
        <p:txBody>
          <a:bodyPr anchor="b" anchorCtr="0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2_1"/>
          <p:cNvSpPr>
            <a:spLocks noChangeArrowheads="1"/>
          </p:cNvSpPr>
          <p:nvPr userDrawn="1"/>
        </p:nvSpPr>
        <p:spPr bwMode="auto">
          <a:xfrm>
            <a:off x="190500" y="3192312"/>
            <a:ext cx="12192000" cy="3429000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93255" b="-31457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2488168" y="2033814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2489284" y="2929164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-9525" y="-9525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 bwMode="auto">
          <a:xfrm flipH="1" flipV="1">
            <a:off x="-1219199" y="239311"/>
            <a:ext cx="13411199" cy="801180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 rot="10800000">
            <a:off x="-28575" y="6321199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 bwMode="auto">
          <a:xfrm>
            <a:off x="-9525" y="6230938"/>
            <a:ext cx="12201525" cy="801179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520488" y="6486465"/>
            <a:ext cx="67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9552D3-A968-4710-B841-1063F5B640DF}" type="slidenum">
              <a:rPr lang="zh-CN" altLang="en-US" sz="2000" b="1" smtClean="0">
                <a:solidFill>
                  <a:schemeClr val="accent2">
                    <a:lumMod val="50000"/>
                  </a:schemeClr>
                </a:solidFill>
              </a:rPr>
            </a:fld>
            <a:endParaRPr lang="zh-CN" alt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410" y="24187"/>
            <a:ext cx="527050" cy="527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26766-F62E-419D-BB7F-91C9CEBCA24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0" name="任意多边形: 形状 9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034971" y="2163199"/>
            <a:ext cx="6536871" cy="2390427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034971" y="5238353"/>
            <a:ext cx="6536871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034973" y="4942082"/>
            <a:ext cx="653687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1" name="任意多边形: 形状 10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7FE44A0-2E53-457E-9AC0-11D6EE9FA3B5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ags" Target="../tags/tag2.xml"/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"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0" name="图片 211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5" y="1319455"/>
            <a:ext cx="10850563" cy="3136900"/>
          </a:xfrm>
        </p:spPr>
        <p:txBody>
          <a:bodyPr>
            <a:normAutofit/>
          </a:bodyPr>
          <a:lstStyle/>
          <a:p>
            <a:r>
              <a:rPr lang="zh-CN" sz="4800" dirty="0"/>
              <a:t>复习</a:t>
            </a:r>
            <a:endParaRPr lang="zh-CN" sz="2000" b="0" dirty="0"/>
          </a:p>
        </p:txBody>
      </p:sp>
      <p:sp>
        <p:nvSpPr>
          <p:cNvPr id="29" name="任意多边形: 形状 28"/>
          <p:cNvSpPr/>
          <p:nvPr/>
        </p:nvSpPr>
        <p:spPr>
          <a:xfrm>
            <a:off x="10968292" y="649047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6" y="488949"/>
            <a:ext cx="631826" cy="63182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243012" y="589418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84121" y="5993053"/>
            <a:ext cx="2074491" cy="43179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5100" y="844791"/>
            <a:ext cx="3007096" cy="42615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35580" y="218376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6000" dirty="0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  <a:sym typeface="+mn-ea"/>
              </a:rPr>
              <a:t>一、算法回顾</a:t>
            </a:r>
            <a:endParaRPr lang="zh-CN" altLang="en-US" sz="6000" dirty="0">
              <a:ln w="15875"/>
              <a:gradFill>
                <a:gsLst>
                  <a:gs pos="0">
                    <a:schemeClr val="accent1">
                      <a:lumOff val="-19999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9"/>
                    </a:schemeClr>
                  </a:gs>
                </a:gsLst>
                <a:lin ang="0" scaled="0"/>
              </a:gradFill>
              <a:effectLst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</a:rPr>
              <a:t>操作系统常用算法总结</a:t>
            </a:r>
            <a:r>
              <a:rPr lang="en-US" altLang="zh-CN" sz="2800" b="1" dirty="0">
                <a:solidFill>
                  <a:schemeClr val="bg1"/>
                </a:solidFill>
              </a:rPr>
              <a:t>—— </a:t>
            </a:r>
            <a:r>
              <a:rPr lang="zh-CN" altLang="en-US" sz="2800" b="1" dirty="0">
                <a:solidFill>
                  <a:schemeClr val="bg1"/>
                </a:solidFill>
              </a:rPr>
              <a:t>处理器管理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977900" y="2333625"/>
            <a:ext cx="10803890" cy="32454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先来先服务：优先调度先进入后备队列的作业</a:t>
            </a:r>
            <a:endParaRPr lang="zh-CN" altLang="en-US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短作业优先：优先调度运行时间短的作业</a:t>
            </a:r>
            <a:endParaRPr lang="zh-CN" altLang="en-US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优先级调度：优先调度优先级最高的作业</a:t>
            </a:r>
            <a:endParaRPr lang="zh-CN" altLang="en-US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高响应比优先：考虑等待时间和运行时间的响应比，优先调度响应比高的作业</a:t>
            </a:r>
            <a:endParaRPr lang="en-US" altLang="zh-CN" sz="2400" dirty="0"/>
          </a:p>
        </p:txBody>
      </p:sp>
      <p:sp>
        <p:nvSpPr>
          <p:cNvPr id="8" name="íšḻíḑê"/>
          <p:cNvSpPr/>
          <p:nvPr/>
        </p:nvSpPr>
        <p:spPr>
          <a:xfrm>
            <a:off x="1495425" y="1141095"/>
            <a:ext cx="8712200" cy="7054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作业</a:t>
            </a:r>
            <a:r>
              <a:rPr lang="zh-CN" altLang="en-US" sz="2400" dirty="0"/>
              <a:t>调度算法</a:t>
            </a:r>
            <a:r>
              <a:rPr lang="en-US" altLang="zh-CN" sz="2400" dirty="0"/>
              <a:t>(</a:t>
            </a:r>
            <a:r>
              <a:rPr lang="zh-CN" altLang="en-US" sz="2400" dirty="0">
                <a:sym typeface="+mn-ea"/>
              </a:rPr>
              <a:t>高级调度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>
              <a:defRPr/>
            </a:pPr>
            <a:r>
              <a:rPr lang="en-US" altLang="zh-CN" sz="2400" dirty="0"/>
              <a:t>(os</a:t>
            </a:r>
            <a:r>
              <a:rPr lang="zh-CN" altLang="en-US" sz="2400" dirty="0"/>
              <a:t>将外存中后备队列中的作业调度到内存中，为其创建进程</a:t>
            </a:r>
            <a:r>
              <a:rPr lang="en-US" altLang="zh-CN" sz="2400" dirty="0"/>
              <a:t>)</a:t>
            </a:r>
            <a:endParaRPr lang="en-US" altLang="zh-CN" sz="2400" dirty="0"/>
          </a:p>
        </p:txBody>
      </p:sp>
      <p:sp>
        <p:nvSpPr>
          <p:cNvPr id="9" name="îSļiḓè"/>
          <p:cNvSpPr/>
          <p:nvPr/>
        </p:nvSpPr>
        <p:spPr>
          <a:xfrm>
            <a:off x="744166" y="1263213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ṡḷíďe"/>
          <p:cNvSpPr/>
          <p:nvPr/>
        </p:nvSpPr>
        <p:spPr>
          <a:xfrm>
            <a:off x="934421" y="1459351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</a:rPr>
              <a:t>操作系统常用算法总结</a:t>
            </a:r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处理器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管理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579120" y="2233295"/>
            <a:ext cx="11254740" cy="3787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先来先服务</a:t>
            </a:r>
            <a:r>
              <a:rPr lang="en-US" altLang="zh-CN" sz="2400" dirty="0"/>
              <a:t>(</a:t>
            </a:r>
            <a:r>
              <a:rPr lang="zh-CN" altLang="en-US" sz="2400" dirty="0">
                <a:sym typeface="+mn-ea"/>
              </a:rPr>
              <a:t>非抢占式</a:t>
            </a:r>
            <a:r>
              <a:rPr lang="en-US" altLang="zh-CN" sz="2400" dirty="0">
                <a:sym typeface="+mn-ea"/>
              </a:rPr>
              <a:t>)</a:t>
            </a:r>
            <a:r>
              <a:rPr lang="zh-CN" altLang="en-US" sz="2400" dirty="0"/>
              <a:t>：优先调度先进入就绪队列的进程</a:t>
            </a:r>
            <a:endParaRPr lang="zh-CN" altLang="en-US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短进程优先</a:t>
            </a:r>
            <a:r>
              <a:rPr lang="en-US" altLang="zh-CN" sz="2400" dirty="0"/>
              <a:t>(</a:t>
            </a:r>
            <a:r>
              <a:rPr lang="zh-CN" altLang="en-US" sz="2400" dirty="0">
                <a:sym typeface="+mn-ea"/>
              </a:rPr>
              <a:t>分抢占式和非抢占式</a:t>
            </a:r>
            <a:r>
              <a:rPr lang="en-US" altLang="zh-CN" sz="2400" dirty="0"/>
              <a:t>)</a:t>
            </a:r>
            <a:r>
              <a:rPr lang="zh-CN" sz="2400" dirty="0"/>
              <a:t>：优先调度运行时间短的进程</a:t>
            </a:r>
            <a:endParaRPr lang="zh-CN" altLang="en-US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优先级调度</a:t>
            </a:r>
            <a:r>
              <a:rPr lang="en-US" altLang="zh-CN" sz="2400" dirty="0"/>
              <a:t>(</a:t>
            </a:r>
            <a:r>
              <a:rPr lang="zh-CN" altLang="en-US" sz="2400" dirty="0"/>
              <a:t>分抢占式和非抢占式</a:t>
            </a:r>
            <a:r>
              <a:rPr lang="en-US" altLang="zh-CN" sz="2400" dirty="0"/>
              <a:t>)</a:t>
            </a:r>
            <a:r>
              <a:rPr lang="zh-CN" sz="2400" dirty="0"/>
              <a:t>：优先调度就绪队列中优先级最高的进程</a:t>
            </a:r>
            <a:endParaRPr lang="zh-CN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>
                <a:sym typeface="+mn-ea"/>
              </a:rPr>
              <a:t>高响应比优先：考虑等待时间和运行时间的响应比，优先调度响应比高的作业</a:t>
            </a:r>
            <a:endParaRPr lang="zh-CN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时间片轮转</a:t>
            </a:r>
            <a:r>
              <a:rPr lang="en-US" altLang="zh-CN" sz="2400" dirty="0"/>
              <a:t>(</a:t>
            </a:r>
            <a:r>
              <a:rPr lang="zh-CN" altLang="en-US" sz="2400" dirty="0">
                <a:sym typeface="+mn-ea"/>
              </a:rPr>
              <a:t>抢占式</a:t>
            </a:r>
            <a:r>
              <a:rPr lang="en-US" altLang="zh-CN" sz="2400" dirty="0"/>
              <a:t>)</a:t>
            </a:r>
            <a:r>
              <a:rPr lang="zh-CN" altLang="en-US" sz="2400" dirty="0"/>
              <a:t>：适用于分时系统</a:t>
            </a:r>
            <a:endParaRPr lang="zh-CN" altLang="en-US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多级队列：就绪队列分成多个单独队列，每个队列有自定义的优先级，调度算法</a:t>
            </a:r>
            <a:endParaRPr lang="zh-CN" altLang="en-US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多级反馈队列</a:t>
            </a:r>
            <a:r>
              <a:rPr lang="en-US" altLang="zh-CN" sz="2400" dirty="0"/>
              <a:t>(</a:t>
            </a:r>
            <a:r>
              <a:rPr lang="zh-CN" altLang="en-US" sz="2400" dirty="0"/>
              <a:t>抢占式</a:t>
            </a:r>
            <a:r>
              <a:rPr lang="en-US" altLang="zh-CN" sz="2400" dirty="0"/>
              <a:t>)</a:t>
            </a:r>
            <a:r>
              <a:rPr lang="zh-CN" altLang="en-US" sz="2400" dirty="0"/>
              <a:t>：第一个队列优先级最高，队列优先级依次降低。根据各个队列优先级划分不同的时间片，从高到低时间片依次变大。</a:t>
            </a:r>
            <a:endParaRPr lang="zh-CN" altLang="en-US" sz="2400" dirty="0"/>
          </a:p>
        </p:txBody>
      </p:sp>
      <p:sp>
        <p:nvSpPr>
          <p:cNvPr id="8" name="íšḻíḑê"/>
          <p:cNvSpPr/>
          <p:nvPr/>
        </p:nvSpPr>
        <p:spPr>
          <a:xfrm>
            <a:off x="1495425" y="1041400"/>
            <a:ext cx="8712200" cy="11918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进程</a:t>
            </a:r>
            <a:r>
              <a:rPr lang="zh-CN" altLang="en-US" sz="2400" dirty="0"/>
              <a:t>调度算法</a:t>
            </a:r>
            <a:r>
              <a:rPr lang="en-US" altLang="zh-CN" sz="2400" dirty="0"/>
              <a:t>(</a:t>
            </a:r>
            <a:r>
              <a:rPr lang="zh-CN" altLang="en-US" sz="2400" dirty="0">
                <a:sym typeface="+mn-ea"/>
              </a:rPr>
              <a:t>低</a:t>
            </a:r>
            <a:r>
              <a:rPr lang="zh-CN" altLang="en-US" sz="2400" dirty="0">
                <a:sym typeface="+mn-ea"/>
              </a:rPr>
              <a:t>级调度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>
              <a:defRPr/>
            </a:pPr>
            <a:r>
              <a:rPr lang="en-US" altLang="zh-CN" sz="2400" dirty="0"/>
              <a:t>(os</a:t>
            </a:r>
            <a:r>
              <a:rPr lang="zh-CN" altLang="en-US" sz="2400" dirty="0"/>
              <a:t>将并发的进程进行合理调度，提高处理机利用效率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defRPr/>
            </a:pPr>
            <a:r>
              <a:rPr lang="en-US" altLang="zh-CN" sz="2400" dirty="0"/>
              <a:t>(</a:t>
            </a:r>
            <a:r>
              <a:rPr lang="zh-CN" altLang="en-US" sz="2400" dirty="0"/>
              <a:t>相比作业调度，进程调度额外考虑了抢占和非抢占特性</a:t>
            </a:r>
            <a:r>
              <a:rPr lang="en-US" altLang="zh-CN" sz="2400" dirty="0"/>
              <a:t>)</a:t>
            </a:r>
            <a:endParaRPr lang="en-US" altLang="zh-CN" sz="2400" dirty="0"/>
          </a:p>
        </p:txBody>
      </p:sp>
      <p:sp>
        <p:nvSpPr>
          <p:cNvPr id="9" name="îSļiḓè"/>
          <p:cNvSpPr/>
          <p:nvPr/>
        </p:nvSpPr>
        <p:spPr>
          <a:xfrm>
            <a:off x="744166" y="1263213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ṡḷíďe"/>
          <p:cNvSpPr/>
          <p:nvPr/>
        </p:nvSpPr>
        <p:spPr>
          <a:xfrm>
            <a:off x="934421" y="1459351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</a:rPr>
              <a:t>操作系统常用算法总结</a:t>
            </a:r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存储器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管理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215265" y="2009775"/>
            <a:ext cx="11761470" cy="3787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单一连续分配</a:t>
            </a:r>
            <a:r>
              <a:rPr lang="zh-CN" altLang="en-US" sz="2400" dirty="0"/>
              <a:t>：系统将用户区整体分配给一个进程，只适用于单道程序环境</a:t>
            </a:r>
            <a:endParaRPr lang="zh-CN" altLang="en-US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固态分区分配：初始化时就将内存空间分配成相同或不同的区域</a:t>
            </a:r>
            <a:r>
              <a:rPr lang="en-US" altLang="zh-CN" sz="2400" dirty="0"/>
              <a:t> </a:t>
            </a:r>
            <a:r>
              <a:rPr lang="zh-CN" altLang="en-US" sz="2400" dirty="0"/>
              <a:t>，寻找合适的空闲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marL="0" indent="0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         </a:t>
            </a:r>
            <a:r>
              <a:rPr lang="zh-CN" altLang="en-US" sz="2400" dirty="0"/>
              <a:t>分区分配</a:t>
            </a:r>
            <a:endParaRPr lang="zh-CN" altLang="en-US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动态分区分配：运行程序时，根据程序大小动态从内存空间划出区域。</a:t>
            </a:r>
            <a:endParaRPr lang="zh-CN" sz="2400" dirty="0"/>
          </a:p>
          <a:p>
            <a:pPr lvl="1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charset="0"/>
              <a:buChar char="p"/>
            </a:pPr>
            <a:r>
              <a:rPr lang="zh-CN" sz="2130" dirty="0"/>
              <a:t>首次适应算法</a:t>
            </a:r>
            <a:r>
              <a:rPr lang="zh-CN" altLang="en-US" sz="2130" dirty="0"/>
              <a:t>：将空闲分区按地址升序排序，每次从头向后查找</a:t>
            </a:r>
            <a:endParaRPr lang="zh-CN" altLang="en-US" sz="2130" dirty="0"/>
          </a:p>
          <a:p>
            <a:pPr lvl="1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charset="0"/>
              <a:buChar char="p"/>
            </a:pPr>
            <a:r>
              <a:rPr lang="zh-CN" altLang="en-US" sz="2130" dirty="0"/>
              <a:t>循环首次适应算法：在</a:t>
            </a:r>
            <a:r>
              <a:rPr lang="zh-CN" altLang="en-US" sz="2130" dirty="0">
                <a:sym typeface="+mn-ea"/>
              </a:rPr>
              <a:t>首次适应算法基础上，每次从上一次后开始查找</a:t>
            </a:r>
            <a:endParaRPr lang="zh-CN" altLang="en-US" sz="2130" dirty="0"/>
          </a:p>
          <a:p>
            <a:pPr lvl="1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charset="0"/>
              <a:buChar char="p"/>
            </a:pPr>
            <a:r>
              <a:rPr lang="zh-CN" sz="2130" dirty="0"/>
              <a:t>最佳适应算法</a:t>
            </a:r>
            <a:r>
              <a:rPr lang="zh-CN" altLang="en-US" sz="2130" dirty="0"/>
              <a:t>：按空闲分区大小升序排列，选择第一个可以容纳程序的分区分配</a:t>
            </a:r>
            <a:endParaRPr lang="zh-CN" altLang="en-US" sz="2130" dirty="0"/>
          </a:p>
          <a:p>
            <a:pPr lvl="1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charset="0"/>
              <a:buChar char="p"/>
            </a:pPr>
            <a:r>
              <a:rPr lang="zh-CN" altLang="en-US" sz="2130" dirty="0"/>
              <a:t>最坏适应算法：选取所有空闲分区中最大的分配</a:t>
            </a:r>
            <a:endParaRPr lang="zh-CN" altLang="en-US" sz="2130" dirty="0"/>
          </a:p>
        </p:txBody>
      </p:sp>
      <p:sp>
        <p:nvSpPr>
          <p:cNvPr id="8" name="íšḻíḑê"/>
          <p:cNvSpPr/>
          <p:nvPr/>
        </p:nvSpPr>
        <p:spPr>
          <a:xfrm>
            <a:off x="1495425" y="1041400"/>
            <a:ext cx="8712200" cy="7181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基础内存管理</a:t>
            </a:r>
            <a:r>
              <a:rPr lang="en-US" altLang="zh-CN" sz="2400" dirty="0">
                <a:solidFill>
                  <a:srgbClr val="FF0000"/>
                </a:solidFill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</a:rPr>
              <a:t>连续分配</a:t>
            </a:r>
            <a:r>
              <a:rPr lang="zh-CN" sz="2400" dirty="0">
                <a:solidFill>
                  <a:srgbClr val="FF0000"/>
                </a:solidFill>
              </a:rPr>
              <a:t>方式</a:t>
            </a:r>
            <a:endParaRPr lang="en-US" altLang="zh-CN" sz="2400" dirty="0"/>
          </a:p>
        </p:txBody>
      </p:sp>
      <p:sp>
        <p:nvSpPr>
          <p:cNvPr id="9" name="îSļiḓè"/>
          <p:cNvSpPr/>
          <p:nvPr/>
        </p:nvSpPr>
        <p:spPr>
          <a:xfrm>
            <a:off x="744166" y="1107003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ṡḷíďe"/>
          <p:cNvSpPr/>
          <p:nvPr/>
        </p:nvSpPr>
        <p:spPr>
          <a:xfrm>
            <a:off x="934421" y="1303141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</a:rPr>
              <a:t>操作系统常用算法总结</a:t>
            </a:r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存储器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管理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215265" y="2009775"/>
            <a:ext cx="11761470" cy="3787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分页存储</a:t>
            </a:r>
            <a:r>
              <a:rPr lang="zh-CN" altLang="en-US" sz="2400" dirty="0"/>
              <a:t>：页面和页框大小一样</a:t>
            </a:r>
            <a:endParaRPr lang="zh-CN" altLang="en-US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分段存储：</a:t>
            </a:r>
            <a:r>
              <a:rPr lang="zh-CN" altLang="en-US" sz="2400" dirty="0"/>
              <a:t>将程序（逻辑地址）划分为大小不等的块，离散的分配到不同内存空间</a:t>
            </a:r>
            <a:endParaRPr lang="zh-CN" altLang="en-US" sz="2400" dirty="0"/>
          </a:p>
          <a:p>
            <a:pPr algn="l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sz="2400" dirty="0"/>
              <a:t>段页式存储：</a:t>
            </a:r>
            <a:r>
              <a:rPr lang="zh-CN" altLang="en-US" sz="2400" dirty="0"/>
              <a:t>是分页式和段式两种方式的结合。先将进程分段，再对每一段进行分页。</a:t>
            </a:r>
            <a:endParaRPr lang="zh-CN" altLang="en-US" sz="2400" dirty="0"/>
          </a:p>
          <a:p>
            <a:pPr marL="0" indent="0" algn="l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    </a:t>
            </a:r>
            <a:r>
              <a:rPr lang="zh-CN" altLang="en-US" sz="2400" dirty="0"/>
              <a:t>内存按页划分。</a:t>
            </a:r>
            <a:endParaRPr lang="zh-CN" altLang="en-US" sz="2400" dirty="0"/>
          </a:p>
        </p:txBody>
      </p:sp>
      <p:sp>
        <p:nvSpPr>
          <p:cNvPr id="8" name="íšḻíḑê"/>
          <p:cNvSpPr/>
          <p:nvPr/>
        </p:nvSpPr>
        <p:spPr>
          <a:xfrm>
            <a:off x="1495425" y="1041400"/>
            <a:ext cx="8712200" cy="7181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基础内存管理</a:t>
            </a:r>
            <a:r>
              <a:rPr lang="en-US" altLang="zh-CN" sz="2400" dirty="0">
                <a:solidFill>
                  <a:srgbClr val="FF0000"/>
                </a:solidFill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</a:rPr>
              <a:t>非连续分配</a:t>
            </a:r>
            <a:r>
              <a:rPr lang="zh-CN" sz="2400" dirty="0">
                <a:solidFill>
                  <a:srgbClr val="FF0000"/>
                </a:solidFill>
              </a:rPr>
              <a:t>方式</a:t>
            </a:r>
            <a:endParaRPr lang="en-US" altLang="zh-CN" sz="2400" dirty="0"/>
          </a:p>
        </p:txBody>
      </p:sp>
      <p:sp>
        <p:nvSpPr>
          <p:cNvPr id="9" name="îSļiḓè"/>
          <p:cNvSpPr/>
          <p:nvPr/>
        </p:nvSpPr>
        <p:spPr>
          <a:xfrm>
            <a:off x="744166" y="1107003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ṡḷíďe"/>
          <p:cNvSpPr/>
          <p:nvPr/>
        </p:nvSpPr>
        <p:spPr>
          <a:xfrm>
            <a:off x="934421" y="1303141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</a:rPr>
              <a:t>操作系统常用算法总结</a:t>
            </a:r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存储器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管理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215265" y="2009775"/>
            <a:ext cx="11761470" cy="3787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最佳置换算法</a:t>
            </a:r>
            <a:r>
              <a:rPr lang="en-US" altLang="zh-CN" sz="2400" dirty="0"/>
              <a:t>(OPT)</a:t>
            </a:r>
            <a:r>
              <a:rPr lang="zh-CN" altLang="en-US" sz="2400" dirty="0"/>
              <a:t>：把将来最长时间不再使用的页面调出，理想化算法。</a:t>
            </a:r>
            <a:endParaRPr lang="zh-CN" altLang="en-US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先进先出算法</a:t>
            </a:r>
            <a:r>
              <a:rPr lang="en-US" altLang="zh-CN" sz="2400" dirty="0"/>
              <a:t>(FIFO)</a:t>
            </a:r>
            <a:r>
              <a:rPr lang="zh-CN" sz="2400" dirty="0"/>
              <a:t>：</a:t>
            </a:r>
            <a:r>
              <a:rPr lang="zh-CN" altLang="en-US" sz="2400" dirty="0"/>
              <a:t>将最早进入的页面调出</a:t>
            </a:r>
            <a:endParaRPr lang="zh-CN" altLang="en-US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最近最久未使用算法</a:t>
            </a:r>
            <a:r>
              <a:rPr lang="en-US" altLang="zh-CN" sz="2400" dirty="0"/>
              <a:t>(LRU)</a:t>
            </a:r>
            <a:r>
              <a:rPr lang="zh-CN" sz="2400" dirty="0"/>
              <a:t>：将最近最长时间未使用的页面调出</a:t>
            </a:r>
            <a:endParaRPr lang="zh-CN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时钟置换算法</a:t>
            </a:r>
            <a:r>
              <a:rPr lang="en-US" altLang="zh-CN" sz="2400" dirty="0"/>
              <a:t>(Clock):</a:t>
            </a:r>
            <a:r>
              <a:rPr lang="zh-CN" altLang="en-US" sz="2400" dirty="0"/>
              <a:t>设置指针和访问位，循环遍历访问位，</a:t>
            </a:r>
            <a:endParaRPr lang="zh-CN" altLang="en-US" sz="2400" dirty="0"/>
          </a:p>
          <a:p>
            <a:pPr marL="0" indent="0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       </a:t>
            </a:r>
            <a:r>
              <a:rPr lang="zh-CN" altLang="en-US" sz="2400" dirty="0"/>
              <a:t>访问位</a:t>
            </a:r>
            <a:r>
              <a:rPr lang="en-US" altLang="zh-CN" sz="2400" dirty="0"/>
              <a:t>=1</a:t>
            </a:r>
            <a:r>
              <a:rPr lang="zh-CN" altLang="en-US" sz="2400" dirty="0"/>
              <a:t>修改位</a:t>
            </a:r>
            <a:r>
              <a:rPr lang="en-US" altLang="zh-CN" sz="2400" dirty="0"/>
              <a:t>=0</a:t>
            </a:r>
            <a:r>
              <a:rPr lang="zh-CN" altLang="en-US" sz="2400" dirty="0"/>
              <a:t>；访问位</a:t>
            </a:r>
            <a:r>
              <a:rPr lang="en-US" altLang="zh-CN" sz="2400" dirty="0"/>
              <a:t>=0</a:t>
            </a:r>
            <a:r>
              <a:rPr lang="zh-CN" altLang="en-US" sz="2400" dirty="0"/>
              <a:t>，</a:t>
            </a:r>
            <a:r>
              <a:rPr lang="zh-CN" altLang="en-US" sz="2400" dirty="0">
                <a:sym typeface="+mn-ea"/>
              </a:rPr>
              <a:t>则淘汰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ym typeface="+mn-ea"/>
              </a:rPr>
              <a:t>改进型时钟置换算法：综合考虑访问位</a:t>
            </a:r>
            <a:r>
              <a:rPr lang="en-US" altLang="zh-CN" sz="2400" dirty="0">
                <a:sym typeface="+mn-ea"/>
              </a:rPr>
              <a:t>P</a:t>
            </a:r>
            <a:r>
              <a:rPr lang="zh-CN" altLang="en-US" sz="2400" dirty="0">
                <a:sym typeface="+mn-ea"/>
              </a:rPr>
              <a:t>和</a:t>
            </a:r>
            <a:r>
              <a:rPr lang="zh-CN" altLang="en-US" sz="2400" dirty="0">
                <a:sym typeface="+mn-ea"/>
              </a:rPr>
              <a:t>修改位</a:t>
            </a:r>
            <a:r>
              <a:rPr lang="en-US" altLang="zh-CN" sz="2400" dirty="0">
                <a:sym typeface="+mn-ea"/>
              </a:rPr>
              <a:t>M</a:t>
            </a:r>
            <a:r>
              <a:rPr lang="zh-CN" altLang="en-US" sz="2400" dirty="0">
                <a:sym typeface="+mn-ea"/>
              </a:rPr>
              <a:t>，淘汰顺序如下：</a:t>
            </a:r>
            <a:endParaRPr lang="zh-CN" altLang="en-US" sz="2400" dirty="0">
              <a:sym typeface="+mn-ea"/>
            </a:endParaRPr>
          </a:p>
          <a:p>
            <a:pPr marL="0" indent="0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sz="2400" dirty="0"/>
              <a:t>                                      P=0 M=0</a:t>
            </a:r>
            <a:r>
              <a:rPr lang="zh-CN" altLang="en-US" sz="2400" dirty="0"/>
              <a:t>；</a:t>
            </a:r>
            <a:r>
              <a:rPr lang="en-US" altLang="zh-CN" sz="2400" dirty="0"/>
              <a:t>P=0 M=1</a:t>
            </a:r>
            <a:r>
              <a:rPr lang="zh-CN" altLang="en-US" sz="2400" dirty="0"/>
              <a:t>；</a:t>
            </a:r>
            <a:r>
              <a:rPr lang="en-US" altLang="zh-CN" sz="2400" dirty="0"/>
              <a:t>P=1 M=0</a:t>
            </a:r>
            <a:r>
              <a:rPr lang="zh-CN" altLang="en-US" sz="2400" dirty="0"/>
              <a:t>；</a:t>
            </a:r>
            <a:r>
              <a:rPr lang="en-US" altLang="zh-CN" sz="2400" dirty="0"/>
              <a:t>P=1 M=1</a:t>
            </a:r>
            <a:r>
              <a:rPr lang="zh-CN" altLang="en-US" sz="2400" dirty="0"/>
              <a:t>；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marL="0" indent="0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sz="2400" dirty="0"/>
              <a:t>              </a:t>
            </a:r>
            <a:endParaRPr lang="en-US" altLang="zh-CN" sz="2400" dirty="0"/>
          </a:p>
          <a:p>
            <a:pPr marL="0" indent="0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400" dirty="0"/>
              <a:t>                </a:t>
            </a:r>
            <a:endParaRPr lang="zh-CN" altLang="en-US" sz="2400" dirty="0"/>
          </a:p>
        </p:txBody>
      </p:sp>
      <p:sp>
        <p:nvSpPr>
          <p:cNvPr id="8" name="íšḻíḑê"/>
          <p:cNvSpPr/>
          <p:nvPr/>
        </p:nvSpPr>
        <p:spPr>
          <a:xfrm>
            <a:off x="1495425" y="1041400"/>
            <a:ext cx="8712200" cy="7181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虚拟内存管理</a:t>
            </a:r>
            <a:r>
              <a:rPr lang="en-US" altLang="zh-CN" sz="2400" dirty="0">
                <a:solidFill>
                  <a:srgbClr val="FF0000"/>
                </a:solidFill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</a:rPr>
              <a:t>页面置换算法</a:t>
            </a:r>
            <a:endParaRPr lang="en-US" altLang="zh-CN" sz="2400" dirty="0"/>
          </a:p>
        </p:txBody>
      </p:sp>
      <p:sp>
        <p:nvSpPr>
          <p:cNvPr id="9" name="îSļiḓè"/>
          <p:cNvSpPr/>
          <p:nvPr/>
        </p:nvSpPr>
        <p:spPr>
          <a:xfrm>
            <a:off x="744166" y="1107003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ṡḷíďe"/>
          <p:cNvSpPr/>
          <p:nvPr/>
        </p:nvSpPr>
        <p:spPr>
          <a:xfrm>
            <a:off x="934421" y="1303141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</a:rPr>
              <a:t>操作系统常用算法总结</a:t>
            </a:r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设备管理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243205" y="1759585"/>
            <a:ext cx="11761470" cy="3787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先来先服务</a:t>
            </a:r>
            <a:r>
              <a:rPr lang="zh-CN" altLang="en-US" sz="2400" dirty="0"/>
              <a:t>：根据进程请求先后次序进行调度</a:t>
            </a:r>
            <a:endParaRPr lang="zh-CN" altLang="en-US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最短寻道时间优先：</a:t>
            </a:r>
            <a:r>
              <a:rPr lang="zh-CN" altLang="en-US" sz="2400" dirty="0"/>
              <a:t>每次寻找与当前磁头最近的磁道进行调度</a:t>
            </a:r>
            <a:endParaRPr lang="zh-CN" altLang="en-US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dirty="0"/>
              <a:t>电梯算法</a:t>
            </a:r>
            <a:r>
              <a:rPr lang="en-US" altLang="zh-CN" sz="2400" dirty="0"/>
              <a:t>(SCAN)</a:t>
            </a:r>
            <a:r>
              <a:rPr lang="zh-CN" sz="2400" dirty="0"/>
              <a:t>：磁头沿一个方向移动，期间进行请求调度，直到该方向的最后一</a:t>
            </a:r>
            <a:endParaRPr lang="zh-CN" sz="2400" dirty="0"/>
          </a:p>
          <a:p>
            <a:pPr marL="0" indent="0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              </a:t>
            </a:r>
            <a:r>
              <a:rPr lang="zh-CN" sz="2400" dirty="0"/>
              <a:t>个磁道；再沿反方向移动</a:t>
            </a:r>
            <a:endParaRPr lang="zh-CN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循环电梯算法</a:t>
            </a:r>
            <a:r>
              <a:rPr lang="en-US" altLang="zh-CN" sz="2400" dirty="0"/>
              <a:t>(CSCAN):</a:t>
            </a:r>
            <a:r>
              <a:rPr lang="zh-CN" sz="2400" dirty="0">
                <a:sym typeface="+mn-ea"/>
              </a:rPr>
              <a:t>磁头沿一个方向移动，期间进行请求调度，直到该方向的最</a:t>
            </a:r>
            <a:endParaRPr lang="zh-CN" sz="2400" dirty="0">
              <a:sym typeface="+mn-ea"/>
            </a:endParaRPr>
          </a:p>
          <a:p>
            <a:pPr marL="0" indent="0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ym typeface="+mn-ea"/>
              </a:rPr>
              <a:t>                                 </a:t>
            </a:r>
            <a:r>
              <a:rPr lang="zh-CN" sz="2400" dirty="0">
                <a:sym typeface="+mn-ea"/>
              </a:rPr>
              <a:t>后一个磁道；再返回同方向首端，期间不进行任何调度，继续。</a:t>
            </a:r>
            <a:endParaRPr lang="zh-CN" sz="2400" dirty="0"/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改进型电梯算法</a:t>
            </a:r>
            <a:r>
              <a:rPr lang="en-US" altLang="zh-CN" sz="2400" dirty="0">
                <a:sym typeface="+mn-ea"/>
              </a:rPr>
              <a:t>(LOOK)</a:t>
            </a:r>
            <a:r>
              <a:rPr lang="zh-CN" altLang="en-US" sz="2400" dirty="0">
                <a:sym typeface="+mn-ea"/>
              </a:rPr>
              <a:t>：</a:t>
            </a:r>
            <a:r>
              <a:rPr lang="zh-CN" sz="2400" dirty="0">
                <a:sym typeface="+mn-ea"/>
              </a:rPr>
              <a:t>同</a:t>
            </a:r>
            <a:r>
              <a:rPr lang="en-US" altLang="zh-CN" sz="2400" dirty="0">
                <a:sym typeface="+mn-ea"/>
              </a:rPr>
              <a:t>SCAN</a:t>
            </a:r>
            <a:r>
              <a:rPr lang="zh-CN" altLang="en-US" sz="2400" dirty="0">
                <a:sym typeface="+mn-ea"/>
              </a:rPr>
              <a:t>算法，只是不再运行到最后一个磁道即可返回。</a:t>
            </a:r>
            <a:endParaRPr lang="en-US" altLang="zh-CN" sz="2400" dirty="0">
              <a:sym typeface="+mn-ea"/>
            </a:endParaRPr>
          </a:p>
          <a:p>
            <a:pPr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改进型循环电梯算法</a:t>
            </a:r>
            <a:r>
              <a:rPr lang="en-US" altLang="zh-CN" sz="2400" dirty="0">
                <a:sym typeface="+mn-ea"/>
              </a:rPr>
              <a:t>(CLOOK)</a:t>
            </a:r>
            <a:r>
              <a:rPr lang="en-US" altLang="zh-CN" sz="2400" dirty="0"/>
              <a:t>:</a:t>
            </a:r>
            <a:r>
              <a:rPr lang="zh-CN" sz="2400" dirty="0">
                <a:sym typeface="+mn-ea"/>
              </a:rPr>
              <a:t>同</a:t>
            </a:r>
            <a:r>
              <a:rPr lang="en-US" altLang="zh-CN" sz="2400" dirty="0">
                <a:sym typeface="+mn-ea"/>
              </a:rPr>
              <a:t>CSCAN</a:t>
            </a:r>
            <a:r>
              <a:rPr lang="zh-CN" altLang="en-US" sz="2400" dirty="0">
                <a:sym typeface="+mn-ea"/>
              </a:rPr>
              <a:t>算法，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+mn-ea"/>
              </a:rPr>
              <a:t>只是不再运行到最后一个磁道即可</a:t>
            </a:r>
            <a:endParaRPr lang="zh-CN" altLang="en-US" sz="2400" dirty="0">
              <a:sym typeface="+mn-ea"/>
            </a:endParaRPr>
          </a:p>
          <a:p>
            <a:pPr marL="0" indent="0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ym typeface="+mn-ea"/>
              </a:rPr>
              <a:t>                                                   </a:t>
            </a:r>
            <a:r>
              <a:rPr lang="zh-CN" altLang="en-US" sz="2400" dirty="0">
                <a:sym typeface="+mn-ea"/>
              </a:rPr>
              <a:t>返回到所需磁道处</a:t>
            </a:r>
            <a:r>
              <a:rPr lang="en-US" altLang="zh-CN" sz="2400" dirty="0"/>
              <a:t>                </a:t>
            </a:r>
            <a:endParaRPr lang="en-US" altLang="zh-CN" sz="2400" dirty="0"/>
          </a:p>
          <a:p>
            <a:pPr marL="0" indent="0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400" dirty="0"/>
              <a:t>                </a:t>
            </a:r>
            <a:endParaRPr lang="zh-CN" altLang="en-US" sz="2400" dirty="0"/>
          </a:p>
        </p:txBody>
      </p:sp>
      <p:sp>
        <p:nvSpPr>
          <p:cNvPr id="8" name="íšḻíḑê"/>
          <p:cNvSpPr/>
          <p:nvPr/>
        </p:nvSpPr>
        <p:spPr>
          <a:xfrm>
            <a:off x="1495425" y="1041400"/>
            <a:ext cx="8712200" cy="7181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defRPr/>
            </a:pPr>
            <a:r>
              <a:rPr lang="zh-CN" sz="2400" dirty="0">
                <a:solidFill>
                  <a:srgbClr val="FF0000"/>
                </a:solidFill>
              </a:rPr>
              <a:t>磁盘调度</a:t>
            </a:r>
            <a:r>
              <a:rPr lang="zh-CN" altLang="en-US" sz="2400" dirty="0">
                <a:solidFill>
                  <a:srgbClr val="FF0000"/>
                </a:solidFill>
              </a:rPr>
              <a:t>算法</a:t>
            </a:r>
            <a:endParaRPr lang="en-US" altLang="zh-CN" sz="2400" dirty="0"/>
          </a:p>
        </p:txBody>
      </p:sp>
      <p:sp>
        <p:nvSpPr>
          <p:cNvPr id="9" name="îSļiḓè"/>
          <p:cNvSpPr/>
          <p:nvPr/>
        </p:nvSpPr>
        <p:spPr>
          <a:xfrm>
            <a:off x="744166" y="1107003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ṡḷíďe"/>
          <p:cNvSpPr/>
          <p:nvPr/>
        </p:nvSpPr>
        <p:spPr>
          <a:xfrm>
            <a:off x="934421" y="1303141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35580" y="218376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6000" dirty="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  <a:sym typeface="+mn-ea"/>
              </a:rPr>
              <a:t>二、</a:t>
            </a:r>
            <a:r>
              <a:rPr lang="zh-CN" altLang="en-US" sz="6000" dirty="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  <a:sym typeface="+mn-ea"/>
              </a:rPr>
              <a:t>错题回顾</a:t>
            </a:r>
            <a:endParaRPr lang="zh-CN" altLang="en-US" sz="6000" dirty="0">
              <a:ln w="15875"/>
              <a:gradFill>
                <a:gsLst>
                  <a:gs pos="0">
                    <a:schemeClr val="accent1">
                      <a:lumOff val="-19998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8"/>
                    </a:schemeClr>
                  </a:gs>
                </a:gsLst>
                <a:lin ang="0" scaled="0"/>
              </a:gradFill>
              <a:effectLst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1410" y="3940175"/>
            <a:ext cx="1877060" cy="101473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60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sym typeface="+mn-ea"/>
              </a:rPr>
              <a:t>作业</a:t>
            </a:r>
            <a:endParaRPr lang="zh-CN" altLang="en-US" sz="600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35580" y="2183765"/>
            <a:ext cx="7592060" cy="101473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6000" dirty="0">
                <a:ln w="15875"/>
                <a:gradFill>
                  <a:gsLst>
                    <a:gs pos="0">
                      <a:schemeClr val="accent1">
                        <a:lumOff val="-19997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7"/>
                      </a:schemeClr>
                    </a:gs>
                  </a:gsLst>
                  <a:lin ang="0" scaled="0"/>
                </a:gradFill>
                <a:effectLst/>
                <a:sym typeface="+mn-ea"/>
              </a:rPr>
              <a:t>三、考试重点</a:t>
            </a:r>
            <a:r>
              <a:rPr lang="zh-CN" altLang="en-US" sz="6000" dirty="0">
                <a:ln w="15875"/>
                <a:gradFill>
                  <a:gsLst>
                    <a:gs pos="0">
                      <a:schemeClr val="accent1">
                        <a:lumOff val="-19997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7"/>
                      </a:schemeClr>
                    </a:gs>
                  </a:gsLst>
                  <a:lin ang="0" scaled="0"/>
                </a:gradFill>
                <a:effectLst/>
                <a:sym typeface="+mn-ea"/>
              </a:rPr>
              <a:t>知识点</a:t>
            </a:r>
            <a:endParaRPr lang="zh-CN" altLang="en-US" sz="6000" dirty="0">
              <a:ln w="15875"/>
              <a:gradFill>
                <a:gsLst>
                  <a:gs pos="0">
                    <a:schemeClr val="accent1">
                      <a:lumOff val="-19997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7"/>
                    </a:schemeClr>
                  </a:gs>
                </a:gsLst>
                <a:lin ang="0" scaled="0"/>
              </a:gradFill>
              <a:effectLst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06365" y="4200525"/>
            <a:ext cx="2926080" cy="101473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60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sym typeface="+mn-ea"/>
              </a:rPr>
              <a:t>讨论区</a:t>
            </a:r>
            <a:endParaRPr lang="zh-CN" altLang="en-US" sz="600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35580" y="2183765"/>
            <a:ext cx="7592060" cy="101473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6000" dirty="0">
                <a:ln w="15875"/>
                <a:gradFill>
                  <a:gsLst>
                    <a:gs pos="0">
                      <a:schemeClr val="accent1">
                        <a:lumOff val="-19996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6"/>
                      </a:schemeClr>
                    </a:gs>
                  </a:gsLst>
                  <a:lin ang="0" scaled="0"/>
                </a:gradFill>
                <a:effectLst/>
                <a:sym typeface="+mn-ea"/>
              </a:rPr>
              <a:t>四、复习</a:t>
            </a:r>
            <a:r>
              <a:rPr lang="zh-CN" altLang="en-US" sz="6000" dirty="0">
                <a:ln w="15875"/>
                <a:gradFill>
                  <a:gsLst>
                    <a:gs pos="0">
                      <a:schemeClr val="accent1">
                        <a:lumOff val="-19996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6"/>
                      </a:schemeClr>
                    </a:gs>
                  </a:gsLst>
                  <a:lin ang="0" scaled="0"/>
                </a:gradFill>
                <a:effectLst/>
                <a:sym typeface="+mn-ea"/>
              </a:rPr>
              <a:t>建议</a:t>
            </a:r>
            <a:endParaRPr lang="zh-CN" altLang="en-US" sz="6000" dirty="0">
              <a:ln w="15875"/>
              <a:gradFill>
                <a:gsLst>
                  <a:gs pos="0">
                    <a:schemeClr val="accent1">
                      <a:lumOff val="-19996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6"/>
                    </a:schemeClr>
                  </a:gs>
                </a:gsLst>
                <a:lin ang="0" scaled="0"/>
              </a:gradFill>
              <a:effectLst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30530" y="1266190"/>
            <a:ext cx="11761470" cy="44875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3200" dirty="0"/>
              <a:t>PPT+</a:t>
            </a:r>
            <a:r>
              <a:rPr lang="zh-CN" altLang="en-US" sz="3200" dirty="0"/>
              <a:t>课本。</a:t>
            </a:r>
            <a:endParaRPr lang="zh-CN" altLang="en-US" sz="3200" dirty="0"/>
          </a:p>
          <a:p>
            <a:pPr>
              <a:lnSpc>
                <a:spcPct val="20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3200" dirty="0"/>
              <a:t>作业</a:t>
            </a:r>
            <a:endParaRPr lang="zh-CN" sz="3200" dirty="0"/>
          </a:p>
          <a:p>
            <a:pPr>
              <a:lnSpc>
                <a:spcPct val="20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3200" dirty="0"/>
              <a:t>随堂练习</a:t>
            </a:r>
            <a:endParaRPr lang="zh-CN" sz="3200" dirty="0"/>
          </a:p>
          <a:p>
            <a:pPr>
              <a:lnSpc>
                <a:spcPct val="20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3200" dirty="0"/>
              <a:t>AI</a:t>
            </a:r>
            <a:r>
              <a:rPr lang="zh-CN" altLang="en-US" sz="3200" dirty="0"/>
              <a:t>自行查找</a:t>
            </a:r>
            <a:r>
              <a:rPr lang="zh-CN" altLang="en-US" sz="3200" dirty="0"/>
              <a:t>知识薄弱点</a:t>
            </a:r>
            <a:endParaRPr lang="zh-CN" altLang="en-US" sz="3200" dirty="0">
              <a:sym typeface="+mn-ea"/>
            </a:endParaRPr>
          </a:p>
          <a:p>
            <a:pPr marL="0" indent="0">
              <a:lnSpc>
                <a:spcPct val="20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sz="3200" dirty="0"/>
              <a:t> </a:t>
            </a:r>
            <a:endParaRPr lang="en-US" altLang="zh-CN" sz="3200" dirty="0"/>
          </a:p>
          <a:p>
            <a:pPr marL="0" indent="0">
              <a:lnSpc>
                <a:spcPct val="20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sz="3200" dirty="0"/>
              <a:t>              </a:t>
            </a:r>
            <a:endParaRPr lang="en-US" altLang="zh-CN" sz="3200" dirty="0"/>
          </a:p>
          <a:p>
            <a:pPr marL="0" indent="0">
              <a:lnSpc>
                <a:spcPct val="20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3200" dirty="0"/>
              <a:t>               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35580" y="2183765"/>
            <a:ext cx="7592060" cy="101473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6000" dirty="0">
                <a:ln w="15875"/>
                <a:gradFill>
                  <a:gsLst>
                    <a:gs pos="0">
                      <a:schemeClr val="accent1">
                        <a:lumOff val="-19995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5"/>
                      </a:schemeClr>
                    </a:gs>
                  </a:gsLst>
                  <a:lin ang="0" scaled="0"/>
                </a:gradFill>
                <a:effectLst/>
                <a:sym typeface="+mn-ea"/>
              </a:rPr>
              <a:t>五、考试题型</a:t>
            </a:r>
            <a:endParaRPr lang="zh-CN" altLang="en-US" sz="6000" dirty="0">
              <a:ln w="15875"/>
              <a:gradFill>
                <a:gsLst>
                  <a:gs pos="0">
                    <a:schemeClr val="accent1">
                      <a:lumOff val="-19995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5"/>
                    </a:schemeClr>
                  </a:gs>
                </a:gsLst>
                <a:lin ang="0" scaled="0"/>
              </a:gradFill>
              <a:effectLst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17220" y="1160780"/>
            <a:ext cx="5570220" cy="5265420"/>
          </a:xfrm>
          <a:prstGeom prst="rect">
            <a:avLst/>
          </a:prstGeom>
        </p:spPr>
        <p:txBody>
          <a:bodyPr>
            <a:noAutofit/>
          </a:bodyPr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一、单项选择题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32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>
              <a:buNone/>
            </a:pP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题，每小题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分，共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32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二、填空题</a:t>
            </a:r>
            <a:endParaRPr lang="zh-CN" altLang="en-US" sz="32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（共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题，每题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分，共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endParaRPr lang="zh-CN" altLang="en-US" sz="32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三、简答题</a:t>
            </a:r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（共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题，每题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分，共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endParaRPr lang="zh-CN" altLang="en-US" sz="32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四、计算题</a:t>
            </a:r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（共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题，每题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分，共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endParaRPr lang="zh-CN" altLang="en-US" sz="32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五、综合应用题</a:t>
            </a:r>
            <a:endParaRPr lang="zh-CN" altLang="en-US" sz="32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（共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题，每题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分，共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endParaRPr lang="zh-CN" altLang="en-US" sz="32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87440" y="2583180"/>
            <a:ext cx="5912485" cy="132207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p>
            <a:pPr defTabSz="266700"/>
            <a:r>
              <a:rPr lang="zh-CN" altLang="en-US" sz="4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答案写到答题纸</a:t>
            </a:r>
            <a:r>
              <a:rPr lang="zh-CN" altLang="en-US" sz="4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上！</a:t>
            </a:r>
            <a:endParaRPr lang="zh-CN" altLang="en-US" sz="4000" b="1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266700"/>
            <a:r>
              <a:rPr lang="zh-CN" altLang="en-US" sz="4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交卷</a:t>
            </a:r>
            <a:r>
              <a:rPr lang="zh-CN" altLang="en-US" sz="4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时试卷和答题纸分开</a:t>
            </a:r>
            <a:endParaRPr lang="zh-CN" altLang="en-US" sz="4000" b="1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A6S0wzOvQ8a50SA42PUNRg"/>
</p:tagLst>
</file>

<file path=ppt/tags/tag3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074baa65-1bcf-453b-aed6-4412331b316e"/>
</p:tagLst>
</file>

<file path=ppt/theme/theme1.xml><?xml version="1.0" encoding="utf-8"?>
<a:theme xmlns:a="http://schemas.openxmlformats.org/drawingml/2006/main" name="主题5">
  <a:themeElements>
    <a:clrScheme name="自定义 15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7416B"/>
      </a:accent1>
      <a:accent2>
        <a:srgbClr val="FFC000"/>
      </a:accent2>
      <a:accent3>
        <a:srgbClr val="00002E"/>
      </a:accent3>
      <a:accent4>
        <a:srgbClr val="031684"/>
      </a:accent4>
      <a:accent5>
        <a:srgbClr val="969696"/>
      </a:accent5>
      <a:accent6>
        <a:srgbClr val="B2B2B2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1898</Words>
  <Application>WPS 演示</Application>
  <PresentationFormat>自定义</PresentationFormat>
  <Paragraphs>120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Calibri</vt:lpstr>
      <vt:lpstr>主题5</vt:lpstr>
      <vt:lpstr>TCLayout.ActiveDocument.1</vt:lpstr>
      <vt:lpstr>复习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解解</cp:lastModifiedBy>
  <cp:revision>258</cp:revision>
  <cp:lastPrinted>2019-04-18T16:00:00Z</cp:lastPrinted>
  <dcterms:created xsi:type="dcterms:W3CDTF">2019-04-18T16:00:00Z</dcterms:created>
  <dcterms:modified xsi:type="dcterms:W3CDTF">2026-01-03T10:11:12Z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246305EB49FA446BB55A03E5D0666094</vt:lpwstr>
  </property>
  <property fmtid="{D5CDD505-2E9C-101B-9397-08002B2CF9AE}" pid="4" name="KSOProductBuildVer">
    <vt:lpwstr>2052-12.1.0.24034</vt:lpwstr>
  </property>
</Properties>
</file>