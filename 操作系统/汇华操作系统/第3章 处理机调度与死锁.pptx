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
  </p:notesMasterIdLst>
  <p:sldIdLst>
    <p:sldId id="944" r:id="rId3"/>
    <p:sldId id="945" r:id="rId4"/>
    <p:sldId id="946" r:id="rId6"/>
    <p:sldId id="947" r:id="rId7"/>
    <p:sldId id="948" r:id="rId8"/>
    <p:sldId id="949" r:id="rId9"/>
    <p:sldId id="950" r:id="rId10"/>
    <p:sldId id="951" r:id="rId11"/>
    <p:sldId id="952" r:id="rId12"/>
    <p:sldId id="953" r:id="rId13"/>
    <p:sldId id="954" r:id="rId14"/>
    <p:sldId id="955" r:id="rId15"/>
    <p:sldId id="956" r:id="rId16"/>
    <p:sldId id="958" r:id="rId17"/>
    <p:sldId id="959" r:id="rId18"/>
    <p:sldId id="960" r:id="rId19"/>
    <p:sldId id="961" r:id="rId20"/>
    <p:sldId id="962" r:id="rId21"/>
    <p:sldId id="977" r:id="rId22"/>
    <p:sldId id="979" r:id="rId23"/>
    <p:sldId id="963" r:id="rId24"/>
    <p:sldId id="966" r:id="rId25"/>
    <p:sldId id="967" r:id="rId26"/>
    <p:sldId id="968" r:id="rId27"/>
    <p:sldId id="980" r:id="rId28"/>
    <p:sldId id="969" r:id="rId29"/>
    <p:sldId id="970" r:id="rId30"/>
    <p:sldId id="971" r:id="rId31"/>
    <p:sldId id="973" r:id="rId32"/>
    <p:sldId id="972" r:id="rId33"/>
    <p:sldId id="974" r:id="rId34"/>
    <p:sldId id="651" r:id="rId35"/>
    <p:sldId id="652" r:id="rId36"/>
    <p:sldId id="307" r:id="rId37"/>
    <p:sldId id="298" r:id="rId38"/>
    <p:sldId id="377" r:id="rId39"/>
    <p:sldId id="379" r:id="rId40"/>
    <p:sldId id="1045" r:id="rId41"/>
    <p:sldId id="381" r:id="rId42"/>
    <p:sldId id="649" r:id="rId43"/>
    <p:sldId id="722" r:id="rId44"/>
    <p:sldId id="982" r:id="rId45"/>
    <p:sldId id="393" r:id="rId46"/>
    <p:sldId id="375" r:id="rId47"/>
    <p:sldId id="394" r:id="rId48"/>
    <p:sldId id="329" r:id="rId49"/>
    <p:sldId id="395" r:id="rId50"/>
    <p:sldId id="398" r:id="rId51"/>
    <p:sldId id="320" r:id="rId52"/>
    <p:sldId id="399" r:id="rId53"/>
    <p:sldId id="986" r:id="rId54"/>
    <p:sldId id="984" r:id="rId55"/>
    <p:sldId id="400" r:id="rId56"/>
    <p:sldId id="397" r:id="rId57"/>
    <p:sldId id="402" r:id="rId58"/>
    <p:sldId id="864" r:id="rId59"/>
    <p:sldId id="403" r:id="rId60"/>
    <p:sldId id="407" r:id="rId61"/>
    <p:sldId id="408" r:id="rId62"/>
    <p:sldId id="401" r:id="rId63"/>
    <p:sldId id="865" r:id="rId64"/>
    <p:sldId id="409" r:id="rId65"/>
    <p:sldId id="406" r:id="rId66"/>
    <p:sldId id="871" r:id="rId67"/>
    <p:sldId id="867" r:id="rId68"/>
    <p:sldId id="869" r:id="rId69"/>
    <p:sldId id="413" r:id="rId70"/>
    <p:sldId id="872" r:id="rId71"/>
    <p:sldId id="411" r:id="rId72"/>
    <p:sldId id="873" r:id="rId73"/>
    <p:sldId id="415" r:id="rId74"/>
    <p:sldId id="1047" r:id="rId75"/>
    <p:sldId id="421" r:id="rId76"/>
    <p:sldId id="422" r:id="rId77"/>
    <p:sldId id="875" r:id="rId78"/>
    <p:sldId id="876" r:id="rId79"/>
    <p:sldId id="877" r:id="rId80"/>
    <p:sldId id="423" r:id="rId81"/>
    <p:sldId id="880" r:id="rId82"/>
    <p:sldId id="881" r:id="rId83"/>
    <p:sldId id="430" r:id="rId84"/>
    <p:sldId id="985" r:id="rId85"/>
    <p:sldId id="261" r:id="rId8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1" userDrawn="1">
          <p15:clr>
            <a:srgbClr val="A4A3A4"/>
          </p15:clr>
        </p15:guide>
        <p15:guide id="2" pos="390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2C31"/>
    <a:srgbClr val="07416B"/>
    <a:srgbClr val="04862F"/>
    <a:srgbClr val="0000FF"/>
    <a:srgbClr val="FFFF00"/>
    <a:srgbClr val="00005C"/>
    <a:srgbClr val="06D24C"/>
    <a:srgbClr val="035920"/>
    <a:srgbClr val="F6F5F3"/>
    <a:srgbClr val="07DB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182" autoAdjust="0"/>
  </p:normalViewPr>
  <p:slideViewPr>
    <p:cSldViewPr snapToGrid="0" showGuides="1">
      <p:cViewPr>
        <p:scale>
          <a:sx n="100" d="100"/>
          <a:sy n="100" d="100"/>
        </p:scale>
        <p:origin x="-936" y="-402"/>
      </p:cViewPr>
      <p:guideLst>
        <p:guide orient="horz" pos="2241"/>
        <p:guide pos="3901"/>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9" Type="http://schemas.openxmlformats.org/officeDocument/2006/relationships/tableStyles" Target="tableStyles.xml"/><Relationship Id="rId88" Type="http://schemas.openxmlformats.org/officeDocument/2006/relationships/viewProps" Target="viewProps.xml"/><Relationship Id="rId87" Type="http://schemas.openxmlformats.org/officeDocument/2006/relationships/presProps" Target="presProps.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上下文是指某一时刻</a:t>
            </a:r>
            <a:r>
              <a:rPr lang="en-US" altLang="zh-CN"/>
              <a:t>CPU</a:t>
            </a:r>
            <a:r>
              <a:rPr lang="zh-CN" altLang="en-US"/>
              <a:t>寄存器和程序计数器的内容。</a:t>
            </a:r>
            <a:endParaRPr lang="zh-CN" altLang="en-US"/>
          </a:p>
          <a:p>
            <a:endParaRPr lang="zh-CN" altLang="en-US"/>
          </a:p>
          <a:p>
            <a:r>
              <a:rPr lang="zh-CN" altLang="en-US"/>
              <a:t>进行上下文切换时</a:t>
            </a:r>
            <a:r>
              <a:rPr lang="en-US" altLang="zh-CN"/>
              <a:t>,</a:t>
            </a:r>
            <a:r>
              <a:rPr lang="zh-CN" altLang="en-US"/>
              <a:t>内核会将旧进程状态保存在其</a:t>
            </a:r>
            <a:r>
              <a:rPr lang="en-US" altLang="zh-CN"/>
              <a:t>PCB</a:t>
            </a:r>
            <a:r>
              <a:rPr lang="zh-CN" altLang="en-US"/>
              <a:t>中</a:t>
            </a:r>
            <a:r>
              <a:rPr lang="en-US" altLang="zh-CN"/>
              <a:t>,</a:t>
            </a:r>
            <a:r>
              <a:rPr lang="zh-CN" altLang="en-US"/>
              <a:t>然后加载经调度而要执行的新进程的上下文，上下文切换是在内核态进行的。</a:t>
            </a:r>
            <a:endParaRPr lang="zh-CN" altLang="en-US"/>
          </a:p>
          <a:p>
            <a:endParaRPr lang="zh-CN" altLang="en-US"/>
          </a:p>
          <a:p>
            <a:r>
              <a:rPr lang="zh-CN" altLang="en-US"/>
              <a:t>上下文切换的流程如下</a:t>
            </a:r>
            <a:r>
              <a:rPr lang="en-US" altLang="zh-CN"/>
              <a:t>:</a:t>
            </a:r>
            <a:endParaRPr lang="en-US" altLang="zh-CN"/>
          </a:p>
          <a:p>
            <a:r>
              <a:rPr lang="en-US" altLang="zh-CN"/>
              <a:t>1)</a:t>
            </a:r>
            <a:r>
              <a:rPr lang="zh-CN" altLang="en-US"/>
              <a:t>挂起一个进程</a:t>
            </a:r>
            <a:r>
              <a:rPr lang="en-US" altLang="zh-CN"/>
              <a:t>,</a:t>
            </a:r>
            <a:r>
              <a:rPr lang="zh-CN" altLang="en-US"/>
              <a:t>保存</a:t>
            </a:r>
            <a:r>
              <a:rPr lang="en-US" altLang="zh-CN"/>
              <a:t>CPU</a:t>
            </a:r>
            <a:r>
              <a:rPr lang="zh-CN" altLang="en-US"/>
              <a:t>上下文</a:t>
            </a:r>
            <a:r>
              <a:rPr lang="en-US" altLang="zh-CN"/>
              <a:t>,</a:t>
            </a:r>
            <a:r>
              <a:rPr lang="zh-CN" altLang="en-US"/>
              <a:t>包括程序计数器和其他寄存器。</a:t>
            </a:r>
            <a:endParaRPr lang="zh-CN" altLang="en-US"/>
          </a:p>
          <a:p>
            <a:r>
              <a:rPr lang="en-US" altLang="zh-CN"/>
              <a:t>2)</a:t>
            </a:r>
            <a:r>
              <a:rPr lang="zh-CN" altLang="en-US"/>
              <a:t>更新</a:t>
            </a:r>
            <a:r>
              <a:rPr lang="en-US" altLang="zh-CN"/>
              <a:t>PCB</a:t>
            </a:r>
            <a:r>
              <a:rPr lang="zh-CN" altLang="en-US"/>
              <a:t>信息。</a:t>
            </a:r>
            <a:endParaRPr lang="zh-CN" altLang="en-US"/>
          </a:p>
          <a:p>
            <a:r>
              <a:rPr lang="en-US" altLang="zh-CN"/>
              <a:t>3)</a:t>
            </a:r>
            <a:r>
              <a:rPr lang="zh-CN" altLang="en-US"/>
              <a:t>把进程的</a:t>
            </a:r>
            <a:r>
              <a:rPr lang="en-US" altLang="zh-CN"/>
              <a:t>PCB</a:t>
            </a:r>
            <a:r>
              <a:rPr lang="zh-CN" altLang="en-US"/>
              <a:t>移入相应的队列</a:t>
            </a:r>
            <a:r>
              <a:rPr lang="en-US" altLang="zh-CN"/>
              <a:t>,</a:t>
            </a:r>
            <a:r>
              <a:rPr lang="zh-CN" altLang="en-US"/>
              <a:t>如就绪、在某事件阻塞等队列。</a:t>
            </a:r>
            <a:endParaRPr lang="zh-CN" altLang="en-US"/>
          </a:p>
          <a:p>
            <a:r>
              <a:rPr lang="en-US" altLang="zh-CN"/>
              <a:t>4)</a:t>
            </a:r>
            <a:r>
              <a:rPr lang="zh-CN" altLang="en-US"/>
              <a:t>选择另一个进程执行</a:t>
            </a:r>
            <a:r>
              <a:rPr lang="en-US" altLang="zh-CN"/>
              <a:t>,</a:t>
            </a:r>
            <a:r>
              <a:rPr lang="zh-CN" altLang="en-US"/>
              <a:t>并更新其</a:t>
            </a:r>
            <a:r>
              <a:rPr lang="en-US" altLang="zh-CN"/>
              <a:t>PCB</a:t>
            </a:r>
            <a:r>
              <a:rPr lang="zh-CN" altLang="en-US"/>
              <a:t>。</a:t>
            </a:r>
            <a:endParaRPr lang="zh-CN" altLang="en-US"/>
          </a:p>
          <a:p>
            <a:r>
              <a:rPr lang="en-US" altLang="zh-CN"/>
              <a:t>5)</a:t>
            </a:r>
            <a:r>
              <a:rPr lang="zh-CN" altLang="en-US"/>
              <a:t>跳转到新进程</a:t>
            </a:r>
            <a:r>
              <a:rPr lang="en-US" altLang="zh-CN"/>
              <a:t>PCB</a:t>
            </a:r>
            <a:r>
              <a:rPr lang="zh-CN" altLang="en-US"/>
              <a:t>中的程序计数器所指向的位置执行</a:t>
            </a:r>
            <a:r>
              <a:rPr lang="en-US" altLang="zh-CN"/>
              <a:t>.</a:t>
            </a:r>
            <a:endParaRPr lang="en-US" altLang="zh-CN"/>
          </a:p>
          <a:p>
            <a:r>
              <a:rPr lang="en-US" altLang="zh-CN"/>
              <a:t>6)</a:t>
            </a:r>
            <a:r>
              <a:rPr lang="zh-CN" altLang="en-US"/>
              <a:t>恢复处理机上下文</a:t>
            </a:r>
            <a:r>
              <a:rPr lang="en-US" altLang="zh-CN"/>
              <a:t>.</a:t>
            </a:r>
            <a:endParaRPr lang="en-US" altLang="zh-CN"/>
          </a:p>
          <a:p>
            <a:endParaRPr lang="en-US" altLang="zh-CN"/>
          </a:p>
          <a:p>
            <a:r>
              <a:rPr lang="zh-CN" altLang="en-US"/>
              <a:t>现在用硬件减少上下文切换时间。通常采用两组寄存器</a:t>
            </a:r>
            <a:r>
              <a:rPr lang="en-US" altLang="zh-CN"/>
              <a:t>,</a:t>
            </a:r>
            <a:r>
              <a:rPr lang="zh-CN" altLang="en-US"/>
              <a:t>其中一组供内核用</a:t>
            </a:r>
            <a:r>
              <a:rPr lang="en-US" altLang="zh-CN"/>
              <a:t>,</a:t>
            </a:r>
            <a:r>
              <a:rPr lang="zh-CN" altLang="en-US"/>
              <a:t>一组供用户使用。这样</a:t>
            </a:r>
            <a:r>
              <a:rPr lang="en-US" altLang="zh-CN"/>
              <a:t>,</a:t>
            </a:r>
            <a:r>
              <a:rPr lang="zh-CN" altLang="en-US"/>
              <a:t>上下文切换时，只需改变指针，让其指向当前寄存器组即可。</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交互性即多任务情况下，正在操作的进程，非交互性即后台运行的进程</a:t>
            </a:r>
            <a:endParaRPr lang="zh-CN" altLang="en-US"/>
          </a:p>
          <a:p>
            <a:r>
              <a:rPr lang="en-US" altLang="zh-CN"/>
              <a:t>I/O</a:t>
            </a:r>
            <a:r>
              <a:rPr lang="zh-CN" altLang="en-US"/>
              <a:t>的处理速度比</a:t>
            </a:r>
            <a:r>
              <a:rPr lang="en-US" altLang="zh-CN"/>
              <a:t>CPU</a:t>
            </a:r>
            <a:r>
              <a:rPr lang="zh-CN" altLang="en-US"/>
              <a:t>处理速度慢的多，把</a:t>
            </a:r>
            <a:r>
              <a:rPr lang="en-US" altLang="zh-CN"/>
              <a:t>I/O</a:t>
            </a:r>
            <a:r>
              <a:rPr lang="zh-CN" altLang="en-US"/>
              <a:t>优先级提高，可以让设备尽早工作，提高系统整体效率</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答案</a:t>
            </a:r>
            <a:r>
              <a:rPr lang="en-US" altLang="zh-CN"/>
              <a:t>75</a:t>
            </a:r>
            <a:endParaRPr lang="en-US" altLang="zh-CN"/>
          </a:p>
          <a:p>
            <a:endParaRPr lang="en-US" altLang="zh-CN"/>
          </a:p>
          <a:p>
            <a:r>
              <a:rPr lang="en-US" altLang="zh-CN"/>
              <a:t>①P2的优先权最高，所以会先调度P2，花费1μs，切换成进程P2;</a:t>
            </a:r>
            <a:endParaRPr lang="en-US" altLang="zh-CN"/>
          </a:p>
          <a:p>
            <a:endParaRPr lang="en-US" altLang="zh-CN"/>
          </a:p>
          <a:p>
            <a:r>
              <a:rPr lang="en-US" altLang="zh-CN"/>
              <a:t>②第1μs到第25μs ,执行进程P2;</a:t>
            </a:r>
            <a:endParaRPr lang="en-US" altLang="zh-CN"/>
          </a:p>
          <a:p>
            <a:endParaRPr lang="en-US" altLang="zh-CN"/>
          </a:p>
          <a:p>
            <a:r>
              <a:rPr lang="en-US" altLang="zh-CN"/>
              <a:t>③第26μs，根据优先权，切换到进程P3;</a:t>
            </a:r>
            <a:endParaRPr lang="en-US" altLang="zh-CN"/>
          </a:p>
          <a:p>
            <a:endParaRPr lang="en-US" altLang="zh-CN"/>
          </a:p>
          <a:p>
            <a:r>
              <a:rPr lang="en-US" altLang="zh-CN"/>
              <a:t>④第26μs到第62us，执行进程P3;</a:t>
            </a:r>
            <a:endParaRPr lang="en-US" altLang="zh-CN"/>
          </a:p>
          <a:p>
            <a:endParaRPr lang="en-US" altLang="zh-CN"/>
          </a:p>
          <a:p>
            <a:r>
              <a:rPr lang="en-US" altLang="zh-CN"/>
              <a:t>⑤第63μs，切换到进程P1;</a:t>
            </a:r>
            <a:endParaRPr lang="en-US" altLang="zh-CN"/>
          </a:p>
          <a:p>
            <a:endParaRPr lang="en-US" altLang="zh-CN"/>
          </a:p>
          <a:p>
            <a:r>
              <a:rPr lang="en-US" altLang="zh-CN"/>
              <a:t>⑥第63μs到第75μs，</a:t>
            </a:r>
            <a:endParaRPr lang="en-US" altLang="zh-CN"/>
          </a:p>
          <a:p>
            <a:endParaRPr lang="en-US" altLang="zh-CN"/>
          </a:p>
          <a:p>
            <a:r>
              <a:rPr lang="en-US" altLang="zh-CN"/>
              <a:t>进程P1的周转时间=30μs+75μs=105μs；</a:t>
            </a:r>
            <a:endParaRPr lang="en-US" altLang="zh-CN"/>
          </a:p>
          <a:p>
            <a:endParaRPr lang="en-US" altLang="zh-CN"/>
          </a:p>
          <a:p>
            <a:r>
              <a:rPr lang="en-US" altLang="zh-CN"/>
              <a:t>进程P2的周转时间＝15μs+25μs=40μs；</a:t>
            </a:r>
            <a:endParaRPr lang="en-US" altLang="zh-CN"/>
          </a:p>
          <a:p>
            <a:endParaRPr lang="en-US" altLang="zh-CN"/>
          </a:p>
          <a:p>
            <a:r>
              <a:rPr lang="en-US" altLang="zh-CN"/>
              <a:t>进程P3的周转时间=18uμs+62μs=80μs。</a:t>
            </a:r>
            <a:endParaRPr lang="en-US" altLang="zh-CN"/>
          </a:p>
          <a:p>
            <a:endParaRPr lang="en-US" altLang="zh-CN"/>
          </a:p>
          <a:p>
            <a:r>
              <a:rPr lang="en-US" altLang="zh-CN"/>
              <a:t>系统的平均周转时间＝(105μs+40μs+80μs)/3=75μ s </a:t>
            </a: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这里的响应时间=等待之间+运行时间 ，</a:t>
            </a:r>
            <a:r>
              <a:rPr lang="zh-CN" altLang="en-US">
                <a:sym typeface="+mn-ea"/>
              </a:rPr>
              <a:t>只有在批处理系统的情况下才会相等。</a:t>
            </a:r>
            <a:endParaRPr lang="zh-CN" altLang="en-US"/>
          </a:p>
          <a:p>
            <a:r>
              <a:rPr lang="zh-CN" altLang="en-US"/>
              <a:t>在RR，第一个时间片结束，就认为产生了第一个响应。响应时间不等于周转时间，</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1）Q1队列需要考虑两个进程的剩余执行时间（P1剩余20ms,P2剩余10ms)</a:t>
            </a:r>
            <a:endParaRPr lang="zh-CN" altLang="en-US"/>
          </a:p>
          <a:p>
            <a:endParaRPr lang="zh-CN" altLang="en-US"/>
          </a:p>
          <a:p>
            <a:r>
              <a:rPr lang="zh-CN" altLang="en-US"/>
              <a:t>2）Q2队列选择P2进行调度。P2运行结束后，调度P1。</a:t>
            </a:r>
            <a:endParaRPr lang="zh-CN" altLang="en-US"/>
          </a:p>
          <a:p>
            <a:endParaRPr lang="zh-CN" altLang="en-US"/>
          </a:p>
          <a:p>
            <a:r>
              <a:rPr lang="zh-CN" altLang="en-US"/>
              <a:t>具体时间节点为：①1ms到10ms执行 P1 ;②11ms到20ms执行P2;③21ms到30ms执行P2;④31ms到50ms执行P1。</a:t>
            </a:r>
            <a:endParaRPr lang="zh-CN" altLang="en-US"/>
          </a:p>
          <a:p>
            <a:endParaRPr lang="zh-CN" altLang="en-US"/>
          </a:p>
          <a:p>
            <a:r>
              <a:rPr lang="zh-CN" altLang="en-US"/>
              <a:t>P1等待时间为20ms(11ms到30ms）P2为10ms(1ms到10ms)。</a:t>
            </a:r>
            <a:endParaRPr lang="zh-CN" altLang="en-US"/>
          </a:p>
          <a:p>
            <a:endParaRPr lang="zh-CN" altLang="en-US"/>
          </a:p>
          <a:p>
            <a:r>
              <a:rPr lang="zh-CN" altLang="en-US"/>
              <a:t>平均等待时间为(20ms+10ms)/2=15ms</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高响应比优先调度算法更多的资料说属于非抢占式算法</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·第一步：先看R1资源，它有三个箭头是向外的，因此它一共给进程分配了3个资源，此时，R1没有空闲的资源剩余。</a:t>
            </a:r>
            <a:endParaRPr lang="zh-CN" altLang="en-US"/>
          </a:p>
          <a:p>
            <a:r>
              <a:rPr lang="zh-CN" altLang="en-US"/>
              <a:t>·第二步：再看R2资源，它有一个箭头是向外的，因此它一共给进程分配了1个资源，此时，R2还剩余一个空闲的资源没分配。</a:t>
            </a:r>
            <a:endParaRPr lang="zh-CN" altLang="en-US"/>
          </a:p>
          <a:p>
            <a:r>
              <a:rPr lang="zh-CN" altLang="en-US"/>
              <a:t>·第三步：看完资源，再来看进程，先看进程P2，它只申请一个R1资源，但此时R1资源已经用光了，所以，进程P2进入阻塞状态，因</a:t>
            </a:r>
            <a:endParaRPr lang="zh-CN" altLang="en-US"/>
          </a:p>
          <a:p>
            <a:r>
              <a:rPr lang="zh-CN" altLang="en-US"/>
              <a:t>此，进程P2暂时不能化成孤立的点。</a:t>
            </a:r>
            <a:endParaRPr lang="zh-CN" altLang="en-US"/>
          </a:p>
          <a:p>
            <a:r>
              <a:rPr lang="zh-CN" altLang="en-US"/>
              <a:t>·第四步：再看进程P1，它只申请一个R2资源，此时，系统还剩余一个R2资源没分配，因此，可以满足P1的申请。这样，进程P1便得</a:t>
            </a:r>
            <a:endParaRPr lang="zh-CN" altLang="en-US"/>
          </a:p>
          <a:p>
            <a:r>
              <a:rPr lang="zh-CN" altLang="en-US"/>
              <a:t>到了它的全部所需资源，所以它不会进入阻塞状态，可以一直运行，等它运行完后，我们再把它的所有的资源释放。相当于：可以把</a:t>
            </a:r>
            <a:endParaRPr lang="zh-CN" altLang="en-US"/>
          </a:p>
          <a:p>
            <a:r>
              <a:rPr lang="zh-CN" altLang="en-US"/>
              <a:t>P1的所有的边去掉，变成一个孤立的点</a:t>
            </a:r>
            <a:endParaRPr lang="zh-CN" altLang="en-US"/>
          </a:p>
          <a:p>
            <a:r>
              <a:rPr lang="zh-CN" altLang="en-US"/>
              <a:t>第五步：进程P1运行完后，释放其所占有的资源（2个R1资源和1个R2资源），系统回收这些资源后，空闲的资源便变成2个R1资源</a:t>
            </a:r>
            <a:endParaRPr lang="zh-CN" altLang="en-US"/>
          </a:p>
          <a:p>
            <a:r>
              <a:rPr lang="zh-CN" altLang="en-US"/>
              <a:t>和1个R2资源，由于进程P2一直在申请一个R1资源，所以此时，系统能满足它的申请。这样，进程P2便得到了它的全部所需资源,</a:t>
            </a:r>
            <a:endParaRPr lang="zh-CN" altLang="en-US"/>
          </a:p>
          <a:p>
            <a:r>
              <a:rPr lang="zh-CN" altLang="en-US"/>
              <a:t>所以它不会进入阻塞状态，可以一直运行，等它运行完后，我们再把它的所有的资源释放。相当于：可以把P2的所有的边都去掉</a:t>
            </a:r>
            <a:endParaRPr lang="zh-CN" altLang="en-US"/>
          </a:p>
          <a:p>
            <a:r>
              <a:rPr lang="zh-CN" altLang="en-US"/>
              <a:t>化成一个孤立的点</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顺序为：</a:t>
            </a:r>
            <a:r>
              <a:rPr lang="en-US" altLang="zh-CN"/>
              <a:t>213</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userDrawn="1">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userDrawn="1">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userDrawn="1">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9802" name="标题 1"/>
          <p:cNvSpPr>
            <a:spLocks noGrp="1"/>
          </p:cNvSpPr>
          <p:nvPr userDrawn="1">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showMasterSp="0"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userDrawn="1">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bwMode="auto">
          <a:xfrm flipH="1" flipV="1">
            <a:off x="-1219199" y="239311"/>
            <a:ext cx="13411199" cy="801180"/>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1" name="任意多边形: 形状 10"/>
          <p:cNvSpPr/>
          <p:nvPr userDrawn="1"/>
        </p:nvSpPr>
        <p:spPr>
          <a:xfrm rot="10800000">
            <a:off x="-28575" y="6321199"/>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任意多边形: 形状 11"/>
          <p:cNvSpPr/>
          <p:nvPr userDrawn="1"/>
        </p:nvSpPr>
        <p:spPr bwMode="auto">
          <a:xfrm>
            <a:off x="-9525" y="6230938"/>
            <a:ext cx="12201525" cy="801179"/>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userDrawn="1">
            <p:ph type="ctrTitle" hasCustomPrompt="1"/>
          </p:nvPr>
        </p:nvSpPr>
        <p:spPr>
          <a:xfrm>
            <a:off x="4034971" y="2163199"/>
            <a:ext cx="6536871" cy="2390427"/>
          </a:xfrm>
        </p:spPr>
        <p:txBody>
          <a:bodyPr anchor="b">
            <a:normAutofit/>
          </a:bodyPr>
          <a:lstStyle>
            <a:lvl1pPr marL="0" indent="0" algn="ct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5.xml"/><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image" Target="../media/image2.png"/><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9" Type="http://schemas.openxmlformats.org/officeDocument/2006/relationships/slideLayout" Target="../slideLayouts/slideLayout3.xml"/><Relationship Id="rId18" Type="http://schemas.openxmlformats.org/officeDocument/2006/relationships/tags" Target="../tags/tag26.xml"/><Relationship Id="rId17" Type="http://schemas.openxmlformats.org/officeDocument/2006/relationships/tags" Target="../tags/tag25.xml"/><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tags" Target="../tags/tag22.xml"/><Relationship Id="rId13" Type="http://schemas.openxmlformats.org/officeDocument/2006/relationships/tags" Target="../tags/tag21.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9" Type="http://schemas.openxmlformats.org/officeDocument/2006/relationships/slideLayout" Target="../slideLayouts/slideLayout3.xml"/><Relationship Id="rId18" Type="http://schemas.openxmlformats.org/officeDocument/2006/relationships/tags" Target="../tags/tag44.xml"/><Relationship Id="rId17" Type="http://schemas.openxmlformats.org/officeDocument/2006/relationships/tags" Target="../tags/tag43.xml"/><Relationship Id="rId16" Type="http://schemas.openxmlformats.org/officeDocument/2006/relationships/tags" Target="../tags/tag42.xml"/><Relationship Id="rId15" Type="http://schemas.openxmlformats.org/officeDocument/2006/relationships/tags" Target="../tags/tag41.xml"/><Relationship Id="rId14" Type="http://schemas.openxmlformats.org/officeDocument/2006/relationships/tags" Target="../tags/tag40.xml"/><Relationship Id="rId13" Type="http://schemas.openxmlformats.org/officeDocument/2006/relationships/tags" Target="../tags/tag39.xml"/><Relationship Id="rId12" Type="http://schemas.openxmlformats.org/officeDocument/2006/relationships/tags" Target="../tags/tag38.xml"/><Relationship Id="rId11" Type="http://schemas.openxmlformats.org/officeDocument/2006/relationships/tags" Target="../tags/tag37.xml"/><Relationship Id="rId10" Type="http://schemas.openxmlformats.org/officeDocument/2006/relationships/tags" Target="../tags/tag36.xml"/><Relationship Id="rId1" Type="http://schemas.openxmlformats.org/officeDocument/2006/relationships/tags" Target="../tags/tag2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4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image" Target="../media/image2.png"/><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2" Type="http://schemas.openxmlformats.org/officeDocument/2006/relationships/slideLayout" Target="../slideLayouts/slideLayout3.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tags" Target="../tags/tag46.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4.png"/><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image" Target="../media/image1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1.png"/><Relationship Id="rId1" Type="http://schemas.openxmlformats.org/officeDocument/2006/relationships/image" Target="../media/image20.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3.xml"/><Relationship Id="rId2" Type="http://schemas.openxmlformats.org/officeDocument/2006/relationships/image" Target="../media/image23.png"/><Relationship Id="rId1"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5.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image" Target="../media/image26.png"/><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9" Type="http://schemas.openxmlformats.org/officeDocument/2006/relationships/tags" Target="../tags/tag72.xml"/><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0" Type="http://schemas.openxmlformats.org/officeDocument/2006/relationships/slideLayout" Target="../slideLayouts/slideLayout3.xml"/><Relationship Id="rId2" Type="http://schemas.openxmlformats.org/officeDocument/2006/relationships/tags" Target="../tags/tag65.xml"/><Relationship Id="rId19" Type="http://schemas.openxmlformats.org/officeDocument/2006/relationships/image" Target="../media/image27.png"/><Relationship Id="rId18" Type="http://schemas.openxmlformats.org/officeDocument/2006/relationships/tags" Target="../tags/tag81.xml"/><Relationship Id="rId17" Type="http://schemas.openxmlformats.org/officeDocument/2006/relationships/tags" Target="../tags/tag80.xml"/><Relationship Id="rId16" Type="http://schemas.openxmlformats.org/officeDocument/2006/relationships/tags" Target="../tags/tag79.xml"/><Relationship Id="rId15" Type="http://schemas.openxmlformats.org/officeDocument/2006/relationships/tags" Target="../tags/tag78.xml"/><Relationship Id="rId14" Type="http://schemas.openxmlformats.org/officeDocument/2006/relationships/tags" Target="../tags/tag77.xml"/><Relationship Id="rId13" Type="http://schemas.openxmlformats.org/officeDocument/2006/relationships/tags" Target="../tags/tag76.xml"/><Relationship Id="rId12" Type="http://schemas.openxmlformats.org/officeDocument/2006/relationships/tags" Target="../tags/tag75.xml"/><Relationship Id="rId11" Type="http://schemas.openxmlformats.org/officeDocument/2006/relationships/tags" Target="../tags/tag74.xml"/><Relationship Id="rId10" Type="http://schemas.openxmlformats.org/officeDocument/2006/relationships/tags" Target="../tags/tag73.xml"/><Relationship Id="rId1" Type="http://schemas.openxmlformats.org/officeDocument/2006/relationships/tags" Target="../tags/tag64.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8.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7.png"/><Relationship Id="rId1"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7.png"/><Relationship Id="rId1"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83.xml"/><Relationship Id="rId1" Type="http://schemas.openxmlformats.org/officeDocument/2006/relationships/tags" Target="../tags/tag8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9.jpe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84.xml"/></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89.xml"/><Relationship Id="rId1" Type="http://schemas.openxmlformats.org/officeDocument/2006/relationships/tags" Target="../tags/tag8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91.xml"/><Relationship Id="rId1" Type="http://schemas.openxmlformats.org/officeDocument/2006/relationships/tags" Target="../tags/tag9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93.xml"/><Relationship Id="rId1" Type="http://schemas.openxmlformats.org/officeDocument/2006/relationships/tags" Target="../tags/tag9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9" Type="http://schemas.openxmlformats.org/officeDocument/2006/relationships/tags" Target="../tags/tag102.xml"/><Relationship Id="rId8" Type="http://schemas.openxmlformats.org/officeDocument/2006/relationships/image" Target="../media/image2.png"/><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6" Type="http://schemas.openxmlformats.org/officeDocument/2006/relationships/slideLayout" Target="../slideLayouts/slideLayout5.xml"/><Relationship Id="rId15" Type="http://schemas.openxmlformats.org/officeDocument/2006/relationships/tags" Target="../tags/tag108.xml"/><Relationship Id="rId14" Type="http://schemas.openxmlformats.org/officeDocument/2006/relationships/tags" Target="../tags/tag107.xml"/><Relationship Id="rId13" Type="http://schemas.openxmlformats.org/officeDocument/2006/relationships/tags" Target="../tags/tag106.xml"/><Relationship Id="rId12" Type="http://schemas.openxmlformats.org/officeDocument/2006/relationships/tags" Target="../tags/tag105.xml"/><Relationship Id="rId11" Type="http://schemas.openxmlformats.org/officeDocument/2006/relationships/tags" Target="../tags/tag104.xml"/><Relationship Id="rId10" Type="http://schemas.openxmlformats.org/officeDocument/2006/relationships/tags" Target="../tags/tag103.xml"/><Relationship Id="rId1" Type="http://schemas.openxmlformats.org/officeDocument/2006/relationships/tags" Target="../tags/tag9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6.png"/></Relationships>
</file>

<file path=ppt/slides/_rels/slide7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microsoft.com/office/2007/relationships/hdphoto" Target="../media/image32.wdp"/><Relationship Id="rId2" Type="http://schemas.openxmlformats.org/officeDocument/2006/relationships/image" Target="../media/image31.png"/><Relationship Id="rId1" Type="http://schemas.openxmlformats.org/officeDocument/2006/relationships/image" Target="../media/image30.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hdphoto" Target="../media/image34.wdp"/><Relationship Id="rId1" Type="http://schemas.openxmlformats.org/officeDocument/2006/relationships/image" Target="../media/image3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image" Target="../media/image35.png"/></Relationships>
</file>

<file path=ppt/slides/_rels/slide80.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36.png"/><Relationship Id="rId2" Type="http://schemas.microsoft.com/office/2007/relationships/hdphoto" Target="../media/image32.wdp"/><Relationship Id="rId1" Type="http://schemas.openxmlformats.org/officeDocument/2006/relationships/image" Target="../media/image31.png"/></Relationships>
</file>

<file path=ppt/slides/_rels/slide81.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3.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tags" Target="../tags/tag1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hidden="1"/>
          <p:cNvSpPr/>
          <p:nvPr>
            <p:custDataLst>
              <p:tags r:id="rId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4" name="标题 3"/>
          <p:cNvSpPr>
            <a:spLocks noGrp="1"/>
          </p:cNvSpPr>
          <p:nvPr>
            <p:ph type="ctrTitle"/>
          </p:nvPr>
        </p:nvSpPr>
        <p:spPr>
          <a:xfrm>
            <a:off x="669925" y="1319455"/>
            <a:ext cx="10850563" cy="3136900"/>
          </a:xfrm>
        </p:spPr>
        <p:txBody>
          <a:bodyPr>
            <a:normAutofit/>
          </a:bodyPr>
          <a:lstStyle/>
          <a:p>
            <a:r>
              <a:rPr lang="zh-CN" altLang="en-US" sz="4800" dirty="0"/>
              <a:t>第</a:t>
            </a:r>
            <a:r>
              <a:rPr lang="en-US" altLang="zh-CN" sz="4800" dirty="0"/>
              <a:t>3</a:t>
            </a:r>
            <a:r>
              <a:rPr lang="zh-CN" altLang="en-US" sz="4800" dirty="0"/>
              <a:t>章 </a:t>
            </a:r>
            <a:br>
              <a:rPr lang="en-US" altLang="zh-CN" sz="4800" dirty="0"/>
            </a:br>
            <a:r>
              <a:rPr lang="zh-CN" altLang="en-US" sz="4800" dirty="0"/>
              <a:t>处理机调度与死锁</a:t>
            </a:r>
            <a:endParaRPr lang="zh-CN" altLang="en-US" sz="2000" b="0" dirty="0"/>
          </a:p>
        </p:txBody>
      </p:sp>
      <p:sp>
        <p:nvSpPr>
          <p:cNvPr id="29" name="任意多边形: 形状 28"/>
          <p:cNvSpPr/>
          <p:nvPr/>
        </p:nvSpPr>
        <p:spPr>
          <a:xfrm>
            <a:off x="10968292" y="649047"/>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图片 2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11186" y="488949"/>
            <a:ext cx="631826" cy="631826"/>
          </a:xfrm>
          <a:prstGeom prst="rect">
            <a:avLst/>
          </a:prstGeom>
        </p:spPr>
      </p:pic>
      <p:sp>
        <p:nvSpPr>
          <p:cNvPr id="11" name="矩形 10"/>
          <p:cNvSpPr/>
          <p:nvPr/>
        </p:nvSpPr>
        <p:spPr>
          <a:xfrm>
            <a:off x="1243012" y="589418"/>
            <a:ext cx="4698723" cy="430887"/>
          </a:xfrm>
          <a:prstGeom prst="rect">
            <a:avLst/>
          </a:prstGeom>
        </p:spPr>
        <p:txBody>
          <a:bodyPr wrap="none">
            <a:spAutoFit/>
          </a:bodyPr>
          <a:lstStyle/>
          <a:p>
            <a:pPr algn="ctr"/>
            <a:r>
              <a:rPr lang="zh-CN" altLang="en-US" sz="2200" dirty="0">
                <a:solidFill>
                  <a:schemeClr val="bg1"/>
                </a:solidFill>
                <a:sym typeface="+mn-ea"/>
              </a:rPr>
              <a:t>经典教材《计算机操作系统》</a:t>
            </a:r>
            <a:r>
              <a:rPr lang="zh-CN" altLang="en-US" sz="2200" b="1" dirty="0">
                <a:solidFill>
                  <a:schemeClr val="accent2"/>
                </a:solidFill>
                <a:sym typeface="+mn-ea"/>
              </a:rPr>
              <a:t>最新版</a:t>
            </a:r>
            <a:endParaRPr lang="zh-CN" altLang="en-US" sz="2200" b="1" dirty="0">
              <a:solidFill>
                <a:schemeClr val="accent2"/>
              </a:solidFill>
            </a:endParaRPr>
          </a:p>
        </p:txBody>
      </p:sp>
      <p:sp>
        <p:nvSpPr>
          <p:cNvPr id="17" name="矩形: 圆角 21"/>
          <p:cNvSpPr/>
          <p:nvPr/>
        </p:nvSpPr>
        <p:spPr>
          <a:xfrm>
            <a:off x="610869" y="4545157"/>
            <a:ext cx="4235540"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主讲教师：解春燕</a:t>
            </a:r>
            <a:endParaRPr lang="zh-CN" altLang="en-US" b="1" dirty="0">
              <a:solidFill>
                <a:schemeClr val="tx1"/>
              </a:solidFill>
            </a:endParaRP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9684121" y="5993053"/>
            <a:ext cx="2074491" cy="431799"/>
          </a:xfrm>
          <a:prstGeom prst="rect">
            <a:avLst/>
          </a:prstGeom>
        </p:spPr>
      </p:pic>
      <p:pic>
        <p:nvPicPr>
          <p:cNvPr id="14" name="图片 13"/>
          <p:cNvPicPr>
            <a:picLocks noChangeAspect="1"/>
          </p:cNvPicPr>
          <p:nvPr/>
        </p:nvPicPr>
        <p:blipFill>
          <a:blip r:embed="rId4"/>
          <a:stretch>
            <a:fillRect/>
          </a:stretch>
        </p:blipFill>
        <p:spPr>
          <a:xfrm>
            <a:off x="7055100" y="844791"/>
            <a:ext cx="3007096" cy="426154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2539478" cy="523220"/>
          </a:xfrm>
          <a:prstGeom prst="rect">
            <a:avLst/>
          </a:prstGeom>
        </p:spPr>
        <p:txBody>
          <a:bodyPr wrap="none">
            <a:spAutoFit/>
          </a:bodyPr>
          <a:lstStyle/>
          <a:p>
            <a:r>
              <a:rPr lang="zh-CN" altLang="en-US" sz="2800" b="1" dirty="0">
                <a:solidFill>
                  <a:schemeClr val="bg1"/>
                </a:solidFill>
              </a:rPr>
              <a:t>第</a:t>
            </a:r>
            <a:r>
              <a:rPr lang="en-US" altLang="zh-CN" sz="2800" b="1" dirty="0">
                <a:solidFill>
                  <a:schemeClr val="bg1"/>
                </a:solidFill>
              </a:rPr>
              <a:t>3</a:t>
            </a:r>
            <a:r>
              <a:rPr lang="zh-CN" altLang="en-US" sz="2800" b="1" dirty="0">
                <a:solidFill>
                  <a:schemeClr val="bg1"/>
                </a:solidFill>
              </a:rPr>
              <a:t>章知识导图</a:t>
            </a:r>
            <a:endParaRPr lang="zh-CN" altLang="en-US" sz="2800" b="1" dirty="0">
              <a:solidFill>
                <a:schemeClr val="bg1"/>
              </a:solidFill>
            </a:endParaRPr>
          </a:p>
        </p:txBody>
      </p:sp>
      <p:graphicFrame>
        <p:nvGraphicFramePr>
          <p:cNvPr id="30" name="表格 29"/>
          <p:cNvGraphicFramePr/>
          <p:nvPr>
            <p:custDataLst>
              <p:tags r:id="rId1"/>
            </p:custDataLst>
          </p:nvPr>
        </p:nvGraphicFramePr>
        <p:xfrm>
          <a:off x="462431" y="1634204"/>
          <a:ext cx="4173963" cy="4819650"/>
        </p:xfrm>
        <a:graphic>
          <a:graphicData uri="http://schemas.openxmlformats.org/drawingml/2006/table">
            <a:tbl>
              <a:tblPr firstRow="1" bandRow="1">
                <a:tableStyleId>{72833802-FEF1-4C79-8D5D-14CF1EAF98D9}</a:tableStyleId>
              </a:tblPr>
              <a:tblGrid>
                <a:gridCol w="1221039"/>
                <a:gridCol w="2952924"/>
              </a:tblGrid>
              <a:tr h="399121">
                <a:tc>
                  <a:txBody>
                    <a:bodyPr/>
                    <a:lstStyle/>
                    <a:p>
                      <a:pPr marL="71755" indent="0" algn="ctr" defTabSz="914400" rtl="0" eaLnBrk="1" latinLnBrk="0" hangingPunct="1">
                        <a:lnSpc>
                          <a:spcPct val="100000"/>
                        </a:lnSpc>
                        <a:spcBef>
                          <a:spcPts val="300"/>
                        </a:spcBef>
                        <a:spcAft>
                          <a:spcPts val="300"/>
                        </a:spcAft>
                        <a:buNone/>
                      </a:pPr>
                      <a:r>
                        <a:rPr lang="en-US" sz="2000" b="0" kern="1200" dirty="0">
                          <a:solidFill>
                            <a:schemeClr val="tx1"/>
                          </a:solidFill>
                          <a:latin typeface="微软雅黑 (正文)"/>
                          <a:ea typeface="+mn-ea"/>
                          <a:cs typeface="+mn-cs"/>
                        </a:rPr>
                        <a:t>第1章</a:t>
                      </a:r>
                      <a:endParaRPr lang="en-US" altLang="en-US" sz="2000" b="0" kern="1200" dirty="0">
                        <a:solidFill>
                          <a:schemeClr val="tx1"/>
                        </a:solidFill>
                        <a:latin typeface="微软雅黑 (正文)"/>
                        <a:ea typeface="+mn-ea"/>
                        <a:cs typeface="+mn-cs"/>
                      </a:endParaRPr>
                    </a:p>
                  </a:txBody>
                  <a:tcPr marL="98738" marR="98738" marT="0" marB="0" anchor="ctr">
                    <a:solidFill>
                      <a:schemeClr val="bg1"/>
                    </a:solidFill>
                  </a:tcPr>
                </a:tc>
                <a:tc>
                  <a:txBody>
                    <a:bodyPr/>
                    <a:lstStyle/>
                    <a:p>
                      <a:pPr marL="0" indent="0" algn="l" defTabSz="914400" rtl="0" eaLnBrk="1" latinLnBrk="0" hangingPunct="1">
                        <a:lnSpc>
                          <a:spcPct val="100000"/>
                        </a:lnSpc>
                        <a:spcBef>
                          <a:spcPts val="300"/>
                        </a:spcBef>
                        <a:spcAft>
                          <a:spcPts val="300"/>
                        </a:spcAft>
                        <a:buNone/>
                      </a:pPr>
                      <a:r>
                        <a:rPr lang="en-US" sz="2000" b="0" kern="1200" dirty="0">
                          <a:solidFill>
                            <a:schemeClr val="tx1"/>
                          </a:solidFill>
                          <a:latin typeface="微软雅黑 (正文)"/>
                          <a:ea typeface="+mn-ea"/>
                          <a:cs typeface="+mn-cs"/>
                        </a:rPr>
                        <a:t> </a:t>
                      </a:r>
                      <a:r>
                        <a:rPr lang="en-US" sz="2000" b="0" kern="1200" dirty="0" err="1">
                          <a:solidFill>
                            <a:schemeClr val="tx1"/>
                          </a:solidFill>
                          <a:latin typeface="微软雅黑 (正文)"/>
                          <a:ea typeface="+mn-ea"/>
                          <a:cs typeface="+mn-cs"/>
                        </a:rPr>
                        <a:t>操作系统引论</a:t>
                      </a:r>
                      <a:endParaRPr lang="en-US" altLang="en-US" sz="2000" b="0" kern="1200" dirty="0">
                        <a:solidFill>
                          <a:schemeClr val="tx1"/>
                        </a:solidFill>
                        <a:latin typeface="微软雅黑 (正文)"/>
                        <a:ea typeface="+mn-ea"/>
                        <a:cs typeface="+mn-cs"/>
                      </a:endParaRPr>
                    </a:p>
                  </a:txBody>
                  <a:tcPr marL="98738" marR="98738" marT="0" marB="0" anchor="ctr">
                    <a:solidFill>
                      <a:schemeClr val="bg1"/>
                    </a:solidFill>
                  </a:tcPr>
                </a:tc>
              </a:tr>
              <a:tr h="399121">
                <a:tc>
                  <a:txBody>
                    <a:bodyPr/>
                    <a:lstStyle/>
                    <a:p>
                      <a:pPr marL="71755" indent="0" algn="ctr">
                        <a:lnSpc>
                          <a:spcPct val="100000"/>
                        </a:lnSpc>
                        <a:spcBef>
                          <a:spcPts val="300"/>
                        </a:spcBef>
                        <a:spcAft>
                          <a:spcPts val="300"/>
                        </a:spcAft>
                        <a:buNone/>
                      </a:pPr>
                      <a:r>
                        <a:rPr lang="en-US" sz="2000" dirty="0">
                          <a:latin typeface="微软雅黑 (正文)"/>
                        </a:rPr>
                        <a:t>第2章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b="1" dirty="0">
                          <a:solidFill>
                            <a:schemeClr val="bg1"/>
                          </a:solidFill>
                          <a:latin typeface="微软雅黑 (正文)"/>
                        </a:rPr>
                        <a:t>第3章</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sz="2000" b="1" dirty="0" err="1">
                          <a:solidFill>
                            <a:schemeClr val="bg1"/>
                          </a:solidFill>
                          <a:latin typeface="微软雅黑 (正文)"/>
                        </a:rPr>
                        <a:t>处理机调度与死锁</a:t>
                      </a:r>
                      <a:endParaRPr lang="en-US" altLang="en-US" sz="2000" b="1" dirty="0">
                        <a:solidFill>
                          <a:schemeClr val="bg1"/>
                        </a:solidFill>
                        <a:latin typeface="微软雅黑 (正文)"/>
                        <a:ea typeface="华文楷体" panose="02010600040101010101" charset="-122"/>
                        <a:cs typeface="华文楷体" panose="02010600040101010101" charset="-122"/>
                      </a:endParaRPr>
                    </a:p>
                  </a:txBody>
                  <a:tcPr marL="98738" marR="98738" marT="0" marB="0" anchor="ctr">
                    <a:solidFill>
                      <a:schemeClr val="accent2"/>
                    </a:solidFill>
                  </a:tcPr>
                </a:tc>
              </a:tr>
              <a:tr h="399121">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进程同步</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虚拟存储器</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第7章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输入</a:t>
                      </a:r>
                      <a:r>
                        <a:rPr lang="en-US" sz="2000" dirty="0">
                          <a:latin typeface="微软雅黑 (正文)"/>
                        </a:rPr>
                        <a:t>/</a:t>
                      </a:r>
                      <a:r>
                        <a:rPr lang="en-US" sz="2000" dirty="0" err="1">
                          <a:latin typeface="微软雅黑 (正文)"/>
                        </a:rPr>
                        <a:t>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第8章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文件管理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第9章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磁盘存储器管理</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第10章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多处理机操作系统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429260">
                <a:tc>
                  <a:txBody>
                    <a:bodyPr/>
                    <a:lstStyle/>
                    <a:p>
                      <a:pPr marL="71755" indent="0" algn="ctr">
                        <a:lnSpc>
                          <a:spcPct val="100000"/>
                        </a:lnSpc>
                        <a:spcBef>
                          <a:spcPts val="300"/>
                        </a:spcBef>
                        <a:spcAft>
                          <a:spcPts val="300"/>
                        </a:spcAft>
                        <a:buNone/>
                      </a:pPr>
                      <a:r>
                        <a:rPr lang="en-US" sz="2000">
                          <a:latin typeface="微软雅黑 (正文)"/>
                        </a:rPr>
                        <a:t>第11章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微软雅黑 (正文)"/>
                        </a:rPr>
                        <a:t>虚拟化和云计算</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微软雅黑 (正文)"/>
                        </a:rPr>
                        <a:t>第12章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保护和安全</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r>
            </a:tbl>
          </a:graphicData>
        </a:graphic>
      </p:graphicFrame>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2" name="图片 1" descr="第3章 知识导图"/>
          <p:cNvPicPr>
            <a:picLocks noChangeAspect="1"/>
          </p:cNvPicPr>
          <p:nvPr/>
        </p:nvPicPr>
        <p:blipFill>
          <a:blip r:embed="rId3"/>
          <a:stretch>
            <a:fillRect/>
          </a:stretch>
        </p:blipFill>
        <p:spPr>
          <a:xfrm>
            <a:off x="4679950" y="1733550"/>
            <a:ext cx="7340600" cy="45986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3046988"/>
          </a:xfrm>
          <a:prstGeom prst="rect">
            <a:avLst/>
          </a:prstGeom>
        </p:spPr>
        <p:txBody>
          <a:bodyPr wrap="square">
            <a:spAutoFit/>
          </a:bodyPr>
          <a:lstStyle/>
          <a:p>
            <a:r>
              <a:rPr lang="en-US" altLang="zh-CN" sz="2400" b="1" dirty="0">
                <a:solidFill>
                  <a:srgbClr val="0000FF"/>
                </a:solidFill>
                <a:latin typeface="+mj-ea"/>
                <a:ea typeface="+mj-ea"/>
              </a:rPr>
              <a:t>3.1 </a:t>
            </a:r>
            <a:r>
              <a:rPr lang="zh-CN" altLang="en-US" sz="2400" b="1" dirty="0">
                <a:solidFill>
                  <a:srgbClr val="0000FF"/>
                </a:solidFill>
                <a:latin typeface="+mj-ea"/>
                <a:ea typeface="+mj-ea"/>
              </a:rPr>
              <a:t>处理机调度概述</a:t>
            </a:r>
            <a:endParaRPr lang="zh-CN" altLang="en-US" sz="2400" b="1" dirty="0">
              <a:solidFill>
                <a:srgbClr val="0000FF"/>
              </a:solidFill>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dirty="0">
                <a:latin typeface="+mj-ea"/>
              </a:rPr>
              <a:t>3.2 </a:t>
            </a:r>
            <a:r>
              <a:rPr lang="zh-CN" altLang="en-US" sz="2400" dirty="0">
                <a:latin typeface="+mj-ea"/>
              </a:rPr>
              <a:t>调度算法</a:t>
            </a:r>
            <a:endParaRPr lang="en-US" altLang="zh-CN" sz="2400" dirty="0">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solidFill>
                  <a:schemeClr val="bg1">
                    <a:lumMod val="75000"/>
                  </a:schemeClr>
                </a:solidFill>
                <a:latin typeface="+mj-ea"/>
              </a:rPr>
              <a:t>3.3 </a:t>
            </a:r>
            <a:r>
              <a:rPr lang="zh-CN" altLang="en-US" sz="2400" dirty="0">
                <a:solidFill>
                  <a:schemeClr val="bg1">
                    <a:lumMod val="75000"/>
                  </a:schemeClr>
                </a:solidFill>
                <a:latin typeface="+mj-ea"/>
              </a:rPr>
              <a:t>实时调度</a:t>
            </a:r>
            <a:endParaRPr lang="zh-CN" altLang="en-US" sz="2400" dirty="0">
              <a:solidFill>
                <a:schemeClr val="bg1">
                  <a:lumMod val="75000"/>
                </a:schemeClr>
              </a:solidFill>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dirty="0">
                <a:solidFill>
                  <a:schemeClr val="bg1">
                    <a:lumMod val="65000"/>
                  </a:schemeClr>
                </a:solidFill>
                <a:latin typeface="+mj-ea"/>
              </a:rPr>
              <a:t>3.4 Linux</a:t>
            </a:r>
            <a:r>
              <a:rPr lang="zh-CN" altLang="en-US" sz="2400" dirty="0">
                <a:solidFill>
                  <a:schemeClr val="bg1">
                    <a:lumMod val="65000"/>
                  </a:schemeClr>
                </a:solidFill>
                <a:latin typeface="+mj-ea"/>
              </a:rPr>
              <a:t>进程调度</a:t>
            </a:r>
            <a:endParaRPr lang="zh-CN" altLang="en-US" sz="2400" dirty="0">
              <a:solidFill>
                <a:schemeClr val="bg1">
                  <a:lumMod val="65000"/>
                </a:schemeClr>
              </a:solidFill>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dirty="0">
                <a:latin typeface="+mj-ea"/>
              </a:rPr>
              <a:t>3.5 </a:t>
            </a:r>
            <a:r>
              <a:rPr lang="zh-CN" altLang="en-US" sz="2400" dirty="0">
                <a:latin typeface="+mj-ea"/>
              </a:rPr>
              <a:t>死锁概述</a:t>
            </a:r>
            <a:endParaRPr lang="zh-CN" altLang="en-US" sz="2400" dirty="0">
              <a:latin typeface="+mj-ea"/>
            </a:endParaRPr>
          </a:p>
        </p:txBody>
      </p:sp>
      <p:sp>
        <p:nvSpPr>
          <p:cNvPr id="28" name="矩形 27"/>
          <p:cNvSpPr/>
          <p:nvPr/>
        </p:nvSpPr>
        <p:spPr>
          <a:xfrm>
            <a:off x="1696468" y="4590913"/>
            <a:ext cx="3682151" cy="1200329"/>
          </a:xfrm>
          <a:prstGeom prst="rect">
            <a:avLst/>
          </a:prstGeom>
        </p:spPr>
        <p:txBody>
          <a:bodyPr wrap="square">
            <a:spAutoFit/>
          </a:bodyPr>
          <a:lstStyle/>
          <a:p>
            <a:r>
              <a:rPr lang="en-US" altLang="zh-CN" sz="2400" dirty="0">
                <a:latin typeface="+mj-ea"/>
              </a:rPr>
              <a:t>3.6 </a:t>
            </a:r>
            <a:r>
              <a:rPr lang="zh-CN" altLang="en-US" sz="2400" dirty="0">
                <a:latin typeface="+mj-ea"/>
              </a:rPr>
              <a:t>预防死锁</a:t>
            </a:r>
            <a:endParaRPr lang="zh-CN" altLang="en-US" sz="2400" dirty="0">
              <a:latin typeface="+mj-ea"/>
            </a:endParaRPr>
          </a:p>
        </p:txBody>
      </p:sp>
      <p:sp>
        <p:nvSpPr>
          <p:cNvPr id="29" name="矩形 28"/>
          <p:cNvSpPr/>
          <p:nvPr/>
        </p:nvSpPr>
        <p:spPr>
          <a:xfrm>
            <a:off x="1696469" y="5210038"/>
            <a:ext cx="2866200" cy="461665"/>
          </a:xfrm>
          <a:prstGeom prst="rect">
            <a:avLst/>
          </a:prstGeom>
        </p:spPr>
        <p:txBody>
          <a:bodyPr wrap="square">
            <a:spAutoFit/>
          </a:bodyPr>
          <a:lstStyle/>
          <a:p>
            <a:r>
              <a:rPr lang="en-US" altLang="zh-CN" sz="2400" dirty="0">
                <a:latin typeface="+mj-ea"/>
              </a:rPr>
              <a:t>3.7 </a:t>
            </a:r>
            <a:r>
              <a:rPr lang="zh-CN" altLang="en-US" sz="2400" dirty="0">
                <a:latin typeface="+mj-ea"/>
              </a:rPr>
              <a:t>避免死锁</a:t>
            </a:r>
            <a:endParaRPr lang="zh-CN" altLang="en-US" sz="2400" dirty="0">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3</a:t>
            </a:r>
            <a:r>
              <a:rPr lang="zh-CN" altLang="en-US" sz="3600" dirty="0">
                <a:solidFill>
                  <a:srgbClr val="000000"/>
                </a:solidFill>
              </a:rPr>
              <a:t>章 处理机调度与死锁</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dirty="0">
                <a:latin typeface="+mj-ea"/>
              </a:rPr>
              <a:t>3.8 </a:t>
            </a:r>
            <a:r>
              <a:rPr lang="zh-CN" altLang="en-US" sz="2400" dirty="0">
                <a:latin typeface="+mj-ea"/>
              </a:rPr>
              <a:t>死锁的检测与解除</a:t>
            </a:r>
            <a:endParaRPr lang="zh-CN" altLang="en-US" sz="2400" dirty="0">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处理机调度层次</a:t>
            </a:r>
            <a:endParaRPr lang="zh-CN" altLang="en-US" sz="2800" b="1" dirty="0">
              <a:solidFill>
                <a:schemeClr val="bg1"/>
              </a:solidFill>
            </a:endParaRPr>
          </a:p>
        </p:txBody>
      </p:sp>
      <p:sp>
        <p:nvSpPr>
          <p:cNvPr id="4" name="文本框 3"/>
          <p:cNvSpPr txBox="1"/>
          <p:nvPr>
            <p:custDataLst>
              <p:tags r:id="rId1"/>
            </p:custDataLst>
          </p:nvPr>
        </p:nvSpPr>
        <p:spPr>
          <a:xfrm>
            <a:off x="3353752" y="2070712"/>
            <a:ext cx="7200554" cy="461665"/>
          </a:xfrm>
          <a:prstGeom prst="rect">
            <a:avLst/>
          </a:prstGeom>
          <a:noFill/>
        </p:spPr>
        <p:txBody>
          <a:bodyPr wrap="square" rtlCol="0">
            <a:spAutoFit/>
          </a:bodyPr>
          <a:lstStyle/>
          <a:p>
            <a:r>
              <a:rPr lang="zh-CN" altLang="en-US" sz="2500" dirty="0">
                <a:solidFill>
                  <a:srgbClr val="FF0000"/>
                </a:solidFill>
              </a:rPr>
              <a:t>高级</a:t>
            </a:r>
            <a:r>
              <a:rPr lang="zh-CN" altLang="en-US" sz="2500" dirty="0"/>
              <a:t>调度（长程调度</a:t>
            </a:r>
            <a:r>
              <a:rPr lang="en-US" altLang="zh-CN" sz="2500" dirty="0"/>
              <a:t>/</a:t>
            </a:r>
            <a:r>
              <a:rPr lang="zh-CN" altLang="en-US" sz="2500" dirty="0">
                <a:solidFill>
                  <a:srgbClr val="FF0000"/>
                </a:solidFill>
              </a:rPr>
              <a:t>作业</a:t>
            </a:r>
            <a:r>
              <a:rPr lang="zh-CN" altLang="en-US" sz="2500" dirty="0"/>
              <a:t>调度）</a:t>
            </a:r>
            <a:endParaRPr lang="en-US" altLang="zh-CN" sz="2500" dirty="0"/>
          </a:p>
        </p:txBody>
      </p:sp>
      <p:sp>
        <p:nvSpPr>
          <p:cNvPr id="9" name="文本框 8"/>
          <p:cNvSpPr txBox="1"/>
          <p:nvPr>
            <p:custDataLst>
              <p:tags r:id="rId2"/>
            </p:custDataLst>
          </p:nvPr>
        </p:nvSpPr>
        <p:spPr>
          <a:xfrm>
            <a:off x="3401428" y="4108936"/>
            <a:ext cx="6706041" cy="461665"/>
          </a:xfrm>
          <a:prstGeom prst="rect">
            <a:avLst/>
          </a:prstGeom>
          <a:noFill/>
        </p:spPr>
        <p:txBody>
          <a:bodyPr wrap="square" rtlCol="0">
            <a:spAutoFit/>
          </a:bodyPr>
          <a:lstStyle/>
          <a:p>
            <a:r>
              <a:rPr lang="zh-CN" altLang="en-US" sz="2500" dirty="0">
                <a:solidFill>
                  <a:srgbClr val="00B050"/>
                </a:solidFill>
              </a:rPr>
              <a:t>中级</a:t>
            </a:r>
            <a:r>
              <a:rPr lang="zh-CN" altLang="en-US" sz="2500" dirty="0"/>
              <a:t>调度（中程调度</a:t>
            </a:r>
            <a:r>
              <a:rPr lang="en-US" altLang="zh-CN" sz="2500" dirty="0"/>
              <a:t>/</a:t>
            </a:r>
            <a:r>
              <a:rPr lang="zh-CN" altLang="en-US" sz="2500" dirty="0">
                <a:solidFill>
                  <a:srgbClr val="00B050"/>
                </a:solidFill>
              </a:rPr>
              <a:t>内存</a:t>
            </a:r>
            <a:r>
              <a:rPr lang="zh-CN" altLang="en-US" sz="2500" dirty="0"/>
              <a:t>调度）</a:t>
            </a:r>
            <a:endParaRPr lang="en-US" altLang="zh-CN" sz="2500" dirty="0"/>
          </a:p>
        </p:txBody>
      </p:sp>
      <p:pic>
        <p:nvPicPr>
          <p:cNvPr id="12" name="图片 11"/>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rcRect/>
          <a:stretch>
            <a:fillRect/>
          </a:stretch>
        </p:blipFill>
        <p:spPr>
          <a:xfrm>
            <a:off x="2730643" y="2052165"/>
            <a:ext cx="527050" cy="527050"/>
          </a:xfrm>
          <a:prstGeom prst="rect">
            <a:avLst/>
          </a:prstGeom>
          <a:ln>
            <a:noFill/>
          </a:ln>
          <a:effectLst>
            <a:softEdge rad="0"/>
          </a:effectLst>
        </p:spPr>
      </p:pic>
      <p:pic>
        <p:nvPicPr>
          <p:cNvPr id="13" name="图片 12"/>
          <p:cNvPicPr>
            <a:picLocks noChangeAspect="1"/>
          </p:cNvPicPr>
          <p:nvPr>
            <p:custDataLst>
              <p:tags r:id="rId5"/>
            </p:custDataLst>
          </p:nvPr>
        </p:nvPicPr>
        <p:blipFill>
          <a:blip r:embed="rId4" cstate="print">
            <a:extLst>
              <a:ext uri="{28A0092B-C50C-407E-A947-70E740481C1C}">
                <a14:useLocalDpi xmlns:a14="http://schemas.microsoft.com/office/drawing/2010/main" val="0"/>
              </a:ext>
            </a:extLst>
          </a:blip>
          <a:srcRect/>
          <a:stretch>
            <a:fillRect/>
          </a:stretch>
        </p:blipFill>
        <p:spPr>
          <a:xfrm>
            <a:off x="2726833" y="3065811"/>
            <a:ext cx="527050" cy="527050"/>
          </a:xfrm>
          <a:prstGeom prst="rect">
            <a:avLst/>
          </a:prstGeom>
          <a:ln>
            <a:noFill/>
          </a:ln>
          <a:effectLst>
            <a:softEdge rad="0"/>
          </a:effectLst>
        </p:spPr>
      </p:pic>
      <p:pic>
        <p:nvPicPr>
          <p:cNvPr id="15" name="图片 14"/>
          <p:cNvPicPr>
            <a:picLocks noChangeAspect="1"/>
          </p:cNvPicPr>
          <p:nvPr>
            <p:custDataLst>
              <p:tags r:id="rId6"/>
            </p:custDataLst>
          </p:nvPr>
        </p:nvPicPr>
        <p:blipFill>
          <a:blip r:embed="rId4" cstate="print">
            <a:extLst>
              <a:ext uri="{28A0092B-C50C-407E-A947-70E740481C1C}">
                <a14:useLocalDpi xmlns:a14="http://schemas.microsoft.com/office/drawing/2010/main" val="0"/>
              </a:ext>
            </a:extLst>
          </a:blip>
          <a:srcRect/>
          <a:stretch>
            <a:fillRect/>
          </a:stretch>
        </p:blipFill>
        <p:spPr>
          <a:xfrm>
            <a:off x="2777172" y="4076244"/>
            <a:ext cx="527050" cy="527050"/>
          </a:xfrm>
          <a:prstGeom prst="rect">
            <a:avLst/>
          </a:prstGeom>
          <a:ln>
            <a:noFill/>
          </a:ln>
          <a:effectLst>
            <a:softEdge rad="0"/>
          </a:effectLst>
        </p:spPr>
      </p:pic>
      <p:sp>
        <p:nvSpPr>
          <p:cNvPr id="10" name="文本框 9"/>
          <p:cNvSpPr txBox="1"/>
          <p:nvPr>
            <p:custDataLst>
              <p:tags r:id="rId7"/>
            </p:custDataLst>
          </p:nvPr>
        </p:nvSpPr>
        <p:spPr>
          <a:xfrm>
            <a:off x="3349942" y="3073478"/>
            <a:ext cx="7200554" cy="461665"/>
          </a:xfrm>
          <a:prstGeom prst="rect">
            <a:avLst/>
          </a:prstGeom>
          <a:noFill/>
        </p:spPr>
        <p:txBody>
          <a:bodyPr wrap="square" rtlCol="0">
            <a:spAutoFit/>
          </a:bodyPr>
          <a:lstStyle/>
          <a:p>
            <a:r>
              <a:rPr lang="zh-CN" altLang="en-US" sz="2500" dirty="0">
                <a:solidFill>
                  <a:srgbClr val="0000CC"/>
                </a:solidFill>
              </a:rPr>
              <a:t>低级</a:t>
            </a:r>
            <a:r>
              <a:rPr lang="zh-CN" altLang="en-US" sz="2500" dirty="0"/>
              <a:t>调度（短程调度</a:t>
            </a:r>
            <a:r>
              <a:rPr lang="en-US" altLang="zh-CN" sz="2500" dirty="0"/>
              <a:t>/</a:t>
            </a:r>
            <a:r>
              <a:rPr lang="zh-CN" altLang="en-US" sz="2500" dirty="0">
                <a:solidFill>
                  <a:srgbClr val="0000CC"/>
                </a:solidFill>
              </a:rPr>
              <a:t>进程</a:t>
            </a:r>
            <a:r>
              <a:rPr lang="zh-CN" altLang="en-US" sz="2500" dirty="0"/>
              <a:t>调度）</a:t>
            </a:r>
            <a:endParaRPr lang="en-US" altLang="zh-CN" sz="2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高级调度</a:t>
            </a:r>
            <a:endParaRPr lang="zh-CN" altLang="en-US" sz="2800" b="1" dirty="0">
              <a:solidFill>
                <a:schemeClr val="bg1"/>
              </a:solidFill>
            </a:endParaRPr>
          </a:p>
        </p:txBody>
      </p:sp>
      <p:sp>
        <p:nvSpPr>
          <p:cNvPr id="40" name="ïşľîďè"/>
          <p:cNvSpPr/>
          <p:nvPr/>
        </p:nvSpPr>
        <p:spPr>
          <a:xfrm>
            <a:off x="-788524" y="1134122"/>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41" name="îŝļiḋe"/>
          <p:cNvSpPr/>
          <p:nvPr/>
        </p:nvSpPr>
        <p:spPr>
          <a:xfrm>
            <a:off x="3224183" y="113412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42" name="í$1iďè"/>
          <p:cNvGrpSpPr/>
          <p:nvPr/>
        </p:nvGrpSpPr>
        <p:grpSpPr>
          <a:xfrm>
            <a:off x="3347836" y="1412504"/>
            <a:ext cx="7381904" cy="1002148"/>
            <a:chOff x="4136995" y="1408047"/>
            <a:chExt cx="7381904" cy="1002148"/>
          </a:xfrm>
        </p:grpSpPr>
        <p:sp>
          <p:nvSpPr>
            <p:cNvPr id="43"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4" name="ïSḻiḍé"/>
            <p:cNvSpPr txBox="1"/>
            <p:nvPr/>
          </p:nvSpPr>
          <p:spPr>
            <a:xfrm>
              <a:off x="4882718" y="1408047"/>
              <a:ext cx="6636181" cy="1002148"/>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r>
                <a:rPr lang="zh-CN" altLang="en-US" sz="2400" dirty="0"/>
                <a:t>调度对象：</a:t>
              </a:r>
              <a:r>
                <a:rPr lang="zh-CN" altLang="en-US" sz="2400" dirty="0">
                  <a:solidFill>
                    <a:srgbClr val="FF0000"/>
                  </a:solidFill>
                </a:rPr>
                <a:t>作业</a:t>
              </a:r>
              <a:endParaRPr lang="en-US" altLang="zh-CN" sz="2400" dirty="0"/>
            </a:p>
          </p:txBody>
        </p:sp>
      </p:grpSp>
      <p:grpSp>
        <p:nvGrpSpPr>
          <p:cNvPr id="45" name="išḷîḓé"/>
          <p:cNvGrpSpPr/>
          <p:nvPr/>
        </p:nvGrpSpPr>
        <p:grpSpPr>
          <a:xfrm>
            <a:off x="3357880" y="2792730"/>
            <a:ext cx="8378825" cy="721360"/>
            <a:chOff x="4136995" y="3233565"/>
            <a:chExt cx="8378932" cy="580972"/>
          </a:xfrm>
        </p:grpSpPr>
        <p:sp>
          <p:nvSpPr>
            <p:cNvPr id="46"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7" name="îŝľîḓè"/>
            <p:cNvSpPr txBox="1"/>
            <p:nvPr/>
          </p:nvSpPr>
          <p:spPr>
            <a:xfrm>
              <a:off x="4882495" y="3233565"/>
              <a:ext cx="7633432" cy="580972"/>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t>根据某种算法，决定将</a:t>
              </a:r>
              <a:r>
                <a:rPr lang="zh-CN" altLang="en-US" sz="2400" b="1" dirty="0">
                  <a:solidFill>
                    <a:srgbClr val="FF0000"/>
                  </a:solidFill>
                </a:rPr>
                <a:t>外存</a:t>
              </a:r>
              <a:r>
                <a:rPr lang="zh-CN" altLang="en-US" sz="2400" dirty="0"/>
                <a:t>上处于</a:t>
              </a:r>
              <a:r>
                <a:rPr lang="zh-CN" altLang="en-US" sz="2400" dirty="0">
                  <a:solidFill>
                    <a:schemeClr val="accent4">
                      <a:lumMod val="60000"/>
                      <a:lumOff val="40000"/>
                    </a:schemeClr>
                  </a:solidFill>
                </a:rPr>
                <a:t>后备队列</a:t>
              </a:r>
              <a:r>
                <a:rPr lang="zh-CN" altLang="en-US" sz="2400" dirty="0"/>
                <a:t>中的作业调入</a:t>
              </a:r>
              <a:r>
                <a:rPr lang="zh-CN" altLang="en-US" sz="2400" b="1" dirty="0">
                  <a:solidFill>
                    <a:srgbClr val="FF0000"/>
                  </a:solidFill>
                </a:rPr>
                <a:t>内存</a:t>
              </a:r>
              <a:r>
                <a:rPr lang="zh-CN" altLang="en-US" sz="2400" dirty="0"/>
                <a:t>，</a:t>
              </a:r>
              <a:r>
                <a:rPr lang="zh-CN" altLang="zh-CN" sz="2400" dirty="0"/>
                <a:t>并为它们创建进程和分配必要的资源。然后，将新创建的进程排在</a:t>
              </a:r>
              <a:r>
                <a:rPr lang="zh-CN" altLang="zh-CN" sz="2400" dirty="0">
                  <a:solidFill>
                    <a:schemeClr val="accent4">
                      <a:lumMod val="60000"/>
                      <a:lumOff val="40000"/>
                    </a:schemeClr>
                  </a:solidFill>
                </a:rPr>
                <a:t>就绪队列</a:t>
              </a:r>
              <a:r>
                <a:rPr lang="zh-CN" altLang="zh-CN" sz="2400" dirty="0"/>
                <a:t>上等待调度。</a:t>
              </a:r>
              <a:endParaRPr lang="zh-CN" altLang="en-US" sz="2400" dirty="0">
                <a:solidFill>
                  <a:srgbClr val="FF0000"/>
                </a:solidFill>
              </a:endParaRPr>
            </a:p>
          </p:txBody>
        </p:sp>
      </p:grpSp>
      <p:grpSp>
        <p:nvGrpSpPr>
          <p:cNvPr id="48" name="ïSlíḍê"/>
          <p:cNvGrpSpPr/>
          <p:nvPr/>
        </p:nvGrpSpPr>
        <p:grpSpPr>
          <a:xfrm>
            <a:off x="3348471" y="4371764"/>
            <a:ext cx="8378931" cy="1311067"/>
            <a:chOff x="4136995" y="4714289"/>
            <a:chExt cx="8378931" cy="1311067"/>
          </a:xfrm>
        </p:grpSpPr>
        <p:sp>
          <p:nvSpPr>
            <p:cNvPr id="49"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50" name="íṧļîḋê"/>
            <p:cNvSpPr txBox="1"/>
            <p:nvPr/>
          </p:nvSpPr>
          <p:spPr>
            <a:xfrm>
              <a:off x="4882717" y="4714289"/>
              <a:ext cx="7633209"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indent="-342900">
                <a:buFont typeface="Wingdings" panose="05000000000000000000" charset="0"/>
                <a:buChar char="Ø"/>
                <a:defRPr/>
              </a:pPr>
              <a:r>
                <a:rPr lang="zh-CN" altLang="en-US" sz="2400" dirty="0"/>
                <a:t>主要用于多道批处理系统中</a:t>
              </a:r>
              <a:endParaRPr lang="zh-CN" altLang="en-US" sz="2400" dirty="0"/>
            </a:p>
            <a:p>
              <a:pPr marL="342900" indent="-342900">
                <a:buFont typeface="Wingdings" panose="05000000000000000000" charset="0"/>
                <a:buChar char="Ø"/>
                <a:defRPr/>
              </a:pPr>
              <a:r>
                <a:rPr lang="zh-CN" altLang="en-US" sz="2400" dirty="0"/>
                <a:t>分时和实时系统为及时响应，命令或数据直接进入内存，不需要作业调度</a:t>
              </a:r>
              <a:endParaRPr lang="zh-CN" altLang="en-US" sz="24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低级调度</a:t>
            </a:r>
            <a:endParaRPr lang="zh-CN" altLang="en-US" sz="2800" b="1" dirty="0">
              <a:solidFill>
                <a:schemeClr val="bg1"/>
              </a:solidFill>
            </a:endParaRPr>
          </a:p>
        </p:txBody>
      </p:sp>
      <p:sp>
        <p:nvSpPr>
          <p:cNvPr id="221" name="i$lîďê"/>
          <p:cNvSpPr/>
          <p:nvPr/>
        </p:nvSpPr>
        <p:spPr>
          <a:xfrm>
            <a:off x="2485983" y="2986584"/>
            <a:ext cx="8833046" cy="392877"/>
          </a:xfrm>
          <a:prstGeom prst="rect">
            <a:avLst/>
          </a:prstGeom>
          <a:noFill/>
          <a:ln>
            <a:noFill/>
          </a:ln>
        </p:spPr>
        <p:txBody>
          <a:bodyPr wrap="square" lIns="91440" tIns="45720" rIns="91440" bIns="45720" anchor="ctr" anchorCtr="0">
            <a:noAutofit/>
          </a:bodyPr>
          <a:lstStyle/>
          <a:p>
            <a:pPr>
              <a:defRPr/>
            </a:pPr>
            <a:endParaRPr lang="en-US" altLang="zh-CN" sz="2400" dirty="0"/>
          </a:p>
        </p:txBody>
      </p:sp>
      <p:sp>
        <p:nvSpPr>
          <p:cNvPr id="223" name="ïṧḷïḋè"/>
          <p:cNvSpPr/>
          <p:nvPr/>
        </p:nvSpPr>
        <p:spPr>
          <a:xfrm>
            <a:off x="1218493" y="3900904"/>
            <a:ext cx="6063290" cy="415102"/>
          </a:xfrm>
          <a:prstGeom prst="rect">
            <a:avLst/>
          </a:prstGeom>
          <a:noFill/>
          <a:ln>
            <a:noFill/>
          </a:ln>
        </p:spPr>
        <p:txBody>
          <a:bodyPr wrap="square" lIns="91440" tIns="45720" rIns="91440" bIns="45720" anchor="ctr" anchorCtr="0">
            <a:noAutofit/>
          </a:bodyPr>
          <a:lstStyle/>
          <a:p>
            <a:r>
              <a:rPr lang="zh-CN" altLang="en-US" sz="2400" dirty="0"/>
              <a:t>应用在于多道批处理、分时和实时</a:t>
            </a:r>
            <a:r>
              <a:rPr lang="en-US" altLang="zh-CN" sz="2400" dirty="0"/>
              <a:t>OS</a:t>
            </a:r>
            <a:endParaRPr lang="zh-CN" altLang="en-US" sz="2400" dirty="0"/>
          </a:p>
        </p:txBody>
      </p:sp>
      <p:sp>
        <p:nvSpPr>
          <p:cNvPr id="225" name="íšḻíḑê"/>
          <p:cNvSpPr/>
          <p:nvPr/>
        </p:nvSpPr>
        <p:spPr>
          <a:xfrm>
            <a:off x="1261215" y="1323502"/>
            <a:ext cx="7927445" cy="405747"/>
          </a:xfrm>
          <a:prstGeom prst="rect">
            <a:avLst/>
          </a:prstGeom>
          <a:noFill/>
          <a:ln>
            <a:noFill/>
          </a:ln>
        </p:spPr>
        <p:txBody>
          <a:bodyPr wrap="square" lIns="91440" tIns="45720" rIns="91440" bIns="45720" anchor="ctr" anchorCtr="0">
            <a:noAutofit/>
          </a:bodyPr>
          <a:lstStyle/>
          <a:p>
            <a:r>
              <a:rPr lang="zh-CN" altLang="en-US" sz="2400" dirty="0"/>
              <a:t>调度对象：</a:t>
            </a:r>
            <a:r>
              <a:rPr lang="zh-CN" altLang="en-US" sz="2400" dirty="0">
                <a:solidFill>
                  <a:srgbClr val="FF0000"/>
                </a:solidFill>
              </a:rPr>
              <a:t>进程</a:t>
            </a:r>
            <a:endParaRPr lang="en-US" altLang="zh-CN" sz="2400" dirty="0"/>
          </a:p>
        </p:txBody>
      </p:sp>
      <p:sp>
        <p:nvSpPr>
          <p:cNvPr id="226" name="îSļiḓè"/>
          <p:cNvSpPr/>
          <p:nvPr/>
        </p:nvSpPr>
        <p:spPr>
          <a:xfrm>
            <a:off x="387458" y="1190973"/>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7" name="íṥḻîḓe"/>
          <p:cNvSpPr/>
          <p:nvPr/>
        </p:nvSpPr>
        <p:spPr>
          <a:xfrm>
            <a:off x="371433" y="3794522"/>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8" name="îşļiḓè"/>
          <p:cNvSpPr/>
          <p:nvPr/>
        </p:nvSpPr>
        <p:spPr>
          <a:xfrm>
            <a:off x="302611" y="2481546"/>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577713" y="1387111"/>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492865" y="2703563"/>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1" name="ïśḷïḓe"/>
          <p:cNvSpPr/>
          <p:nvPr/>
        </p:nvSpPr>
        <p:spPr>
          <a:xfrm>
            <a:off x="590626" y="3983982"/>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19" name="文本框 18"/>
          <p:cNvSpPr txBox="1"/>
          <p:nvPr/>
        </p:nvSpPr>
        <p:spPr>
          <a:xfrm>
            <a:off x="1120732" y="2564646"/>
            <a:ext cx="8833045" cy="460375"/>
          </a:xfrm>
          <a:prstGeom prst="rect">
            <a:avLst/>
          </a:prstGeom>
          <a:noFill/>
        </p:spPr>
        <p:txBody>
          <a:bodyPr wrap="square">
            <a:spAutoFit/>
          </a:bodyPr>
          <a:lstStyle/>
          <a:p>
            <a:r>
              <a:rPr lang="zh-CN" altLang="en-US" sz="2400" dirty="0"/>
              <a:t>根据某种调度算法，决定就绪队列中的哪个进程获得处理机</a:t>
            </a:r>
            <a:endParaRPr lang="en-US" altLang="zh-CN" sz="2400" dirty="0"/>
          </a:p>
        </p:txBody>
      </p:sp>
      <p:grpSp>
        <p:nvGrpSpPr>
          <p:cNvPr id="23" name="组合 22"/>
          <p:cNvGrpSpPr/>
          <p:nvPr/>
        </p:nvGrpSpPr>
        <p:grpSpPr>
          <a:xfrm>
            <a:off x="6844030" y="3663950"/>
            <a:ext cx="4878070" cy="2124710"/>
            <a:chOff x="10772" y="6163"/>
            <a:chExt cx="7682" cy="3346"/>
          </a:xfrm>
        </p:grpSpPr>
        <p:grpSp>
          <p:nvGrpSpPr>
            <p:cNvPr id="24" name="组合 32"/>
            <p:cNvGrpSpPr/>
            <p:nvPr>
              <p:custDataLst>
                <p:tags r:id="rId1"/>
              </p:custDataLst>
            </p:nvPr>
          </p:nvGrpSpPr>
          <p:grpSpPr bwMode="auto">
            <a:xfrm>
              <a:off x="10772" y="6163"/>
              <a:ext cx="7683" cy="3346"/>
              <a:chOff x="1643042" y="3074590"/>
              <a:chExt cx="5034255" cy="3107628"/>
            </a:xfrm>
          </p:grpSpPr>
          <p:sp>
            <p:nvSpPr>
              <p:cNvPr id="25" name="Oval 6"/>
              <p:cNvSpPr>
                <a:spLocks noChangeArrowheads="1"/>
              </p:cNvSpPr>
              <p:nvPr>
                <p:custDataLst>
                  <p:tags r:id="rId2"/>
                </p:custDataLst>
              </p:nvPr>
            </p:nvSpPr>
            <p:spPr bwMode="auto">
              <a:xfrm>
                <a:off x="3428249" y="3286124"/>
                <a:ext cx="786561" cy="719691"/>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000">
                    <a:solidFill>
                      <a:schemeClr val="bg1"/>
                    </a:solidFill>
                  </a:rPr>
                  <a:t>就绪</a:t>
                </a:r>
                <a:endParaRPr lang="zh-CN" altLang="en-US" sz="2000">
                  <a:solidFill>
                    <a:schemeClr val="bg1"/>
                  </a:solidFill>
                </a:endParaRPr>
              </a:p>
            </p:txBody>
          </p:sp>
          <p:sp>
            <p:nvSpPr>
              <p:cNvPr id="39" name="Oval 6"/>
              <p:cNvSpPr>
                <a:spLocks noChangeArrowheads="1"/>
              </p:cNvSpPr>
              <p:nvPr>
                <p:custDataLst>
                  <p:tags r:id="rId3"/>
                </p:custDataLst>
              </p:nvPr>
            </p:nvSpPr>
            <p:spPr bwMode="auto">
              <a:xfrm>
                <a:off x="1643042" y="3286124"/>
                <a:ext cx="786560" cy="715234"/>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000" dirty="0">
                    <a:solidFill>
                      <a:schemeClr val="bg1"/>
                    </a:solidFill>
                  </a:rPr>
                  <a:t>创建</a:t>
                </a:r>
                <a:endParaRPr lang="zh-CN" altLang="en-US" sz="2000" dirty="0">
                  <a:solidFill>
                    <a:schemeClr val="bg1"/>
                  </a:solidFill>
                </a:endParaRPr>
              </a:p>
            </p:txBody>
          </p:sp>
          <p:sp>
            <p:nvSpPr>
              <p:cNvPr id="44" name="Oval 7"/>
              <p:cNvSpPr>
                <a:spLocks noChangeArrowheads="1"/>
              </p:cNvSpPr>
              <p:nvPr>
                <p:custDataLst>
                  <p:tags r:id="rId4"/>
                </p:custDataLst>
              </p:nvPr>
            </p:nvSpPr>
            <p:spPr bwMode="auto">
              <a:xfrm>
                <a:off x="5001369" y="5213470"/>
                <a:ext cx="784890" cy="786537"/>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000" dirty="0">
                    <a:solidFill>
                      <a:schemeClr val="bg1"/>
                    </a:solidFill>
                  </a:rPr>
                  <a:t>执行</a:t>
                </a:r>
                <a:endParaRPr lang="zh-CN" altLang="en-US" sz="2000" dirty="0">
                  <a:solidFill>
                    <a:schemeClr val="bg1"/>
                  </a:solidFill>
                </a:endParaRPr>
              </a:p>
            </p:txBody>
          </p:sp>
          <p:sp>
            <p:nvSpPr>
              <p:cNvPr id="45" name="Oval 8"/>
              <p:cNvSpPr>
                <a:spLocks noChangeArrowheads="1"/>
              </p:cNvSpPr>
              <p:nvPr>
                <p:custDataLst>
                  <p:tags r:id="rId5"/>
                </p:custDataLst>
              </p:nvPr>
            </p:nvSpPr>
            <p:spPr bwMode="auto">
              <a:xfrm>
                <a:off x="1928608" y="5213470"/>
                <a:ext cx="769861" cy="715236"/>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000" dirty="0">
                    <a:solidFill>
                      <a:schemeClr val="bg1"/>
                    </a:solidFill>
                  </a:rPr>
                  <a:t>阻塞</a:t>
                </a:r>
                <a:endParaRPr lang="zh-CN" altLang="en-US" sz="2000" dirty="0">
                  <a:solidFill>
                    <a:schemeClr val="bg1"/>
                  </a:solidFill>
                </a:endParaRPr>
              </a:p>
            </p:txBody>
          </p:sp>
          <p:sp>
            <p:nvSpPr>
              <p:cNvPr id="46" name="Line 9"/>
              <p:cNvSpPr>
                <a:spLocks noChangeShapeType="1"/>
              </p:cNvSpPr>
              <p:nvPr>
                <p:custDataLst>
                  <p:tags r:id="rId6"/>
                </p:custDataLst>
              </p:nvPr>
            </p:nvSpPr>
            <p:spPr bwMode="auto">
              <a:xfrm flipH="1" flipV="1">
                <a:off x="4214810" y="3786190"/>
                <a:ext cx="1214444" cy="142876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47" name="Line 10"/>
              <p:cNvSpPr>
                <a:spLocks noChangeShapeType="1"/>
              </p:cNvSpPr>
              <p:nvPr>
                <p:custDataLst>
                  <p:tags r:id="rId7"/>
                </p:custDataLst>
              </p:nvPr>
            </p:nvSpPr>
            <p:spPr bwMode="auto">
              <a:xfrm>
                <a:off x="4000497" y="4000503"/>
                <a:ext cx="1071012" cy="131808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48" name="Line 11"/>
              <p:cNvSpPr>
                <a:spLocks noChangeShapeType="1"/>
              </p:cNvSpPr>
              <p:nvPr>
                <p:custDataLst>
                  <p:tags r:id="rId8"/>
                </p:custDataLst>
              </p:nvPr>
            </p:nvSpPr>
            <p:spPr bwMode="auto">
              <a:xfrm flipV="1">
                <a:off x="2485266" y="3857628"/>
                <a:ext cx="1015164" cy="135355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49" name="Line 12"/>
              <p:cNvSpPr>
                <a:spLocks noChangeShapeType="1"/>
              </p:cNvSpPr>
              <p:nvPr>
                <p:custDataLst>
                  <p:tags r:id="rId9"/>
                </p:custDataLst>
              </p:nvPr>
            </p:nvSpPr>
            <p:spPr bwMode="auto">
              <a:xfrm flipH="1" flipV="1">
                <a:off x="2698469" y="5558620"/>
                <a:ext cx="2302899" cy="9815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50" name="TextBox 11"/>
              <p:cNvSpPr txBox="1">
                <a:spLocks noChangeArrowheads="1"/>
              </p:cNvSpPr>
              <p:nvPr>
                <p:custDataLst>
                  <p:tags r:id="rId10"/>
                </p:custDataLst>
              </p:nvPr>
            </p:nvSpPr>
            <p:spPr bwMode="auto">
              <a:xfrm rot="18983600">
                <a:off x="2163233" y="4220524"/>
                <a:ext cx="1098184" cy="53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en-US" altLang="zh-CN" sz="1800" dirty="0">
                    <a:latin typeface="+mn-ea"/>
                    <a:ea typeface="+mn-ea"/>
                  </a:rPr>
                  <a:t>I/O</a:t>
                </a:r>
                <a:r>
                  <a:rPr lang="zh-CN" altLang="en-US" sz="1800" dirty="0">
                    <a:latin typeface="+mn-ea"/>
                    <a:ea typeface="+mn-ea"/>
                  </a:rPr>
                  <a:t>完成</a:t>
                </a:r>
                <a:endParaRPr lang="zh-CN" altLang="en-US" sz="1800" dirty="0">
                  <a:latin typeface="+mn-ea"/>
                  <a:ea typeface="+mn-ea"/>
                </a:endParaRPr>
              </a:p>
            </p:txBody>
          </p:sp>
          <p:sp>
            <p:nvSpPr>
              <p:cNvPr id="51" name="TextBox 12"/>
              <p:cNvSpPr txBox="1">
                <a:spLocks noChangeArrowheads="1"/>
              </p:cNvSpPr>
              <p:nvPr>
                <p:custDataLst>
                  <p:tags r:id="rId11"/>
                </p:custDataLst>
              </p:nvPr>
            </p:nvSpPr>
            <p:spPr bwMode="auto">
              <a:xfrm>
                <a:off x="3286116" y="5643578"/>
                <a:ext cx="1214446" cy="53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en-US" altLang="zh-CN" sz="1800" dirty="0">
                    <a:latin typeface="+mn-ea"/>
                    <a:ea typeface="+mn-ea"/>
                  </a:rPr>
                  <a:t>I/O</a:t>
                </a:r>
                <a:r>
                  <a:rPr lang="zh-CN" altLang="en-US" sz="1800" dirty="0">
                    <a:latin typeface="+mn-ea"/>
                    <a:ea typeface="+mn-ea"/>
                  </a:rPr>
                  <a:t>请求</a:t>
                </a:r>
                <a:endParaRPr lang="zh-CN" altLang="en-US" sz="1800" dirty="0">
                  <a:latin typeface="+mn-ea"/>
                  <a:ea typeface="+mn-ea"/>
                </a:endParaRPr>
              </a:p>
            </p:txBody>
          </p:sp>
          <p:sp>
            <p:nvSpPr>
              <p:cNvPr id="52" name="TextBox 13"/>
              <p:cNvSpPr txBox="1">
                <a:spLocks noChangeArrowheads="1"/>
              </p:cNvSpPr>
              <p:nvPr>
                <p:custDataLst>
                  <p:tags r:id="rId12"/>
                </p:custDataLst>
              </p:nvPr>
            </p:nvSpPr>
            <p:spPr bwMode="auto">
              <a:xfrm rot="2764970">
                <a:off x="3436927" y="4678031"/>
                <a:ext cx="1632476" cy="380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1800" dirty="0">
                    <a:latin typeface="+mn-ea"/>
                    <a:ea typeface="+mn-ea"/>
                  </a:rPr>
                  <a:t>进程调度</a:t>
                </a:r>
                <a:endParaRPr lang="zh-CN" altLang="en-US" sz="1800" dirty="0">
                  <a:latin typeface="+mn-ea"/>
                  <a:ea typeface="+mn-ea"/>
                </a:endParaRPr>
              </a:p>
            </p:txBody>
          </p:sp>
          <p:sp>
            <p:nvSpPr>
              <p:cNvPr id="53" name="TextBox 14"/>
              <p:cNvSpPr txBox="1">
                <a:spLocks noChangeArrowheads="1"/>
              </p:cNvSpPr>
              <p:nvPr>
                <p:custDataLst>
                  <p:tags r:id="rId13"/>
                </p:custDataLst>
              </p:nvPr>
            </p:nvSpPr>
            <p:spPr bwMode="auto">
              <a:xfrm rot="2446282">
                <a:off x="4360697" y="4046014"/>
                <a:ext cx="1276793" cy="53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1800">
                    <a:latin typeface="+mn-ea"/>
                    <a:ea typeface="+mn-ea"/>
                  </a:rPr>
                  <a:t>时间片完</a:t>
                </a:r>
                <a:endParaRPr lang="zh-CN" altLang="en-US" sz="1800">
                  <a:latin typeface="+mn-ea"/>
                  <a:ea typeface="+mn-ea"/>
                </a:endParaRPr>
              </a:p>
            </p:txBody>
          </p:sp>
          <p:cxnSp>
            <p:nvCxnSpPr>
              <p:cNvPr id="54" name="直接箭头连接符 53"/>
              <p:cNvCxnSpPr>
                <a:stCxn id="44" idx="6"/>
                <a:endCxn id="55" idx="2"/>
              </p:cNvCxnSpPr>
              <p:nvPr>
                <p:custDataLst>
                  <p:tags r:id="rId14"/>
                </p:custDataLst>
              </p:nvPr>
            </p:nvCxnSpPr>
            <p:spPr>
              <a:xfrm flipV="1">
                <a:off x="5786259" y="4960371"/>
                <a:ext cx="104839" cy="64636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5" name="Oval 6"/>
              <p:cNvSpPr>
                <a:spLocks noChangeArrowheads="1"/>
              </p:cNvSpPr>
              <p:nvPr>
                <p:custDataLst>
                  <p:tags r:id="rId15"/>
                </p:custDataLst>
              </p:nvPr>
            </p:nvSpPr>
            <p:spPr bwMode="auto">
              <a:xfrm>
                <a:off x="5890737" y="4603321"/>
                <a:ext cx="786560" cy="715236"/>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000" dirty="0">
                    <a:solidFill>
                      <a:schemeClr val="bg1"/>
                    </a:solidFill>
                  </a:rPr>
                  <a:t>终止</a:t>
                </a:r>
                <a:endParaRPr lang="zh-CN" altLang="en-US" sz="2000" dirty="0">
                  <a:solidFill>
                    <a:schemeClr val="bg1"/>
                  </a:solidFill>
                </a:endParaRPr>
              </a:p>
            </p:txBody>
          </p:sp>
          <p:cxnSp>
            <p:nvCxnSpPr>
              <p:cNvPr id="56" name="直接箭头连接符 55"/>
              <p:cNvCxnSpPr>
                <a:stCxn id="39" idx="6"/>
                <a:endCxn id="25" idx="2"/>
              </p:cNvCxnSpPr>
              <p:nvPr>
                <p:custDataLst>
                  <p:tags r:id="rId16"/>
                </p:custDataLst>
              </p:nvPr>
            </p:nvCxnSpPr>
            <p:spPr>
              <a:xfrm>
                <a:off x="2429602" y="3642627"/>
                <a:ext cx="998647" cy="222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7" name="TextBox 25"/>
              <p:cNvSpPr txBox="1">
                <a:spLocks noChangeArrowheads="1"/>
              </p:cNvSpPr>
              <p:nvPr>
                <p:custDataLst>
                  <p:tags r:id="rId17"/>
                </p:custDataLst>
              </p:nvPr>
            </p:nvSpPr>
            <p:spPr bwMode="auto">
              <a:xfrm>
                <a:off x="2560834" y="3074590"/>
                <a:ext cx="714380" cy="53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1800">
                    <a:latin typeface="+mn-ea"/>
                    <a:ea typeface="+mn-ea"/>
                  </a:rPr>
                  <a:t>许可</a:t>
                </a:r>
                <a:endParaRPr lang="zh-CN" altLang="en-US" sz="1800">
                  <a:latin typeface="+mn-ea"/>
                  <a:ea typeface="+mn-ea"/>
                </a:endParaRPr>
              </a:p>
            </p:txBody>
          </p:sp>
        </p:grpSp>
        <p:sp>
          <p:nvSpPr>
            <p:cNvPr id="58" name="TextBox 14"/>
            <p:cNvSpPr txBox="1">
              <a:spLocks noChangeArrowheads="1"/>
            </p:cNvSpPr>
            <p:nvPr>
              <p:custDataLst>
                <p:tags r:id="rId18"/>
              </p:custDataLst>
            </p:nvPr>
          </p:nvSpPr>
          <p:spPr bwMode="auto">
            <a:xfrm rot="2446282">
              <a:off x="14863" y="6853"/>
              <a:ext cx="2544"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1800">
                  <a:latin typeface="+mn-ea"/>
                  <a:ea typeface="+mn-ea"/>
                </a:rPr>
                <a:t>高优先级占用</a:t>
              </a:r>
              <a:endParaRPr lang="zh-CN" altLang="en-US" sz="1800">
                <a:latin typeface="+mn-ea"/>
                <a:ea typeface="+mn-ea"/>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187450" y="982980"/>
            <a:ext cx="10221595" cy="807720"/>
          </a:xfrm>
          <a:prstGeom prst="rect">
            <a:avLst/>
          </a:prstGeom>
        </p:spPr>
        <p:txBody>
          <a:bodyPr>
            <a:noAutofit/>
          </a:bodyPr>
          <a:p>
            <a:r>
              <a:rPr lang="zh-CN" altLang="en-US" sz="2800"/>
              <a:t>（考研真题）简述引起进程调度的原因。 课后习题</a:t>
            </a:r>
            <a:r>
              <a:rPr lang="en-US" altLang="zh-CN" sz="2800"/>
              <a:t>6</a:t>
            </a:r>
            <a:endParaRPr lang="zh-CN" altLang="en-US" sz="2800"/>
          </a:p>
          <a:p>
            <a:endParaRPr lang="zh-CN" altLang="en-US" sz="2800"/>
          </a:p>
          <a:p>
            <a:endParaRPr lang="zh-CN" altLang="en-US" sz="2800"/>
          </a:p>
        </p:txBody>
      </p:sp>
      <p:grpSp>
        <p:nvGrpSpPr>
          <p:cNvPr id="4" name="组合 3"/>
          <p:cNvGrpSpPr/>
          <p:nvPr/>
        </p:nvGrpSpPr>
        <p:grpSpPr>
          <a:xfrm>
            <a:off x="7011035" y="1734185"/>
            <a:ext cx="4878070" cy="2124710"/>
            <a:chOff x="10772" y="6163"/>
            <a:chExt cx="7682" cy="3346"/>
          </a:xfrm>
        </p:grpSpPr>
        <p:grpSp>
          <p:nvGrpSpPr>
            <p:cNvPr id="26" name="组合 32"/>
            <p:cNvGrpSpPr/>
            <p:nvPr>
              <p:custDataLst>
                <p:tags r:id="rId1"/>
              </p:custDataLst>
            </p:nvPr>
          </p:nvGrpSpPr>
          <p:grpSpPr bwMode="auto">
            <a:xfrm>
              <a:off x="10772" y="6163"/>
              <a:ext cx="7683" cy="3346"/>
              <a:chOff x="1643042" y="3074590"/>
              <a:chExt cx="5034255" cy="3107628"/>
            </a:xfrm>
          </p:grpSpPr>
          <p:sp>
            <p:nvSpPr>
              <p:cNvPr id="27" name="Oval 6"/>
              <p:cNvSpPr>
                <a:spLocks noChangeArrowheads="1"/>
              </p:cNvSpPr>
              <p:nvPr>
                <p:custDataLst>
                  <p:tags r:id="rId2"/>
                </p:custDataLst>
              </p:nvPr>
            </p:nvSpPr>
            <p:spPr bwMode="auto">
              <a:xfrm>
                <a:off x="3428249" y="3286124"/>
                <a:ext cx="786561" cy="719691"/>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000">
                    <a:solidFill>
                      <a:schemeClr val="bg1"/>
                    </a:solidFill>
                  </a:rPr>
                  <a:t>就绪</a:t>
                </a:r>
                <a:endParaRPr lang="zh-CN" altLang="en-US" sz="2000">
                  <a:solidFill>
                    <a:schemeClr val="bg1"/>
                  </a:solidFill>
                </a:endParaRPr>
              </a:p>
            </p:txBody>
          </p:sp>
          <p:sp>
            <p:nvSpPr>
              <p:cNvPr id="28" name="Oval 6"/>
              <p:cNvSpPr>
                <a:spLocks noChangeArrowheads="1"/>
              </p:cNvSpPr>
              <p:nvPr>
                <p:custDataLst>
                  <p:tags r:id="rId3"/>
                </p:custDataLst>
              </p:nvPr>
            </p:nvSpPr>
            <p:spPr bwMode="auto">
              <a:xfrm>
                <a:off x="1643042" y="3286124"/>
                <a:ext cx="786560" cy="715234"/>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000" dirty="0">
                    <a:solidFill>
                      <a:schemeClr val="bg1"/>
                    </a:solidFill>
                  </a:rPr>
                  <a:t>创建</a:t>
                </a:r>
                <a:endParaRPr lang="zh-CN" altLang="en-US" sz="2000" dirty="0">
                  <a:solidFill>
                    <a:schemeClr val="bg1"/>
                  </a:solidFill>
                </a:endParaRPr>
              </a:p>
            </p:txBody>
          </p:sp>
          <p:sp>
            <p:nvSpPr>
              <p:cNvPr id="29" name="Oval 7"/>
              <p:cNvSpPr>
                <a:spLocks noChangeArrowheads="1"/>
              </p:cNvSpPr>
              <p:nvPr>
                <p:custDataLst>
                  <p:tags r:id="rId4"/>
                </p:custDataLst>
              </p:nvPr>
            </p:nvSpPr>
            <p:spPr bwMode="auto">
              <a:xfrm>
                <a:off x="5001369" y="5213470"/>
                <a:ext cx="784890" cy="786537"/>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000" dirty="0">
                    <a:solidFill>
                      <a:schemeClr val="bg1"/>
                    </a:solidFill>
                  </a:rPr>
                  <a:t>执行</a:t>
                </a:r>
                <a:endParaRPr lang="zh-CN" altLang="en-US" sz="2000" dirty="0">
                  <a:solidFill>
                    <a:schemeClr val="bg1"/>
                  </a:solidFill>
                </a:endParaRPr>
              </a:p>
            </p:txBody>
          </p:sp>
          <p:sp>
            <p:nvSpPr>
              <p:cNvPr id="30" name="Oval 8"/>
              <p:cNvSpPr>
                <a:spLocks noChangeArrowheads="1"/>
              </p:cNvSpPr>
              <p:nvPr>
                <p:custDataLst>
                  <p:tags r:id="rId5"/>
                </p:custDataLst>
              </p:nvPr>
            </p:nvSpPr>
            <p:spPr bwMode="auto">
              <a:xfrm>
                <a:off x="1928608" y="5213470"/>
                <a:ext cx="769861" cy="715236"/>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000" dirty="0">
                    <a:solidFill>
                      <a:schemeClr val="bg1"/>
                    </a:solidFill>
                  </a:rPr>
                  <a:t>阻塞</a:t>
                </a:r>
                <a:endParaRPr lang="zh-CN" altLang="en-US" sz="2000" dirty="0">
                  <a:solidFill>
                    <a:schemeClr val="bg1"/>
                  </a:solidFill>
                </a:endParaRPr>
              </a:p>
            </p:txBody>
          </p:sp>
          <p:sp>
            <p:nvSpPr>
              <p:cNvPr id="31" name="Line 9"/>
              <p:cNvSpPr>
                <a:spLocks noChangeShapeType="1"/>
              </p:cNvSpPr>
              <p:nvPr>
                <p:custDataLst>
                  <p:tags r:id="rId6"/>
                </p:custDataLst>
              </p:nvPr>
            </p:nvSpPr>
            <p:spPr bwMode="auto">
              <a:xfrm flipH="1" flipV="1">
                <a:off x="4214810" y="3786190"/>
                <a:ext cx="1214444" cy="142876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2" name="Line 10"/>
              <p:cNvSpPr>
                <a:spLocks noChangeShapeType="1"/>
              </p:cNvSpPr>
              <p:nvPr>
                <p:custDataLst>
                  <p:tags r:id="rId7"/>
                </p:custDataLst>
              </p:nvPr>
            </p:nvSpPr>
            <p:spPr bwMode="auto">
              <a:xfrm>
                <a:off x="4000497" y="4000503"/>
                <a:ext cx="1071012" cy="131808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3" name="Line 11"/>
              <p:cNvSpPr>
                <a:spLocks noChangeShapeType="1"/>
              </p:cNvSpPr>
              <p:nvPr>
                <p:custDataLst>
                  <p:tags r:id="rId8"/>
                </p:custDataLst>
              </p:nvPr>
            </p:nvSpPr>
            <p:spPr bwMode="auto">
              <a:xfrm flipV="1">
                <a:off x="2485266" y="3857628"/>
                <a:ext cx="1015164" cy="135355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4" name="Line 12"/>
              <p:cNvSpPr>
                <a:spLocks noChangeShapeType="1"/>
              </p:cNvSpPr>
              <p:nvPr>
                <p:custDataLst>
                  <p:tags r:id="rId9"/>
                </p:custDataLst>
              </p:nvPr>
            </p:nvSpPr>
            <p:spPr bwMode="auto">
              <a:xfrm flipH="1" flipV="1">
                <a:off x="2698469" y="5558620"/>
                <a:ext cx="2302899" cy="9815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5" name="TextBox 11"/>
              <p:cNvSpPr txBox="1">
                <a:spLocks noChangeArrowheads="1"/>
              </p:cNvSpPr>
              <p:nvPr>
                <p:custDataLst>
                  <p:tags r:id="rId10"/>
                </p:custDataLst>
              </p:nvPr>
            </p:nvSpPr>
            <p:spPr bwMode="auto">
              <a:xfrm rot="18983600">
                <a:off x="2163233" y="4220524"/>
                <a:ext cx="1098184" cy="53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en-US" altLang="zh-CN" sz="1800" dirty="0">
                    <a:latin typeface="+mn-ea"/>
                    <a:ea typeface="+mn-ea"/>
                  </a:rPr>
                  <a:t>I/O</a:t>
                </a:r>
                <a:r>
                  <a:rPr lang="zh-CN" altLang="en-US" sz="1800" dirty="0">
                    <a:latin typeface="+mn-ea"/>
                    <a:ea typeface="+mn-ea"/>
                  </a:rPr>
                  <a:t>完成</a:t>
                </a:r>
                <a:endParaRPr lang="zh-CN" altLang="en-US" sz="1800" dirty="0">
                  <a:latin typeface="+mn-ea"/>
                  <a:ea typeface="+mn-ea"/>
                </a:endParaRPr>
              </a:p>
            </p:txBody>
          </p:sp>
          <p:sp>
            <p:nvSpPr>
              <p:cNvPr id="36" name="TextBox 12"/>
              <p:cNvSpPr txBox="1">
                <a:spLocks noChangeArrowheads="1"/>
              </p:cNvSpPr>
              <p:nvPr>
                <p:custDataLst>
                  <p:tags r:id="rId11"/>
                </p:custDataLst>
              </p:nvPr>
            </p:nvSpPr>
            <p:spPr bwMode="auto">
              <a:xfrm>
                <a:off x="3286116" y="5643578"/>
                <a:ext cx="1214446" cy="53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en-US" altLang="zh-CN" sz="1800" dirty="0">
                    <a:latin typeface="+mn-ea"/>
                    <a:ea typeface="+mn-ea"/>
                  </a:rPr>
                  <a:t>I/O</a:t>
                </a:r>
                <a:r>
                  <a:rPr lang="zh-CN" altLang="en-US" sz="1800" dirty="0">
                    <a:latin typeface="+mn-ea"/>
                    <a:ea typeface="+mn-ea"/>
                  </a:rPr>
                  <a:t>请求</a:t>
                </a:r>
                <a:endParaRPr lang="zh-CN" altLang="en-US" sz="1800" dirty="0">
                  <a:latin typeface="+mn-ea"/>
                  <a:ea typeface="+mn-ea"/>
                </a:endParaRPr>
              </a:p>
            </p:txBody>
          </p:sp>
          <p:sp>
            <p:nvSpPr>
              <p:cNvPr id="37" name="TextBox 13"/>
              <p:cNvSpPr txBox="1">
                <a:spLocks noChangeArrowheads="1"/>
              </p:cNvSpPr>
              <p:nvPr>
                <p:custDataLst>
                  <p:tags r:id="rId12"/>
                </p:custDataLst>
              </p:nvPr>
            </p:nvSpPr>
            <p:spPr bwMode="auto">
              <a:xfrm rot="2764970">
                <a:off x="3436927" y="4678031"/>
                <a:ext cx="1632476" cy="380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1800" dirty="0">
                    <a:latin typeface="+mn-ea"/>
                    <a:ea typeface="+mn-ea"/>
                  </a:rPr>
                  <a:t>进程调度</a:t>
                </a:r>
                <a:endParaRPr lang="zh-CN" altLang="en-US" sz="1800" dirty="0">
                  <a:latin typeface="+mn-ea"/>
                  <a:ea typeface="+mn-ea"/>
                </a:endParaRPr>
              </a:p>
            </p:txBody>
          </p:sp>
          <p:sp>
            <p:nvSpPr>
              <p:cNvPr id="38" name="TextBox 14"/>
              <p:cNvSpPr txBox="1">
                <a:spLocks noChangeArrowheads="1"/>
              </p:cNvSpPr>
              <p:nvPr>
                <p:custDataLst>
                  <p:tags r:id="rId13"/>
                </p:custDataLst>
              </p:nvPr>
            </p:nvSpPr>
            <p:spPr bwMode="auto">
              <a:xfrm rot="2446282">
                <a:off x="4360697" y="4046014"/>
                <a:ext cx="1276793" cy="53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1800">
                    <a:latin typeface="+mn-ea"/>
                    <a:ea typeface="+mn-ea"/>
                  </a:rPr>
                  <a:t>时间片完</a:t>
                </a:r>
                <a:endParaRPr lang="zh-CN" altLang="en-US" sz="1800">
                  <a:latin typeface="+mn-ea"/>
                  <a:ea typeface="+mn-ea"/>
                </a:endParaRPr>
              </a:p>
            </p:txBody>
          </p:sp>
          <p:cxnSp>
            <p:nvCxnSpPr>
              <p:cNvPr id="40" name="直接箭头连接符 39"/>
              <p:cNvCxnSpPr>
                <a:stCxn id="29" idx="6"/>
                <a:endCxn id="41" idx="2"/>
              </p:cNvCxnSpPr>
              <p:nvPr>
                <p:custDataLst>
                  <p:tags r:id="rId14"/>
                </p:custDataLst>
              </p:nvPr>
            </p:nvCxnSpPr>
            <p:spPr>
              <a:xfrm flipV="1">
                <a:off x="5786259" y="4960371"/>
                <a:ext cx="104839" cy="64636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1" name="Oval 6"/>
              <p:cNvSpPr>
                <a:spLocks noChangeArrowheads="1"/>
              </p:cNvSpPr>
              <p:nvPr>
                <p:custDataLst>
                  <p:tags r:id="rId15"/>
                </p:custDataLst>
              </p:nvPr>
            </p:nvSpPr>
            <p:spPr bwMode="auto">
              <a:xfrm>
                <a:off x="5890737" y="4603321"/>
                <a:ext cx="786560" cy="715236"/>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000" dirty="0">
                    <a:solidFill>
                      <a:schemeClr val="bg1"/>
                    </a:solidFill>
                  </a:rPr>
                  <a:t>终止</a:t>
                </a:r>
                <a:endParaRPr lang="zh-CN" altLang="en-US" sz="2000" dirty="0">
                  <a:solidFill>
                    <a:schemeClr val="bg1"/>
                  </a:solidFill>
                </a:endParaRPr>
              </a:p>
            </p:txBody>
          </p:sp>
          <p:cxnSp>
            <p:nvCxnSpPr>
              <p:cNvPr id="42" name="直接箭头连接符 41"/>
              <p:cNvCxnSpPr>
                <a:stCxn id="28" idx="6"/>
                <a:endCxn id="27" idx="2"/>
              </p:cNvCxnSpPr>
              <p:nvPr>
                <p:custDataLst>
                  <p:tags r:id="rId16"/>
                </p:custDataLst>
              </p:nvPr>
            </p:nvCxnSpPr>
            <p:spPr>
              <a:xfrm>
                <a:off x="2429602" y="3642627"/>
                <a:ext cx="998647" cy="222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 name="TextBox 25"/>
              <p:cNvSpPr txBox="1">
                <a:spLocks noChangeArrowheads="1"/>
              </p:cNvSpPr>
              <p:nvPr>
                <p:custDataLst>
                  <p:tags r:id="rId17"/>
                </p:custDataLst>
              </p:nvPr>
            </p:nvSpPr>
            <p:spPr bwMode="auto">
              <a:xfrm>
                <a:off x="2560834" y="3074590"/>
                <a:ext cx="714380" cy="53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1800">
                    <a:latin typeface="+mn-ea"/>
                    <a:ea typeface="+mn-ea"/>
                  </a:rPr>
                  <a:t>许可</a:t>
                </a:r>
                <a:endParaRPr lang="zh-CN" altLang="en-US" sz="1800">
                  <a:latin typeface="+mn-ea"/>
                  <a:ea typeface="+mn-ea"/>
                </a:endParaRPr>
              </a:p>
            </p:txBody>
          </p:sp>
        </p:grpSp>
        <p:sp>
          <p:nvSpPr>
            <p:cNvPr id="3" name="TextBox 14"/>
            <p:cNvSpPr txBox="1">
              <a:spLocks noChangeArrowheads="1"/>
            </p:cNvSpPr>
            <p:nvPr>
              <p:custDataLst>
                <p:tags r:id="rId18"/>
              </p:custDataLst>
            </p:nvPr>
          </p:nvSpPr>
          <p:spPr bwMode="auto">
            <a:xfrm rot="2446282">
              <a:off x="14863" y="6853"/>
              <a:ext cx="2544"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1800">
                  <a:latin typeface="+mn-ea"/>
                  <a:ea typeface="+mn-ea"/>
                </a:rPr>
                <a:t>高优先级占用</a:t>
              </a:r>
              <a:endParaRPr lang="zh-CN" altLang="en-US" sz="1800">
                <a:latin typeface="+mn-ea"/>
                <a:ea typeface="+mn-ea"/>
              </a:endParaRPr>
            </a:p>
          </p:txBody>
        </p:sp>
      </p:grpSp>
      <p:sp>
        <p:nvSpPr>
          <p:cNvPr id="5" name="文本框 4"/>
          <p:cNvSpPr txBox="1"/>
          <p:nvPr/>
        </p:nvSpPr>
        <p:spPr>
          <a:xfrm>
            <a:off x="495300" y="1905635"/>
            <a:ext cx="6387465" cy="4146550"/>
          </a:xfrm>
          <a:prstGeom prst="rect">
            <a:avLst/>
          </a:prstGeom>
          <a:solidFill>
            <a:schemeClr val="accent1">
              <a:lumMod val="20000"/>
              <a:lumOff val="80000"/>
            </a:schemeClr>
          </a:solidFill>
        </p:spPr>
        <p:txBody>
          <a:bodyPr wrap="square" rtlCol="0" anchor="t">
            <a:noAutofit/>
          </a:bodyPr>
          <a:p>
            <a:pPr>
              <a:lnSpc>
                <a:spcPct val="150000"/>
              </a:lnSpc>
            </a:pPr>
            <a:r>
              <a:rPr lang="en-US" altLang="zh-CN" sz="2800">
                <a:sym typeface="+mn-ea"/>
              </a:rPr>
              <a:t>①</a:t>
            </a:r>
            <a:r>
              <a:rPr lang="zh-CN" altLang="en-US" sz="2800">
                <a:sym typeface="+mn-ea"/>
              </a:rPr>
              <a:t>正在执行的进程正常终止或异常终止；</a:t>
            </a:r>
            <a:endParaRPr lang="zh-CN" altLang="en-US" sz="2800"/>
          </a:p>
          <a:p>
            <a:pPr>
              <a:lnSpc>
                <a:spcPct val="150000"/>
              </a:lnSpc>
            </a:pPr>
            <a:r>
              <a:rPr lang="en-US" altLang="zh-CN" sz="2800">
                <a:sym typeface="+mn-ea"/>
              </a:rPr>
              <a:t>②</a:t>
            </a:r>
            <a:r>
              <a:rPr lang="zh-CN" altLang="en-US" sz="2800">
                <a:sym typeface="+mn-ea"/>
              </a:rPr>
              <a:t>正在执行的进程因某种原因而阻塞；</a:t>
            </a:r>
            <a:endParaRPr lang="zh-CN" altLang="en-US" sz="2800"/>
          </a:p>
          <a:p>
            <a:pPr>
              <a:lnSpc>
                <a:spcPct val="150000"/>
              </a:lnSpc>
            </a:pPr>
            <a:r>
              <a:rPr lang="en-US" altLang="zh-CN" sz="2800">
                <a:sym typeface="+mn-ea"/>
              </a:rPr>
              <a:t>③</a:t>
            </a:r>
            <a:r>
              <a:rPr lang="zh-CN" altLang="en-US" sz="2800">
                <a:sym typeface="+mn-ea"/>
              </a:rPr>
              <a:t>在引入时间片的系统中，时间片用完；</a:t>
            </a:r>
            <a:endParaRPr lang="zh-CN" altLang="en-US" sz="2800"/>
          </a:p>
          <a:p>
            <a:pPr>
              <a:lnSpc>
                <a:spcPct val="150000"/>
              </a:lnSpc>
            </a:pPr>
            <a:r>
              <a:rPr lang="en-US" altLang="zh-CN" sz="2800">
                <a:sym typeface="+mn-ea"/>
              </a:rPr>
              <a:t>④</a:t>
            </a:r>
            <a:r>
              <a:rPr lang="zh-CN" altLang="en-US" sz="2800">
                <a:sym typeface="+mn-ea"/>
              </a:rPr>
              <a:t>在抢占式 调度方式中，就绪队列中某进程的优先级比当前正在执行进程的高。</a:t>
            </a:r>
            <a:endParaRPr lang="zh-CN" altLang="en-US" sz="280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进程调度的任务和方式</a:t>
            </a:r>
            <a:endParaRPr lang="zh-CN" altLang="en-US" sz="2800" b="1" dirty="0">
              <a:solidFill>
                <a:schemeClr val="bg1"/>
              </a:solidFill>
            </a:endParaRPr>
          </a:p>
        </p:txBody>
      </p:sp>
      <p:grpSp>
        <p:nvGrpSpPr>
          <p:cNvPr id="6"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1319182"/>
            <a:ext cx="11228705" cy="4544317"/>
            <a:chOff x="660400" y="1834087"/>
            <a:chExt cx="11228705" cy="4544317"/>
          </a:xfrm>
        </p:grpSpPr>
        <p:grpSp>
          <p:nvGrpSpPr>
            <p:cNvPr id="10" name="iṡļiḓe"/>
            <p:cNvGrpSpPr/>
            <p:nvPr/>
          </p:nvGrpSpPr>
          <p:grpSpPr>
            <a:xfrm>
              <a:off x="660400" y="1834087"/>
              <a:ext cx="6876351" cy="1254559"/>
              <a:chOff x="660400" y="1834087"/>
              <a:chExt cx="6876351" cy="1254559"/>
            </a:xfrm>
          </p:grpSpPr>
          <p:grpSp>
            <p:nvGrpSpPr>
              <p:cNvPr id="21" name="iSḻíḓè"/>
              <p:cNvGrpSpPr/>
              <p:nvPr/>
            </p:nvGrpSpPr>
            <p:grpSpPr>
              <a:xfrm>
                <a:off x="1530997" y="1834087"/>
                <a:ext cx="6005754" cy="1254559"/>
                <a:chOff x="1592242" y="1834087"/>
                <a:chExt cx="7574760" cy="1254559"/>
              </a:xfrm>
            </p:grpSpPr>
            <p:sp>
              <p:nvSpPr>
                <p:cNvPr id="25" name="îṧľîḋé"/>
                <p:cNvSpPr txBox="1"/>
                <p:nvPr/>
              </p:nvSpPr>
              <p:spPr>
                <a:xfrm>
                  <a:off x="1592242" y="1834087"/>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进程调度的任务</a:t>
                  </a:r>
                  <a:endParaRPr lang="en-US" altLang="zh-CN" sz="2400" dirty="0"/>
                </a:p>
              </p:txBody>
            </p:sp>
            <p:sp>
              <p:nvSpPr>
                <p:cNvPr id="26" name="íşļîḓé"/>
                <p:cNvSpPr/>
                <p:nvPr/>
              </p:nvSpPr>
              <p:spPr bwMode="auto">
                <a:xfrm>
                  <a:off x="1592242" y="2277810"/>
                  <a:ext cx="7574760" cy="810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保存处理机的现场信息</a:t>
                  </a:r>
                  <a:endParaRPr lang="zh-CN" altLang="en-US" sz="24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按某种算法选取进程</a:t>
                  </a:r>
                  <a:endParaRPr lang="zh-CN" altLang="en-US" sz="24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把处理器分配给进程</a:t>
                  </a:r>
                  <a:endParaRPr lang="zh-CN" altLang="en-US" sz="2400" dirty="0"/>
                </a:p>
              </p:txBody>
            </p:sp>
          </p:grpSp>
          <p:grpSp>
            <p:nvGrpSpPr>
              <p:cNvPr id="22" name="ïS1íḋé"/>
              <p:cNvGrpSpPr/>
              <p:nvPr/>
            </p:nvGrpSpPr>
            <p:grpSpPr>
              <a:xfrm>
                <a:off x="660400" y="1860585"/>
                <a:ext cx="733394" cy="733394"/>
                <a:chOff x="660400" y="1860585"/>
                <a:chExt cx="733394" cy="733394"/>
              </a:xfrm>
            </p:grpSpPr>
            <p:sp>
              <p:nvSpPr>
                <p:cNvPr id="23" name="islîḋe"/>
                <p:cNvSpPr/>
                <p:nvPr/>
              </p:nvSpPr>
              <p:spPr>
                <a:xfrm>
                  <a:off x="660400" y="1860585"/>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24" name="îŝlîďe"/>
                <p:cNvSpPr/>
                <p:nvPr/>
              </p:nvSpPr>
              <p:spPr>
                <a:xfrm>
                  <a:off x="797603" y="2045456"/>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1" name="iŝļïḓê"/>
            <p:cNvGrpSpPr/>
            <p:nvPr/>
          </p:nvGrpSpPr>
          <p:grpSpPr>
            <a:xfrm>
              <a:off x="660400" y="4251929"/>
              <a:ext cx="11228705" cy="2126475"/>
              <a:chOff x="660400" y="1860585"/>
              <a:chExt cx="11228705" cy="2126475"/>
            </a:xfrm>
          </p:grpSpPr>
          <p:grpSp>
            <p:nvGrpSpPr>
              <p:cNvPr id="13" name="ïṧļïḓe"/>
              <p:cNvGrpSpPr/>
              <p:nvPr/>
            </p:nvGrpSpPr>
            <p:grpSpPr>
              <a:xfrm>
                <a:off x="806450" y="1889655"/>
                <a:ext cx="11082655" cy="2097405"/>
                <a:chOff x="678406" y="1889655"/>
                <a:chExt cx="13978004" cy="2097405"/>
              </a:xfrm>
            </p:grpSpPr>
            <p:sp>
              <p:nvSpPr>
                <p:cNvPr id="18" name="ïšļíďè"/>
                <p:cNvSpPr txBox="1"/>
                <p:nvPr/>
              </p:nvSpPr>
              <p:spPr>
                <a:xfrm>
                  <a:off x="1603439" y="1889655"/>
                  <a:ext cx="6601076"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FF0000"/>
                      </a:solidFill>
                    </a:rPr>
                    <a:t>进程调度机制（调度程序分为三部分）</a:t>
                  </a:r>
                  <a:endParaRPr lang="zh-CN" altLang="en-US" sz="2400" dirty="0">
                    <a:solidFill>
                      <a:srgbClr val="FF0000"/>
                    </a:solidFill>
                  </a:endParaRPr>
                </a:p>
              </p:txBody>
            </p:sp>
            <p:sp>
              <p:nvSpPr>
                <p:cNvPr id="19" name="íşľíḑè"/>
                <p:cNvSpPr/>
                <p:nvPr/>
              </p:nvSpPr>
              <p:spPr bwMode="auto">
                <a:xfrm>
                  <a:off x="678406" y="2486555"/>
                  <a:ext cx="13978004" cy="1500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50000"/>
                    </a:lnSpc>
                    <a:buFont typeface="Wingdings" panose="05000000000000000000" pitchFamily="2" charset="2"/>
                    <a:buChar char="Ø"/>
                  </a:pPr>
                  <a:r>
                    <a:rPr lang="zh-CN" altLang="en-US" sz="2400" dirty="0"/>
                    <a:t>排队器：用于将就绪进程插入相应的就绪队列</a:t>
                  </a:r>
                  <a:endParaRPr lang="zh-CN" altLang="en-US" sz="2400" dirty="0"/>
                </a:p>
                <a:p>
                  <a:pPr marL="342900" lvl="1" indent="-342900">
                    <a:lnSpc>
                      <a:spcPct val="150000"/>
                    </a:lnSpc>
                    <a:buFont typeface="Wingdings" panose="05000000000000000000" pitchFamily="2" charset="2"/>
                    <a:buChar char="Ø"/>
                  </a:pPr>
                  <a:r>
                    <a:rPr lang="zh-CN" altLang="en-US" sz="2400" dirty="0"/>
                    <a:t>分派器：用于将选定的进程移出就绪队列</a:t>
                  </a:r>
                  <a:endParaRPr lang="zh-CN" altLang="en-US" sz="2400" dirty="0"/>
                </a:p>
                <a:p>
                  <a:pPr marL="342900" lvl="1" indent="-342900">
                    <a:lnSpc>
                      <a:spcPct val="150000"/>
                    </a:lnSpc>
                    <a:buFont typeface="Wingdings" panose="05000000000000000000" pitchFamily="2" charset="2"/>
                    <a:buChar char="Ø"/>
                  </a:pPr>
                  <a:r>
                    <a:rPr lang="zh-CN" altLang="en-US" sz="2400" dirty="0"/>
                    <a:t>上下文切换器：进行新旧进程之间的上下文切换</a:t>
                  </a:r>
                  <a:r>
                    <a:rPr lang="en-US" altLang="zh-CN" sz="2400" dirty="0"/>
                    <a:t>(</a:t>
                  </a:r>
                  <a:r>
                    <a:rPr lang="zh-CN" altLang="en-US" sz="2400" dirty="0"/>
                    <a:t>下面备注</a:t>
                  </a:r>
                  <a:r>
                    <a:rPr lang="en-US" altLang="zh-CN" sz="2400" dirty="0"/>
                    <a:t>)</a:t>
                  </a:r>
                  <a:endParaRPr lang="en-US" altLang="zh-CN" sz="2400" dirty="0"/>
                </a:p>
              </p:txBody>
            </p:sp>
          </p:grpSp>
          <p:grpSp>
            <p:nvGrpSpPr>
              <p:cNvPr id="15" name="ïŝľídè"/>
              <p:cNvGrpSpPr/>
              <p:nvPr/>
            </p:nvGrpSpPr>
            <p:grpSpPr>
              <a:xfrm>
                <a:off x="660400" y="1860585"/>
                <a:ext cx="733394" cy="733394"/>
                <a:chOff x="660400" y="1860585"/>
                <a:chExt cx="733394" cy="733394"/>
              </a:xfrm>
            </p:grpSpPr>
            <p:sp>
              <p:nvSpPr>
                <p:cNvPr id="16" name="ïṡľïde"/>
                <p:cNvSpPr/>
                <p:nvPr/>
              </p:nvSpPr>
              <p:spPr>
                <a:xfrm>
                  <a:off x="660400" y="1860585"/>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7" name="ïšliḍe"/>
                <p:cNvSpPr/>
                <p:nvPr/>
              </p:nvSpPr>
              <p:spPr>
                <a:xfrm>
                  <a:off x="806481" y="2072090"/>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进程调度的方式</a:t>
            </a:r>
            <a:endParaRPr lang="zh-CN" altLang="en-US" sz="2800" b="1" dirty="0">
              <a:solidFill>
                <a:schemeClr val="bg1"/>
              </a:solidFill>
            </a:endParaRPr>
          </a:p>
        </p:txBody>
      </p:sp>
      <p:sp>
        <p:nvSpPr>
          <p:cNvPr id="16" name="íSľïdé"/>
          <p:cNvSpPr/>
          <p:nvPr/>
        </p:nvSpPr>
        <p:spPr>
          <a:xfrm>
            <a:off x="1682149" y="1374414"/>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7" name="ïŝļíḓê"/>
          <p:cNvSpPr/>
          <p:nvPr/>
        </p:nvSpPr>
        <p:spPr bwMode="auto">
          <a:xfrm>
            <a:off x="5420941" y="1729459"/>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8" name="îṧľîdé"/>
          <p:cNvSpPr/>
          <p:nvPr/>
        </p:nvSpPr>
        <p:spPr>
          <a:xfrm>
            <a:off x="2430904" y="1090328"/>
            <a:ext cx="2808984" cy="1324398"/>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30" name="内容占位符 2"/>
          <p:cNvSpPr txBox="1"/>
          <p:nvPr/>
        </p:nvSpPr>
        <p:spPr>
          <a:xfrm>
            <a:off x="669925" y="2006261"/>
            <a:ext cx="3396048" cy="403943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200" dirty="0">
                <a:solidFill>
                  <a:srgbClr val="FF0000"/>
                </a:solidFill>
              </a:rPr>
              <a:t>非抢占方式：</a:t>
            </a:r>
            <a:endParaRPr lang="en-US" altLang="zh-CN" sz="2200" dirty="0">
              <a:solidFill>
                <a:srgbClr val="FF0000"/>
              </a:solidFill>
            </a:endParaRPr>
          </a:p>
          <a:p>
            <a:pPr marL="0" indent="0">
              <a:lnSpc>
                <a:spcPct val="132000"/>
              </a:lnSpc>
              <a:spcBef>
                <a:spcPts val="580"/>
              </a:spcBef>
              <a:buNone/>
              <a:defRPr/>
            </a:pPr>
            <a:r>
              <a:rPr lang="zh-CN" altLang="en-US" sz="2200" dirty="0">
                <a:solidFill>
                  <a:schemeClr val="tx1">
                    <a:lumMod val="65000"/>
                    <a:lumOff val="35000"/>
                  </a:schemeClr>
                </a:solidFill>
              </a:rPr>
              <a:t>一旦把处理机分配给某进程后，便让该进程一直执行，直至该进程完成或发生某事件而被阻塞时，才再把处理机分配给其他进程，决不允许某进程抢占已经分配出去的处理机。</a:t>
            </a:r>
            <a:endParaRPr lang="zh-CN" altLang="en-US" sz="2200" dirty="0">
              <a:solidFill>
                <a:schemeClr val="tx1">
                  <a:lumMod val="65000"/>
                  <a:lumOff val="35000"/>
                </a:schemeClr>
              </a:solidFill>
            </a:endParaRPr>
          </a:p>
        </p:txBody>
      </p:sp>
      <p:sp>
        <p:nvSpPr>
          <p:cNvPr id="33" name="内容占位符 2"/>
          <p:cNvSpPr txBox="1"/>
          <p:nvPr/>
        </p:nvSpPr>
        <p:spPr>
          <a:xfrm>
            <a:off x="5345558" y="2283063"/>
            <a:ext cx="6176517" cy="403943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200" dirty="0">
                <a:solidFill>
                  <a:srgbClr val="FF0000"/>
                </a:solidFill>
              </a:rPr>
              <a:t>抢占方式：</a:t>
            </a:r>
            <a:r>
              <a:rPr lang="zh-CN" altLang="en-US" sz="2200" dirty="0"/>
              <a:t>允许调度程序根据某种原则，去暂停某个正在执行的进程，将已分配给该进程的处理机重新分配给另一进程。</a:t>
            </a:r>
            <a:r>
              <a:rPr lang="en-US" altLang="zh-CN" sz="2200" dirty="0">
                <a:solidFill>
                  <a:srgbClr val="FF0000"/>
                </a:solidFill>
              </a:rPr>
              <a:t>(</a:t>
            </a:r>
            <a:r>
              <a:rPr lang="zh-CN" altLang="en-US" sz="2200" dirty="0">
                <a:solidFill>
                  <a:srgbClr val="FF0000"/>
                </a:solidFill>
              </a:rPr>
              <a:t>现代</a:t>
            </a:r>
            <a:r>
              <a:rPr lang="en-US" altLang="zh-CN" sz="2200" dirty="0">
                <a:solidFill>
                  <a:srgbClr val="FF0000"/>
                </a:solidFill>
              </a:rPr>
              <a:t>OS</a:t>
            </a:r>
            <a:r>
              <a:rPr lang="zh-CN" altLang="en-US" sz="2200" dirty="0">
                <a:solidFill>
                  <a:srgbClr val="FF0000"/>
                </a:solidFill>
              </a:rPr>
              <a:t>广泛采用</a:t>
            </a:r>
            <a:r>
              <a:rPr lang="en-US" altLang="zh-CN" sz="2200" dirty="0">
                <a:solidFill>
                  <a:srgbClr val="FF0000"/>
                </a:solidFill>
              </a:rPr>
              <a:t>)</a:t>
            </a:r>
            <a:endParaRPr lang="en-US" altLang="zh-CN" sz="22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solidFill>
                  <a:schemeClr val="tx1">
                    <a:lumMod val="65000"/>
                    <a:lumOff val="35000"/>
                  </a:schemeClr>
                </a:solidFill>
              </a:rPr>
              <a:t>优先权原则：允许优先权高的新到进程抢占当前进程的处理机</a:t>
            </a:r>
            <a:endParaRPr lang="zh-CN" altLang="en-US" sz="20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solidFill>
                  <a:schemeClr val="tx1">
                    <a:lumMod val="65000"/>
                    <a:lumOff val="35000"/>
                  </a:schemeClr>
                </a:solidFill>
              </a:rPr>
              <a:t>短进程优先原则：短进程可以抢占当前较长进程的处理机</a:t>
            </a:r>
            <a:endParaRPr lang="zh-CN" altLang="en-US" sz="20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solidFill>
                  <a:schemeClr val="tx1">
                    <a:lumMod val="65000"/>
                    <a:lumOff val="35000"/>
                  </a:schemeClr>
                </a:solidFill>
              </a:rPr>
              <a:t>时间片原则：各进程按时间片运行，当一个时间片用完后，便停止该进程的执行而重新进行调度</a:t>
            </a:r>
            <a:endParaRPr lang="zh-CN" altLang="en-US" sz="2000" dirty="0">
              <a:solidFill>
                <a:schemeClr val="tx1">
                  <a:lumMod val="65000"/>
                  <a:lumOff val="35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中级调度</a:t>
            </a:r>
            <a:endParaRPr lang="zh-CN" altLang="en-US" sz="2800" b="1" dirty="0">
              <a:solidFill>
                <a:schemeClr val="bg1"/>
              </a:solidFill>
            </a:endParaRPr>
          </a:p>
        </p:txBody>
      </p:sp>
      <p:sp>
        <p:nvSpPr>
          <p:cNvPr id="221" name="i$lîďê"/>
          <p:cNvSpPr/>
          <p:nvPr/>
        </p:nvSpPr>
        <p:spPr>
          <a:xfrm>
            <a:off x="2485983" y="2986584"/>
            <a:ext cx="8833046" cy="392877"/>
          </a:xfrm>
          <a:prstGeom prst="rect">
            <a:avLst/>
          </a:prstGeom>
          <a:noFill/>
          <a:ln>
            <a:noFill/>
          </a:ln>
        </p:spPr>
        <p:txBody>
          <a:bodyPr wrap="square" lIns="91440" tIns="45720" rIns="91440" bIns="45720" anchor="ctr" anchorCtr="0">
            <a:noAutofit/>
          </a:bodyPr>
          <a:lstStyle/>
          <a:p>
            <a:pPr>
              <a:defRPr/>
            </a:pPr>
            <a:endParaRPr lang="en-US" altLang="zh-CN" sz="2400" dirty="0"/>
          </a:p>
        </p:txBody>
      </p:sp>
      <p:sp>
        <p:nvSpPr>
          <p:cNvPr id="223" name="ïṧḷïḋè"/>
          <p:cNvSpPr/>
          <p:nvPr/>
        </p:nvSpPr>
        <p:spPr>
          <a:xfrm>
            <a:off x="1121612" y="2545529"/>
            <a:ext cx="3696051" cy="415102"/>
          </a:xfrm>
          <a:prstGeom prst="rect">
            <a:avLst/>
          </a:prstGeom>
          <a:noFill/>
          <a:ln>
            <a:noFill/>
          </a:ln>
        </p:spPr>
        <p:txBody>
          <a:bodyPr wrap="square" lIns="91440" tIns="45720" rIns="91440" bIns="45720" anchor="ctr" anchorCtr="0">
            <a:noAutofit/>
          </a:bodyPr>
          <a:lstStyle/>
          <a:p>
            <a:pPr>
              <a:defRPr/>
            </a:pPr>
            <a:r>
              <a:rPr lang="zh-CN" altLang="en-US" sz="2400" dirty="0"/>
              <a:t>即“</a:t>
            </a:r>
            <a:r>
              <a:rPr lang="zh-CN" altLang="en-US" sz="2400" dirty="0">
                <a:solidFill>
                  <a:srgbClr val="FF0000"/>
                </a:solidFill>
              </a:rPr>
              <a:t>对换</a:t>
            </a:r>
            <a:r>
              <a:rPr lang="zh-CN" altLang="en-US" sz="2400" dirty="0"/>
              <a:t>” 功能</a:t>
            </a:r>
            <a:endParaRPr lang="zh-CN" altLang="en-US" sz="2400" dirty="0"/>
          </a:p>
        </p:txBody>
      </p:sp>
      <p:sp>
        <p:nvSpPr>
          <p:cNvPr id="225" name="íšḻíḑê"/>
          <p:cNvSpPr/>
          <p:nvPr/>
        </p:nvSpPr>
        <p:spPr>
          <a:xfrm>
            <a:off x="966575" y="1371127"/>
            <a:ext cx="7927445" cy="405747"/>
          </a:xfrm>
          <a:prstGeom prst="rect">
            <a:avLst/>
          </a:prstGeom>
          <a:noFill/>
          <a:ln>
            <a:noFill/>
          </a:ln>
        </p:spPr>
        <p:txBody>
          <a:bodyPr wrap="square" lIns="91440" tIns="45720" rIns="91440" bIns="45720" anchor="ctr" anchorCtr="0">
            <a:noAutofit/>
          </a:bodyPr>
          <a:lstStyle/>
          <a:p>
            <a:pPr>
              <a:defRPr/>
            </a:pPr>
            <a:r>
              <a:rPr lang="zh-CN" altLang="en-US" sz="2400" dirty="0"/>
              <a:t>将暂不运行的进程，调至外存等待；</a:t>
            </a:r>
            <a:endParaRPr lang="en-US" altLang="zh-CN" sz="2400" dirty="0"/>
          </a:p>
        </p:txBody>
      </p:sp>
      <p:sp>
        <p:nvSpPr>
          <p:cNvPr id="226" name="îSļiḓè"/>
          <p:cNvSpPr/>
          <p:nvPr/>
        </p:nvSpPr>
        <p:spPr>
          <a:xfrm>
            <a:off x="238868" y="1238598"/>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8" name="îşļiḓè"/>
          <p:cNvSpPr/>
          <p:nvPr/>
        </p:nvSpPr>
        <p:spPr>
          <a:xfrm>
            <a:off x="238476" y="251520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429123" y="1434736"/>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409045" y="275753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19" name="文本框 18"/>
          <p:cNvSpPr txBox="1"/>
          <p:nvPr/>
        </p:nvSpPr>
        <p:spPr>
          <a:xfrm>
            <a:off x="689989" y="1960622"/>
            <a:ext cx="6720396" cy="369332"/>
          </a:xfrm>
          <a:prstGeom prst="rect">
            <a:avLst/>
          </a:prstGeom>
          <a:noFill/>
        </p:spPr>
        <p:txBody>
          <a:bodyPr wrap="square">
            <a:spAutoFit/>
          </a:bodyPr>
          <a:lstStyle/>
          <a:p>
            <a:pPr>
              <a:defRPr/>
            </a:pPr>
            <a:r>
              <a:rPr lang="zh-CN" altLang="en-US" sz="2400" dirty="0"/>
              <a:t>将处于外存上的急需运行的进程，调入内存运行。</a:t>
            </a:r>
            <a:endParaRPr lang="en-US" altLang="zh-CN" sz="2400" dirty="0"/>
          </a:p>
        </p:txBody>
      </p:sp>
      <p:sp>
        <p:nvSpPr>
          <p:cNvPr id="21" name="矩形 20"/>
          <p:cNvSpPr/>
          <p:nvPr/>
        </p:nvSpPr>
        <p:spPr>
          <a:xfrm>
            <a:off x="408632" y="3792382"/>
            <a:ext cx="4219425" cy="461665"/>
          </a:xfrm>
          <a:prstGeom prst="rect">
            <a:avLst/>
          </a:prstGeom>
        </p:spPr>
        <p:txBody>
          <a:bodyPr wrap="none">
            <a:spAutoFit/>
          </a:bodyPr>
          <a:lstStyle/>
          <a:p>
            <a:r>
              <a:rPr lang="en-US" altLang="zh-CN" sz="2400" dirty="0"/>
              <a:t> </a:t>
            </a:r>
            <a:r>
              <a:rPr lang="zh-CN" altLang="en-US" sz="2400" dirty="0">
                <a:solidFill>
                  <a:srgbClr val="0000CC"/>
                </a:solidFill>
              </a:rPr>
              <a:t>将在</a:t>
            </a:r>
            <a:r>
              <a:rPr lang="zh-CN" altLang="en-US" sz="2400" u="sng" dirty="0">
                <a:solidFill>
                  <a:srgbClr val="0000CC"/>
                </a:solidFill>
              </a:rPr>
              <a:t>第</a:t>
            </a:r>
            <a:r>
              <a:rPr lang="en-US" altLang="zh-CN" sz="2400" u="sng" dirty="0">
                <a:solidFill>
                  <a:srgbClr val="0000CC"/>
                </a:solidFill>
              </a:rPr>
              <a:t>5</a:t>
            </a:r>
            <a:r>
              <a:rPr lang="zh-CN" altLang="en-US" sz="2400" u="sng" dirty="0">
                <a:solidFill>
                  <a:srgbClr val="0000CC"/>
                </a:solidFill>
              </a:rPr>
              <a:t>章 存储器管理</a:t>
            </a:r>
            <a:r>
              <a:rPr lang="zh-CN" altLang="en-US" sz="2400" dirty="0">
                <a:solidFill>
                  <a:srgbClr val="0000CC"/>
                </a:solidFill>
              </a:rPr>
              <a:t>中介绍</a:t>
            </a:r>
            <a:endParaRPr lang="zh-CN" altLang="en-US" sz="2400" dirty="0"/>
          </a:p>
        </p:txBody>
      </p:sp>
      <p:sp>
        <p:nvSpPr>
          <p:cNvPr id="2" name="文本框 1"/>
          <p:cNvSpPr txBox="1"/>
          <p:nvPr/>
        </p:nvSpPr>
        <p:spPr>
          <a:xfrm>
            <a:off x="7542530" y="934085"/>
            <a:ext cx="4506595" cy="4989195"/>
          </a:xfrm>
          <a:prstGeom prst="rect">
            <a:avLst/>
          </a:prstGeom>
          <a:solidFill>
            <a:schemeClr val="accent1">
              <a:lumMod val="20000"/>
              <a:lumOff val="80000"/>
            </a:schemeClr>
          </a:solidFill>
        </p:spPr>
        <p:txBody>
          <a:bodyPr wrap="square" rtlCol="0" anchor="t">
            <a:noAutofit/>
          </a:bodyPr>
          <a:p>
            <a:pPr>
              <a:lnSpc>
                <a:spcPct val="120000"/>
              </a:lnSpc>
              <a:spcBef>
                <a:spcPts val="0"/>
              </a:spcBef>
              <a:spcAft>
                <a:spcPts val="0"/>
              </a:spcAft>
            </a:pPr>
            <a:r>
              <a:rPr lang="zh-CN" altLang="en-US" sz="2400">
                <a:sym typeface="+mn-ea"/>
              </a:rPr>
              <a:t>引入中级调度的主要目的是提高内存利用率和系统吞吐量。为此，应把那些暂时不能运行的进程调至外存等待，把进程状态改为就绪驻外存状态或挂起状态。当它们已具备运行条件且内存又有空间时，由中级调度来决定把外存上的那些已具备运行条件的就绪进程再重新调入内存，并修改它们的状态为就绪状态，挂在就绪队列上等待。</a:t>
            </a:r>
            <a:endParaRPr lang="zh-CN" altLang="en-US" sz="240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6050" y="962660"/>
            <a:ext cx="11140440" cy="4537075"/>
          </a:xfrm>
          <a:prstGeom prst="rect">
            <a:avLst/>
          </a:prstGeom>
        </p:spPr>
      </p:pic>
      <p:sp>
        <p:nvSpPr>
          <p:cNvPr id="16" name="文本框 15"/>
          <p:cNvSpPr txBox="1"/>
          <p:nvPr/>
        </p:nvSpPr>
        <p:spPr>
          <a:xfrm>
            <a:off x="4600575" y="5631815"/>
            <a:ext cx="2251710" cy="521970"/>
          </a:xfrm>
          <a:prstGeom prst="rect">
            <a:avLst/>
          </a:prstGeom>
          <a:noFill/>
        </p:spPr>
        <p:txBody>
          <a:bodyPr wrap="square" rtlCol="0" anchor="t">
            <a:spAutoFit/>
          </a:bodyPr>
          <a:p>
            <a:r>
              <a:rPr lang="zh-CN" altLang="en-US" sz="2800" dirty="0">
                <a:solidFill>
                  <a:srgbClr val="FF0000"/>
                </a:solidFill>
                <a:sym typeface="+mn-ea"/>
              </a:rPr>
              <a:t>随堂练习</a:t>
            </a:r>
            <a:r>
              <a:rPr lang="en-US" altLang="zh-CN" sz="2800" dirty="0">
                <a:solidFill>
                  <a:srgbClr val="FF0000"/>
                </a:solidFill>
                <a:sym typeface="+mn-ea"/>
              </a:rPr>
              <a:t>1</a:t>
            </a:r>
            <a:endParaRPr lang="en-US" altLang="zh-CN" sz="2800" dirty="0">
              <a:solidFill>
                <a:srgbClr val="FF0000"/>
              </a:solidFill>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sym typeface="+mn-ea"/>
              </a:rPr>
              <a:t>处理机调度</a:t>
            </a:r>
            <a:r>
              <a:rPr lang="zh-CN" altLang="en-US" sz="2800" b="1" dirty="0">
                <a:solidFill>
                  <a:schemeClr val="bg1"/>
                </a:solidFill>
              </a:rPr>
              <a:t>评价指标</a:t>
            </a:r>
            <a:endParaRPr lang="zh-CN" altLang="en-US" sz="2800" b="1" dirty="0">
              <a:solidFill>
                <a:schemeClr val="bg1"/>
              </a:solidFill>
            </a:endParaRPr>
          </a:p>
        </p:txBody>
      </p:sp>
      <p:sp>
        <p:nvSpPr>
          <p:cNvPr id="23" name="íšḻîḋè"/>
          <p:cNvSpPr/>
          <p:nvPr/>
        </p:nvSpPr>
        <p:spPr>
          <a:xfrm>
            <a:off x="1922738" y="2398361"/>
            <a:ext cx="10211377"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从进程到达，直到</a:t>
            </a:r>
            <a:r>
              <a:rPr lang="zh-CN" altLang="en-US" sz="2200" b="1" dirty="0"/>
              <a:t>首次</a:t>
            </a:r>
            <a:r>
              <a:rPr lang="zh-CN" altLang="en-US" sz="2200" dirty="0"/>
              <a:t>得到运行的这一段时间。</a:t>
            </a:r>
            <a:endParaRPr lang="zh-CN" altLang="en-US" sz="2200" dirty="0"/>
          </a:p>
        </p:txBody>
      </p:sp>
      <p:sp>
        <p:nvSpPr>
          <p:cNvPr id="25" name="i$lîďê"/>
          <p:cNvSpPr/>
          <p:nvPr/>
        </p:nvSpPr>
        <p:spPr>
          <a:xfrm>
            <a:off x="2005330" y="1830070"/>
            <a:ext cx="5113020" cy="393065"/>
          </a:xfrm>
          <a:prstGeom prst="rect">
            <a:avLst/>
          </a:prstGeom>
          <a:noFill/>
          <a:ln>
            <a:noFill/>
          </a:ln>
        </p:spPr>
        <p:txBody>
          <a:bodyPr wrap="square" lIns="91440" tIns="45720" rIns="91440" bIns="45720" anchor="ctr" anchorCtr="0">
            <a:noAutofit/>
          </a:bodyPr>
          <a:lstStyle/>
          <a:p>
            <a:r>
              <a:rPr lang="zh-CN" altLang="en-US" sz="2400" dirty="0"/>
              <a:t>响应时间快（评价分时系统指标）</a:t>
            </a:r>
            <a:endParaRPr lang="zh-CN" altLang="en-US" sz="2400" dirty="0"/>
          </a:p>
        </p:txBody>
      </p:sp>
      <p:sp>
        <p:nvSpPr>
          <p:cNvPr id="31" name="ïṧḷïḋè"/>
          <p:cNvSpPr/>
          <p:nvPr/>
        </p:nvSpPr>
        <p:spPr>
          <a:xfrm>
            <a:off x="2005330" y="3299460"/>
            <a:ext cx="6991350" cy="415290"/>
          </a:xfrm>
          <a:prstGeom prst="rect">
            <a:avLst/>
          </a:prstGeom>
          <a:noFill/>
          <a:ln>
            <a:noFill/>
          </a:ln>
        </p:spPr>
        <p:txBody>
          <a:bodyPr wrap="square" lIns="91440" tIns="45720" rIns="91440" bIns="45720" anchor="ctr" anchorCtr="0">
            <a:noAutofit/>
          </a:bodyPr>
          <a:lstStyle/>
          <a:p>
            <a:r>
              <a:rPr lang="zh-CN" altLang="en-US" sz="2400" dirty="0">
                <a:solidFill>
                  <a:schemeClr val="tx1"/>
                </a:solidFill>
              </a:rPr>
              <a:t>截止时间的保证（评价实时系统的指标）：</a:t>
            </a:r>
            <a:endParaRPr lang="zh-CN" altLang="en-US" sz="2400" dirty="0">
              <a:solidFill>
                <a:schemeClr val="tx1"/>
              </a:solidFill>
            </a:endParaRPr>
          </a:p>
        </p:txBody>
      </p:sp>
      <p:sp>
        <p:nvSpPr>
          <p:cNvPr id="37" name="îSļiḓè"/>
          <p:cNvSpPr/>
          <p:nvPr/>
        </p:nvSpPr>
        <p:spPr>
          <a:xfrm>
            <a:off x="1118977" y="182995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9" name="îşļiḓè"/>
          <p:cNvSpPr/>
          <p:nvPr/>
        </p:nvSpPr>
        <p:spPr>
          <a:xfrm>
            <a:off x="1118977" y="3192606"/>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grpSp>
        <p:nvGrpSpPr>
          <p:cNvPr id="14" name="组合 13"/>
          <p:cNvGrpSpPr/>
          <p:nvPr/>
        </p:nvGrpSpPr>
        <p:grpSpPr>
          <a:xfrm>
            <a:off x="1118870" y="4100195"/>
            <a:ext cx="627380" cy="627380"/>
            <a:chOff x="1762" y="7509"/>
            <a:chExt cx="988" cy="988"/>
          </a:xfrm>
        </p:grpSpPr>
        <p:sp>
          <p:nvSpPr>
            <p:cNvPr id="38" name="íṥḻîḓe"/>
            <p:cNvSpPr/>
            <p:nvPr/>
          </p:nvSpPr>
          <p:spPr>
            <a:xfrm>
              <a:off x="1762" y="7509"/>
              <a:ext cx="989" cy="989"/>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2" name="ïśḷïḓe"/>
            <p:cNvSpPr/>
            <p:nvPr/>
          </p:nvSpPr>
          <p:spPr>
            <a:xfrm>
              <a:off x="2107" y="7807"/>
              <a:ext cx="333" cy="408"/>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grpSp>
      <p:sp>
        <p:nvSpPr>
          <p:cNvPr id="11" name="ïśḷïḓe"/>
          <p:cNvSpPr/>
          <p:nvPr/>
        </p:nvSpPr>
        <p:spPr>
          <a:xfrm>
            <a:off x="1374365" y="5874369"/>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p>
            <a:pPr algn="ctr"/>
          </a:p>
        </p:txBody>
      </p:sp>
      <p:sp>
        <p:nvSpPr>
          <p:cNvPr id="12" name="ïśḷïḓe"/>
          <p:cNvSpPr/>
          <p:nvPr/>
        </p:nvSpPr>
        <p:spPr>
          <a:xfrm>
            <a:off x="1374365" y="3299444"/>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3" name="ïśḷïḓe"/>
          <p:cNvSpPr/>
          <p:nvPr/>
        </p:nvSpPr>
        <p:spPr>
          <a:xfrm>
            <a:off x="1375000" y="1939909"/>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 name="îs1iďé"/>
          <p:cNvSpPr/>
          <p:nvPr/>
        </p:nvSpPr>
        <p:spPr>
          <a:xfrm>
            <a:off x="1831975" y="4645660"/>
            <a:ext cx="9711055" cy="1033145"/>
          </a:xfrm>
          <a:prstGeom prst="rect">
            <a:avLst/>
          </a:prstGeom>
          <a:noFill/>
          <a:ln>
            <a:noFill/>
          </a:ln>
        </p:spPr>
        <p:txBody>
          <a:bodyPr wrap="square" lIns="91440" tIns="45720" rIns="91440" bIns="45720" anchor="t" anchorCtr="0">
            <a:noAutofit/>
          </a:bodyPr>
          <a:p>
            <a:pPr marL="342900" indent="-342900">
              <a:lnSpc>
                <a:spcPct val="120000"/>
              </a:lnSpc>
              <a:spcBef>
                <a:spcPts val="400"/>
              </a:spcBef>
              <a:buClr>
                <a:srgbClr val="FF0000"/>
              </a:buClr>
              <a:buFont typeface="Wingdings" panose="05000000000000000000" charset="0"/>
              <a:buChar char="Ø"/>
            </a:pPr>
            <a:r>
              <a:rPr lang="zh-CN" altLang="en-US" sz="2000" dirty="0">
                <a:solidFill>
                  <a:schemeClr val="tx1"/>
                </a:solidFill>
              </a:rPr>
              <a:t>周转时间；平均周转时间</a:t>
            </a:r>
            <a:endParaRPr lang="zh-CN" altLang="en-US" sz="2000" dirty="0">
              <a:solidFill>
                <a:schemeClr val="tx1"/>
              </a:solidFill>
            </a:endParaRPr>
          </a:p>
          <a:p>
            <a:pPr marL="342900" indent="-342900">
              <a:lnSpc>
                <a:spcPct val="120000"/>
              </a:lnSpc>
              <a:spcBef>
                <a:spcPts val="400"/>
              </a:spcBef>
              <a:buClr>
                <a:srgbClr val="FF0000"/>
              </a:buClr>
              <a:buFont typeface="Wingdings" panose="05000000000000000000" pitchFamily="2" charset="2"/>
              <a:buChar char="Ø"/>
            </a:pPr>
            <a:r>
              <a:rPr lang="zh-CN" altLang="en-US" sz="2000" dirty="0">
                <a:solidFill>
                  <a:schemeClr val="tx1"/>
                </a:solidFill>
                <a:sym typeface="+mn-ea"/>
              </a:rPr>
              <a:t>带权周转时间；平均</a:t>
            </a:r>
            <a:r>
              <a:rPr lang="zh-CN" altLang="en-US" sz="2000" dirty="0">
                <a:solidFill>
                  <a:schemeClr val="tx1"/>
                </a:solidFill>
              </a:rPr>
              <a:t>带权周转时间</a:t>
            </a:r>
            <a:endParaRPr lang="zh-CN" altLang="en-US" sz="2000" dirty="0">
              <a:solidFill>
                <a:schemeClr val="tx1"/>
              </a:solidFill>
            </a:endParaRPr>
          </a:p>
          <a:p>
            <a:pPr marL="342900" indent="-342900">
              <a:lnSpc>
                <a:spcPct val="120000"/>
              </a:lnSpc>
              <a:spcBef>
                <a:spcPts val="400"/>
              </a:spcBef>
              <a:buClr>
                <a:srgbClr val="FF0000"/>
              </a:buClr>
              <a:buFont typeface="Wingdings" panose="05000000000000000000" pitchFamily="2" charset="2"/>
              <a:buChar char="Ø"/>
            </a:pPr>
            <a:r>
              <a:rPr lang="zh-CN" altLang="en-US" sz="2000" dirty="0">
                <a:solidFill>
                  <a:schemeClr val="tx1"/>
                </a:solidFill>
              </a:rPr>
              <a:t>等待时间；平均等待时间</a:t>
            </a:r>
            <a:endParaRPr lang="zh-CN" altLang="en-US" sz="2000" dirty="0">
              <a:solidFill>
                <a:schemeClr val="tx1"/>
              </a:solidFill>
            </a:endParaRPr>
          </a:p>
          <a:p>
            <a:pPr indent="0">
              <a:lnSpc>
                <a:spcPct val="120000"/>
              </a:lnSpc>
              <a:spcBef>
                <a:spcPts val="400"/>
              </a:spcBef>
              <a:buClr>
                <a:srgbClr val="FF0000"/>
              </a:buClr>
              <a:buFont typeface="Wingdings" panose="05000000000000000000" pitchFamily="2" charset="2"/>
              <a:buNone/>
            </a:pPr>
            <a:endParaRPr lang="zh-CN" altLang="en-US" sz="2000" dirty="0">
              <a:solidFill>
                <a:schemeClr val="tx1"/>
              </a:solidFill>
            </a:endParaRPr>
          </a:p>
        </p:txBody>
      </p:sp>
      <p:sp>
        <p:nvSpPr>
          <p:cNvPr id="5" name="íšḻíḑê"/>
          <p:cNvSpPr/>
          <p:nvPr/>
        </p:nvSpPr>
        <p:spPr>
          <a:xfrm>
            <a:off x="1802765" y="4211320"/>
            <a:ext cx="6219825" cy="405765"/>
          </a:xfrm>
          <a:prstGeom prst="rect">
            <a:avLst/>
          </a:prstGeom>
          <a:noFill/>
          <a:ln>
            <a:noFill/>
          </a:ln>
        </p:spPr>
        <p:txBody>
          <a:bodyPr wrap="square" lIns="91440" tIns="45720" rIns="91440" bIns="45720" anchor="ctr" anchorCtr="0">
            <a:noAutofit/>
          </a:bodyPr>
          <a:p>
            <a:r>
              <a:rPr lang="zh-CN" altLang="en-US" sz="2400" dirty="0"/>
              <a:t>周转时间短（评价批处理系统的指标）</a:t>
            </a:r>
            <a:endParaRPr lang="zh-CN" altLang="en-US" sz="2400" dirty="0"/>
          </a:p>
        </p:txBody>
      </p:sp>
      <p:grpSp>
        <p:nvGrpSpPr>
          <p:cNvPr id="6" name="iSḻíḓè"/>
          <p:cNvGrpSpPr/>
          <p:nvPr/>
        </p:nvGrpSpPr>
        <p:grpSpPr>
          <a:xfrm rot="0">
            <a:off x="1118870" y="895350"/>
            <a:ext cx="8288655" cy="490855"/>
            <a:chOff x="1296567" y="2261706"/>
            <a:chExt cx="10454169" cy="1181506"/>
          </a:xfrm>
          <a:solidFill>
            <a:schemeClr val="accent1">
              <a:lumMod val="20000"/>
              <a:lumOff val="80000"/>
            </a:schemeClr>
          </a:solidFill>
        </p:grpSpPr>
        <p:sp>
          <p:nvSpPr>
            <p:cNvPr id="7" name="íşļîḓé"/>
            <p:cNvSpPr/>
            <p:nvPr/>
          </p:nvSpPr>
          <p:spPr bwMode="auto">
            <a:xfrm>
              <a:off x="1296567" y="2279229"/>
              <a:ext cx="3095485" cy="1163518"/>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资源利用率</a:t>
              </a:r>
              <a:endParaRPr lang="zh-CN" altLang="en-US" sz="2200" dirty="0"/>
            </a:p>
          </p:txBody>
        </p:sp>
        <p:sp>
          <p:nvSpPr>
            <p:cNvPr id="8" name="íşļîḓé"/>
            <p:cNvSpPr/>
            <p:nvPr/>
          </p:nvSpPr>
          <p:spPr bwMode="auto">
            <a:xfrm>
              <a:off x="4048465" y="2261706"/>
              <a:ext cx="3095485" cy="1181506"/>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公平性</a:t>
              </a:r>
              <a:endParaRPr lang="zh-CN" altLang="en-US" sz="2200" dirty="0"/>
            </a:p>
          </p:txBody>
        </p:sp>
        <p:sp>
          <p:nvSpPr>
            <p:cNvPr id="9" name="íşļîḓé"/>
            <p:cNvSpPr/>
            <p:nvPr/>
          </p:nvSpPr>
          <p:spPr bwMode="auto">
            <a:xfrm>
              <a:off x="6334238" y="2301446"/>
              <a:ext cx="3095485" cy="1141766"/>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平衡性</a:t>
              </a:r>
              <a:endParaRPr lang="zh-CN" altLang="en-US" sz="2200" dirty="0"/>
            </a:p>
          </p:txBody>
        </p:sp>
        <p:sp>
          <p:nvSpPr>
            <p:cNvPr id="10" name="íşļîḓé"/>
            <p:cNvSpPr/>
            <p:nvPr/>
          </p:nvSpPr>
          <p:spPr bwMode="auto">
            <a:xfrm>
              <a:off x="8655251" y="2332016"/>
              <a:ext cx="3095485" cy="1109668"/>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策略强制执行</a:t>
              </a:r>
              <a:endParaRPr lang="zh-CN" altLang="en-US" sz="2200" dirty="0"/>
            </a:p>
          </p:txBody>
        </p:sp>
      </p:grpSp>
    </p:spTree>
  </p:cSld>
  <p:clrMapOvr>
    <a:masterClrMapping/>
  </p:clrMapOvr>
  <p:timing>
    <p:tnLst>
      <p:par>
        <p:cTn id="1" dur="indefinite" restart="never" nodeType="tmRoot"/>
      </p:par>
    </p:tnLst>
    <p:bldLst>
      <p:bldP spid="25" grpId="1"/>
      <p:bldP spid="31" grpId="1"/>
      <p:bldP spid="37" grpId="1" animBg="1"/>
      <p:bldP spid="39" grpId="1" animBg="1"/>
      <p:bldP spid="11" grpId="1" animBg="1"/>
      <p:bldP spid="12" grpId="1" animBg="1"/>
      <p:bldP spid="13" grpId="1" animBg="1"/>
      <p:bldP spid="5" grpId="1"/>
      <p:bldP spid="23" grpId="1"/>
      <p:bldP spid="4"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646430" y="1076325"/>
            <a:ext cx="7812405" cy="3569335"/>
          </a:xfrm>
          <a:prstGeom prst="rect">
            <a:avLst/>
          </a:prstGeom>
        </p:spPr>
      </p:pic>
      <p:sp>
        <p:nvSpPr>
          <p:cNvPr id="9" name="ïṧḷïḋè"/>
          <p:cNvSpPr/>
          <p:nvPr/>
        </p:nvSpPr>
        <p:spPr>
          <a:xfrm>
            <a:off x="9124950" y="1076325"/>
            <a:ext cx="6991350" cy="415290"/>
          </a:xfrm>
          <a:prstGeom prst="rect">
            <a:avLst/>
          </a:prstGeom>
          <a:noFill/>
          <a:ln>
            <a:noFill/>
          </a:ln>
        </p:spPr>
        <p:txBody>
          <a:bodyPr wrap="square" lIns="91440" tIns="45720" rIns="91440" bIns="45720" anchor="ctr" anchorCtr="0">
            <a:noAutofit/>
          </a:bodyPr>
          <a:p>
            <a:r>
              <a:rPr lang="zh-CN" altLang="en-US" sz="2400" b="1" dirty="0">
                <a:solidFill>
                  <a:srgbClr val="C00000"/>
                </a:solidFill>
              </a:rPr>
              <a:t>平均周转时间</a:t>
            </a:r>
            <a:endParaRPr lang="zh-CN" altLang="en-US" sz="2400" b="1" dirty="0">
              <a:solidFill>
                <a:srgbClr val="C00000"/>
              </a:solidFill>
            </a:endParaRPr>
          </a:p>
        </p:txBody>
      </p:sp>
      <p:sp>
        <p:nvSpPr>
          <p:cNvPr id="31" name="ïṧḷïḋè"/>
          <p:cNvSpPr/>
          <p:nvPr/>
        </p:nvSpPr>
        <p:spPr>
          <a:xfrm>
            <a:off x="1116330" y="5060950"/>
            <a:ext cx="9066530" cy="415925"/>
          </a:xfrm>
          <a:prstGeom prst="rect">
            <a:avLst/>
          </a:prstGeom>
          <a:noFill/>
          <a:ln>
            <a:noFill/>
          </a:ln>
        </p:spPr>
        <p:txBody>
          <a:bodyPr wrap="square" lIns="91440" tIns="45720" rIns="91440" bIns="45720" anchor="ctr" anchorCtr="0">
            <a:noAutofit/>
          </a:bodyPr>
          <a:p>
            <a:r>
              <a:rPr lang="en-US" altLang="zh-CN" sz="2400" dirty="0">
                <a:solidFill>
                  <a:schemeClr val="tx1"/>
                </a:solidFill>
              </a:rPr>
              <a:t>(2)</a:t>
            </a:r>
            <a:r>
              <a:rPr lang="zh-CN" altLang="en-US" sz="2400" dirty="0">
                <a:solidFill>
                  <a:schemeClr val="tx1"/>
                </a:solidFill>
              </a:rPr>
              <a:t>带权周转时间</a:t>
            </a:r>
            <a:r>
              <a:rPr lang="en-US" altLang="zh-CN" sz="2400" dirty="0">
                <a:solidFill>
                  <a:schemeClr val="tx1"/>
                </a:solidFill>
              </a:rPr>
              <a:t>=</a:t>
            </a:r>
            <a:r>
              <a:rPr lang="zh-CN" altLang="en-US" sz="2400" dirty="0">
                <a:sym typeface="+mn-ea"/>
              </a:rPr>
              <a:t>周转时间</a:t>
            </a:r>
            <a:r>
              <a:rPr lang="en-US" altLang="zh-CN" sz="2400" dirty="0">
                <a:sym typeface="+mn-ea"/>
              </a:rPr>
              <a:t>/</a:t>
            </a:r>
            <a:r>
              <a:rPr lang="zh-CN" altLang="en-US" sz="2400" dirty="0">
                <a:sym typeface="+mn-ea"/>
              </a:rPr>
              <a:t>运行时间</a:t>
            </a:r>
            <a:endParaRPr lang="en-US" altLang="zh-CN" sz="2400" dirty="0">
              <a:solidFill>
                <a:schemeClr val="tx1"/>
              </a:solidFill>
            </a:endParaRPr>
          </a:p>
          <a:p>
            <a:endParaRPr lang="zh-CN" altLang="en-US" sz="2400" dirty="0">
              <a:solidFill>
                <a:schemeClr val="tx1"/>
              </a:solidFill>
            </a:endParaRPr>
          </a:p>
          <a:p>
            <a:r>
              <a:rPr lang="en-US" altLang="zh-CN" sz="2000" dirty="0">
                <a:solidFill>
                  <a:schemeClr val="tx1"/>
                </a:solidFill>
              </a:rPr>
              <a:t>    </a:t>
            </a:r>
            <a:endParaRPr lang="en-US" altLang="zh-CN" sz="2000" dirty="0">
              <a:solidFill>
                <a:schemeClr val="tx1"/>
              </a:solidFill>
            </a:endParaRPr>
          </a:p>
        </p:txBody>
      </p:sp>
      <p:sp>
        <p:nvSpPr>
          <p:cNvPr id="3" name="ïṧḷïḋè"/>
          <p:cNvSpPr/>
          <p:nvPr/>
        </p:nvSpPr>
        <p:spPr>
          <a:xfrm>
            <a:off x="8788400" y="4645660"/>
            <a:ext cx="6991350" cy="415290"/>
          </a:xfrm>
          <a:prstGeom prst="rect">
            <a:avLst/>
          </a:prstGeom>
          <a:noFill/>
          <a:ln>
            <a:noFill/>
          </a:ln>
        </p:spPr>
        <p:txBody>
          <a:bodyPr wrap="square" lIns="91440" tIns="45720" rIns="91440" bIns="45720" anchor="ctr" anchorCtr="0">
            <a:noAutofit/>
          </a:bodyPr>
          <a:p>
            <a:r>
              <a:rPr lang="zh-CN" altLang="en-US" sz="2400" b="1" dirty="0">
                <a:solidFill>
                  <a:srgbClr val="C00000"/>
                </a:solidFill>
              </a:rPr>
              <a:t>平均带权周转时间</a:t>
            </a:r>
            <a:endParaRPr lang="zh-CN" altLang="en-US" sz="2400" b="1" dirty="0">
              <a:solidFill>
                <a:srgbClr val="C00000"/>
              </a:solidFill>
            </a:endParaRPr>
          </a:p>
        </p:txBody>
      </p:sp>
      <p:sp>
        <p:nvSpPr>
          <p:cNvPr id="4" name="ïṧḷïḋè"/>
          <p:cNvSpPr/>
          <p:nvPr/>
        </p:nvSpPr>
        <p:spPr>
          <a:xfrm>
            <a:off x="1116330" y="5484495"/>
            <a:ext cx="9066530" cy="1033145"/>
          </a:xfrm>
          <a:prstGeom prst="rect">
            <a:avLst/>
          </a:prstGeom>
          <a:noFill/>
          <a:ln>
            <a:noFill/>
          </a:ln>
        </p:spPr>
        <p:txBody>
          <a:bodyPr wrap="square" lIns="91440" tIns="45720" rIns="91440" bIns="45720" anchor="ctr" anchorCtr="0">
            <a:noAutofit/>
          </a:bodyPr>
          <a:p>
            <a:r>
              <a:rPr lang="en-US" altLang="zh-CN" sz="2400" dirty="0">
                <a:solidFill>
                  <a:schemeClr val="tx1"/>
                </a:solidFill>
              </a:rPr>
              <a:t>(3)</a:t>
            </a:r>
            <a:r>
              <a:rPr lang="zh-CN" altLang="en-US" sz="2400" dirty="0">
                <a:solidFill>
                  <a:schemeClr val="tx1"/>
                </a:solidFill>
              </a:rPr>
              <a:t>等待时间</a:t>
            </a:r>
            <a:r>
              <a:rPr lang="en-US" altLang="zh-CN" sz="2400" dirty="0">
                <a:solidFill>
                  <a:schemeClr val="tx1"/>
                </a:solidFill>
              </a:rPr>
              <a:t>=</a:t>
            </a:r>
            <a:r>
              <a:rPr lang="zh-CN" altLang="en-US" sz="2400" dirty="0">
                <a:sym typeface="+mn-ea"/>
              </a:rPr>
              <a:t>周转时间</a:t>
            </a:r>
            <a:r>
              <a:rPr lang="en-US" altLang="zh-CN" sz="2400" dirty="0">
                <a:sym typeface="+mn-ea"/>
              </a:rPr>
              <a:t>-</a:t>
            </a:r>
            <a:r>
              <a:rPr lang="zh-CN" altLang="en-US" sz="2400" dirty="0">
                <a:sym typeface="+mn-ea"/>
              </a:rPr>
              <a:t>运行时间</a:t>
            </a:r>
            <a:endParaRPr lang="zh-CN" altLang="en-US" sz="2400" dirty="0">
              <a:solidFill>
                <a:schemeClr val="tx1"/>
              </a:solidFill>
            </a:endParaRPr>
          </a:p>
          <a:p>
            <a:endParaRPr lang="zh-CN" altLang="en-US" sz="2000" dirty="0">
              <a:solidFill>
                <a:schemeClr val="tx1"/>
              </a:solidFill>
            </a:endParaRPr>
          </a:p>
        </p:txBody>
      </p:sp>
      <p:sp>
        <p:nvSpPr>
          <p:cNvPr id="5" name="ïṧḷïḋè"/>
          <p:cNvSpPr/>
          <p:nvPr/>
        </p:nvSpPr>
        <p:spPr>
          <a:xfrm>
            <a:off x="8970645" y="5610860"/>
            <a:ext cx="6991350" cy="415290"/>
          </a:xfrm>
          <a:prstGeom prst="rect">
            <a:avLst/>
          </a:prstGeom>
          <a:noFill/>
          <a:ln>
            <a:noFill/>
          </a:ln>
        </p:spPr>
        <p:txBody>
          <a:bodyPr wrap="square" lIns="91440" tIns="45720" rIns="91440" bIns="45720" anchor="ctr" anchorCtr="0">
            <a:noAutofit/>
          </a:bodyPr>
          <a:p>
            <a:r>
              <a:rPr lang="zh-CN" altLang="en-US" sz="2400" b="1" dirty="0">
                <a:solidFill>
                  <a:srgbClr val="C00000"/>
                </a:solidFill>
              </a:rPr>
              <a:t>平均等待时间</a:t>
            </a:r>
            <a:endParaRPr lang="zh-CN" altLang="en-US" sz="2400" b="1" dirty="0">
              <a:solidFill>
                <a:srgbClr val="C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dirty="0">
                <a:latin typeface="+mj-ea"/>
                <a:ea typeface="+mj-ea"/>
              </a:rPr>
              <a:t>3.1 </a:t>
            </a:r>
            <a:r>
              <a:rPr lang="zh-CN" altLang="en-US" sz="2400" dirty="0">
                <a:latin typeface="+mj-ea"/>
                <a:ea typeface="+mj-ea"/>
              </a:rPr>
              <a:t>处理机调度概述</a:t>
            </a:r>
            <a:endParaRPr lang="zh-CN" altLang="en-US" sz="2400" dirty="0">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b="1" dirty="0">
                <a:solidFill>
                  <a:srgbClr val="0000FF"/>
                </a:solidFill>
                <a:latin typeface="+mj-ea"/>
              </a:rPr>
              <a:t>3.2 </a:t>
            </a:r>
            <a:r>
              <a:rPr lang="zh-CN" altLang="en-US" sz="2400" b="1" dirty="0">
                <a:solidFill>
                  <a:srgbClr val="0000FF"/>
                </a:solidFill>
                <a:latin typeface="+mj-ea"/>
              </a:rPr>
              <a:t>调度算法</a:t>
            </a:r>
            <a:endParaRPr lang="en-US" altLang="zh-CN" sz="2400" b="1" dirty="0">
              <a:solidFill>
                <a:srgbClr val="0000FF"/>
              </a:solidFill>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solidFill>
                  <a:schemeClr val="bg1">
                    <a:lumMod val="75000"/>
                  </a:schemeClr>
                </a:solidFill>
                <a:latin typeface="+mj-ea"/>
              </a:rPr>
              <a:t>3.3 </a:t>
            </a:r>
            <a:r>
              <a:rPr lang="zh-CN" altLang="en-US" sz="2400" dirty="0">
                <a:solidFill>
                  <a:schemeClr val="bg1">
                    <a:lumMod val="75000"/>
                  </a:schemeClr>
                </a:solidFill>
                <a:latin typeface="+mj-ea"/>
              </a:rPr>
              <a:t>实时调度</a:t>
            </a:r>
            <a:endParaRPr lang="zh-CN" altLang="en-US" sz="2400" dirty="0">
              <a:solidFill>
                <a:schemeClr val="bg1">
                  <a:lumMod val="75000"/>
                </a:schemeClr>
              </a:solidFill>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dirty="0">
                <a:solidFill>
                  <a:schemeClr val="bg1">
                    <a:lumMod val="75000"/>
                  </a:schemeClr>
                </a:solidFill>
                <a:latin typeface="+mj-ea"/>
              </a:rPr>
              <a:t>3.4 Linux</a:t>
            </a:r>
            <a:r>
              <a:rPr lang="zh-CN" altLang="en-US" sz="2400" dirty="0">
                <a:solidFill>
                  <a:schemeClr val="bg1">
                    <a:lumMod val="75000"/>
                  </a:schemeClr>
                </a:solidFill>
                <a:latin typeface="+mj-ea"/>
              </a:rPr>
              <a:t>进程调度</a:t>
            </a:r>
            <a:endParaRPr lang="zh-CN" altLang="en-US" sz="2400" dirty="0">
              <a:solidFill>
                <a:schemeClr val="bg1">
                  <a:lumMod val="75000"/>
                </a:schemeClr>
              </a:solidFill>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dirty="0">
                <a:latin typeface="+mj-ea"/>
              </a:rPr>
              <a:t>3.5 </a:t>
            </a:r>
            <a:r>
              <a:rPr lang="zh-CN" altLang="en-US" sz="2400" dirty="0">
                <a:latin typeface="+mj-ea"/>
              </a:rPr>
              <a:t>死锁概述</a:t>
            </a:r>
            <a:endParaRPr lang="zh-CN" altLang="en-US" sz="2400" dirty="0">
              <a:latin typeface="+mj-ea"/>
            </a:endParaRPr>
          </a:p>
        </p:txBody>
      </p:sp>
      <p:sp>
        <p:nvSpPr>
          <p:cNvPr id="28" name="矩形 27"/>
          <p:cNvSpPr/>
          <p:nvPr/>
        </p:nvSpPr>
        <p:spPr>
          <a:xfrm>
            <a:off x="1696468" y="4590913"/>
            <a:ext cx="3682151" cy="1200329"/>
          </a:xfrm>
          <a:prstGeom prst="rect">
            <a:avLst/>
          </a:prstGeom>
        </p:spPr>
        <p:txBody>
          <a:bodyPr wrap="square">
            <a:spAutoFit/>
          </a:bodyPr>
          <a:lstStyle/>
          <a:p>
            <a:r>
              <a:rPr lang="en-US" altLang="zh-CN" sz="2400" dirty="0">
                <a:latin typeface="+mj-ea"/>
              </a:rPr>
              <a:t>3.6 </a:t>
            </a:r>
            <a:r>
              <a:rPr lang="zh-CN" altLang="en-US" sz="2400" dirty="0">
                <a:latin typeface="+mj-ea"/>
              </a:rPr>
              <a:t>预防死锁</a:t>
            </a:r>
            <a:endParaRPr lang="zh-CN" altLang="en-US" sz="2400" dirty="0">
              <a:latin typeface="+mj-ea"/>
            </a:endParaRPr>
          </a:p>
        </p:txBody>
      </p:sp>
      <p:sp>
        <p:nvSpPr>
          <p:cNvPr id="29" name="矩形 28"/>
          <p:cNvSpPr/>
          <p:nvPr/>
        </p:nvSpPr>
        <p:spPr>
          <a:xfrm>
            <a:off x="1696469" y="5210038"/>
            <a:ext cx="2866200" cy="461665"/>
          </a:xfrm>
          <a:prstGeom prst="rect">
            <a:avLst/>
          </a:prstGeom>
        </p:spPr>
        <p:txBody>
          <a:bodyPr wrap="square">
            <a:spAutoFit/>
          </a:bodyPr>
          <a:lstStyle/>
          <a:p>
            <a:r>
              <a:rPr lang="en-US" altLang="zh-CN" sz="2400" dirty="0">
                <a:latin typeface="+mj-ea"/>
              </a:rPr>
              <a:t>3.7 </a:t>
            </a:r>
            <a:r>
              <a:rPr lang="zh-CN" altLang="en-US" sz="2400" dirty="0">
                <a:latin typeface="+mj-ea"/>
              </a:rPr>
              <a:t>避免死锁</a:t>
            </a:r>
            <a:endParaRPr lang="zh-CN" altLang="en-US" sz="2400" dirty="0">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3</a:t>
            </a:r>
            <a:r>
              <a:rPr lang="zh-CN" altLang="en-US" sz="3600" dirty="0">
                <a:solidFill>
                  <a:srgbClr val="000000"/>
                </a:solidFill>
              </a:rPr>
              <a:t>章 处理机调度与死锁</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dirty="0">
                <a:latin typeface="+mj-ea"/>
              </a:rPr>
              <a:t>3.8 </a:t>
            </a:r>
            <a:r>
              <a:rPr lang="zh-CN" altLang="en-US" sz="2400" dirty="0">
                <a:latin typeface="+mj-ea"/>
              </a:rPr>
              <a:t>死锁的检测与解除</a:t>
            </a:r>
            <a:endParaRPr lang="zh-CN" altLang="en-US" sz="2400" dirty="0">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进程调度算法</a:t>
            </a:r>
            <a:endParaRPr lang="zh-CN" altLang="en-US" sz="2800" b="1" dirty="0">
              <a:solidFill>
                <a:schemeClr val="bg1"/>
              </a:solidFill>
            </a:endParaRPr>
          </a:p>
        </p:txBody>
      </p:sp>
      <p:sp>
        <p:nvSpPr>
          <p:cNvPr id="29" name="矩形 28"/>
          <p:cNvSpPr/>
          <p:nvPr>
            <p:custDataLst>
              <p:tags r:id="rId1"/>
            </p:custDataLst>
          </p:nvPr>
        </p:nvSpPr>
        <p:spPr>
          <a:xfrm>
            <a:off x="1754760" y="1686896"/>
            <a:ext cx="4500146" cy="461665"/>
          </a:xfrm>
          <a:prstGeom prst="rect">
            <a:avLst/>
          </a:prstGeom>
        </p:spPr>
        <p:txBody>
          <a:bodyPr wrap="square">
            <a:spAutoFit/>
          </a:bodyPr>
          <a:lstStyle/>
          <a:p>
            <a:r>
              <a:rPr lang="zh-CN" altLang="en-US" sz="2400" dirty="0">
                <a:solidFill>
                  <a:srgbClr val="0000FF"/>
                </a:solidFill>
                <a:latin typeface="+mj-ea"/>
                <a:ea typeface="+mj-ea"/>
              </a:rPr>
              <a:t>先来先服务调度算法</a:t>
            </a:r>
            <a:r>
              <a:rPr lang="en-US" altLang="zh-CN" sz="2400" dirty="0">
                <a:solidFill>
                  <a:srgbClr val="0000FF"/>
                </a:solidFill>
                <a:latin typeface="+mj-ea"/>
                <a:ea typeface="+mj-ea"/>
              </a:rPr>
              <a:t>(FCFS)</a:t>
            </a:r>
            <a:endParaRPr lang="en-US" altLang="zh-CN" sz="2400" dirty="0">
              <a:solidFill>
                <a:srgbClr val="0000FF"/>
              </a:solidFill>
              <a:latin typeface="+mj-ea"/>
              <a:ea typeface="+mj-ea"/>
            </a:endParaRPr>
          </a:p>
        </p:txBody>
      </p:sp>
      <p:sp>
        <p:nvSpPr>
          <p:cNvPr id="31" name="矩形 30"/>
          <p:cNvSpPr/>
          <p:nvPr>
            <p:custDataLst>
              <p:tags r:id="rId2"/>
            </p:custDataLst>
          </p:nvPr>
        </p:nvSpPr>
        <p:spPr>
          <a:xfrm>
            <a:off x="1754760" y="2744220"/>
            <a:ext cx="3682150" cy="461665"/>
          </a:xfrm>
          <a:prstGeom prst="rect">
            <a:avLst/>
          </a:prstGeom>
        </p:spPr>
        <p:txBody>
          <a:bodyPr wrap="square">
            <a:spAutoFit/>
          </a:bodyPr>
          <a:lstStyle/>
          <a:p>
            <a:r>
              <a:rPr lang="zh-CN" altLang="en-US" sz="2400" dirty="0">
                <a:solidFill>
                  <a:srgbClr val="0000FF"/>
                </a:solidFill>
                <a:latin typeface="+mj-ea"/>
              </a:rPr>
              <a:t>短作业优先调度算法</a:t>
            </a:r>
            <a:r>
              <a:rPr lang="en-US" altLang="zh-CN" sz="2400" dirty="0">
                <a:solidFill>
                  <a:srgbClr val="0000FF"/>
                </a:solidFill>
                <a:latin typeface="+mj-ea"/>
              </a:rPr>
              <a:t>(SJF)</a:t>
            </a:r>
            <a:endParaRPr lang="en-US" altLang="zh-CN" sz="2400" dirty="0">
              <a:solidFill>
                <a:srgbClr val="0000FF"/>
              </a:solidFill>
              <a:latin typeface="+mj-ea"/>
            </a:endParaRPr>
          </a:p>
        </p:txBody>
      </p:sp>
      <p:sp>
        <p:nvSpPr>
          <p:cNvPr id="32" name="矩形 31"/>
          <p:cNvSpPr/>
          <p:nvPr>
            <p:custDataLst>
              <p:tags r:id="rId3"/>
            </p:custDataLst>
          </p:nvPr>
        </p:nvSpPr>
        <p:spPr>
          <a:xfrm>
            <a:off x="1754759" y="3714808"/>
            <a:ext cx="3488967" cy="460375"/>
          </a:xfrm>
          <a:prstGeom prst="rect">
            <a:avLst/>
          </a:prstGeom>
        </p:spPr>
        <p:txBody>
          <a:bodyPr wrap="square">
            <a:spAutoFit/>
          </a:bodyPr>
          <a:lstStyle/>
          <a:p>
            <a:r>
              <a:rPr lang="zh-CN" altLang="en-US" sz="2400" dirty="0">
                <a:solidFill>
                  <a:srgbClr val="0000FF"/>
                </a:solidFill>
                <a:latin typeface="+mj-ea"/>
              </a:rPr>
              <a:t>优先权调度算法</a:t>
            </a:r>
            <a:r>
              <a:rPr lang="en-US" altLang="zh-CN" sz="2400" dirty="0">
                <a:solidFill>
                  <a:srgbClr val="0000FF"/>
                </a:solidFill>
                <a:latin typeface="+mj-ea"/>
              </a:rPr>
              <a:t>(PR)</a:t>
            </a:r>
            <a:endParaRPr lang="en-US" altLang="zh-CN" sz="2400" dirty="0">
              <a:latin typeface="+mj-ea"/>
            </a:endParaRPr>
          </a:p>
        </p:txBody>
      </p:sp>
      <p:sp>
        <p:nvSpPr>
          <p:cNvPr id="34" name="矩形 33"/>
          <p:cNvSpPr/>
          <p:nvPr/>
        </p:nvSpPr>
        <p:spPr>
          <a:xfrm>
            <a:off x="7265924" y="1596497"/>
            <a:ext cx="3488967" cy="461665"/>
          </a:xfrm>
          <a:prstGeom prst="rect">
            <a:avLst/>
          </a:prstGeom>
        </p:spPr>
        <p:txBody>
          <a:bodyPr wrap="square">
            <a:spAutoFit/>
          </a:bodyPr>
          <a:lstStyle/>
          <a:p>
            <a:r>
              <a:rPr lang="zh-CN" altLang="en-US" sz="2400" dirty="0">
                <a:latin typeface="+mj-ea"/>
              </a:rPr>
              <a:t>时间片轮转调度算法</a:t>
            </a:r>
            <a:r>
              <a:rPr lang="en-US" altLang="zh-CN" sz="2400" dirty="0">
                <a:latin typeface="+mj-ea"/>
              </a:rPr>
              <a:t>(RR)</a:t>
            </a:r>
            <a:endParaRPr lang="en-US" altLang="zh-CN" sz="2400" dirty="0">
              <a:latin typeface="+mj-ea"/>
            </a:endParaRPr>
          </a:p>
        </p:txBody>
      </p:sp>
      <p:sp>
        <p:nvSpPr>
          <p:cNvPr id="36" name="矩形 35"/>
          <p:cNvSpPr/>
          <p:nvPr>
            <p:custDataLst>
              <p:tags r:id="rId4"/>
            </p:custDataLst>
          </p:nvPr>
        </p:nvSpPr>
        <p:spPr>
          <a:xfrm>
            <a:off x="7330694" y="2717936"/>
            <a:ext cx="3905342" cy="461665"/>
          </a:xfrm>
          <a:prstGeom prst="rect">
            <a:avLst/>
          </a:prstGeom>
        </p:spPr>
        <p:txBody>
          <a:bodyPr wrap="square">
            <a:spAutoFit/>
          </a:bodyPr>
          <a:lstStyle/>
          <a:p>
            <a:r>
              <a:rPr lang="zh-CN" altLang="en-US" sz="2400" dirty="0">
                <a:latin typeface="+mj-ea"/>
              </a:rPr>
              <a:t>多级队列调度算法</a:t>
            </a:r>
            <a:endParaRPr lang="zh-CN" altLang="en-US" sz="2400" dirty="0">
              <a:latin typeface="+mj-ea"/>
            </a:endParaRPr>
          </a:p>
        </p:txBody>
      </p:sp>
      <p:sp>
        <p:nvSpPr>
          <p:cNvPr id="38" name="矩形 37"/>
          <p:cNvSpPr/>
          <p:nvPr>
            <p:custDataLst>
              <p:tags r:id="rId5"/>
            </p:custDataLst>
          </p:nvPr>
        </p:nvSpPr>
        <p:spPr>
          <a:xfrm>
            <a:off x="7329413" y="3752846"/>
            <a:ext cx="3682151" cy="461665"/>
          </a:xfrm>
          <a:prstGeom prst="rect">
            <a:avLst/>
          </a:prstGeom>
        </p:spPr>
        <p:txBody>
          <a:bodyPr wrap="square">
            <a:spAutoFit/>
          </a:bodyPr>
          <a:lstStyle/>
          <a:p>
            <a:r>
              <a:rPr lang="zh-CN" altLang="en-US" sz="2400" dirty="0">
                <a:latin typeface="+mj-ea"/>
              </a:rPr>
              <a:t>多级反馈队列调度算法</a:t>
            </a:r>
            <a:endParaRPr lang="zh-CN" altLang="en-US" sz="2400" dirty="0">
              <a:latin typeface="+mj-ea"/>
            </a:endParaRPr>
          </a:p>
        </p:txBody>
      </p:sp>
      <p:pic>
        <p:nvPicPr>
          <p:cNvPr id="40" name="图片 39"/>
          <p:cNvPicPr>
            <a:picLocks noChangeAspect="1"/>
          </p:cNvPicPr>
          <p:nvPr>
            <p:custDataLst>
              <p:tags r:id="rId6"/>
            </p:custDataLst>
          </p:nvPr>
        </p:nvPicPr>
        <p:blipFill>
          <a:blip r:embed="rId7" cstate="print">
            <a:extLst>
              <a:ext uri="{28A0092B-C50C-407E-A947-70E740481C1C}">
                <a14:useLocalDpi xmlns:a14="http://schemas.microsoft.com/office/drawing/2010/main" val="0"/>
              </a:ext>
            </a:extLst>
          </a:blip>
          <a:srcRect/>
          <a:stretch>
            <a:fillRect/>
          </a:stretch>
        </p:blipFill>
        <p:spPr>
          <a:xfrm>
            <a:off x="1227709" y="1649886"/>
            <a:ext cx="527050" cy="527050"/>
          </a:xfrm>
          <a:prstGeom prst="rect">
            <a:avLst/>
          </a:prstGeom>
          <a:ln>
            <a:noFill/>
          </a:ln>
          <a:effectLst>
            <a:softEdge rad="0"/>
          </a:effectLst>
        </p:spPr>
      </p:pic>
      <p:pic>
        <p:nvPicPr>
          <p:cNvPr id="42" name="图片 41"/>
          <p:cNvPicPr>
            <a:picLocks noChangeAspect="1"/>
          </p:cNvPicPr>
          <p:nvPr>
            <p:custDataLst>
              <p:tags r:id="rId8"/>
            </p:custDataLst>
          </p:nvPr>
        </p:nvPicPr>
        <p:blipFill>
          <a:blip r:embed="rId7" cstate="print">
            <a:extLst>
              <a:ext uri="{28A0092B-C50C-407E-A947-70E740481C1C}">
                <a14:useLocalDpi xmlns:a14="http://schemas.microsoft.com/office/drawing/2010/main" val="0"/>
              </a:ext>
            </a:extLst>
          </a:blip>
          <a:srcRect/>
          <a:stretch>
            <a:fillRect/>
          </a:stretch>
        </p:blipFill>
        <p:spPr>
          <a:xfrm>
            <a:off x="1227709" y="2698565"/>
            <a:ext cx="527050" cy="527050"/>
          </a:xfrm>
          <a:prstGeom prst="rect">
            <a:avLst/>
          </a:prstGeom>
          <a:ln>
            <a:noFill/>
          </a:ln>
          <a:effectLst>
            <a:softEdge rad="0"/>
          </a:effectLst>
        </p:spPr>
      </p:pic>
      <p:pic>
        <p:nvPicPr>
          <p:cNvPr id="44" name="图片 43"/>
          <p:cNvPicPr>
            <a:picLocks noChangeAspect="1"/>
          </p:cNvPicPr>
          <p:nvPr>
            <p:custDataLst>
              <p:tags r:id="rId9"/>
            </p:custDataLst>
          </p:nvPr>
        </p:nvPicPr>
        <p:blipFill>
          <a:blip r:embed="rId7" cstate="print">
            <a:extLst>
              <a:ext uri="{28A0092B-C50C-407E-A947-70E740481C1C}">
                <a14:useLocalDpi xmlns:a14="http://schemas.microsoft.com/office/drawing/2010/main" val="0"/>
              </a:ext>
            </a:extLst>
          </a:blip>
          <a:srcRect/>
          <a:stretch>
            <a:fillRect/>
          </a:stretch>
        </p:blipFill>
        <p:spPr>
          <a:xfrm>
            <a:off x="1227709" y="3687741"/>
            <a:ext cx="527050" cy="527050"/>
          </a:xfrm>
          <a:prstGeom prst="rect">
            <a:avLst/>
          </a:prstGeom>
          <a:ln>
            <a:noFill/>
          </a:ln>
          <a:effectLst>
            <a:softEdge rad="0"/>
          </a:effectLst>
        </p:spPr>
      </p:pic>
      <p:pic>
        <p:nvPicPr>
          <p:cNvPr id="45" name="图片 44"/>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a:xfrm>
            <a:off x="6738874" y="1568778"/>
            <a:ext cx="527050" cy="527050"/>
          </a:xfrm>
          <a:prstGeom prst="rect">
            <a:avLst/>
          </a:prstGeom>
          <a:ln>
            <a:noFill/>
          </a:ln>
          <a:effectLst>
            <a:softEdge rad="0"/>
          </a:effectLst>
        </p:spPr>
      </p:pic>
      <p:pic>
        <p:nvPicPr>
          <p:cNvPr id="46" name="图片 45"/>
          <p:cNvPicPr>
            <a:picLocks noChangeAspect="1"/>
          </p:cNvPicPr>
          <p:nvPr>
            <p:custDataLst>
              <p:tags r:id="rId10"/>
            </p:custDataLst>
          </p:nvPr>
        </p:nvPicPr>
        <p:blipFill>
          <a:blip r:embed="rId7" cstate="print">
            <a:extLst>
              <a:ext uri="{28A0092B-C50C-407E-A947-70E740481C1C}">
                <a14:useLocalDpi xmlns:a14="http://schemas.microsoft.com/office/drawing/2010/main" val="0"/>
              </a:ext>
            </a:extLst>
          </a:blip>
          <a:srcRect/>
          <a:stretch>
            <a:fillRect/>
          </a:stretch>
        </p:blipFill>
        <p:spPr>
          <a:xfrm>
            <a:off x="6803643" y="2688294"/>
            <a:ext cx="527050" cy="527050"/>
          </a:xfrm>
          <a:prstGeom prst="rect">
            <a:avLst/>
          </a:prstGeom>
          <a:ln>
            <a:noFill/>
          </a:ln>
          <a:effectLst>
            <a:softEdge rad="0"/>
          </a:effectLst>
        </p:spPr>
      </p:pic>
      <p:pic>
        <p:nvPicPr>
          <p:cNvPr id="47" name="图片 46"/>
          <p:cNvPicPr>
            <a:picLocks noChangeAspect="1"/>
          </p:cNvPicPr>
          <p:nvPr>
            <p:custDataLst>
              <p:tags r:id="rId11"/>
            </p:custDataLst>
          </p:nvPr>
        </p:nvPicPr>
        <p:blipFill>
          <a:blip r:embed="rId7" cstate="print">
            <a:extLst>
              <a:ext uri="{28A0092B-C50C-407E-A947-70E740481C1C}">
                <a14:useLocalDpi xmlns:a14="http://schemas.microsoft.com/office/drawing/2010/main" val="0"/>
              </a:ext>
            </a:extLst>
          </a:blip>
          <a:srcRect/>
          <a:stretch>
            <a:fillRect/>
          </a:stretch>
        </p:blipFill>
        <p:spPr>
          <a:xfrm>
            <a:off x="6802363" y="3715158"/>
            <a:ext cx="527050" cy="527050"/>
          </a:xfrm>
          <a:prstGeom prst="rect">
            <a:avLst/>
          </a:prstGeom>
          <a:ln>
            <a:noFill/>
          </a:ln>
          <a:effectLst>
            <a:softEdge rad="0"/>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先来先服务（</a:t>
            </a:r>
            <a:r>
              <a:rPr lang="en-US" altLang="zh-CN" sz="2800" b="1" dirty="0">
                <a:solidFill>
                  <a:schemeClr val="bg1"/>
                </a:solidFill>
              </a:rPr>
              <a:t>FCFS</a:t>
            </a:r>
            <a:r>
              <a:rPr lang="zh-CN" altLang="en-US" sz="2800" b="1" dirty="0">
                <a:solidFill>
                  <a:schemeClr val="bg1"/>
                </a:solidFill>
              </a:rPr>
              <a:t>）调度算法</a:t>
            </a:r>
            <a:endParaRPr lang="zh-CN" altLang="en-US" sz="2800" b="1" dirty="0">
              <a:solidFill>
                <a:schemeClr val="bg1"/>
              </a:solidFill>
            </a:endParaRPr>
          </a:p>
        </p:txBody>
      </p:sp>
      <p:pic>
        <p:nvPicPr>
          <p:cNvPr id="2" name="图片 1"/>
          <p:cNvPicPr>
            <a:picLocks noChangeAspect="1"/>
          </p:cNvPicPr>
          <p:nvPr/>
        </p:nvPicPr>
        <p:blipFill>
          <a:blip r:embed="rId1"/>
          <a:stretch>
            <a:fillRect/>
          </a:stretch>
        </p:blipFill>
        <p:spPr>
          <a:xfrm>
            <a:off x="944880" y="907415"/>
            <a:ext cx="10582910" cy="2686685"/>
          </a:xfrm>
          <a:prstGeom prst="rect">
            <a:avLst/>
          </a:prstGeom>
        </p:spPr>
      </p:pic>
      <p:pic>
        <p:nvPicPr>
          <p:cNvPr id="3" name="图片 2"/>
          <p:cNvPicPr>
            <a:picLocks noChangeAspect="1"/>
          </p:cNvPicPr>
          <p:nvPr/>
        </p:nvPicPr>
        <p:blipFill>
          <a:blip r:embed="rId2"/>
          <a:stretch>
            <a:fillRect/>
          </a:stretch>
        </p:blipFill>
        <p:spPr>
          <a:xfrm>
            <a:off x="944880" y="907415"/>
            <a:ext cx="10583545" cy="2778125"/>
          </a:xfrm>
          <a:prstGeom prst="rect">
            <a:avLst/>
          </a:prstGeom>
        </p:spPr>
      </p:pic>
      <p:pic>
        <p:nvPicPr>
          <p:cNvPr id="4" name="图片 3"/>
          <p:cNvPicPr>
            <a:picLocks noChangeAspect="1"/>
          </p:cNvPicPr>
          <p:nvPr/>
        </p:nvPicPr>
        <p:blipFill>
          <a:blip r:embed="rId3"/>
          <a:stretch>
            <a:fillRect/>
          </a:stretch>
        </p:blipFill>
        <p:spPr>
          <a:xfrm>
            <a:off x="1509395" y="4164330"/>
            <a:ext cx="9172575" cy="1247775"/>
          </a:xfrm>
          <a:prstGeom prst="rect">
            <a:avLst/>
          </a:prstGeom>
        </p:spPr>
      </p:pic>
      <p:sp>
        <p:nvSpPr>
          <p:cNvPr id="5" name="文本框 4"/>
          <p:cNvSpPr txBox="1"/>
          <p:nvPr/>
        </p:nvSpPr>
        <p:spPr>
          <a:xfrm>
            <a:off x="2715260" y="5544820"/>
            <a:ext cx="5835650" cy="460375"/>
          </a:xfrm>
          <a:prstGeom prst="rect">
            <a:avLst/>
          </a:prstGeom>
          <a:solidFill>
            <a:schemeClr val="accent1">
              <a:lumMod val="20000"/>
              <a:lumOff val="80000"/>
            </a:schemeClr>
          </a:solidFill>
        </p:spPr>
        <p:txBody>
          <a:bodyPr wrap="square" rtlCol="0" anchor="t">
            <a:spAutoFit/>
          </a:bodyPr>
          <a:p>
            <a:r>
              <a:rPr lang="zh-CN" altLang="en-US" sz="2400" dirty="0">
                <a:sym typeface="+mn-ea"/>
              </a:rPr>
              <a:t>甘特图</a:t>
            </a:r>
            <a:r>
              <a:rPr lang="en-US" altLang="zh-CN" sz="2400" dirty="0">
                <a:sym typeface="+mn-ea"/>
              </a:rPr>
              <a:t>(Gantt)</a:t>
            </a:r>
            <a:r>
              <a:rPr lang="zh-CN" sz="2400" dirty="0">
                <a:sym typeface="+mn-ea"/>
              </a:rPr>
              <a:t>用于显示和管理项目的进度</a:t>
            </a:r>
            <a:endParaRPr lang="zh-CN" altLang="en-US" sz="2400"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22" presetClass="exit" presetSubtype="4" fill="hold" nodeType="withEffect">
                                  <p:stCondLst>
                                    <p:cond delay="0"/>
                                  </p:stCondLst>
                                  <p:childTnLst>
                                    <p:animEffect transition="out" filter="wipe(down)">
                                      <p:cBhvr>
                                        <p:cTn id="9" dur="500"/>
                                        <p:tgtEl>
                                          <p:spTgt spid="2"/>
                                        </p:tgtEl>
                                      </p:cBhvr>
                                    </p:animEffect>
                                    <p:set>
                                      <p:cBhvr>
                                        <p:cTn id="10" dur="1" fill="hold">
                                          <p:stCondLst>
                                            <p:cond delay="499"/>
                                          </p:stCondLst>
                                        </p:cTn>
                                        <p:tgtEl>
                                          <p:spTgt spid="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ox(in)">
                                      <p:cBhvr>
                                        <p:cTn id="15" dur="20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先来先服务（</a:t>
            </a:r>
            <a:r>
              <a:rPr lang="en-US" altLang="zh-CN" sz="2800" b="1" dirty="0">
                <a:solidFill>
                  <a:schemeClr val="bg1"/>
                </a:solidFill>
              </a:rPr>
              <a:t>FCFS</a:t>
            </a:r>
            <a:r>
              <a:rPr lang="zh-CN" altLang="en-US" sz="2800" b="1" dirty="0">
                <a:solidFill>
                  <a:schemeClr val="bg1"/>
                </a:solidFill>
              </a:rPr>
              <a:t>）调度算法</a:t>
            </a:r>
            <a:endParaRPr lang="zh-CN" altLang="en-US" sz="2800" b="1" dirty="0">
              <a:solidFill>
                <a:schemeClr val="bg1"/>
              </a:solidFill>
            </a:endParaRPr>
          </a:p>
        </p:txBody>
      </p:sp>
      <p:sp>
        <p:nvSpPr>
          <p:cNvPr id="21" name="iśḷíḑe"/>
          <p:cNvSpPr/>
          <p:nvPr/>
        </p:nvSpPr>
        <p:spPr>
          <a:xfrm>
            <a:off x="787084" y="1263396"/>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00</a:t>
            </a:r>
            <a:endParaRPr lang="zh-CN" altLang="en-US" sz="2400" b="1" kern="0" dirty="0">
              <a:solidFill>
                <a:prstClr val="white"/>
              </a:solidFill>
            </a:endParaRPr>
          </a:p>
        </p:txBody>
      </p:sp>
      <p:sp>
        <p:nvSpPr>
          <p:cNvPr id="22" name="ïś1ïḑè"/>
          <p:cNvSpPr/>
          <p:nvPr/>
        </p:nvSpPr>
        <p:spPr>
          <a:xfrm>
            <a:off x="831525" y="3169159"/>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00</a:t>
            </a:r>
            <a:endParaRPr lang="zh-CN" altLang="en-US" sz="2400" b="1" kern="0" dirty="0">
              <a:solidFill>
                <a:prstClr val="white"/>
              </a:solidFill>
            </a:endParaRPr>
          </a:p>
        </p:txBody>
      </p:sp>
      <p:sp>
        <p:nvSpPr>
          <p:cNvPr id="32" name="内容占位符 2"/>
          <p:cNvSpPr txBox="1"/>
          <p:nvPr/>
        </p:nvSpPr>
        <p:spPr>
          <a:xfrm>
            <a:off x="1750060" y="3100070"/>
            <a:ext cx="5128895" cy="7562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en-US" altLang="zh-CN" sz="2400" dirty="0"/>
              <a:t> </a:t>
            </a:r>
            <a:r>
              <a:rPr lang="zh-CN" altLang="en-US" sz="2400" dirty="0"/>
              <a:t>该调度的</a:t>
            </a:r>
            <a:r>
              <a:rPr lang="zh-CN" altLang="en-US" sz="2400" b="1" dirty="0">
                <a:solidFill>
                  <a:schemeClr val="accent4">
                    <a:lumMod val="60000"/>
                    <a:lumOff val="40000"/>
                  </a:schemeClr>
                </a:solidFill>
              </a:rPr>
              <a:t>甘特图</a:t>
            </a:r>
            <a:r>
              <a:rPr lang="en-US" altLang="zh-CN" sz="2400" dirty="0"/>
              <a:t>(Gantt)</a:t>
            </a:r>
            <a:r>
              <a:rPr lang="zh-CN" altLang="en-US" sz="2400" dirty="0"/>
              <a:t>为</a:t>
            </a:r>
            <a:r>
              <a:rPr lang="en-US" altLang="zh-CN" sz="2400" dirty="0"/>
              <a:t>:</a:t>
            </a:r>
            <a:endParaRPr lang="en-US" altLang="zh-CN" sz="2400" dirty="0"/>
          </a:p>
        </p:txBody>
      </p:sp>
      <p:sp>
        <p:nvSpPr>
          <p:cNvPr id="33" name="内容占位符 2"/>
          <p:cNvSpPr txBox="1"/>
          <p:nvPr/>
        </p:nvSpPr>
        <p:spPr>
          <a:xfrm>
            <a:off x="6448109" y="3169164"/>
            <a:ext cx="5506927"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平均等待时间 </a:t>
            </a:r>
            <a:r>
              <a:rPr lang="en-US" altLang="zh-CN" sz="2400" dirty="0"/>
              <a:t>= (0 + 24 + 27)/3 = 17</a:t>
            </a:r>
            <a:endParaRPr lang="en-US" altLang="zh-CN" sz="2400" dirty="0"/>
          </a:p>
        </p:txBody>
      </p:sp>
      <p:sp>
        <p:nvSpPr>
          <p:cNvPr id="37" name="内容占位符 2"/>
          <p:cNvSpPr txBox="1"/>
          <p:nvPr/>
        </p:nvSpPr>
        <p:spPr>
          <a:xfrm>
            <a:off x="6448449" y="3781304"/>
            <a:ext cx="5808772" cy="3434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平均周转时间 </a:t>
            </a:r>
            <a:r>
              <a:rPr lang="en-US" altLang="zh-CN" sz="2400" dirty="0"/>
              <a:t>= (24 + 27 + 30)/3 = 27</a:t>
            </a:r>
            <a:endParaRPr lang="en-US" altLang="zh-CN" sz="2400" dirty="0"/>
          </a:p>
        </p:txBody>
      </p:sp>
      <p:sp>
        <p:nvSpPr>
          <p:cNvPr id="38" name="内容占位符 2"/>
          <p:cNvSpPr txBox="1"/>
          <p:nvPr/>
        </p:nvSpPr>
        <p:spPr>
          <a:xfrm>
            <a:off x="1755356" y="1263744"/>
            <a:ext cx="3773010" cy="1764617"/>
          </a:xfrm>
          <a:prstGeom prst="rect">
            <a:avLst/>
          </a:prstGeom>
          <a:ln>
            <a:solidFill>
              <a:schemeClr val="bg2">
                <a:lumMod val="75000"/>
              </a:schemeClr>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 作业	              运行时间</a:t>
            </a:r>
            <a:endParaRPr lang="zh-CN" altLang="en-US" sz="2400" dirty="0"/>
          </a:p>
          <a:p>
            <a:pPr marL="0" indent="0">
              <a:buNone/>
            </a:pPr>
            <a:r>
              <a:rPr lang="en-US" altLang="zh-CN" sz="2400" dirty="0"/>
              <a:t>   J1		        24</a:t>
            </a:r>
            <a:endParaRPr lang="en-US" altLang="zh-CN" sz="2400" dirty="0"/>
          </a:p>
          <a:p>
            <a:pPr marL="0" indent="0">
              <a:buNone/>
            </a:pPr>
            <a:r>
              <a:rPr lang="en-US" altLang="zh-CN" sz="2400" dirty="0"/>
              <a:t>   J2 		         3</a:t>
            </a:r>
            <a:endParaRPr lang="en-US" altLang="zh-CN" sz="2400" dirty="0"/>
          </a:p>
          <a:p>
            <a:pPr marL="0" indent="0">
              <a:buNone/>
            </a:pPr>
            <a:r>
              <a:rPr lang="en-US" altLang="zh-CN" sz="2400" dirty="0"/>
              <a:t>   J3		         3 </a:t>
            </a:r>
            <a:endParaRPr lang="zh-CN" altLang="en-US" sz="2400" dirty="0"/>
          </a:p>
        </p:txBody>
      </p:sp>
      <p:grpSp>
        <p:nvGrpSpPr>
          <p:cNvPr id="39" name="Group 4"/>
          <p:cNvGrpSpPr/>
          <p:nvPr/>
        </p:nvGrpSpPr>
        <p:grpSpPr bwMode="auto">
          <a:xfrm>
            <a:off x="1073851" y="4295173"/>
            <a:ext cx="5752956" cy="1148749"/>
            <a:chOff x="850" y="2688"/>
            <a:chExt cx="3541" cy="953"/>
          </a:xfrm>
          <a:solidFill>
            <a:srgbClr val="FFFF00"/>
          </a:solidFill>
        </p:grpSpPr>
        <p:sp>
          <p:nvSpPr>
            <p:cNvPr id="40" name="Rectangle 5"/>
            <p:cNvSpPr>
              <a:spLocks noChangeArrowheads="1"/>
            </p:cNvSpPr>
            <p:nvPr/>
          </p:nvSpPr>
          <p:spPr bwMode="auto">
            <a:xfrm>
              <a:off x="960" y="2688"/>
              <a:ext cx="3312" cy="4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panose="020B0604020202020204" pitchFamily="34" charset="0"/>
              </a:endParaRPr>
            </a:p>
          </p:txBody>
        </p:sp>
        <p:sp>
          <p:nvSpPr>
            <p:cNvPr id="41" name="Text Box 6"/>
            <p:cNvSpPr txBox="1">
              <a:spLocks noChangeArrowheads="1"/>
            </p:cNvSpPr>
            <p:nvPr/>
          </p:nvSpPr>
          <p:spPr bwMode="auto">
            <a:xfrm>
              <a:off x="1764" y="2706"/>
              <a:ext cx="292" cy="409"/>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1</a:t>
              </a:r>
              <a:endParaRPr lang="en-US" altLang="zh-CN" sz="2600" dirty="0">
                <a:latin typeface="Arial" panose="020B0604020202020204" pitchFamily="34" charset="0"/>
              </a:endParaRPr>
            </a:p>
          </p:txBody>
        </p:sp>
        <p:sp>
          <p:nvSpPr>
            <p:cNvPr id="42" name="Text Box 7"/>
            <p:cNvSpPr txBox="1">
              <a:spLocks noChangeArrowheads="1"/>
            </p:cNvSpPr>
            <p:nvPr/>
          </p:nvSpPr>
          <p:spPr bwMode="auto">
            <a:xfrm>
              <a:off x="3252" y="2706"/>
              <a:ext cx="292" cy="409"/>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2</a:t>
              </a:r>
              <a:endParaRPr lang="en-US" altLang="zh-CN" sz="2600" dirty="0">
                <a:latin typeface="Arial" panose="020B0604020202020204" pitchFamily="34" charset="0"/>
              </a:endParaRPr>
            </a:p>
          </p:txBody>
        </p:sp>
        <p:sp>
          <p:nvSpPr>
            <p:cNvPr id="43" name="Text Box 8"/>
            <p:cNvSpPr txBox="1">
              <a:spLocks noChangeArrowheads="1"/>
            </p:cNvSpPr>
            <p:nvPr/>
          </p:nvSpPr>
          <p:spPr bwMode="auto">
            <a:xfrm>
              <a:off x="3828" y="2706"/>
              <a:ext cx="292" cy="409"/>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3</a:t>
              </a:r>
              <a:endParaRPr lang="en-US" altLang="zh-CN" sz="2600" dirty="0">
                <a:latin typeface="Arial" panose="020B0604020202020204" pitchFamily="34" charset="0"/>
              </a:endParaRPr>
            </a:p>
          </p:txBody>
        </p:sp>
        <p:sp>
          <p:nvSpPr>
            <p:cNvPr id="44" name="Line 9"/>
            <p:cNvSpPr>
              <a:spLocks noChangeShapeType="1"/>
            </p:cNvSpPr>
            <p:nvPr/>
          </p:nvSpPr>
          <p:spPr bwMode="auto">
            <a:xfrm>
              <a:off x="960" y="3072"/>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panose="020B0604020202020204" pitchFamily="34" charset="0"/>
              </a:endParaRPr>
            </a:p>
          </p:txBody>
        </p:sp>
        <p:sp>
          <p:nvSpPr>
            <p:cNvPr id="45" name="Line 10"/>
            <p:cNvSpPr>
              <a:spLocks noChangeShapeType="1"/>
            </p:cNvSpPr>
            <p:nvPr/>
          </p:nvSpPr>
          <p:spPr bwMode="auto">
            <a:xfrm>
              <a:off x="4272" y="3072"/>
              <a:ext cx="0" cy="217"/>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panose="020B0604020202020204" pitchFamily="34" charset="0"/>
              </a:endParaRPr>
            </a:p>
          </p:txBody>
        </p:sp>
        <p:sp>
          <p:nvSpPr>
            <p:cNvPr id="46" name="Line 11"/>
            <p:cNvSpPr>
              <a:spLocks noChangeShapeType="1"/>
            </p:cNvSpPr>
            <p:nvPr/>
          </p:nvSpPr>
          <p:spPr bwMode="auto">
            <a:xfrm>
              <a:off x="3072" y="2688"/>
              <a:ext cx="0" cy="38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panose="020B0604020202020204" pitchFamily="34" charset="0"/>
              </a:endParaRPr>
            </a:p>
          </p:txBody>
        </p:sp>
        <p:sp>
          <p:nvSpPr>
            <p:cNvPr id="47" name="Line 12"/>
            <p:cNvSpPr>
              <a:spLocks noChangeShapeType="1"/>
            </p:cNvSpPr>
            <p:nvPr/>
          </p:nvSpPr>
          <p:spPr bwMode="auto">
            <a:xfrm>
              <a:off x="3648" y="2688"/>
              <a:ext cx="0" cy="38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panose="020B0604020202020204" pitchFamily="34" charset="0"/>
              </a:endParaRPr>
            </a:p>
          </p:txBody>
        </p:sp>
        <p:sp>
          <p:nvSpPr>
            <p:cNvPr id="48" name="Line 13"/>
            <p:cNvSpPr>
              <a:spLocks noChangeShapeType="1"/>
            </p:cNvSpPr>
            <p:nvPr/>
          </p:nvSpPr>
          <p:spPr bwMode="auto">
            <a:xfrm>
              <a:off x="3072" y="3072"/>
              <a:ext cx="0" cy="186"/>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panose="020B0604020202020204" pitchFamily="34" charset="0"/>
              </a:endParaRPr>
            </a:p>
          </p:txBody>
        </p:sp>
        <p:sp>
          <p:nvSpPr>
            <p:cNvPr id="49" name="Line 14"/>
            <p:cNvSpPr>
              <a:spLocks noChangeShapeType="1"/>
            </p:cNvSpPr>
            <p:nvPr/>
          </p:nvSpPr>
          <p:spPr bwMode="auto">
            <a:xfrm>
              <a:off x="3648" y="3072"/>
              <a:ext cx="0" cy="217"/>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Arial" panose="020B0604020202020204" pitchFamily="34" charset="0"/>
              </a:endParaRPr>
            </a:p>
          </p:txBody>
        </p:sp>
        <p:sp>
          <p:nvSpPr>
            <p:cNvPr id="50" name="Text Box 15"/>
            <p:cNvSpPr txBox="1">
              <a:spLocks noChangeArrowheads="1"/>
            </p:cNvSpPr>
            <p:nvPr/>
          </p:nvSpPr>
          <p:spPr bwMode="auto">
            <a:xfrm>
              <a:off x="2911" y="3258"/>
              <a:ext cx="325" cy="3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400" dirty="0">
                  <a:latin typeface="Arial" panose="020B0604020202020204" pitchFamily="34" charset="0"/>
                </a:rPr>
                <a:t>24</a:t>
              </a:r>
              <a:endParaRPr lang="en-US" altLang="zh-CN" sz="2400" dirty="0">
                <a:latin typeface="Arial" panose="020B0604020202020204" pitchFamily="34" charset="0"/>
              </a:endParaRPr>
            </a:p>
          </p:txBody>
        </p:sp>
        <p:sp>
          <p:nvSpPr>
            <p:cNvPr id="51" name="Text Box 16"/>
            <p:cNvSpPr txBox="1">
              <a:spLocks noChangeArrowheads="1"/>
            </p:cNvSpPr>
            <p:nvPr/>
          </p:nvSpPr>
          <p:spPr bwMode="auto">
            <a:xfrm>
              <a:off x="3447" y="3258"/>
              <a:ext cx="325" cy="3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400">
                  <a:latin typeface="Arial" panose="020B0604020202020204" pitchFamily="34" charset="0"/>
                </a:rPr>
                <a:t>27</a:t>
              </a:r>
              <a:endParaRPr lang="en-US" altLang="zh-CN" sz="2400">
                <a:latin typeface="Arial" panose="020B0604020202020204" pitchFamily="34" charset="0"/>
              </a:endParaRPr>
            </a:p>
          </p:txBody>
        </p:sp>
        <p:sp>
          <p:nvSpPr>
            <p:cNvPr id="52" name="Text Box 17"/>
            <p:cNvSpPr txBox="1">
              <a:spLocks noChangeArrowheads="1"/>
            </p:cNvSpPr>
            <p:nvPr/>
          </p:nvSpPr>
          <p:spPr bwMode="auto">
            <a:xfrm>
              <a:off x="4066" y="3258"/>
              <a:ext cx="325" cy="3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400">
                  <a:latin typeface="Arial" panose="020B0604020202020204" pitchFamily="34" charset="0"/>
                </a:rPr>
                <a:t>30</a:t>
              </a:r>
              <a:endParaRPr lang="en-US" altLang="zh-CN" sz="2400">
                <a:latin typeface="Arial" panose="020B0604020202020204" pitchFamily="34" charset="0"/>
              </a:endParaRPr>
            </a:p>
          </p:txBody>
        </p:sp>
        <p:sp>
          <p:nvSpPr>
            <p:cNvPr id="53" name="Text Box 18"/>
            <p:cNvSpPr txBox="1">
              <a:spLocks noChangeArrowheads="1"/>
            </p:cNvSpPr>
            <p:nvPr/>
          </p:nvSpPr>
          <p:spPr bwMode="auto">
            <a:xfrm>
              <a:off x="850" y="3217"/>
              <a:ext cx="219" cy="3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400" dirty="0">
                  <a:latin typeface="Arial" panose="020B0604020202020204" pitchFamily="34" charset="0"/>
                </a:rPr>
                <a:t>0</a:t>
              </a:r>
              <a:endParaRPr lang="en-US" altLang="zh-CN" sz="2400" dirty="0">
                <a:latin typeface="Arial" panose="020B0604020202020204" pitchFamily="34" charset="0"/>
              </a:endParaRPr>
            </a:p>
          </p:txBody>
        </p:sp>
      </p:grpSp>
      <p:sp>
        <p:nvSpPr>
          <p:cNvPr id="4" name="文本框 3"/>
          <p:cNvSpPr txBox="1"/>
          <p:nvPr/>
        </p:nvSpPr>
        <p:spPr>
          <a:xfrm>
            <a:off x="1750060" y="803275"/>
            <a:ext cx="3604260" cy="460375"/>
          </a:xfrm>
          <a:prstGeom prst="rect">
            <a:avLst/>
          </a:prstGeom>
          <a:noFill/>
        </p:spPr>
        <p:txBody>
          <a:bodyPr wrap="square" rtlCol="0" anchor="t">
            <a:spAutoFit/>
          </a:bodyPr>
          <a:p>
            <a:r>
              <a:rPr lang="zh-CN" altLang="en-US" sz="2400" dirty="0">
                <a:highlight>
                  <a:srgbClr val="00FFFF"/>
                </a:highlight>
                <a:sym typeface="+mn-ea"/>
              </a:rPr>
              <a:t>三个作业</a:t>
            </a:r>
            <a:r>
              <a:rPr lang="en-US" altLang="zh-CN" sz="2400" dirty="0">
                <a:highlight>
                  <a:srgbClr val="00FFFF"/>
                </a:highlight>
                <a:sym typeface="+mn-ea"/>
              </a:rPr>
              <a:t>(</a:t>
            </a:r>
            <a:r>
              <a:rPr lang="zh-CN" altLang="en-US" sz="2400" dirty="0">
                <a:highlight>
                  <a:srgbClr val="00FFFF"/>
                </a:highlight>
                <a:sym typeface="+mn-ea"/>
              </a:rPr>
              <a:t>进程</a:t>
            </a:r>
            <a:r>
              <a:rPr lang="en-US" altLang="zh-CN" sz="2400" dirty="0">
                <a:highlight>
                  <a:srgbClr val="00FFFF"/>
                </a:highlight>
                <a:sym typeface="+mn-ea"/>
              </a:rPr>
              <a:t>)</a:t>
            </a:r>
            <a:r>
              <a:rPr lang="zh-CN" altLang="en-US" sz="2400" dirty="0">
                <a:highlight>
                  <a:srgbClr val="00FFFF"/>
                </a:highlight>
                <a:sym typeface="+mn-ea"/>
              </a:rPr>
              <a:t>同时到达</a:t>
            </a:r>
            <a:endParaRPr lang="zh-CN" altLang="en-US" sz="2400" dirty="0">
              <a:highlight>
                <a:srgbClr val="00FFFF"/>
              </a:highlight>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FCFS</a:t>
            </a:r>
            <a:r>
              <a:rPr lang="zh-CN" altLang="en-US" sz="2800" b="1" dirty="0">
                <a:solidFill>
                  <a:schemeClr val="bg1"/>
                </a:solidFill>
              </a:rPr>
              <a:t>调度算法</a:t>
            </a:r>
            <a:endParaRPr lang="zh-CN" altLang="en-US" sz="2800" b="1" dirty="0">
              <a:solidFill>
                <a:schemeClr val="bg1"/>
              </a:solidFill>
            </a:endParaRPr>
          </a:p>
        </p:txBody>
      </p:sp>
      <p:sp>
        <p:nvSpPr>
          <p:cNvPr id="21" name="iśḷíḑe"/>
          <p:cNvSpPr/>
          <p:nvPr/>
        </p:nvSpPr>
        <p:spPr>
          <a:xfrm>
            <a:off x="778194" y="1355064"/>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22" name="ïś1ïḑè"/>
          <p:cNvSpPr/>
          <p:nvPr/>
        </p:nvSpPr>
        <p:spPr>
          <a:xfrm>
            <a:off x="778194" y="2465023"/>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31" name="内容占位符 2"/>
          <p:cNvSpPr txBox="1"/>
          <p:nvPr/>
        </p:nvSpPr>
        <p:spPr>
          <a:xfrm>
            <a:off x="1728470" y="1330325"/>
            <a:ext cx="5484495" cy="10102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假定进程运行顺序如下  </a:t>
            </a:r>
            <a:r>
              <a:rPr lang="en-US" altLang="zh-CN" sz="2400" dirty="0"/>
              <a:t>J2 , J3 , J1 .</a:t>
            </a:r>
            <a:endParaRPr lang="en-US" altLang="zh-CN" sz="2400" dirty="0"/>
          </a:p>
        </p:txBody>
      </p:sp>
      <p:sp>
        <p:nvSpPr>
          <p:cNvPr id="32" name="内容占位符 2"/>
          <p:cNvSpPr txBox="1"/>
          <p:nvPr/>
        </p:nvSpPr>
        <p:spPr>
          <a:xfrm>
            <a:off x="1728370" y="2556116"/>
            <a:ext cx="5128684" cy="7740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该调度的</a:t>
            </a:r>
            <a:r>
              <a:rPr lang="en-US" altLang="zh-CN" sz="2400" dirty="0"/>
              <a:t>Gantt</a:t>
            </a:r>
            <a:r>
              <a:rPr lang="zh-CN" altLang="en-US" sz="2400" dirty="0"/>
              <a:t>图为 </a:t>
            </a:r>
            <a:r>
              <a:rPr lang="en-US" altLang="zh-CN" sz="2400" dirty="0"/>
              <a:t>:</a:t>
            </a:r>
            <a:endParaRPr lang="en-US" altLang="zh-CN" sz="2400" dirty="0"/>
          </a:p>
        </p:txBody>
      </p:sp>
      <p:sp>
        <p:nvSpPr>
          <p:cNvPr id="33" name="内容占位符 2"/>
          <p:cNvSpPr txBox="1"/>
          <p:nvPr/>
        </p:nvSpPr>
        <p:spPr>
          <a:xfrm>
            <a:off x="849215" y="5620249"/>
            <a:ext cx="5506927" cy="4494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  平均等待时间 </a:t>
            </a:r>
            <a:r>
              <a:rPr lang="en-US" altLang="zh-CN" sz="2400" dirty="0"/>
              <a:t>= (6 + 0 + 3)/3 = 3</a:t>
            </a:r>
            <a:endParaRPr lang="en-US" altLang="zh-CN" sz="2400" dirty="0"/>
          </a:p>
        </p:txBody>
      </p:sp>
      <p:grpSp>
        <p:nvGrpSpPr>
          <p:cNvPr id="25" name="Group 23"/>
          <p:cNvGrpSpPr/>
          <p:nvPr/>
        </p:nvGrpSpPr>
        <p:grpSpPr bwMode="auto">
          <a:xfrm>
            <a:off x="849215" y="3656007"/>
            <a:ext cx="10635612" cy="1651871"/>
            <a:chOff x="655" y="1968"/>
            <a:chExt cx="3443" cy="713"/>
          </a:xfrm>
          <a:solidFill>
            <a:srgbClr val="FFFF00"/>
          </a:solidFill>
        </p:grpSpPr>
        <p:sp>
          <p:nvSpPr>
            <p:cNvPr id="26" name="Rectangle 6"/>
            <p:cNvSpPr>
              <a:spLocks noChangeArrowheads="1"/>
            </p:cNvSpPr>
            <p:nvPr/>
          </p:nvSpPr>
          <p:spPr bwMode="auto">
            <a:xfrm flipH="1">
              <a:off x="720" y="1968"/>
              <a:ext cx="3312" cy="334"/>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27" name="Text Box 7"/>
            <p:cNvSpPr txBox="1">
              <a:spLocks noChangeArrowheads="1"/>
            </p:cNvSpPr>
            <p:nvPr/>
          </p:nvSpPr>
          <p:spPr bwMode="auto">
            <a:xfrm flipH="1">
              <a:off x="3000" y="2014"/>
              <a:ext cx="170" cy="23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1</a:t>
              </a:r>
              <a:endParaRPr lang="en-US" altLang="zh-CN" sz="2600" dirty="0">
                <a:latin typeface="Arial" panose="020B0604020202020204" pitchFamily="34" charset="0"/>
              </a:endParaRPr>
            </a:p>
          </p:txBody>
        </p:sp>
        <p:sp>
          <p:nvSpPr>
            <p:cNvPr id="28" name="Text Box 8"/>
            <p:cNvSpPr txBox="1">
              <a:spLocks noChangeArrowheads="1"/>
            </p:cNvSpPr>
            <p:nvPr/>
          </p:nvSpPr>
          <p:spPr bwMode="auto">
            <a:xfrm flipH="1">
              <a:off x="1512" y="2014"/>
              <a:ext cx="170" cy="23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3</a:t>
              </a:r>
              <a:endParaRPr lang="en-US" altLang="zh-CN" sz="2600" dirty="0">
                <a:latin typeface="Arial" panose="020B0604020202020204" pitchFamily="34" charset="0"/>
              </a:endParaRPr>
            </a:p>
          </p:txBody>
        </p:sp>
        <p:sp>
          <p:nvSpPr>
            <p:cNvPr id="29" name="Text Box 9"/>
            <p:cNvSpPr txBox="1">
              <a:spLocks noChangeArrowheads="1"/>
            </p:cNvSpPr>
            <p:nvPr/>
          </p:nvSpPr>
          <p:spPr bwMode="auto">
            <a:xfrm flipH="1">
              <a:off x="936" y="2014"/>
              <a:ext cx="170" cy="23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2</a:t>
              </a:r>
              <a:endParaRPr lang="en-US" altLang="zh-CN" sz="2600" dirty="0">
                <a:latin typeface="Arial" panose="020B0604020202020204" pitchFamily="34" charset="0"/>
              </a:endParaRPr>
            </a:p>
          </p:txBody>
        </p:sp>
        <p:sp>
          <p:nvSpPr>
            <p:cNvPr id="30" name="Line 10"/>
            <p:cNvSpPr>
              <a:spLocks noChangeShapeType="1"/>
            </p:cNvSpPr>
            <p:nvPr/>
          </p:nvSpPr>
          <p:spPr bwMode="auto">
            <a:xfrm flipH="1">
              <a:off x="4032" y="2302"/>
              <a:ext cx="0" cy="19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34" name="Line 11"/>
            <p:cNvSpPr>
              <a:spLocks noChangeShapeType="1"/>
            </p:cNvSpPr>
            <p:nvPr/>
          </p:nvSpPr>
          <p:spPr bwMode="auto">
            <a:xfrm flipH="1">
              <a:off x="720" y="2302"/>
              <a:ext cx="0" cy="19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35" name="Line 12"/>
            <p:cNvSpPr>
              <a:spLocks noChangeShapeType="1"/>
            </p:cNvSpPr>
            <p:nvPr/>
          </p:nvSpPr>
          <p:spPr bwMode="auto">
            <a:xfrm flipH="1">
              <a:off x="1920" y="1968"/>
              <a:ext cx="0" cy="38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36" name="Line 13"/>
            <p:cNvSpPr>
              <a:spLocks noChangeShapeType="1"/>
            </p:cNvSpPr>
            <p:nvPr/>
          </p:nvSpPr>
          <p:spPr bwMode="auto">
            <a:xfrm flipH="1">
              <a:off x="1344" y="1968"/>
              <a:ext cx="0" cy="38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4" name="Line 14"/>
            <p:cNvSpPr>
              <a:spLocks noChangeShapeType="1"/>
            </p:cNvSpPr>
            <p:nvPr/>
          </p:nvSpPr>
          <p:spPr bwMode="auto">
            <a:xfrm flipH="1">
              <a:off x="1920" y="2352"/>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5" name="Line 15"/>
            <p:cNvSpPr>
              <a:spLocks noChangeShapeType="1"/>
            </p:cNvSpPr>
            <p:nvPr/>
          </p:nvSpPr>
          <p:spPr bwMode="auto">
            <a:xfrm flipH="1">
              <a:off x="1344" y="2352"/>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6" name="Text Box 16"/>
            <p:cNvSpPr txBox="1">
              <a:spLocks noChangeArrowheads="1"/>
            </p:cNvSpPr>
            <p:nvPr/>
          </p:nvSpPr>
          <p:spPr bwMode="auto">
            <a:xfrm flipH="1">
              <a:off x="1859" y="2446"/>
              <a:ext cx="132" cy="23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6</a:t>
              </a:r>
              <a:endParaRPr lang="en-US" altLang="zh-CN" sz="2600">
                <a:latin typeface="Arial" panose="020B0604020202020204" pitchFamily="34" charset="0"/>
              </a:endParaRPr>
            </a:p>
          </p:txBody>
        </p:sp>
        <p:sp>
          <p:nvSpPr>
            <p:cNvPr id="57" name="Text Box 17"/>
            <p:cNvSpPr txBox="1">
              <a:spLocks noChangeArrowheads="1"/>
            </p:cNvSpPr>
            <p:nvPr/>
          </p:nvSpPr>
          <p:spPr bwMode="auto">
            <a:xfrm flipH="1">
              <a:off x="1283" y="2446"/>
              <a:ext cx="132" cy="23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3</a:t>
              </a:r>
              <a:endParaRPr lang="en-US" altLang="zh-CN" sz="2600">
                <a:latin typeface="Arial" panose="020B0604020202020204" pitchFamily="34" charset="0"/>
              </a:endParaRPr>
            </a:p>
          </p:txBody>
        </p:sp>
        <p:sp>
          <p:nvSpPr>
            <p:cNvPr id="58" name="Text Box 18"/>
            <p:cNvSpPr txBox="1">
              <a:spLocks noChangeArrowheads="1"/>
            </p:cNvSpPr>
            <p:nvPr/>
          </p:nvSpPr>
          <p:spPr bwMode="auto">
            <a:xfrm flipH="1">
              <a:off x="3899" y="2446"/>
              <a:ext cx="199" cy="23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30</a:t>
              </a:r>
              <a:endParaRPr lang="en-US" altLang="zh-CN" sz="2600">
                <a:latin typeface="Arial" panose="020B0604020202020204" pitchFamily="34" charset="0"/>
              </a:endParaRPr>
            </a:p>
          </p:txBody>
        </p:sp>
        <p:sp>
          <p:nvSpPr>
            <p:cNvPr id="59" name="Text Box 19"/>
            <p:cNvSpPr txBox="1">
              <a:spLocks noChangeArrowheads="1"/>
            </p:cNvSpPr>
            <p:nvPr/>
          </p:nvSpPr>
          <p:spPr bwMode="auto">
            <a:xfrm flipH="1">
              <a:off x="655" y="2446"/>
              <a:ext cx="132" cy="23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0</a:t>
              </a:r>
              <a:endParaRPr lang="en-US" altLang="zh-CN" sz="2600">
                <a:latin typeface="Arial" panose="020B0604020202020204" pitchFamily="34" charset="0"/>
              </a:endParaRPr>
            </a:p>
          </p:txBody>
        </p:sp>
      </p:grpSp>
      <p:sp>
        <p:nvSpPr>
          <p:cNvPr id="64" name="内容占位符 2"/>
          <p:cNvSpPr txBox="1"/>
          <p:nvPr/>
        </p:nvSpPr>
        <p:spPr>
          <a:xfrm>
            <a:off x="6165476" y="5620249"/>
            <a:ext cx="5506927" cy="5444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  平均周转时间 </a:t>
            </a:r>
            <a:r>
              <a:rPr lang="en-US" altLang="zh-CN" sz="2400" dirty="0"/>
              <a:t>= (30+ 3 + 6)/3 = 13</a:t>
            </a:r>
            <a:endParaRPr lang="en-US" altLang="zh-CN" sz="2400" dirty="0"/>
          </a:p>
        </p:txBody>
      </p:sp>
      <p:sp>
        <p:nvSpPr>
          <p:cNvPr id="38" name="内容占位符 2"/>
          <p:cNvSpPr txBox="1"/>
          <p:nvPr/>
        </p:nvSpPr>
        <p:spPr>
          <a:xfrm>
            <a:off x="7507821" y="1263744"/>
            <a:ext cx="3773010" cy="1764617"/>
          </a:xfrm>
          <a:prstGeom prst="rect">
            <a:avLst/>
          </a:prstGeom>
          <a:ln>
            <a:solidFill>
              <a:schemeClr val="bg2">
                <a:lumMod val="75000"/>
              </a:schemeClr>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 作业	              运行时间</a:t>
            </a:r>
            <a:endParaRPr lang="zh-CN" altLang="en-US" sz="2400" dirty="0"/>
          </a:p>
          <a:p>
            <a:pPr marL="0" indent="0">
              <a:buNone/>
            </a:pPr>
            <a:r>
              <a:rPr lang="en-US" altLang="zh-CN" sz="2400" dirty="0"/>
              <a:t>   J1		        24</a:t>
            </a:r>
            <a:endParaRPr lang="en-US" altLang="zh-CN" sz="2400" dirty="0"/>
          </a:p>
          <a:p>
            <a:pPr marL="0" indent="0">
              <a:buNone/>
            </a:pPr>
            <a:r>
              <a:rPr lang="en-US" altLang="zh-CN" sz="2400" dirty="0"/>
              <a:t>   J2 		         3</a:t>
            </a:r>
            <a:endParaRPr lang="en-US" altLang="zh-CN" sz="2400" dirty="0"/>
          </a:p>
          <a:p>
            <a:pPr marL="0" indent="0">
              <a:buNone/>
            </a:pPr>
            <a:r>
              <a:rPr lang="en-US" altLang="zh-CN" sz="2400" dirty="0"/>
              <a:t>   J3		         3 </a:t>
            </a:r>
            <a:endParaRPr lang="zh-CN" alt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文本框 41"/>
          <p:cNvSpPr txBox="1"/>
          <p:nvPr/>
        </p:nvSpPr>
        <p:spPr>
          <a:xfrm>
            <a:off x="1233892" y="2569484"/>
            <a:ext cx="6720840" cy="691515"/>
          </a:xfrm>
          <a:prstGeom prst="rect">
            <a:avLst/>
          </a:prstGeom>
          <a:noFill/>
        </p:spPr>
        <p:txBody>
          <a:bodyPr wrap="square">
            <a:spAutoFit/>
          </a:bodyPr>
          <a:lstStyle/>
          <a:p>
            <a:pPr>
              <a:lnSpc>
                <a:spcPct val="150000"/>
              </a:lnSpc>
            </a:pPr>
            <a:r>
              <a:rPr lang="zh-CN" altLang="en-US" sz="2600" b="1" dirty="0">
                <a:solidFill>
                  <a:srgbClr val="FF0000"/>
                </a:solidFill>
              </a:rPr>
              <a:t>缺点：</a:t>
            </a:r>
            <a:endParaRPr lang="zh-CN" altLang="en-US" sz="2600" b="1" dirty="0">
              <a:solidFill>
                <a:srgbClr val="FF0000"/>
              </a:solidFill>
            </a:endParaRPr>
          </a:p>
        </p:txBody>
      </p:sp>
      <p:sp>
        <p:nvSpPr>
          <p:cNvPr id="44" name="矩形 43"/>
          <p:cNvSpPr/>
          <p:nvPr/>
        </p:nvSpPr>
        <p:spPr>
          <a:xfrm>
            <a:off x="1879163" y="3427622"/>
            <a:ext cx="10112145" cy="1280540"/>
          </a:xfrm>
          <a:prstGeom prst="rect">
            <a:avLst/>
          </a:prstGeom>
        </p:spPr>
        <p:txBody>
          <a:bodyPr wrap="square">
            <a:noAutofit/>
          </a:bodyPr>
          <a:lstStyle/>
          <a:p>
            <a:pPr>
              <a:lnSpc>
                <a:spcPct val="132000"/>
              </a:lnSpc>
              <a:spcBef>
                <a:spcPts val="600"/>
              </a:spcBef>
              <a:spcAft>
                <a:spcPts val="600"/>
              </a:spcAft>
            </a:pPr>
            <a:r>
              <a:rPr lang="zh-CN" altLang="en-US" sz="2400" dirty="0">
                <a:latin typeface="+mn-ea"/>
              </a:rPr>
              <a:t>效率低</a:t>
            </a:r>
            <a:endParaRPr lang="zh-CN" altLang="en-US" sz="2400" dirty="0">
              <a:latin typeface="+mn-ea"/>
            </a:endParaRPr>
          </a:p>
          <a:p>
            <a:pPr>
              <a:lnSpc>
                <a:spcPct val="132000"/>
              </a:lnSpc>
              <a:spcBef>
                <a:spcPts val="600"/>
              </a:spcBef>
              <a:spcAft>
                <a:spcPts val="600"/>
              </a:spcAft>
            </a:pPr>
            <a:r>
              <a:rPr lang="zh-CN" altLang="en-US" sz="2400" dirty="0">
                <a:latin typeface="+mn-ea"/>
              </a:rPr>
              <a:t>对长作业有利，对短作业不利</a:t>
            </a:r>
            <a:endParaRPr lang="zh-CN" altLang="en-US" sz="2400" dirty="0">
              <a:latin typeface="+mn-ea"/>
            </a:endParaRPr>
          </a:p>
        </p:txBody>
      </p:sp>
      <p:sp>
        <p:nvSpPr>
          <p:cNvPr id="45" name="矩形 44"/>
          <p:cNvSpPr/>
          <p:nvPr/>
        </p:nvSpPr>
        <p:spPr>
          <a:xfrm>
            <a:off x="1941195" y="4818380"/>
            <a:ext cx="8024495" cy="674370"/>
          </a:xfrm>
          <a:prstGeom prst="rect">
            <a:avLst/>
          </a:prstGeom>
        </p:spPr>
        <p:txBody>
          <a:bodyPr wrap="square">
            <a:noAutofit/>
          </a:bodyPr>
          <a:lstStyle/>
          <a:p>
            <a:pPr>
              <a:lnSpc>
                <a:spcPct val="132000"/>
              </a:lnSpc>
              <a:spcBef>
                <a:spcPts val="600"/>
              </a:spcBef>
              <a:spcAft>
                <a:spcPts val="600"/>
              </a:spcAft>
            </a:pPr>
            <a:r>
              <a:rPr lang="zh-CN" altLang="en-US" sz="2400" dirty="0">
                <a:latin typeface="+mn-ea"/>
              </a:rPr>
              <a:t>有利于</a:t>
            </a:r>
            <a:r>
              <a:rPr lang="en-US" altLang="zh-CN" sz="2400" dirty="0">
                <a:latin typeface="+mn-ea"/>
              </a:rPr>
              <a:t>CPU</a:t>
            </a:r>
            <a:r>
              <a:rPr lang="zh-CN" altLang="en-US" sz="2400" dirty="0">
                <a:latin typeface="+mn-ea"/>
              </a:rPr>
              <a:t>繁忙型作业，不利于</a:t>
            </a:r>
            <a:r>
              <a:rPr lang="en-US" altLang="zh-CN" sz="2400" dirty="0">
                <a:latin typeface="+mn-ea"/>
              </a:rPr>
              <a:t>I/O</a:t>
            </a:r>
            <a:r>
              <a:rPr lang="zh-CN" altLang="en-US" sz="2400" dirty="0">
                <a:latin typeface="+mn-ea"/>
              </a:rPr>
              <a:t>繁忙型作业</a:t>
            </a:r>
            <a:endParaRPr lang="zh-CN" altLang="en-US" sz="2400" dirty="0">
              <a:latin typeface="+mn-ea"/>
            </a:endParaRPr>
          </a:p>
        </p:txBody>
      </p:sp>
      <p:pic>
        <p:nvPicPr>
          <p:cNvPr id="46" name="图片 4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52002" y="4853899"/>
            <a:ext cx="527050" cy="527050"/>
          </a:xfrm>
          <a:prstGeom prst="rect">
            <a:avLst/>
          </a:prstGeom>
          <a:ln>
            <a:noFill/>
          </a:ln>
          <a:effectLst>
            <a:softEdge rad="0"/>
          </a:effectLst>
        </p:spPr>
      </p:pic>
      <p:pic>
        <p:nvPicPr>
          <p:cNvPr id="48" name="图片 4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52002" y="3408564"/>
            <a:ext cx="527050" cy="527050"/>
          </a:xfrm>
          <a:prstGeom prst="rect">
            <a:avLst/>
          </a:prstGeom>
          <a:ln>
            <a:noFill/>
          </a:ln>
          <a:effectLst>
            <a:softEdge rad="0"/>
          </a:effectLst>
        </p:spPr>
      </p:pic>
      <p:pic>
        <p:nvPicPr>
          <p:cNvPr id="49" name="图片 4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52002" y="4131370"/>
            <a:ext cx="527050" cy="527050"/>
          </a:xfrm>
          <a:prstGeom prst="rect">
            <a:avLst/>
          </a:prstGeom>
          <a:ln>
            <a:noFill/>
          </a:ln>
          <a:effectLst>
            <a:softEdge rad="0"/>
          </a:effectLst>
        </p:spPr>
      </p:pic>
      <p:sp>
        <p:nvSpPr>
          <p:cNvPr id="2" name="文本框 1"/>
          <p:cNvSpPr txBox="1"/>
          <p:nvPr/>
        </p:nvSpPr>
        <p:spPr>
          <a:xfrm>
            <a:off x="1352002" y="1192804"/>
            <a:ext cx="6720840" cy="691515"/>
          </a:xfrm>
          <a:prstGeom prst="rect">
            <a:avLst/>
          </a:prstGeom>
          <a:noFill/>
        </p:spPr>
        <p:txBody>
          <a:bodyPr wrap="square">
            <a:spAutoFit/>
          </a:bodyPr>
          <a:p>
            <a:pPr>
              <a:lnSpc>
                <a:spcPct val="150000"/>
              </a:lnSpc>
            </a:pPr>
            <a:r>
              <a:rPr lang="zh-CN" altLang="en-US" sz="2600" b="1" dirty="0">
                <a:solidFill>
                  <a:srgbClr val="FF0000"/>
                </a:solidFill>
              </a:rPr>
              <a:t>优点：</a:t>
            </a:r>
            <a:endParaRPr lang="zh-CN" altLang="en-US" sz="2600" b="1" dirty="0">
              <a:solidFill>
                <a:srgbClr val="FF0000"/>
              </a:solidFill>
            </a:endParaRPr>
          </a:p>
        </p:txBody>
      </p:sp>
      <p:sp>
        <p:nvSpPr>
          <p:cNvPr id="3" name="文本框 2"/>
          <p:cNvSpPr txBox="1"/>
          <p:nvPr/>
        </p:nvSpPr>
        <p:spPr>
          <a:xfrm>
            <a:off x="1351915" y="1913890"/>
            <a:ext cx="10061575" cy="460375"/>
          </a:xfrm>
          <a:prstGeom prst="rect">
            <a:avLst/>
          </a:prstGeom>
          <a:noFill/>
        </p:spPr>
        <p:txBody>
          <a:bodyPr wrap="square" rtlCol="0" anchor="t">
            <a:spAutoFit/>
          </a:bodyPr>
          <a:p>
            <a:r>
              <a:rPr lang="zh-CN" altLang="en-US" sz="2400" dirty="0">
                <a:latin typeface="+mn-ea"/>
                <a:sym typeface="+mn-ea"/>
              </a:rPr>
              <a:t>算法简单</a:t>
            </a:r>
            <a:endParaRPr lang="zh-CN" altLang="en-US" sz="2400" dirty="0">
              <a:latin typeface="+mn-ea"/>
              <a:sym typeface="+mn-ea"/>
            </a:endParaRPr>
          </a:p>
        </p:txBody>
      </p:sp>
      <p:sp>
        <p:nvSpPr>
          <p:cNvPr id="5" name="矩形 4"/>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FCFS</a:t>
            </a:r>
            <a:r>
              <a:rPr lang="zh-CN" altLang="en-US" sz="2800" b="1" dirty="0">
                <a:solidFill>
                  <a:schemeClr val="bg1"/>
                </a:solidFill>
              </a:rPr>
              <a:t>调度算法</a:t>
            </a:r>
            <a:endParaRPr lang="zh-CN" altLang="en-US" sz="2800" b="1" dirty="0">
              <a:solidFill>
                <a:schemeClr val="bg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19860" y="687705"/>
            <a:ext cx="9650730" cy="2588895"/>
          </a:xfrm>
          <a:prstGeom prst="rect">
            <a:avLst/>
          </a:prstGeom>
        </p:spPr>
      </p:pic>
      <p:pic>
        <p:nvPicPr>
          <p:cNvPr id="4" name="图片 3"/>
          <p:cNvPicPr>
            <a:picLocks noChangeAspect="1"/>
          </p:cNvPicPr>
          <p:nvPr/>
        </p:nvPicPr>
        <p:blipFill>
          <a:blip r:embed="rId2"/>
          <a:stretch>
            <a:fillRect/>
          </a:stretch>
        </p:blipFill>
        <p:spPr>
          <a:xfrm>
            <a:off x="1419860" y="3734435"/>
            <a:ext cx="9703435" cy="25666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短作业优先（</a:t>
            </a:r>
            <a:r>
              <a:rPr lang="en-US" altLang="zh-CN" sz="2800" b="1" dirty="0">
                <a:solidFill>
                  <a:schemeClr val="bg1"/>
                </a:solidFill>
              </a:rPr>
              <a:t>SJF</a:t>
            </a:r>
            <a:r>
              <a:rPr lang="zh-CN" altLang="en-US" sz="2800" b="1" dirty="0">
                <a:solidFill>
                  <a:schemeClr val="bg1"/>
                </a:solidFill>
              </a:rPr>
              <a:t>或</a:t>
            </a:r>
            <a:r>
              <a:rPr lang="en-US" altLang="zh-CN" sz="2800" b="1" dirty="0">
                <a:solidFill>
                  <a:schemeClr val="bg1"/>
                </a:solidFill>
              </a:rPr>
              <a:t>SPF</a:t>
            </a:r>
            <a:r>
              <a:rPr lang="zh-CN" altLang="en-US" sz="2800" b="1" dirty="0">
                <a:solidFill>
                  <a:schemeClr val="bg1"/>
                </a:solidFill>
              </a:rPr>
              <a:t>）调度算法</a:t>
            </a:r>
            <a:endParaRPr lang="zh-CN" altLang="en-US" sz="2800" b="1" dirty="0">
              <a:solidFill>
                <a:schemeClr val="bg1"/>
              </a:solidFill>
            </a:endParaRPr>
          </a:p>
        </p:txBody>
      </p:sp>
      <p:sp>
        <p:nvSpPr>
          <p:cNvPr id="37" name="íšḻîḋè"/>
          <p:cNvSpPr/>
          <p:nvPr/>
        </p:nvSpPr>
        <p:spPr>
          <a:xfrm>
            <a:off x="1746844" y="3577516"/>
            <a:ext cx="9326179" cy="93313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solidFill>
                  <a:srgbClr val="FF0000"/>
                </a:solidFill>
              </a:rPr>
              <a:t>非抢占式</a:t>
            </a:r>
            <a:r>
              <a:rPr lang="en-US" altLang="zh-CN" sz="2200" dirty="0">
                <a:solidFill>
                  <a:srgbClr val="FF0000"/>
                </a:solidFill>
              </a:rPr>
              <a:t>SPF</a:t>
            </a:r>
            <a:endParaRPr lang="en-US" altLang="zh-CN" sz="2200" dirty="0">
              <a:solidFill>
                <a:srgbClr val="FF0000"/>
              </a:solidFill>
            </a:endParaRPr>
          </a:p>
          <a:p>
            <a:pPr marL="342900" indent="-342900">
              <a:lnSpc>
                <a:spcPct val="120000"/>
              </a:lnSpc>
              <a:buClr>
                <a:srgbClr val="FF0000"/>
              </a:buClr>
              <a:buFont typeface="Wingdings" panose="05000000000000000000" pitchFamily="2" charset="2"/>
              <a:buChar char="Ø"/>
            </a:pPr>
            <a:r>
              <a:rPr lang="zh-CN" altLang="en-US" sz="2200" dirty="0">
                <a:solidFill>
                  <a:srgbClr val="FF0000"/>
                </a:solidFill>
              </a:rPr>
              <a:t>抢占式</a:t>
            </a:r>
            <a:r>
              <a:rPr lang="en-US" altLang="zh-CN" sz="2200" dirty="0">
                <a:solidFill>
                  <a:srgbClr val="FF0000"/>
                </a:solidFill>
              </a:rPr>
              <a:t>SPF</a:t>
            </a:r>
            <a:r>
              <a:rPr lang="zh-CN" altLang="en-US" sz="2200" dirty="0">
                <a:solidFill>
                  <a:srgbClr val="FF0000"/>
                </a:solidFill>
              </a:rPr>
              <a:t>（</a:t>
            </a:r>
            <a:r>
              <a:rPr lang="en-US" altLang="zh-CN" sz="2200" dirty="0">
                <a:solidFill>
                  <a:srgbClr val="FF0000"/>
                </a:solidFill>
              </a:rPr>
              <a:t>SRT</a:t>
            </a:r>
            <a:r>
              <a:rPr lang="zh-CN" altLang="en-US" sz="2200" dirty="0">
                <a:solidFill>
                  <a:srgbClr val="FF0000"/>
                </a:solidFill>
              </a:rPr>
              <a:t>：</a:t>
            </a:r>
            <a:r>
              <a:rPr lang="en-US" altLang="zh-CN" sz="2200" dirty="0">
                <a:solidFill>
                  <a:srgbClr val="FF0000"/>
                </a:solidFill>
              </a:rPr>
              <a:t>Shortest Remaining Time</a:t>
            </a:r>
            <a:r>
              <a:rPr lang="zh-CN" altLang="en-US" sz="2200" dirty="0">
                <a:solidFill>
                  <a:srgbClr val="FF0000"/>
                </a:solidFill>
              </a:rPr>
              <a:t>）</a:t>
            </a:r>
            <a:r>
              <a:rPr lang="en-US" altLang="zh-CN" sz="2200" dirty="0"/>
              <a:t>–</a:t>
            </a:r>
            <a:r>
              <a:rPr lang="zh-CN" altLang="en-US" sz="2200" dirty="0"/>
              <a:t>抢占发生在有比当前进程</a:t>
            </a:r>
            <a:r>
              <a:rPr lang="zh-CN" altLang="en-US" sz="2200" b="1" dirty="0"/>
              <a:t>剩余时间</a:t>
            </a:r>
            <a:r>
              <a:rPr lang="zh-CN" altLang="en-US" sz="2200" dirty="0"/>
              <a:t>片更短的进程到达时，也称为最短剩余时间优先调度 </a:t>
            </a:r>
            <a:endParaRPr lang="zh-CN" altLang="en-US" sz="2200" dirty="0"/>
          </a:p>
        </p:txBody>
      </p:sp>
      <p:sp>
        <p:nvSpPr>
          <p:cNvPr id="38" name="i$lîďê"/>
          <p:cNvSpPr/>
          <p:nvPr/>
        </p:nvSpPr>
        <p:spPr>
          <a:xfrm>
            <a:off x="1802479" y="3126390"/>
            <a:ext cx="6018748" cy="392877"/>
          </a:xfrm>
          <a:prstGeom prst="rect">
            <a:avLst/>
          </a:prstGeom>
          <a:noFill/>
          <a:ln>
            <a:noFill/>
          </a:ln>
        </p:spPr>
        <p:txBody>
          <a:bodyPr wrap="square" lIns="91440" tIns="45720" rIns="91440" bIns="45720" anchor="ctr" anchorCtr="0">
            <a:noAutofit/>
          </a:bodyPr>
          <a:lstStyle/>
          <a:p>
            <a:r>
              <a:rPr lang="zh-CN" altLang="en-US" sz="2400" dirty="0"/>
              <a:t>对进程调度，</a:t>
            </a:r>
            <a:r>
              <a:rPr lang="en-US" altLang="zh-CN" sz="2400" dirty="0"/>
              <a:t>SPF</a:t>
            </a:r>
            <a:r>
              <a:rPr lang="zh-CN" altLang="en-US" sz="2400" dirty="0"/>
              <a:t>有两种模式</a:t>
            </a:r>
            <a:r>
              <a:rPr lang="zh-CN" altLang="zh-CN" sz="2400" dirty="0"/>
              <a:t>：</a:t>
            </a:r>
            <a:endParaRPr lang="zh-CN" altLang="en-US" sz="2400" dirty="0"/>
          </a:p>
        </p:txBody>
      </p:sp>
      <p:sp>
        <p:nvSpPr>
          <p:cNvPr id="41" name="îs1iďé"/>
          <p:cNvSpPr/>
          <p:nvPr/>
        </p:nvSpPr>
        <p:spPr>
          <a:xfrm>
            <a:off x="1821535" y="1726157"/>
            <a:ext cx="9711234" cy="1079190"/>
          </a:xfrm>
          <a:prstGeom prst="rect">
            <a:avLst/>
          </a:prstGeom>
          <a:noFill/>
          <a:ln>
            <a:noFill/>
          </a:ln>
        </p:spPr>
        <p:txBody>
          <a:bodyPr wrap="square" lIns="91440" tIns="45720" rIns="91440" bIns="45720" anchor="t" anchorCtr="0">
            <a:norm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200" dirty="0"/>
              <a:t>对作业</a:t>
            </a:r>
            <a:r>
              <a:rPr lang="en-US" altLang="zh-CN" sz="2200" dirty="0">
                <a:sym typeface="+mn-ea"/>
              </a:rPr>
              <a:t>SJF</a:t>
            </a:r>
            <a:r>
              <a:rPr lang="zh-CN" altLang="en-US" sz="2200" dirty="0"/>
              <a:t>：从后备队列中选择若干个估计运行时间最短的作业。</a:t>
            </a:r>
            <a:endParaRPr lang="zh-CN" altLang="en-US" sz="2200" dirty="0"/>
          </a:p>
          <a:p>
            <a:pPr marL="342900" indent="-342900">
              <a:lnSpc>
                <a:spcPct val="120000"/>
              </a:lnSpc>
              <a:spcBef>
                <a:spcPts val="600"/>
              </a:spcBef>
              <a:buClr>
                <a:srgbClr val="FF0000"/>
              </a:buClr>
              <a:buFont typeface="Wingdings" panose="05000000000000000000" pitchFamily="2" charset="2"/>
              <a:buChar char="Ø"/>
            </a:pPr>
            <a:r>
              <a:rPr lang="zh-CN" altLang="en-US" sz="2200" dirty="0"/>
              <a:t>对进程</a:t>
            </a:r>
            <a:r>
              <a:rPr lang="en-US" altLang="zh-CN" sz="2200" dirty="0">
                <a:sym typeface="+mn-ea"/>
              </a:rPr>
              <a:t>SPF</a:t>
            </a:r>
            <a:r>
              <a:rPr lang="zh-CN" altLang="en-US" sz="2200" dirty="0"/>
              <a:t>：从就绪队列估算运行时间最短的进程分配</a:t>
            </a:r>
            <a:r>
              <a:rPr lang="en-US" altLang="zh-CN" sz="2200" dirty="0"/>
              <a:t>CPU</a:t>
            </a:r>
            <a:r>
              <a:rPr lang="zh-CN" altLang="en-US" sz="2200" dirty="0"/>
              <a:t>。</a:t>
            </a:r>
            <a:endParaRPr lang="zh-CN" altLang="en-US" sz="2200" dirty="0"/>
          </a:p>
        </p:txBody>
      </p:sp>
      <p:sp>
        <p:nvSpPr>
          <p:cNvPr id="42" name="íšḻíḑê"/>
          <p:cNvSpPr/>
          <p:nvPr/>
        </p:nvSpPr>
        <p:spPr>
          <a:xfrm>
            <a:off x="1802480" y="1277156"/>
            <a:ext cx="7297132" cy="405747"/>
          </a:xfrm>
          <a:prstGeom prst="rect">
            <a:avLst/>
          </a:prstGeom>
          <a:noFill/>
          <a:ln>
            <a:noFill/>
          </a:ln>
        </p:spPr>
        <p:txBody>
          <a:bodyPr wrap="square" lIns="91440" tIns="45720" rIns="91440" bIns="45720" anchor="ctr" anchorCtr="0">
            <a:noAutofit/>
          </a:bodyPr>
          <a:lstStyle/>
          <a:p>
            <a:r>
              <a:rPr lang="zh-CN" altLang="en-US" sz="2400" dirty="0"/>
              <a:t>既可用于作业，也可用于进程</a:t>
            </a:r>
            <a:endParaRPr lang="en-US" altLang="zh-CN" sz="2400" dirty="0"/>
          </a:p>
        </p:txBody>
      </p:sp>
      <p:sp>
        <p:nvSpPr>
          <p:cNvPr id="43" name="îSļiḓè"/>
          <p:cNvSpPr/>
          <p:nvPr/>
        </p:nvSpPr>
        <p:spPr>
          <a:xfrm>
            <a:off x="1118977" y="12635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5" name="îşļiḓè"/>
          <p:cNvSpPr/>
          <p:nvPr/>
        </p:nvSpPr>
        <p:spPr>
          <a:xfrm>
            <a:off x="1118977" y="3077380"/>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6" name="îṡḷíďe"/>
          <p:cNvSpPr/>
          <p:nvPr/>
        </p:nvSpPr>
        <p:spPr>
          <a:xfrm>
            <a:off x="1309232" y="145973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7" name="íSlíḋe"/>
          <p:cNvSpPr/>
          <p:nvPr/>
        </p:nvSpPr>
        <p:spPr>
          <a:xfrm>
            <a:off x="1309231" y="3299397"/>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非抢占式</a:t>
            </a:r>
            <a:r>
              <a:rPr lang="en-US" altLang="zh-CN" sz="2800" b="1" dirty="0">
                <a:solidFill>
                  <a:schemeClr val="bg1"/>
                </a:solidFill>
              </a:rPr>
              <a:t>SJF</a:t>
            </a:r>
            <a:r>
              <a:rPr lang="zh-CN" altLang="en-US" sz="2800" b="1" dirty="0">
                <a:solidFill>
                  <a:schemeClr val="bg1"/>
                </a:solidFill>
              </a:rPr>
              <a:t>举例</a:t>
            </a:r>
            <a:endParaRPr lang="zh-CN" altLang="en-US" sz="2800" b="1" dirty="0">
              <a:solidFill>
                <a:schemeClr val="bg1"/>
              </a:solidFill>
            </a:endParaRPr>
          </a:p>
        </p:txBody>
      </p:sp>
      <p:sp>
        <p:nvSpPr>
          <p:cNvPr id="31" name="文本框 30"/>
          <p:cNvSpPr txBox="1"/>
          <p:nvPr/>
        </p:nvSpPr>
        <p:spPr>
          <a:xfrm>
            <a:off x="2489207" y="1285309"/>
            <a:ext cx="6720840" cy="2267544"/>
          </a:xfrm>
          <a:prstGeom prst="rect">
            <a:avLst/>
          </a:prstGeom>
          <a:noFill/>
          <a:ln>
            <a:solidFill>
              <a:schemeClr val="bg2">
                <a:lumMod val="75000"/>
              </a:schemeClr>
            </a:solidFill>
          </a:ln>
        </p:spPr>
        <p:txBody>
          <a:bodyPr wrap="square">
            <a:spAutoFit/>
          </a:bodyPr>
          <a:lstStyle/>
          <a:p>
            <a:pPr marL="0" indent="0">
              <a:lnSpc>
                <a:spcPct val="120000"/>
              </a:lnSpc>
              <a:buFont typeface="Wingdings 2" panose="05020102010507070707" pitchFamily="18" charset="2"/>
              <a:buNone/>
              <a:defRPr/>
            </a:pPr>
            <a:r>
              <a:rPr lang="en-US" altLang="zh-CN" sz="2400" dirty="0"/>
              <a:t> </a:t>
            </a:r>
            <a:r>
              <a:rPr lang="zh-CN" altLang="en-US" sz="2400" u="sng" dirty="0"/>
              <a:t>进程</a:t>
            </a:r>
            <a:r>
              <a:rPr lang="zh-CN" altLang="en-US" sz="2400" dirty="0"/>
              <a:t>	</a:t>
            </a:r>
            <a:r>
              <a:rPr lang="en-US" altLang="zh-CN" sz="2400" dirty="0"/>
              <a:t>	</a:t>
            </a:r>
            <a:r>
              <a:rPr lang="zh-CN" altLang="en-US" sz="2400" u="sng" dirty="0"/>
              <a:t>到达时间</a:t>
            </a:r>
            <a:r>
              <a:rPr lang="en-US" altLang="zh-CN" sz="2400" dirty="0"/>
              <a:t>		</a:t>
            </a:r>
            <a:r>
              <a:rPr lang="zh-CN" altLang="en-US" sz="2400" u="sng" dirty="0"/>
              <a:t>运行时间</a:t>
            </a:r>
            <a:endParaRPr lang="en-US" altLang="zh-CN" sz="2400" dirty="0"/>
          </a:p>
          <a:p>
            <a:pPr>
              <a:lnSpc>
                <a:spcPct val="120000"/>
              </a:lnSpc>
              <a:buFont typeface="Monotype Sorts" pitchFamily="2" charset="2"/>
              <a:buNone/>
              <a:tabLst>
                <a:tab pos="1603375" algn="ctr"/>
                <a:tab pos="3254375" algn="ctr"/>
                <a:tab pos="5143500" algn="ctr"/>
              </a:tabLst>
              <a:defRPr/>
            </a:pPr>
            <a:r>
              <a:rPr lang="en-US" altLang="zh-CN" sz="2400" i="1" dirty="0"/>
              <a:t>   J</a:t>
            </a:r>
            <a:r>
              <a:rPr lang="en-US" altLang="zh-CN" sz="2400" i="1" baseline="-25000" dirty="0"/>
              <a:t>1	                         </a:t>
            </a:r>
            <a:r>
              <a:rPr lang="en-US" altLang="zh-CN" sz="2400" dirty="0"/>
              <a:t>0.0	  	 7</a:t>
            </a:r>
            <a:endParaRPr lang="en-US" altLang="zh-CN" sz="2400" dirty="0"/>
          </a:p>
          <a:p>
            <a:pPr>
              <a:lnSpc>
                <a:spcPct val="120000"/>
              </a:lnSpc>
              <a:buFont typeface="Monotype Sorts" pitchFamily="2" charset="2"/>
              <a:buNone/>
              <a:tabLst>
                <a:tab pos="1603375" algn="ctr"/>
                <a:tab pos="3254375" algn="ctr"/>
                <a:tab pos="5143500" algn="ctr"/>
              </a:tabLst>
              <a:defRPr/>
            </a:pPr>
            <a:r>
              <a:rPr lang="en-US" altLang="zh-CN" sz="2400" i="1" dirty="0"/>
              <a:t>   J</a:t>
            </a:r>
            <a:r>
              <a:rPr lang="en-US" altLang="zh-CN" sz="2400" i="1" baseline="-25000" dirty="0"/>
              <a:t>2	                        </a:t>
            </a:r>
            <a:r>
              <a:rPr lang="en-US" altLang="zh-CN" sz="2400" dirty="0"/>
              <a:t>2.0		4</a:t>
            </a:r>
            <a:endParaRPr lang="en-US" altLang="zh-CN" sz="2400" dirty="0"/>
          </a:p>
          <a:p>
            <a:pPr>
              <a:lnSpc>
                <a:spcPct val="120000"/>
              </a:lnSpc>
              <a:buFont typeface="Monotype Sorts" pitchFamily="2" charset="2"/>
              <a:buNone/>
              <a:tabLst>
                <a:tab pos="1603375" algn="ctr"/>
                <a:tab pos="3254375" algn="ctr"/>
                <a:tab pos="5143500" algn="ctr"/>
              </a:tabLst>
              <a:defRPr/>
            </a:pPr>
            <a:r>
              <a:rPr lang="en-US" altLang="zh-CN" sz="2400" i="1" dirty="0"/>
              <a:t>   J</a:t>
            </a:r>
            <a:r>
              <a:rPr lang="en-US" altLang="zh-CN" sz="2400" i="1" baseline="-25000" dirty="0"/>
              <a:t>3</a:t>
            </a:r>
            <a:r>
              <a:rPr lang="en-US" altLang="zh-CN" sz="2400" dirty="0"/>
              <a:t>	                4.0		1</a:t>
            </a:r>
            <a:endParaRPr lang="en-US" altLang="zh-CN" sz="2400" dirty="0"/>
          </a:p>
          <a:p>
            <a:pPr>
              <a:lnSpc>
                <a:spcPct val="120000"/>
              </a:lnSpc>
              <a:buFont typeface="Monotype Sorts" pitchFamily="2" charset="2"/>
              <a:buNone/>
              <a:tabLst>
                <a:tab pos="1603375" algn="ctr"/>
                <a:tab pos="3254375" algn="ctr"/>
                <a:tab pos="5143500" algn="ctr"/>
              </a:tabLst>
              <a:defRPr/>
            </a:pPr>
            <a:r>
              <a:rPr lang="en-US" altLang="zh-CN" sz="2400" i="1" dirty="0"/>
              <a:t>   J</a:t>
            </a:r>
            <a:r>
              <a:rPr lang="en-US" altLang="zh-CN" sz="2400" i="1" baseline="-25000" dirty="0"/>
              <a:t>4</a:t>
            </a:r>
            <a:r>
              <a:rPr lang="en-US" altLang="zh-CN" sz="2400" dirty="0"/>
              <a:t>	                5.0		4</a:t>
            </a:r>
            <a:endParaRPr lang="zh-CN" altLang="en-US" sz="2400" dirty="0"/>
          </a:p>
        </p:txBody>
      </p:sp>
      <p:grpSp>
        <p:nvGrpSpPr>
          <p:cNvPr id="32" name="Group 37"/>
          <p:cNvGrpSpPr/>
          <p:nvPr/>
        </p:nvGrpSpPr>
        <p:grpSpPr bwMode="auto">
          <a:xfrm>
            <a:off x="1333953" y="3804046"/>
            <a:ext cx="9031348" cy="1537733"/>
            <a:chOff x="891" y="2859"/>
            <a:chExt cx="3454" cy="572"/>
          </a:xfrm>
          <a:solidFill>
            <a:srgbClr val="FFFF00"/>
          </a:solidFill>
        </p:grpSpPr>
        <p:sp>
          <p:nvSpPr>
            <p:cNvPr id="34" name="Rectangle 5"/>
            <p:cNvSpPr>
              <a:spLocks noChangeArrowheads="1"/>
            </p:cNvSpPr>
            <p:nvPr/>
          </p:nvSpPr>
          <p:spPr bwMode="auto">
            <a:xfrm flipH="1">
              <a:off x="960" y="2859"/>
              <a:ext cx="3312" cy="27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36" name="Text Box 6"/>
            <p:cNvSpPr txBox="1">
              <a:spLocks noChangeArrowheads="1"/>
            </p:cNvSpPr>
            <p:nvPr/>
          </p:nvSpPr>
          <p:spPr bwMode="auto">
            <a:xfrm flipH="1">
              <a:off x="1435" y="2903"/>
              <a:ext cx="182" cy="1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1</a:t>
              </a:r>
              <a:endParaRPr lang="en-US" altLang="zh-CN" sz="2600" dirty="0">
                <a:latin typeface="Arial" panose="020B0604020202020204" pitchFamily="34" charset="0"/>
              </a:endParaRPr>
            </a:p>
          </p:txBody>
        </p:sp>
        <p:sp>
          <p:nvSpPr>
            <p:cNvPr id="38" name="Text Box 7"/>
            <p:cNvSpPr txBox="1">
              <a:spLocks noChangeArrowheads="1"/>
            </p:cNvSpPr>
            <p:nvPr/>
          </p:nvSpPr>
          <p:spPr bwMode="auto">
            <a:xfrm flipH="1">
              <a:off x="2443" y="2903"/>
              <a:ext cx="182" cy="1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3</a:t>
              </a:r>
              <a:endParaRPr lang="en-US" altLang="zh-CN" sz="2600" dirty="0">
                <a:latin typeface="Arial" panose="020B0604020202020204" pitchFamily="34" charset="0"/>
              </a:endParaRPr>
            </a:p>
          </p:txBody>
        </p:sp>
        <p:sp>
          <p:nvSpPr>
            <p:cNvPr id="39" name="Text Box 8"/>
            <p:cNvSpPr txBox="1">
              <a:spLocks noChangeArrowheads="1"/>
            </p:cNvSpPr>
            <p:nvPr/>
          </p:nvSpPr>
          <p:spPr bwMode="auto">
            <a:xfrm flipH="1">
              <a:off x="3019" y="2903"/>
              <a:ext cx="182" cy="1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2</a:t>
              </a:r>
              <a:endParaRPr lang="en-US" altLang="zh-CN" sz="2600" dirty="0">
                <a:latin typeface="Arial" panose="020B0604020202020204" pitchFamily="34" charset="0"/>
              </a:endParaRPr>
            </a:p>
          </p:txBody>
        </p:sp>
        <p:sp>
          <p:nvSpPr>
            <p:cNvPr id="40" name="Line 9"/>
            <p:cNvSpPr>
              <a:spLocks noChangeShapeType="1"/>
            </p:cNvSpPr>
            <p:nvPr/>
          </p:nvSpPr>
          <p:spPr bwMode="auto">
            <a:xfrm flipH="1">
              <a:off x="4272" y="3129"/>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42" name="Line 10"/>
            <p:cNvSpPr>
              <a:spLocks noChangeShapeType="1"/>
            </p:cNvSpPr>
            <p:nvPr/>
          </p:nvSpPr>
          <p:spPr bwMode="auto">
            <a:xfrm flipH="1">
              <a:off x="960" y="3129"/>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44" name="Line 11"/>
            <p:cNvSpPr>
              <a:spLocks noChangeShapeType="1"/>
            </p:cNvSpPr>
            <p:nvPr/>
          </p:nvSpPr>
          <p:spPr bwMode="auto">
            <a:xfrm flipH="1">
              <a:off x="2688" y="2859"/>
              <a:ext cx="0" cy="27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45" name="Line 12"/>
            <p:cNvSpPr>
              <a:spLocks noChangeShapeType="1"/>
            </p:cNvSpPr>
            <p:nvPr/>
          </p:nvSpPr>
          <p:spPr bwMode="auto">
            <a:xfrm flipH="1">
              <a:off x="2400" y="2859"/>
              <a:ext cx="0" cy="27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46" name="Line 13"/>
            <p:cNvSpPr>
              <a:spLocks noChangeShapeType="1"/>
            </p:cNvSpPr>
            <p:nvPr/>
          </p:nvSpPr>
          <p:spPr bwMode="auto">
            <a:xfrm flipH="1">
              <a:off x="2400" y="3129"/>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47" name="Line 14"/>
            <p:cNvSpPr>
              <a:spLocks noChangeShapeType="1"/>
            </p:cNvSpPr>
            <p:nvPr/>
          </p:nvSpPr>
          <p:spPr bwMode="auto">
            <a:xfrm flipH="1">
              <a:off x="1392"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48" name="Text Box 15"/>
            <p:cNvSpPr txBox="1">
              <a:spLocks noChangeArrowheads="1"/>
            </p:cNvSpPr>
            <p:nvPr/>
          </p:nvSpPr>
          <p:spPr bwMode="auto">
            <a:xfrm flipH="1">
              <a:off x="2331" y="3248"/>
              <a:ext cx="142" cy="1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7</a:t>
              </a:r>
              <a:endParaRPr lang="en-US" altLang="zh-CN" sz="2600">
                <a:latin typeface="Arial" panose="020B0604020202020204" pitchFamily="34" charset="0"/>
              </a:endParaRPr>
            </a:p>
          </p:txBody>
        </p:sp>
        <p:sp>
          <p:nvSpPr>
            <p:cNvPr id="50" name="Text Box 17"/>
            <p:cNvSpPr txBox="1">
              <a:spLocks noChangeArrowheads="1"/>
            </p:cNvSpPr>
            <p:nvPr/>
          </p:nvSpPr>
          <p:spPr bwMode="auto">
            <a:xfrm flipH="1">
              <a:off x="4132" y="3248"/>
              <a:ext cx="213" cy="1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16</a:t>
              </a:r>
              <a:endParaRPr lang="en-US" altLang="zh-CN" sz="2600">
                <a:latin typeface="Arial" panose="020B0604020202020204" pitchFamily="34" charset="0"/>
              </a:endParaRPr>
            </a:p>
          </p:txBody>
        </p:sp>
        <p:sp>
          <p:nvSpPr>
            <p:cNvPr id="51" name="Text Box 18"/>
            <p:cNvSpPr txBox="1">
              <a:spLocks noChangeArrowheads="1"/>
            </p:cNvSpPr>
            <p:nvPr/>
          </p:nvSpPr>
          <p:spPr bwMode="auto">
            <a:xfrm flipH="1">
              <a:off x="891" y="3248"/>
              <a:ext cx="142" cy="1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0</a:t>
              </a:r>
              <a:endParaRPr lang="en-US" altLang="zh-CN" sz="2600">
                <a:latin typeface="Arial" panose="020B0604020202020204" pitchFamily="34" charset="0"/>
              </a:endParaRPr>
            </a:p>
          </p:txBody>
        </p:sp>
        <p:sp>
          <p:nvSpPr>
            <p:cNvPr id="52" name="Text Box 20"/>
            <p:cNvSpPr txBox="1">
              <a:spLocks noChangeArrowheads="1"/>
            </p:cNvSpPr>
            <p:nvPr/>
          </p:nvSpPr>
          <p:spPr bwMode="auto">
            <a:xfrm flipH="1">
              <a:off x="3739" y="2903"/>
              <a:ext cx="182" cy="1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J</a:t>
              </a:r>
              <a:r>
                <a:rPr lang="en-US" altLang="zh-CN" sz="2600" baseline="-25000" dirty="0">
                  <a:latin typeface="Arial" panose="020B0604020202020204" pitchFamily="34" charset="0"/>
                </a:rPr>
                <a:t>4</a:t>
              </a:r>
              <a:endParaRPr lang="en-US" altLang="zh-CN" sz="2600" dirty="0">
                <a:latin typeface="Arial" panose="020B0604020202020204" pitchFamily="34" charset="0"/>
              </a:endParaRPr>
            </a:p>
          </p:txBody>
        </p:sp>
        <p:sp>
          <p:nvSpPr>
            <p:cNvPr id="53" name="Line 21"/>
            <p:cNvSpPr>
              <a:spLocks noChangeShapeType="1"/>
            </p:cNvSpPr>
            <p:nvPr/>
          </p:nvSpPr>
          <p:spPr bwMode="auto">
            <a:xfrm flipH="1">
              <a:off x="3456" y="2859"/>
              <a:ext cx="0" cy="27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4" name="Line 22"/>
            <p:cNvSpPr>
              <a:spLocks noChangeShapeType="1"/>
            </p:cNvSpPr>
            <p:nvPr/>
          </p:nvSpPr>
          <p:spPr bwMode="auto">
            <a:xfrm flipH="1">
              <a:off x="1152"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5" name="Line 23"/>
            <p:cNvSpPr>
              <a:spLocks noChangeShapeType="1"/>
            </p:cNvSpPr>
            <p:nvPr/>
          </p:nvSpPr>
          <p:spPr bwMode="auto">
            <a:xfrm flipH="1">
              <a:off x="1632"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6" name="Line 24"/>
            <p:cNvSpPr>
              <a:spLocks noChangeShapeType="1"/>
            </p:cNvSpPr>
            <p:nvPr/>
          </p:nvSpPr>
          <p:spPr bwMode="auto">
            <a:xfrm flipH="1">
              <a:off x="1872"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7" name="Line 25"/>
            <p:cNvSpPr>
              <a:spLocks noChangeShapeType="1"/>
            </p:cNvSpPr>
            <p:nvPr/>
          </p:nvSpPr>
          <p:spPr bwMode="auto">
            <a:xfrm flipH="1">
              <a:off x="2064"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8" name="Line 26"/>
            <p:cNvSpPr>
              <a:spLocks noChangeShapeType="1"/>
            </p:cNvSpPr>
            <p:nvPr/>
          </p:nvSpPr>
          <p:spPr bwMode="auto">
            <a:xfrm flipH="1">
              <a:off x="2256"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9" name="Line 27"/>
            <p:cNvSpPr>
              <a:spLocks noChangeShapeType="1"/>
            </p:cNvSpPr>
            <p:nvPr/>
          </p:nvSpPr>
          <p:spPr bwMode="auto">
            <a:xfrm flipH="1">
              <a:off x="2688" y="3129"/>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60" name="Text Box 28"/>
            <p:cNvSpPr txBox="1">
              <a:spLocks noChangeArrowheads="1"/>
            </p:cNvSpPr>
            <p:nvPr/>
          </p:nvSpPr>
          <p:spPr bwMode="auto">
            <a:xfrm flipH="1">
              <a:off x="2619" y="3248"/>
              <a:ext cx="142" cy="1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8</a:t>
              </a:r>
              <a:endParaRPr lang="en-US" altLang="zh-CN" sz="2600">
                <a:latin typeface="Arial" panose="020B0604020202020204" pitchFamily="34" charset="0"/>
              </a:endParaRPr>
            </a:p>
          </p:txBody>
        </p:sp>
        <p:sp>
          <p:nvSpPr>
            <p:cNvPr id="61" name="Line 29"/>
            <p:cNvSpPr>
              <a:spLocks noChangeShapeType="1"/>
            </p:cNvSpPr>
            <p:nvPr/>
          </p:nvSpPr>
          <p:spPr bwMode="auto">
            <a:xfrm flipH="1">
              <a:off x="2928"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62" name="Line 30"/>
            <p:cNvSpPr>
              <a:spLocks noChangeShapeType="1"/>
            </p:cNvSpPr>
            <p:nvPr/>
          </p:nvSpPr>
          <p:spPr bwMode="auto">
            <a:xfrm flipH="1">
              <a:off x="3120"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63" name="Line 31"/>
            <p:cNvSpPr>
              <a:spLocks noChangeShapeType="1"/>
            </p:cNvSpPr>
            <p:nvPr/>
          </p:nvSpPr>
          <p:spPr bwMode="auto">
            <a:xfrm flipH="1">
              <a:off x="3312"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64" name="Line 32"/>
            <p:cNvSpPr>
              <a:spLocks noChangeShapeType="1"/>
            </p:cNvSpPr>
            <p:nvPr/>
          </p:nvSpPr>
          <p:spPr bwMode="auto">
            <a:xfrm flipH="1">
              <a:off x="3456" y="3129"/>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65" name="Text Box 33"/>
            <p:cNvSpPr txBox="1">
              <a:spLocks noChangeArrowheads="1"/>
            </p:cNvSpPr>
            <p:nvPr/>
          </p:nvSpPr>
          <p:spPr bwMode="auto">
            <a:xfrm flipH="1">
              <a:off x="3344" y="3248"/>
              <a:ext cx="213" cy="18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12</a:t>
              </a:r>
              <a:endParaRPr lang="en-US" altLang="zh-CN" sz="2600">
                <a:latin typeface="Arial" panose="020B0604020202020204" pitchFamily="34" charset="0"/>
              </a:endParaRPr>
            </a:p>
          </p:txBody>
        </p:sp>
        <p:sp>
          <p:nvSpPr>
            <p:cNvPr id="66" name="Line 34"/>
            <p:cNvSpPr>
              <a:spLocks noChangeShapeType="1"/>
            </p:cNvSpPr>
            <p:nvPr/>
          </p:nvSpPr>
          <p:spPr bwMode="auto">
            <a:xfrm flipH="1">
              <a:off x="3696"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67" name="Line 35"/>
            <p:cNvSpPr>
              <a:spLocks noChangeShapeType="1"/>
            </p:cNvSpPr>
            <p:nvPr/>
          </p:nvSpPr>
          <p:spPr bwMode="auto">
            <a:xfrm flipH="1">
              <a:off x="3888"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68" name="Line 36"/>
            <p:cNvSpPr>
              <a:spLocks noChangeShapeType="1"/>
            </p:cNvSpPr>
            <p:nvPr/>
          </p:nvSpPr>
          <p:spPr bwMode="auto">
            <a:xfrm flipH="1">
              <a:off x="4080" y="3058"/>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grpSp>
      <p:sp>
        <p:nvSpPr>
          <p:cNvPr id="69" name="内容占位符 2"/>
          <p:cNvSpPr txBox="1"/>
          <p:nvPr/>
        </p:nvSpPr>
        <p:spPr>
          <a:xfrm>
            <a:off x="1004769" y="5642874"/>
            <a:ext cx="5506927" cy="4494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平均等待时间 </a:t>
            </a:r>
            <a:r>
              <a:rPr lang="en-US" altLang="zh-CN" sz="2400" dirty="0"/>
              <a:t>= (0 + 6 + 3 + 7)/4 = 4</a:t>
            </a:r>
            <a:endParaRPr lang="en-US" altLang="zh-CN" sz="2400" dirty="0"/>
          </a:p>
        </p:txBody>
      </p:sp>
      <p:sp>
        <p:nvSpPr>
          <p:cNvPr id="70" name="内容占位符 2"/>
          <p:cNvSpPr txBox="1"/>
          <p:nvPr/>
        </p:nvSpPr>
        <p:spPr>
          <a:xfrm>
            <a:off x="6660200" y="5654445"/>
            <a:ext cx="5506927" cy="4494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平均周转时间</a:t>
            </a:r>
            <a:r>
              <a:rPr lang="en-US" altLang="zh-CN" sz="2400" dirty="0"/>
              <a:t>=(7+10+4+11)/4= 8</a:t>
            </a:r>
            <a:endParaRPr lang="en-US" altLang="zh-CN"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抢占式</a:t>
            </a:r>
            <a:r>
              <a:rPr lang="en-US" altLang="zh-CN" sz="2800" b="1" dirty="0">
                <a:solidFill>
                  <a:schemeClr val="bg1"/>
                </a:solidFill>
              </a:rPr>
              <a:t>SJF</a:t>
            </a:r>
            <a:r>
              <a:rPr lang="zh-CN" altLang="en-US" sz="2800" b="1" dirty="0">
                <a:solidFill>
                  <a:schemeClr val="bg1"/>
                </a:solidFill>
              </a:rPr>
              <a:t>举例</a:t>
            </a:r>
            <a:endParaRPr lang="zh-CN" altLang="en-US" sz="2800" b="1" dirty="0">
              <a:solidFill>
                <a:schemeClr val="bg1"/>
              </a:solidFill>
            </a:endParaRPr>
          </a:p>
        </p:txBody>
      </p:sp>
      <p:sp>
        <p:nvSpPr>
          <p:cNvPr id="69" name="内容占位符 2"/>
          <p:cNvSpPr txBox="1"/>
          <p:nvPr/>
        </p:nvSpPr>
        <p:spPr>
          <a:xfrm>
            <a:off x="1004769" y="5642874"/>
            <a:ext cx="5506927" cy="4494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平均等待时间 </a:t>
            </a:r>
            <a:r>
              <a:rPr lang="en-US" altLang="zh-CN" sz="2400" dirty="0"/>
              <a:t>= (9 + 1 + 0 +2)/4 = 3</a:t>
            </a:r>
            <a:endParaRPr lang="en-US" altLang="zh-CN" sz="2400" dirty="0"/>
          </a:p>
        </p:txBody>
      </p:sp>
      <p:sp>
        <p:nvSpPr>
          <p:cNvPr id="70" name="内容占位符 2"/>
          <p:cNvSpPr txBox="1"/>
          <p:nvPr/>
        </p:nvSpPr>
        <p:spPr>
          <a:xfrm>
            <a:off x="6660200" y="5654445"/>
            <a:ext cx="5506927" cy="4494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平均周转时间 </a:t>
            </a:r>
            <a:r>
              <a:rPr lang="en-US" altLang="zh-CN" sz="2400" dirty="0"/>
              <a:t>= (16+ 5 +1+ 6)/4 = 7</a:t>
            </a:r>
            <a:endParaRPr lang="en-US" altLang="zh-CN" sz="2400" dirty="0"/>
          </a:p>
        </p:txBody>
      </p:sp>
      <p:grpSp>
        <p:nvGrpSpPr>
          <p:cNvPr id="41" name="组合 1"/>
          <p:cNvGrpSpPr/>
          <p:nvPr/>
        </p:nvGrpSpPr>
        <p:grpSpPr bwMode="auto">
          <a:xfrm>
            <a:off x="2343404" y="3759675"/>
            <a:ext cx="7345777" cy="1533786"/>
            <a:chOff x="1339943" y="4343400"/>
            <a:chExt cx="5963407" cy="1234588"/>
          </a:xfrm>
        </p:grpSpPr>
        <p:sp>
          <p:nvSpPr>
            <p:cNvPr id="43" name="Rectangle 37"/>
            <p:cNvSpPr>
              <a:spLocks noChangeArrowheads="1"/>
            </p:cNvSpPr>
            <p:nvPr/>
          </p:nvSpPr>
          <p:spPr bwMode="auto">
            <a:xfrm flipH="1">
              <a:off x="1524264" y="4357009"/>
              <a:ext cx="5562978" cy="610489"/>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defRPr/>
              </a:pPr>
              <a:endParaRPr lang="zh-CN" altLang="en-US" sz="2600"/>
            </a:p>
          </p:txBody>
        </p:sp>
        <p:sp>
          <p:nvSpPr>
            <p:cNvPr id="71" name="Text Box 38"/>
            <p:cNvSpPr txBox="1">
              <a:spLocks noChangeArrowheads="1"/>
            </p:cNvSpPr>
            <p:nvPr/>
          </p:nvSpPr>
          <p:spPr bwMode="auto">
            <a:xfrm flipH="1">
              <a:off x="1620845" y="4405148"/>
              <a:ext cx="379410" cy="39561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J</a:t>
              </a:r>
              <a:r>
                <a:rPr lang="en-US" altLang="zh-CN" sz="2600" baseline="-25000"/>
                <a:t>1</a:t>
              </a:r>
              <a:endParaRPr lang="en-US" altLang="zh-CN" sz="2600"/>
            </a:p>
          </p:txBody>
        </p:sp>
        <p:sp>
          <p:nvSpPr>
            <p:cNvPr id="72" name="Text Box 39"/>
            <p:cNvSpPr txBox="1">
              <a:spLocks noChangeArrowheads="1"/>
            </p:cNvSpPr>
            <p:nvPr/>
          </p:nvSpPr>
          <p:spPr bwMode="auto">
            <a:xfrm flipH="1">
              <a:off x="2915998" y="4405148"/>
              <a:ext cx="379410" cy="39561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J</a:t>
              </a:r>
              <a:r>
                <a:rPr lang="en-US" altLang="zh-CN" sz="2600" baseline="-25000"/>
                <a:t>3</a:t>
              </a:r>
              <a:endParaRPr lang="en-US" altLang="zh-CN" sz="2600"/>
            </a:p>
          </p:txBody>
        </p:sp>
        <p:sp>
          <p:nvSpPr>
            <p:cNvPr id="73" name="Text Box 40"/>
            <p:cNvSpPr txBox="1">
              <a:spLocks noChangeArrowheads="1"/>
            </p:cNvSpPr>
            <p:nvPr/>
          </p:nvSpPr>
          <p:spPr bwMode="auto">
            <a:xfrm flipH="1">
              <a:off x="2382642" y="4405148"/>
              <a:ext cx="379410" cy="39561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J</a:t>
              </a:r>
              <a:r>
                <a:rPr lang="en-US" altLang="zh-CN" sz="2600" baseline="-25000"/>
                <a:t>2</a:t>
              </a:r>
              <a:endParaRPr lang="en-US" altLang="zh-CN" sz="2600"/>
            </a:p>
          </p:txBody>
        </p:sp>
        <p:sp>
          <p:nvSpPr>
            <p:cNvPr id="74" name="Line 41"/>
            <p:cNvSpPr>
              <a:spLocks noChangeShapeType="1"/>
            </p:cNvSpPr>
            <p:nvPr/>
          </p:nvSpPr>
          <p:spPr bwMode="auto">
            <a:xfrm flipH="1">
              <a:off x="7089202" y="4953889"/>
              <a:ext cx="0" cy="2274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75" name="Line 42"/>
            <p:cNvSpPr>
              <a:spLocks noChangeShapeType="1"/>
            </p:cNvSpPr>
            <p:nvPr/>
          </p:nvSpPr>
          <p:spPr bwMode="auto">
            <a:xfrm flipH="1">
              <a:off x="1524264" y="4967499"/>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76" name="Line 43"/>
            <p:cNvSpPr>
              <a:spLocks noChangeShapeType="1"/>
            </p:cNvSpPr>
            <p:nvPr/>
          </p:nvSpPr>
          <p:spPr bwMode="auto">
            <a:xfrm flipH="1">
              <a:off x="4267517" y="4357009"/>
              <a:ext cx="0" cy="6104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77" name="Line 44"/>
            <p:cNvSpPr>
              <a:spLocks noChangeShapeType="1"/>
            </p:cNvSpPr>
            <p:nvPr/>
          </p:nvSpPr>
          <p:spPr bwMode="auto">
            <a:xfrm flipH="1">
              <a:off x="2134094" y="4343400"/>
              <a:ext cx="0" cy="9137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78" name="Line 45"/>
            <p:cNvSpPr>
              <a:spLocks noChangeShapeType="1"/>
            </p:cNvSpPr>
            <p:nvPr/>
          </p:nvSpPr>
          <p:spPr bwMode="auto">
            <a:xfrm flipH="1">
              <a:off x="3820439" y="4856678"/>
              <a:ext cx="0" cy="22942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79" name="Text Box 47"/>
            <p:cNvSpPr txBox="1">
              <a:spLocks noChangeArrowheads="1"/>
            </p:cNvSpPr>
            <p:nvPr/>
          </p:nvSpPr>
          <p:spPr bwMode="auto">
            <a:xfrm flipH="1">
              <a:off x="2747416" y="5166904"/>
              <a:ext cx="300870" cy="396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4</a:t>
              </a:r>
              <a:endParaRPr lang="en-US" altLang="zh-CN" sz="2600"/>
            </a:p>
          </p:txBody>
        </p:sp>
        <p:sp>
          <p:nvSpPr>
            <p:cNvPr id="80" name="Text Box 48"/>
            <p:cNvSpPr txBox="1">
              <a:spLocks noChangeArrowheads="1"/>
            </p:cNvSpPr>
            <p:nvPr/>
          </p:nvSpPr>
          <p:spPr bwMode="auto">
            <a:xfrm flipH="1">
              <a:off x="1986600" y="5166904"/>
              <a:ext cx="300870" cy="396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2</a:t>
              </a:r>
              <a:endParaRPr lang="en-US" altLang="zh-CN" sz="2600"/>
            </a:p>
          </p:txBody>
        </p:sp>
        <p:sp>
          <p:nvSpPr>
            <p:cNvPr id="81" name="Text Box 49"/>
            <p:cNvSpPr txBox="1">
              <a:spLocks noChangeArrowheads="1"/>
            </p:cNvSpPr>
            <p:nvPr/>
          </p:nvSpPr>
          <p:spPr bwMode="auto">
            <a:xfrm flipH="1">
              <a:off x="5261504" y="5156210"/>
              <a:ext cx="431733" cy="396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11</a:t>
              </a:r>
              <a:endParaRPr lang="en-US" altLang="zh-CN" sz="2600"/>
            </a:p>
          </p:txBody>
        </p:sp>
        <p:sp>
          <p:nvSpPr>
            <p:cNvPr id="82" name="Text Box 50"/>
            <p:cNvSpPr txBox="1">
              <a:spLocks noChangeArrowheads="1"/>
            </p:cNvSpPr>
            <p:nvPr/>
          </p:nvSpPr>
          <p:spPr bwMode="auto">
            <a:xfrm flipH="1">
              <a:off x="1339943" y="5177476"/>
              <a:ext cx="337269" cy="4005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0</a:t>
              </a:r>
              <a:endParaRPr lang="en-US" altLang="zh-CN" sz="2600" dirty="0"/>
            </a:p>
          </p:txBody>
        </p:sp>
        <p:sp>
          <p:nvSpPr>
            <p:cNvPr id="83" name="Text Box 51"/>
            <p:cNvSpPr txBox="1">
              <a:spLocks noChangeArrowheads="1"/>
            </p:cNvSpPr>
            <p:nvPr/>
          </p:nvSpPr>
          <p:spPr bwMode="auto">
            <a:xfrm flipH="1">
              <a:off x="4744506" y="4405148"/>
              <a:ext cx="379410" cy="39561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J</a:t>
              </a:r>
              <a:r>
                <a:rPr lang="en-US" altLang="zh-CN" sz="2600" baseline="-25000"/>
                <a:t>4</a:t>
              </a:r>
              <a:endParaRPr lang="en-US" altLang="zh-CN" sz="2600"/>
            </a:p>
          </p:txBody>
        </p:sp>
        <p:sp>
          <p:nvSpPr>
            <p:cNvPr id="84" name="Line 52"/>
            <p:cNvSpPr>
              <a:spLocks noChangeShapeType="1"/>
            </p:cNvSpPr>
            <p:nvPr/>
          </p:nvSpPr>
          <p:spPr bwMode="auto">
            <a:xfrm flipH="1">
              <a:off x="5487175" y="4357009"/>
              <a:ext cx="0" cy="61048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85" name="Line 53"/>
            <p:cNvSpPr>
              <a:spLocks noChangeShapeType="1"/>
            </p:cNvSpPr>
            <p:nvPr/>
          </p:nvSpPr>
          <p:spPr bwMode="auto">
            <a:xfrm flipH="1">
              <a:off x="1828199" y="4854733"/>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86" name="Line 54"/>
            <p:cNvSpPr>
              <a:spLocks noChangeShapeType="1"/>
            </p:cNvSpPr>
            <p:nvPr/>
          </p:nvSpPr>
          <p:spPr bwMode="auto">
            <a:xfrm flipH="1">
              <a:off x="2524306" y="4854733"/>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87" name="Line 58"/>
            <p:cNvSpPr>
              <a:spLocks noChangeShapeType="1"/>
            </p:cNvSpPr>
            <p:nvPr/>
          </p:nvSpPr>
          <p:spPr bwMode="auto">
            <a:xfrm flipH="1">
              <a:off x="4267517" y="4967499"/>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88" name="Text Box 59"/>
            <p:cNvSpPr txBox="1">
              <a:spLocks noChangeArrowheads="1"/>
            </p:cNvSpPr>
            <p:nvPr/>
          </p:nvSpPr>
          <p:spPr bwMode="auto">
            <a:xfrm flipH="1">
              <a:off x="3281753" y="5166904"/>
              <a:ext cx="300870" cy="396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5</a:t>
              </a:r>
              <a:endParaRPr lang="en-US" altLang="zh-CN" sz="2600"/>
            </a:p>
          </p:txBody>
        </p:sp>
        <p:sp>
          <p:nvSpPr>
            <p:cNvPr id="89" name="Line 60"/>
            <p:cNvSpPr>
              <a:spLocks noChangeShapeType="1"/>
            </p:cNvSpPr>
            <p:nvPr/>
          </p:nvSpPr>
          <p:spPr bwMode="auto">
            <a:xfrm flipH="1">
              <a:off x="4638120" y="4854733"/>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90" name="Line 61"/>
            <p:cNvSpPr>
              <a:spLocks noChangeShapeType="1"/>
            </p:cNvSpPr>
            <p:nvPr/>
          </p:nvSpPr>
          <p:spPr bwMode="auto">
            <a:xfrm flipH="1">
              <a:off x="4953820" y="4854733"/>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91" name="Line 62"/>
            <p:cNvSpPr>
              <a:spLocks noChangeShapeType="1"/>
            </p:cNvSpPr>
            <p:nvPr/>
          </p:nvSpPr>
          <p:spPr bwMode="auto">
            <a:xfrm flipH="1">
              <a:off x="5257753" y="4854733"/>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92" name="Line 63"/>
            <p:cNvSpPr>
              <a:spLocks noChangeShapeType="1"/>
            </p:cNvSpPr>
            <p:nvPr/>
          </p:nvSpPr>
          <p:spPr bwMode="auto">
            <a:xfrm flipH="1">
              <a:off x="5487175" y="4967499"/>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93" name="Text Box 64"/>
            <p:cNvSpPr txBox="1">
              <a:spLocks noChangeArrowheads="1"/>
            </p:cNvSpPr>
            <p:nvPr/>
          </p:nvSpPr>
          <p:spPr bwMode="auto">
            <a:xfrm flipH="1">
              <a:off x="4120022" y="5166904"/>
              <a:ext cx="300870" cy="396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7</a:t>
              </a:r>
              <a:endParaRPr lang="en-US" altLang="zh-CN" sz="2600"/>
            </a:p>
          </p:txBody>
        </p:sp>
        <p:sp>
          <p:nvSpPr>
            <p:cNvPr id="94" name="Line 65"/>
            <p:cNvSpPr>
              <a:spLocks noChangeShapeType="1"/>
            </p:cNvSpPr>
            <p:nvPr/>
          </p:nvSpPr>
          <p:spPr bwMode="auto">
            <a:xfrm flipH="1">
              <a:off x="5867583" y="4854733"/>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95" name="Line 66"/>
            <p:cNvSpPr>
              <a:spLocks noChangeShapeType="1"/>
            </p:cNvSpPr>
            <p:nvPr/>
          </p:nvSpPr>
          <p:spPr bwMode="auto">
            <a:xfrm flipH="1">
              <a:off x="6171517" y="4854733"/>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96" name="Line 67"/>
            <p:cNvSpPr>
              <a:spLocks noChangeShapeType="1"/>
            </p:cNvSpPr>
            <p:nvPr/>
          </p:nvSpPr>
          <p:spPr bwMode="auto">
            <a:xfrm flipH="1">
              <a:off x="6477412" y="4854733"/>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97" name="Line 68"/>
            <p:cNvSpPr>
              <a:spLocks noChangeShapeType="1"/>
            </p:cNvSpPr>
            <p:nvPr/>
          </p:nvSpPr>
          <p:spPr bwMode="auto">
            <a:xfrm flipH="1">
              <a:off x="2894910" y="4343400"/>
              <a:ext cx="0" cy="9137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98" name="Line 69"/>
            <p:cNvSpPr>
              <a:spLocks noChangeShapeType="1"/>
            </p:cNvSpPr>
            <p:nvPr/>
          </p:nvSpPr>
          <p:spPr bwMode="auto">
            <a:xfrm flipH="1">
              <a:off x="3428266" y="4343400"/>
              <a:ext cx="0" cy="9137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100" name="Text Box 71"/>
            <p:cNvSpPr txBox="1">
              <a:spLocks noChangeArrowheads="1"/>
            </p:cNvSpPr>
            <p:nvPr/>
          </p:nvSpPr>
          <p:spPr bwMode="auto">
            <a:xfrm flipH="1">
              <a:off x="6117112" y="4405148"/>
              <a:ext cx="379410" cy="39561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J</a:t>
              </a:r>
              <a:r>
                <a:rPr lang="en-US" altLang="zh-CN" sz="2600" baseline="-25000"/>
                <a:t>1</a:t>
              </a:r>
              <a:endParaRPr lang="en-US" altLang="zh-CN" sz="2600"/>
            </a:p>
          </p:txBody>
        </p:sp>
        <p:sp>
          <p:nvSpPr>
            <p:cNvPr id="101" name="Line 72"/>
            <p:cNvSpPr>
              <a:spLocks noChangeShapeType="1"/>
            </p:cNvSpPr>
            <p:nvPr/>
          </p:nvSpPr>
          <p:spPr bwMode="auto">
            <a:xfrm flipH="1">
              <a:off x="6781347" y="4854733"/>
              <a:ext cx="0" cy="2274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p>
          </p:txBody>
        </p:sp>
        <p:sp>
          <p:nvSpPr>
            <p:cNvPr id="102" name="Text Box 73"/>
            <p:cNvSpPr txBox="1">
              <a:spLocks noChangeArrowheads="1"/>
            </p:cNvSpPr>
            <p:nvPr/>
          </p:nvSpPr>
          <p:spPr bwMode="auto">
            <a:xfrm flipH="1">
              <a:off x="6851524" y="5156210"/>
              <a:ext cx="451826" cy="396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16</a:t>
              </a:r>
              <a:endParaRPr lang="en-US" altLang="zh-CN" sz="2600" dirty="0"/>
            </a:p>
          </p:txBody>
        </p:sp>
      </p:grpSp>
      <p:sp>
        <p:nvSpPr>
          <p:cNvPr id="2" name="文本框 1"/>
          <p:cNvSpPr txBox="1"/>
          <p:nvPr/>
        </p:nvSpPr>
        <p:spPr>
          <a:xfrm>
            <a:off x="2489207" y="1285309"/>
            <a:ext cx="6720840" cy="2267544"/>
          </a:xfrm>
          <a:prstGeom prst="rect">
            <a:avLst/>
          </a:prstGeom>
          <a:noFill/>
          <a:ln>
            <a:solidFill>
              <a:schemeClr val="bg2">
                <a:lumMod val="75000"/>
              </a:schemeClr>
            </a:solidFill>
          </a:ln>
        </p:spPr>
        <p:txBody>
          <a:bodyPr wrap="square">
            <a:spAutoFit/>
          </a:bodyPr>
          <a:p>
            <a:pPr marL="0" indent="0">
              <a:lnSpc>
                <a:spcPct val="120000"/>
              </a:lnSpc>
              <a:buFont typeface="Wingdings 2" panose="05020102010507070707" pitchFamily="18" charset="2"/>
              <a:buNone/>
              <a:defRPr/>
            </a:pPr>
            <a:r>
              <a:rPr lang="en-US" altLang="zh-CN" sz="2400" dirty="0"/>
              <a:t> </a:t>
            </a:r>
            <a:r>
              <a:rPr lang="zh-CN" altLang="en-US" sz="2400" u="sng" dirty="0"/>
              <a:t>进程</a:t>
            </a:r>
            <a:r>
              <a:rPr lang="zh-CN" altLang="en-US" sz="2400" dirty="0"/>
              <a:t>	</a:t>
            </a:r>
            <a:r>
              <a:rPr lang="en-US" altLang="zh-CN" sz="2400" dirty="0"/>
              <a:t>	</a:t>
            </a:r>
            <a:r>
              <a:rPr lang="zh-CN" altLang="en-US" sz="2400" u="sng" dirty="0"/>
              <a:t>到达时间</a:t>
            </a:r>
            <a:r>
              <a:rPr lang="en-US" altLang="zh-CN" sz="2400" dirty="0"/>
              <a:t>		</a:t>
            </a:r>
            <a:r>
              <a:rPr lang="zh-CN" altLang="en-US" sz="2400" u="sng" dirty="0"/>
              <a:t>运行时间</a:t>
            </a:r>
            <a:endParaRPr lang="en-US" altLang="zh-CN" sz="2400" dirty="0"/>
          </a:p>
          <a:p>
            <a:pPr>
              <a:lnSpc>
                <a:spcPct val="120000"/>
              </a:lnSpc>
              <a:buFont typeface="Monotype Sorts" pitchFamily="2" charset="2"/>
              <a:buNone/>
              <a:tabLst>
                <a:tab pos="1603375" algn="ctr"/>
                <a:tab pos="3254375" algn="ctr"/>
                <a:tab pos="5143500" algn="ctr"/>
              </a:tabLst>
              <a:defRPr/>
            </a:pPr>
            <a:r>
              <a:rPr lang="en-US" altLang="zh-CN" sz="2400" i="1" dirty="0"/>
              <a:t>   J</a:t>
            </a:r>
            <a:r>
              <a:rPr lang="en-US" altLang="zh-CN" sz="2400" i="1" baseline="-25000" dirty="0"/>
              <a:t>1	                         </a:t>
            </a:r>
            <a:r>
              <a:rPr lang="en-US" altLang="zh-CN" sz="2400" dirty="0"/>
              <a:t>0.0	  	 7</a:t>
            </a:r>
            <a:endParaRPr lang="en-US" altLang="zh-CN" sz="2400" dirty="0"/>
          </a:p>
          <a:p>
            <a:pPr>
              <a:lnSpc>
                <a:spcPct val="120000"/>
              </a:lnSpc>
              <a:buFont typeface="Monotype Sorts" pitchFamily="2" charset="2"/>
              <a:buNone/>
              <a:tabLst>
                <a:tab pos="1603375" algn="ctr"/>
                <a:tab pos="3254375" algn="ctr"/>
                <a:tab pos="5143500" algn="ctr"/>
              </a:tabLst>
              <a:defRPr/>
            </a:pPr>
            <a:r>
              <a:rPr lang="en-US" altLang="zh-CN" sz="2400" i="1" dirty="0"/>
              <a:t>   J</a:t>
            </a:r>
            <a:r>
              <a:rPr lang="en-US" altLang="zh-CN" sz="2400" i="1" baseline="-25000" dirty="0"/>
              <a:t>2	                        </a:t>
            </a:r>
            <a:r>
              <a:rPr lang="en-US" altLang="zh-CN" sz="2400" dirty="0"/>
              <a:t>2.0		4</a:t>
            </a:r>
            <a:endParaRPr lang="en-US" altLang="zh-CN" sz="2400" dirty="0"/>
          </a:p>
          <a:p>
            <a:pPr>
              <a:lnSpc>
                <a:spcPct val="120000"/>
              </a:lnSpc>
              <a:buFont typeface="Monotype Sorts" pitchFamily="2" charset="2"/>
              <a:buNone/>
              <a:tabLst>
                <a:tab pos="1603375" algn="ctr"/>
                <a:tab pos="3254375" algn="ctr"/>
                <a:tab pos="5143500" algn="ctr"/>
              </a:tabLst>
              <a:defRPr/>
            </a:pPr>
            <a:r>
              <a:rPr lang="en-US" altLang="zh-CN" sz="2400" i="1" dirty="0"/>
              <a:t>   J</a:t>
            </a:r>
            <a:r>
              <a:rPr lang="en-US" altLang="zh-CN" sz="2400" i="1" baseline="-25000" dirty="0"/>
              <a:t>3</a:t>
            </a:r>
            <a:r>
              <a:rPr lang="en-US" altLang="zh-CN" sz="2400" dirty="0"/>
              <a:t>	                4.0		1</a:t>
            </a:r>
            <a:endParaRPr lang="en-US" altLang="zh-CN" sz="2400" dirty="0"/>
          </a:p>
          <a:p>
            <a:pPr>
              <a:lnSpc>
                <a:spcPct val="120000"/>
              </a:lnSpc>
              <a:buFont typeface="Monotype Sorts" pitchFamily="2" charset="2"/>
              <a:buNone/>
              <a:tabLst>
                <a:tab pos="1603375" algn="ctr"/>
                <a:tab pos="3254375" algn="ctr"/>
                <a:tab pos="5143500" algn="ctr"/>
              </a:tabLst>
              <a:defRPr/>
            </a:pPr>
            <a:r>
              <a:rPr lang="en-US" altLang="zh-CN" sz="2400" i="1" dirty="0"/>
              <a:t>   J</a:t>
            </a:r>
            <a:r>
              <a:rPr lang="en-US" altLang="zh-CN" sz="2400" i="1" baseline="-25000" dirty="0"/>
              <a:t>4</a:t>
            </a:r>
            <a:r>
              <a:rPr lang="en-US" altLang="zh-CN" sz="2400" dirty="0"/>
              <a:t>	                5.0		4</a:t>
            </a:r>
            <a:endParaRPr lang="zh-CN" altLang="en-US" sz="2400" dirty="0"/>
          </a:p>
        </p:txBody>
      </p:sp>
      <p:sp>
        <p:nvSpPr>
          <p:cNvPr id="5" name="Text Box 39"/>
          <p:cNvSpPr txBox="1">
            <a:spLocks noChangeArrowheads="1"/>
          </p:cNvSpPr>
          <p:nvPr/>
        </p:nvSpPr>
        <p:spPr bwMode="auto">
          <a:xfrm flipH="1">
            <a:off x="5198568" y="3855437"/>
            <a:ext cx="467360" cy="4914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J</a:t>
            </a:r>
            <a:r>
              <a:rPr lang="en-US" altLang="zh-CN" sz="2600" baseline="-25000"/>
              <a:t>2</a:t>
            </a:r>
            <a:endParaRPr lang="en-US" altLang="zh-CN" sz="26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短作业优先调度算法</a:t>
            </a:r>
            <a:endParaRPr lang="zh-CN" altLang="en-US" sz="2800" b="1" dirty="0">
              <a:solidFill>
                <a:schemeClr val="bg1"/>
              </a:solidFill>
            </a:endParaRPr>
          </a:p>
        </p:txBody>
      </p:sp>
      <p:sp>
        <p:nvSpPr>
          <p:cNvPr id="42" name="文本框 41"/>
          <p:cNvSpPr txBox="1"/>
          <p:nvPr/>
        </p:nvSpPr>
        <p:spPr>
          <a:xfrm>
            <a:off x="1233892" y="2569484"/>
            <a:ext cx="6720840" cy="691515"/>
          </a:xfrm>
          <a:prstGeom prst="rect">
            <a:avLst/>
          </a:prstGeom>
          <a:noFill/>
        </p:spPr>
        <p:txBody>
          <a:bodyPr wrap="square">
            <a:spAutoFit/>
          </a:bodyPr>
          <a:lstStyle/>
          <a:p>
            <a:pPr>
              <a:lnSpc>
                <a:spcPct val="150000"/>
              </a:lnSpc>
            </a:pPr>
            <a:r>
              <a:rPr lang="zh-CN" altLang="en-US" sz="2600" b="1" dirty="0">
                <a:solidFill>
                  <a:srgbClr val="FF0000"/>
                </a:solidFill>
              </a:rPr>
              <a:t>缺点：</a:t>
            </a:r>
            <a:endParaRPr lang="zh-CN" altLang="en-US" sz="2600" b="1" dirty="0">
              <a:solidFill>
                <a:srgbClr val="FF0000"/>
              </a:solidFill>
            </a:endParaRPr>
          </a:p>
        </p:txBody>
      </p:sp>
      <p:sp>
        <p:nvSpPr>
          <p:cNvPr id="44" name="矩形 43"/>
          <p:cNvSpPr/>
          <p:nvPr/>
        </p:nvSpPr>
        <p:spPr>
          <a:xfrm>
            <a:off x="1879163" y="3427622"/>
            <a:ext cx="10112145" cy="1280540"/>
          </a:xfrm>
          <a:prstGeom prst="rect">
            <a:avLst/>
          </a:prstGeom>
        </p:spPr>
        <p:txBody>
          <a:bodyPr wrap="square">
            <a:noAutofit/>
          </a:bodyPr>
          <a:lstStyle/>
          <a:p>
            <a:pPr>
              <a:lnSpc>
                <a:spcPct val="132000"/>
              </a:lnSpc>
              <a:spcBef>
                <a:spcPts val="600"/>
              </a:spcBef>
              <a:spcAft>
                <a:spcPts val="600"/>
              </a:spcAft>
            </a:pPr>
            <a:r>
              <a:rPr lang="zh-CN" altLang="en-US" sz="2400" dirty="0">
                <a:latin typeface="+mn-ea"/>
              </a:rPr>
              <a:t>只能估算进程的运行时间（估值不准确），所以通常用于作业调度</a:t>
            </a:r>
            <a:endParaRPr lang="zh-CN" altLang="en-US" sz="2400" dirty="0">
              <a:latin typeface="+mn-ea"/>
            </a:endParaRPr>
          </a:p>
          <a:p>
            <a:pPr>
              <a:lnSpc>
                <a:spcPct val="132000"/>
              </a:lnSpc>
              <a:spcBef>
                <a:spcPts val="600"/>
              </a:spcBef>
              <a:spcAft>
                <a:spcPts val="600"/>
              </a:spcAft>
            </a:pPr>
            <a:r>
              <a:rPr lang="zh-CN" altLang="en-US" sz="2400" dirty="0">
                <a:latin typeface="+mn-ea"/>
              </a:rPr>
              <a:t>对长作业不利</a:t>
            </a:r>
            <a:endParaRPr lang="zh-CN" altLang="en-US" sz="2400" dirty="0">
              <a:latin typeface="+mn-ea"/>
            </a:endParaRPr>
          </a:p>
        </p:txBody>
      </p:sp>
      <p:sp>
        <p:nvSpPr>
          <p:cNvPr id="45" name="矩形 44"/>
          <p:cNvSpPr/>
          <p:nvPr/>
        </p:nvSpPr>
        <p:spPr>
          <a:xfrm>
            <a:off x="2083633" y="4706856"/>
            <a:ext cx="8024733" cy="1199405"/>
          </a:xfrm>
          <a:prstGeom prst="rect">
            <a:avLst/>
          </a:prstGeom>
        </p:spPr>
        <p:txBody>
          <a:bodyPr wrap="square">
            <a:noAutofit/>
          </a:bodyPr>
          <a:lstStyle/>
          <a:p>
            <a:pPr>
              <a:lnSpc>
                <a:spcPct val="132000"/>
              </a:lnSpc>
              <a:spcBef>
                <a:spcPts val="600"/>
              </a:spcBef>
              <a:spcAft>
                <a:spcPts val="600"/>
              </a:spcAft>
            </a:pPr>
            <a:r>
              <a:rPr lang="zh-CN" altLang="en-US" sz="2400" dirty="0">
                <a:latin typeface="+mn-ea"/>
              </a:rPr>
              <a:t>人</a:t>
            </a:r>
            <a:r>
              <a:rPr lang="en-US" altLang="zh-CN" sz="2400" dirty="0">
                <a:latin typeface="+mn-ea"/>
              </a:rPr>
              <a:t>-</a:t>
            </a:r>
            <a:r>
              <a:rPr lang="zh-CN" altLang="en-US" sz="2400" dirty="0">
                <a:latin typeface="+mn-ea"/>
              </a:rPr>
              <a:t>机无法实现交互</a:t>
            </a:r>
            <a:endParaRPr lang="zh-CN" altLang="en-US" sz="2400" dirty="0">
              <a:latin typeface="+mn-ea"/>
            </a:endParaRPr>
          </a:p>
          <a:p>
            <a:pPr>
              <a:lnSpc>
                <a:spcPct val="132000"/>
              </a:lnSpc>
              <a:spcBef>
                <a:spcPts val="600"/>
              </a:spcBef>
              <a:spcAft>
                <a:spcPts val="600"/>
              </a:spcAft>
            </a:pPr>
            <a:r>
              <a:rPr lang="zh-CN" altLang="en-US" sz="2400" dirty="0">
                <a:latin typeface="+mn-ea"/>
              </a:rPr>
              <a:t>完全未考虑作业的紧迫程度</a:t>
            </a:r>
            <a:endParaRPr lang="zh-CN" altLang="en-US" sz="2400" dirty="0">
              <a:latin typeface="+mn-ea"/>
            </a:endParaRPr>
          </a:p>
        </p:txBody>
      </p:sp>
      <p:pic>
        <p:nvPicPr>
          <p:cNvPr id="46" name="图片 4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52002" y="4708484"/>
            <a:ext cx="527050" cy="527050"/>
          </a:xfrm>
          <a:prstGeom prst="rect">
            <a:avLst/>
          </a:prstGeom>
          <a:ln>
            <a:noFill/>
          </a:ln>
          <a:effectLst>
            <a:softEdge rad="0"/>
          </a:effectLst>
        </p:spPr>
      </p:pic>
      <p:pic>
        <p:nvPicPr>
          <p:cNvPr id="47" name="图片 4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52002" y="5381462"/>
            <a:ext cx="527050" cy="527050"/>
          </a:xfrm>
          <a:prstGeom prst="rect">
            <a:avLst/>
          </a:prstGeom>
          <a:ln>
            <a:noFill/>
          </a:ln>
          <a:effectLst>
            <a:softEdge rad="0"/>
          </a:effectLst>
        </p:spPr>
      </p:pic>
      <p:pic>
        <p:nvPicPr>
          <p:cNvPr id="48" name="图片 4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52002" y="3408564"/>
            <a:ext cx="527050" cy="527050"/>
          </a:xfrm>
          <a:prstGeom prst="rect">
            <a:avLst/>
          </a:prstGeom>
          <a:ln>
            <a:noFill/>
          </a:ln>
          <a:effectLst>
            <a:softEdge rad="0"/>
          </a:effectLst>
        </p:spPr>
      </p:pic>
      <p:pic>
        <p:nvPicPr>
          <p:cNvPr id="49" name="图片 4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52002" y="4057710"/>
            <a:ext cx="527050" cy="527050"/>
          </a:xfrm>
          <a:prstGeom prst="rect">
            <a:avLst/>
          </a:prstGeom>
          <a:ln>
            <a:noFill/>
          </a:ln>
          <a:effectLst>
            <a:softEdge rad="0"/>
          </a:effectLst>
        </p:spPr>
      </p:pic>
      <p:sp>
        <p:nvSpPr>
          <p:cNvPr id="2" name="文本框 1"/>
          <p:cNvSpPr txBox="1"/>
          <p:nvPr/>
        </p:nvSpPr>
        <p:spPr>
          <a:xfrm>
            <a:off x="1352002" y="1192804"/>
            <a:ext cx="6720840" cy="691515"/>
          </a:xfrm>
          <a:prstGeom prst="rect">
            <a:avLst/>
          </a:prstGeom>
          <a:noFill/>
        </p:spPr>
        <p:txBody>
          <a:bodyPr wrap="square">
            <a:spAutoFit/>
          </a:bodyPr>
          <a:p>
            <a:pPr>
              <a:lnSpc>
                <a:spcPct val="150000"/>
              </a:lnSpc>
            </a:pPr>
            <a:r>
              <a:rPr lang="zh-CN" altLang="en-US" sz="2600" b="1" dirty="0">
                <a:solidFill>
                  <a:srgbClr val="FF0000"/>
                </a:solidFill>
              </a:rPr>
              <a:t>优点：</a:t>
            </a:r>
            <a:endParaRPr lang="zh-CN" altLang="en-US" sz="2600" b="1" dirty="0">
              <a:solidFill>
                <a:srgbClr val="FF0000"/>
              </a:solidFill>
            </a:endParaRPr>
          </a:p>
        </p:txBody>
      </p:sp>
      <p:sp>
        <p:nvSpPr>
          <p:cNvPr id="3" name="文本框 2"/>
          <p:cNvSpPr txBox="1"/>
          <p:nvPr/>
        </p:nvSpPr>
        <p:spPr>
          <a:xfrm>
            <a:off x="1351915" y="1913890"/>
            <a:ext cx="10061575" cy="460375"/>
          </a:xfrm>
          <a:prstGeom prst="rect">
            <a:avLst/>
          </a:prstGeom>
          <a:noFill/>
        </p:spPr>
        <p:txBody>
          <a:bodyPr wrap="square" rtlCol="0" anchor="t">
            <a:spAutoFit/>
          </a:bodyPr>
          <a:p>
            <a:r>
              <a:rPr lang="zh-CN" altLang="en-US" sz="2400" dirty="0">
                <a:latin typeface="+mn-ea"/>
                <a:sym typeface="+mn-ea"/>
              </a:rPr>
              <a:t>平均等待时间和平均周转时间最优算法</a:t>
            </a:r>
            <a:endParaRPr lang="zh-CN" altLang="en-US" sz="2400" dirty="0">
              <a:latin typeface="+mn-ea"/>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7b0a202020202266696c746572223a202230220a7d0a"/>
          <p:cNvPicPr>
            <a:picLocks noChangeAspect="1"/>
          </p:cNvPicPr>
          <p:nvPr/>
        </p:nvPicPr>
        <p:blipFill>
          <a:blip r:embed="rId1"/>
          <a:stretch>
            <a:fillRect/>
          </a:stretch>
        </p:blipFill>
        <p:spPr>
          <a:xfrm>
            <a:off x="547370" y="1602105"/>
            <a:ext cx="6242685" cy="3872230"/>
          </a:xfrm>
          <a:prstGeom prst="rect">
            <a:avLst/>
          </a:prstGeom>
        </p:spPr>
      </p:pic>
      <p:sp>
        <p:nvSpPr>
          <p:cNvPr id="4" name="文本框 3"/>
          <p:cNvSpPr txBox="1"/>
          <p:nvPr/>
        </p:nvSpPr>
        <p:spPr>
          <a:xfrm>
            <a:off x="736600" y="998220"/>
            <a:ext cx="2183765" cy="521970"/>
          </a:xfrm>
          <a:prstGeom prst="rect">
            <a:avLst/>
          </a:prstGeom>
          <a:noFill/>
        </p:spPr>
        <p:txBody>
          <a:bodyPr wrap="square" rtlCol="0" anchor="t">
            <a:spAutoFit/>
          </a:bodyPr>
          <a:p>
            <a:r>
              <a:rPr lang="zh-CN" altLang="en-US" sz="2800">
                <a:solidFill>
                  <a:srgbClr val="FF0000"/>
                </a:solidFill>
                <a:sym typeface="+mn-ea"/>
              </a:rPr>
              <a:t>随堂练习</a:t>
            </a:r>
            <a:r>
              <a:rPr lang="en-US" altLang="zh-CN" sz="2800">
                <a:solidFill>
                  <a:srgbClr val="FF0000"/>
                </a:solidFill>
                <a:sym typeface="+mn-ea"/>
              </a:rPr>
              <a:t>2</a:t>
            </a:r>
            <a:endParaRPr lang="en-US" altLang="zh-CN" sz="2800">
              <a:solidFill>
                <a:srgbClr val="FF0000"/>
              </a:solidFill>
              <a:sym typeface="+mn-ea"/>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813435" y="97718"/>
            <a:ext cx="7026275" cy="521970"/>
          </a:xfrm>
          <a:prstGeom prst="rect">
            <a:avLst/>
          </a:prstGeom>
        </p:spPr>
        <p:txBody>
          <a:bodyPr wrap="square">
            <a:spAutoFit/>
          </a:bodyPr>
          <a:lstStyle/>
          <a:p>
            <a:r>
              <a:rPr lang="zh-CN" altLang="en-US" sz="2800" b="1" dirty="0">
                <a:solidFill>
                  <a:schemeClr val="bg1"/>
                </a:solidFill>
              </a:rPr>
              <a:t>优先级调度算法</a:t>
            </a:r>
            <a:r>
              <a:rPr lang="en-US" altLang="zh-CN" sz="2800" b="1" dirty="0">
                <a:solidFill>
                  <a:schemeClr val="bg1"/>
                </a:solidFill>
              </a:rPr>
              <a:t>PR</a:t>
            </a:r>
            <a:endParaRPr lang="en-US" altLang="zh-CN" sz="2800" b="1" dirty="0">
              <a:solidFill>
                <a:schemeClr val="bg1"/>
              </a:solidFill>
            </a:endParaRPr>
          </a:p>
        </p:txBody>
      </p:sp>
      <p:sp>
        <p:nvSpPr>
          <p:cNvPr id="10" name="íšḻîḋè"/>
          <p:cNvSpPr/>
          <p:nvPr/>
        </p:nvSpPr>
        <p:spPr>
          <a:xfrm>
            <a:off x="1805276" y="1350961"/>
            <a:ext cx="9326179" cy="93313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每个进程都有一个优先数</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目前主流的操作系统调度算法。</a:t>
            </a:r>
            <a:endParaRPr lang="zh-CN" altLang="en-US" sz="2200" dirty="0"/>
          </a:p>
        </p:txBody>
      </p:sp>
      <p:sp>
        <p:nvSpPr>
          <p:cNvPr id="14" name="íšḻíḑê"/>
          <p:cNvSpPr/>
          <p:nvPr/>
        </p:nvSpPr>
        <p:spPr>
          <a:xfrm>
            <a:off x="1805032" y="2349778"/>
            <a:ext cx="7297132" cy="405747"/>
          </a:xfrm>
          <a:prstGeom prst="rect">
            <a:avLst/>
          </a:prstGeom>
          <a:noFill/>
          <a:ln>
            <a:noFill/>
          </a:ln>
        </p:spPr>
        <p:txBody>
          <a:bodyPr wrap="square" lIns="91440" tIns="45720" rIns="91440" bIns="45720" anchor="ctr" anchorCtr="0">
            <a:noAutofit/>
          </a:bodyPr>
          <a:lstStyle/>
          <a:p>
            <a:pPr marL="342900" indent="-342900">
              <a:buFont typeface="Wingdings" panose="05000000000000000000" charset="0"/>
              <a:buChar char="Ø"/>
            </a:pPr>
            <a:r>
              <a:rPr lang="zh-CN" altLang="en-US" sz="2400" dirty="0"/>
              <a:t>既可用于作业调度，也可用于进程调度。</a:t>
            </a:r>
            <a:endParaRPr lang="zh-CN" altLang="en-US" sz="2400" dirty="0"/>
          </a:p>
        </p:txBody>
      </p:sp>
      <p:sp>
        <p:nvSpPr>
          <p:cNvPr id="17" name="îşļiḓè"/>
          <p:cNvSpPr/>
          <p:nvPr/>
        </p:nvSpPr>
        <p:spPr>
          <a:xfrm>
            <a:off x="1000880" y="135038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9" name="íSlíḋe"/>
          <p:cNvSpPr/>
          <p:nvPr/>
        </p:nvSpPr>
        <p:spPr>
          <a:xfrm>
            <a:off x="1177164" y="1550179"/>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 name="îSļiḓè"/>
          <p:cNvSpPr/>
          <p:nvPr/>
        </p:nvSpPr>
        <p:spPr>
          <a:xfrm>
            <a:off x="1121529" y="327376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p>
            <a:pPr algn="ctr"/>
          </a:p>
        </p:txBody>
      </p:sp>
      <p:sp>
        <p:nvSpPr>
          <p:cNvPr id="5" name="îṡḷíďe"/>
          <p:cNvSpPr/>
          <p:nvPr/>
        </p:nvSpPr>
        <p:spPr>
          <a:xfrm>
            <a:off x="1311784" y="347435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p>
            <a:pPr algn="ctr"/>
          </a:p>
        </p:txBody>
      </p:sp>
      <p:sp>
        <p:nvSpPr>
          <p:cNvPr id="2" name="íšḻíḑê"/>
          <p:cNvSpPr/>
          <p:nvPr/>
        </p:nvSpPr>
        <p:spPr>
          <a:xfrm>
            <a:off x="1931670" y="3316605"/>
            <a:ext cx="8416925" cy="2714625"/>
          </a:xfrm>
          <a:prstGeom prst="rect">
            <a:avLst/>
          </a:prstGeom>
          <a:noFill/>
          <a:ln>
            <a:noFill/>
          </a:ln>
        </p:spPr>
        <p:txBody>
          <a:bodyPr wrap="square" lIns="91440" tIns="45720" rIns="91440" bIns="45720" anchor="ctr" anchorCtr="0">
            <a:noAutofit/>
          </a:bodyPr>
          <a:p>
            <a:pPr marL="342900" indent="-342900">
              <a:buFont typeface="Wingdings" panose="05000000000000000000" charset="0"/>
              <a:buChar char="Ø"/>
            </a:pPr>
            <a:r>
              <a:rPr lang="zh-CN" altLang="en-US" sz="2400" dirty="0"/>
              <a:t>一般来说，进程优先级的设置可以参考以下原则：</a:t>
            </a:r>
            <a:endParaRPr lang="zh-CN" altLang="en-US" sz="2400" dirty="0"/>
          </a:p>
          <a:p>
            <a:pPr marL="800100" lvl="1" indent="-342900">
              <a:lnSpc>
                <a:spcPct val="150000"/>
              </a:lnSpc>
              <a:buFont typeface="Wingdings" panose="05000000000000000000" charset="0"/>
              <a:buChar char="u"/>
            </a:pPr>
            <a:r>
              <a:rPr lang="zh-CN" altLang="en-US" sz="2400" dirty="0"/>
              <a:t>系统进程</a:t>
            </a:r>
            <a:r>
              <a:rPr lang="en-US" altLang="zh-CN" sz="2400" dirty="0"/>
              <a:t>&gt;</a:t>
            </a:r>
            <a:r>
              <a:rPr lang="zh-CN" altLang="en-US" sz="2400" dirty="0"/>
              <a:t>用户进程</a:t>
            </a:r>
            <a:endParaRPr lang="zh-CN" altLang="en-US" sz="2400" dirty="0"/>
          </a:p>
          <a:p>
            <a:pPr marL="800100" lvl="1" indent="-342900">
              <a:lnSpc>
                <a:spcPct val="150000"/>
              </a:lnSpc>
              <a:buFont typeface="Wingdings" panose="05000000000000000000" charset="0"/>
              <a:buChar char="u"/>
            </a:pPr>
            <a:r>
              <a:rPr lang="zh-CN" altLang="en-US" sz="2400" dirty="0"/>
              <a:t>交互性进程</a:t>
            </a:r>
            <a:r>
              <a:rPr lang="en-US" altLang="zh-CN" sz="2400" dirty="0"/>
              <a:t>&gt;</a:t>
            </a:r>
            <a:r>
              <a:rPr lang="zh-CN" altLang="en-US" sz="2400" dirty="0"/>
              <a:t>非交互性进程（前台进程</a:t>
            </a:r>
            <a:r>
              <a:rPr lang="en-US" altLang="zh-CN" sz="2400" dirty="0"/>
              <a:t>&gt;</a:t>
            </a:r>
            <a:r>
              <a:rPr lang="zh-CN" altLang="en-US" sz="2400" dirty="0"/>
              <a:t>后台进程）</a:t>
            </a:r>
            <a:endParaRPr lang="zh-CN" altLang="en-US" sz="2400" dirty="0"/>
          </a:p>
          <a:p>
            <a:pPr marL="800100" lvl="1" indent="-342900">
              <a:lnSpc>
                <a:spcPct val="150000"/>
              </a:lnSpc>
              <a:buFont typeface="Wingdings" panose="05000000000000000000" charset="0"/>
              <a:buChar char="u"/>
            </a:pPr>
            <a:r>
              <a:rPr lang="en-US" altLang="zh-CN" sz="2400" dirty="0"/>
              <a:t>I/O</a:t>
            </a:r>
            <a:r>
              <a:rPr lang="zh-CN" altLang="en-US" sz="2400" dirty="0"/>
              <a:t>型进程</a:t>
            </a:r>
            <a:r>
              <a:rPr lang="en-US" altLang="zh-CN" sz="2400" dirty="0"/>
              <a:t>&gt;</a:t>
            </a:r>
            <a:r>
              <a:rPr lang="zh-CN" altLang="en-US" sz="2400" dirty="0"/>
              <a:t>计算型进程</a:t>
            </a:r>
            <a:endParaRPr lang="zh-CN" altLang="en-US" sz="2400" dirty="0"/>
          </a:p>
          <a:p>
            <a:pPr marL="800100" lvl="1" indent="-342900">
              <a:buFont typeface="Wingdings" panose="05000000000000000000" charset="0"/>
              <a:buChar char="u"/>
            </a:pPr>
            <a:endParaRPr lang="zh-CN" alt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优先级调度算法分类</a:t>
            </a:r>
            <a:endParaRPr lang="en-US" altLang="zh-CN" sz="2800" b="1" dirty="0">
              <a:solidFill>
                <a:schemeClr val="bg1"/>
              </a:solidFill>
            </a:endParaRPr>
          </a:p>
        </p:txBody>
      </p:sp>
      <p:sp>
        <p:nvSpPr>
          <p:cNvPr id="6" name="íSľïdé"/>
          <p:cNvSpPr/>
          <p:nvPr/>
        </p:nvSpPr>
        <p:spPr>
          <a:xfrm>
            <a:off x="983648" y="1267882"/>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7" name="ïŝļíḓê"/>
          <p:cNvSpPr/>
          <p:nvPr/>
        </p:nvSpPr>
        <p:spPr bwMode="auto">
          <a:xfrm>
            <a:off x="983648" y="3144914"/>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9" name="内容占位符 2"/>
          <p:cNvSpPr txBox="1"/>
          <p:nvPr/>
        </p:nvSpPr>
        <p:spPr>
          <a:xfrm>
            <a:off x="1711447" y="1267883"/>
            <a:ext cx="4308362" cy="13954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zh-CN" altLang="en-US" sz="2400" dirty="0"/>
              <a:t>根据是否可以抢占可以分为</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非抢占式</a:t>
            </a:r>
            <a:endParaRPr lang="zh-CN" altLang="en-US" sz="22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chemeClr val="tx1">
                    <a:lumMod val="65000"/>
                    <a:lumOff val="35000"/>
                  </a:schemeClr>
                </a:solidFill>
              </a:rPr>
              <a:t>抢占式</a:t>
            </a:r>
            <a:endParaRPr lang="zh-CN" altLang="en-US" sz="2200" dirty="0">
              <a:solidFill>
                <a:schemeClr val="tx1">
                  <a:lumMod val="65000"/>
                  <a:lumOff val="35000"/>
                </a:schemeClr>
              </a:solidFill>
            </a:endParaRPr>
          </a:p>
        </p:txBody>
      </p:sp>
      <p:sp>
        <p:nvSpPr>
          <p:cNvPr id="10" name="内容占位符 2"/>
          <p:cNvSpPr txBox="1"/>
          <p:nvPr/>
        </p:nvSpPr>
        <p:spPr>
          <a:xfrm>
            <a:off x="1739456" y="2950959"/>
            <a:ext cx="9970189" cy="327228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根据优先级是否可以变动分为</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FF0000"/>
                </a:solidFill>
              </a:rPr>
              <a:t>静态优先级</a:t>
            </a:r>
            <a:endParaRPr lang="zh-CN" altLang="en-US" sz="2200" dirty="0">
              <a:solidFill>
                <a:srgbClr val="FF0000"/>
              </a:solidFill>
            </a:endParaRPr>
          </a:p>
          <a:p>
            <a:pPr marL="457200" lvl="2" indent="-342900">
              <a:lnSpc>
                <a:spcPct val="120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创建进程时确定优先数</a:t>
            </a:r>
            <a:r>
              <a:rPr lang="en-US" altLang="zh-CN" sz="2000" dirty="0">
                <a:solidFill>
                  <a:schemeClr val="tx1">
                    <a:lumMod val="65000"/>
                    <a:lumOff val="35000"/>
                  </a:schemeClr>
                </a:solidFill>
              </a:rPr>
              <a:t>(</a:t>
            </a:r>
            <a:r>
              <a:rPr lang="zh-CN" altLang="en-US" sz="2000" dirty="0">
                <a:solidFill>
                  <a:schemeClr val="tx1">
                    <a:lumMod val="65000"/>
                    <a:lumOff val="35000"/>
                  </a:schemeClr>
                </a:solidFill>
              </a:rPr>
              <a:t>整数</a:t>
            </a:r>
            <a:r>
              <a:rPr lang="en-US" altLang="zh-CN" sz="2000" dirty="0">
                <a:solidFill>
                  <a:schemeClr val="tx1">
                    <a:lumMod val="65000"/>
                    <a:lumOff val="35000"/>
                  </a:schemeClr>
                </a:solidFill>
              </a:rPr>
              <a:t>)</a:t>
            </a:r>
            <a:r>
              <a:rPr lang="zh-CN" altLang="en-US" sz="2000" dirty="0">
                <a:solidFill>
                  <a:schemeClr val="tx1">
                    <a:lumMod val="65000"/>
                    <a:lumOff val="35000"/>
                  </a:schemeClr>
                </a:solidFill>
              </a:rPr>
              <a:t>，在进程的整个运行期间保持不变</a:t>
            </a:r>
            <a:endParaRPr lang="zh-CN" altLang="en-US" sz="2000" dirty="0">
              <a:solidFill>
                <a:schemeClr val="tx1">
                  <a:lumMod val="65000"/>
                  <a:lumOff val="35000"/>
                </a:schemeClr>
              </a:solidFill>
            </a:endParaRPr>
          </a:p>
          <a:p>
            <a:pPr marL="457200" lvl="2" indent="-342900">
              <a:lnSpc>
                <a:spcPct val="120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简单易行，系统开销小</a:t>
            </a:r>
            <a:endParaRPr lang="zh-CN" altLang="en-US" sz="2000" dirty="0">
              <a:solidFill>
                <a:schemeClr val="tx1">
                  <a:lumMod val="65000"/>
                  <a:lumOff val="35000"/>
                </a:schemeClr>
              </a:solidFill>
            </a:endParaRPr>
          </a:p>
          <a:p>
            <a:pPr marL="457200" lvl="2" indent="-342900">
              <a:lnSpc>
                <a:spcPct val="120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不够精确，可能会出现优先级低的进程长期没有被调度的情况</a:t>
            </a:r>
            <a:endParaRPr lang="zh-CN" altLang="en-US" sz="20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solidFill>
                  <a:srgbClr val="FF0000"/>
                </a:solidFill>
              </a:rPr>
              <a:t>动态优先级</a:t>
            </a:r>
            <a:endParaRPr lang="zh-CN" altLang="en-US" sz="2200" dirty="0">
              <a:solidFill>
                <a:srgbClr val="FF0000"/>
              </a:solidFill>
            </a:endParaRPr>
          </a:p>
          <a:p>
            <a:pPr marL="457200" lvl="2" indent="-342900">
              <a:lnSpc>
                <a:spcPct val="120000"/>
              </a:lnSpc>
              <a:spcBef>
                <a:spcPts val="370"/>
              </a:spcBef>
              <a:buClr>
                <a:srgbClr val="E71101"/>
              </a:buClr>
              <a:buSzPct val="60000"/>
              <a:buFont typeface="Wingdings" panose="05000000000000000000" pitchFamily="2" charset="2"/>
              <a:buChar char="p"/>
              <a:defRPr/>
            </a:pPr>
            <a:r>
              <a:rPr lang="zh-CN" altLang="en-US" sz="2000" dirty="0">
                <a:solidFill>
                  <a:schemeClr val="tx1">
                    <a:lumMod val="65000"/>
                    <a:lumOff val="35000"/>
                  </a:schemeClr>
                </a:solidFill>
              </a:rPr>
              <a:t>创建进程时先赋予其一个优先级，然后其值随进程的推进或等待时间的增加而改变</a:t>
            </a:r>
            <a:endParaRPr lang="zh-CN" altLang="en-US" sz="20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endParaRPr lang="zh-CN" altLang="en-US" sz="2200" dirty="0">
              <a:solidFill>
                <a:srgbClr val="FF0000"/>
              </a:solidFill>
            </a:endParaRPr>
          </a:p>
        </p:txBody>
      </p:sp>
      <p:cxnSp>
        <p:nvCxnSpPr>
          <p:cNvPr id="3" name="直接连接符 2"/>
          <p:cNvCxnSpPr/>
          <p:nvPr/>
        </p:nvCxnSpPr>
        <p:spPr>
          <a:xfrm>
            <a:off x="1074198" y="2849732"/>
            <a:ext cx="10244831"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非抢占式优先级调度算法举例</a:t>
            </a:r>
            <a:endParaRPr lang="zh-CN" altLang="en-US" sz="2800" b="1" dirty="0">
              <a:solidFill>
                <a:schemeClr val="bg1"/>
              </a:solidFill>
            </a:endParaRPr>
          </a:p>
        </p:txBody>
      </p:sp>
      <p:sp>
        <p:nvSpPr>
          <p:cNvPr id="31" name="文本框 30"/>
          <p:cNvSpPr txBox="1"/>
          <p:nvPr/>
        </p:nvSpPr>
        <p:spPr>
          <a:xfrm>
            <a:off x="571728" y="1407861"/>
            <a:ext cx="5275795" cy="2710742"/>
          </a:xfrm>
          <a:prstGeom prst="rect">
            <a:avLst/>
          </a:prstGeom>
          <a:noFill/>
          <a:ln>
            <a:solidFill>
              <a:schemeClr val="bg2">
                <a:lumMod val="75000"/>
              </a:schemeClr>
            </a:solidFill>
          </a:ln>
        </p:spPr>
        <p:txBody>
          <a:bodyPr wrap="square">
            <a:spAutoFit/>
          </a:bodyPr>
          <a:lstStyle/>
          <a:p>
            <a:pPr>
              <a:lnSpc>
                <a:spcPct val="120000"/>
              </a:lnSpc>
              <a:buClr>
                <a:srgbClr val="FF0000"/>
              </a:buClr>
              <a:defRPr/>
            </a:pPr>
            <a:r>
              <a:rPr lang="zh-CN" altLang="en-US" sz="2400" dirty="0"/>
              <a:t>进程	</a:t>
            </a:r>
            <a:r>
              <a:rPr lang="en-US" altLang="zh-CN" sz="2400" dirty="0"/>
              <a:t>	</a:t>
            </a:r>
            <a:r>
              <a:rPr lang="zh-CN" altLang="en-US" sz="2400" dirty="0"/>
              <a:t>优先级	运行时间</a:t>
            </a:r>
            <a:endParaRPr lang="zh-CN" altLang="en-US" sz="2400" dirty="0"/>
          </a:p>
          <a:p>
            <a:pPr>
              <a:lnSpc>
                <a:spcPct val="120000"/>
              </a:lnSpc>
              <a:buClr>
                <a:srgbClr val="FF0000"/>
              </a:buClr>
              <a:defRPr/>
            </a:pPr>
            <a:r>
              <a:rPr lang="en-US" altLang="zh-CN" sz="2400" dirty="0"/>
              <a:t>P1	   	3		10</a:t>
            </a:r>
            <a:endParaRPr lang="en-US" altLang="zh-CN" sz="2400" dirty="0"/>
          </a:p>
          <a:p>
            <a:pPr>
              <a:lnSpc>
                <a:spcPct val="120000"/>
              </a:lnSpc>
              <a:buClr>
                <a:srgbClr val="FF0000"/>
              </a:buClr>
              <a:defRPr/>
            </a:pPr>
            <a:r>
              <a:rPr lang="en-US" altLang="zh-CN" sz="2400" dirty="0"/>
              <a:t>P2	    	1		1</a:t>
            </a:r>
            <a:endParaRPr lang="en-US" altLang="zh-CN" sz="2400" dirty="0"/>
          </a:p>
          <a:p>
            <a:pPr>
              <a:lnSpc>
                <a:spcPct val="120000"/>
              </a:lnSpc>
              <a:buClr>
                <a:srgbClr val="FF0000"/>
              </a:buClr>
              <a:defRPr/>
            </a:pPr>
            <a:r>
              <a:rPr lang="en-US" altLang="zh-CN" sz="2400" dirty="0"/>
              <a:t>P3	   	3		2</a:t>
            </a:r>
            <a:endParaRPr lang="en-US" altLang="zh-CN" sz="2400" dirty="0"/>
          </a:p>
          <a:p>
            <a:pPr>
              <a:lnSpc>
                <a:spcPct val="120000"/>
              </a:lnSpc>
              <a:buClr>
                <a:srgbClr val="FF0000"/>
              </a:buClr>
              <a:defRPr/>
            </a:pPr>
            <a:r>
              <a:rPr lang="en-US" altLang="zh-CN" sz="2400" dirty="0"/>
              <a:t>P4	   	4		1</a:t>
            </a:r>
            <a:endParaRPr lang="en-US" altLang="zh-CN" sz="2400" dirty="0"/>
          </a:p>
          <a:p>
            <a:pPr>
              <a:lnSpc>
                <a:spcPct val="120000"/>
              </a:lnSpc>
              <a:buClr>
                <a:srgbClr val="FF0000"/>
              </a:buClr>
              <a:defRPr/>
            </a:pPr>
            <a:r>
              <a:rPr lang="en-US" altLang="zh-CN" sz="2400" dirty="0"/>
              <a:t>P5	   	2		5</a:t>
            </a:r>
            <a:endParaRPr lang="en-US" altLang="zh-CN" sz="2400" dirty="0"/>
          </a:p>
        </p:txBody>
      </p:sp>
      <p:sp>
        <p:nvSpPr>
          <p:cNvPr id="69" name="内容占位符 2"/>
          <p:cNvSpPr txBox="1"/>
          <p:nvPr/>
        </p:nvSpPr>
        <p:spPr>
          <a:xfrm>
            <a:off x="566397" y="4433398"/>
            <a:ext cx="11251523" cy="1500483"/>
          </a:xfrm>
          <a:prstGeom prst="rect">
            <a:avLst/>
          </a:prstGeom>
          <a:ln>
            <a:solidFill>
              <a:schemeClr val="bg2">
                <a:lumMod val="75000"/>
              </a:schemeClr>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Clr>
                <a:srgbClr val="FF0000"/>
              </a:buClr>
              <a:buFont typeface="Wingdings" panose="05000000000000000000" pitchFamily="2" charset="2"/>
              <a:buChar char="Ø"/>
            </a:pPr>
            <a:r>
              <a:rPr lang="zh-CN" altLang="en-US" sz="2800" dirty="0"/>
              <a:t>  平均等待时间 </a:t>
            </a:r>
            <a:r>
              <a:rPr lang="en-US" altLang="zh-CN" sz="2800" dirty="0"/>
              <a:t>= (6 + 0 + 16+18+1)/5 =8</a:t>
            </a:r>
            <a:endParaRPr lang="en-US" altLang="zh-CN" sz="2800" dirty="0"/>
          </a:p>
          <a:p>
            <a:pPr>
              <a:lnSpc>
                <a:spcPct val="150000"/>
              </a:lnSpc>
              <a:buClr>
                <a:srgbClr val="FF0000"/>
              </a:buClr>
              <a:buFont typeface="Wingdings" panose="05000000000000000000" pitchFamily="2" charset="2"/>
              <a:buChar char="Ø"/>
            </a:pPr>
            <a:r>
              <a:rPr lang="zh-CN" altLang="en-US" sz="2800" dirty="0"/>
              <a:t>  平均周转时间 </a:t>
            </a:r>
            <a:r>
              <a:rPr lang="en-US" altLang="zh-CN" sz="2800" dirty="0"/>
              <a:t>= (16 + 1 + 18+19+6)/5 = 12</a:t>
            </a:r>
            <a:endParaRPr lang="en-US" altLang="zh-CN" sz="2800" dirty="0"/>
          </a:p>
        </p:txBody>
      </p:sp>
      <p:grpSp>
        <p:nvGrpSpPr>
          <p:cNvPr id="40" name="Group 39"/>
          <p:cNvGrpSpPr/>
          <p:nvPr/>
        </p:nvGrpSpPr>
        <p:grpSpPr bwMode="auto">
          <a:xfrm>
            <a:off x="6096000" y="2818223"/>
            <a:ext cx="5721920" cy="1221554"/>
            <a:chOff x="812" y="2744"/>
            <a:chExt cx="4690" cy="857"/>
          </a:xfrm>
          <a:solidFill>
            <a:srgbClr val="FFFF00"/>
          </a:solidFill>
        </p:grpSpPr>
        <p:sp>
          <p:nvSpPr>
            <p:cNvPr id="42" name="Rectangle 4"/>
            <p:cNvSpPr>
              <a:spLocks noChangeArrowheads="1"/>
            </p:cNvSpPr>
            <p:nvPr/>
          </p:nvSpPr>
          <p:spPr bwMode="auto">
            <a:xfrm flipH="1">
              <a:off x="928" y="2753"/>
              <a:ext cx="4352" cy="384"/>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44" name="Text Box 5"/>
            <p:cNvSpPr txBox="1">
              <a:spLocks noChangeArrowheads="1"/>
            </p:cNvSpPr>
            <p:nvPr/>
          </p:nvSpPr>
          <p:spPr bwMode="auto">
            <a:xfrm flipH="1">
              <a:off x="961" y="2773"/>
              <a:ext cx="435"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P</a:t>
              </a:r>
              <a:r>
                <a:rPr lang="en-US" altLang="zh-CN" sz="2600" baseline="-25000" dirty="0">
                  <a:latin typeface="Arial" panose="020B0604020202020204" pitchFamily="34" charset="0"/>
                </a:rPr>
                <a:t>2</a:t>
              </a:r>
              <a:endParaRPr lang="en-US" altLang="zh-CN" sz="2600" dirty="0">
                <a:latin typeface="Arial" panose="020B0604020202020204" pitchFamily="34" charset="0"/>
              </a:endParaRPr>
            </a:p>
          </p:txBody>
        </p:sp>
        <p:sp>
          <p:nvSpPr>
            <p:cNvPr id="45" name="Text Box 6"/>
            <p:cNvSpPr txBox="1">
              <a:spLocks noChangeArrowheads="1"/>
            </p:cNvSpPr>
            <p:nvPr/>
          </p:nvSpPr>
          <p:spPr bwMode="auto">
            <a:xfrm flipH="1">
              <a:off x="4376" y="2773"/>
              <a:ext cx="435"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P</a:t>
              </a:r>
              <a:r>
                <a:rPr lang="en-US" altLang="zh-CN" sz="2600" baseline="-25000" dirty="0">
                  <a:latin typeface="Arial" panose="020B0604020202020204" pitchFamily="34" charset="0"/>
                </a:rPr>
                <a:t>3</a:t>
              </a:r>
              <a:endParaRPr lang="en-US" altLang="zh-CN" sz="2600" dirty="0">
                <a:latin typeface="Arial" panose="020B0604020202020204" pitchFamily="34" charset="0"/>
              </a:endParaRPr>
            </a:p>
          </p:txBody>
        </p:sp>
        <p:sp>
          <p:nvSpPr>
            <p:cNvPr id="46" name="Text Box 7"/>
            <p:cNvSpPr txBox="1">
              <a:spLocks noChangeArrowheads="1"/>
            </p:cNvSpPr>
            <p:nvPr/>
          </p:nvSpPr>
          <p:spPr bwMode="auto">
            <a:xfrm flipH="1">
              <a:off x="1597" y="2772"/>
              <a:ext cx="435"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P</a:t>
              </a:r>
              <a:r>
                <a:rPr lang="en-US" altLang="zh-CN" sz="2600" baseline="-25000" dirty="0">
                  <a:latin typeface="Arial" panose="020B0604020202020204" pitchFamily="34" charset="0"/>
                </a:rPr>
                <a:t>5</a:t>
              </a:r>
              <a:endParaRPr lang="en-US" altLang="zh-CN" sz="2600" dirty="0">
                <a:latin typeface="Arial" panose="020B0604020202020204" pitchFamily="34" charset="0"/>
              </a:endParaRPr>
            </a:p>
          </p:txBody>
        </p:sp>
        <p:sp>
          <p:nvSpPr>
            <p:cNvPr id="47" name="Line 9"/>
            <p:cNvSpPr>
              <a:spLocks noChangeShapeType="1"/>
            </p:cNvSpPr>
            <p:nvPr/>
          </p:nvSpPr>
          <p:spPr bwMode="auto">
            <a:xfrm flipH="1">
              <a:off x="931" y="3129"/>
              <a:ext cx="0" cy="144"/>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48" name="Line 11"/>
            <p:cNvSpPr>
              <a:spLocks noChangeShapeType="1"/>
            </p:cNvSpPr>
            <p:nvPr/>
          </p:nvSpPr>
          <p:spPr bwMode="auto">
            <a:xfrm flipH="1">
              <a:off x="1411" y="2766"/>
              <a:ext cx="0" cy="512"/>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49" name="Text Box 14"/>
            <p:cNvSpPr txBox="1">
              <a:spLocks noChangeArrowheads="1"/>
            </p:cNvSpPr>
            <p:nvPr/>
          </p:nvSpPr>
          <p:spPr bwMode="auto">
            <a:xfrm flipH="1">
              <a:off x="1259" y="3232"/>
              <a:ext cx="304"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spcBef>
                  <a:spcPct val="50000"/>
                </a:spcBef>
                <a:defRPr/>
              </a:pPr>
              <a:r>
                <a:rPr lang="en-US" altLang="zh-CN" sz="2600" dirty="0">
                  <a:latin typeface="Arial" panose="020B0604020202020204" pitchFamily="34" charset="0"/>
                </a:rPr>
                <a:t>1</a:t>
              </a:r>
              <a:endParaRPr lang="en-US" altLang="zh-CN" sz="2600" dirty="0">
                <a:latin typeface="Arial" panose="020B0604020202020204" pitchFamily="34" charset="0"/>
              </a:endParaRPr>
            </a:p>
          </p:txBody>
        </p:sp>
        <p:sp>
          <p:nvSpPr>
            <p:cNvPr id="50" name="Text Box 15"/>
            <p:cNvSpPr txBox="1">
              <a:spLocks noChangeArrowheads="1"/>
            </p:cNvSpPr>
            <p:nvPr/>
          </p:nvSpPr>
          <p:spPr bwMode="auto">
            <a:xfrm flipH="1">
              <a:off x="4031" y="3256"/>
              <a:ext cx="456"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16</a:t>
              </a:r>
              <a:endParaRPr lang="en-US" altLang="zh-CN" sz="2600" dirty="0">
                <a:latin typeface="Arial" panose="020B0604020202020204" pitchFamily="34" charset="0"/>
              </a:endParaRPr>
            </a:p>
          </p:txBody>
        </p:sp>
        <p:sp>
          <p:nvSpPr>
            <p:cNvPr id="51" name="Text Box 16"/>
            <p:cNvSpPr txBox="1">
              <a:spLocks noChangeArrowheads="1"/>
            </p:cNvSpPr>
            <p:nvPr/>
          </p:nvSpPr>
          <p:spPr bwMode="auto">
            <a:xfrm flipH="1">
              <a:off x="812" y="3236"/>
              <a:ext cx="304"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a:latin typeface="Arial" panose="020B0604020202020204" pitchFamily="34" charset="0"/>
                </a:rPr>
                <a:t>0</a:t>
              </a:r>
              <a:endParaRPr lang="en-US" altLang="zh-CN" sz="2600">
                <a:latin typeface="Arial" panose="020B0604020202020204" pitchFamily="34" charset="0"/>
              </a:endParaRPr>
            </a:p>
          </p:txBody>
        </p:sp>
        <p:sp>
          <p:nvSpPr>
            <p:cNvPr id="52" name="Text Box 17"/>
            <p:cNvSpPr txBox="1">
              <a:spLocks noChangeArrowheads="1"/>
            </p:cNvSpPr>
            <p:nvPr/>
          </p:nvSpPr>
          <p:spPr bwMode="auto">
            <a:xfrm flipH="1">
              <a:off x="4857" y="2783"/>
              <a:ext cx="456"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spcBef>
                  <a:spcPct val="50000"/>
                </a:spcBef>
                <a:defRPr/>
              </a:pPr>
              <a:r>
                <a:rPr lang="en-US" altLang="zh-CN" sz="2600" dirty="0">
                  <a:latin typeface="Arial" panose="020B0604020202020204" pitchFamily="34" charset="0"/>
                </a:rPr>
                <a:t>P</a:t>
              </a:r>
              <a:r>
                <a:rPr lang="en-US" altLang="zh-CN" sz="2600" baseline="-25000" dirty="0">
                  <a:latin typeface="Arial" panose="020B0604020202020204" pitchFamily="34" charset="0"/>
                </a:rPr>
                <a:t>4</a:t>
              </a:r>
              <a:endParaRPr lang="en-US" altLang="zh-CN" sz="2600" dirty="0">
                <a:latin typeface="Arial" panose="020B0604020202020204" pitchFamily="34" charset="0"/>
              </a:endParaRPr>
            </a:p>
          </p:txBody>
        </p:sp>
        <p:sp>
          <p:nvSpPr>
            <p:cNvPr id="53" name="Text Box 22"/>
            <p:cNvSpPr txBox="1">
              <a:spLocks noChangeArrowheads="1"/>
            </p:cNvSpPr>
            <p:nvPr/>
          </p:nvSpPr>
          <p:spPr bwMode="auto">
            <a:xfrm flipH="1">
              <a:off x="2014" y="3236"/>
              <a:ext cx="304"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6</a:t>
              </a:r>
              <a:endParaRPr lang="en-US" altLang="zh-CN" sz="2600" dirty="0">
                <a:latin typeface="Arial" panose="020B0604020202020204" pitchFamily="34" charset="0"/>
              </a:endParaRPr>
            </a:p>
          </p:txBody>
        </p:sp>
        <p:sp>
          <p:nvSpPr>
            <p:cNvPr id="54" name="Text Box 27"/>
            <p:cNvSpPr txBox="1">
              <a:spLocks noChangeArrowheads="1"/>
            </p:cNvSpPr>
            <p:nvPr/>
          </p:nvSpPr>
          <p:spPr bwMode="auto">
            <a:xfrm flipH="1">
              <a:off x="4562" y="3256"/>
              <a:ext cx="456"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18</a:t>
              </a:r>
              <a:endParaRPr lang="en-US" altLang="zh-CN" sz="2600" dirty="0">
                <a:latin typeface="Arial" panose="020B0604020202020204" pitchFamily="34" charset="0"/>
              </a:endParaRPr>
            </a:p>
          </p:txBody>
        </p:sp>
        <p:sp>
          <p:nvSpPr>
            <p:cNvPr id="55" name="Line 31"/>
            <p:cNvSpPr>
              <a:spLocks noChangeShapeType="1"/>
            </p:cNvSpPr>
            <p:nvPr/>
          </p:nvSpPr>
          <p:spPr bwMode="auto">
            <a:xfrm flipH="1">
              <a:off x="4262" y="2762"/>
              <a:ext cx="0" cy="552"/>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6" name="Line 32"/>
            <p:cNvSpPr>
              <a:spLocks noChangeShapeType="1"/>
            </p:cNvSpPr>
            <p:nvPr/>
          </p:nvSpPr>
          <p:spPr bwMode="auto">
            <a:xfrm flipH="1">
              <a:off x="2160" y="2744"/>
              <a:ext cx="0" cy="512"/>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57" name="Text Box 33"/>
            <p:cNvSpPr txBox="1">
              <a:spLocks noChangeArrowheads="1"/>
            </p:cNvSpPr>
            <p:nvPr/>
          </p:nvSpPr>
          <p:spPr bwMode="auto">
            <a:xfrm flipH="1">
              <a:off x="3065" y="2772"/>
              <a:ext cx="435"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P</a:t>
              </a:r>
              <a:r>
                <a:rPr lang="en-US" altLang="zh-CN" sz="2600" baseline="-25000" dirty="0">
                  <a:latin typeface="Arial" panose="020B0604020202020204" pitchFamily="34" charset="0"/>
                </a:rPr>
                <a:t>1</a:t>
              </a:r>
              <a:endParaRPr lang="en-US" altLang="zh-CN" sz="2600" dirty="0">
                <a:latin typeface="Arial" panose="020B0604020202020204" pitchFamily="34" charset="0"/>
              </a:endParaRPr>
            </a:p>
          </p:txBody>
        </p:sp>
        <p:sp>
          <p:nvSpPr>
            <p:cNvPr id="58" name="Text Box 36"/>
            <p:cNvSpPr txBox="1">
              <a:spLocks noChangeArrowheads="1"/>
            </p:cNvSpPr>
            <p:nvPr/>
          </p:nvSpPr>
          <p:spPr bwMode="auto">
            <a:xfrm flipH="1">
              <a:off x="5046" y="3256"/>
              <a:ext cx="456" cy="34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defRPr/>
              </a:pPr>
              <a:r>
                <a:rPr lang="en-US" altLang="zh-CN" sz="2600" dirty="0">
                  <a:latin typeface="Arial" panose="020B0604020202020204" pitchFamily="34" charset="0"/>
                </a:rPr>
                <a:t>19</a:t>
              </a:r>
              <a:endParaRPr lang="en-US" altLang="zh-CN" sz="2600" dirty="0">
                <a:latin typeface="Arial" panose="020B0604020202020204" pitchFamily="34" charset="0"/>
              </a:endParaRPr>
            </a:p>
          </p:txBody>
        </p:sp>
        <p:sp>
          <p:nvSpPr>
            <p:cNvPr id="59" name="Line 37"/>
            <p:cNvSpPr>
              <a:spLocks noChangeShapeType="1"/>
            </p:cNvSpPr>
            <p:nvPr/>
          </p:nvSpPr>
          <p:spPr bwMode="auto">
            <a:xfrm flipH="1">
              <a:off x="4852" y="2760"/>
              <a:ext cx="0" cy="552"/>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sp>
          <p:nvSpPr>
            <p:cNvPr id="60" name="Line 38"/>
            <p:cNvSpPr>
              <a:spLocks noChangeShapeType="1"/>
            </p:cNvSpPr>
            <p:nvPr/>
          </p:nvSpPr>
          <p:spPr bwMode="auto">
            <a:xfrm flipH="1">
              <a:off x="5280" y="2760"/>
              <a:ext cx="0" cy="552"/>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600">
                <a:latin typeface="Arial" panose="020B0604020202020204" pitchFamily="34" charset="0"/>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优先级调度算法的优缺点</a:t>
            </a:r>
            <a:endParaRPr lang="zh-CN" altLang="en-US" sz="2800" b="1" dirty="0">
              <a:solidFill>
                <a:schemeClr val="bg1"/>
              </a:solidFill>
            </a:endParaRPr>
          </a:p>
        </p:txBody>
      </p:sp>
      <p:sp>
        <p:nvSpPr>
          <p:cNvPr id="29" name="ïşľîďè"/>
          <p:cNvSpPr/>
          <p:nvPr/>
        </p:nvSpPr>
        <p:spPr>
          <a:xfrm>
            <a:off x="259080" y="1214120"/>
            <a:ext cx="3333115"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31" name="îŝļiḋe"/>
          <p:cNvSpPr/>
          <p:nvPr/>
        </p:nvSpPr>
        <p:spPr>
          <a:xfrm>
            <a:off x="2806169" y="1214021"/>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32" name="í$1iďè"/>
          <p:cNvGrpSpPr/>
          <p:nvPr/>
        </p:nvGrpSpPr>
        <p:grpSpPr>
          <a:xfrm>
            <a:off x="3690552" y="1491768"/>
            <a:ext cx="7381904" cy="1002148"/>
            <a:chOff x="4136995" y="1408047"/>
            <a:chExt cx="7381904" cy="1002148"/>
          </a:xfrm>
        </p:grpSpPr>
        <p:sp>
          <p:nvSpPr>
            <p:cNvPr id="34"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36" name="ïSḻiḍé"/>
            <p:cNvSpPr txBox="1"/>
            <p:nvPr/>
          </p:nvSpPr>
          <p:spPr>
            <a:xfrm>
              <a:off x="4882718" y="1408047"/>
              <a:ext cx="6636181" cy="1002148"/>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ts val="600"/>
                </a:spcBef>
                <a:defRPr/>
              </a:pPr>
              <a:r>
                <a:rPr lang="zh-CN" altLang="en-US" sz="2400" dirty="0">
                  <a:solidFill>
                    <a:srgbClr val="FF0000"/>
                  </a:solidFill>
                </a:rPr>
                <a:t>优点</a:t>
              </a:r>
              <a:endParaRPr lang="en-US" altLang="zh-CN" sz="2400" dirty="0">
                <a:solidFill>
                  <a:srgbClr val="FF0000"/>
                </a:solidFill>
              </a:endParaRPr>
            </a:p>
            <a:p>
              <a:pPr marL="342900" indent="-342900">
                <a:spcBef>
                  <a:spcPts val="600"/>
                </a:spcBef>
                <a:buClr>
                  <a:srgbClr val="0000FF"/>
                </a:buClr>
                <a:buFont typeface="Wingdings" panose="05000000000000000000" pitchFamily="2" charset="2"/>
                <a:buChar char="Ø"/>
                <a:defRPr/>
              </a:pPr>
              <a:r>
                <a:rPr lang="zh-CN" altLang="en-US" sz="2200" dirty="0"/>
                <a:t>实现简单，考虑了进程的紧迫程度</a:t>
              </a:r>
              <a:endParaRPr lang="zh-CN" altLang="en-US" sz="2200" dirty="0"/>
            </a:p>
            <a:p>
              <a:pPr marL="342900" indent="-342900">
                <a:spcBef>
                  <a:spcPts val="600"/>
                </a:spcBef>
                <a:buClr>
                  <a:srgbClr val="0000FF"/>
                </a:buClr>
                <a:buFont typeface="Wingdings" panose="05000000000000000000" pitchFamily="2" charset="2"/>
                <a:buChar char="Ø"/>
                <a:defRPr/>
              </a:pPr>
              <a:r>
                <a:rPr lang="zh-CN" altLang="en-US" sz="2200" dirty="0"/>
                <a:t>灵活，可模拟其它算法</a:t>
              </a:r>
              <a:endParaRPr lang="zh-CN" altLang="en-US" sz="2200" dirty="0"/>
            </a:p>
          </p:txBody>
        </p:sp>
      </p:grpSp>
      <p:grpSp>
        <p:nvGrpSpPr>
          <p:cNvPr id="38" name="išḷîḓé"/>
          <p:cNvGrpSpPr/>
          <p:nvPr/>
        </p:nvGrpSpPr>
        <p:grpSpPr>
          <a:xfrm>
            <a:off x="3592127" y="3141927"/>
            <a:ext cx="7536922" cy="801176"/>
            <a:chOff x="4136995" y="3233565"/>
            <a:chExt cx="7536922" cy="801176"/>
          </a:xfrm>
        </p:grpSpPr>
        <p:sp>
          <p:nvSpPr>
            <p:cNvPr id="39"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0" name="îŝľîḓè"/>
            <p:cNvSpPr txBox="1"/>
            <p:nvPr/>
          </p:nvSpPr>
          <p:spPr>
            <a:xfrm>
              <a:off x="4882719" y="3233565"/>
              <a:ext cx="6791198"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t>存在问题</a:t>
              </a:r>
              <a:endParaRPr lang="en-US" altLang="zh-CN" sz="2400" dirty="0"/>
            </a:p>
            <a:p>
              <a:pPr marL="342900" indent="-342900">
                <a:lnSpc>
                  <a:spcPct val="130000"/>
                </a:lnSpc>
                <a:buClr>
                  <a:srgbClr val="0000FF"/>
                </a:buClr>
                <a:buFont typeface="Wingdings" panose="05000000000000000000" pitchFamily="2" charset="2"/>
                <a:buChar char="Ø"/>
              </a:pPr>
              <a:r>
                <a:rPr lang="zh-CN" altLang="en-US" sz="2400" dirty="0"/>
                <a:t>饥饿 </a:t>
              </a:r>
              <a:r>
                <a:rPr lang="en-US" altLang="zh-CN" sz="2400" dirty="0"/>
                <a:t>——</a:t>
              </a:r>
              <a:r>
                <a:rPr lang="zh-CN" altLang="en-US" sz="2400" dirty="0"/>
                <a:t>低优先级的进程可能永远得不到运行</a:t>
              </a:r>
              <a:endParaRPr lang="zh-CN" altLang="en-US" sz="2400" dirty="0"/>
            </a:p>
          </p:txBody>
        </p:sp>
      </p:grpSp>
      <p:grpSp>
        <p:nvGrpSpPr>
          <p:cNvPr id="42" name="ïSlíḍê"/>
          <p:cNvGrpSpPr/>
          <p:nvPr/>
        </p:nvGrpSpPr>
        <p:grpSpPr>
          <a:xfrm>
            <a:off x="3690552" y="4451663"/>
            <a:ext cx="7637467" cy="1311067"/>
            <a:chOff x="4136995" y="4714289"/>
            <a:chExt cx="7637467" cy="1311067"/>
          </a:xfrm>
        </p:grpSpPr>
        <p:sp>
          <p:nvSpPr>
            <p:cNvPr id="44"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5" name="íṧļîḋê"/>
            <p:cNvSpPr txBox="1"/>
            <p:nvPr/>
          </p:nvSpPr>
          <p:spPr>
            <a:xfrm>
              <a:off x="4882717" y="4714289"/>
              <a:ext cx="6891745"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ts val="600"/>
                </a:spcBef>
                <a:defRPr/>
              </a:pPr>
              <a:r>
                <a:rPr lang="zh-CN" altLang="en-US" sz="2400" dirty="0"/>
                <a:t>解决方法</a:t>
              </a:r>
              <a:endParaRPr lang="en-US" altLang="zh-CN" sz="2400" dirty="0"/>
            </a:p>
            <a:p>
              <a:pPr marL="342900" indent="-342900">
                <a:spcBef>
                  <a:spcPts val="600"/>
                </a:spcBef>
                <a:buClr>
                  <a:srgbClr val="0000FF"/>
                </a:buClr>
                <a:buFont typeface="Wingdings" panose="05000000000000000000" pitchFamily="2" charset="2"/>
                <a:buChar char="Ø"/>
                <a:defRPr/>
              </a:pPr>
              <a:r>
                <a:rPr lang="zh-CN" altLang="en-US" sz="2400" dirty="0"/>
                <a:t>老化 </a:t>
              </a:r>
              <a:r>
                <a:rPr lang="en-US" altLang="zh-CN" sz="2400" dirty="0"/>
                <a:t>—— </a:t>
              </a:r>
              <a:r>
                <a:rPr lang="zh-CN" altLang="en-US" sz="2400" dirty="0"/>
                <a:t>视进程等待时间的延长提高其优先数</a:t>
              </a:r>
              <a:endParaRPr lang="zh-CN" altLang="en-US" sz="2400" dirty="0"/>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503555" y="1292225"/>
            <a:ext cx="10989945" cy="1125220"/>
          </a:xfrm>
          <a:prstGeom prst="rect">
            <a:avLst/>
          </a:prstGeom>
        </p:spPr>
        <p:txBody>
          <a:bodyPr>
            <a:noAutofit/>
          </a:bodyPr>
          <a:p>
            <a:pPr marL="0" indent="0"/>
            <a:endParaRPr lang="zh-CN" altLang="en-US" sz="2400" b="0" i="0">
              <a:solidFill>
                <a:srgbClr val="181E33"/>
              </a:solidFill>
              <a:latin typeface="+mj-ea"/>
              <a:ea typeface="+mj-ea"/>
              <a:cs typeface="+mj-ea"/>
            </a:endParaRPr>
          </a:p>
        </p:txBody>
      </p:sp>
      <p:pic>
        <p:nvPicPr>
          <p:cNvPr id="2" name="图片 1"/>
          <p:cNvPicPr>
            <a:picLocks noChangeAspect="1"/>
          </p:cNvPicPr>
          <p:nvPr/>
        </p:nvPicPr>
        <p:blipFill>
          <a:blip r:embed="rId1"/>
          <a:stretch>
            <a:fillRect/>
          </a:stretch>
        </p:blipFill>
        <p:spPr>
          <a:xfrm>
            <a:off x="736600" y="961390"/>
            <a:ext cx="10948670" cy="2900045"/>
          </a:xfrm>
          <a:prstGeom prst="rect">
            <a:avLst/>
          </a:prstGeom>
        </p:spPr>
      </p:pic>
      <p:sp>
        <p:nvSpPr>
          <p:cNvPr id="5" name="文本框 4"/>
          <p:cNvSpPr txBox="1"/>
          <p:nvPr/>
        </p:nvSpPr>
        <p:spPr>
          <a:xfrm>
            <a:off x="736600" y="439420"/>
            <a:ext cx="3926205" cy="521970"/>
          </a:xfrm>
          <a:prstGeom prst="rect">
            <a:avLst/>
          </a:prstGeom>
          <a:noFill/>
        </p:spPr>
        <p:txBody>
          <a:bodyPr wrap="square" rtlCol="0" anchor="t">
            <a:spAutoFit/>
          </a:bodyPr>
          <a:p>
            <a:r>
              <a:rPr lang="zh-CN" altLang="en-US" sz="2800">
                <a:solidFill>
                  <a:srgbClr val="FF0000"/>
                </a:solidFill>
                <a:sym typeface="+mn-ea"/>
              </a:rPr>
              <a:t>随堂练习</a:t>
            </a:r>
            <a:r>
              <a:rPr lang="en-US" altLang="zh-CN" sz="2800">
                <a:solidFill>
                  <a:srgbClr val="FF0000"/>
                </a:solidFill>
                <a:sym typeface="+mn-ea"/>
              </a:rPr>
              <a:t>3</a:t>
            </a:r>
            <a:endParaRPr lang="en-US" altLang="zh-CN" sz="2800">
              <a:solidFill>
                <a:srgbClr val="FF0000"/>
              </a:solidFill>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高相应比优先调度算法（</a:t>
            </a:r>
            <a:r>
              <a:rPr lang="en-US" altLang="zh-CN" sz="2800" b="1" dirty="0">
                <a:solidFill>
                  <a:schemeClr val="bg1"/>
                </a:solidFill>
              </a:rPr>
              <a:t>PR</a:t>
            </a:r>
            <a:r>
              <a:rPr lang="zh-CN" altLang="en-US" sz="2800" b="1" dirty="0">
                <a:solidFill>
                  <a:schemeClr val="bg1"/>
                </a:solidFill>
              </a:rPr>
              <a:t>的特例</a:t>
            </a:r>
            <a:r>
              <a:rPr lang="en-US" altLang="zh-CN" sz="2800" b="1" dirty="0">
                <a:solidFill>
                  <a:schemeClr val="bg1"/>
                </a:solidFill>
              </a:rPr>
              <a:t>HRRN</a:t>
            </a:r>
            <a:r>
              <a:rPr lang="zh-CN" altLang="en-US" sz="2800" b="1" dirty="0">
                <a:solidFill>
                  <a:schemeClr val="bg1"/>
                </a:solidFill>
              </a:rPr>
              <a:t>）</a:t>
            </a:r>
            <a:endParaRPr lang="zh-CN" altLang="en-US" sz="2800" b="1" dirty="0">
              <a:solidFill>
                <a:schemeClr val="bg1"/>
              </a:solidFill>
            </a:endParaRPr>
          </a:p>
        </p:txBody>
      </p:sp>
      <p:sp>
        <p:nvSpPr>
          <p:cNvPr id="85" name="内容占位符 2"/>
          <p:cNvSpPr txBox="1"/>
          <p:nvPr/>
        </p:nvSpPr>
        <p:spPr>
          <a:xfrm>
            <a:off x="1247775" y="1068705"/>
            <a:ext cx="9904095" cy="10712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32000"/>
              </a:lnSpc>
              <a:buClr>
                <a:srgbClr val="FF0000"/>
              </a:buClr>
              <a:buFont typeface="Wingdings" panose="05000000000000000000" pitchFamily="2" charset="2"/>
              <a:buChar char="Ø"/>
            </a:pPr>
            <a:r>
              <a:rPr lang="zh-CN" altLang="en-US" sz="2400" dirty="0"/>
              <a:t>既考虑作业的等待时间，又考虑作业的运行时间</a:t>
            </a:r>
            <a:endParaRPr lang="zh-CN" altLang="en-US" sz="2400" dirty="0"/>
          </a:p>
        </p:txBody>
      </p:sp>
      <p:sp>
        <p:nvSpPr>
          <p:cNvPr id="86" name="内容占位符 2"/>
          <p:cNvSpPr txBox="1"/>
          <p:nvPr/>
        </p:nvSpPr>
        <p:spPr>
          <a:xfrm>
            <a:off x="1349375" y="2762250"/>
            <a:ext cx="5532755" cy="3657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buClr>
                <a:srgbClr val="FF0000"/>
              </a:buClr>
              <a:buFont typeface="Wingdings" panose="05000000000000000000" pitchFamily="2" charset="2"/>
              <a:buChar char="Ø"/>
            </a:pPr>
            <a:endParaRPr lang="en-US" altLang="zh-CN" sz="2400" dirty="0">
              <a:solidFill>
                <a:srgbClr val="0000FF"/>
              </a:solidFill>
            </a:endParaRPr>
          </a:p>
        </p:txBody>
      </p:sp>
      <p:sp>
        <p:nvSpPr>
          <p:cNvPr id="88" name="内容占位符 2"/>
          <p:cNvSpPr txBox="1"/>
          <p:nvPr/>
        </p:nvSpPr>
        <p:spPr>
          <a:xfrm>
            <a:off x="1247775" y="3437890"/>
            <a:ext cx="10212705" cy="3435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buClr>
                <a:srgbClr val="FF0000"/>
              </a:buClr>
              <a:buFont typeface="Wingdings" panose="05000000000000000000" pitchFamily="2" charset="2"/>
              <a:buChar char="Ø"/>
            </a:pPr>
            <a:r>
              <a:rPr lang="zh-CN" altLang="en-US" sz="2400" dirty="0"/>
              <a:t>如等待时间相同，运行时间越短，优先级越高，类似于</a:t>
            </a:r>
            <a:r>
              <a:rPr lang="en-US" altLang="zh-CN" sz="2400" dirty="0"/>
              <a:t>SJF</a:t>
            </a:r>
            <a:endParaRPr lang="en-US" altLang="zh-CN" sz="2400" dirty="0"/>
          </a:p>
        </p:txBody>
      </p:sp>
      <p:sp>
        <p:nvSpPr>
          <p:cNvPr id="90" name="内容占位符 2"/>
          <p:cNvSpPr txBox="1"/>
          <p:nvPr/>
        </p:nvSpPr>
        <p:spPr>
          <a:xfrm>
            <a:off x="1247478" y="4091431"/>
            <a:ext cx="7323522"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buClr>
                <a:srgbClr val="FF0000"/>
              </a:buClr>
              <a:buFont typeface="Wingdings" panose="05000000000000000000" pitchFamily="2" charset="2"/>
              <a:buChar char="Ø"/>
            </a:pPr>
            <a:r>
              <a:rPr lang="zh-CN" altLang="en-US" sz="2400" dirty="0"/>
              <a:t>如运行时间相同，取决于等待时间，类似于</a:t>
            </a:r>
            <a:r>
              <a:rPr lang="en-US" altLang="zh-CN" sz="2400" dirty="0"/>
              <a:t>FCFS</a:t>
            </a:r>
            <a:endParaRPr lang="en-US" altLang="zh-CN" sz="2400" dirty="0"/>
          </a:p>
        </p:txBody>
      </p:sp>
      <p:sp>
        <p:nvSpPr>
          <p:cNvPr id="95" name="内容占位符 2"/>
          <p:cNvSpPr txBox="1"/>
          <p:nvPr/>
        </p:nvSpPr>
        <p:spPr>
          <a:xfrm>
            <a:off x="1247775" y="4645660"/>
            <a:ext cx="10278110" cy="7137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20000"/>
              </a:lnSpc>
              <a:buClr>
                <a:srgbClr val="FF0000"/>
              </a:buClr>
              <a:buFont typeface="Wingdings" panose="05000000000000000000" pitchFamily="2" charset="2"/>
              <a:buChar char="Ø"/>
            </a:pPr>
            <a:r>
              <a:rPr lang="zh-CN" altLang="en-US" sz="2400" dirty="0"/>
              <a:t>可随其等待时间的增加而提高，进程都可得到服务，不会产生饥饿</a:t>
            </a:r>
            <a:endParaRPr lang="zh-CN" altLang="en-US" sz="2400" dirty="0"/>
          </a:p>
        </p:txBody>
      </p:sp>
      <p:sp>
        <p:nvSpPr>
          <p:cNvPr id="96" name="内容占位符 2"/>
          <p:cNvSpPr txBox="1"/>
          <p:nvPr/>
        </p:nvSpPr>
        <p:spPr>
          <a:xfrm>
            <a:off x="1247478" y="5443379"/>
            <a:ext cx="10213593" cy="5728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20000"/>
              </a:lnSpc>
              <a:buClr>
                <a:srgbClr val="FF0000"/>
              </a:buClr>
              <a:buFont typeface="Wingdings" panose="05000000000000000000" pitchFamily="2" charset="2"/>
              <a:buChar char="Ø"/>
            </a:pPr>
            <a:r>
              <a:rPr lang="zh-CN" altLang="en-US" sz="2400" dirty="0">
                <a:solidFill>
                  <a:srgbClr val="FF0000"/>
                </a:solidFill>
              </a:rPr>
              <a:t>缺点：每次调度之前，都需要计算响应比，增加系统开销</a:t>
            </a:r>
            <a:endParaRPr lang="zh-CN" altLang="en-US" sz="2400" dirty="0">
              <a:solidFill>
                <a:srgbClr val="FF0000"/>
              </a:solidFill>
            </a:endParaRPr>
          </a:p>
        </p:txBody>
      </p:sp>
      <p:sp>
        <p:nvSpPr>
          <p:cNvPr id="3" name="内容占位符 2"/>
          <p:cNvSpPr txBox="1"/>
          <p:nvPr/>
        </p:nvSpPr>
        <p:spPr>
          <a:xfrm>
            <a:off x="1814195" y="2472690"/>
            <a:ext cx="7187565" cy="5873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FF0000"/>
              </a:buClr>
              <a:buFont typeface="Wingdings" panose="05000000000000000000" pitchFamily="2" charset="2"/>
              <a:buNone/>
            </a:pPr>
            <a:r>
              <a:rPr lang="zh-CN" altLang="en-US" sz="2400" dirty="0">
                <a:solidFill>
                  <a:srgbClr val="0000FF"/>
                </a:solidFill>
              </a:rPr>
              <a:t>属于动态优先级算法： 响应比越大，优先级越高</a:t>
            </a:r>
            <a:endParaRPr lang="zh-CN" altLang="en-US" sz="2400" dirty="0">
              <a:solidFill>
                <a:srgbClr val="0000FF"/>
              </a:solidFill>
            </a:endParaRPr>
          </a:p>
        </p:txBody>
      </p:sp>
      <p:sp>
        <p:nvSpPr>
          <p:cNvPr id="5" name="内容占位符 2"/>
          <p:cNvSpPr txBox="1"/>
          <p:nvPr/>
        </p:nvSpPr>
        <p:spPr>
          <a:xfrm>
            <a:off x="1349375" y="1836420"/>
            <a:ext cx="9017000" cy="3657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buClr>
                <a:srgbClr val="FF0000"/>
              </a:buClr>
              <a:buFont typeface="Wingdings" panose="05000000000000000000" pitchFamily="2" charset="2"/>
              <a:buChar char="Ø"/>
            </a:pPr>
            <a:r>
              <a:rPr lang="zh-CN" altLang="en-US" sz="2400" dirty="0">
                <a:solidFill>
                  <a:srgbClr val="0000FF"/>
                </a:solidFill>
              </a:rPr>
              <a:t>响应比</a:t>
            </a:r>
            <a:r>
              <a:rPr lang="en-US" altLang="zh-CN" sz="2400" dirty="0">
                <a:solidFill>
                  <a:srgbClr val="0000FF"/>
                </a:solidFill>
              </a:rPr>
              <a:t>=</a:t>
            </a:r>
            <a:r>
              <a:rPr lang="zh-CN" altLang="en-US" sz="2400" dirty="0">
                <a:solidFill>
                  <a:srgbClr val="0000FF"/>
                </a:solidFill>
              </a:rPr>
              <a:t>响应时间</a:t>
            </a:r>
            <a:r>
              <a:rPr lang="en-US" altLang="zh-CN" sz="2400" dirty="0">
                <a:solidFill>
                  <a:srgbClr val="0000FF"/>
                </a:solidFill>
              </a:rPr>
              <a:t>/</a:t>
            </a:r>
            <a:r>
              <a:rPr lang="zh-CN" altLang="en-US" sz="2400" dirty="0">
                <a:solidFill>
                  <a:srgbClr val="0000FF"/>
                </a:solidFill>
              </a:rPr>
              <a:t>运行时间</a:t>
            </a:r>
            <a:r>
              <a:rPr lang="en-US" altLang="zh-CN" sz="2400" dirty="0">
                <a:solidFill>
                  <a:srgbClr val="0000FF"/>
                </a:solidFill>
              </a:rPr>
              <a:t>=(</a:t>
            </a:r>
            <a:r>
              <a:rPr lang="zh-CN" altLang="en-US" sz="2400" dirty="0">
                <a:solidFill>
                  <a:srgbClr val="0000FF"/>
                </a:solidFill>
              </a:rPr>
              <a:t>等待时间</a:t>
            </a:r>
            <a:r>
              <a:rPr lang="en-US" altLang="zh-CN" sz="2400" dirty="0">
                <a:solidFill>
                  <a:srgbClr val="0000FF"/>
                </a:solidFill>
              </a:rPr>
              <a:t>+</a:t>
            </a:r>
            <a:r>
              <a:rPr lang="zh-CN" altLang="en-US" sz="2400" dirty="0">
                <a:solidFill>
                  <a:srgbClr val="0000FF"/>
                </a:solidFill>
              </a:rPr>
              <a:t>运行时间</a:t>
            </a:r>
            <a:r>
              <a:rPr lang="en-US" altLang="zh-CN" sz="2400" dirty="0">
                <a:solidFill>
                  <a:srgbClr val="0000FF"/>
                </a:solidFill>
              </a:rPr>
              <a:t>)/</a:t>
            </a:r>
            <a:r>
              <a:rPr lang="zh-CN" altLang="en-US" sz="2400" dirty="0">
                <a:solidFill>
                  <a:srgbClr val="0000FF"/>
                </a:solidFill>
              </a:rPr>
              <a:t>运行时间</a:t>
            </a:r>
            <a:endParaRPr lang="zh-CN" altLang="en-US" sz="2400" dirty="0">
              <a:solidFill>
                <a:srgbClr val="0000FF"/>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822960" y="1272540"/>
            <a:ext cx="10697845" cy="523430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69215" y="1562735"/>
            <a:ext cx="11778615" cy="356552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时间片轮转</a:t>
            </a:r>
            <a:r>
              <a:rPr lang="en-US" altLang="zh-CN" sz="2800" b="1" dirty="0">
                <a:solidFill>
                  <a:schemeClr val="bg1"/>
                </a:solidFill>
              </a:rPr>
              <a:t>(RR)</a:t>
            </a:r>
            <a:r>
              <a:rPr lang="zh-CN" altLang="en-US" sz="2800" b="1" dirty="0">
                <a:solidFill>
                  <a:schemeClr val="bg1"/>
                </a:solidFill>
              </a:rPr>
              <a:t>调度算法</a:t>
            </a:r>
            <a:endParaRPr lang="zh-CN" altLang="en-US" sz="2800" b="1" dirty="0">
              <a:solidFill>
                <a:schemeClr val="bg1"/>
              </a:solidFill>
            </a:endParaRPr>
          </a:p>
        </p:txBody>
      </p:sp>
      <p:grpSp>
        <p:nvGrpSpPr>
          <p:cNvPr id="58"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0631" y="1102952"/>
            <a:ext cx="11328492" cy="4492298"/>
            <a:chOff x="673100" y="1929384"/>
            <a:chExt cx="11328492" cy="4492298"/>
          </a:xfrm>
        </p:grpSpPr>
        <p:sp>
          <p:nvSpPr>
            <p:cNvPr id="59"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60"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61"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62"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63"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65" name="isľîdê"/>
            <p:cNvSpPr txBox="1"/>
            <p:nvPr/>
          </p:nvSpPr>
          <p:spPr>
            <a:xfrm>
              <a:off x="873884" y="4127645"/>
              <a:ext cx="2091530" cy="1931412"/>
            </a:xfrm>
            <a:prstGeom prst="rect">
              <a:avLst/>
            </a:prstGeom>
            <a:noFill/>
            <a:ln>
              <a:noFill/>
            </a:ln>
          </p:spPr>
          <p:txBody>
            <a:bodyPr wrap="square" lIns="91440" tIns="45720" rIns="91440" bIns="45720" anchor="t" anchorCtr="0">
              <a:noAutofit/>
            </a:bodyPr>
            <a:lstStyle/>
            <a:p>
              <a:pPr algn="l">
                <a:lnSpc>
                  <a:spcPct val="120000"/>
                </a:lnSpc>
                <a:buClr>
                  <a:srgbClr val="FF0000"/>
                </a:buClr>
              </a:pPr>
              <a:r>
                <a:rPr lang="zh-CN" altLang="en-US" sz="2400" dirty="0"/>
                <a:t>专为分时系统设计</a:t>
              </a:r>
              <a:endParaRPr lang="zh-CN" altLang="en-US" sz="2400" dirty="0"/>
            </a:p>
          </p:txBody>
        </p:sp>
        <p:sp>
          <p:nvSpPr>
            <p:cNvPr id="69"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01</a:t>
              </a:r>
              <a:endParaRPr lang="zh-CN" altLang="en-US" sz="3200" b="1" i="1" dirty="0">
                <a:solidFill>
                  <a:schemeClr val="bg1"/>
                </a:solidFill>
              </a:endParaRPr>
            </a:p>
          </p:txBody>
        </p:sp>
        <p:sp>
          <p:nvSpPr>
            <p:cNvPr id="70"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02</a:t>
              </a:r>
              <a:endParaRPr lang="zh-CN" altLang="en-US" sz="3200" b="1" i="1" dirty="0">
                <a:solidFill>
                  <a:schemeClr val="bg1"/>
                </a:solidFill>
              </a:endParaRPr>
            </a:p>
          </p:txBody>
        </p:sp>
        <p:sp>
          <p:nvSpPr>
            <p:cNvPr id="71"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03</a:t>
              </a:r>
              <a:endParaRPr lang="zh-CN" altLang="en-US" sz="3200" b="1" i="1" dirty="0">
                <a:solidFill>
                  <a:schemeClr val="bg1"/>
                </a:solidFill>
              </a:endParaRPr>
            </a:p>
          </p:txBody>
        </p:sp>
        <p:sp>
          <p:nvSpPr>
            <p:cNvPr id="72"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04</a:t>
              </a:r>
              <a:endParaRPr lang="zh-CN" altLang="en-US" sz="3200" b="1" i="1" dirty="0">
                <a:solidFill>
                  <a:schemeClr val="bg1"/>
                </a:solidFill>
              </a:endParaRPr>
            </a:p>
          </p:txBody>
        </p:sp>
        <p:sp>
          <p:nvSpPr>
            <p:cNvPr id="77" name="isľîdê"/>
            <p:cNvSpPr txBox="1"/>
            <p:nvPr/>
          </p:nvSpPr>
          <p:spPr>
            <a:xfrm>
              <a:off x="3458154" y="4151139"/>
              <a:ext cx="2391476" cy="2270543"/>
            </a:xfrm>
            <a:prstGeom prst="rect">
              <a:avLst/>
            </a:prstGeom>
            <a:noFill/>
            <a:ln>
              <a:noFill/>
            </a:ln>
          </p:spPr>
          <p:txBody>
            <a:bodyPr wrap="square" lIns="91440" tIns="45720" rIns="91440" bIns="45720" anchor="t" anchorCtr="0">
              <a:noAutofit/>
            </a:bodyPr>
            <a:lstStyle/>
            <a:p>
              <a:pPr marL="0" lvl="1">
                <a:lnSpc>
                  <a:spcPct val="120000"/>
                </a:lnSpc>
              </a:pPr>
              <a:r>
                <a:rPr lang="zh-CN" altLang="en-US" sz="2400" dirty="0"/>
                <a:t>时间片</a:t>
              </a:r>
              <a:endParaRPr lang="zh-CN" altLang="en-US" sz="2400" dirty="0"/>
            </a:p>
            <a:p>
              <a:pPr marL="342900" indent="-342900">
                <a:lnSpc>
                  <a:spcPct val="120000"/>
                </a:lnSpc>
                <a:buClr>
                  <a:srgbClr val="FF0000"/>
                </a:buClr>
                <a:buFont typeface="Wingdings" panose="05000000000000000000" pitchFamily="2" charset="2"/>
                <a:buChar char="Ø"/>
              </a:pPr>
              <a:r>
                <a:rPr lang="zh-CN" altLang="en-US" sz="2200" dirty="0"/>
                <a:t>小单位的</a:t>
              </a:r>
              <a:r>
                <a:rPr lang="en-US" altLang="zh-CN" sz="2200" dirty="0"/>
                <a:t>CPU</a:t>
              </a:r>
              <a:r>
                <a:rPr lang="zh-CN" altLang="en-US" sz="2200" dirty="0"/>
                <a:t>时间，通常为</a:t>
              </a:r>
              <a:r>
                <a:rPr lang="en-US" altLang="zh-CN" sz="2200" dirty="0"/>
                <a:t>10~100</a:t>
              </a:r>
              <a:r>
                <a:rPr lang="zh-CN" altLang="en-US" sz="2200" dirty="0"/>
                <a:t>毫秒</a:t>
              </a:r>
              <a:endParaRPr lang="zh-CN" altLang="en-US" sz="2200" dirty="0"/>
            </a:p>
          </p:txBody>
        </p:sp>
        <p:sp>
          <p:nvSpPr>
            <p:cNvPr id="78" name="isľîdê"/>
            <p:cNvSpPr txBox="1"/>
            <p:nvPr/>
          </p:nvSpPr>
          <p:spPr>
            <a:xfrm>
              <a:off x="5876676" y="4151025"/>
              <a:ext cx="2893652" cy="1461716"/>
            </a:xfrm>
            <a:prstGeom prst="rect">
              <a:avLst/>
            </a:prstGeom>
            <a:noFill/>
            <a:ln>
              <a:noFill/>
            </a:ln>
          </p:spPr>
          <p:txBody>
            <a:bodyPr wrap="square" lIns="91440" tIns="45720" rIns="91440" bIns="45720" anchor="t" anchorCtr="0">
              <a:noAutofit/>
            </a:bodyPr>
            <a:lstStyle/>
            <a:p>
              <a:pPr>
                <a:lnSpc>
                  <a:spcPct val="120000"/>
                </a:lnSpc>
                <a:buClr>
                  <a:srgbClr val="0000FF"/>
                </a:buClr>
              </a:pPr>
              <a:r>
                <a:rPr lang="zh-CN" altLang="en-US" sz="2400" dirty="0"/>
                <a:t>抢占式调度算法</a:t>
              </a:r>
              <a:endParaRPr lang="zh-CN" altLang="en-US" sz="2400" dirty="0"/>
            </a:p>
          </p:txBody>
        </p:sp>
        <p:sp>
          <p:nvSpPr>
            <p:cNvPr id="79" name="isľîdê"/>
            <p:cNvSpPr txBox="1"/>
            <p:nvPr/>
          </p:nvSpPr>
          <p:spPr>
            <a:xfrm>
              <a:off x="8797074" y="4127645"/>
              <a:ext cx="3204518" cy="1461716"/>
            </a:xfrm>
            <a:prstGeom prst="rect">
              <a:avLst/>
            </a:prstGeom>
            <a:noFill/>
            <a:ln>
              <a:noFill/>
            </a:ln>
          </p:spPr>
          <p:txBody>
            <a:bodyPr wrap="square" lIns="91440" tIns="45720" rIns="91440" bIns="45720" anchor="t" anchorCtr="0">
              <a:noAutofit/>
            </a:bodyPr>
            <a:lstStyle/>
            <a:p>
              <a:pPr>
                <a:lnSpc>
                  <a:spcPct val="120000"/>
                </a:lnSpc>
                <a:buClr>
                  <a:srgbClr val="0000FF"/>
                </a:buClr>
              </a:pPr>
              <a:r>
                <a:rPr lang="zh-CN" altLang="en-US" sz="2400" dirty="0"/>
                <a:t>假定就绪队列中有</a:t>
              </a:r>
              <a:r>
                <a:rPr lang="en-US" altLang="zh-CN" sz="2400" dirty="0"/>
                <a:t>n</a:t>
              </a:r>
              <a:r>
                <a:rPr lang="zh-CN" altLang="en-US" sz="2400" dirty="0"/>
                <a:t>个进程、时间片为</a:t>
              </a:r>
              <a:r>
                <a:rPr lang="en-US" altLang="zh-CN" sz="2400" dirty="0"/>
                <a:t>q, </a:t>
              </a:r>
              <a:r>
                <a:rPr lang="zh-CN" altLang="en-US" sz="2400" dirty="0"/>
                <a:t>则每个进程每次得到</a:t>
              </a:r>
              <a:r>
                <a:rPr lang="en-US" altLang="zh-CN" sz="2400" dirty="0"/>
                <a:t>1/n</a:t>
              </a:r>
              <a:r>
                <a:rPr lang="zh-CN" altLang="en-US" sz="2400" dirty="0"/>
                <a:t>的、不超过</a:t>
              </a:r>
              <a:r>
                <a:rPr lang="en-US" altLang="zh-CN" sz="2400" dirty="0"/>
                <a:t>q</a:t>
              </a:r>
              <a:r>
                <a:rPr lang="zh-CN" altLang="en-US" sz="2400" dirty="0"/>
                <a:t>单位的成块</a:t>
              </a:r>
              <a:r>
                <a:rPr lang="en-US" altLang="zh-CN" sz="2400" dirty="0"/>
                <a:t>CPU</a:t>
              </a:r>
              <a:r>
                <a:rPr lang="zh-CN" altLang="en-US" sz="2400" dirty="0"/>
                <a:t>时间，没有任何一个进程的等待时间会超过</a:t>
              </a:r>
              <a:r>
                <a:rPr lang="en-US" altLang="zh-CN" sz="2400" dirty="0"/>
                <a:t>(n-1) q</a:t>
              </a:r>
              <a:r>
                <a:rPr lang="zh-CN" altLang="en-US" sz="2400" dirty="0"/>
                <a:t>单位</a:t>
              </a:r>
              <a:endParaRPr lang="zh-CN" altLang="en-US" sz="2400" dirty="0"/>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时间片为</a:t>
            </a:r>
            <a:r>
              <a:rPr lang="en-US" altLang="zh-CN" sz="2800" b="1" dirty="0">
                <a:solidFill>
                  <a:schemeClr val="bg1"/>
                </a:solidFill>
              </a:rPr>
              <a:t>20</a:t>
            </a:r>
            <a:r>
              <a:rPr lang="zh-CN" altLang="en-US" sz="2800" b="1" dirty="0">
                <a:solidFill>
                  <a:schemeClr val="bg1"/>
                </a:solidFill>
              </a:rPr>
              <a:t>的</a:t>
            </a:r>
            <a:r>
              <a:rPr lang="en-US" altLang="zh-CN" sz="2800" b="1" dirty="0">
                <a:solidFill>
                  <a:schemeClr val="bg1"/>
                </a:solidFill>
              </a:rPr>
              <a:t>RR</a:t>
            </a:r>
            <a:r>
              <a:rPr lang="zh-CN" altLang="en-US" sz="2800" b="1" dirty="0">
                <a:solidFill>
                  <a:schemeClr val="bg1"/>
                </a:solidFill>
              </a:rPr>
              <a:t>例子</a:t>
            </a:r>
            <a:endParaRPr lang="zh-CN" altLang="en-US" sz="2800" b="1" dirty="0">
              <a:solidFill>
                <a:schemeClr val="bg1"/>
              </a:solidFill>
            </a:endParaRPr>
          </a:p>
        </p:txBody>
      </p:sp>
      <p:sp>
        <p:nvSpPr>
          <p:cNvPr id="23" name="文本框 22"/>
          <p:cNvSpPr txBox="1"/>
          <p:nvPr/>
        </p:nvSpPr>
        <p:spPr>
          <a:xfrm>
            <a:off x="479019" y="1407861"/>
            <a:ext cx="3884862" cy="2306320"/>
          </a:xfrm>
          <a:prstGeom prst="rect">
            <a:avLst/>
          </a:prstGeom>
          <a:noFill/>
          <a:ln>
            <a:solidFill>
              <a:schemeClr val="bg2">
                <a:lumMod val="75000"/>
              </a:schemeClr>
            </a:solidFill>
          </a:ln>
        </p:spPr>
        <p:txBody>
          <a:bodyPr wrap="square">
            <a:spAutoFit/>
          </a:bodyPr>
          <a:lstStyle/>
          <a:p>
            <a:pPr>
              <a:lnSpc>
                <a:spcPct val="120000"/>
              </a:lnSpc>
              <a:buClr>
                <a:srgbClr val="FF0000"/>
              </a:buClr>
              <a:defRPr/>
            </a:pPr>
            <a:r>
              <a:rPr lang="zh-CN" altLang="en-US" sz="2400" dirty="0"/>
              <a:t>进程	</a:t>
            </a:r>
            <a:r>
              <a:rPr lang="en-US" altLang="zh-CN" sz="2400" dirty="0"/>
              <a:t>	</a:t>
            </a:r>
            <a:r>
              <a:rPr lang="zh-CN" altLang="en-US" sz="2400" dirty="0"/>
              <a:t>运行时间</a:t>
            </a:r>
            <a:endParaRPr lang="zh-CN" altLang="en-US" sz="2400" dirty="0"/>
          </a:p>
          <a:p>
            <a:pPr>
              <a:lnSpc>
                <a:spcPct val="120000"/>
              </a:lnSpc>
              <a:buClr>
                <a:srgbClr val="FF0000"/>
              </a:buClr>
              <a:defRPr/>
            </a:pPr>
            <a:r>
              <a:rPr lang="en-US" altLang="zh-CN" sz="2400" dirty="0"/>
              <a:t>P1		23 3 </a:t>
            </a:r>
            <a:endParaRPr lang="en-US" altLang="zh-CN" sz="2400" dirty="0"/>
          </a:p>
          <a:p>
            <a:pPr>
              <a:lnSpc>
                <a:spcPct val="120000"/>
              </a:lnSpc>
              <a:buClr>
                <a:srgbClr val="FF0000"/>
              </a:buClr>
              <a:defRPr/>
            </a:pPr>
            <a:r>
              <a:rPr lang="en-US" altLang="zh-CN" sz="2400" dirty="0"/>
              <a:t>P2	 	17</a:t>
            </a:r>
            <a:endParaRPr lang="en-US" altLang="zh-CN" sz="2400" dirty="0"/>
          </a:p>
          <a:p>
            <a:pPr>
              <a:lnSpc>
                <a:spcPct val="120000"/>
              </a:lnSpc>
              <a:buClr>
                <a:srgbClr val="FF0000"/>
              </a:buClr>
              <a:defRPr/>
            </a:pPr>
            <a:r>
              <a:rPr lang="en-US" altLang="zh-CN" sz="2400" dirty="0"/>
              <a:t>P3		46 26 6</a:t>
            </a:r>
            <a:endParaRPr lang="en-US" altLang="zh-CN" sz="2400" dirty="0"/>
          </a:p>
          <a:p>
            <a:pPr>
              <a:lnSpc>
                <a:spcPct val="120000"/>
              </a:lnSpc>
              <a:buClr>
                <a:srgbClr val="FF0000"/>
              </a:buClr>
              <a:defRPr/>
            </a:pPr>
            <a:r>
              <a:rPr lang="en-US" altLang="zh-CN" sz="2400" dirty="0"/>
              <a:t>P4	 	24 4</a:t>
            </a:r>
            <a:endParaRPr lang="en-US" altLang="zh-CN" sz="2400" dirty="0"/>
          </a:p>
        </p:txBody>
      </p:sp>
      <p:sp>
        <p:nvSpPr>
          <p:cNvPr id="26" name="内容占位符 2"/>
          <p:cNvSpPr txBox="1"/>
          <p:nvPr/>
        </p:nvSpPr>
        <p:spPr>
          <a:xfrm>
            <a:off x="4712930" y="1234507"/>
            <a:ext cx="2507776" cy="6002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32000"/>
              </a:lnSpc>
              <a:buClr>
                <a:srgbClr val="FF0000"/>
              </a:buClr>
              <a:buFont typeface="Wingdings" panose="05000000000000000000" pitchFamily="2" charset="2"/>
              <a:buChar char="Ø"/>
            </a:pPr>
            <a:r>
              <a:rPr lang="en-US" altLang="zh-CN" sz="2400" dirty="0"/>
              <a:t>Gantt</a:t>
            </a:r>
            <a:r>
              <a:rPr lang="zh-CN" altLang="en-US" sz="2400" dirty="0"/>
              <a:t>图如下：</a:t>
            </a:r>
            <a:endParaRPr lang="zh-CN" altLang="en-US" sz="2400" dirty="0"/>
          </a:p>
        </p:txBody>
      </p:sp>
      <p:grpSp>
        <p:nvGrpSpPr>
          <p:cNvPr id="29" name="组合 28"/>
          <p:cNvGrpSpPr/>
          <p:nvPr/>
        </p:nvGrpSpPr>
        <p:grpSpPr>
          <a:xfrm>
            <a:off x="4363621" y="2076572"/>
            <a:ext cx="7288139" cy="1483400"/>
            <a:chOff x="1578266" y="4039154"/>
            <a:chExt cx="4858579" cy="988897"/>
          </a:xfrm>
          <a:solidFill>
            <a:srgbClr val="FFFF00"/>
          </a:solidFill>
        </p:grpSpPr>
        <p:sp>
          <p:nvSpPr>
            <p:cNvPr id="32" name="Rectangle 4"/>
            <p:cNvSpPr>
              <a:spLocks noChangeArrowheads="1"/>
            </p:cNvSpPr>
            <p:nvPr/>
          </p:nvSpPr>
          <p:spPr bwMode="auto">
            <a:xfrm>
              <a:off x="1698625" y="4039154"/>
              <a:ext cx="563880" cy="60960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defRPr/>
              </a:pPr>
              <a:r>
                <a:rPr lang="en-US" altLang="zh-CN" sz="2600" dirty="0"/>
                <a:t>P</a:t>
              </a:r>
              <a:r>
                <a:rPr lang="en-US" altLang="zh-CN" sz="2600" baseline="-25000" dirty="0"/>
                <a:t>1</a:t>
              </a:r>
              <a:endParaRPr lang="en-US" altLang="zh-CN" sz="2600" dirty="0"/>
            </a:p>
          </p:txBody>
        </p:sp>
        <p:sp>
          <p:nvSpPr>
            <p:cNvPr id="35" name="Rectangle 5"/>
            <p:cNvSpPr>
              <a:spLocks noChangeArrowheads="1"/>
            </p:cNvSpPr>
            <p:nvPr/>
          </p:nvSpPr>
          <p:spPr bwMode="auto">
            <a:xfrm>
              <a:off x="2262505" y="4039154"/>
              <a:ext cx="563880" cy="60960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defRPr/>
              </a:pPr>
              <a:r>
                <a:rPr lang="en-US" altLang="zh-CN" sz="2600" dirty="0"/>
                <a:t>P</a:t>
              </a:r>
              <a:r>
                <a:rPr lang="en-US" altLang="zh-CN" sz="2600" baseline="-25000" dirty="0"/>
                <a:t>2</a:t>
              </a:r>
              <a:endParaRPr lang="en-US" altLang="zh-CN" sz="2600" baseline="-25000" dirty="0"/>
            </a:p>
          </p:txBody>
        </p:sp>
        <p:sp>
          <p:nvSpPr>
            <p:cNvPr id="40" name="Rectangle 6"/>
            <p:cNvSpPr>
              <a:spLocks noChangeArrowheads="1"/>
            </p:cNvSpPr>
            <p:nvPr/>
          </p:nvSpPr>
          <p:spPr bwMode="auto">
            <a:xfrm>
              <a:off x="2826385" y="4039154"/>
              <a:ext cx="563880" cy="60960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defRPr/>
              </a:pPr>
              <a:r>
                <a:rPr lang="en-US" altLang="zh-CN" sz="2600"/>
                <a:t>P</a:t>
              </a:r>
              <a:r>
                <a:rPr lang="en-US" altLang="zh-CN" sz="2600" baseline="-25000"/>
                <a:t>3</a:t>
              </a:r>
              <a:endParaRPr lang="en-US" altLang="zh-CN" sz="2600" baseline="-25000"/>
            </a:p>
          </p:txBody>
        </p:sp>
        <p:sp>
          <p:nvSpPr>
            <p:cNvPr id="41" name="Rectangle 7"/>
            <p:cNvSpPr>
              <a:spLocks noChangeArrowheads="1"/>
            </p:cNvSpPr>
            <p:nvPr/>
          </p:nvSpPr>
          <p:spPr bwMode="auto">
            <a:xfrm>
              <a:off x="3390265" y="4039154"/>
              <a:ext cx="563880" cy="60960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defRPr/>
              </a:pPr>
              <a:r>
                <a:rPr lang="en-US" altLang="zh-CN" sz="2600"/>
                <a:t>P</a:t>
              </a:r>
              <a:r>
                <a:rPr lang="en-US" altLang="zh-CN" sz="2600" baseline="-25000"/>
                <a:t>4</a:t>
              </a:r>
              <a:endParaRPr lang="en-US" altLang="zh-CN" sz="2600" baseline="-25000"/>
            </a:p>
          </p:txBody>
        </p:sp>
        <p:sp>
          <p:nvSpPr>
            <p:cNvPr id="42" name="Rectangle 8"/>
            <p:cNvSpPr>
              <a:spLocks noChangeArrowheads="1"/>
            </p:cNvSpPr>
            <p:nvPr/>
          </p:nvSpPr>
          <p:spPr bwMode="auto">
            <a:xfrm>
              <a:off x="3954145" y="4039154"/>
              <a:ext cx="563880" cy="60960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defRPr/>
              </a:pPr>
              <a:r>
                <a:rPr lang="en-US" altLang="zh-CN" sz="2600"/>
                <a:t>P</a:t>
              </a:r>
              <a:r>
                <a:rPr lang="en-US" altLang="zh-CN" sz="2600" baseline="-25000"/>
                <a:t>1</a:t>
              </a:r>
              <a:endParaRPr lang="en-US" altLang="zh-CN" sz="2600" baseline="-25000"/>
            </a:p>
          </p:txBody>
        </p:sp>
        <p:sp>
          <p:nvSpPr>
            <p:cNvPr id="43" name="Rectangle 9"/>
            <p:cNvSpPr>
              <a:spLocks noChangeArrowheads="1"/>
            </p:cNvSpPr>
            <p:nvPr/>
          </p:nvSpPr>
          <p:spPr bwMode="auto">
            <a:xfrm>
              <a:off x="4518025" y="4039154"/>
              <a:ext cx="563880" cy="60960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defRPr/>
              </a:pPr>
              <a:r>
                <a:rPr lang="en-US" altLang="zh-CN" sz="2600"/>
                <a:t>P</a:t>
              </a:r>
              <a:r>
                <a:rPr lang="en-US" altLang="zh-CN" sz="2600" baseline="-25000"/>
                <a:t>3</a:t>
              </a:r>
              <a:endParaRPr lang="en-US" altLang="zh-CN" sz="2600" baseline="-25000"/>
            </a:p>
          </p:txBody>
        </p:sp>
        <p:sp>
          <p:nvSpPr>
            <p:cNvPr id="44" name="Rectangle 10"/>
            <p:cNvSpPr>
              <a:spLocks noChangeArrowheads="1"/>
            </p:cNvSpPr>
            <p:nvPr/>
          </p:nvSpPr>
          <p:spPr bwMode="auto">
            <a:xfrm>
              <a:off x="5081905" y="4039154"/>
              <a:ext cx="563880" cy="60960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defRPr/>
              </a:pPr>
              <a:r>
                <a:rPr lang="en-US" altLang="zh-CN" sz="2600"/>
                <a:t>P</a:t>
              </a:r>
              <a:r>
                <a:rPr lang="en-US" altLang="zh-CN" sz="2600" baseline="-25000"/>
                <a:t>4</a:t>
              </a:r>
              <a:endParaRPr lang="en-US" altLang="zh-CN" sz="2600" baseline="-25000"/>
            </a:p>
          </p:txBody>
        </p:sp>
        <p:sp>
          <p:nvSpPr>
            <p:cNvPr id="45" name="Rectangle 11"/>
            <p:cNvSpPr>
              <a:spLocks noChangeArrowheads="1"/>
            </p:cNvSpPr>
            <p:nvPr/>
          </p:nvSpPr>
          <p:spPr bwMode="auto">
            <a:xfrm>
              <a:off x="5645785" y="4039154"/>
              <a:ext cx="563880" cy="60960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defRPr/>
              </a:pPr>
              <a:r>
                <a:rPr lang="en-US" altLang="zh-CN" sz="2600" dirty="0"/>
                <a:t>P</a:t>
              </a:r>
              <a:r>
                <a:rPr lang="en-US" altLang="zh-CN" sz="2600" baseline="-25000" dirty="0"/>
                <a:t>3</a:t>
              </a:r>
              <a:endParaRPr lang="en-US" altLang="zh-CN" sz="2600" baseline="-25000" dirty="0"/>
            </a:p>
          </p:txBody>
        </p:sp>
        <p:sp>
          <p:nvSpPr>
            <p:cNvPr id="46" name="Text Box 15"/>
            <p:cNvSpPr txBox="1">
              <a:spLocks noChangeArrowheads="1"/>
            </p:cNvSpPr>
            <p:nvPr/>
          </p:nvSpPr>
          <p:spPr bwMode="auto">
            <a:xfrm>
              <a:off x="1578266" y="4699768"/>
              <a:ext cx="247067" cy="328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0</a:t>
              </a:r>
              <a:endParaRPr lang="en-US" altLang="zh-CN" sz="2600" dirty="0"/>
            </a:p>
          </p:txBody>
        </p:sp>
        <p:sp>
          <p:nvSpPr>
            <p:cNvPr id="47" name="Text Box 16"/>
            <p:cNvSpPr txBox="1">
              <a:spLocks noChangeArrowheads="1"/>
            </p:cNvSpPr>
            <p:nvPr/>
          </p:nvSpPr>
          <p:spPr bwMode="auto">
            <a:xfrm>
              <a:off x="2049686" y="4699768"/>
              <a:ext cx="371028" cy="328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20</a:t>
              </a:r>
              <a:endParaRPr lang="en-US" altLang="zh-CN" sz="2600" dirty="0"/>
            </a:p>
          </p:txBody>
        </p:sp>
        <p:sp>
          <p:nvSpPr>
            <p:cNvPr id="48" name="Text Box 17"/>
            <p:cNvSpPr txBox="1">
              <a:spLocks noChangeArrowheads="1"/>
            </p:cNvSpPr>
            <p:nvPr/>
          </p:nvSpPr>
          <p:spPr bwMode="auto">
            <a:xfrm>
              <a:off x="2583086" y="4699768"/>
              <a:ext cx="371028" cy="328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37</a:t>
              </a:r>
              <a:endParaRPr lang="en-US" altLang="zh-CN" sz="2600" dirty="0"/>
            </a:p>
          </p:txBody>
        </p:sp>
        <p:sp>
          <p:nvSpPr>
            <p:cNvPr id="49" name="Text Box 18"/>
            <p:cNvSpPr txBox="1">
              <a:spLocks noChangeArrowheads="1"/>
            </p:cNvSpPr>
            <p:nvPr/>
          </p:nvSpPr>
          <p:spPr bwMode="auto">
            <a:xfrm>
              <a:off x="3186336" y="4699768"/>
              <a:ext cx="371028" cy="328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a:t>57</a:t>
              </a:r>
              <a:endParaRPr lang="en-US" altLang="zh-CN" sz="2600"/>
            </a:p>
          </p:txBody>
        </p:sp>
        <p:sp>
          <p:nvSpPr>
            <p:cNvPr id="50" name="Text Box 19"/>
            <p:cNvSpPr txBox="1">
              <a:spLocks noChangeArrowheads="1"/>
            </p:cNvSpPr>
            <p:nvPr/>
          </p:nvSpPr>
          <p:spPr bwMode="auto">
            <a:xfrm>
              <a:off x="3802285" y="4699768"/>
              <a:ext cx="371028" cy="328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77</a:t>
              </a:r>
              <a:endParaRPr lang="en-US" altLang="zh-CN" sz="2600" dirty="0"/>
            </a:p>
          </p:txBody>
        </p:sp>
        <p:sp>
          <p:nvSpPr>
            <p:cNvPr id="51" name="Text Box 20"/>
            <p:cNvSpPr txBox="1">
              <a:spLocks noChangeArrowheads="1"/>
            </p:cNvSpPr>
            <p:nvPr/>
          </p:nvSpPr>
          <p:spPr bwMode="auto">
            <a:xfrm>
              <a:off x="4334098" y="4698180"/>
              <a:ext cx="371028" cy="328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80</a:t>
              </a:r>
              <a:endParaRPr lang="en-US" altLang="zh-CN" sz="2600" dirty="0"/>
            </a:p>
          </p:txBody>
        </p:sp>
        <p:sp>
          <p:nvSpPr>
            <p:cNvPr id="52" name="Text Box 21"/>
            <p:cNvSpPr txBox="1">
              <a:spLocks noChangeArrowheads="1"/>
            </p:cNvSpPr>
            <p:nvPr/>
          </p:nvSpPr>
          <p:spPr bwMode="auto">
            <a:xfrm>
              <a:off x="4807900" y="4698180"/>
              <a:ext cx="494989" cy="328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100</a:t>
              </a:r>
              <a:endParaRPr lang="en-US" altLang="zh-CN" sz="2600" dirty="0"/>
            </a:p>
          </p:txBody>
        </p:sp>
        <p:sp>
          <p:nvSpPr>
            <p:cNvPr id="53" name="Text Box 22"/>
            <p:cNvSpPr txBox="1">
              <a:spLocks noChangeArrowheads="1"/>
            </p:cNvSpPr>
            <p:nvPr/>
          </p:nvSpPr>
          <p:spPr bwMode="auto">
            <a:xfrm>
              <a:off x="5414325" y="4698180"/>
              <a:ext cx="494989" cy="328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104</a:t>
              </a:r>
              <a:endParaRPr lang="en-US" altLang="zh-CN" sz="2600" dirty="0"/>
            </a:p>
          </p:txBody>
        </p:sp>
        <p:sp>
          <p:nvSpPr>
            <p:cNvPr id="54" name="Text Box 24"/>
            <p:cNvSpPr txBox="1">
              <a:spLocks noChangeArrowheads="1"/>
            </p:cNvSpPr>
            <p:nvPr/>
          </p:nvSpPr>
          <p:spPr bwMode="auto">
            <a:xfrm>
              <a:off x="5958355" y="4698180"/>
              <a:ext cx="478490" cy="328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Helvetica" panose="020B0604020202020204" pitchFamily="34" charset="0"/>
                  <a:ea typeface="宋体" panose="02010600030101010101" pitchFamily="2" charset="-122"/>
                </a:defRPr>
              </a:lvl1pPr>
              <a:lvl2pPr marL="742950" indent="-285750">
                <a:defRPr>
                  <a:solidFill>
                    <a:schemeClr val="tx1"/>
                  </a:solidFill>
                  <a:latin typeface="Helvetica" panose="020B0604020202020204" pitchFamily="34" charset="0"/>
                  <a:ea typeface="宋体" panose="02010600030101010101" pitchFamily="2" charset="-122"/>
                </a:defRPr>
              </a:lvl2pPr>
              <a:lvl3pPr marL="1143000" indent="-228600">
                <a:defRPr>
                  <a:solidFill>
                    <a:schemeClr val="tx1"/>
                  </a:solidFill>
                  <a:latin typeface="Helvetica" panose="020B0604020202020204" pitchFamily="34" charset="0"/>
                  <a:ea typeface="宋体" panose="02010600030101010101" pitchFamily="2" charset="-122"/>
                </a:defRPr>
              </a:lvl3pPr>
              <a:lvl4pPr marL="1600200" indent="-228600">
                <a:defRPr>
                  <a:solidFill>
                    <a:schemeClr val="tx1"/>
                  </a:solidFill>
                  <a:latin typeface="Helvetica" panose="020B0604020202020204" pitchFamily="34" charset="0"/>
                  <a:ea typeface="宋体" panose="02010600030101010101" pitchFamily="2" charset="-122"/>
                </a:defRPr>
              </a:lvl4pPr>
              <a:lvl5pPr marL="2057400" indent="-228600">
                <a:defRPr>
                  <a:solidFill>
                    <a:schemeClr val="tx1"/>
                  </a:solidFill>
                  <a:latin typeface="Helvetica"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Helvetica" panose="020B0604020202020204" pitchFamily="34" charset="0"/>
                  <a:ea typeface="宋体" panose="02010600030101010101" pitchFamily="2" charset="-122"/>
                </a:defRPr>
              </a:lvl9pPr>
            </a:lstStyle>
            <a:p>
              <a:pPr algn="ctr">
                <a:spcBef>
                  <a:spcPct val="50000"/>
                </a:spcBef>
                <a:defRPr/>
              </a:pPr>
              <a:r>
                <a:rPr lang="en-US" altLang="zh-CN" sz="2600" dirty="0"/>
                <a:t>110</a:t>
              </a:r>
              <a:endParaRPr lang="en-US" altLang="zh-CN" sz="2600" dirty="0"/>
            </a:p>
          </p:txBody>
        </p:sp>
      </p:grpSp>
      <p:sp>
        <p:nvSpPr>
          <p:cNvPr id="55" name="内容占位符 2"/>
          <p:cNvSpPr txBox="1"/>
          <p:nvPr/>
        </p:nvSpPr>
        <p:spPr>
          <a:xfrm>
            <a:off x="571728" y="4057606"/>
            <a:ext cx="10951487" cy="19656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32000"/>
              </a:lnSpc>
              <a:buClr>
                <a:srgbClr val="FF0000"/>
              </a:buClr>
              <a:buFont typeface="Wingdings" panose="05000000000000000000" pitchFamily="2" charset="2"/>
              <a:buChar char="Ø"/>
            </a:pPr>
            <a:r>
              <a:rPr lang="zh-CN" altLang="en-US" sz="2600" dirty="0"/>
              <a:t>平均等待时间：</a:t>
            </a:r>
            <a:r>
              <a:rPr lang="en-US" altLang="zh-CN" sz="2600" dirty="0"/>
              <a:t>(57+20+64+80)/4 = 55.25</a:t>
            </a:r>
            <a:endParaRPr lang="en-US" altLang="zh-CN" sz="2600" dirty="0"/>
          </a:p>
          <a:p>
            <a:pPr indent="-467995">
              <a:lnSpc>
                <a:spcPct val="132000"/>
              </a:lnSpc>
              <a:buClr>
                <a:srgbClr val="FF0000"/>
              </a:buClr>
              <a:buFont typeface="Wingdings" panose="05000000000000000000" pitchFamily="2" charset="2"/>
              <a:buChar char="Ø"/>
            </a:pPr>
            <a:r>
              <a:rPr lang="zh-CN" altLang="en-US" sz="2600" dirty="0"/>
              <a:t>平均响应时间</a:t>
            </a:r>
            <a:r>
              <a:rPr lang="en-US" altLang="zh-CN" sz="2600" dirty="0"/>
              <a:t>: (0+20+37+57)/4= 28.5  </a:t>
            </a:r>
            <a:r>
              <a:rPr lang="zh-CN" altLang="en-US" sz="2600" dirty="0"/>
              <a:t>通常，</a:t>
            </a:r>
            <a:r>
              <a:rPr lang="en-US" altLang="zh-CN" sz="2600" dirty="0"/>
              <a:t>RR</a:t>
            </a:r>
            <a:r>
              <a:rPr lang="zh-CN" altLang="en-US" sz="2600" dirty="0"/>
              <a:t>的平均周转时间比</a:t>
            </a:r>
            <a:r>
              <a:rPr lang="en-US" altLang="zh-CN" sz="2600" dirty="0"/>
              <a:t>SJF</a:t>
            </a:r>
            <a:r>
              <a:rPr lang="zh-CN" altLang="en-US" sz="2600" dirty="0"/>
              <a:t>长，但响应时间要短一些</a:t>
            </a:r>
            <a:r>
              <a:rPr lang="en-US" altLang="zh-CN" sz="2600" dirty="0"/>
              <a:t>.</a:t>
            </a:r>
            <a:endParaRPr lang="zh-CN" altLang="en-US" sz="2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时间片大小的确定</a:t>
            </a:r>
            <a:endParaRPr lang="zh-CN" altLang="en-US" sz="2800" b="1" dirty="0">
              <a:solidFill>
                <a:schemeClr val="bg1"/>
              </a:solidFill>
            </a:endParaRPr>
          </a:p>
        </p:txBody>
      </p:sp>
      <p:sp>
        <p:nvSpPr>
          <p:cNvPr id="10" name="íšḻîḋè"/>
          <p:cNvSpPr/>
          <p:nvPr/>
        </p:nvSpPr>
        <p:spPr>
          <a:xfrm>
            <a:off x="1737963" y="3908548"/>
            <a:ext cx="3650781" cy="127971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系统对响应时间的要求</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就绪队列中进程的数目</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系统的处理能力</a:t>
            </a:r>
            <a:endParaRPr lang="zh-CN" altLang="en-US" sz="2200" dirty="0"/>
          </a:p>
        </p:txBody>
      </p:sp>
      <p:sp>
        <p:nvSpPr>
          <p:cNvPr id="11" name="i$lîďê"/>
          <p:cNvSpPr/>
          <p:nvPr/>
        </p:nvSpPr>
        <p:spPr>
          <a:xfrm>
            <a:off x="1751754" y="3326123"/>
            <a:ext cx="3352906" cy="578857"/>
          </a:xfrm>
          <a:prstGeom prst="rect">
            <a:avLst/>
          </a:prstGeom>
          <a:noFill/>
          <a:ln>
            <a:noFill/>
          </a:ln>
        </p:spPr>
        <p:txBody>
          <a:bodyPr wrap="square" lIns="91440" tIns="45720" rIns="91440" bIns="45720" anchor="ctr" anchorCtr="0">
            <a:noAutofit/>
          </a:bodyPr>
          <a:lstStyle/>
          <a:p>
            <a:r>
              <a:rPr lang="zh-CN" altLang="en-US" sz="2400" dirty="0"/>
              <a:t>时间片设置应考虑</a:t>
            </a:r>
            <a:endParaRPr lang="zh-CN" altLang="en-US" sz="2400" dirty="0"/>
          </a:p>
        </p:txBody>
      </p:sp>
      <p:sp>
        <p:nvSpPr>
          <p:cNvPr id="12" name="ïṧḷïḋè"/>
          <p:cNvSpPr/>
          <p:nvPr/>
        </p:nvSpPr>
        <p:spPr>
          <a:xfrm>
            <a:off x="4445635" y="4933315"/>
            <a:ext cx="1993265" cy="628015"/>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课后习题</a:t>
            </a:r>
            <a:r>
              <a:rPr lang="en-US" altLang="zh-CN" sz="2400" dirty="0">
                <a:solidFill>
                  <a:srgbClr val="FF0000"/>
                </a:solidFill>
              </a:rPr>
              <a:t>11</a:t>
            </a:r>
            <a:endParaRPr lang="en-US" altLang="zh-CN" sz="2400" dirty="0">
              <a:solidFill>
                <a:srgbClr val="FF0000"/>
              </a:solidFill>
            </a:endParaRPr>
          </a:p>
        </p:txBody>
      </p:sp>
      <p:sp>
        <p:nvSpPr>
          <p:cNvPr id="14" name="íšḻíḑê"/>
          <p:cNvSpPr/>
          <p:nvPr/>
        </p:nvSpPr>
        <p:spPr>
          <a:xfrm>
            <a:off x="1793602" y="1348018"/>
            <a:ext cx="7297132" cy="405747"/>
          </a:xfrm>
          <a:prstGeom prst="rect">
            <a:avLst/>
          </a:prstGeom>
          <a:noFill/>
          <a:ln>
            <a:noFill/>
          </a:ln>
        </p:spPr>
        <p:txBody>
          <a:bodyPr wrap="square" lIns="91440" tIns="45720" rIns="91440" bIns="45720" anchor="ctr" anchorCtr="0">
            <a:noAutofit/>
          </a:bodyPr>
          <a:lstStyle/>
          <a:p>
            <a:r>
              <a:rPr lang="zh-CN" altLang="en-US" sz="2400" dirty="0"/>
              <a:t>特性</a:t>
            </a:r>
            <a:endParaRPr lang="zh-CN" altLang="en-US" sz="2400" dirty="0"/>
          </a:p>
        </p:txBody>
      </p:sp>
      <p:sp>
        <p:nvSpPr>
          <p:cNvPr id="15" name="îSļiḓè"/>
          <p:cNvSpPr/>
          <p:nvPr/>
        </p:nvSpPr>
        <p:spPr>
          <a:xfrm>
            <a:off x="1110099" y="123695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7" name="îşļiḓè"/>
          <p:cNvSpPr/>
          <p:nvPr/>
        </p:nvSpPr>
        <p:spPr>
          <a:xfrm>
            <a:off x="1110098" y="330161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8" name="îṡḷíďe"/>
          <p:cNvSpPr/>
          <p:nvPr/>
        </p:nvSpPr>
        <p:spPr>
          <a:xfrm>
            <a:off x="1300354" y="1433097"/>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9" name="íSlíḋe"/>
          <p:cNvSpPr/>
          <p:nvPr/>
        </p:nvSpPr>
        <p:spPr>
          <a:xfrm>
            <a:off x="1300352" y="3523636"/>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3" name="íšḻîḋè"/>
          <p:cNvSpPr/>
          <p:nvPr/>
        </p:nvSpPr>
        <p:spPr>
          <a:xfrm>
            <a:off x="1002030" y="1804035"/>
            <a:ext cx="4285615" cy="104203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en-US" altLang="zh-CN" sz="2200" dirty="0"/>
              <a:t>q </a:t>
            </a:r>
            <a:r>
              <a:rPr lang="zh-CN" altLang="en-US" sz="2200" dirty="0"/>
              <a:t>大  </a:t>
            </a:r>
            <a:r>
              <a:rPr lang="en-US" altLang="zh-CN" sz="2200" dirty="0"/>
              <a:t>FCFS</a:t>
            </a:r>
            <a:endParaRPr lang="en-US" altLang="zh-CN" sz="2200" dirty="0"/>
          </a:p>
          <a:p>
            <a:pPr marL="342900" indent="-342900">
              <a:lnSpc>
                <a:spcPct val="120000"/>
              </a:lnSpc>
              <a:buClr>
                <a:srgbClr val="FF0000"/>
              </a:buClr>
              <a:buFont typeface="Wingdings" panose="05000000000000000000" pitchFamily="2" charset="2"/>
              <a:buChar char="Ø"/>
            </a:pPr>
            <a:r>
              <a:rPr lang="en-US" altLang="zh-CN" sz="2200" dirty="0"/>
              <a:t>q </a:t>
            </a:r>
            <a:r>
              <a:rPr lang="zh-CN" altLang="en-US" sz="2200" dirty="0"/>
              <a:t>小 增加上下文切换的时间</a:t>
            </a:r>
            <a:endParaRPr lang="zh-CN" altLang="en-US" sz="2200" dirty="0"/>
          </a:p>
        </p:txBody>
      </p:sp>
      <p:pic>
        <p:nvPicPr>
          <p:cNvPr id="22" name="Picture 5"/>
          <p:cNvPicPr>
            <a:picLocks noChangeAspect="1" noChangeArrowheads="1"/>
          </p:cNvPicPr>
          <p:nvPr/>
        </p:nvPicPr>
        <p:blipFill>
          <a:blip r:embed="rId1">
            <a:extLst>
              <a:ext uri="{28A0092B-C50C-407E-A947-70E740481C1C}">
                <a14:useLocalDpi xmlns:a14="http://schemas.microsoft.com/office/drawing/2010/main" val="0"/>
              </a:ext>
            </a:extLst>
          </a:blip>
          <a:srcRect l="36926" t="23140" r="28781" b="55464"/>
          <a:stretch>
            <a:fillRect/>
          </a:stretch>
        </p:blipFill>
        <p:spPr bwMode="auto">
          <a:xfrm>
            <a:off x="5388744" y="1433097"/>
            <a:ext cx="6403975" cy="35684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多级队列调度算法</a:t>
            </a:r>
            <a:endParaRPr lang="zh-CN" altLang="en-US" sz="2800" b="1" dirty="0">
              <a:solidFill>
                <a:schemeClr val="bg1"/>
              </a:solidFill>
            </a:endParaRPr>
          </a:p>
        </p:txBody>
      </p:sp>
      <p:sp>
        <p:nvSpPr>
          <p:cNvPr id="3" name="íṥḻîḓe"/>
          <p:cNvSpPr/>
          <p:nvPr/>
        </p:nvSpPr>
        <p:spPr>
          <a:xfrm>
            <a:off x="341748" y="309056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p>
            <a:pPr algn="ctr"/>
          </a:p>
        </p:txBody>
      </p:sp>
      <p:sp>
        <p:nvSpPr>
          <p:cNvPr id="4" name="ïśḷïḓe"/>
          <p:cNvSpPr/>
          <p:nvPr/>
        </p:nvSpPr>
        <p:spPr>
          <a:xfrm>
            <a:off x="560941" y="3280027"/>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p>
            <a:pPr algn="ctr"/>
          </a:p>
        </p:txBody>
      </p:sp>
      <p:sp>
        <p:nvSpPr>
          <p:cNvPr id="5" name="i$lîďê"/>
          <p:cNvSpPr/>
          <p:nvPr/>
        </p:nvSpPr>
        <p:spPr>
          <a:xfrm>
            <a:off x="1028622" y="3139414"/>
            <a:ext cx="4264855" cy="578857"/>
          </a:xfrm>
          <a:prstGeom prst="rect">
            <a:avLst/>
          </a:prstGeom>
          <a:noFill/>
          <a:ln>
            <a:noFill/>
          </a:ln>
        </p:spPr>
        <p:txBody>
          <a:bodyPr wrap="square" lIns="91440" tIns="45720" rIns="91440" bIns="45720" anchor="ctr" anchorCtr="0">
            <a:noAutofit/>
          </a:bodyPr>
          <a:p>
            <a:r>
              <a:rPr lang="zh-CN" altLang="en-US" sz="2400" dirty="0"/>
              <a:t>目前公认较好的调度算法</a:t>
            </a:r>
            <a:endParaRPr lang="zh-CN" altLang="en-US" sz="2400" dirty="0"/>
          </a:p>
        </p:txBody>
      </p:sp>
      <p:pic>
        <p:nvPicPr>
          <p:cNvPr id="9" name="图片 8"/>
          <p:cNvPicPr>
            <a:picLocks noChangeAspect="1"/>
          </p:cNvPicPr>
          <p:nvPr/>
        </p:nvPicPr>
        <p:blipFill>
          <a:blip r:embed="rId1"/>
          <a:stretch>
            <a:fillRect/>
          </a:stretch>
        </p:blipFill>
        <p:spPr>
          <a:xfrm>
            <a:off x="4812665" y="2372995"/>
            <a:ext cx="7223125" cy="3563620"/>
          </a:xfrm>
          <a:prstGeom prst="rect">
            <a:avLst/>
          </a:prstGeom>
        </p:spPr>
      </p:pic>
      <p:pic>
        <p:nvPicPr>
          <p:cNvPr id="7" name="图片 6"/>
          <p:cNvPicPr>
            <a:picLocks noChangeAspect="1"/>
          </p:cNvPicPr>
          <p:nvPr/>
        </p:nvPicPr>
        <p:blipFill>
          <a:blip r:embed="rId2"/>
          <a:stretch>
            <a:fillRect/>
          </a:stretch>
        </p:blipFill>
        <p:spPr>
          <a:xfrm>
            <a:off x="439420" y="1076325"/>
            <a:ext cx="6933565" cy="1066800"/>
          </a:xfrm>
          <a:prstGeom prst="rect">
            <a:avLst/>
          </a:prstGeom>
        </p:spPr>
      </p:pic>
      <p:sp>
        <p:nvSpPr>
          <p:cNvPr id="10" name="i$lîďê"/>
          <p:cNvSpPr/>
          <p:nvPr/>
        </p:nvSpPr>
        <p:spPr>
          <a:xfrm>
            <a:off x="560705" y="2143125"/>
            <a:ext cx="5014595" cy="519430"/>
          </a:xfrm>
          <a:prstGeom prst="rect">
            <a:avLst/>
          </a:prstGeom>
          <a:noFill/>
          <a:ln>
            <a:noFill/>
          </a:ln>
        </p:spPr>
        <p:txBody>
          <a:bodyPr wrap="square" lIns="91440" tIns="45720" rIns="91440" bIns="45720" anchor="ctr" anchorCtr="0">
            <a:noAutofit/>
          </a:bodyPr>
          <a:p>
            <a:pPr marL="342900" indent="-342900">
              <a:buFont typeface="Arial" panose="020B0604020202020204" pitchFamily="34" charset="0"/>
              <a:buChar char="•"/>
            </a:pPr>
            <a:r>
              <a:rPr lang="zh-CN" altLang="en-US" sz="2300" dirty="0">
                <a:solidFill>
                  <a:srgbClr val="C82C31"/>
                </a:solidFill>
              </a:rPr>
              <a:t>就绪队列之间设置不同优先级</a:t>
            </a:r>
            <a:endParaRPr lang="zh-CN" altLang="en-US" sz="2300" dirty="0">
              <a:solidFill>
                <a:srgbClr val="C82C31"/>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15975" y="931545"/>
            <a:ext cx="11226165" cy="4525645"/>
          </a:xfrm>
          <a:prstGeom prst="rect">
            <a:avLst/>
          </a:prstGeom>
        </p:spPr>
        <p:txBody>
          <a:bodyPr>
            <a:noAutofit/>
          </a:bodyPr>
          <a:p>
            <a:pPr marL="0" indent="0">
              <a:lnSpc>
                <a:spcPct val="150000"/>
              </a:lnSpc>
            </a:pPr>
            <a:r>
              <a:rPr lang="zh-CN" altLang="en-US" sz="2400" b="0" i="0">
                <a:solidFill>
                  <a:srgbClr val="181E33"/>
                </a:solidFill>
                <a:latin typeface="+mj-ea"/>
                <a:ea typeface="+mj-ea"/>
                <a:cs typeface="+mj-ea"/>
              </a:rPr>
              <a:t>系统采用二级队列调度算法进行进程调度。</a:t>
            </a:r>
            <a:endParaRPr lang="zh-CN" altLang="en-US" sz="2400" b="0" i="0">
              <a:solidFill>
                <a:srgbClr val="181E33"/>
              </a:solidFill>
              <a:latin typeface="+mj-ea"/>
              <a:ea typeface="+mj-ea"/>
              <a:cs typeface="+mj-ea"/>
            </a:endParaRPr>
          </a:p>
          <a:p>
            <a:pPr marL="0" indent="0">
              <a:lnSpc>
                <a:spcPct val="150000"/>
              </a:lnSpc>
            </a:pPr>
            <a:r>
              <a:rPr lang="zh-CN" altLang="en-US" sz="2400" b="0" i="0">
                <a:solidFill>
                  <a:srgbClr val="181E33"/>
                </a:solidFill>
                <a:latin typeface="+mj-ea"/>
                <a:ea typeface="+mj-ea"/>
                <a:cs typeface="+mj-ea"/>
              </a:rPr>
              <a:t>就绪队列 </a:t>
            </a:r>
            <a:r>
              <a:rPr lang="en-US" altLang="zh-CN" sz="2400" b="0" i="0">
                <a:solidFill>
                  <a:srgbClr val="181E33"/>
                </a:solidFill>
                <a:latin typeface="+mj-ea"/>
                <a:ea typeface="+mj-ea"/>
                <a:cs typeface="+mj-ea"/>
              </a:rPr>
              <a:t>Q1 </a:t>
            </a:r>
            <a:r>
              <a:rPr lang="zh-CN" altLang="en-US" sz="2400" b="0" i="0">
                <a:solidFill>
                  <a:srgbClr val="181E33"/>
                </a:solidFill>
                <a:latin typeface="+mj-ea"/>
                <a:ea typeface="+mj-ea"/>
                <a:cs typeface="+mj-ea"/>
              </a:rPr>
              <a:t>采用时间片轮转调度算法，时间片为</a:t>
            </a:r>
            <a:r>
              <a:rPr lang="en-US" altLang="zh-CN" sz="2400" b="0" i="0">
                <a:solidFill>
                  <a:srgbClr val="181E33"/>
                </a:solidFill>
                <a:latin typeface="+mj-ea"/>
                <a:ea typeface="+mj-ea"/>
                <a:cs typeface="+mj-ea"/>
              </a:rPr>
              <a:t>10ms</a:t>
            </a:r>
            <a:r>
              <a:rPr lang="zh-CN" altLang="en-US" sz="2400" b="0" i="0">
                <a:solidFill>
                  <a:srgbClr val="181E33"/>
                </a:solidFill>
                <a:latin typeface="+mj-ea"/>
                <a:ea typeface="+mj-ea"/>
                <a:cs typeface="+mj-ea"/>
              </a:rPr>
              <a:t>；</a:t>
            </a:r>
            <a:endParaRPr lang="zh-CN" altLang="en-US" sz="2400" b="0" i="0">
              <a:solidFill>
                <a:srgbClr val="181E33"/>
              </a:solidFill>
              <a:latin typeface="+mj-ea"/>
              <a:ea typeface="+mj-ea"/>
              <a:cs typeface="+mj-ea"/>
            </a:endParaRPr>
          </a:p>
          <a:p>
            <a:pPr marL="0" indent="0">
              <a:lnSpc>
                <a:spcPct val="150000"/>
              </a:lnSpc>
            </a:pPr>
            <a:r>
              <a:rPr lang="zh-CN" altLang="en-US" sz="2400" b="0" i="0">
                <a:solidFill>
                  <a:srgbClr val="181E33"/>
                </a:solidFill>
                <a:latin typeface="+mj-ea"/>
                <a:ea typeface="+mj-ea"/>
                <a:cs typeface="+mj-ea"/>
              </a:rPr>
              <a:t>就绪队列</a:t>
            </a:r>
            <a:r>
              <a:rPr lang="en-US" altLang="zh-CN" sz="2400" b="0" i="0">
                <a:solidFill>
                  <a:srgbClr val="181E33"/>
                </a:solidFill>
                <a:latin typeface="+mj-ea"/>
                <a:ea typeface="+mj-ea"/>
                <a:cs typeface="+mj-ea"/>
              </a:rPr>
              <a:t>Q2</a:t>
            </a:r>
            <a:r>
              <a:rPr lang="zh-CN" altLang="en-US" sz="2400" b="0" i="0">
                <a:solidFill>
                  <a:srgbClr val="181E33"/>
                </a:solidFill>
                <a:latin typeface="+mj-ea"/>
                <a:ea typeface="+mj-ea"/>
                <a:cs typeface="+mj-ea"/>
              </a:rPr>
              <a:t>采用短进程优先调度算法；</a:t>
            </a:r>
            <a:endParaRPr lang="zh-CN" altLang="en-US" sz="2400" b="0" i="0">
              <a:solidFill>
                <a:srgbClr val="181E33"/>
              </a:solidFill>
              <a:latin typeface="+mj-ea"/>
              <a:ea typeface="+mj-ea"/>
              <a:cs typeface="+mj-ea"/>
            </a:endParaRPr>
          </a:p>
          <a:p>
            <a:pPr marL="0" indent="0">
              <a:lnSpc>
                <a:spcPct val="150000"/>
              </a:lnSpc>
            </a:pPr>
            <a:r>
              <a:rPr lang="zh-CN" altLang="en-US" sz="2400" b="0" i="0">
                <a:solidFill>
                  <a:srgbClr val="181E33"/>
                </a:solidFill>
                <a:latin typeface="+mj-ea"/>
                <a:ea typeface="+mj-ea"/>
                <a:cs typeface="+mj-ea"/>
              </a:rPr>
              <a:t>系统优先调度 </a:t>
            </a:r>
            <a:r>
              <a:rPr lang="en-US" altLang="zh-CN" sz="2400" b="0" i="0">
                <a:solidFill>
                  <a:srgbClr val="181E33"/>
                </a:solidFill>
                <a:latin typeface="+mj-ea"/>
                <a:ea typeface="+mj-ea"/>
                <a:cs typeface="+mj-ea"/>
              </a:rPr>
              <a:t>Q1 </a:t>
            </a:r>
            <a:r>
              <a:rPr lang="zh-CN" altLang="en-US" sz="2400" b="0" i="0">
                <a:solidFill>
                  <a:srgbClr val="181E33"/>
                </a:solidFill>
                <a:latin typeface="+mj-ea"/>
                <a:ea typeface="+mj-ea"/>
                <a:cs typeface="+mj-ea"/>
              </a:rPr>
              <a:t>队列中的进程，当 </a:t>
            </a:r>
            <a:r>
              <a:rPr lang="en-US" altLang="zh-CN" sz="2400" b="0" i="0">
                <a:solidFill>
                  <a:srgbClr val="181E33"/>
                </a:solidFill>
                <a:latin typeface="+mj-ea"/>
                <a:ea typeface="+mj-ea"/>
                <a:cs typeface="+mj-ea"/>
              </a:rPr>
              <a:t>Q1</a:t>
            </a:r>
            <a:r>
              <a:rPr lang="zh-CN" altLang="en-US" sz="2400" b="0" i="0">
                <a:solidFill>
                  <a:srgbClr val="181E33"/>
                </a:solidFill>
                <a:latin typeface="+mj-ea"/>
                <a:ea typeface="+mj-ea"/>
                <a:cs typeface="+mj-ea"/>
              </a:rPr>
              <a:t>为空时系统才会调度</a:t>
            </a:r>
            <a:r>
              <a:rPr lang="en-US" altLang="zh-CN" sz="2400" b="0" i="0">
                <a:solidFill>
                  <a:srgbClr val="181E33"/>
                </a:solidFill>
                <a:latin typeface="+mj-ea"/>
                <a:ea typeface="+mj-ea"/>
                <a:cs typeface="+mj-ea"/>
              </a:rPr>
              <a:t>Q2</a:t>
            </a:r>
            <a:r>
              <a:rPr lang="zh-CN" altLang="en-US" sz="2400" b="0" i="0">
                <a:solidFill>
                  <a:srgbClr val="181E33"/>
                </a:solidFill>
                <a:latin typeface="+mj-ea"/>
                <a:ea typeface="+mj-ea"/>
                <a:cs typeface="+mj-ea"/>
              </a:rPr>
              <a:t>中的进程；</a:t>
            </a:r>
            <a:endParaRPr lang="zh-CN" altLang="en-US" sz="2400" b="0" i="0">
              <a:solidFill>
                <a:srgbClr val="181E33"/>
              </a:solidFill>
              <a:latin typeface="+mj-ea"/>
              <a:ea typeface="+mj-ea"/>
              <a:cs typeface="+mj-ea"/>
            </a:endParaRPr>
          </a:p>
          <a:p>
            <a:pPr marL="0" indent="0">
              <a:lnSpc>
                <a:spcPct val="150000"/>
              </a:lnSpc>
            </a:pPr>
            <a:r>
              <a:rPr lang="zh-CN" altLang="en-US" sz="2400" b="0" i="0">
                <a:solidFill>
                  <a:srgbClr val="181E33"/>
                </a:solidFill>
                <a:latin typeface="+mj-ea"/>
                <a:ea typeface="+mj-ea"/>
                <a:cs typeface="+mj-ea"/>
              </a:rPr>
              <a:t>新创建的进程首先进入</a:t>
            </a:r>
            <a:r>
              <a:rPr lang="en-US" altLang="zh-CN" sz="2400" b="0" i="0">
                <a:solidFill>
                  <a:srgbClr val="181E33"/>
                </a:solidFill>
                <a:latin typeface="+mj-ea"/>
                <a:ea typeface="+mj-ea"/>
                <a:cs typeface="+mj-ea"/>
              </a:rPr>
              <a:t>Q1</a:t>
            </a:r>
            <a:r>
              <a:rPr lang="zh-CN" altLang="en-US" sz="2400" b="0" i="0">
                <a:solidFill>
                  <a:srgbClr val="181E33"/>
                </a:solidFill>
                <a:latin typeface="+mj-ea"/>
                <a:ea typeface="+mj-ea"/>
                <a:cs typeface="+mj-ea"/>
              </a:rPr>
              <a:t>；</a:t>
            </a:r>
            <a:r>
              <a:rPr lang="en-US" altLang="zh-CN" sz="2400" b="0" i="0">
                <a:solidFill>
                  <a:srgbClr val="181E33"/>
                </a:solidFill>
                <a:latin typeface="+mj-ea"/>
                <a:ea typeface="+mj-ea"/>
                <a:cs typeface="+mj-ea"/>
              </a:rPr>
              <a:t>Q1</a:t>
            </a:r>
            <a:r>
              <a:rPr lang="zh-CN" altLang="en-US" sz="2400" b="0" i="0">
                <a:solidFill>
                  <a:srgbClr val="181E33"/>
                </a:solidFill>
                <a:latin typeface="+mj-ea"/>
                <a:ea typeface="+mj-ea"/>
                <a:cs typeface="+mj-ea"/>
              </a:rPr>
              <a:t>中的进程执行一个时间片后，若未结束，则转入</a:t>
            </a:r>
            <a:r>
              <a:rPr lang="en-US" altLang="zh-CN" sz="2400" b="0" i="0">
                <a:solidFill>
                  <a:srgbClr val="181E33"/>
                </a:solidFill>
                <a:latin typeface="+mj-ea"/>
                <a:ea typeface="+mj-ea"/>
                <a:cs typeface="+mj-ea"/>
              </a:rPr>
              <a:t>Q2</a:t>
            </a:r>
            <a:r>
              <a:rPr lang="zh-CN" altLang="en-US" sz="2400" b="0" i="0">
                <a:solidFill>
                  <a:srgbClr val="181E33"/>
                </a:solidFill>
                <a:latin typeface="+mj-ea"/>
                <a:ea typeface="+mj-ea"/>
                <a:cs typeface="+mj-ea"/>
              </a:rPr>
              <a:t>。</a:t>
            </a:r>
            <a:endParaRPr lang="zh-CN" altLang="en-US" sz="2400" b="0" i="0">
              <a:solidFill>
                <a:srgbClr val="181E33"/>
              </a:solidFill>
              <a:latin typeface="+mj-ea"/>
              <a:ea typeface="+mj-ea"/>
              <a:cs typeface="+mj-ea"/>
            </a:endParaRPr>
          </a:p>
          <a:p>
            <a:pPr marL="0" indent="0">
              <a:lnSpc>
                <a:spcPct val="150000"/>
              </a:lnSpc>
            </a:pPr>
            <a:r>
              <a:rPr lang="zh-CN" altLang="en-US" sz="2400" b="0" i="0">
                <a:solidFill>
                  <a:srgbClr val="181E33"/>
                </a:solidFill>
                <a:latin typeface="+mj-ea"/>
                <a:ea typeface="+mj-ea"/>
                <a:cs typeface="+mj-ea"/>
              </a:rPr>
              <a:t>若当前</a:t>
            </a:r>
            <a:r>
              <a:rPr lang="en-US" altLang="zh-CN" sz="2400" b="0" i="0">
                <a:solidFill>
                  <a:srgbClr val="181E33"/>
                </a:solidFill>
                <a:latin typeface="+mj-ea"/>
                <a:ea typeface="+mj-ea"/>
                <a:cs typeface="+mj-ea"/>
              </a:rPr>
              <a:t>Q1</a:t>
            </a:r>
            <a:r>
              <a:rPr lang="zh-CN" altLang="en-US" sz="2400" b="0" i="0">
                <a:solidFill>
                  <a:srgbClr val="181E33"/>
                </a:solidFill>
                <a:latin typeface="+mj-ea"/>
                <a:ea typeface="+mj-ea"/>
                <a:cs typeface="+mj-ea"/>
              </a:rPr>
              <a:t>、</a:t>
            </a:r>
            <a:r>
              <a:rPr lang="en-US" altLang="zh-CN" sz="2400" b="0" i="0">
                <a:solidFill>
                  <a:srgbClr val="181E33"/>
                </a:solidFill>
                <a:latin typeface="+mj-ea"/>
                <a:ea typeface="+mj-ea"/>
                <a:cs typeface="+mj-ea"/>
              </a:rPr>
              <a:t>Q2</a:t>
            </a:r>
            <a:r>
              <a:rPr lang="zh-CN" altLang="en-US" sz="2400" b="0" i="0">
                <a:solidFill>
                  <a:srgbClr val="181E33"/>
                </a:solidFill>
                <a:latin typeface="+mj-ea"/>
                <a:ea typeface="+mj-ea"/>
                <a:cs typeface="+mj-ea"/>
              </a:rPr>
              <a:t>为空，系统依次创建进程</a:t>
            </a:r>
            <a:r>
              <a:rPr lang="en-US" altLang="zh-CN" sz="2400" b="0" i="0">
                <a:solidFill>
                  <a:srgbClr val="181E33"/>
                </a:solidFill>
                <a:latin typeface="+mj-ea"/>
                <a:ea typeface="+mj-ea"/>
                <a:cs typeface="+mj-ea"/>
              </a:rPr>
              <a:t>P1</a:t>
            </a:r>
            <a:r>
              <a:rPr lang="zh-CN" altLang="en-US" sz="2400" b="0" i="0">
                <a:solidFill>
                  <a:srgbClr val="181E33"/>
                </a:solidFill>
                <a:latin typeface="+mj-ea"/>
                <a:ea typeface="+mj-ea"/>
                <a:cs typeface="+mj-ea"/>
              </a:rPr>
              <a:t>、</a:t>
            </a:r>
            <a:r>
              <a:rPr lang="en-US" altLang="zh-CN" sz="2400" b="0" i="0">
                <a:solidFill>
                  <a:srgbClr val="181E33"/>
                </a:solidFill>
                <a:latin typeface="+mj-ea"/>
                <a:ea typeface="+mj-ea"/>
                <a:cs typeface="+mj-ea"/>
              </a:rPr>
              <a:t>P2</a:t>
            </a:r>
            <a:r>
              <a:rPr lang="zh-CN" altLang="en-US" sz="2400" b="0" i="0">
                <a:solidFill>
                  <a:srgbClr val="181E33"/>
                </a:solidFill>
                <a:latin typeface="+mj-ea"/>
                <a:ea typeface="+mj-ea"/>
                <a:cs typeface="+mj-ea"/>
              </a:rPr>
              <a:t>后即开始进程调度。</a:t>
            </a:r>
            <a:endParaRPr lang="zh-CN" altLang="en-US" sz="2400" b="0" i="0">
              <a:solidFill>
                <a:srgbClr val="181E33"/>
              </a:solidFill>
              <a:latin typeface="+mj-ea"/>
              <a:ea typeface="+mj-ea"/>
              <a:cs typeface="+mj-ea"/>
            </a:endParaRPr>
          </a:p>
          <a:p>
            <a:pPr marL="0" indent="0">
              <a:lnSpc>
                <a:spcPct val="150000"/>
              </a:lnSpc>
            </a:pPr>
            <a:r>
              <a:rPr lang="en-US" altLang="zh-CN" sz="2400" b="0" i="0">
                <a:solidFill>
                  <a:srgbClr val="181E33"/>
                </a:solidFill>
                <a:latin typeface="+mj-ea"/>
                <a:ea typeface="+mj-ea"/>
                <a:cs typeface="+mj-ea"/>
              </a:rPr>
              <a:t>P1</a:t>
            </a:r>
            <a:r>
              <a:rPr lang="zh-CN" altLang="en-US" sz="2400" b="0" i="0">
                <a:solidFill>
                  <a:srgbClr val="181E33"/>
                </a:solidFill>
                <a:latin typeface="+mj-ea"/>
                <a:ea typeface="+mj-ea"/>
                <a:cs typeface="+mj-ea"/>
              </a:rPr>
              <a:t>、</a:t>
            </a:r>
            <a:r>
              <a:rPr lang="en-US" altLang="zh-CN" sz="2400" b="0" i="0">
                <a:solidFill>
                  <a:srgbClr val="181E33"/>
                </a:solidFill>
                <a:latin typeface="+mj-ea"/>
                <a:ea typeface="+mj-ea"/>
                <a:cs typeface="+mj-ea"/>
              </a:rPr>
              <a:t>P2</a:t>
            </a:r>
            <a:r>
              <a:rPr lang="zh-CN" altLang="en-US" sz="2400" b="0" i="0">
                <a:solidFill>
                  <a:srgbClr val="181E33"/>
                </a:solidFill>
                <a:latin typeface="+mj-ea"/>
                <a:ea typeface="+mj-ea"/>
                <a:cs typeface="+mj-ea"/>
              </a:rPr>
              <a:t>需要的 </a:t>
            </a:r>
            <a:r>
              <a:rPr lang="en-US" altLang="zh-CN" sz="2400" b="0" i="0">
                <a:solidFill>
                  <a:srgbClr val="181E33"/>
                </a:solidFill>
                <a:latin typeface="+mj-ea"/>
                <a:ea typeface="+mj-ea"/>
                <a:cs typeface="+mj-ea"/>
              </a:rPr>
              <a:t>CPU </a:t>
            </a:r>
            <a:r>
              <a:rPr lang="zh-CN" altLang="en-US" sz="2400" b="0" i="0">
                <a:solidFill>
                  <a:srgbClr val="181E33"/>
                </a:solidFill>
                <a:latin typeface="+mj-ea"/>
                <a:ea typeface="+mj-ea"/>
                <a:cs typeface="+mj-ea"/>
              </a:rPr>
              <a:t>时间分别为</a:t>
            </a:r>
            <a:r>
              <a:rPr lang="en-US" altLang="zh-CN" sz="2400" b="0" i="0">
                <a:solidFill>
                  <a:srgbClr val="181E33"/>
                </a:solidFill>
                <a:latin typeface="+mj-ea"/>
                <a:ea typeface="+mj-ea"/>
                <a:cs typeface="+mj-ea"/>
              </a:rPr>
              <a:t>30ms</a:t>
            </a:r>
            <a:r>
              <a:rPr lang="zh-CN" altLang="en-US" sz="2400" b="0" i="0">
                <a:solidFill>
                  <a:srgbClr val="181E33"/>
                </a:solidFill>
                <a:latin typeface="+mj-ea"/>
                <a:ea typeface="+mj-ea"/>
                <a:cs typeface="+mj-ea"/>
              </a:rPr>
              <a:t>和</a:t>
            </a:r>
            <a:r>
              <a:rPr lang="en-US" altLang="zh-CN" sz="2400" b="0" i="0">
                <a:solidFill>
                  <a:srgbClr val="181E33"/>
                </a:solidFill>
                <a:latin typeface="+mj-ea"/>
                <a:ea typeface="+mj-ea"/>
                <a:cs typeface="+mj-ea"/>
              </a:rPr>
              <a:t>20ms</a:t>
            </a:r>
            <a:r>
              <a:rPr lang="zh-CN" altLang="en-US" sz="2400" b="0" i="0">
                <a:solidFill>
                  <a:srgbClr val="181E33"/>
                </a:solidFill>
                <a:latin typeface="+mj-ea"/>
                <a:ea typeface="+mj-ea"/>
                <a:cs typeface="+mj-ea"/>
              </a:rPr>
              <a:t>，</a:t>
            </a:r>
            <a:endParaRPr lang="zh-CN" altLang="en-US" sz="2400" b="0" i="0">
              <a:solidFill>
                <a:srgbClr val="181E33"/>
              </a:solidFill>
              <a:latin typeface="+mj-ea"/>
              <a:ea typeface="+mj-ea"/>
              <a:cs typeface="+mj-ea"/>
            </a:endParaRPr>
          </a:p>
          <a:p>
            <a:pPr marL="0" indent="0">
              <a:lnSpc>
                <a:spcPct val="150000"/>
              </a:lnSpc>
            </a:pPr>
            <a:r>
              <a:rPr lang="zh-CN" altLang="en-US" sz="2400" b="0" i="0">
                <a:solidFill>
                  <a:srgbClr val="181E33"/>
                </a:solidFill>
                <a:latin typeface="+mj-ea"/>
                <a:ea typeface="+mj-ea"/>
                <a:cs typeface="+mj-ea"/>
              </a:rPr>
              <a:t>则进程</a:t>
            </a:r>
            <a:r>
              <a:rPr lang="en-US" altLang="zh-CN" sz="2400" b="0" i="0">
                <a:solidFill>
                  <a:srgbClr val="181E33"/>
                </a:solidFill>
                <a:latin typeface="+mj-ea"/>
                <a:ea typeface="+mj-ea"/>
                <a:cs typeface="+mj-ea"/>
              </a:rPr>
              <a:t>P1</a:t>
            </a:r>
            <a:r>
              <a:rPr lang="zh-CN" altLang="en-US" sz="2400" b="0" i="0">
                <a:solidFill>
                  <a:srgbClr val="181E33"/>
                </a:solidFill>
                <a:latin typeface="+mj-ea"/>
                <a:ea typeface="+mj-ea"/>
                <a:cs typeface="+mj-ea"/>
              </a:rPr>
              <a:t>、</a:t>
            </a:r>
            <a:r>
              <a:rPr lang="en-US" altLang="zh-CN" sz="2400" b="0" i="0">
                <a:solidFill>
                  <a:srgbClr val="181E33"/>
                </a:solidFill>
                <a:latin typeface="+mj-ea"/>
                <a:ea typeface="+mj-ea"/>
                <a:cs typeface="+mj-ea"/>
              </a:rPr>
              <a:t>P2</a:t>
            </a:r>
            <a:r>
              <a:rPr lang="zh-CN" altLang="en-US" sz="2400" b="0" i="0">
                <a:solidFill>
                  <a:srgbClr val="181E33"/>
                </a:solidFill>
                <a:latin typeface="+mj-ea"/>
                <a:ea typeface="+mj-ea"/>
                <a:cs typeface="+mj-ea"/>
              </a:rPr>
              <a:t>在系统中的平均等待时间为（</a:t>
            </a:r>
            <a:r>
              <a:rPr lang="en-US" altLang="zh-CN" sz="2400" b="0" i="0">
                <a:solidFill>
                  <a:srgbClr val="181E33"/>
                </a:solidFill>
                <a:latin typeface="+mj-ea"/>
                <a:ea typeface="+mj-ea"/>
                <a:cs typeface="+mj-ea"/>
              </a:rPr>
              <a:t>   15   )ms</a:t>
            </a:r>
            <a:r>
              <a:rPr lang="zh-CN" altLang="en-US" sz="2400" b="0" i="0">
                <a:solidFill>
                  <a:srgbClr val="181E33"/>
                </a:solidFill>
                <a:latin typeface="+mj-ea"/>
                <a:ea typeface="+mj-ea"/>
                <a:cs typeface="+mj-ea"/>
              </a:rPr>
              <a:t>。</a:t>
            </a:r>
            <a:endParaRPr lang="zh-CN" altLang="en-US" sz="2400" b="0" i="0">
              <a:solidFill>
                <a:srgbClr val="181E33"/>
              </a:solidFill>
              <a:latin typeface="+mj-ea"/>
              <a:ea typeface="+mj-ea"/>
              <a:cs typeface="+mj-ea"/>
            </a:endParaRPr>
          </a:p>
        </p:txBody>
      </p:sp>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练习题</a:t>
            </a:r>
            <a:endParaRPr lang="zh-CN" altLang="en-US" sz="2800" b="1" dirty="0">
              <a:solidFill>
                <a:schemeClr val="bg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多级反馈队列</a:t>
            </a:r>
            <a:endParaRPr lang="zh-CN" altLang="en-US" sz="2800" b="1" dirty="0">
              <a:solidFill>
                <a:schemeClr val="bg1"/>
              </a:solidFill>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42565" y="1331595"/>
            <a:ext cx="7253605" cy="4586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图片 2"/>
          <p:cNvPicPr>
            <a:picLocks noChangeAspect="1"/>
          </p:cNvPicPr>
          <p:nvPr/>
        </p:nvPicPr>
        <p:blipFill>
          <a:blip r:embed="rId2"/>
          <a:stretch>
            <a:fillRect/>
          </a:stretch>
        </p:blipFill>
        <p:spPr>
          <a:xfrm>
            <a:off x="1355725" y="1584960"/>
            <a:ext cx="1249680" cy="408305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46100" y="849630"/>
            <a:ext cx="11099165" cy="4942205"/>
          </a:xfrm>
          <a:prstGeom prst="rect">
            <a:avLst/>
          </a:prstGeom>
          <a:noFill/>
        </p:spPr>
        <p:txBody>
          <a:bodyPr wrap="square" rtlCol="0" anchor="t">
            <a:noAutofit/>
          </a:bodyPr>
          <a:p>
            <a:pPr>
              <a:lnSpc>
                <a:spcPct val="150000"/>
              </a:lnSpc>
            </a:pPr>
            <a:r>
              <a:rPr lang="zh-CN" altLang="en-US" sz="2000">
                <a:sym typeface="+mn-ea"/>
              </a:rPr>
              <a:t>(1）设置多个就绪队列并为各个队列赋予不同的优先级，第一个最高，依次降低。各个队列中进程执行时间片的大小设置为：优先权越高，时间片越短。如第一个队列时间片为1ms，第二个队列的时间片为2ms,……</a:t>
            </a:r>
            <a:endParaRPr lang="zh-CN" altLang="en-US" sz="2000"/>
          </a:p>
          <a:p>
            <a:pPr>
              <a:lnSpc>
                <a:spcPct val="150000"/>
              </a:lnSpc>
            </a:pPr>
            <a:r>
              <a:rPr lang="zh-CN" altLang="en-US" sz="2000">
                <a:sym typeface="+mn-ea"/>
              </a:rPr>
              <a:t>(2）当一个新进程进入内存后，首先将它放入第一个队列的末尾，按 FCFS 原则排队等待调度。当轮到该进程执行时◇如它能在该时间片内完成，便可撤离系统；如果它在一个时间片结束时尚未完成，调度程序便将该进程转入第二队列的末尾，在同样地按 FCFS 原则等待调度执行◇如果它在第二队列中运行一个时间片后仍未完成，再依次将它放入第三队列，……如此下去，直到最后一级队列，不再降级</a:t>
            </a:r>
            <a:endParaRPr lang="zh-CN" altLang="en-US" sz="2000"/>
          </a:p>
          <a:p>
            <a:pPr>
              <a:lnSpc>
                <a:spcPct val="150000"/>
              </a:lnSpc>
            </a:pPr>
            <a:r>
              <a:rPr lang="zh-CN" altLang="en-US" sz="2000">
                <a:sym typeface="+mn-ea"/>
              </a:rPr>
              <a:t>（</a:t>
            </a:r>
            <a:r>
              <a:rPr lang="en-US" altLang="zh-CN" sz="2000">
                <a:sym typeface="+mn-ea"/>
              </a:rPr>
              <a:t>3</a:t>
            </a:r>
            <a:r>
              <a:rPr lang="zh-CN" altLang="en-US" sz="2000">
                <a:sym typeface="+mn-ea"/>
              </a:rPr>
              <a:t>）按照队列的优先级进行调度。等级高的就绪队列中的进程会被优先调度，对于第 i 级队列，只有当1到 i -1队列中不存在就绪进程，才可以调度该队列中进程。</a:t>
            </a:r>
            <a:endParaRPr lang="zh-CN" altLang="en-US" sz="2000">
              <a:sym typeface="+mn-ea"/>
            </a:endParaRPr>
          </a:p>
          <a:p>
            <a:pPr>
              <a:lnSpc>
                <a:spcPct val="150000"/>
              </a:lnSpc>
            </a:pPr>
            <a:r>
              <a:rPr lang="zh-CN" altLang="en-US" sz="2000">
                <a:sym typeface="+mn-ea"/>
              </a:rPr>
              <a:t>（</a:t>
            </a:r>
            <a:r>
              <a:rPr lang="en-US" altLang="zh-CN" sz="2000">
                <a:sym typeface="+mn-ea"/>
              </a:rPr>
              <a:t>4</a:t>
            </a:r>
            <a:r>
              <a:rPr lang="zh-CN" altLang="en-US" sz="2000">
                <a:sym typeface="+mn-ea"/>
              </a:rPr>
              <a:t>）如果当前使用处理器资源的进程来自第 i 级队列，而此时第一级队列中进入了新的就绪进程，那么会立刻进行抢占式进程调度，并将此时正在运行的程序放回 i 级队列队尾。</a:t>
            </a:r>
            <a:endParaRPr lang="zh-CN" altLang="en-US" sz="2000">
              <a:sym typeface="+mn-ea"/>
            </a:endParaRPr>
          </a:p>
        </p:txBody>
      </p:sp>
      <p:sp>
        <p:nvSpPr>
          <p:cNvPr id="20" name="矩形 19"/>
          <p:cNvSpPr/>
          <p:nvPr/>
        </p:nvSpPr>
        <p:spPr>
          <a:xfrm>
            <a:off x="669925" y="78668"/>
            <a:ext cx="7026275" cy="521970"/>
          </a:xfrm>
          <a:prstGeom prst="rect">
            <a:avLst/>
          </a:prstGeom>
        </p:spPr>
        <p:txBody>
          <a:bodyPr wrap="square">
            <a:spAutoFit/>
          </a:bodyPr>
          <a:p>
            <a:r>
              <a:rPr lang="zh-CN" altLang="en-US" sz="2800" b="1" dirty="0">
                <a:solidFill>
                  <a:schemeClr val="bg1"/>
                </a:solidFill>
              </a:rPr>
              <a:t>多级反馈队列调度</a:t>
            </a:r>
            <a:r>
              <a:rPr lang="zh-CN" altLang="en-US" sz="2800" b="1" dirty="0">
                <a:solidFill>
                  <a:schemeClr val="bg1"/>
                </a:solidFill>
              </a:rPr>
              <a:t>过程</a:t>
            </a:r>
            <a:endParaRPr lang="zh-CN" altLang="en-US" sz="2800" b="1" dirty="0">
              <a:solidFill>
                <a:schemeClr val="bg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223010" y="1642110"/>
            <a:ext cx="9745980" cy="3573780"/>
          </a:xfrm>
          <a:prstGeom prst="rect">
            <a:avLst/>
          </a:prstGeom>
        </p:spPr>
      </p:pic>
      <p:sp>
        <p:nvSpPr>
          <p:cNvPr id="3" name="文本框 2"/>
          <p:cNvSpPr txBox="1"/>
          <p:nvPr/>
        </p:nvSpPr>
        <p:spPr>
          <a:xfrm>
            <a:off x="3349625" y="5338445"/>
            <a:ext cx="5669915" cy="460375"/>
          </a:xfrm>
          <a:prstGeom prst="rect">
            <a:avLst/>
          </a:prstGeom>
          <a:noFill/>
        </p:spPr>
        <p:txBody>
          <a:bodyPr wrap="square" rtlCol="0" anchor="t">
            <a:spAutoFit/>
          </a:bodyPr>
          <a:p>
            <a:r>
              <a:rPr lang="zh-CN" altLang="en-US" sz="2400" dirty="0">
                <a:latin typeface="+mj-ea"/>
                <a:ea typeface="+mj-ea"/>
                <a:sym typeface="+mn-ea"/>
              </a:rPr>
              <a:t>讨论区：处理机调度算法总结</a:t>
            </a:r>
            <a:endParaRPr lang="zh-CN" altLang="en-US" sz="2400" dirty="0">
              <a:latin typeface="+mj-ea"/>
              <a:ea typeface="+mj-ea"/>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383405" y="2187575"/>
            <a:ext cx="2225675" cy="583565"/>
          </a:xfrm>
          <a:prstGeom prst="rect">
            <a:avLst/>
          </a:prstGeom>
          <a:noFill/>
        </p:spPr>
        <p:txBody>
          <a:bodyPr wrap="square" rtlCol="0" anchor="t">
            <a:spAutoFit/>
          </a:bodyPr>
          <a:p>
            <a:r>
              <a:rPr lang="zh-CN" altLang="en-US" sz="3200" dirty="0">
                <a:solidFill>
                  <a:srgbClr val="FF0000"/>
                </a:solidFill>
                <a:latin typeface="+mj-ea"/>
                <a:ea typeface="+mj-ea"/>
                <a:sym typeface="+mn-ea"/>
              </a:rPr>
              <a:t>随堂作业</a:t>
            </a:r>
            <a:endParaRPr lang="zh-CN" altLang="en-US" sz="3200" dirty="0">
              <a:solidFill>
                <a:srgbClr val="FF0000"/>
              </a:solidFill>
              <a:latin typeface="+mj-ea"/>
              <a:ea typeface="+mj-ea"/>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dirty="0">
                <a:latin typeface="+mj-ea"/>
                <a:ea typeface="+mj-ea"/>
              </a:rPr>
              <a:t>3.1 </a:t>
            </a:r>
            <a:r>
              <a:rPr lang="zh-CN" altLang="en-US" sz="2400" dirty="0">
                <a:latin typeface="+mj-ea"/>
                <a:ea typeface="+mj-ea"/>
              </a:rPr>
              <a:t>处理机调度概述</a:t>
            </a:r>
            <a:endParaRPr lang="zh-CN" altLang="en-US" sz="2400" dirty="0">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dirty="0">
                <a:latin typeface="+mj-ea"/>
              </a:rPr>
              <a:t>3.2 </a:t>
            </a:r>
            <a:r>
              <a:rPr lang="zh-CN" altLang="en-US" sz="2400" dirty="0">
                <a:latin typeface="+mj-ea"/>
              </a:rPr>
              <a:t>调度算法</a:t>
            </a:r>
            <a:endParaRPr lang="en-US" altLang="zh-CN" sz="2400" dirty="0">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solidFill>
                  <a:schemeClr val="bg1">
                    <a:lumMod val="75000"/>
                  </a:schemeClr>
                </a:solidFill>
                <a:latin typeface="+mj-ea"/>
              </a:rPr>
              <a:t>3.3 </a:t>
            </a:r>
            <a:r>
              <a:rPr lang="zh-CN" altLang="en-US" sz="2400" dirty="0">
                <a:solidFill>
                  <a:schemeClr val="bg1">
                    <a:lumMod val="75000"/>
                  </a:schemeClr>
                </a:solidFill>
                <a:latin typeface="+mj-ea"/>
              </a:rPr>
              <a:t>实时调度</a:t>
            </a:r>
            <a:endParaRPr lang="zh-CN" altLang="en-US" sz="2400" dirty="0">
              <a:solidFill>
                <a:schemeClr val="bg1">
                  <a:lumMod val="75000"/>
                </a:schemeClr>
              </a:solidFill>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dirty="0">
                <a:solidFill>
                  <a:schemeClr val="bg1">
                    <a:lumMod val="75000"/>
                  </a:schemeClr>
                </a:solidFill>
                <a:latin typeface="+mj-ea"/>
              </a:rPr>
              <a:t>3.4 Linux</a:t>
            </a:r>
            <a:r>
              <a:rPr lang="zh-CN" altLang="en-US" sz="2400" dirty="0">
                <a:solidFill>
                  <a:schemeClr val="bg1">
                    <a:lumMod val="75000"/>
                  </a:schemeClr>
                </a:solidFill>
                <a:latin typeface="+mj-ea"/>
              </a:rPr>
              <a:t>进程调度</a:t>
            </a:r>
            <a:endParaRPr lang="zh-CN" altLang="en-US" sz="2400" dirty="0">
              <a:solidFill>
                <a:schemeClr val="bg1">
                  <a:lumMod val="75000"/>
                </a:schemeClr>
              </a:solidFill>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b="1" dirty="0">
                <a:solidFill>
                  <a:srgbClr val="0000FF"/>
                </a:solidFill>
                <a:latin typeface="+mj-ea"/>
              </a:rPr>
              <a:t>3.5 </a:t>
            </a:r>
            <a:r>
              <a:rPr lang="zh-CN" altLang="en-US" sz="2400" b="1" dirty="0">
                <a:solidFill>
                  <a:srgbClr val="0000FF"/>
                </a:solidFill>
                <a:latin typeface="+mj-ea"/>
              </a:rPr>
              <a:t>死锁概述</a:t>
            </a:r>
            <a:endParaRPr lang="zh-CN" altLang="en-US" sz="2400" b="1" dirty="0">
              <a:solidFill>
                <a:srgbClr val="0000FF"/>
              </a:solidFill>
              <a:latin typeface="+mj-ea"/>
            </a:endParaRPr>
          </a:p>
        </p:txBody>
      </p:sp>
      <p:sp>
        <p:nvSpPr>
          <p:cNvPr id="28" name="矩形 27"/>
          <p:cNvSpPr/>
          <p:nvPr/>
        </p:nvSpPr>
        <p:spPr>
          <a:xfrm>
            <a:off x="1696468" y="4590913"/>
            <a:ext cx="3682151" cy="1200329"/>
          </a:xfrm>
          <a:prstGeom prst="rect">
            <a:avLst/>
          </a:prstGeom>
        </p:spPr>
        <p:txBody>
          <a:bodyPr wrap="square">
            <a:spAutoFit/>
          </a:bodyPr>
          <a:lstStyle/>
          <a:p>
            <a:r>
              <a:rPr lang="en-US" altLang="zh-CN" sz="2400" dirty="0">
                <a:latin typeface="+mj-ea"/>
              </a:rPr>
              <a:t>3.6 </a:t>
            </a:r>
            <a:r>
              <a:rPr lang="zh-CN" altLang="en-US" sz="2400" dirty="0">
                <a:latin typeface="+mj-ea"/>
              </a:rPr>
              <a:t>预防死锁</a:t>
            </a:r>
            <a:endParaRPr lang="zh-CN" altLang="en-US" sz="2400" dirty="0">
              <a:latin typeface="+mj-ea"/>
            </a:endParaRPr>
          </a:p>
        </p:txBody>
      </p:sp>
      <p:sp>
        <p:nvSpPr>
          <p:cNvPr id="29" name="矩形 28"/>
          <p:cNvSpPr/>
          <p:nvPr/>
        </p:nvSpPr>
        <p:spPr>
          <a:xfrm>
            <a:off x="1696469" y="5210038"/>
            <a:ext cx="2866200" cy="461665"/>
          </a:xfrm>
          <a:prstGeom prst="rect">
            <a:avLst/>
          </a:prstGeom>
        </p:spPr>
        <p:txBody>
          <a:bodyPr wrap="square">
            <a:spAutoFit/>
          </a:bodyPr>
          <a:lstStyle/>
          <a:p>
            <a:r>
              <a:rPr lang="en-US" altLang="zh-CN" sz="2400" dirty="0">
                <a:latin typeface="+mj-ea"/>
              </a:rPr>
              <a:t>3.7 </a:t>
            </a:r>
            <a:r>
              <a:rPr lang="zh-CN" altLang="en-US" sz="2400" dirty="0">
                <a:latin typeface="+mj-ea"/>
              </a:rPr>
              <a:t>避免死锁</a:t>
            </a:r>
            <a:endParaRPr lang="zh-CN" altLang="en-US" sz="2400" dirty="0">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3</a:t>
            </a:r>
            <a:r>
              <a:rPr lang="zh-CN" altLang="en-US" sz="3600" dirty="0">
                <a:solidFill>
                  <a:srgbClr val="000000"/>
                </a:solidFill>
              </a:rPr>
              <a:t>章 处理机调度与死锁</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dirty="0">
                <a:latin typeface="+mj-ea"/>
              </a:rPr>
              <a:t>3.8 </a:t>
            </a:r>
            <a:r>
              <a:rPr lang="zh-CN" altLang="en-US" sz="2400" dirty="0">
                <a:latin typeface="+mj-ea"/>
              </a:rPr>
              <a:t>死锁的检测与解除</a:t>
            </a:r>
            <a:endParaRPr lang="zh-CN" altLang="en-US" sz="2400" dirty="0">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死锁概念</a:t>
            </a:r>
            <a:endParaRPr lang="zh-CN" altLang="en-US" sz="2800" b="1" dirty="0">
              <a:solidFill>
                <a:schemeClr val="bg1"/>
              </a:solidFill>
            </a:endParaRPr>
          </a:p>
        </p:txBody>
      </p:sp>
      <p:sp>
        <p:nvSpPr>
          <p:cNvPr id="29" name="矩形 28"/>
          <p:cNvSpPr/>
          <p:nvPr/>
        </p:nvSpPr>
        <p:spPr>
          <a:xfrm>
            <a:off x="527685" y="1101725"/>
            <a:ext cx="5229225" cy="2248535"/>
          </a:xfrm>
          <a:prstGeom prst="rect">
            <a:avLst/>
          </a:prstGeom>
        </p:spPr>
        <p:txBody>
          <a:bodyPr wrap="square">
            <a:noAutofit/>
          </a:bodyPr>
          <a:lstStyle/>
          <a:p>
            <a:pPr indent="457200">
              <a:lnSpc>
                <a:spcPct val="132000"/>
              </a:lnSpc>
              <a:spcBef>
                <a:spcPts val="600"/>
              </a:spcBef>
              <a:spcAft>
                <a:spcPts val="600"/>
              </a:spcAft>
            </a:pPr>
            <a:r>
              <a:rPr lang="zh-CN" altLang="en-US" sz="2400" dirty="0">
                <a:solidFill>
                  <a:srgbClr val="FF0000"/>
                </a:solidFill>
                <a:latin typeface="+mn-ea"/>
              </a:rPr>
              <a:t>死锁现象</a:t>
            </a:r>
            <a:r>
              <a:rPr lang="zh-CN" altLang="en-US" sz="2400" dirty="0">
                <a:latin typeface="+mn-ea"/>
              </a:rPr>
              <a:t>：指多个进程在运行过程中因争夺资源而造成的一种僵局，当进程处于这种僵持状态时，若无外力作用，这些进程都将永远不能再向前推进。</a:t>
            </a:r>
            <a:endParaRPr lang="zh-CN" altLang="en-US" sz="2400" dirty="0">
              <a:latin typeface="+mn-ea"/>
            </a:endParaRPr>
          </a:p>
        </p:txBody>
      </p:sp>
      <p:pic>
        <p:nvPicPr>
          <p:cNvPr id="31" name="Picture 11" descr="1_1-63-1443_2003102813432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02325" y="1548130"/>
            <a:ext cx="6158865" cy="4288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34315" y="3963035"/>
            <a:ext cx="5522595" cy="1873250"/>
          </a:xfrm>
          <a:prstGeom prst="rect">
            <a:avLst/>
          </a:prstGeom>
          <a:ln>
            <a:solidFill>
              <a:srgbClr val="FFC000"/>
            </a:solidFill>
          </a:ln>
        </p:spPr>
        <p:txBody>
          <a:bodyPr wrap="square">
            <a:noAutofit/>
          </a:bodyPr>
          <a:p>
            <a:pPr indent="457200">
              <a:lnSpc>
                <a:spcPct val="132000"/>
              </a:lnSpc>
              <a:spcBef>
                <a:spcPts val="600"/>
              </a:spcBef>
              <a:spcAft>
                <a:spcPts val="600"/>
              </a:spcAft>
            </a:pPr>
            <a:endParaRPr lang="zh-CN" altLang="en-US" sz="2400" dirty="0">
              <a:latin typeface="+mn-ea"/>
            </a:endParaRPr>
          </a:p>
        </p:txBody>
      </p:sp>
      <p:sp>
        <p:nvSpPr>
          <p:cNvPr id="3" name="文本框 2"/>
          <p:cNvSpPr txBox="1"/>
          <p:nvPr/>
        </p:nvSpPr>
        <p:spPr>
          <a:xfrm>
            <a:off x="548640" y="4143375"/>
            <a:ext cx="5356860" cy="708660"/>
          </a:xfrm>
          <a:prstGeom prst="rect">
            <a:avLst/>
          </a:prstGeom>
          <a:noFill/>
        </p:spPr>
        <p:txBody>
          <a:bodyPr wrap="square" rtlCol="0" anchor="t">
            <a:noAutofit/>
          </a:bodyPr>
          <a:p>
            <a:r>
              <a:rPr lang="zh-CN" altLang="en-US" sz="2400" dirty="0">
                <a:solidFill>
                  <a:srgbClr val="FF0000"/>
                </a:solidFill>
                <a:latin typeface="+mn-ea"/>
                <a:sym typeface="+mn-ea"/>
              </a:rPr>
              <a:t>死锁定义：</a:t>
            </a:r>
            <a:r>
              <a:rPr lang="zh-CN" altLang="en-US" sz="2400" dirty="0">
                <a:latin typeface="+mn-ea"/>
                <a:sym typeface="+mn-ea"/>
              </a:rPr>
              <a:t>一组等待的进程，其中每一个进程都持有资源，并且等待着由这个组中其他进程所持有的资源</a:t>
            </a:r>
            <a:endParaRPr lang="zh-CN" altLang="en-US" sz="2400" dirty="0">
              <a:latin typeface="+mn-ea"/>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dirty="0">
                <a:solidFill>
                  <a:schemeClr val="bg1"/>
                </a:solidFill>
                <a:latin typeface="+mn-ea"/>
                <a:sym typeface="+mn-ea"/>
              </a:rPr>
              <a:t>扩展：死锁、饥饿和死循环的异同</a:t>
            </a:r>
            <a:endParaRPr lang="zh-CN" altLang="en-US" sz="2800" b="1" dirty="0">
              <a:solidFill>
                <a:schemeClr val="bg1"/>
              </a:solidFill>
              <a:latin typeface="+mn-ea"/>
              <a:sym typeface="+mn-ea"/>
            </a:endParaRPr>
          </a:p>
        </p:txBody>
      </p:sp>
      <p:sp>
        <p:nvSpPr>
          <p:cNvPr id="6" name="文本框 5"/>
          <p:cNvSpPr txBox="1"/>
          <p:nvPr/>
        </p:nvSpPr>
        <p:spPr>
          <a:xfrm>
            <a:off x="230505" y="913130"/>
            <a:ext cx="11688445" cy="4621530"/>
          </a:xfrm>
          <a:prstGeom prst="rect">
            <a:avLst/>
          </a:prstGeom>
        </p:spPr>
        <p:txBody>
          <a:bodyPr wrap="square">
            <a:noAutofit/>
          </a:bodyPr>
          <a:p>
            <a:pPr>
              <a:lnSpc>
                <a:spcPct val="150000"/>
              </a:lnSpc>
              <a:spcBef>
                <a:spcPts val="0"/>
              </a:spcBef>
              <a:spcAft>
                <a:spcPts val="0"/>
              </a:spcAft>
            </a:pPr>
            <a:r>
              <a:rPr lang="en-US" altLang="zh-CN" sz="2400"/>
              <a:t>(1</a:t>
            </a:r>
            <a:r>
              <a:rPr lang="zh-CN" altLang="en-US" sz="2400"/>
              <a:t>）</a:t>
            </a:r>
            <a:r>
              <a:rPr lang="zh-CN" altLang="en-US" sz="2400">
                <a:solidFill>
                  <a:srgbClr val="C82C31"/>
                </a:solidFill>
              </a:rPr>
              <a:t>共同点</a:t>
            </a:r>
            <a:r>
              <a:rPr lang="zh-CN" altLang="en-US" sz="2400"/>
              <a:t>：死锁、饥饿、死循环都是进程无法顺利向前推进的现象。均无法向前推进的现象。</a:t>
            </a:r>
            <a:endParaRPr lang="zh-CN" altLang="en-US" sz="2400"/>
          </a:p>
          <a:p>
            <a:pPr>
              <a:lnSpc>
                <a:spcPct val="150000"/>
              </a:lnSpc>
              <a:spcBef>
                <a:spcPts val="0"/>
              </a:spcBef>
              <a:spcAft>
                <a:spcPts val="0"/>
              </a:spcAft>
            </a:pPr>
            <a:r>
              <a:rPr lang="en-US" altLang="zh-CN" sz="2400"/>
              <a:t>(2</a:t>
            </a:r>
            <a:r>
              <a:rPr lang="zh-CN" altLang="en-US" sz="2400"/>
              <a:t>）</a:t>
            </a:r>
            <a:r>
              <a:rPr lang="zh-CN" altLang="en-US" sz="2400">
                <a:solidFill>
                  <a:srgbClr val="C82C31"/>
                </a:solidFill>
              </a:rPr>
              <a:t>不同点</a:t>
            </a:r>
            <a:r>
              <a:rPr lang="zh-CN" altLang="en-US" sz="2400"/>
              <a:t>：</a:t>
            </a:r>
            <a:endParaRPr lang="zh-CN" altLang="en-US" sz="2400"/>
          </a:p>
          <a:p>
            <a:pPr>
              <a:lnSpc>
                <a:spcPct val="150000"/>
              </a:lnSpc>
              <a:spcBef>
                <a:spcPts val="0"/>
              </a:spcBef>
              <a:spcAft>
                <a:spcPts val="0"/>
              </a:spcAft>
            </a:pPr>
            <a:r>
              <a:rPr lang="en-US" altLang="zh-CN" sz="2400"/>
              <a:t>①</a:t>
            </a:r>
            <a:r>
              <a:rPr lang="zh-CN" altLang="en-US" sz="2400"/>
              <a:t>死锁是 </a:t>
            </a:r>
            <a:r>
              <a:rPr lang="en-US" altLang="zh-CN" sz="2400"/>
              <a:t>n </a:t>
            </a:r>
            <a:r>
              <a:rPr lang="zh-CN" altLang="en-US" sz="2400"/>
              <a:t>个进程（ </a:t>
            </a:r>
            <a:r>
              <a:rPr lang="en-US" altLang="zh-CN" sz="2400"/>
              <a:t>n ≥2)</a:t>
            </a:r>
            <a:r>
              <a:rPr lang="zh-CN" altLang="en-US" sz="2400"/>
              <a:t>循环等待对方手里的</a:t>
            </a:r>
            <a:r>
              <a:rPr lang="zh-CN" altLang="en-US" sz="2400" b="1"/>
              <a:t>资源</a:t>
            </a:r>
            <a:r>
              <a:rPr lang="zh-CN" altLang="en-US" sz="2400"/>
              <a:t>，导致 </a:t>
            </a:r>
            <a:r>
              <a:rPr lang="en-US" altLang="zh-CN" sz="2400"/>
              <a:t>n </a:t>
            </a:r>
            <a:r>
              <a:rPr lang="zh-CN" altLang="en-US" sz="2400"/>
              <a:t>个进程都被阻塞。</a:t>
            </a:r>
            <a:r>
              <a:rPr lang="zh-CN" altLang="en-US" sz="2400">
                <a:sym typeface="+mn-ea"/>
              </a:rPr>
              <a:t>若无外力作用，或者不给锁设定过期时间，将永远无法结束。</a:t>
            </a:r>
            <a:endParaRPr lang="zh-CN" altLang="en-US" sz="2400"/>
          </a:p>
          <a:p>
            <a:pPr>
              <a:lnSpc>
                <a:spcPct val="150000"/>
              </a:lnSpc>
              <a:spcBef>
                <a:spcPts val="0"/>
              </a:spcBef>
              <a:spcAft>
                <a:spcPts val="0"/>
              </a:spcAft>
            </a:pPr>
            <a:r>
              <a:rPr lang="en-US" altLang="zh-CN" sz="2400"/>
              <a:t>②</a:t>
            </a:r>
            <a:r>
              <a:rPr lang="zh-CN" altLang="en-US" sz="2400"/>
              <a:t>饥饿是进程（可以只有</a:t>
            </a:r>
            <a:r>
              <a:rPr lang="en-US" altLang="zh-CN" sz="2400"/>
              <a:t>1</a:t>
            </a:r>
            <a:r>
              <a:rPr lang="zh-CN" altLang="en-US" sz="2400"/>
              <a:t>个）由于长期未获得想要的资源，从而无法向前推进的现象。</a:t>
            </a:r>
            <a:r>
              <a:rPr lang="en-US" altLang="zh-CN" sz="2400"/>
              <a:t>"</a:t>
            </a:r>
            <a:r>
              <a:rPr lang="zh-CN" altLang="en-US" sz="2400"/>
              <a:t>资源</a:t>
            </a:r>
            <a:r>
              <a:rPr lang="en-US" altLang="zh-CN" sz="2400"/>
              <a:t>"</a:t>
            </a:r>
            <a:r>
              <a:rPr lang="zh-CN" altLang="en-US" sz="2400"/>
              <a:t>可以是 </a:t>
            </a:r>
            <a:r>
              <a:rPr lang="en-US" altLang="zh-CN" sz="2400"/>
              <a:t>CPU -</a:t>
            </a:r>
            <a:r>
              <a:rPr lang="zh-CN" altLang="en-US" sz="2400"/>
              <a:t>﹣饥饿进程长期处于就绪态，也可以是 </a:t>
            </a:r>
            <a:r>
              <a:rPr lang="en-US" altLang="zh-CN" sz="2400"/>
              <a:t>I / O </a:t>
            </a:r>
            <a:r>
              <a:rPr lang="zh-CN" altLang="en-US" sz="2400"/>
              <a:t>设备﹣﹣饥饿进程长期处于阻塞态。</a:t>
            </a:r>
            <a:r>
              <a:rPr lang="zh-CN" altLang="en-US" sz="2400">
                <a:sym typeface="+mn-ea"/>
              </a:rPr>
              <a:t>只要进程得到其需要的</a:t>
            </a:r>
            <a:r>
              <a:rPr lang="zh-CN" altLang="en-US" sz="2400" b="1">
                <a:sym typeface="+mn-ea"/>
              </a:rPr>
              <a:t>资源</a:t>
            </a:r>
            <a:r>
              <a:rPr lang="zh-CN" altLang="en-US" sz="2400">
                <a:sym typeface="+mn-ea"/>
              </a:rPr>
              <a:t>，可以继续向前推进</a:t>
            </a:r>
            <a:endParaRPr lang="zh-CN" altLang="en-US" sz="2400"/>
          </a:p>
          <a:p>
            <a:pPr>
              <a:lnSpc>
                <a:spcPct val="150000"/>
              </a:lnSpc>
              <a:spcBef>
                <a:spcPts val="0"/>
              </a:spcBef>
              <a:spcAft>
                <a:spcPts val="0"/>
              </a:spcAft>
            </a:pPr>
            <a:r>
              <a:rPr lang="en-US" altLang="zh-CN" sz="2400"/>
              <a:t>③</a:t>
            </a:r>
            <a:r>
              <a:rPr lang="zh-CN" altLang="en-US" sz="2400"/>
              <a:t>死循环是进程（可以只有</a:t>
            </a:r>
            <a:r>
              <a:rPr lang="en-US" altLang="zh-CN" sz="2400"/>
              <a:t>1</a:t>
            </a:r>
            <a:r>
              <a:rPr lang="zh-CN" altLang="en-US" sz="2400"/>
              <a:t>个）在执行过程中，一直进行某个循环，是</a:t>
            </a:r>
            <a:r>
              <a:rPr lang="zh-CN" altLang="en-US" sz="2400" b="1"/>
              <a:t>程序</a:t>
            </a:r>
            <a:r>
              <a:rPr lang="zh-CN" altLang="en-US" sz="2400"/>
              <a:t>设计错误。</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custDataLst>
              <p:tags r:id="rId1"/>
            </p:custDataLst>
          </p:nvPr>
        </p:nvSpPr>
        <p:spPr>
          <a:xfrm>
            <a:off x="669925" y="78668"/>
            <a:ext cx="7026275" cy="523220"/>
          </a:xfrm>
          <a:prstGeom prst="rect">
            <a:avLst/>
          </a:prstGeom>
        </p:spPr>
        <p:txBody>
          <a:bodyPr wrap="square">
            <a:spAutoFit/>
          </a:bodyPr>
          <a:lstStyle/>
          <a:p>
            <a:r>
              <a:rPr lang="zh-CN" altLang="en-US" sz="2800" b="1" dirty="0">
                <a:solidFill>
                  <a:schemeClr val="bg1"/>
                </a:solidFill>
              </a:rPr>
              <a:t>死锁原因</a:t>
            </a:r>
            <a:endParaRPr lang="zh-CN" altLang="en-US" sz="2800" b="1" dirty="0">
              <a:solidFill>
                <a:schemeClr val="bg1"/>
              </a:solidFill>
            </a:endParaRPr>
          </a:p>
        </p:txBody>
      </p:sp>
      <p:sp>
        <p:nvSpPr>
          <p:cNvPr id="14" name="i$lîďê"/>
          <p:cNvSpPr/>
          <p:nvPr>
            <p:custDataLst>
              <p:tags r:id="rId2"/>
            </p:custDataLst>
          </p:nvPr>
        </p:nvSpPr>
        <p:spPr>
          <a:xfrm>
            <a:off x="1972024" y="4182600"/>
            <a:ext cx="5157613" cy="392877"/>
          </a:xfrm>
          <a:prstGeom prst="rect">
            <a:avLst/>
          </a:prstGeom>
          <a:noFill/>
          <a:ln>
            <a:noFill/>
          </a:ln>
        </p:spPr>
        <p:txBody>
          <a:bodyPr wrap="square" lIns="91440" tIns="45720" rIns="91440" bIns="45720" anchor="ctr" anchorCtr="0">
            <a:noAutofit/>
          </a:bodyPr>
          <a:lstStyle/>
          <a:p>
            <a:endParaRPr lang="zh-CN" altLang="en-US" sz="2600" dirty="0">
              <a:solidFill>
                <a:srgbClr val="FF0000"/>
              </a:solidFill>
            </a:endParaRPr>
          </a:p>
        </p:txBody>
      </p:sp>
      <p:sp>
        <p:nvSpPr>
          <p:cNvPr id="16" name="ïṧḷïḋè"/>
          <p:cNvSpPr/>
          <p:nvPr>
            <p:custDataLst>
              <p:tags r:id="rId3"/>
            </p:custDataLst>
          </p:nvPr>
        </p:nvSpPr>
        <p:spPr>
          <a:xfrm>
            <a:off x="1972026" y="3429853"/>
            <a:ext cx="4749239" cy="415102"/>
          </a:xfrm>
          <a:prstGeom prst="rect">
            <a:avLst/>
          </a:prstGeom>
          <a:noFill/>
          <a:ln>
            <a:noFill/>
          </a:ln>
        </p:spPr>
        <p:txBody>
          <a:bodyPr wrap="square" lIns="91440" tIns="45720" rIns="91440" bIns="45720" anchor="ctr" anchorCtr="0">
            <a:noAutofit/>
          </a:bodyPr>
          <a:lstStyle/>
          <a:p>
            <a:r>
              <a:rPr lang="zh-CN" altLang="en-US" sz="2600" dirty="0">
                <a:solidFill>
                  <a:schemeClr val="tx1"/>
                </a:solidFill>
              </a:rPr>
              <a:t>进程推进顺序不当</a:t>
            </a:r>
            <a:endParaRPr lang="zh-CN" altLang="en-US" sz="2600" dirty="0">
              <a:solidFill>
                <a:schemeClr val="tx1"/>
              </a:solidFill>
            </a:endParaRPr>
          </a:p>
        </p:txBody>
      </p:sp>
      <p:sp>
        <p:nvSpPr>
          <p:cNvPr id="17" name="îs1iďé"/>
          <p:cNvSpPr/>
          <p:nvPr/>
        </p:nvSpPr>
        <p:spPr>
          <a:xfrm>
            <a:off x="1821537" y="1830118"/>
            <a:ext cx="9711234" cy="1124670"/>
          </a:xfrm>
          <a:prstGeom prst="rect">
            <a:avLst/>
          </a:prstGeom>
          <a:noFill/>
          <a:ln>
            <a:noFill/>
          </a:ln>
        </p:spPr>
        <p:txBody>
          <a:bodyPr wrap="square" lIns="91440" tIns="45720" rIns="91440" bIns="45720" anchor="t" anchorCtr="0">
            <a:no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400" dirty="0"/>
              <a:t>系统中的不可抢占性资源，由于它们的数量不能满足诸进程运行的需要，会使进程在运行过程中，因争夺这些资源而陷入僵局。</a:t>
            </a:r>
            <a:endParaRPr lang="zh-CN" altLang="en-US" sz="2400" dirty="0"/>
          </a:p>
          <a:p>
            <a:pPr marL="342900" indent="-342900">
              <a:lnSpc>
                <a:spcPct val="120000"/>
              </a:lnSpc>
              <a:spcBef>
                <a:spcPts val="800"/>
              </a:spcBef>
              <a:buClr>
                <a:srgbClr val="FF0000"/>
              </a:buClr>
              <a:buFont typeface="Wingdings" panose="05000000000000000000" pitchFamily="2" charset="2"/>
              <a:buChar char="Ø"/>
            </a:pPr>
            <a:r>
              <a:rPr lang="zh-CN" altLang="en-US" sz="2400" dirty="0">
                <a:solidFill>
                  <a:schemeClr val="tx1"/>
                </a:solidFill>
                <a:sym typeface="+mn-ea"/>
              </a:rPr>
              <a:t>竞争可消耗性资源引起死锁</a:t>
            </a:r>
            <a:endParaRPr lang="zh-CN" altLang="en-US" sz="2400" dirty="0">
              <a:solidFill>
                <a:schemeClr val="tx1"/>
              </a:solidFill>
            </a:endParaRPr>
          </a:p>
          <a:p>
            <a:pPr indent="0">
              <a:lnSpc>
                <a:spcPct val="120000"/>
              </a:lnSpc>
              <a:spcBef>
                <a:spcPts val="800"/>
              </a:spcBef>
              <a:buClr>
                <a:srgbClr val="FF0000"/>
              </a:buClr>
              <a:buFont typeface="Wingdings" panose="05000000000000000000" pitchFamily="2" charset="2"/>
              <a:buNone/>
            </a:pPr>
            <a:endParaRPr lang="zh-CN" altLang="en-US" sz="2400" dirty="0">
              <a:solidFill>
                <a:schemeClr val="tx1"/>
              </a:solidFill>
            </a:endParaRPr>
          </a:p>
        </p:txBody>
      </p:sp>
      <p:sp>
        <p:nvSpPr>
          <p:cNvPr id="19" name="îSļiḓè"/>
          <p:cNvSpPr/>
          <p:nvPr>
            <p:custDataLst>
              <p:tags r:id="rId4"/>
            </p:custDataLst>
          </p:nvPr>
        </p:nvSpPr>
        <p:spPr>
          <a:xfrm>
            <a:off x="1118977" y="13479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sz="2400" dirty="0"/>
              <a:t>1</a:t>
            </a:r>
            <a:endParaRPr sz="2400" dirty="0"/>
          </a:p>
        </p:txBody>
      </p:sp>
      <p:sp>
        <p:nvSpPr>
          <p:cNvPr id="24" name="îşļiḓè"/>
          <p:cNvSpPr/>
          <p:nvPr>
            <p:custDataLst>
              <p:tags r:id="rId5"/>
            </p:custDataLst>
          </p:nvPr>
        </p:nvSpPr>
        <p:spPr>
          <a:xfrm>
            <a:off x="1118977" y="337399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t>2</a:t>
            </a:r>
            <a:endParaRPr lang="zh-CN" altLang="en-US" sz="2400" dirty="0"/>
          </a:p>
        </p:txBody>
      </p:sp>
      <p:sp>
        <p:nvSpPr>
          <p:cNvPr id="2" name="ïṧḷïḋè"/>
          <p:cNvSpPr/>
          <p:nvPr>
            <p:custDataLst>
              <p:tags r:id="rId6"/>
            </p:custDataLst>
          </p:nvPr>
        </p:nvSpPr>
        <p:spPr>
          <a:xfrm>
            <a:off x="1972026" y="1414998"/>
            <a:ext cx="4749239" cy="415102"/>
          </a:xfrm>
          <a:prstGeom prst="rect">
            <a:avLst/>
          </a:prstGeom>
          <a:noFill/>
          <a:ln>
            <a:noFill/>
          </a:ln>
        </p:spPr>
        <p:txBody>
          <a:bodyPr wrap="square" lIns="91440" tIns="45720" rIns="91440" bIns="45720" anchor="ctr" anchorCtr="0">
            <a:noAutofit/>
          </a:bodyPr>
          <a:p>
            <a:r>
              <a:rPr lang="zh-CN" altLang="en-US" sz="2600" dirty="0">
                <a:solidFill>
                  <a:schemeClr val="tx1"/>
                </a:solidFill>
              </a:rPr>
              <a:t>竞争资源</a:t>
            </a:r>
            <a:endParaRPr lang="zh-CN" altLang="en-US" sz="2600" dirty="0">
              <a:solidFill>
                <a:schemeClr val="tx1"/>
              </a:solidFill>
            </a:endParaRPr>
          </a:p>
        </p:txBody>
      </p:sp>
      <p:sp>
        <p:nvSpPr>
          <p:cNvPr id="3" name="îs1iďé"/>
          <p:cNvSpPr/>
          <p:nvPr/>
        </p:nvSpPr>
        <p:spPr>
          <a:xfrm>
            <a:off x="1972310" y="3860165"/>
            <a:ext cx="5563870" cy="1124585"/>
          </a:xfrm>
          <a:prstGeom prst="rect">
            <a:avLst/>
          </a:prstGeom>
          <a:noFill/>
          <a:ln>
            <a:noFill/>
          </a:ln>
        </p:spPr>
        <p:txBody>
          <a:bodyPr wrap="square" lIns="91440" tIns="45720" rIns="91440" bIns="45720" anchor="t" anchorCtr="0">
            <a:noAutofit/>
          </a:bodyPr>
          <a:p>
            <a:pPr marL="342900" indent="-342900">
              <a:lnSpc>
                <a:spcPct val="120000"/>
              </a:lnSpc>
              <a:spcBef>
                <a:spcPts val="800"/>
              </a:spcBef>
              <a:buClr>
                <a:srgbClr val="FF0000"/>
              </a:buClr>
              <a:buFont typeface="Wingdings" panose="05000000000000000000" pitchFamily="2" charset="2"/>
              <a:buChar char="Ø"/>
            </a:pPr>
            <a:r>
              <a:rPr lang="zh-CN" altLang="en-US" sz="2400" dirty="0"/>
              <a:t>进程在运行过程中，请求和释放资源的顺序不当，也会产生死锁。</a:t>
            </a:r>
            <a:endParaRPr lang="zh-CN" altLang="en-US" sz="2400" dirty="0"/>
          </a:p>
        </p:txBody>
      </p:sp>
      <p:pic>
        <p:nvPicPr>
          <p:cNvPr id="4" name="图片 3"/>
          <p:cNvPicPr>
            <a:picLocks noChangeAspect="1"/>
          </p:cNvPicPr>
          <p:nvPr/>
        </p:nvPicPr>
        <p:blipFill>
          <a:blip r:embed="rId7"/>
          <a:stretch>
            <a:fillRect/>
          </a:stretch>
        </p:blipFill>
        <p:spPr>
          <a:xfrm>
            <a:off x="8629650" y="2954655"/>
            <a:ext cx="3035300" cy="285432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资源问题</a:t>
            </a:r>
            <a:endParaRPr lang="zh-CN" altLang="en-US" sz="2800" b="1" dirty="0">
              <a:solidFill>
                <a:schemeClr val="bg1"/>
              </a:solidFill>
            </a:endParaRPr>
          </a:p>
        </p:txBody>
      </p:sp>
      <p:grpSp>
        <p:nvGrpSpPr>
          <p:cNvPr id="572" name="iŝļïḓê"/>
          <p:cNvGrpSpPr/>
          <p:nvPr/>
        </p:nvGrpSpPr>
        <p:grpSpPr>
          <a:xfrm>
            <a:off x="410210" y="1095878"/>
            <a:ext cx="10871097" cy="2950210"/>
            <a:chOff x="660400" y="2092935"/>
            <a:chExt cx="10871097" cy="2950210"/>
          </a:xfrm>
        </p:grpSpPr>
        <p:grpSp>
          <p:nvGrpSpPr>
            <p:cNvPr id="574" name="ïṧļïḓe"/>
            <p:cNvGrpSpPr/>
            <p:nvPr/>
          </p:nvGrpSpPr>
          <p:grpSpPr>
            <a:xfrm>
              <a:off x="1296567" y="2092935"/>
              <a:ext cx="10234930" cy="2950210"/>
              <a:chOff x="1296567" y="2092935"/>
              <a:chExt cx="12908806" cy="2950210"/>
            </a:xfrm>
          </p:grpSpPr>
          <p:sp>
            <p:nvSpPr>
              <p:cNvPr id="1142" name="ïšļíďè"/>
              <p:cNvSpPr txBox="1"/>
              <p:nvPr/>
            </p:nvSpPr>
            <p:spPr>
              <a:xfrm>
                <a:off x="1296567" y="2092935"/>
                <a:ext cx="714079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可抢占性和不可抢占性资源</a:t>
                </a:r>
                <a:endParaRPr lang="zh-CN" altLang="en-US" sz="2400" dirty="0"/>
              </a:p>
            </p:txBody>
          </p:sp>
          <p:sp>
            <p:nvSpPr>
              <p:cNvPr id="1143" name="íşľíḑè"/>
              <p:cNvSpPr/>
              <p:nvPr/>
            </p:nvSpPr>
            <p:spPr bwMode="auto">
              <a:xfrm>
                <a:off x="1312585" y="2588235"/>
                <a:ext cx="12892788" cy="2454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20000"/>
                  </a:lnSpc>
                  <a:spcBef>
                    <a:spcPts val="600"/>
                  </a:spcBef>
                  <a:buFont typeface="Wingdings" panose="05000000000000000000" pitchFamily="2" charset="2"/>
                  <a:buChar char="Ø"/>
                </a:pPr>
                <a:r>
                  <a:rPr lang="zh-CN" altLang="en-US" sz="2200" dirty="0"/>
                  <a:t>可抢占性资源（可剥夺资源）：某进程在获得这类资源后，该资源可以再被其他进程或系统抢占，</a:t>
                </a:r>
                <a:r>
                  <a:rPr lang="en-US" altLang="zh-CN" sz="2200" b="1" dirty="0"/>
                  <a:t>CPU</a:t>
                </a:r>
                <a:r>
                  <a:rPr lang="zh-CN" altLang="en-US" sz="2200" b="1" dirty="0"/>
                  <a:t>（处理机）和主存区。</a:t>
                </a:r>
                <a:endParaRPr lang="zh-CN" altLang="en-US" sz="2200" b="1" dirty="0"/>
              </a:p>
              <a:p>
                <a:pPr marL="342900" lvl="1" indent="-342900">
                  <a:lnSpc>
                    <a:spcPct val="120000"/>
                  </a:lnSpc>
                  <a:spcBef>
                    <a:spcPts val="600"/>
                  </a:spcBef>
                  <a:buFont typeface="Wingdings" panose="05000000000000000000" pitchFamily="2" charset="2"/>
                  <a:buChar char="Ø"/>
                </a:pPr>
                <a:r>
                  <a:rPr lang="zh-CN" altLang="en-US" sz="2200" dirty="0"/>
                  <a:t>不可抢占资源（不可剥夺资源、独占资源、</a:t>
                </a:r>
                <a:r>
                  <a:rPr lang="zh-CN" altLang="en-US" sz="2200" dirty="0">
                    <a:solidFill>
                      <a:schemeClr val="accent4">
                        <a:lumMod val="60000"/>
                        <a:lumOff val="40000"/>
                      </a:schemeClr>
                    </a:solidFill>
                  </a:rPr>
                  <a:t>临界资源</a:t>
                </a:r>
                <a:r>
                  <a:rPr lang="zh-CN" altLang="en-US" sz="2200" dirty="0"/>
                  <a:t>）：当系统把这类资源分配给某进程后，再不能强行收回，只能在进程用完后自行释放，</a:t>
                </a:r>
                <a:r>
                  <a:rPr lang="zh-CN" altLang="en-US" sz="2200" b="1" dirty="0"/>
                  <a:t>打印机、磁带机。</a:t>
                </a:r>
                <a:endParaRPr lang="zh-CN" altLang="en-US" sz="2200" b="1" dirty="0"/>
              </a:p>
            </p:txBody>
          </p:sp>
        </p:grpSp>
        <p:grpSp>
          <p:nvGrpSpPr>
            <p:cNvPr id="1139" name="ïŝľídè"/>
            <p:cNvGrpSpPr/>
            <p:nvPr/>
          </p:nvGrpSpPr>
          <p:grpSpPr>
            <a:xfrm>
              <a:off x="660400" y="2096245"/>
              <a:ext cx="497734" cy="497734"/>
              <a:chOff x="660400" y="2096245"/>
              <a:chExt cx="497734" cy="497734"/>
            </a:xfrm>
          </p:grpSpPr>
          <p:sp>
            <p:nvSpPr>
              <p:cNvPr id="1140"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141"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2" name="iṡļiḓe"/>
          <p:cNvGrpSpPr/>
          <p:nvPr/>
        </p:nvGrpSpPr>
        <p:grpSpPr>
          <a:xfrm>
            <a:off x="410210" y="4152265"/>
            <a:ext cx="10551160" cy="1500505"/>
            <a:chOff x="660400" y="1787149"/>
            <a:chExt cx="10551450" cy="1562001"/>
          </a:xfrm>
        </p:grpSpPr>
        <p:grpSp>
          <p:nvGrpSpPr>
            <p:cNvPr id="3" name="iSḻíḓè"/>
            <p:cNvGrpSpPr/>
            <p:nvPr/>
          </p:nvGrpSpPr>
          <p:grpSpPr>
            <a:xfrm>
              <a:off x="1296566" y="1835355"/>
              <a:ext cx="9915284" cy="1513795"/>
              <a:chOff x="1296566" y="1835355"/>
              <a:chExt cx="12505656" cy="1513795"/>
            </a:xfrm>
          </p:grpSpPr>
          <p:sp>
            <p:nvSpPr>
              <p:cNvPr id="4" name="îṧľîḋé"/>
              <p:cNvSpPr txBox="1"/>
              <p:nvPr/>
            </p:nvSpPr>
            <p:spPr>
              <a:xfrm>
                <a:off x="1296567" y="1835355"/>
                <a:ext cx="6990140"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可重用性资源和可消耗性资源</a:t>
                </a:r>
                <a:endParaRPr lang="zh-CN" altLang="en-US" sz="2400" dirty="0"/>
              </a:p>
            </p:txBody>
          </p:sp>
          <p:sp>
            <p:nvSpPr>
              <p:cNvPr id="6" name="íşļîḓé"/>
              <p:cNvSpPr/>
              <p:nvPr/>
            </p:nvSpPr>
            <p:spPr bwMode="auto">
              <a:xfrm>
                <a:off x="1296566" y="2279078"/>
                <a:ext cx="12505656" cy="1070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20000"/>
                  </a:lnSpc>
                  <a:spcBef>
                    <a:spcPts val="600"/>
                  </a:spcBef>
                  <a:buClr>
                    <a:schemeClr val="accent4">
                      <a:lumMod val="40000"/>
                      <a:lumOff val="60000"/>
                    </a:schemeClr>
                  </a:buClr>
                  <a:buFont typeface="Wingdings" panose="05000000000000000000" pitchFamily="2" charset="2"/>
                  <a:buChar char="Ø"/>
                </a:pPr>
                <a:r>
                  <a:rPr lang="zh-CN" altLang="en-US" sz="2200" dirty="0"/>
                  <a:t>可重用性资源（永久性资源）：一次只能分配给一个进程，不允许多个进程共享，遵循：请求资源使用资源释放资源 （大部分资源）。</a:t>
                </a:r>
                <a:endParaRPr lang="zh-CN" altLang="en-US" sz="2200" dirty="0"/>
              </a:p>
              <a:p>
                <a:pPr marL="342900" lvl="1" indent="-342900">
                  <a:lnSpc>
                    <a:spcPct val="120000"/>
                  </a:lnSpc>
                  <a:spcBef>
                    <a:spcPts val="600"/>
                  </a:spcBef>
                  <a:buClr>
                    <a:schemeClr val="accent4">
                      <a:lumMod val="40000"/>
                      <a:lumOff val="60000"/>
                    </a:schemeClr>
                  </a:buClr>
                  <a:buFont typeface="Wingdings" panose="05000000000000000000" pitchFamily="2" charset="2"/>
                  <a:buChar char="Ø"/>
                </a:pPr>
                <a:r>
                  <a:rPr lang="zh-CN" altLang="en-US" sz="2200" dirty="0"/>
                  <a:t>可消耗性资源（临时性资源）：由进程动态创建和消耗 （进程间通信的消息）。</a:t>
                </a:r>
                <a:endParaRPr lang="zh-CN" altLang="en-US" sz="2200" dirty="0"/>
              </a:p>
            </p:txBody>
          </p:sp>
        </p:grpSp>
        <p:grpSp>
          <p:nvGrpSpPr>
            <p:cNvPr id="7" name="ïS1íḋé"/>
            <p:cNvGrpSpPr/>
            <p:nvPr/>
          </p:nvGrpSpPr>
          <p:grpSpPr>
            <a:xfrm>
              <a:off x="660400" y="1787149"/>
              <a:ext cx="497734" cy="497734"/>
              <a:chOff x="660400" y="1787149"/>
              <a:chExt cx="497734" cy="497734"/>
            </a:xfrm>
          </p:grpSpPr>
          <p:sp>
            <p:nvSpPr>
              <p:cNvPr id="8"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9"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产生死锁的必要条件</a:t>
            </a:r>
            <a:endParaRPr lang="zh-CN" altLang="en-US" sz="2800" b="1" dirty="0">
              <a:solidFill>
                <a:schemeClr val="bg1"/>
              </a:solidFill>
            </a:endParaRPr>
          </a:p>
        </p:txBody>
      </p:sp>
      <p:grpSp>
        <p:nvGrpSpPr>
          <p:cNvPr id="4"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217700" y="1270531"/>
            <a:ext cx="11642866" cy="4789032"/>
            <a:chOff x="542846" y="1464590"/>
            <a:chExt cx="11642866" cy="4789032"/>
          </a:xfrm>
        </p:grpSpPr>
        <p:sp>
          <p:nvSpPr>
            <p:cNvPr id="5"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6"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7"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8"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9"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0" name="ï$1iḍe"/>
            <p:cNvSpPr txBox="1"/>
            <p:nvPr/>
          </p:nvSpPr>
          <p:spPr>
            <a:xfrm>
              <a:off x="542846" y="1491721"/>
              <a:ext cx="2687137"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FF0000"/>
                  </a:solidFill>
                </a:rPr>
                <a:t>互斥</a:t>
              </a:r>
              <a:endParaRPr lang="zh-CN" altLang="en-US" sz="2400" b="1" dirty="0">
                <a:solidFill>
                  <a:srgbClr val="FF0000"/>
                </a:solidFill>
              </a:endParaRPr>
            </a:p>
          </p:txBody>
        </p:sp>
        <p:sp>
          <p:nvSpPr>
            <p:cNvPr id="11" name="isľîdê"/>
            <p:cNvSpPr txBox="1"/>
            <p:nvPr/>
          </p:nvSpPr>
          <p:spPr>
            <a:xfrm>
              <a:off x="837270" y="4127645"/>
              <a:ext cx="2391779"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一段时间内某资源只能被一个进程占用。</a:t>
              </a:r>
              <a:endParaRPr lang="zh-CN" altLang="en-US" sz="2000" dirty="0"/>
            </a:p>
          </p:txBody>
        </p:sp>
        <p:sp>
          <p:nvSpPr>
            <p:cNvPr id="12" name="íṩ1ïḑe"/>
            <p:cNvSpPr txBox="1"/>
            <p:nvPr/>
          </p:nvSpPr>
          <p:spPr>
            <a:xfrm>
              <a:off x="3077666" y="1464590"/>
              <a:ext cx="3316591" cy="392512"/>
            </a:xfrm>
            <a:prstGeom prst="rect">
              <a:avLst/>
            </a:prstGeom>
            <a:noFill/>
            <a:ln>
              <a:noFill/>
            </a:ln>
          </p:spPr>
          <p:txBody>
            <a:bodyPr wrap="square" lIns="91440" tIns="45720" rIns="91440" bIns="45720" anchor="t" anchorCtr="0">
              <a:noAutofit/>
            </a:bodyPr>
            <a:lstStyle/>
            <a:p>
              <a:pPr algn="ctr">
                <a:lnSpc>
                  <a:spcPct val="110000"/>
                </a:lnSpc>
              </a:pPr>
              <a:r>
                <a:rPr lang="zh-CN" altLang="en-US" sz="2400" b="1" dirty="0">
                  <a:solidFill>
                    <a:srgbClr val="FF0000"/>
                  </a:solidFill>
                </a:rPr>
                <a:t>请求和保持</a:t>
              </a:r>
              <a:endParaRPr lang="zh-CN" altLang="en-US" sz="2400" b="1" dirty="0"/>
            </a:p>
          </p:txBody>
        </p:sp>
        <p:sp>
          <p:nvSpPr>
            <p:cNvPr id="13" name="ïsḻiďê"/>
            <p:cNvSpPr txBox="1"/>
            <p:nvPr/>
          </p:nvSpPr>
          <p:spPr>
            <a:xfrm>
              <a:off x="6366706" y="1478156"/>
              <a:ext cx="2356280"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FF0000"/>
                  </a:solidFill>
                </a:rPr>
                <a:t>不可抢占</a:t>
              </a:r>
              <a:endParaRPr lang="zh-CN" altLang="en-US" sz="2400" b="1" dirty="0"/>
            </a:p>
          </p:txBody>
        </p:sp>
        <p:sp>
          <p:nvSpPr>
            <p:cNvPr id="14" name="isḷiḋé"/>
            <p:cNvSpPr txBox="1"/>
            <p:nvPr/>
          </p:nvSpPr>
          <p:spPr>
            <a:xfrm>
              <a:off x="8833059" y="1491721"/>
              <a:ext cx="3087022" cy="392512"/>
            </a:xfrm>
            <a:prstGeom prst="rect">
              <a:avLst/>
            </a:prstGeom>
            <a:noFill/>
            <a:ln>
              <a:noFill/>
            </a:ln>
          </p:spPr>
          <p:txBody>
            <a:bodyPr wrap="square" lIns="91440" tIns="45720" rIns="91440" bIns="45720" anchor="t" anchorCtr="0">
              <a:noAutofit/>
            </a:bodyPr>
            <a:lstStyle/>
            <a:p>
              <a:pPr algn="ctr"/>
              <a:r>
                <a:rPr lang="zh-CN" altLang="en-US" sz="2400" b="1" dirty="0"/>
                <a:t>循环等待</a:t>
              </a:r>
              <a:endParaRPr lang="zh-CN" altLang="en-US" sz="2400" b="1" dirty="0"/>
            </a:p>
          </p:txBody>
        </p:sp>
        <p:sp>
          <p:nvSpPr>
            <p:cNvPr id="15"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01</a:t>
              </a:r>
              <a:endParaRPr lang="zh-CN" altLang="en-US" sz="3200" b="1" i="1" dirty="0">
                <a:solidFill>
                  <a:schemeClr val="bg1"/>
                </a:solidFill>
              </a:endParaRPr>
            </a:p>
          </p:txBody>
        </p:sp>
        <p:sp>
          <p:nvSpPr>
            <p:cNvPr id="16"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02</a:t>
              </a:r>
              <a:endParaRPr lang="zh-CN" altLang="en-US" sz="3200" b="1" i="1" dirty="0">
                <a:solidFill>
                  <a:schemeClr val="bg1"/>
                </a:solidFill>
              </a:endParaRPr>
            </a:p>
          </p:txBody>
        </p:sp>
        <p:sp>
          <p:nvSpPr>
            <p:cNvPr id="17"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03</a:t>
              </a:r>
              <a:endParaRPr lang="zh-CN" altLang="en-US" sz="3200" b="1" i="1" dirty="0">
                <a:solidFill>
                  <a:schemeClr val="bg1"/>
                </a:solidFill>
              </a:endParaRPr>
            </a:p>
          </p:txBody>
        </p:sp>
        <p:sp>
          <p:nvSpPr>
            <p:cNvPr id="18"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04</a:t>
              </a:r>
              <a:endParaRPr lang="zh-CN" altLang="en-US" sz="3200" b="1" i="1" dirty="0">
                <a:solidFill>
                  <a:schemeClr val="bg1"/>
                </a:solidFill>
              </a:endParaRPr>
            </a:p>
          </p:txBody>
        </p:sp>
        <p:sp>
          <p:nvSpPr>
            <p:cNvPr id="19" name="isľîdê"/>
            <p:cNvSpPr txBox="1"/>
            <p:nvPr/>
          </p:nvSpPr>
          <p:spPr>
            <a:xfrm>
              <a:off x="3578152" y="4127643"/>
              <a:ext cx="2270544" cy="212597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一个至少持有一个资源的进程等待获得额外的由其他进程所持有的资源。</a:t>
              </a:r>
              <a:endParaRPr lang="zh-CN" altLang="en-US" sz="2000" dirty="0"/>
            </a:p>
          </p:txBody>
        </p:sp>
        <p:sp>
          <p:nvSpPr>
            <p:cNvPr id="21" name="isľîdê"/>
            <p:cNvSpPr txBox="1"/>
            <p:nvPr/>
          </p:nvSpPr>
          <p:spPr>
            <a:xfrm>
              <a:off x="6342369" y="4139390"/>
              <a:ext cx="2270544" cy="2102483"/>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000" dirty="0"/>
                <a:t>一个资源只有当持有它的进程完成任务后，自由的释放。</a:t>
              </a:r>
              <a:endParaRPr lang="zh-CN" altLang="en-US" sz="2000" dirty="0"/>
            </a:p>
          </p:txBody>
        </p:sp>
        <p:sp>
          <p:nvSpPr>
            <p:cNvPr id="22" name="isľîdê"/>
            <p:cNvSpPr txBox="1"/>
            <p:nvPr/>
          </p:nvSpPr>
          <p:spPr>
            <a:xfrm>
              <a:off x="8722985" y="4151140"/>
              <a:ext cx="3462727"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000" dirty="0"/>
                <a:t>等待资源的进程之间存在环 </a:t>
              </a:r>
              <a:r>
                <a:rPr lang="en-US" altLang="zh-CN" sz="2000" dirty="0"/>
                <a:t>{P0, P1, …, </a:t>
              </a:r>
              <a:r>
                <a:rPr lang="en-US" altLang="zh-CN" sz="2000" dirty="0" err="1"/>
                <a:t>Pn</a:t>
              </a:r>
              <a:r>
                <a:rPr lang="en-US" altLang="zh-CN" sz="2000" dirty="0"/>
                <a:t>} </a:t>
              </a:r>
              <a:r>
                <a:rPr lang="zh-CN" altLang="en-US" sz="2000" dirty="0"/>
                <a:t>。</a:t>
              </a:r>
              <a:endParaRPr lang="zh-CN" altLang="en-US" sz="2000" dirty="0"/>
            </a:p>
            <a:p>
              <a:pPr marL="342900" indent="-342900">
                <a:lnSpc>
                  <a:spcPct val="120000"/>
                </a:lnSpc>
                <a:buClr>
                  <a:srgbClr val="0000FF"/>
                </a:buClr>
                <a:buFont typeface="Wingdings" panose="05000000000000000000" pitchFamily="2" charset="2"/>
                <a:buChar char="Ø"/>
              </a:pPr>
              <a:r>
                <a:rPr lang="en-US" altLang="zh-CN" sz="2000" dirty="0"/>
                <a:t>P0 </a:t>
              </a:r>
              <a:r>
                <a:rPr lang="zh-CN" altLang="en-US" sz="2000" dirty="0"/>
                <a:t>等待</a:t>
              </a:r>
              <a:r>
                <a:rPr lang="en-US" altLang="zh-CN" sz="2000" dirty="0"/>
                <a:t>P1</a:t>
              </a:r>
              <a:r>
                <a:rPr lang="zh-CN" altLang="en-US" sz="2000" dirty="0"/>
                <a:t>占有的资源</a:t>
              </a:r>
              <a:r>
                <a:rPr lang="en-US" altLang="zh-CN" sz="2000" dirty="0"/>
                <a:t>, P1</a:t>
              </a:r>
              <a:r>
                <a:rPr lang="zh-CN" altLang="en-US" sz="2000" dirty="0"/>
                <a:t>等待</a:t>
              </a:r>
              <a:r>
                <a:rPr lang="en-US" altLang="zh-CN" sz="2000" dirty="0"/>
                <a:t>P2</a:t>
              </a:r>
              <a:r>
                <a:rPr lang="zh-CN" altLang="en-US" sz="2000" dirty="0"/>
                <a:t>占有的资源</a:t>
              </a:r>
              <a:r>
                <a:rPr lang="en-US" altLang="zh-CN" sz="2000" dirty="0"/>
                <a:t>, …, </a:t>
              </a:r>
              <a:r>
                <a:rPr lang="en-US" altLang="zh-CN" sz="2000" dirty="0" err="1"/>
                <a:t>Pn</a:t>
              </a:r>
              <a:r>
                <a:rPr lang="en-US" altLang="zh-CN" sz="2000" dirty="0"/>
                <a:t>–1</a:t>
              </a:r>
              <a:r>
                <a:rPr lang="zh-CN" altLang="en-US" sz="2000" dirty="0"/>
                <a:t>等待</a:t>
              </a:r>
              <a:r>
                <a:rPr lang="en-US" altLang="zh-CN" sz="2000" dirty="0" err="1"/>
                <a:t>Pn</a:t>
              </a:r>
              <a:r>
                <a:rPr lang="zh-CN" altLang="en-US" sz="2000" dirty="0"/>
                <a:t>占有的资源</a:t>
              </a:r>
              <a:r>
                <a:rPr lang="en-US" altLang="zh-CN" sz="2000" dirty="0"/>
                <a:t>, P0</a:t>
              </a:r>
              <a:r>
                <a:rPr lang="zh-CN" altLang="en-US" sz="2000" dirty="0"/>
                <a:t>等待</a:t>
              </a:r>
              <a:r>
                <a:rPr lang="en-US" altLang="zh-CN" sz="2000" dirty="0" err="1"/>
                <a:t>Pn</a:t>
              </a:r>
              <a:r>
                <a:rPr lang="zh-CN" altLang="en-US" sz="2000" dirty="0"/>
                <a:t>占有的资源</a:t>
              </a:r>
              <a:endParaRPr lang="zh-CN" altLang="en-US" sz="2000" dirty="0"/>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处理死锁的方法</a:t>
            </a:r>
            <a:r>
              <a:rPr lang="en-US" altLang="zh-CN" sz="2800" b="1" dirty="0">
                <a:solidFill>
                  <a:schemeClr val="bg1"/>
                </a:solidFill>
              </a:rPr>
              <a:t>(1)</a:t>
            </a:r>
            <a:endParaRPr lang="zh-CN" altLang="en-US" sz="2800" b="1" dirty="0">
              <a:solidFill>
                <a:schemeClr val="bg1"/>
              </a:solidFill>
            </a:endParaRPr>
          </a:p>
        </p:txBody>
      </p:sp>
      <p:sp>
        <p:nvSpPr>
          <p:cNvPr id="220" name="íšḻîḋè"/>
          <p:cNvSpPr/>
          <p:nvPr/>
        </p:nvSpPr>
        <p:spPr>
          <a:xfrm>
            <a:off x="1746844" y="3719611"/>
            <a:ext cx="2224360"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死锁检测</a:t>
            </a:r>
            <a:endParaRPr lang="zh-CN" altLang="en-US" sz="2400" dirty="0"/>
          </a:p>
        </p:txBody>
      </p:sp>
      <p:sp>
        <p:nvSpPr>
          <p:cNvPr id="221" name="i$lîďê"/>
          <p:cNvSpPr/>
          <p:nvPr/>
        </p:nvSpPr>
        <p:spPr>
          <a:xfrm>
            <a:off x="1802479" y="3189442"/>
            <a:ext cx="7900814" cy="392877"/>
          </a:xfrm>
          <a:prstGeom prst="rect">
            <a:avLst/>
          </a:prstGeom>
          <a:noFill/>
          <a:ln>
            <a:noFill/>
          </a:ln>
        </p:spPr>
        <p:txBody>
          <a:bodyPr wrap="square" lIns="91440" tIns="45720" rIns="91440" bIns="45720" anchor="ctr" anchorCtr="0">
            <a:noAutofit/>
          </a:bodyPr>
          <a:lstStyle/>
          <a:p>
            <a:r>
              <a:rPr lang="zh-CN" altLang="en-US" sz="2600" dirty="0"/>
              <a:t>允许系统进入死锁状态，然后恢复系统</a:t>
            </a:r>
            <a:endParaRPr lang="zh-CN" altLang="en-US" sz="2600" dirty="0"/>
          </a:p>
        </p:txBody>
      </p:sp>
      <p:sp>
        <p:nvSpPr>
          <p:cNvPr id="223" name="ïṧḷïḋè"/>
          <p:cNvSpPr/>
          <p:nvPr/>
        </p:nvSpPr>
        <p:spPr>
          <a:xfrm>
            <a:off x="1802479" y="4522868"/>
            <a:ext cx="9534303" cy="975133"/>
          </a:xfrm>
          <a:prstGeom prst="rect">
            <a:avLst/>
          </a:prstGeom>
          <a:noFill/>
          <a:ln>
            <a:noFill/>
          </a:ln>
        </p:spPr>
        <p:txBody>
          <a:bodyPr wrap="square" lIns="91440" tIns="45720" rIns="91440" bIns="45720" anchor="ctr" anchorCtr="0">
            <a:noAutofit/>
          </a:bodyPr>
          <a:lstStyle/>
          <a:p>
            <a:pPr>
              <a:lnSpc>
                <a:spcPct val="132000"/>
              </a:lnSpc>
            </a:pPr>
            <a:r>
              <a:rPr lang="zh-CN" altLang="en-US" sz="2600" dirty="0"/>
              <a:t>鸵鸟策略：忽略这个问题，假装系统中从未出现过死锁。这个方法被大部分的操作系统采用，包括</a:t>
            </a:r>
            <a:r>
              <a:rPr lang="en-US" altLang="zh-CN" sz="2600" dirty="0"/>
              <a:t>UNIX</a:t>
            </a:r>
            <a:endParaRPr lang="en-US" altLang="zh-CN" sz="2600" dirty="0"/>
          </a:p>
        </p:txBody>
      </p:sp>
      <p:sp>
        <p:nvSpPr>
          <p:cNvPr id="224" name="îs1iďé"/>
          <p:cNvSpPr/>
          <p:nvPr/>
        </p:nvSpPr>
        <p:spPr>
          <a:xfrm>
            <a:off x="1821537" y="1830118"/>
            <a:ext cx="2149667" cy="1088045"/>
          </a:xfrm>
          <a:prstGeom prst="rect">
            <a:avLst/>
          </a:prstGeom>
          <a:noFill/>
          <a:ln>
            <a:noFill/>
          </a:ln>
        </p:spPr>
        <p:txBody>
          <a:bodyPr wrap="square" lIns="91440" tIns="45720" rIns="91440" bIns="45720" anchor="t" anchorCtr="0">
            <a:no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400" dirty="0"/>
              <a:t>死锁预防</a:t>
            </a:r>
            <a:endParaRPr lang="zh-CN" altLang="en-US" sz="2400" dirty="0"/>
          </a:p>
          <a:p>
            <a:pPr marL="342900" indent="-342900">
              <a:lnSpc>
                <a:spcPct val="120000"/>
              </a:lnSpc>
              <a:spcBef>
                <a:spcPts val="800"/>
              </a:spcBef>
              <a:buClr>
                <a:srgbClr val="FF0000"/>
              </a:buClr>
              <a:buFont typeface="Wingdings" panose="05000000000000000000" pitchFamily="2" charset="2"/>
              <a:buChar char="Ø"/>
            </a:pPr>
            <a:r>
              <a:rPr lang="zh-CN" altLang="en-US" sz="2400" dirty="0"/>
              <a:t>死锁避免</a:t>
            </a:r>
            <a:endParaRPr lang="zh-CN" altLang="en-US" sz="2400" dirty="0"/>
          </a:p>
        </p:txBody>
      </p:sp>
      <p:sp>
        <p:nvSpPr>
          <p:cNvPr id="225" name="íšḻíḑê"/>
          <p:cNvSpPr/>
          <p:nvPr/>
        </p:nvSpPr>
        <p:spPr>
          <a:xfrm>
            <a:off x="1802479" y="1398181"/>
            <a:ext cx="7261621" cy="405747"/>
          </a:xfrm>
          <a:prstGeom prst="rect">
            <a:avLst/>
          </a:prstGeom>
          <a:noFill/>
          <a:ln>
            <a:noFill/>
          </a:ln>
        </p:spPr>
        <p:txBody>
          <a:bodyPr wrap="square" lIns="91440" tIns="45720" rIns="91440" bIns="45720" anchor="ctr" anchorCtr="0">
            <a:noAutofit/>
          </a:bodyPr>
          <a:lstStyle/>
          <a:p>
            <a:r>
              <a:rPr lang="zh-CN" altLang="en-US" sz="2600" dirty="0"/>
              <a:t>确保系统永远不会进入死锁状态</a:t>
            </a:r>
            <a:endParaRPr lang="zh-CN" altLang="en-US" sz="2600" dirty="0"/>
          </a:p>
        </p:txBody>
      </p:sp>
      <p:sp>
        <p:nvSpPr>
          <p:cNvPr id="226" name="îSļiḓè"/>
          <p:cNvSpPr/>
          <p:nvPr/>
        </p:nvSpPr>
        <p:spPr>
          <a:xfrm>
            <a:off x="1118977" y="13479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7" name="íṥḻîḓe"/>
          <p:cNvSpPr/>
          <p:nvPr/>
        </p:nvSpPr>
        <p:spPr>
          <a:xfrm>
            <a:off x="1118975" y="444026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8" name="îşļiḓè"/>
          <p:cNvSpPr/>
          <p:nvPr/>
        </p:nvSpPr>
        <p:spPr>
          <a:xfrm>
            <a:off x="1118977" y="3088916"/>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1309232" y="154413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1309231" y="3310933"/>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1" name="ïśḷïḓe"/>
          <p:cNvSpPr/>
          <p:nvPr/>
        </p:nvSpPr>
        <p:spPr>
          <a:xfrm>
            <a:off x="1338168" y="4629727"/>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8" name="íšḻîḋè"/>
          <p:cNvSpPr/>
          <p:nvPr/>
        </p:nvSpPr>
        <p:spPr>
          <a:xfrm>
            <a:off x="3655909" y="3745801"/>
            <a:ext cx="2224360"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死锁恢复</a:t>
            </a:r>
            <a:endParaRPr lang="zh-CN" alt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处理死锁的方法</a:t>
            </a:r>
            <a:r>
              <a:rPr lang="en-US" altLang="zh-CN" sz="2800" b="1" dirty="0">
                <a:solidFill>
                  <a:schemeClr val="bg1"/>
                </a:solidFill>
              </a:rPr>
              <a:t>(2)</a:t>
            </a:r>
            <a:endParaRPr lang="zh-CN" altLang="en-US" sz="2800" b="1" dirty="0">
              <a:solidFill>
                <a:schemeClr val="bg1"/>
              </a:solidFill>
            </a:endParaRPr>
          </a:p>
        </p:txBody>
      </p:sp>
      <p:grpSp>
        <p:nvGrpSpPr>
          <p:cNvPr id="4"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35150" y="1270531"/>
            <a:ext cx="11459785" cy="3594735"/>
            <a:chOff x="460296" y="1464590"/>
            <a:chExt cx="11459785" cy="3594735"/>
          </a:xfrm>
        </p:grpSpPr>
        <p:sp>
          <p:nvSpPr>
            <p:cNvPr id="5" name="ïsḷîḋê"/>
            <p:cNvSpPr/>
            <p:nvPr>
              <p:custDataLst>
                <p:tags r:id="rId2"/>
              </p:custDataLst>
            </p:nvPr>
          </p:nvSpPr>
          <p:spPr>
            <a:xfrm>
              <a:off x="673021" y="1929410"/>
              <a:ext cx="10412095" cy="162941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6" name="ïṩḻíḑe"/>
            <p:cNvSpPr/>
            <p:nvPr>
              <p:custDataLst>
                <p:tags r:id="rId3"/>
              </p:custDataLst>
            </p:nvPr>
          </p:nvSpPr>
          <p:spPr>
            <a:xfrm rot="2700000">
              <a:off x="1326436" y="2116100"/>
              <a:ext cx="1249045" cy="1249045"/>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7" name="is1íḑe"/>
            <p:cNvSpPr/>
            <p:nvPr>
              <p:custDataLst>
                <p:tags r:id="rId4"/>
              </p:custDataLst>
            </p:nvPr>
          </p:nvSpPr>
          <p:spPr>
            <a:xfrm rot="2700000">
              <a:off x="4078526" y="2088160"/>
              <a:ext cx="1193165" cy="1304925"/>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8" name="íṡ1ïḋé"/>
            <p:cNvSpPr/>
            <p:nvPr>
              <p:custDataLst>
                <p:tags r:id="rId5"/>
              </p:custDataLst>
            </p:nvPr>
          </p:nvSpPr>
          <p:spPr>
            <a:xfrm rot="2700000">
              <a:off x="6841411" y="2088160"/>
              <a:ext cx="1193165" cy="1304925"/>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9" name="îṡlíḓè"/>
            <p:cNvSpPr/>
            <p:nvPr>
              <p:custDataLst>
                <p:tags r:id="rId6"/>
              </p:custDataLst>
            </p:nvPr>
          </p:nvSpPr>
          <p:spPr>
            <a:xfrm rot="2700000">
              <a:off x="9604931" y="2088160"/>
              <a:ext cx="1193165" cy="1304925"/>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0" name="ï$1iḍe"/>
            <p:cNvSpPr txBox="1"/>
            <p:nvPr>
              <p:custDataLst>
                <p:tags r:id="rId7"/>
              </p:custDataLst>
            </p:nvPr>
          </p:nvSpPr>
          <p:spPr>
            <a:xfrm>
              <a:off x="542846" y="1491721"/>
              <a:ext cx="2687137"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FF0000"/>
                  </a:solidFill>
                </a:rPr>
                <a:t>预防死锁</a:t>
              </a:r>
              <a:endParaRPr lang="zh-CN" altLang="en-US" sz="2400" b="1" dirty="0">
                <a:solidFill>
                  <a:srgbClr val="FF0000"/>
                </a:solidFill>
              </a:endParaRPr>
            </a:p>
          </p:txBody>
        </p:sp>
        <p:sp>
          <p:nvSpPr>
            <p:cNvPr id="11" name="isľîdê"/>
            <p:cNvSpPr txBox="1"/>
            <p:nvPr>
              <p:custDataLst>
                <p:tags r:id="rId8"/>
              </p:custDataLst>
            </p:nvPr>
          </p:nvSpPr>
          <p:spPr>
            <a:xfrm>
              <a:off x="460296" y="3558820"/>
              <a:ext cx="3331210" cy="1461770"/>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破坏死锁的四个必要条件中一个或几个。</a:t>
              </a:r>
              <a:endParaRPr lang="zh-CN" altLang="en-US" sz="2400" dirty="0"/>
            </a:p>
          </p:txBody>
        </p:sp>
        <p:sp>
          <p:nvSpPr>
            <p:cNvPr id="12" name="íṩ1ïḑe"/>
            <p:cNvSpPr txBox="1"/>
            <p:nvPr>
              <p:custDataLst>
                <p:tags r:id="rId9"/>
              </p:custDataLst>
            </p:nvPr>
          </p:nvSpPr>
          <p:spPr>
            <a:xfrm>
              <a:off x="3077666" y="1464590"/>
              <a:ext cx="3316591" cy="392512"/>
            </a:xfrm>
            <a:prstGeom prst="rect">
              <a:avLst/>
            </a:prstGeom>
            <a:noFill/>
            <a:ln>
              <a:noFill/>
            </a:ln>
          </p:spPr>
          <p:txBody>
            <a:bodyPr wrap="square" lIns="91440" tIns="45720" rIns="91440" bIns="45720" anchor="t" anchorCtr="0">
              <a:noAutofit/>
            </a:bodyPr>
            <a:lstStyle/>
            <a:p>
              <a:pPr algn="ctr">
                <a:lnSpc>
                  <a:spcPct val="110000"/>
                </a:lnSpc>
              </a:pPr>
              <a:r>
                <a:rPr lang="zh-CN" altLang="en-US" sz="2400" b="1" dirty="0">
                  <a:solidFill>
                    <a:srgbClr val="FF0000"/>
                  </a:solidFill>
                </a:rPr>
                <a:t>避免死锁</a:t>
              </a:r>
              <a:endParaRPr lang="zh-CN" altLang="en-US" sz="2400" b="1" dirty="0"/>
            </a:p>
          </p:txBody>
        </p:sp>
        <p:sp>
          <p:nvSpPr>
            <p:cNvPr id="13" name="ïsḻiďê"/>
            <p:cNvSpPr txBox="1"/>
            <p:nvPr>
              <p:custDataLst>
                <p:tags r:id="rId10"/>
              </p:custDataLst>
            </p:nvPr>
          </p:nvSpPr>
          <p:spPr>
            <a:xfrm>
              <a:off x="6366706" y="1478156"/>
              <a:ext cx="2356280"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0000FF"/>
                  </a:solidFill>
                </a:rPr>
                <a:t>检测死锁</a:t>
              </a:r>
              <a:endParaRPr lang="zh-CN" altLang="en-US" sz="2400" b="1" dirty="0">
                <a:solidFill>
                  <a:srgbClr val="0000FF"/>
                </a:solidFill>
              </a:endParaRPr>
            </a:p>
          </p:txBody>
        </p:sp>
        <p:sp>
          <p:nvSpPr>
            <p:cNvPr id="14" name="isḷiḋé"/>
            <p:cNvSpPr txBox="1"/>
            <p:nvPr>
              <p:custDataLst>
                <p:tags r:id="rId11"/>
              </p:custDataLst>
            </p:nvPr>
          </p:nvSpPr>
          <p:spPr>
            <a:xfrm>
              <a:off x="8833059" y="1491721"/>
              <a:ext cx="3087022"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0000FF"/>
                  </a:solidFill>
                </a:rPr>
                <a:t>解除死锁</a:t>
              </a:r>
              <a:endParaRPr lang="zh-CN" altLang="en-US" sz="2400" b="1" dirty="0">
                <a:solidFill>
                  <a:srgbClr val="0000FF"/>
                </a:solidFill>
              </a:endParaRPr>
            </a:p>
          </p:txBody>
        </p:sp>
        <p:sp>
          <p:nvSpPr>
            <p:cNvPr id="15" name="îṣḻidé"/>
            <p:cNvSpPr txBox="1"/>
            <p:nvPr>
              <p:custDataLst>
                <p:tags r:id="rId12"/>
              </p:custDataLst>
            </p:nvPr>
          </p:nvSpPr>
          <p:spPr>
            <a:xfrm>
              <a:off x="1960664" y="2401569"/>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01</a:t>
              </a:r>
              <a:endParaRPr lang="zh-CN" altLang="en-US" sz="3200" b="1" i="1" dirty="0">
                <a:solidFill>
                  <a:schemeClr val="bg1"/>
                </a:solidFill>
              </a:endParaRPr>
            </a:p>
          </p:txBody>
        </p:sp>
        <p:sp>
          <p:nvSpPr>
            <p:cNvPr id="16" name="ïŝ1ïḋè"/>
            <p:cNvSpPr txBox="1"/>
            <p:nvPr>
              <p:custDataLst>
                <p:tags r:id="rId13"/>
              </p:custDataLst>
            </p:nvPr>
          </p:nvSpPr>
          <p:spPr>
            <a:xfrm>
              <a:off x="4646347" y="2405379"/>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02</a:t>
              </a:r>
              <a:endParaRPr lang="zh-CN" altLang="en-US" sz="3200" b="1" i="1" dirty="0">
                <a:solidFill>
                  <a:schemeClr val="bg1"/>
                </a:solidFill>
              </a:endParaRPr>
            </a:p>
          </p:txBody>
        </p:sp>
        <p:sp>
          <p:nvSpPr>
            <p:cNvPr id="17" name="í$lîdé"/>
            <p:cNvSpPr txBox="1"/>
            <p:nvPr>
              <p:custDataLst>
                <p:tags r:id="rId14"/>
              </p:custDataLst>
            </p:nvPr>
          </p:nvSpPr>
          <p:spPr>
            <a:xfrm>
              <a:off x="7427280" y="2405379"/>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03</a:t>
              </a:r>
              <a:endParaRPr lang="zh-CN" altLang="en-US" sz="3200" b="1" i="1" dirty="0">
                <a:solidFill>
                  <a:schemeClr val="bg1"/>
                </a:solidFill>
              </a:endParaRPr>
            </a:p>
          </p:txBody>
        </p:sp>
        <p:sp>
          <p:nvSpPr>
            <p:cNvPr id="18" name="išḻïďè"/>
            <p:cNvSpPr txBox="1"/>
            <p:nvPr>
              <p:custDataLst>
                <p:tags r:id="rId15"/>
              </p:custDataLst>
            </p:nvPr>
          </p:nvSpPr>
          <p:spPr>
            <a:xfrm>
              <a:off x="10208214" y="2405379"/>
              <a:ext cx="708108" cy="678249"/>
            </a:xfrm>
            <a:prstGeom prst="rect">
              <a:avLst/>
            </a:prstGeom>
            <a:noFill/>
          </p:spPr>
          <p:txBody>
            <a:bodyPr wrap="square" lIns="91440" tIns="45720" rIns="91440" bIns="45720" rtlCol="0" anchor="ctr">
              <a:normAutofit/>
            </a:bodyPr>
            <a:lstStyle/>
            <a:p>
              <a:pPr algn="ctr"/>
              <a:r>
                <a:rPr lang="en-US" altLang="zh-CN" sz="3200" b="1" i="1" dirty="0" smtClean="0">
                  <a:solidFill>
                    <a:schemeClr val="bg1"/>
                  </a:solidFill>
                </a:rPr>
                <a:t>04</a:t>
              </a:r>
              <a:endParaRPr lang="zh-CN" altLang="en-US" sz="3200" b="1" i="1" dirty="0">
                <a:solidFill>
                  <a:schemeClr val="bg1"/>
                </a:solidFill>
              </a:endParaRPr>
            </a:p>
          </p:txBody>
        </p:sp>
        <p:sp>
          <p:nvSpPr>
            <p:cNvPr id="19" name="isľîdê"/>
            <p:cNvSpPr txBox="1"/>
            <p:nvPr>
              <p:custDataLst>
                <p:tags r:id="rId16"/>
              </p:custDataLst>
            </p:nvPr>
          </p:nvSpPr>
          <p:spPr>
            <a:xfrm>
              <a:off x="3601006" y="3566440"/>
              <a:ext cx="2535555" cy="120840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防止系统进入不安全状态。</a:t>
              </a:r>
              <a:endParaRPr lang="zh-CN" altLang="en-US" sz="2400" dirty="0"/>
            </a:p>
          </p:txBody>
        </p:sp>
        <p:sp>
          <p:nvSpPr>
            <p:cNvPr id="21" name="isľîdê"/>
            <p:cNvSpPr txBox="1"/>
            <p:nvPr>
              <p:custDataLst>
                <p:tags r:id="rId17"/>
              </p:custDataLst>
            </p:nvPr>
          </p:nvSpPr>
          <p:spPr>
            <a:xfrm>
              <a:off x="6341666" y="3558820"/>
              <a:ext cx="2558415" cy="1500505"/>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400" dirty="0"/>
                <a:t>允许死锁发生，但及时检测死锁发发生。</a:t>
              </a:r>
              <a:endParaRPr lang="zh-CN" altLang="en-US" sz="2400" dirty="0"/>
            </a:p>
          </p:txBody>
        </p:sp>
        <p:sp>
          <p:nvSpPr>
            <p:cNvPr id="22" name="isľîdê"/>
            <p:cNvSpPr txBox="1"/>
            <p:nvPr>
              <p:custDataLst>
                <p:tags r:id="rId18"/>
              </p:custDataLst>
            </p:nvPr>
          </p:nvSpPr>
          <p:spPr>
            <a:xfrm>
              <a:off x="9105018" y="3558685"/>
              <a:ext cx="2733831"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400" dirty="0"/>
                <a:t>采取相应措施，将进程从死锁状态中解脱出来。</a:t>
              </a:r>
              <a:endParaRPr lang="zh-CN" altLang="en-US" sz="2400" dirty="0"/>
            </a:p>
          </p:txBody>
        </p:sp>
      </p:grpSp>
      <p:pic>
        <p:nvPicPr>
          <p:cNvPr id="2" name="图片 1"/>
          <p:cNvPicPr>
            <a:picLocks noChangeAspect="1"/>
          </p:cNvPicPr>
          <p:nvPr/>
        </p:nvPicPr>
        <p:blipFill>
          <a:blip r:embed="rId19"/>
          <a:stretch>
            <a:fillRect/>
          </a:stretch>
        </p:blipFill>
        <p:spPr>
          <a:xfrm>
            <a:off x="0" y="4677410"/>
            <a:ext cx="6533515" cy="14478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41325" y="939800"/>
            <a:ext cx="11450320" cy="953135"/>
          </a:xfrm>
          <a:prstGeom prst="rect">
            <a:avLst/>
          </a:prstGeom>
          <a:noFill/>
        </p:spPr>
        <p:txBody>
          <a:bodyPr wrap="square" rtlCol="0" anchor="t">
            <a:spAutoFit/>
          </a:bodyPr>
          <a:p>
            <a:r>
              <a:rPr lang="zh-CN" altLang="en-US" sz="2800"/>
              <a:t>系统有同类资源</a:t>
            </a:r>
            <a:r>
              <a:rPr lang="en-US" altLang="zh-CN" sz="2800"/>
              <a:t>m</a:t>
            </a:r>
            <a:r>
              <a:rPr lang="zh-CN" altLang="en-US" sz="2800"/>
              <a:t>个，供</a:t>
            </a:r>
            <a:r>
              <a:rPr lang="en-US" altLang="zh-CN" sz="2800"/>
              <a:t>n</a:t>
            </a:r>
            <a:r>
              <a:rPr lang="zh-CN" altLang="en-US" sz="2800"/>
              <a:t>个进程共享，若每个进程对资源的最大需求量为</a:t>
            </a:r>
            <a:r>
              <a:rPr lang="en-US" altLang="zh-CN" sz="2800"/>
              <a:t>k</a:t>
            </a:r>
            <a:r>
              <a:rPr lang="zh-CN" altLang="en-US" sz="2800"/>
              <a:t>，试问</a:t>
            </a:r>
            <a:r>
              <a:rPr lang="en-US" altLang="zh-CN" sz="2800"/>
              <a:t>:</a:t>
            </a:r>
            <a:r>
              <a:rPr lang="zh-CN" altLang="en-US" sz="2800"/>
              <a:t>当</a:t>
            </a:r>
            <a:r>
              <a:rPr lang="en-US" altLang="zh-CN" sz="2800"/>
              <a:t>m,n,k</a:t>
            </a:r>
            <a:r>
              <a:rPr lang="zh-CN" altLang="en-US" sz="2800"/>
              <a:t>的值分别为下列情况时（见下表），是否会发生死锁</a:t>
            </a:r>
            <a:r>
              <a:rPr lang="en-US" altLang="zh-CN" sz="2800"/>
              <a:t>?</a:t>
            </a:r>
            <a:endParaRPr lang="en-US" altLang="zh-CN" sz="2800"/>
          </a:p>
        </p:txBody>
      </p:sp>
      <p:sp>
        <p:nvSpPr>
          <p:cNvPr id="20" name="矩形 19"/>
          <p:cNvSpPr/>
          <p:nvPr/>
        </p:nvSpPr>
        <p:spPr>
          <a:xfrm>
            <a:off x="669925" y="78668"/>
            <a:ext cx="7026275" cy="521970"/>
          </a:xfrm>
          <a:prstGeom prst="rect">
            <a:avLst/>
          </a:prstGeom>
        </p:spPr>
        <p:txBody>
          <a:bodyPr wrap="square">
            <a:spAutoFit/>
          </a:bodyPr>
          <a:p>
            <a:r>
              <a:rPr lang="zh-CN" altLang="en-US" sz="2800" b="1" dirty="0">
                <a:solidFill>
                  <a:schemeClr val="bg1"/>
                </a:solidFill>
              </a:rPr>
              <a:t>思考</a:t>
            </a:r>
            <a:endParaRPr lang="zh-CN" altLang="en-US" sz="2800" b="1" dirty="0">
              <a:solidFill>
                <a:schemeClr val="bg1"/>
              </a:solidFill>
            </a:endParaRPr>
          </a:p>
        </p:txBody>
      </p:sp>
      <p:pic>
        <p:nvPicPr>
          <p:cNvPr id="3" name="图片 2"/>
          <p:cNvPicPr/>
          <p:nvPr/>
        </p:nvPicPr>
        <p:blipFill>
          <a:blip r:embed="rId1">
            <a:lum bright="24000"/>
          </a:blip>
          <a:srcRect r="19217"/>
          <a:stretch>
            <a:fillRect/>
          </a:stretch>
        </p:blipFill>
        <p:spPr>
          <a:xfrm>
            <a:off x="1431925" y="2025015"/>
            <a:ext cx="6721475" cy="3084830"/>
          </a:xfrm>
          <a:prstGeom prst="rect">
            <a:avLst/>
          </a:prstGeom>
        </p:spPr>
      </p:pic>
      <p:sp>
        <p:nvSpPr>
          <p:cNvPr id="4" name="文本框 3"/>
          <p:cNvSpPr txBox="1"/>
          <p:nvPr/>
        </p:nvSpPr>
        <p:spPr>
          <a:xfrm>
            <a:off x="1084580" y="5438775"/>
            <a:ext cx="10022840" cy="539115"/>
          </a:xfrm>
          <a:prstGeom prst="rect">
            <a:avLst/>
          </a:prstGeom>
          <a:noFill/>
        </p:spPr>
        <p:txBody>
          <a:bodyPr wrap="square" rtlCol="0" anchor="t">
            <a:noAutofit/>
          </a:bodyPr>
          <a:p>
            <a:r>
              <a:rPr lang="zh-CN" altLang="en-US" sz="2800"/>
              <a:t>当</a:t>
            </a:r>
            <a:r>
              <a:rPr lang="en-US" altLang="zh-CN" sz="3200" b="1">
                <a:solidFill>
                  <a:srgbClr val="FF0000"/>
                </a:solidFill>
              </a:rPr>
              <a:t>m≥n(k-1)+1</a:t>
            </a:r>
            <a:r>
              <a:rPr lang="zh-CN" altLang="en-US" sz="2800"/>
              <a:t>时，一定不会发生死锁。</a:t>
            </a:r>
            <a:endParaRPr lang="zh-CN" altLang="en-US" sz="2800"/>
          </a:p>
        </p:txBody>
      </p:sp>
      <p:sp>
        <p:nvSpPr>
          <p:cNvPr id="5" name="文本框 4"/>
          <p:cNvSpPr txBox="1"/>
          <p:nvPr/>
        </p:nvSpPr>
        <p:spPr>
          <a:xfrm>
            <a:off x="8639175" y="2025015"/>
            <a:ext cx="3351530" cy="3084830"/>
          </a:xfrm>
          <a:prstGeom prst="rect">
            <a:avLst/>
          </a:prstGeom>
          <a:solidFill>
            <a:schemeClr val="accent2"/>
          </a:solidFill>
        </p:spPr>
        <p:txBody>
          <a:bodyPr wrap="square" rtlCol="0" anchor="t">
            <a:noAutofit/>
          </a:bodyPr>
          <a:p>
            <a:pPr>
              <a:lnSpc>
                <a:spcPct val="150000"/>
              </a:lnSpc>
            </a:pPr>
            <a:r>
              <a:rPr lang="zh-CN" altLang="en-US" sz="3200">
                <a:sym typeface="+mn-ea"/>
              </a:rPr>
              <a:t>必须保证至少有一个进程能得到所需的全部资源并执行完毕</a:t>
            </a:r>
            <a:endParaRPr lang="zh-CN" altLang="en-US" sz="320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amond(in)">
                                      <p:cBhvr>
                                        <p:cTn id="13"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animBg="1"/>
      <p:bldP spid="5"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383405" y="2187575"/>
            <a:ext cx="2225675" cy="583565"/>
          </a:xfrm>
          <a:prstGeom prst="rect">
            <a:avLst/>
          </a:prstGeom>
          <a:noFill/>
        </p:spPr>
        <p:txBody>
          <a:bodyPr wrap="square" rtlCol="0" anchor="t">
            <a:spAutoFit/>
          </a:bodyPr>
          <a:p>
            <a:r>
              <a:rPr lang="zh-CN" altLang="en-US" sz="3200" dirty="0">
                <a:solidFill>
                  <a:srgbClr val="FF0000"/>
                </a:solidFill>
                <a:latin typeface="+mj-ea"/>
                <a:ea typeface="+mj-ea"/>
                <a:sym typeface="+mn-ea"/>
              </a:rPr>
              <a:t>随堂练习</a:t>
            </a:r>
            <a:endParaRPr lang="zh-CN" altLang="en-US" sz="3200" dirty="0">
              <a:solidFill>
                <a:srgbClr val="FF0000"/>
              </a:solidFill>
              <a:latin typeface="+mj-ea"/>
              <a:ea typeface="+mj-ea"/>
              <a:sym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dirty="0">
                <a:latin typeface="+mj-ea"/>
                <a:ea typeface="+mj-ea"/>
              </a:rPr>
              <a:t>3.1 </a:t>
            </a:r>
            <a:r>
              <a:rPr lang="zh-CN" altLang="en-US" sz="2400" dirty="0">
                <a:latin typeface="+mj-ea"/>
                <a:ea typeface="+mj-ea"/>
              </a:rPr>
              <a:t>处理机调度概述</a:t>
            </a:r>
            <a:endParaRPr lang="zh-CN" altLang="en-US" sz="2400" dirty="0">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dirty="0">
                <a:latin typeface="+mj-ea"/>
              </a:rPr>
              <a:t>3.2 </a:t>
            </a:r>
            <a:r>
              <a:rPr lang="zh-CN" altLang="en-US" sz="2400" dirty="0">
                <a:latin typeface="+mj-ea"/>
              </a:rPr>
              <a:t>调度算法</a:t>
            </a:r>
            <a:endParaRPr lang="en-US" altLang="zh-CN" sz="2400" dirty="0">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solidFill>
                  <a:schemeClr val="bg1">
                    <a:lumMod val="75000"/>
                  </a:schemeClr>
                </a:solidFill>
                <a:latin typeface="+mj-ea"/>
              </a:rPr>
              <a:t>3.3 </a:t>
            </a:r>
            <a:r>
              <a:rPr lang="zh-CN" altLang="en-US" sz="2400" dirty="0">
                <a:solidFill>
                  <a:schemeClr val="bg1">
                    <a:lumMod val="75000"/>
                  </a:schemeClr>
                </a:solidFill>
                <a:latin typeface="+mj-ea"/>
              </a:rPr>
              <a:t>实时调度</a:t>
            </a:r>
            <a:endParaRPr lang="zh-CN" altLang="en-US" sz="2400" dirty="0">
              <a:solidFill>
                <a:schemeClr val="bg1">
                  <a:lumMod val="75000"/>
                </a:schemeClr>
              </a:solidFill>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dirty="0">
                <a:solidFill>
                  <a:schemeClr val="bg1">
                    <a:lumMod val="75000"/>
                  </a:schemeClr>
                </a:solidFill>
                <a:latin typeface="+mj-ea"/>
              </a:rPr>
              <a:t>3.4 Linux</a:t>
            </a:r>
            <a:r>
              <a:rPr lang="zh-CN" altLang="en-US" sz="2400" dirty="0">
                <a:solidFill>
                  <a:schemeClr val="bg1">
                    <a:lumMod val="75000"/>
                  </a:schemeClr>
                </a:solidFill>
                <a:latin typeface="+mj-ea"/>
              </a:rPr>
              <a:t>进程调度</a:t>
            </a:r>
            <a:endParaRPr lang="zh-CN" altLang="en-US" sz="2400" dirty="0">
              <a:solidFill>
                <a:schemeClr val="bg1">
                  <a:lumMod val="75000"/>
                </a:schemeClr>
              </a:solidFill>
              <a:latin typeface="+mj-ea"/>
            </a:endParaRPr>
          </a:p>
        </p:txBody>
      </p:sp>
      <p:sp>
        <p:nvSpPr>
          <p:cNvPr id="27" name="矩形 26"/>
          <p:cNvSpPr/>
          <p:nvPr/>
        </p:nvSpPr>
        <p:spPr>
          <a:xfrm>
            <a:off x="1591059" y="3971788"/>
            <a:ext cx="5478772" cy="461665"/>
          </a:xfrm>
          <a:prstGeom prst="rect">
            <a:avLst/>
          </a:prstGeom>
        </p:spPr>
        <p:txBody>
          <a:bodyPr wrap="square">
            <a:spAutoFit/>
          </a:bodyPr>
          <a:lstStyle/>
          <a:p>
            <a:r>
              <a:rPr lang="en-US" altLang="zh-CN" sz="2400" dirty="0">
                <a:latin typeface="+mj-ea"/>
              </a:rPr>
              <a:t>3.5 </a:t>
            </a:r>
            <a:r>
              <a:rPr lang="zh-CN" altLang="en-US" sz="2400" dirty="0">
                <a:latin typeface="+mj-ea"/>
              </a:rPr>
              <a:t>死锁概述</a:t>
            </a:r>
            <a:endParaRPr lang="zh-CN" altLang="en-US" sz="2400" dirty="0">
              <a:latin typeface="+mj-ea"/>
            </a:endParaRPr>
          </a:p>
        </p:txBody>
      </p:sp>
      <p:sp>
        <p:nvSpPr>
          <p:cNvPr id="28" name="矩形 27"/>
          <p:cNvSpPr/>
          <p:nvPr/>
        </p:nvSpPr>
        <p:spPr>
          <a:xfrm>
            <a:off x="1696468" y="4590913"/>
            <a:ext cx="3682151" cy="461665"/>
          </a:xfrm>
          <a:prstGeom prst="rect">
            <a:avLst/>
          </a:prstGeom>
        </p:spPr>
        <p:txBody>
          <a:bodyPr wrap="square">
            <a:spAutoFit/>
          </a:bodyPr>
          <a:lstStyle/>
          <a:p>
            <a:r>
              <a:rPr lang="en-US" altLang="zh-CN" sz="2400" b="1" dirty="0">
                <a:solidFill>
                  <a:srgbClr val="0000FF"/>
                </a:solidFill>
                <a:latin typeface="+mj-ea"/>
              </a:rPr>
              <a:t>3.6 </a:t>
            </a:r>
            <a:r>
              <a:rPr lang="zh-CN" altLang="en-US" sz="2400" b="1" dirty="0">
                <a:solidFill>
                  <a:srgbClr val="0000FF"/>
                </a:solidFill>
                <a:latin typeface="+mj-ea"/>
              </a:rPr>
              <a:t>预防死锁</a:t>
            </a:r>
            <a:endParaRPr lang="zh-CN" altLang="en-US" sz="2400" b="1" dirty="0">
              <a:solidFill>
                <a:srgbClr val="0000FF"/>
              </a:solidFill>
              <a:latin typeface="+mj-ea"/>
            </a:endParaRPr>
          </a:p>
        </p:txBody>
      </p:sp>
      <p:sp>
        <p:nvSpPr>
          <p:cNvPr id="29" name="矩形 28"/>
          <p:cNvSpPr/>
          <p:nvPr/>
        </p:nvSpPr>
        <p:spPr>
          <a:xfrm>
            <a:off x="1696469" y="5210038"/>
            <a:ext cx="2866200" cy="461665"/>
          </a:xfrm>
          <a:prstGeom prst="rect">
            <a:avLst/>
          </a:prstGeom>
        </p:spPr>
        <p:txBody>
          <a:bodyPr wrap="square">
            <a:spAutoFit/>
          </a:bodyPr>
          <a:lstStyle/>
          <a:p>
            <a:r>
              <a:rPr lang="en-US" altLang="zh-CN" sz="2400" dirty="0">
                <a:latin typeface="+mj-ea"/>
              </a:rPr>
              <a:t>3.7 </a:t>
            </a:r>
            <a:r>
              <a:rPr lang="zh-CN" altLang="en-US" sz="2400" dirty="0">
                <a:latin typeface="+mj-ea"/>
              </a:rPr>
              <a:t>避免死锁</a:t>
            </a:r>
            <a:endParaRPr lang="zh-CN" altLang="en-US" sz="2400" dirty="0">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3</a:t>
            </a:r>
            <a:r>
              <a:rPr lang="zh-CN" altLang="en-US" sz="3600" dirty="0">
                <a:solidFill>
                  <a:srgbClr val="000000"/>
                </a:solidFill>
              </a:rPr>
              <a:t>章 处理机调度与死锁</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dirty="0">
                <a:latin typeface="+mj-ea"/>
              </a:rPr>
              <a:t>3.8 </a:t>
            </a:r>
            <a:r>
              <a:rPr lang="zh-CN" altLang="en-US" sz="2400" dirty="0">
                <a:latin typeface="+mj-ea"/>
              </a:rPr>
              <a:t>死锁的检测与解除</a:t>
            </a:r>
            <a:endParaRPr lang="zh-CN" altLang="en-US" sz="2400" dirty="0">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pic>
        <p:nvPicPr>
          <p:cNvPr id="6" name="图片 5"/>
          <p:cNvPicPr>
            <a:picLocks noChangeAspect="1"/>
          </p:cNvPicPr>
          <p:nvPr/>
        </p:nvPicPr>
        <p:blipFill>
          <a:blip r:embed="rId2"/>
          <a:stretch>
            <a:fillRect/>
          </a:stretch>
        </p:blipFill>
        <p:spPr>
          <a:xfrm>
            <a:off x="4562475" y="4433570"/>
            <a:ext cx="6533515" cy="14478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预防死锁</a:t>
            </a:r>
            <a:endParaRPr lang="zh-CN" altLang="en-US" sz="2800" b="1" dirty="0">
              <a:solidFill>
                <a:schemeClr val="bg1"/>
              </a:solidFill>
            </a:endParaRPr>
          </a:p>
        </p:txBody>
      </p:sp>
      <p:sp>
        <p:nvSpPr>
          <p:cNvPr id="29" name="矩形 28"/>
          <p:cNvSpPr/>
          <p:nvPr/>
        </p:nvSpPr>
        <p:spPr>
          <a:xfrm>
            <a:off x="669925" y="1206373"/>
            <a:ext cx="10601989" cy="684571"/>
          </a:xfrm>
          <a:prstGeom prst="rect">
            <a:avLst/>
          </a:prstGeom>
        </p:spPr>
        <p:txBody>
          <a:bodyPr wrap="square">
            <a:noAutofit/>
          </a:bodyPr>
          <a:lstStyle/>
          <a:p>
            <a:pPr indent="457200">
              <a:lnSpc>
                <a:spcPct val="132000"/>
              </a:lnSpc>
              <a:spcBef>
                <a:spcPts val="600"/>
              </a:spcBef>
              <a:spcAft>
                <a:spcPts val="600"/>
              </a:spcAft>
            </a:pPr>
            <a:r>
              <a:rPr lang="zh-CN" altLang="en-US" sz="2600" dirty="0">
                <a:latin typeface="+mn-ea"/>
              </a:rPr>
              <a:t>破坏死锁的后三个必要条件中的一个或几个</a:t>
            </a:r>
            <a:endParaRPr lang="zh-CN" altLang="en-US" sz="2600" dirty="0">
              <a:latin typeface="+mn-ea"/>
            </a:endParaRPr>
          </a:p>
        </p:txBody>
      </p:sp>
      <p:sp>
        <p:nvSpPr>
          <p:cNvPr id="31" name="íšḻîḋè"/>
          <p:cNvSpPr/>
          <p:nvPr/>
        </p:nvSpPr>
        <p:spPr>
          <a:xfrm>
            <a:off x="1808988" y="3602978"/>
            <a:ext cx="9909536" cy="523971"/>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要求进程在执行前一次性申请全部的资源，破坏</a:t>
            </a:r>
            <a:r>
              <a:rPr lang="en-US" altLang="zh-CN" sz="2400" dirty="0"/>
              <a:t>“</a:t>
            </a:r>
            <a:r>
              <a:rPr lang="zh-CN" altLang="en-US" sz="2400" dirty="0"/>
              <a:t>请求</a:t>
            </a:r>
            <a:r>
              <a:rPr lang="en-US" altLang="zh-CN" sz="2400" dirty="0"/>
              <a:t>”</a:t>
            </a:r>
            <a:endParaRPr lang="en-US" altLang="zh-CN" sz="2400" dirty="0"/>
          </a:p>
          <a:p>
            <a:pPr marL="342900" indent="-342900">
              <a:lnSpc>
                <a:spcPct val="120000"/>
              </a:lnSpc>
              <a:spcBef>
                <a:spcPts val="600"/>
              </a:spcBef>
              <a:buClr>
                <a:srgbClr val="FF0000"/>
              </a:buClr>
              <a:buFont typeface="Wingdings" panose="05000000000000000000" pitchFamily="2" charset="2"/>
              <a:buChar char="Ø"/>
            </a:pPr>
            <a:r>
              <a:rPr lang="zh-CN" altLang="en-US" sz="2400" dirty="0"/>
              <a:t>只有没有占有资源时才可以分配资源，破坏</a:t>
            </a:r>
            <a:r>
              <a:rPr lang="en-US" altLang="zh-CN" sz="2400" dirty="0"/>
              <a:t>“</a:t>
            </a:r>
            <a:r>
              <a:rPr lang="zh-CN" altLang="en-US" sz="2400" dirty="0"/>
              <a:t>保持</a:t>
            </a:r>
            <a:r>
              <a:rPr lang="en-US" altLang="zh-CN" sz="2400" dirty="0"/>
              <a:t>”</a:t>
            </a:r>
            <a:endParaRPr lang="zh-CN" altLang="en-US" sz="2400" dirty="0"/>
          </a:p>
          <a:p>
            <a:pPr indent="0">
              <a:lnSpc>
                <a:spcPct val="120000"/>
              </a:lnSpc>
              <a:spcBef>
                <a:spcPts val="600"/>
              </a:spcBef>
              <a:buClr>
                <a:srgbClr val="FF0000"/>
              </a:buClr>
              <a:buFont typeface="Wingdings" panose="05000000000000000000" pitchFamily="2" charset="2"/>
              <a:buNone/>
            </a:pPr>
            <a:endParaRPr lang="zh-CN" altLang="en-US" sz="2400" dirty="0"/>
          </a:p>
        </p:txBody>
      </p:sp>
      <p:sp>
        <p:nvSpPr>
          <p:cNvPr id="32" name="i$lîďê"/>
          <p:cNvSpPr/>
          <p:nvPr/>
        </p:nvSpPr>
        <p:spPr>
          <a:xfrm>
            <a:off x="1864622" y="3072809"/>
            <a:ext cx="9791757" cy="392877"/>
          </a:xfrm>
          <a:prstGeom prst="rect">
            <a:avLst/>
          </a:prstGeom>
          <a:noFill/>
          <a:ln>
            <a:noFill/>
          </a:ln>
        </p:spPr>
        <p:txBody>
          <a:bodyPr wrap="square" lIns="91440" tIns="45720" rIns="91440" bIns="45720" anchor="ctr" anchorCtr="0">
            <a:noAutofit/>
          </a:bodyPr>
          <a:lstStyle/>
          <a:p>
            <a:r>
              <a:rPr lang="zh-CN" altLang="en-US" sz="2600" dirty="0">
                <a:solidFill>
                  <a:srgbClr val="FF0000"/>
                </a:solidFill>
              </a:rPr>
              <a:t>破坏</a:t>
            </a:r>
            <a:r>
              <a:rPr lang="en-US" altLang="zh-CN" sz="2600" dirty="0">
                <a:solidFill>
                  <a:srgbClr val="FF0000"/>
                </a:solidFill>
              </a:rPr>
              <a:t>“</a:t>
            </a:r>
            <a:r>
              <a:rPr lang="zh-CN" altLang="en-US" sz="2600" dirty="0">
                <a:solidFill>
                  <a:srgbClr val="FF0000"/>
                </a:solidFill>
              </a:rPr>
              <a:t>请求和保持</a:t>
            </a:r>
            <a:r>
              <a:rPr lang="en-US" altLang="zh-CN" sz="2600" dirty="0">
                <a:solidFill>
                  <a:srgbClr val="FF0000"/>
                </a:solidFill>
              </a:rPr>
              <a:t>”</a:t>
            </a:r>
            <a:endParaRPr lang="zh-CN" altLang="en-US" sz="2600" dirty="0"/>
          </a:p>
        </p:txBody>
      </p:sp>
      <p:sp>
        <p:nvSpPr>
          <p:cNvPr id="36" name="íšḻíḑê"/>
          <p:cNvSpPr/>
          <p:nvPr/>
        </p:nvSpPr>
        <p:spPr>
          <a:xfrm>
            <a:off x="1864623" y="2176764"/>
            <a:ext cx="9791758" cy="405747"/>
          </a:xfrm>
          <a:prstGeom prst="rect">
            <a:avLst/>
          </a:prstGeom>
          <a:noFill/>
          <a:ln>
            <a:noFill/>
          </a:ln>
        </p:spPr>
        <p:txBody>
          <a:bodyPr wrap="square" lIns="91440" tIns="45720" rIns="91440" bIns="45720" anchor="ctr" anchorCtr="0">
            <a:noAutofit/>
          </a:bodyPr>
          <a:lstStyle/>
          <a:p>
            <a:r>
              <a:rPr lang="zh-CN" altLang="en-US" sz="2600" dirty="0">
                <a:solidFill>
                  <a:srgbClr val="FF0000"/>
                </a:solidFill>
              </a:rPr>
              <a:t>加强互斥：</a:t>
            </a:r>
            <a:r>
              <a:rPr lang="zh-CN" altLang="en-US" sz="2600" dirty="0"/>
              <a:t>互斥条件是共享资源必须的，是设备的固有属性，不仅不能改变，还应加以保证</a:t>
            </a:r>
            <a:endParaRPr lang="zh-CN" altLang="en-US" sz="2600" dirty="0"/>
          </a:p>
        </p:txBody>
      </p:sp>
      <p:sp>
        <p:nvSpPr>
          <p:cNvPr id="38" name="îSļiḓè"/>
          <p:cNvSpPr/>
          <p:nvPr/>
        </p:nvSpPr>
        <p:spPr>
          <a:xfrm>
            <a:off x="1181121" y="204527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9" name="îşļiḓè"/>
          <p:cNvSpPr/>
          <p:nvPr/>
        </p:nvSpPr>
        <p:spPr>
          <a:xfrm>
            <a:off x="1181121" y="297228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0" name="îṡḷíďe"/>
          <p:cNvSpPr/>
          <p:nvPr/>
        </p:nvSpPr>
        <p:spPr>
          <a:xfrm>
            <a:off x="1371376" y="2241417"/>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2" name="íSlíḋe"/>
          <p:cNvSpPr/>
          <p:nvPr/>
        </p:nvSpPr>
        <p:spPr>
          <a:xfrm>
            <a:off x="1371375" y="3194300"/>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 name="文本框 1"/>
          <p:cNvSpPr txBox="1"/>
          <p:nvPr/>
        </p:nvSpPr>
        <p:spPr>
          <a:xfrm>
            <a:off x="669925" y="4799965"/>
            <a:ext cx="10779125" cy="1198880"/>
          </a:xfrm>
          <a:prstGeom prst="rect">
            <a:avLst/>
          </a:prstGeom>
          <a:noFill/>
        </p:spPr>
        <p:txBody>
          <a:bodyPr wrap="square" rtlCol="0" anchor="t">
            <a:spAutoFit/>
          </a:bodyPr>
          <a:p>
            <a:r>
              <a:rPr lang="zh-CN" altLang="en-US" sz="2400" dirty="0">
                <a:solidFill>
                  <a:schemeClr val="accent3">
                    <a:lumMod val="50000"/>
                    <a:lumOff val="50000"/>
                  </a:schemeClr>
                </a:solidFill>
                <a:sym typeface="+mn-ea"/>
              </a:rPr>
              <a:t>优点：</a:t>
            </a:r>
            <a:r>
              <a:rPr lang="zh-CN" altLang="en-US" sz="2400" dirty="0">
                <a:sym typeface="+mn-ea"/>
              </a:rPr>
              <a:t>算法简单，易于实现且很安全</a:t>
            </a:r>
            <a:endParaRPr lang="zh-CN" altLang="en-US" sz="2400" dirty="0">
              <a:sym typeface="+mn-ea"/>
            </a:endParaRPr>
          </a:p>
          <a:p>
            <a:r>
              <a:rPr lang="zh-CN" altLang="en-US" sz="2400" dirty="0">
                <a:solidFill>
                  <a:schemeClr val="accent3">
                    <a:lumMod val="50000"/>
                    <a:lumOff val="50000"/>
                  </a:schemeClr>
                </a:solidFill>
                <a:sym typeface="+mn-ea"/>
              </a:rPr>
              <a:t>缺点：</a:t>
            </a:r>
            <a:r>
              <a:rPr lang="zh-CN" altLang="en-US" sz="2400" dirty="0">
                <a:sym typeface="+mn-ea"/>
              </a:rPr>
              <a:t>资源严重浪费，利用率低，可能出现饥饿。</a:t>
            </a:r>
            <a:endParaRPr lang="zh-CN" altLang="en-US" sz="2400" dirty="0">
              <a:sym typeface="+mn-ea"/>
            </a:endParaRPr>
          </a:p>
          <a:p>
            <a:endParaRPr lang="zh-CN" altLang="en-US" sz="2400" dirty="0">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预防死锁</a:t>
            </a:r>
            <a:r>
              <a:rPr lang="en-US" altLang="zh-CN" sz="2800" b="1" dirty="0">
                <a:solidFill>
                  <a:schemeClr val="bg1"/>
                </a:solidFill>
              </a:rPr>
              <a:t>(</a:t>
            </a:r>
            <a:r>
              <a:rPr lang="zh-CN" altLang="en-US" sz="2800" b="1" dirty="0">
                <a:solidFill>
                  <a:schemeClr val="bg1"/>
                </a:solidFill>
              </a:rPr>
              <a:t>续</a:t>
            </a:r>
            <a:r>
              <a:rPr lang="en-US" altLang="zh-CN" sz="2800" b="1" dirty="0">
                <a:solidFill>
                  <a:schemeClr val="bg1"/>
                </a:solidFill>
              </a:rPr>
              <a:t>)</a:t>
            </a:r>
            <a:endParaRPr lang="zh-CN" altLang="en-US" sz="2800" b="1" dirty="0">
              <a:solidFill>
                <a:schemeClr val="bg1"/>
              </a:solidFill>
            </a:endParaRPr>
          </a:p>
        </p:txBody>
      </p:sp>
      <p:sp>
        <p:nvSpPr>
          <p:cNvPr id="36" name="íšḻíḑê"/>
          <p:cNvSpPr/>
          <p:nvPr/>
        </p:nvSpPr>
        <p:spPr>
          <a:xfrm>
            <a:off x="1749213" y="1251210"/>
            <a:ext cx="9791758" cy="405747"/>
          </a:xfrm>
          <a:prstGeom prst="rect">
            <a:avLst/>
          </a:prstGeom>
          <a:noFill/>
          <a:ln>
            <a:noFill/>
          </a:ln>
        </p:spPr>
        <p:txBody>
          <a:bodyPr wrap="square" lIns="91440" tIns="45720" rIns="91440" bIns="45720" anchor="ctr" anchorCtr="0">
            <a:noAutofit/>
          </a:bodyPr>
          <a:lstStyle/>
          <a:p>
            <a:r>
              <a:rPr lang="zh-CN" altLang="en-US" sz="2600" dirty="0">
                <a:solidFill>
                  <a:srgbClr val="FF0000"/>
                </a:solidFill>
              </a:rPr>
              <a:t>破坏</a:t>
            </a:r>
            <a:r>
              <a:rPr lang="en-US" altLang="zh-CN" sz="2600" dirty="0">
                <a:solidFill>
                  <a:srgbClr val="FF0000"/>
                </a:solidFill>
              </a:rPr>
              <a:t>“</a:t>
            </a:r>
            <a:r>
              <a:rPr lang="zh-CN" altLang="en-US" sz="2600" dirty="0">
                <a:solidFill>
                  <a:srgbClr val="FF0000"/>
                </a:solidFill>
              </a:rPr>
              <a:t>不可抢占</a:t>
            </a:r>
            <a:r>
              <a:rPr lang="en-US" altLang="zh-CN" sz="2600" dirty="0">
                <a:solidFill>
                  <a:srgbClr val="FF0000"/>
                </a:solidFill>
              </a:rPr>
              <a:t>”</a:t>
            </a:r>
            <a:r>
              <a:rPr lang="zh-CN" altLang="en-US" sz="2600" dirty="0">
                <a:solidFill>
                  <a:srgbClr val="FF0000"/>
                </a:solidFill>
              </a:rPr>
              <a:t>条件</a:t>
            </a:r>
            <a:endParaRPr lang="zh-CN" altLang="en-US" sz="2600" dirty="0">
              <a:solidFill>
                <a:srgbClr val="FF0000"/>
              </a:solidFill>
            </a:endParaRPr>
          </a:p>
        </p:txBody>
      </p:sp>
      <p:sp>
        <p:nvSpPr>
          <p:cNvPr id="38" name="îSļiḓè"/>
          <p:cNvSpPr/>
          <p:nvPr/>
        </p:nvSpPr>
        <p:spPr>
          <a:xfrm>
            <a:off x="1065711" y="111972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0" name="îṡḷíďe"/>
          <p:cNvSpPr/>
          <p:nvPr/>
        </p:nvSpPr>
        <p:spPr>
          <a:xfrm>
            <a:off x="1255966" y="1315863"/>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1" name="íšḻîḋè"/>
          <p:cNvSpPr/>
          <p:nvPr/>
        </p:nvSpPr>
        <p:spPr>
          <a:xfrm>
            <a:off x="1749212" y="1708366"/>
            <a:ext cx="9909536" cy="523971"/>
          </a:xfrm>
          <a:prstGeom prst="rect">
            <a:avLst/>
          </a:prstGeom>
          <a:noFill/>
          <a:ln>
            <a:noFill/>
          </a:ln>
        </p:spPr>
        <p:txBody>
          <a:bodyPr wrap="square" lIns="91440" tIns="45720" rIns="91440" bIns="45720" anchor="t" anchorCtr="0">
            <a:noAutofit/>
          </a:bodyPr>
          <a:lstStyle/>
          <a:p>
            <a:pPr marL="342900" indent="-342900">
              <a:spcBef>
                <a:spcPts val="600"/>
              </a:spcBef>
              <a:buClr>
                <a:srgbClr val="FF0000"/>
              </a:buClr>
              <a:buFont typeface="Wingdings" panose="05000000000000000000" pitchFamily="2" charset="2"/>
              <a:buChar char="Ø"/>
            </a:pPr>
            <a:r>
              <a:rPr lang="zh-CN" altLang="en-US" sz="2400" dirty="0"/>
              <a:t>如果一个进程的申请没有实现，它就要释放所有占有的资源；</a:t>
            </a:r>
            <a:endParaRPr lang="zh-CN" altLang="en-US" sz="2400" dirty="0"/>
          </a:p>
          <a:p>
            <a:pPr marL="342900" indent="-342900">
              <a:spcBef>
                <a:spcPts val="600"/>
              </a:spcBef>
              <a:buClr>
                <a:srgbClr val="FF0000"/>
              </a:buClr>
              <a:buFont typeface="Wingdings" panose="05000000000000000000" pitchFamily="2" charset="2"/>
              <a:buChar char="Ø"/>
            </a:pPr>
            <a:endParaRPr lang="zh-CN" altLang="en-US" sz="2400" dirty="0"/>
          </a:p>
        </p:txBody>
      </p:sp>
      <p:sp>
        <p:nvSpPr>
          <p:cNvPr id="2" name="文本框 1"/>
          <p:cNvSpPr txBox="1"/>
          <p:nvPr/>
        </p:nvSpPr>
        <p:spPr>
          <a:xfrm>
            <a:off x="1466215" y="3429000"/>
            <a:ext cx="9554210" cy="906780"/>
          </a:xfrm>
          <a:prstGeom prst="rect">
            <a:avLst/>
          </a:prstGeom>
          <a:noFill/>
        </p:spPr>
        <p:txBody>
          <a:bodyPr wrap="square" rtlCol="0" anchor="t">
            <a:spAutoFit/>
          </a:bodyPr>
          <a:p>
            <a:pPr indent="0">
              <a:spcBef>
                <a:spcPts val="600"/>
              </a:spcBef>
              <a:buClr>
                <a:srgbClr val="FF0000"/>
              </a:buClr>
              <a:buNone/>
            </a:pPr>
            <a:r>
              <a:rPr lang="zh-CN" altLang="en-US" sz="2400" dirty="0">
                <a:solidFill>
                  <a:schemeClr val="accent3">
                    <a:lumMod val="50000"/>
                    <a:lumOff val="50000"/>
                  </a:schemeClr>
                </a:solidFill>
                <a:sym typeface="+mn-ea"/>
              </a:rPr>
              <a:t>缺点</a:t>
            </a:r>
            <a:r>
              <a:rPr lang="zh-CN" altLang="en-US" sz="2400" dirty="0">
                <a:sym typeface="+mn-ea"/>
              </a:rPr>
              <a:t>：实现较为复杂，代价较大。</a:t>
            </a:r>
            <a:endParaRPr lang="zh-CN" altLang="en-US" sz="2400" dirty="0">
              <a:sym typeface="+mn-ea"/>
            </a:endParaRPr>
          </a:p>
          <a:p>
            <a:pPr indent="0">
              <a:spcBef>
                <a:spcPts val="600"/>
              </a:spcBef>
              <a:buClr>
                <a:srgbClr val="FF0000"/>
              </a:buClr>
              <a:buNone/>
            </a:pPr>
            <a:r>
              <a:rPr lang="en-US" altLang="zh-CN" sz="2400" dirty="0">
                <a:sym typeface="+mn-ea"/>
              </a:rPr>
              <a:t>           </a:t>
            </a:r>
            <a:r>
              <a:rPr lang="zh-CN" altLang="en-US" sz="2400" dirty="0">
                <a:sym typeface="+mn-ea"/>
              </a:rPr>
              <a:t>反复申请和释放，延长了周转时间，增加系统开销。</a:t>
            </a:r>
            <a:endParaRPr lang="zh-CN" altLang="en-US" sz="2400" dirty="0">
              <a:sym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íšḻîḋè"/>
          <p:cNvSpPr/>
          <p:nvPr/>
        </p:nvSpPr>
        <p:spPr>
          <a:xfrm>
            <a:off x="1011555" y="3029585"/>
            <a:ext cx="10427335" cy="1769745"/>
          </a:xfrm>
          <a:prstGeom prst="rect">
            <a:avLst/>
          </a:prstGeom>
          <a:noFill/>
          <a:ln>
            <a:noFill/>
          </a:ln>
        </p:spPr>
        <p:txBody>
          <a:bodyPr wrap="square" lIns="91440" tIns="45720" rIns="91440" bIns="45720" anchor="t" anchorCtr="0">
            <a:noAutofit/>
          </a:bodyPr>
          <a:p>
            <a:pPr indent="0">
              <a:spcBef>
                <a:spcPts val="600"/>
              </a:spcBef>
              <a:buClr>
                <a:srgbClr val="FF0000"/>
              </a:buClr>
              <a:buNone/>
            </a:pPr>
            <a:r>
              <a:rPr lang="zh-CN" altLang="en-US" sz="2400" dirty="0">
                <a:solidFill>
                  <a:schemeClr val="accent3">
                    <a:lumMod val="50000"/>
                    <a:lumOff val="50000"/>
                  </a:schemeClr>
                </a:solidFill>
              </a:rPr>
              <a:t>存在的问题</a:t>
            </a:r>
            <a:r>
              <a:rPr lang="zh-CN" altLang="en-US" sz="2400" dirty="0"/>
              <a:t>：</a:t>
            </a:r>
            <a:endParaRPr lang="zh-CN" altLang="en-US" sz="2400" dirty="0"/>
          </a:p>
          <a:p>
            <a:pPr marL="342900" indent="-342900">
              <a:spcBef>
                <a:spcPts val="600"/>
              </a:spcBef>
              <a:buClr>
                <a:srgbClr val="FF0000"/>
              </a:buClr>
              <a:buFont typeface="Wingdings" panose="05000000000000000000" pitchFamily="2" charset="2"/>
              <a:buChar char="Ø"/>
            </a:pPr>
            <a:r>
              <a:rPr lang="zh-CN" altLang="en-US" sz="2400" dirty="0"/>
              <a:t>如何规定每种资源的序号是十分重要的；</a:t>
            </a:r>
            <a:endParaRPr lang="zh-CN" altLang="en-US" sz="2400" dirty="0"/>
          </a:p>
          <a:p>
            <a:pPr marL="342900" indent="-342900">
              <a:spcBef>
                <a:spcPts val="600"/>
              </a:spcBef>
              <a:buClr>
                <a:srgbClr val="FF0000"/>
              </a:buClr>
              <a:buFont typeface="Wingdings" panose="05000000000000000000" pitchFamily="2" charset="2"/>
              <a:buChar char="Ø"/>
            </a:pPr>
            <a:r>
              <a:rPr lang="zh-CN" altLang="en-US" sz="2400" dirty="0"/>
              <a:t>限制新类型设备的增加；</a:t>
            </a:r>
            <a:endParaRPr lang="zh-CN" altLang="en-US" sz="2400" dirty="0"/>
          </a:p>
          <a:p>
            <a:pPr marL="342900" indent="-342900">
              <a:spcBef>
                <a:spcPts val="600"/>
              </a:spcBef>
              <a:buClr>
                <a:srgbClr val="FF0000"/>
              </a:buClr>
              <a:buFont typeface="Wingdings" panose="05000000000000000000" pitchFamily="2" charset="2"/>
              <a:buChar char="Ø"/>
            </a:pPr>
            <a:r>
              <a:rPr lang="zh-CN" altLang="en-US" sz="2400" dirty="0"/>
              <a:t>作业使用资源的顺序与系统规定的顺序不同，浪费资源</a:t>
            </a:r>
            <a:endParaRPr lang="zh-CN" altLang="en-US" sz="2400" dirty="0"/>
          </a:p>
          <a:p>
            <a:pPr marL="342900" indent="-342900">
              <a:spcBef>
                <a:spcPts val="600"/>
              </a:spcBef>
              <a:buClr>
                <a:srgbClr val="FF0000"/>
              </a:buClr>
              <a:buFont typeface="Wingdings" panose="05000000000000000000" pitchFamily="2" charset="2"/>
              <a:buChar char="Ø"/>
            </a:pPr>
            <a:r>
              <a:rPr lang="zh-CN" altLang="en-US" sz="2400" dirty="0"/>
              <a:t>限制用户简单、自主的编程。</a:t>
            </a:r>
            <a:endParaRPr lang="zh-CN" altLang="en-US" sz="2400" dirty="0"/>
          </a:p>
        </p:txBody>
      </p:sp>
      <p:sp>
        <p:nvSpPr>
          <p:cNvPr id="32" name="i$lîďê"/>
          <p:cNvSpPr/>
          <p:nvPr/>
        </p:nvSpPr>
        <p:spPr>
          <a:xfrm>
            <a:off x="1011555" y="1287780"/>
            <a:ext cx="11083925" cy="875665"/>
          </a:xfrm>
          <a:prstGeom prst="rect">
            <a:avLst/>
          </a:prstGeom>
          <a:noFill/>
          <a:ln>
            <a:noFill/>
          </a:ln>
        </p:spPr>
        <p:txBody>
          <a:bodyPr wrap="square" lIns="91440" tIns="45720" rIns="91440" bIns="45720" anchor="ctr" anchorCtr="0">
            <a:noAutofit/>
          </a:bodyPr>
          <a:p>
            <a:pPr>
              <a:lnSpc>
                <a:spcPct val="120000"/>
              </a:lnSpc>
            </a:pPr>
            <a:r>
              <a:rPr lang="zh-CN" altLang="en-US" sz="2400" dirty="0">
                <a:solidFill>
                  <a:srgbClr val="FF0000"/>
                </a:solidFill>
              </a:rPr>
              <a:t>破坏</a:t>
            </a:r>
            <a:r>
              <a:rPr lang="en-US" altLang="zh-CN" sz="2400" dirty="0">
                <a:solidFill>
                  <a:srgbClr val="FF0000"/>
                </a:solidFill>
              </a:rPr>
              <a:t>“</a:t>
            </a:r>
            <a:r>
              <a:rPr lang="zh-CN" altLang="en-US" sz="2400" dirty="0">
                <a:solidFill>
                  <a:srgbClr val="FF0000"/>
                </a:solidFill>
              </a:rPr>
              <a:t>循环等待</a:t>
            </a:r>
            <a:r>
              <a:rPr lang="en-US" altLang="zh-CN" sz="2400" dirty="0">
                <a:solidFill>
                  <a:srgbClr val="FF0000"/>
                </a:solidFill>
              </a:rPr>
              <a:t>”</a:t>
            </a:r>
            <a:r>
              <a:rPr lang="zh-CN" altLang="en-US" sz="2400" dirty="0">
                <a:solidFill>
                  <a:srgbClr val="FF0000"/>
                </a:solidFill>
              </a:rPr>
              <a:t>条件</a:t>
            </a:r>
            <a:endParaRPr lang="zh-CN" altLang="en-US" sz="2400" dirty="0">
              <a:solidFill>
                <a:srgbClr val="FF0000"/>
              </a:solidFill>
            </a:endParaRPr>
          </a:p>
          <a:p>
            <a:pPr>
              <a:lnSpc>
                <a:spcPct val="120000"/>
              </a:lnSpc>
            </a:pPr>
            <a:r>
              <a:rPr lang="zh-CN" altLang="en-US" sz="2400" dirty="0">
                <a:solidFill>
                  <a:schemeClr val="accent3">
                    <a:lumMod val="50000"/>
                    <a:lumOff val="50000"/>
                  </a:schemeClr>
                </a:solidFill>
              </a:rPr>
              <a:t>方法：</a:t>
            </a:r>
            <a:r>
              <a:rPr lang="zh-CN" altLang="en-US" sz="2400" dirty="0"/>
              <a:t>对所有的资源类型排序进行线性排序，并赋予不同的序号，要求进程按照递增顺序申请资源。</a:t>
            </a:r>
            <a:endParaRPr lang="zh-CN" altLang="en-US" sz="2400" dirty="0"/>
          </a:p>
        </p:txBody>
      </p:sp>
      <p:sp>
        <p:nvSpPr>
          <p:cNvPr id="39" name="îşļiḓè"/>
          <p:cNvSpPr/>
          <p:nvPr/>
        </p:nvSpPr>
        <p:spPr>
          <a:xfrm>
            <a:off x="327660" y="1187450"/>
            <a:ext cx="660400" cy="628015"/>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p>
            <a:pPr algn="ctr"/>
          </a:p>
        </p:txBody>
      </p:sp>
      <p:sp>
        <p:nvSpPr>
          <p:cNvPr id="42" name="íSlíḋe"/>
          <p:cNvSpPr/>
          <p:nvPr/>
        </p:nvSpPr>
        <p:spPr>
          <a:xfrm>
            <a:off x="518160" y="1409065"/>
            <a:ext cx="274320" cy="228600"/>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p>
            <a:pPr algn="ct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dirty="0">
                <a:latin typeface="+mj-ea"/>
                <a:ea typeface="+mj-ea"/>
              </a:rPr>
              <a:t>3.1 </a:t>
            </a:r>
            <a:r>
              <a:rPr lang="zh-CN" altLang="en-US" sz="2400" dirty="0">
                <a:latin typeface="+mj-ea"/>
                <a:ea typeface="+mj-ea"/>
              </a:rPr>
              <a:t>处理机调度概述</a:t>
            </a:r>
            <a:endParaRPr lang="zh-CN" altLang="en-US" sz="2400" dirty="0">
              <a:latin typeface="+mj-ea"/>
              <a:ea typeface="+mj-ea"/>
            </a:endParaRPr>
          </a:p>
        </p:txBody>
      </p:sp>
      <p:sp>
        <p:nvSpPr>
          <p:cNvPr id="23" name="矩形 22"/>
          <p:cNvSpPr/>
          <p:nvPr/>
        </p:nvSpPr>
        <p:spPr>
          <a:xfrm>
            <a:off x="1696469" y="2114413"/>
            <a:ext cx="3682150" cy="461665"/>
          </a:xfrm>
          <a:prstGeom prst="rect">
            <a:avLst/>
          </a:prstGeom>
        </p:spPr>
        <p:txBody>
          <a:bodyPr wrap="square">
            <a:spAutoFit/>
          </a:bodyPr>
          <a:lstStyle/>
          <a:p>
            <a:r>
              <a:rPr lang="en-US" altLang="zh-CN" sz="2400" dirty="0">
                <a:latin typeface="+mj-ea"/>
              </a:rPr>
              <a:t>3.2 </a:t>
            </a:r>
            <a:r>
              <a:rPr lang="zh-CN" altLang="en-US" sz="2400" dirty="0">
                <a:latin typeface="+mj-ea"/>
              </a:rPr>
              <a:t>调度算法</a:t>
            </a:r>
            <a:endParaRPr lang="en-US" altLang="zh-CN" sz="2400" dirty="0">
              <a:latin typeface="+mj-ea"/>
            </a:endParaRPr>
          </a:p>
        </p:txBody>
      </p:sp>
      <p:sp>
        <p:nvSpPr>
          <p:cNvPr id="24" name="矩形 23"/>
          <p:cNvSpPr/>
          <p:nvPr/>
        </p:nvSpPr>
        <p:spPr>
          <a:xfrm>
            <a:off x="1696468" y="2733538"/>
            <a:ext cx="3488967" cy="461665"/>
          </a:xfrm>
          <a:prstGeom prst="rect">
            <a:avLst/>
          </a:prstGeom>
        </p:spPr>
        <p:txBody>
          <a:bodyPr wrap="square">
            <a:spAutoFit/>
          </a:bodyPr>
          <a:lstStyle/>
          <a:p>
            <a:r>
              <a:rPr lang="en-US" altLang="zh-CN" sz="2400" dirty="0">
                <a:solidFill>
                  <a:schemeClr val="bg1">
                    <a:lumMod val="75000"/>
                  </a:schemeClr>
                </a:solidFill>
                <a:latin typeface="+mj-ea"/>
              </a:rPr>
              <a:t>3.3 </a:t>
            </a:r>
            <a:r>
              <a:rPr lang="zh-CN" altLang="en-US" sz="2400" dirty="0">
                <a:solidFill>
                  <a:schemeClr val="bg1">
                    <a:lumMod val="75000"/>
                  </a:schemeClr>
                </a:solidFill>
                <a:latin typeface="+mj-ea"/>
              </a:rPr>
              <a:t>实时调度</a:t>
            </a:r>
            <a:endParaRPr lang="zh-CN" altLang="en-US" sz="2400" dirty="0">
              <a:solidFill>
                <a:schemeClr val="bg1">
                  <a:lumMod val="75000"/>
                </a:schemeClr>
              </a:solidFill>
              <a:latin typeface="+mj-ea"/>
            </a:endParaRPr>
          </a:p>
        </p:txBody>
      </p:sp>
      <p:sp>
        <p:nvSpPr>
          <p:cNvPr id="25" name="矩形 24"/>
          <p:cNvSpPr/>
          <p:nvPr/>
        </p:nvSpPr>
        <p:spPr>
          <a:xfrm>
            <a:off x="1696468" y="3352663"/>
            <a:ext cx="3488967" cy="461665"/>
          </a:xfrm>
          <a:prstGeom prst="rect">
            <a:avLst/>
          </a:prstGeom>
        </p:spPr>
        <p:txBody>
          <a:bodyPr wrap="square">
            <a:spAutoFit/>
          </a:bodyPr>
          <a:lstStyle/>
          <a:p>
            <a:r>
              <a:rPr lang="en-US" altLang="zh-CN" sz="2400" dirty="0">
                <a:solidFill>
                  <a:schemeClr val="bg1">
                    <a:lumMod val="75000"/>
                  </a:schemeClr>
                </a:solidFill>
                <a:latin typeface="+mj-ea"/>
              </a:rPr>
              <a:t>3.4 Linux</a:t>
            </a:r>
            <a:r>
              <a:rPr lang="zh-CN" altLang="en-US" sz="2400" dirty="0">
                <a:solidFill>
                  <a:schemeClr val="bg1">
                    <a:lumMod val="75000"/>
                  </a:schemeClr>
                </a:solidFill>
                <a:latin typeface="+mj-ea"/>
              </a:rPr>
              <a:t>进程调度</a:t>
            </a:r>
            <a:endParaRPr lang="zh-CN" altLang="en-US" sz="2400" dirty="0">
              <a:solidFill>
                <a:schemeClr val="bg1">
                  <a:lumMod val="75000"/>
                </a:schemeClr>
              </a:solidFill>
              <a:latin typeface="+mj-ea"/>
            </a:endParaRPr>
          </a:p>
        </p:txBody>
      </p:sp>
      <p:sp>
        <p:nvSpPr>
          <p:cNvPr id="27" name="矩形 26"/>
          <p:cNvSpPr/>
          <p:nvPr/>
        </p:nvSpPr>
        <p:spPr>
          <a:xfrm>
            <a:off x="1696469" y="3971788"/>
            <a:ext cx="5478772" cy="461665"/>
          </a:xfrm>
          <a:prstGeom prst="rect">
            <a:avLst/>
          </a:prstGeom>
        </p:spPr>
        <p:txBody>
          <a:bodyPr wrap="square">
            <a:spAutoFit/>
          </a:bodyPr>
          <a:lstStyle/>
          <a:p>
            <a:r>
              <a:rPr lang="en-US" altLang="zh-CN" sz="2400" dirty="0">
                <a:latin typeface="+mj-ea"/>
              </a:rPr>
              <a:t>3.5 </a:t>
            </a:r>
            <a:r>
              <a:rPr lang="zh-CN" altLang="en-US" sz="2400" dirty="0">
                <a:latin typeface="+mj-ea"/>
              </a:rPr>
              <a:t>死锁概述</a:t>
            </a:r>
            <a:endParaRPr lang="zh-CN" altLang="en-US" sz="2400" dirty="0">
              <a:latin typeface="+mj-ea"/>
            </a:endParaRPr>
          </a:p>
        </p:txBody>
      </p:sp>
      <p:sp>
        <p:nvSpPr>
          <p:cNvPr id="28" name="矩形 27"/>
          <p:cNvSpPr/>
          <p:nvPr/>
        </p:nvSpPr>
        <p:spPr>
          <a:xfrm>
            <a:off x="1696468" y="4590913"/>
            <a:ext cx="3682151" cy="461665"/>
          </a:xfrm>
          <a:prstGeom prst="rect">
            <a:avLst/>
          </a:prstGeom>
        </p:spPr>
        <p:txBody>
          <a:bodyPr wrap="square">
            <a:spAutoFit/>
          </a:bodyPr>
          <a:lstStyle/>
          <a:p>
            <a:r>
              <a:rPr lang="en-US" altLang="zh-CN" sz="2400" dirty="0">
                <a:latin typeface="+mj-ea"/>
              </a:rPr>
              <a:t>3.6 </a:t>
            </a:r>
            <a:r>
              <a:rPr lang="zh-CN" altLang="en-US" sz="2400" dirty="0">
                <a:latin typeface="+mj-ea"/>
              </a:rPr>
              <a:t>预防死锁</a:t>
            </a:r>
            <a:endParaRPr lang="zh-CN" altLang="en-US" sz="2400" dirty="0">
              <a:latin typeface="+mj-ea"/>
            </a:endParaRPr>
          </a:p>
        </p:txBody>
      </p:sp>
      <p:sp>
        <p:nvSpPr>
          <p:cNvPr id="29" name="矩形 28"/>
          <p:cNvSpPr/>
          <p:nvPr/>
        </p:nvSpPr>
        <p:spPr>
          <a:xfrm>
            <a:off x="1696469" y="5210038"/>
            <a:ext cx="2866200" cy="461665"/>
          </a:xfrm>
          <a:prstGeom prst="rect">
            <a:avLst/>
          </a:prstGeom>
        </p:spPr>
        <p:txBody>
          <a:bodyPr wrap="square">
            <a:spAutoFit/>
          </a:bodyPr>
          <a:lstStyle/>
          <a:p>
            <a:r>
              <a:rPr lang="en-US" altLang="zh-CN" sz="2400" b="1" dirty="0">
                <a:solidFill>
                  <a:srgbClr val="0000FF"/>
                </a:solidFill>
                <a:latin typeface="+mj-ea"/>
              </a:rPr>
              <a:t>3.7 </a:t>
            </a:r>
            <a:r>
              <a:rPr lang="zh-CN" altLang="en-US" sz="2400" b="1" dirty="0">
                <a:solidFill>
                  <a:srgbClr val="0000FF"/>
                </a:solidFill>
                <a:latin typeface="+mj-ea"/>
              </a:rPr>
              <a:t>避免死锁</a:t>
            </a:r>
            <a:endParaRPr lang="zh-CN" altLang="en-US" sz="2400" b="1" dirty="0">
              <a:solidFill>
                <a:srgbClr val="0000FF"/>
              </a:solidFill>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3</a:t>
            </a:r>
            <a:r>
              <a:rPr lang="zh-CN" altLang="en-US" sz="3600" dirty="0">
                <a:solidFill>
                  <a:srgbClr val="000000"/>
                </a:solidFill>
              </a:rPr>
              <a:t>章 处理机调度与死锁</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dirty="0">
                <a:latin typeface="+mj-ea"/>
              </a:rPr>
              <a:t>3.8 </a:t>
            </a:r>
            <a:r>
              <a:rPr lang="zh-CN" altLang="en-US" sz="2400" dirty="0">
                <a:latin typeface="+mj-ea"/>
              </a:rPr>
              <a:t>死锁的检测与解除</a:t>
            </a:r>
            <a:endParaRPr lang="zh-CN" altLang="en-US" sz="2400" dirty="0">
              <a:latin typeface="+mj-ea"/>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pic>
        <p:nvPicPr>
          <p:cNvPr id="6" name="图片 5"/>
          <p:cNvPicPr>
            <a:picLocks noChangeAspect="1"/>
          </p:cNvPicPr>
          <p:nvPr/>
        </p:nvPicPr>
        <p:blipFill>
          <a:blip r:embed="rId2"/>
          <a:stretch>
            <a:fillRect/>
          </a:stretch>
        </p:blipFill>
        <p:spPr>
          <a:xfrm>
            <a:off x="4562475" y="4490720"/>
            <a:ext cx="6533515" cy="14478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方法思想</a:t>
            </a:r>
            <a:endParaRPr lang="zh-CN" altLang="en-US" sz="2800" b="1" dirty="0">
              <a:solidFill>
                <a:schemeClr val="bg1"/>
              </a:solidFill>
            </a:endParaRPr>
          </a:p>
        </p:txBody>
      </p:sp>
      <p:sp>
        <p:nvSpPr>
          <p:cNvPr id="31" name="文本框 30"/>
          <p:cNvSpPr txBox="1"/>
          <p:nvPr/>
        </p:nvSpPr>
        <p:spPr>
          <a:xfrm>
            <a:off x="1582003" y="1693003"/>
            <a:ext cx="8629096" cy="2261388"/>
          </a:xfrm>
          <a:prstGeom prst="rect">
            <a:avLst/>
          </a:prstGeom>
          <a:noFill/>
        </p:spPr>
        <p:txBody>
          <a:bodyPr wrap="square">
            <a:spAutoFit/>
          </a:bodyPr>
          <a:lstStyle/>
          <a:p>
            <a:pPr>
              <a:lnSpc>
                <a:spcPct val="150000"/>
              </a:lnSpc>
              <a:spcBef>
                <a:spcPts val="600"/>
              </a:spcBef>
              <a:spcAft>
                <a:spcPts val="600"/>
              </a:spcAft>
            </a:pPr>
            <a:r>
              <a:rPr lang="zh-CN" altLang="en-US" sz="2800" dirty="0"/>
              <a:t>如果一个系统在安全状态，就没有死锁</a:t>
            </a:r>
            <a:endParaRPr lang="zh-CN" altLang="en-US" sz="2800" dirty="0"/>
          </a:p>
          <a:p>
            <a:pPr>
              <a:lnSpc>
                <a:spcPct val="150000"/>
              </a:lnSpc>
              <a:spcBef>
                <a:spcPts val="600"/>
              </a:spcBef>
              <a:spcAft>
                <a:spcPts val="600"/>
              </a:spcAft>
            </a:pPr>
            <a:r>
              <a:rPr lang="zh-CN" altLang="en-US" sz="2800" dirty="0"/>
              <a:t>如果一个系统不是处于安全状态，就有</a:t>
            </a:r>
            <a:r>
              <a:rPr lang="zh-CN" altLang="en-US" sz="2800" dirty="0">
                <a:solidFill>
                  <a:schemeClr val="accent4">
                    <a:lumMod val="60000"/>
                    <a:lumOff val="40000"/>
                  </a:schemeClr>
                </a:solidFill>
              </a:rPr>
              <a:t>可能</a:t>
            </a:r>
            <a:r>
              <a:rPr lang="zh-CN" altLang="en-US" sz="2800" dirty="0"/>
              <a:t>死锁</a:t>
            </a:r>
            <a:endParaRPr lang="zh-CN" altLang="en-US" sz="2800" dirty="0"/>
          </a:p>
          <a:p>
            <a:pPr>
              <a:lnSpc>
                <a:spcPct val="150000"/>
              </a:lnSpc>
              <a:spcBef>
                <a:spcPts val="600"/>
              </a:spcBef>
              <a:spcAft>
                <a:spcPts val="600"/>
              </a:spcAft>
            </a:pPr>
            <a:r>
              <a:rPr lang="zh-CN" altLang="en-US" sz="2800" dirty="0">
                <a:solidFill>
                  <a:srgbClr val="FF0000"/>
                </a:solidFill>
              </a:rPr>
              <a:t>死锁避免 </a:t>
            </a:r>
            <a:r>
              <a:rPr lang="en-US" altLang="zh-CN" sz="2800" dirty="0">
                <a:solidFill>
                  <a:srgbClr val="FF0000"/>
                </a:solidFill>
                <a:sym typeface="Symbol" panose="05050102010706020507" pitchFamily="18" charset="2"/>
              </a:rPr>
              <a:t></a:t>
            </a:r>
            <a:r>
              <a:rPr lang="zh-CN" altLang="en-US" sz="2800" dirty="0">
                <a:solidFill>
                  <a:srgbClr val="FF0000"/>
                </a:solidFill>
              </a:rPr>
              <a:t> 确保系统永远不会进入不安全状态</a:t>
            </a:r>
            <a:endParaRPr lang="zh-CN" altLang="en-US" sz="2800" dirty="0">
              <a:solidFill>
                <a:srgbClr val="FF0000"/>
              </a:solidFill>
            </a:endParaRPr>
          </a:p>
        </p:txBody>
      </p:sp>
      <p:sp>
        <p:nvSpPr>
          <p:cNvPr id="4" name="îSļiḓè"/>
          <p:cNvSpPr/>
          <p:nvPr/>
        </p:nvSpPr>
        <p:spPr>
          <a:xfrm>
            <a:off x="714229" y="174042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5" name="íṥḻîḓe"/>
          <p:cNvSpPr/>
          <p:nvPr/>
        </p:nvSpPr>
        <p:spPr>
          <a:xfrm>
            <a:off x="734943" y="338843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 name="îşļiḓè"/>
          <p:cNvSpPr/>
          <p:nvPr/>
        </p:nvSpPr>
        <p:spPr>
          <a:xfrm>
            <a:off x="734943" y="256442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7" name="îṡḷíďe"/>
          <p:cNvSpPr/>
          <p:nvPr/>
        </p:nvSpPr>
        <p:spPr>
          <a:xfrm>
            <a:off x="904484" y="193656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8" name="íSlíḋe"/>
          <p:cNvSpPr/>
          <p:nvPr/>
        </p:nvSpPr>
        <p:spPr>
          <a:xfrm>
            <a:off x="925197" y="2786446"/>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9" name="ïśḷïḓe"/>
          <p:cNvSpPr/>
          <p:nvPr/>
        </p:nvSpPr>
        <p:spPr>
          <a:xfrm>
            <a:off x="954136" y="3577894"/>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4" name="íṧļîḋê"/>
          <p:cNvSpPr txBox="1"/>
          <p:nvPr>
            <p:custDataLst>
              <p:tags r:id="rId1"/>
            </p:custDataLst>
          </p:nvPr>
        </p:nvSpPr>
        <p:spPr>
          <a:xfrm>
            <a:off x="669925" y="975360"/>
            <a:ext cx="10956290" cy="717550"/>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800" dirty="0"/>
              <a:t>把系统状态分为</a:t>
            </a:r>
            <a:r>
              <a:rPr lang="zh-CN" altLang="en-US" sz="2800" dirty="0">
                <a:solidFill>
                  <a:srgbClr val="C00000"/>
                </a:solidFill>
              </a:rPr>
              <a:t>安全状态</a:t>
            </a:r>
            <a:r>
              <a:rPr lang="zh-CN" altLang="en-US" sz="2800" dirty="0"/>
              <a:t>和</a:t>
            </a:r>
            <a:r>
              <a:rPr lang="zh-CN" altLang="en-US" sz="2800" dirty="0">
                <a:solidFill>
                  <a:srgbClr val="C00000"/>
                </a:solidFill>
              </a:rPr>
              <a:t>不安全状态</a:t>
            </a:r>
            <a:endParaRPr lang="zh-CN" altLang="en-US" sz="2800" dirty="0">
              <a:solidFill>
                <a:srgbClr val="C00000"/>
              </a:solidFill>
            </a:endParaRPr>
          </a:p>
        </p:txBody>
      </p:sp>
      <p:sp>
        <p:nvSpPr>
          <p:cNvPr id="2" name="íṧļîḋê"/>
          <p:cNvSpPr txBox="1"/>
          <p:nvPr>
            <p:custDataLst>
              <p:tags r:id="rId2"/>
            </p:custDataLst>
          </p:nvPr>
        </p:nvSpPr>
        <p:spPr>
          <a:xfrm>
            <a:off x="669925" y="4399915"/>
            <a:ext cx="10956290" cy="717550"/>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800" dirty="0">
                <a:solidFill>
                  <a:srgbClr val="C00000"/>
                </a:solidFill>
              </a:rPr>
              <a:t>思路</a:t>
            </a:r>
            <a:r>
              <a:rPr lang="zh-CN" altLang="en-US" sz="2800" dirty="0"/>
              <a:t>：在资源分配前，先计算该资源分配的安全性，若此次分配不会导致系统进入不安全状态，则将资源分配给进程，否则，令进程等待。</a:t>
            </a:r>
            <a:endParaRPr lang="zh-CN" altLang="en-US" sz="2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银行家算法</a:t>
            </a:r>
            <a:endParaRPr lang="zh-CN" altLang="en-US" sz="2800" b="1" dirty="0">
              <a:solidFill>
                <a:schemeClr val="bg1"/>
              </a:solidFill>
            </a:endParaRPr>
          </a:p>
        </p:txBody>
      </p:sp>
      <p:sp>
        <p:nvSpPr>
          <p:cNvPr id="31" name="文本框 30"/>
          <p:cNvSpPr txBox="1"/>
          <p:nvPr/>
        </p:nvSpPr>
        <p:spPr>
          <a:xfrm>
            <a:off x="612202" y="1620309"/>
            <a:ext cx="10839635" cy="1753235"/>
          </a:xfrm>
          <a:prstGeom prst="rect">
            <a:avLst/>
          </a:prstGeom>
          <a:noFill/>
        </p:spPr>
        <p:txBody>
          <a:bodyPr wrap="square">
            <a:spAutoFit/>
          </a:bodyPr>
          <a:p>
            <a:pPr marL="457200" indent="-457200">
              <a:lnSpc>
                <a:spcPct val="150000"/>
              </a:lnSpc>
              <a:buFont typeface="Wingdings" panose="05000000000000000000" pitchFamily="2" charset="2"/>
              <a:buChar char="Ø"/>
            </a:pPr>
            <a:r>
              <a:rPr lang="zh-CN" altLang="en-US" sz="2400" dirty="0">
                <a:solidFill>
                  <a:schemeClr val="tx1"/>
                </a:solidFill>
                <a:sym typeface="+mn-ea"/>
              </a:rPr>
              <a:t>银行家算法（</a:t>
            </a:r>
            <a:r>
              <a:rPr lang="en-US" altLang="zh-CN" sz="2400" dirty="0">
                <a:solidFill>
                  <a:schemeClr val="tx1"/>
                </a:solidFill>
                <a:sym typeface="+mn-ea"/>
              </a:rPr>
              <a:t>Dijkstra迪杰斯特拉</a:t>
            </a:r>
            <a:r>
              <a:rPr lang="zh-CN" altLang="en-US" sz="2400" dirty="0">
                <a:solidFill>
                  <a:schemeClr val="tx1"/>
                </a:solidFill>
                <a:sym typeface="+mn-ea"/>
              </a:rPr>
              <a:t>）是典型的避免死锁算法</a:t>
            </a:r>
            <a:r>
              <a:rPr lang="zh-CN" altLang="en-US" sz="2400" dirty="0">
                <a:sym typeface="+mn-ea"/>
              </a:rPr>
              <a:t>。</a:t>
            </a:r>
            <a:endParaRPr lang="zh-CN" altLang="en-US" sz="2400" dirty="0">
              <a:sym typeface="+mn-ea"/>
            </a:endParaRPr>
          </a:p>
          <a:p>
            <a:pPr marL="457200" indent="-457200">
              <a:lnSpc>
                <a:spcPct val="150000"/>
              </a:lnSpc>
              <a:buFont typeface="Wingdings" panose="05000000000000000000" pitchFamily="2" charset="2"/>
              <a:buChar char="Ø"/>
            </a:pPr>
            <a:r>
              <a:rPr lang="zh-CN" altLang="en-US" sz="2400" dirty="0">
                <a:sym typeface="+mn-ea"/>
              </a:rPr>
              <a:t>该算法用于银行系统现金贷款的发放而得名</a:t>
            </a:r>
            <a:r>
              <a:rPr lang="zh-CN" altLang="en-US" sz="2400" dirty="0"/>
              <a:t>。</a:t>
            </a:r>
            <a:endParaRPr lang="zh-CN" altLang="en-US" sz="2400" dirty="0"/>
          </a:p>
          <a:p>
            <a:pPr lvl="1" indent="0">
              <a:lnSpc>
                <a:spcPct val="150000"/>
              </a:lnSpc>
              <a:buFont typeface="Wingdings" panose="05000000000000000000" pitchFamily="2" charset="2"/>
              <a:buNone/>
            </a:pPr>
            <a:endParaRPr lang="zh-CN" altLang="en-US" sz="2400" dirty="0"/>
          </a:p>
        </p:txBody>
      </p:sp>
      <p:pic>
        <p:nvPicPr>
          <p:cNvPr id="11" name="Picture 2" descr="http://a0.att.hudong.com/80/32/01300000939397131132321237253_s.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53763" y="2109484"/>
            <a:ext cx="3372181" cy="357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安全状态</a:t>
            </a:r>
            <a:endParaRPr lang="zh-CN" altLang="en-US" sz="2800" b="1" dirty="0">
              <a:solidFill>
                <a:schemeClr val="bg1"/>
              </a:solidFill>
            </a:endParaRPr>
          </a:p>
        </p:txBody>
      </p:sp>
      <p:sp>
        <p:nvSpPr>
          <p:cNvPr id="31" name="文本框 30"/>
          <p:cNvSpPr txBox="1"/>
          <p:nvPr/>
        </p:nvSpPr>
        <p:spPr>
          <a:xfrm>
            <a:off x="612202" y="1620309"/>
            <a:ext cx="10839635" cy="3415030"/>
          </a:xfrm>
          <a:prstGeom prst="rect">
            <a:avLst/>
          </a:prstGeom>
          <a:noFill/>
        </p:spPr>
        <p:txBody>
          <a:bodyPr wrap="square">
            <a:spAutoFit/>
          </a:bodyPr>
          <a:lstStyle/>
          <a:p>
            <a:pPr marL="457200" indent="-457200">
              <a:lnSpc>
                <a:spcPct val="150000"/>
              </a:lnSpc>
              <a:buFont typeface="Wingdings" panose="05000000000000000000" pitchFamily="2" charset="2"/>
              <a:buChar char="Ø"/>
            </a:pPr>
            <a:r>
              <a:rPr lang="zh-CN" altLang="en-US" sz="2400" dirty="0">
                <a:solidFill>
                  <a:srgbClr val="FF0000"/>
                </a:solidFill>
                <a:sym typeface="+mn-ea"/>
              </a:rPr>
              <a:t>安全状态</a:t>
            </a:r>
            <a:r>
              <a:rPr lang="zh-CN" altLang="en-US" sz="2400" dirty="0">
                <a:sym typeface="+mn-ea"/>
              </a:rPr>
              <a:t>是指系统能够分配所有进程所要求的所有资源而不会进入死锁的状态。</a:t>
            </a:r>
            <a:endParaRPr lang="zh-CN" altLang="en-US" sz="2400" dirty="0">
              <a:sym typeface="+mn-ea"/>
            </a:endParaRPr>
          </a:p>
          <a:p>
            <a:pPr marL="457200" indent="-457200">
              <a:lnSpc>
                <a:spcPct val="150000"/>
              </a:lnSpc>
              <a:buFont typeface="Wingdings" panose="05000000000000000000" pitchFamily="2" charset="2"/>
              <a:buChar char="Ø"/>
            </a:pPr>
            <a:r>
              <a:rPr lang="zh-CN" altLang="en-US" sz="2400" dirty="0">
                <a:sym typeface="+mn-ea"/>
              </a:rPr>
              <a:t>如果</a:t>
            </a:r>
            <a:r>
              <a:rPr lang="zh-CN" altLang="en-US" sz="2400" dirty="0"/>
              <a:t>系统中至少存在一个</a:t>
            </a:r>
            <a:r>
              <a:rPr lang="zh-CN" altLang="en-US" sz="2400" dirty="0">
                <a:sym typeface="+mn-ea"/>
              </a:rPr>
              <a:t>进程序列</a:t>
            </a:r>
            <a:r>
              <a:rPr lang="en-US" altLang="zh-CN" sz="2400" dirty="0">
                <a:sym typeface="+mn-ea"/>
              </a:rPr>
              <a:t>{P1, P2, …, </a:t>
            </a:r>
            <a:r>
              <a:rPr lang="en-US" altLang="zh-CN" sz="2400" dirty="0" err="1">
                <a:sym typeface="+mn-ea"/>
              </a:rPr>
              <a:t>Pn</a:t>
            </a:r>
            <a:r>
              <a:rPr lang="en-US" altLang="zh-CN" sz="2400" dirty="0">
                <a:sym typeface="+mn-ea"/>
              </a:rPr>
              <a:t>}</a:t>
            </a:r>
            <a:r>
              <a:rPr lang="zh-CN" altLang="en-US" sz="2400" dirty="0">
                <a:sym typeface="+mn-ea"/>
              </a:rPr>
              <a:t>，系统按照这个序列调度执行，就能避免资源不足的情况，就说系统是安全状态；如果一个也不存在，那系统就是不安全状态，有可能发生死锁</a:t>
            </a:r>
            <a:r>
              <a:rPr lang="zh-CN" altLang="en-US" sz="2400" dirty="0"/>
              <a:t>。</a:t>
            </a:r>
            <a:endParaRPr lang="zh-CN" altLang="en-US" sz="2400" dirty="0"/>
          </a:p>
          <a:p>
            <a:pPr lvl="1" indent="0">
              <a:lnSpc>
                <a:spcPct val="150000"/>
              </a:lnSpc>
              <a:buFont typeface="Wingdings" panose="05000000000000000000" pitchFamily="2" charset="2"/>
              <a:buNone/>
            </a:pPr>
            <a:endParaRPr lang="zh-CN" altLang="en-US" sz="2400" dirty="0"/>
          </a:p>
        </p:txBody>
      </p:sp>
      <p:sp>
        <p:nvSpPr>
          <p:cNvPr id="23" name="ïsľíḓê"/>
          <p:cNvSpPr/>
          <p:nvPr>
            <p:custDataLst>
              <p:tags r:id="rId1"/>
            </p:custDataLst>
          </p:nvPr>
        </p:nvSpPr>
        <p:spPr>
          <a:xfrm>
            <a:off x="314325" y="2562860"/>
            <a:ext cx="408305" cy="363855"/>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ïSḻiḍé"/>
          <p:cNvSpPr txBox="1"/>
          <p:nvPr>
            <p:custDataLst>
              <p:tags r:id="rId1"/>
            </p:custDataLst>
          </p:nvPr>
        </p:nvSpPr>
        <p:spPr>
          <a:xfrm>
            <a:off x="1027430" y="1151890"/>
            <a:ext cx="9959340" cy="730250"/>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dirty="0">
                <a:latin typeface="+mj-ea"/>
                <a:ea typeface="+mj-ea"/>
              </a:rPr>
              <a:t>假定系统有三个进程</a:t>
            </a:r>
            <a:r>
              <a:rPr lang="en-US" altLang="zh-CN" sz="2400" dirty="0">
                <a:latin typeface="+mj-ea"/>
                <a:ea typeface="+mj-ea"/>
              </a:rPr>
              <a:t>A</a:t>
            </a:r>
            <a:r>
              <a:rPr lang="zh-CN" altLang="en-US" sz="2400" dirty="0">
                <a:latin typeface="+mj-ea"/>
                <a:ea typeface="+mj-ea"/>
              </a:rPr>
              <a:t>、</a:t>
            </a:r>
            <a:r>
              <a:rPr lang="en-US" altLang="zh-CN" sz="2400" dirty="0">
                <a:latin typeface="+mj-ea"/>
                <a:ea typeface="+mj-ea"/>
              </a:rPr>
              <a:t>B</a:t>
            </a:r>
            <a:r>
              <a:rPr lang="zh-CN" altLang="en-US" sz="2400" dirty="0">
                <a:latin typeface="+mj-ea"/>
                <a:ea typeface="+mj-ea"/>
              </a:rPr>
              <a:t>和</a:t>
            </a:r>
            <a:r>
              <a:rPr lang="en-US" altLang="zh-CN" sz="2400" dirty="0">
                <a:latin typeface="+mj-ea"/>
                <a:ea typeface="+mj-ea"/>
              </a:rPr>
              <a:t>C</a:t>
            </a:r>
            <a:r>
              <a:rPr lang="zh-CN" altLang="en-US" sz="2400" dirty="0">
                <a:latin typeface="+mj-ea"/>
                <a:ea typeface="+mj-ea"/>
              </a:rPr>
              <a:t>，共有</a:t>
            </a:r>
            <a:r>
              <a:rPr lang="en-US" altLang="zh-CN" sz="2400" dirty="0">
                <a:latin typeface="+mj-ea"/>
                <a:ea typeface="+mj-ea"/>
              </a:rPr>
              <a:t>12</a:t>
            </a:r>
            <a:r>
              <a:rPr lang="zh-CN" altLang="en-US" sz="2400" dirty="0">
                <a:latin typeface="+mj-ea"/>
                <a:ea typeface="+mj-ea"/>
              </a:rPr>
              <a:t>台磁带机，在各个进程需求量以及已</a:t>
            </a:r>
            <a:r>
              <a:rPr lang="en-US" altLang="zh-CN" sz="2400" dirty="0">
                <a:latin typeface="+mj-ea"/>
                <a:ea typeface="+mj-ea"/>
                <a:sym typeface="+mn-ea"/>
              </a:rPr>
              <a:t>T0</a:t>
            </a:r>
            <a:r>
              <a:rPr lang="zh-CN" altLang="en-US" sz="2400" dirty="0">
                <a:latin typeface="+mj-ea"/>
                <a:ea typeface="+mj-ea"/>
                <a:sym typeface="+mn-ea"/>
              </a:rPr>
              <a:t>时刻</a:t>
            </a:r>
            <a:r>
              <a:rPr lang="zh-CN" altLang="en-US" sz="2400" dirty="0">
                <a:latin typeface="+mj-ea"/>
                <a:ea typeface="+mj-ea"/>
              </a:rPr>
              <a:t>分配情况见下表</a:t>
            </a:r>
            <a:endParaRPr lang="zh-CN" altLang="en-US" sz="2400" dirty="0">
              <a:latin typeface="+mj-ea"/>
              <a:ea typeface="+mj-ea"/>
            </a:endParaRPr>
          </a:p>
        </p:txBody>
      </p:sp>
      <p:sp>
        <p:nvSpPr>
          <p:cNvPr id="3" name="ïSḻiḍé"/>
          <p:cNvSpPr txBox="1"/>
          <p:nvPr>
            <p:custDataLst>
              <p:tags r:id="rId2"/>
            </p:custDataLst>
          </p:nvPr>
        </p:nvSpPr>
        <p:spPr>
          <a:xfrm>
            <a:off x="1027430" y="4732020"/>
            <a:ext cx="9959340" cy="730250"/>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en-US" sz="2400" dirty="0">
                <a:latin typeface="+mj-ea"/>
                <a:ea typeface="+mj-ea"/>
              </a:rPr>
              <a:t>1</a:t>
            </a:r>
            <a:r>
              <a:rPr lang="zh-CN" altLang="en-US" sz="2400" dirty="0">
                <a:latin typeface="+mj-ea"/>
                <a:ea typeface="+mj-ea"/>
              </a:rPr>
              <a:t>、</a:t>
            </a:r>
            <a:r>
              <a:rPr lang="en-US" altLang="zh-CN" sz="2400" dirty="0">
                <a:latin typeface="+mj-ea"/>
                <a:ea typeface="+mj-ea"/>
              </a:rPr>
              <a:t>T0</a:t>
            </a:r>
            <a:r>
              <a:rPr lang="zh-CN" altLang="en-US" sz="2400" dirty="0">
                <a:latin typeface="+mj-ea"/>
                <a:ea typeface="+mj-ea"/>
              </a:rPr>
              <a:t>时刻系统的安全性？</a:t>
            </a:r>
            <a:endParaRPr lang="zh-CN" altLang="en-US" sz="2400" dirty="0">
              <a:latin typeface="+mj-ea"/>
              <a:ea typeface="+mj-ea"/>
            </a:endParaRPr>
          </a:p>
          <a:p>
            <a:pPr algn="just">
              <a:lnSpc>
                <a:spcPct val="130000"/>
              </a:lnSpc>
            </a:pPr>
            <a:r>
              <a:rPr lang="en-US" altLang="zh-CN" sz="2400" dirty="0">
                <a:latin typeface="+mj-ea"/>
                <a:ea typeface="+mj-ea"/>
              </a:rPr>
              <a:t>2</a:t>
            </a:r>
            <a:r>
              <a:rPr lang="zh-CN" altLang="en-US" sz="2400" dirty="0">
                <a:latin typeface="+mj-ea"/>
                <a:ea typeface="+mj-ea"/>
              </a:rPr>
              <a:t>、假设</a:t>
            </a:r>
            <a:r>
              <a:rPr lang="en-US" altLang="zh-CN" sz="2400" dirty="0">
                <a:latin typeface="+mj-ea"/>
                <a:ea typeface="+mj-ea"/>
              </a:rPr>
              <a:t>C</a:t>
            </a:r>
            <a:r>
              <a:rPr lang="zh-CN" altLang="en-US" sz="2400" dirty="0">
                <a:latin typeface="+mj-ea"/>
                <a:ea typeface="+mj-ea"/>
              </a:rPr>
              <a:t>在</a:t>
            </a:r>
            <a:r>
              <a:rPr lang="en-US" altLang="zh-CN" sz="2400" dirty="0">
                <a:latin typeface="+mj-ea"/>
                <a:ea typeface="+mj-ea"/>
              </a:rPr>
              <a:t>T0</a:t>
            </a:r>
            <a:r>
              <a:rPr lang="zh-CN" altLang="en-US" sz="2400" dirty="0">
                <a:latin typeface="+mj-ea"/>
                <a:ea typeface="+mj-ea"/>
              </a:rPr>
              <a:t>时刻又申请一台磁带机，系统是否安全？</a:t>
            </a:r>
            <a:endParaRPr lang="zh-CN" altLang="en-US" sz="2400" dirty="0">
              <a:latin typeface="+mj-ea"/>
              <a:ea typeface="+mj-ea"/>
            </a:endParaRPr>
          </a:p>
        </p:txBody>
      </p:sp>
      <p:graphicFrame>
        <p:nvGraphicFramePr>
          <p:cNvPr id="5" name="表格 4"/>
          <p:cNvGraphicFramePr/>
          <p:nvPr>
            <p:custDataLst>
              <p:tags r:id="rId3"/>
            </p:custDataLst>
          </p:nvPr>
        </p:nvGraphicFramePr>
        <p:xfrm>
          <a:off x="1027430" y="2167890"/>
          <a:ext cx="9378950" cy="2131060"/>
        </p:xfrm>
        <a:graphic>
          <a:graphicData uri="http://schemas.openxmlformats.org/drawingml/2006/table">
            <a:tbl>
              <a:tblPr firstRow="1" bandRow="1">
                <a:tableStyleId>{5C22544A-7EE6-4342-B048-85BDC9FD1C3A}</a:tableStyleId>
              </a:tblPr>
              <a:tblGrid>
                <a:gridCol w="1875790"/>
                <a:gridCol w="1875790"/>
                <a:gridCol w="1875790"/>
                <a:gridCol w="1875790"/>
                <a:gridCol w="1875790"/>
              </a:tblGrid>
              <a:tr h="532765">
                <a:tc>
                  <a:txBody>
                    <a:bodyPr/>
                    <a:p>
                      <a:pPr algn="ctr">
                        <a:buNone/>
                      </a:pPr>
                      <a:r>
                        <a:rPr lang="zh-CN" altLang="en-US"/>
                        <a:t>进程</a:t>
                      </a:r>
                      <a:endParaRPr lang="zh-CN" altLang="en-US"/>
                    </a:p>
                  </a:txBody>
                  <a:tcPr/>
                </a:tc>
                <a:tc>
                  <a:txBody>
                    <a:bodyPr/>
                    <a:p>
                      <a:pPr algn="ctr">
                        <a:buNone/>
                      </a:pPr>
                      <a:r>
                        <a:rPr lang="zh-CN" altLang="en-US"/>
                        <a:t>最大需求数</a:t>
                      </a:r>
                      <a:endParaRPr lang="zh-CN" altLang="en-US"/>
                    </a:p>
                  </a:txBody>
                  <a:tcPr/>
                </a:tc>
                <a:tc>
                  <a:txBody>
                    <a:bodyPr/>
                    <a:p>
                      <a:pPr algn="ctr">
                        <a:buNone/>
                      </a:pPr>
                      <a:r>
                        <a:rPr lang="zh-CN" altLang="en-US"/>
                        <a:t>已分配数</a:t>
                      </a:r>
                      <a:endParaRPr lang="zh-CN" altLang="en-US"/>
                    </a:p>
                  </a:txBody>
                  <a:tcPr/>
                </a:tc>
                <a:tc>
                  <a:txBody>
                    <a:bodyPr/>
                    <a:p>
                      <a:pPr algn="ctr">
                        <a:buNone/>
                      </a:pPr>
                      <a:r>
                        <a:rPr lang="zh-CN" altLang="en-US"/>
                        <a:t>还需资源数</a:t>
                      </a:r>
                      <a:endParaRPr lang="zh-CN" altLang="en-US"/>
                    </a:p>
                  </a:txBody>
                  <a:tcPr/>
                </a:tc>
                <a:tc>
                  <a:txBody>
                    <a:bodyPr/>
                    <a:p>
                      <a:pPr algn="ctr">
                        <a:buNone/>
                      </a:pPr>
                      <a:r>
                        <a:rPr lang="zh-CN" altLang="en-US"/>
                        <a:t>可用资源数</a:t>
                      </a:r>
                      <a:endParaRPr lang="zh-CN" altLang="en-US"/>
                    </a:p>
                  </a:txBody>
                  <a:tcPr/>
                </a:tc>
              </a:tr>
              <a:tr h="532765">
                <a:tc>
                  <a:txBody>
                    <a:bodyPr/>
                    <a:p>
                      <a:pPr algn="ctr">
                        <a:buNone/>
                      </a:pPr>
                      <a:r>
                        <a:rPr lang="en-US" altLang="zh-CN" sz="2400"/>
                        <a:t>A</a:t>
                      </a:r>
                      <a:endParaRPr lang="en-US" altLang="zh-CN" sz="2400"/>
                    </a:p>
                  </a:txBody>
                  <a:tcPr/>
                </a:tc>
                <a:tc>
                  <a:txBody>
                    <a:bodyPr/>
                    <a:p>
                      <a:pPr algn="ctr">
                        <a:buNone/>
                      </a:pPr>
                      <a:r>
                        <a:rPr lang="en-US" altLang="zh-CN" sz="2400"/>
                        <a:t>10</a:t>
                      </a:r>
                      <a:endParaRPr lang="en-US" altLang="zh-CN" sz="2400"/>
                    </a:p>
                  </a:txBody>
                  <a:tcPr/>
                </a:tc>
                <a:tc>
                  <a:txBody>
                    <a:bodyPr/>
                    <a:p>
                      <a:pPr algn="ctr">
                        <a:buNone/>
                      </a:pPr>
                      <a:r>
                        <a:rPr lang="en-US" altLang="zh-CN" sz="2400"/>
                        <a:t>5</a:t>
                      </a:r>
                      <a:endParaRPr lang="en-US" altLang="zh-CN" sz="2400"/>
                    </a:p>
                  </a:txBody>
                  <a:tcPr/>
                </a:tc>
                <a:tc>
                  <a:txBody>
                    <a:bodyPr/>
                    <a:p>
                      <a:pPr algn="ctr">
                        <a:buNone/>
                      </a:pPr>
                      <a:endParaRPr lang="zh-CN" altLang="en-US" sz="2400"/>
                    </a:p>
                  </a:txBody>
                  <a:tcPr/>
                </a:tc>
                <a:tc>
                  <a:txBody>
                    <a:bodyPr/>
                    <a:p>
                      <a:pPr algn="ctr">
                        <a:buNone/>
                      </a:pPr>
                      <a:r>
                        <a:rPr lang="en-US" altLang="zh-CN" sz="2400"/>
                        <a:t>3</a:t>
                      </a:r>
                      <a:endParaRPr lang="en-US" altLang="zh-CN" sz="2400"/>
                    </a:p>
                  </a:txBody>
                  <a:tcPr/>
                </a:tc>
              </a:tr>
              <a:tr h="532765">
                <a:tc>
                  <a:txBody>
                    <a:bodyPr/>
                    <a:p>
                      <a:pPr algn="ctr">
                        <a:buNone/>
                      </a:pPr>
                      <a:r>
                        <a:rPr lang="en-US" altLang="zh-CN" sz="2400"/>
                        <a:t>B</a:t>
                      </a:r>
                      <a:endParaRPr lang="en-US" altLang="zh-CN" sz="2400"/>
                    </a:p>
                  </a:txBody>
                  <a:tcPr/>
                </a:tc>
                <a:tc>
                  <a:txBody>
                    <a:bodyPr/>
                    <a:p>
                      <a:pPr algn="ctr">
                        <a:buNone/>
                      </a:pPr>
                      <a:r>
                        <a:rPr lang="en-US" altLang="zh-CN" sz="2400"/>
                        <a:t>4</a:t>
                      </a:r>
                      <a:endParaRPr lang="en-US" altLang="zh-CN" sz="2400"/>
                    </a:p>
                  </a:txBody>
                  <a:tcPr/>
                </a:tc>
                <a:tc>
                  <a:txBody>
                    <a:bodyPr/>
                    <a:p>
                      <a:pPr algn="ctr">
                        <a:buNone/>
                      </a:pPr>
                      <a:r>
                        <a:rPr lang="en-US" altLang="zh-CN" sz="2400"/>
                        <a:t>2</a:t>
                      </a:r>
                      <a:endParaRPr lang="en-US" altLang="zh-CN" sz="2400"/>
                    </a:p>
                  </a:txBody>
                  <a:tcPr/>
                </a:tc>
                <a:tc>
                  <a:txBody>
                    <a:bodyPr/>
                    <a:p>
                      <a:pPr algn="ctr">
                        <a:buNone/>
                      </a:pPr>
                      <a:endParaRPr lang="zh-CN" altLang="en-US" sz="2400"/>
                    </a:p>
                  </a:txBody>
                  <a:tcPr/>
                </a:tc>
                <a:tc>
                  <a:txBody>
                    <a:bodyPr/>
                    <a:p>
                      <a:pPr algn="ctr">
                        <a:buNone/>
                      </a:pPr>
                      <a:endParaRPr lang="zh-CN" altLang="en-US" sz="2400"/>
                    </a:p>
                  </a:txBody>
                  <a:tcPr/>
                </a:tc>
              </a:tr>
              <a:tr h="532765">
                <a:tc>
                  <a:txBody>
                    <a:bodyPr/>
                    <a:p>
                      <a:pPr algn="ctr">
                        <a:buNone/>
                      </a:pPr>
                      <a:r>
                        <a:rPr lang="en-US" altLang="zh-CN" sz="2400"/>
                        <a:t>C</a:t>
                      </a:r>
                      <a:endParaRPr lang="en-US" altLang="zh-CN" sz="2400"/>
                    </a:p>
                  </a:txBody>
                  <a:tcPr/>
                </a:tc>
                <a:tc>
                  <a:txBody>
                    <a:bodyPr/>
                    <a:p>
                      <a:pPr algn="ctr">
                        <a:buNone/>
                      </a:pPr>
                      <a:r>
                        <a:rPr lang="en-US" altLang="zh-CN" sz="2400"/>
                        <a:t>9</a:t>
                      </a:r>
                      <a:endParaRPr lang="en-US" altLang="zh-CN" sz="2400"/>
                    </a:p>
                  </a:txBody>
                  <a:tcPr/>
                </a:tc>
                <a:tc>
                  <a:txBody>
                    <a:bodyPr/>
                    <a:p>
                      <a:pPr algn="ctr">
                        <a:buNone/>
                      </a:pPr>
                      <a:r>
                        <a:rPr lang="en-US" altLang="zh-CN" sz="2400"/>
                        <a:t>2</a:t>
                      </a:r>
                      <a:endParaRPr lang="en-US" altLang="zh-CN" sz="2400"/>
                    </a:p>
                  </a:txBody>
                  <a:tcPr/>
                </a:tc>
                <a:tc>
                  <a:txBody>
                    <a:bodyPr/>
                    <a:p>
                      <a:pPr algn="ctr">
                        <a:buNone/>
                      </a:pPr>
                      <a:endParaRPr lang="zh-CN" altLang="en-US" sz="2400"/>
                    </a:p>
                  </a:txBody>
                  <a:tcPr/>
                </a:tc>
                <a:tc>
                  <a:txBody>
                    <a:bodyPr/>
                    <a:p>
                      <a:pPr algn="ctr">
                        <a:buNone/>
                      </a:pPr>
                      <a:endParaRPr lang="zh-CN" altLang="en-US" sz="2400"/>
                    </a:p>
                  </a:txBody>
                  <a:tcP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银行家算法的数据结构 </a:t>
            </a:r>
            <a:endParaRPr lang="zh-CN" altLang="en-US" sz="2800" b="1" dirty="0">
              <a:solidFill>
                <a:schemeClr val="bg1"/>
              </a:solidFill>
            </a:endParaRPr>
          </a:p>
        </p:txBody>
      </p:sp>
      <p:sp>
        <p:nvSpPr>
          <p:cNvPr id="31" name="文本框 30"/>
          <p:cNvSpPr txBox="1"/>
          <p:nvPr/>
        </p:nvSpPr>
        <p:spPr>
          <a:xfrm>
            <a:off x="970915" y="2105660"/>
            <a:ext cx="11102975" cy="3279140"/>
          </a:xfrm>
          <a:prstGeom prst="rect">
            <a:avLst/>
          </a:prstGeom>
          <a:noFill/>
        </p:spPr>
        <p:txBody>
          <a:bodyPr wrap="square">
            <a:spAutoFit/>
          </a:bodyPr>
          <a:lstStyle/>
          <a:p>
            <a:pPr>
              <a:lnSpc>
                <a:spcPct val="123000"/>
              </a:lnSpc>
              <a:spcBef>
                <a:spcPts val="600"/>
              </a:spcBef>
              <a:spcAft>
                <a:spcPts val="600"/>
              </a:spcAft>
            </a:pPr>
            <a:r>
              <a:rPr lang="en-US" altLang="zh-CN" sz="2400" dirty="0">
                <a:solidFill>
                  <a:schemeClr val="accent4">
                    <a:lumMod val="60000"/>
                    <a:lumOff val="40000"/>
                  </a:schemeClr>
                </a:solidFill>
              </a:rPr>
              <a:t>Available(</a:t>
            </a:r>
            <a:r>
              <a:rPr lang="zh-CN" altLang="en-US" sz="2400" b="1" dirty="0">
                <a:solidFill>
                  <a:schemeClr val="accent4">
                    <a:lumMod val="60000"/>
                    <a:lumOff val="40000"/>
                  </a:schemeClr>
                </a:solidFill>
              </a:rPr>
              <a:t>可用资源数</a:t>
            </a:r>
            <a:r>
              <a:rPr lang="en-US" altLang="zh-CN" sz="2400" dirty="0">
                <a:solidFill>
                  <a:schemeClr val="accent4">
                    <a:lumMod val="60000"/>
                    <a:lumOff val="40000"/>
                  </a:schemeClr>
                </a:solidFill>
              </a:rPr>
              <a:t>):  </a:t>
            </a:r>
            <a:r>
              <a:rPr lang="zh-CN" altLang="en-US" sz="2000" dirty="0"/>
              <a:t>长度为 </a:t>
            </a:r>
            <a:r>
              <a:rPr lang="en-US" altLang="zh-CN" sz="2000" dirty="0"/>
              <a:t>m</a:t>
            </a:r>
            <a:r>
              <a:rPr lang="zh-CN" altLang="en-US" sz="2000" dirty="0"/>
              <a:t>的向量。 如果</a:t>
            </a:r>
            <a:r>
              <a:rPr lang="en-US" altLang="zh-CN" sz="2000" dirty="0"/>
              <a:t>available[j]=k,</a:t>
            </a:r>
            <a:r>
              <a:rPr lang="zh-CN" altLang="en-US" sz="2000" dirty="0"/>
              <a:t>那么资源</a:t>
            </a:r>
            <a:r>
              <a:rPr lang="en-US" altLang="zh-CN" sz="2000" dirty="0" err="1"/>
              <a:t>Rj</a:t>
            </a:r>
            <a:r>
              <a:rPr lang="zh-CN" altLang="en-US" sz="2000" dirty="0"/>
              <a:t>有</a:t>
            </a:r>
            <a:r>
              <a:rPr lang="en-US" altLang="zh-CN" sz="2000" dirty="0"/>
              <a:t>k</a:t>
            </a:r>
            <a:r>
              <a:rPr lang="zh-CN" altLang="en-US" sz="2000" dirty="0"/>
              <a:t>个实例有效</a:t>
            </a:r>
            <a:endParaRPr lang="zh-CN" altLang="en-US" sz="2000" dirty="0"/>
          </a:p>
          <a:p>
            <a:pPr>
              <a:lnSpc>
                <a:spcPct val="123000"/>
              </a:lnSpc>
              <a:spcBef>
                <a:spcPts val="600"/>
              </a:spcBef>
              <a:spcAft>
                <a:spcPts val="600"/>
              </a:spcAft>
            </a:pPr>
            <a:r>
              <a:rPr lang="en-US" altLang="zh-CN" sz="2400" dirty="0">
                <a:solidFill>
                  <a:schemeClr val="accent4">
                    <a:lumMod val="60000"/>
                    <a:lumOff val="40000"/>
                  </a:schemeClr>
                </a:solidFill>
              </a:rPr>
              <a:t>Max(</a:t>
            </a:r>
            <a:r>
              <a:rPr lang="zh-CN" altLang="en-US" sz="2400" b="1" dirty="0">
                <a:solidFill>
                  <a:schemeClr val="accent4">
                    <a:lumMod val="60000"/>
                    <a:lumOff val="40000"/>
                  </a:schemeClr>
                </a:solidFill>
              </a:rPr>
              <a:t>最大需求数</a:t>
            </a:r>
            <a:r>
              <a:rPr lang="en-US" altLang="zh-CN" sz="2400" dirty="0">
                <a:solidFill>
                  <a:schemeClr val="accent4">
                    <a:lumMod val="60000"/>
                    <a:lumOff val="40000"/>
                  </a:schemeClr>
                </a:solidFill>
              </a:rPr>
              <a:t>): </a:t>
            </a:r>
            <a:r>
              <a:rPr lang="en-US" altLang="zh-CN" sz="2000" dirty="0"/>
              <a:t>n x m </a:t>
            </a:r>
            <a:r>
              <a:rPr lang="zh-CN" altLang="en-US" sz="2000" dirty="0"/>
              <a:t>矩阵。 如果</a:t>
            </a:r>
            <a:r>
              <a:rPr lang="en-US" altLang="zh-CN" sz="2000" dirty="0"/>
              <a:t>Max[</a:t>
            </a:r>
            <a:r>
              <a:rPr lang="en-US" altLang="zh-CN" sz="2000" dirty="0" err="1"/>
              <a:t>i,j</a:t>
            </a:r>
            <a:r>
              <a:rPr lang="en-US" altLang="zh-CN" sz="2000" dirty="0"/>
              <a:t>]=k,</a:t>
            </a:r>
            <a:r>
              <a:rPr lang="zh-CN" altLang="en-US" sz="2000" dirty="0"/>
              <a:t>那么进程</a:t>
            </a:r>
            <a:r>
              <a:rPr lang="en-US" altLang="zh-CN" sz="2000" dirty="0"/>
              <a:t>Pi</a:t>
            </a:r>
            <a:r>
              <a:rPr lang="zh-CN" altLang="en-US" sz="2000" dirty="0"/>
              <a:t>可以最多请求资源</a:t>
            </a:r>
            <a:r>
              <a:rPr lang="en-US" altLang="zh-CN" sz="2000" dirty="0" err="1"/>
              <a:t>Rj</a:t>
            </a:r>
            <a:r>
              <a:rPr lang="zh-CN" altLang="en-US" sz="2000" dirty="0"/>
              <a:t>的</a:t>
            </a:r>
            <a:r>
              <a:rPr lang="en-US" altLang="zh-CN" sz="2000" dirty="0"/>
              <a:t>k</a:t>
            </a:r>
            <a:r>
              <a:rPr lang="zh-CN" altLang="en-US" sz="2000" dirty="0"/>
              <a:t>个实例</a:t>
            </a:r>
            <a:endParaRPr lang="zh-CN" altLang="en-US" sz="2000" dirty="0"/>
          </a:p>
          <a:p>
            <a:pPr>
              <a:lnSpc>
                <a:spcPct val="123000"/>
              </a:lnSpc>
              <a:spcBef>
                <a:spcPts val="600"/>
              </a:spcBef>
              <a:spcAft>
                <a:spcPts val="600"/>
              </a:spcAft>
            </a:pPr>
            <a:r>
              <a:rPr lang="en-US" altLang="zh-CN" sz="2400" dirty="0">
                <a:solidFill>
                  <a:schemeClr val="accent4">
                    <a:lumMod val="60000"/>
                    <a:lumOff val="40000"/>
                  </a:schemeClr>
                </a:solidFill>
              </a:rPr>
              <a:t>Allocation(</a:t>
            </a:r>
            <a:r>
              <a:rPr lang="zh-CN" altLang="en-US" sz="2400" b="1" dirty="0">
                <a:solidFill>
                  <a:schemeClr val="accent4">
                    <a:lumMod val="60000"/>
                    <a:lumOff val="40000"/>
                  </a:schemeClr>
                </a:solidFill>
              </a:rPr>
              <a:t>已分配数</a:t>
            </a:r>
            <a:r>
              <a:rPr lang="en-US" altLang="zh-CN" sz="2400" dirty="0">
                <a:solidFill>
                  <a:schemeClr val="accent4">
                    <a:lumMod val="60000"/>
                    <a:lumOff val="40000"/>
                  </a:schemeClr>
                </a:solidFill>
              </a:rPr>
              <a:t>):  </a:t>
            </a:r>
            <a:r>
              <a:rPr lang="en-US" altLang="zh-CN" sz="2000" dirty="0"/>
              <a:t>n x m </a:t>
            </a:r>
            <a:r>
              <a:rPr lang="zh-CN" altLang="en-US" sz="2000" dirty="0"/>
              <a:t>矩阵。 如果</a:t>
            </a:r>
            <a:r>
              <a:rPr lang="en-US" altLang="zh-CN" sz="2000" dirty="0"/>
              <a:t>Allocation[</a:t>
            </a:r>
            <a:r>
              <a:rPr lang="en-US" altLang="zh-CN" sz="2000" dirty="0" err="1"/>
              <a:t>i,j</a:t>
            </a:r>
            <a:r>
              <a:rPr lang="en-US" altLang="zh-CN" sz="2000" dirty="0"/>
              <a:t>]=k,</a:t>
            </a:r>
            <a:r>
              <a:rPr lang="zh-CN" altLang="en-US" sz="2000" dirty="0"/>
              <a:t>那么进程</a:t>
            </a:r>
            <a:r>
              <a:rPr lang="en-US" altLang="zh-CN" sz="2000" dirty="0" err="1"/>
              <a:t>Pj</a:t>
            </a:r>
            <a:r>
              <a:rPr lang="zh-CN" altLang="en-US" sz="2000" dirty="0"/>
              <a:t>当前分配了</a:t>
            </a:r>
            <a:r>
              <a:rPr lang="en-US" altLang="zh-CN" sz="2000" dirty="0"/>
              <a:t>k</a:t>
            </a:r>
            <a:r>
              <a:rPr lang="zh-CN" altLang="en-US" sz="2000" dirty="0"/>
              <a:t>个资源</a:t>
            </a:r>
            <a:r>
              <a:rPr lang="en-US" altLang="zh-CN" sz="2000" dirty="0" err="1"/>
              <a:t>Rj</a:t>
            </a:r>
            <a:r>
              <a:rPr lang="zh-CN" altLang="en-US" sz="2000" dirty="0"/>
              <a:t>的实例</a:t>
            </a:r>
            <a:endParaRPr lang="zh-CN" altLang="en-US" sz="2000" dirty="0"/>
          </a:p>
          <a:p>
            <a:pPr>
              <a:lnSpc>
                <a:spcPct val="123000"/>
              </a:lnSpc>
              <a:spcBef>
                <a:spcPts val="600"/>
              </a:spcBef>
              <a:spcAft>
                <a:spcPts val="600"/>
              </a:spcAft>
            </a:pPr>
            <a:r>
              <a:rPr lang="en-US" altLang="zh-CN" sz="2400" dirty="0">
                <a:solidFill>
                  <a:schemeClr val="accent4">
                    <a:lumMod val="60000"/>
                    <a:lumOff val="40000"/>
                  </a:schemeClr>
                </a:solidFill>
              </a:rPr>
              <a:t>Need(</a:t>
            </a:r>
            <a:r>
              <a:rPr lang="zh-CN" altLang="en-US" sz="2400" b="1" dirty="0">
                <a:solidFill>
                  <a:schemeClr val="accent4">
                    <a:lumMod val="60000"/>
                    <a:lumOff val="40000"/>
                  </a:schemeClr>
                </a:solidFill>
              </a:rPr>
              <a:t>还需资源数</a:t>
            </a:r>
            <a:r>
              <a:rPr lang="en-US" altLang="zh-CN" sz="2400" dirty="0">
                <a:solidFill>
                  <a:schemeClr val="accent4">
                    <a:lumMod val="60000"/>
                    <a:lumOff val="40000"/>
                  </a:schemeClr>
                </a:solidFill>
              </a:rPr>
              <a:t>):  </a:t>
            </a:r>
            <a:r>
              <a:rPr lang="en-US" altLang="zh-CN" sz="2000" dirty="0"/>
              <a:t>n x m </a:t>
            </a:r>
            <a:r>
              <a:rPr lang="zh-CN" altLang="en-US" sz="2000" dirty="0"/>
              <a:t>矩阵。如果</a:t>
            </a:r>
            <a:r>
              <a:rPr lang="en-US" altLang="zh-CN" sz="2000" dirty="0"/>
              <a:t>Need[</a:t>
            </a:r>
            <a:r>
              <a:rPr lang="en-US" altLang="zh-CN" sz="2000" dirty="0" err="1"/>
              <a:t>i,j</a:t>
            </a:r>
            <a:r>
              <a:rPr lang="en-US" altLang="zh-CN" sz="2000" dirty="0"/>
              <a:t>]=k,</a:t>
            </a:r>
            <a:r>
              <a:rPr lang="zh-CN" altLang="en-US" sz="2000" dirty="0"/>
              <a:t>那么进程</a:t>
            </a:r>
            <a:r>
              <a:rPr lang="en-US" altLang="zh-CN" sz="2000" dirty="0" err="1"/>
              <a:t>Pj</a:t>
            </a:r>
            <a:r>
              <a:rPr lang="zh-CN" altLang="en-US" sz="2000" dirty="0"/>
              <a:t>还需要</a:t>
            </a:r>
            <a:r>
              <a:rPr lang="en-US" altLang="zh-CN" sz="2000" dirty="0"/>
              <a:t>k</a:t>
            </a:r>
            <a:r>
              <a:rPr lang="zh-CN" altLang="en-US" sz="2000" dirty="0"/>
              <a:t>个资源</a:t>
            </a:r>
            <a:r>
              <a:rPr lang="en-US" altLang="zh-CN" sz="2000" dirty="0" err="1"/>
              <a:t>Rj</a:t>
            </a:r>
            <a:r>
              <a:rPr lang="zh-CN" altLang="en-US" sz="2000" dirty="0"/>
              <a:t>的实例</a:t>
            </a:r>
            <a:endParaRPr lang="zh-CN" altLang="en-US" sz="2000" dirty="0"/>
          </a:p>
          <a:p>
            <a:pPr>
              <a:lnSpc>
                <a:spcPct val="123000"/>
              </a:lnSpc>
              <a:spcBef>
                <a:spcPts val="600"/>
              </a:spcBef>
              <a:spcAft>
                <a:spcPts val="600"/>
              </a:spcAft>
            </a:pPr>
            <a:r>
              <a:rPr lang="zh-CN" altLang="en-US" sz="2000" dirty="0"/>
              <a:t>		</a:t>
            </a:r>
            <a:r>
              <a:rPr lang="en-US" altLang="zh-CN" sz="2000" b="1" dirty="0"/>
              <a:t>Need [</a:t>
            </a:r>
            <a:r>
              <a:rPr lang="en-US" altLang="zh-CN" sz="2000" b="1" dirty="0" err="1"/>
              <a:t>i,j</a:t>
            </a:r>
            <a:r>
              <a:rPr lang="en-US" altLang="zh-CN" sz="2000" b="1" dirty="0"/>
              <a:t>] = Max[</a:t>
            </a:r>
            <a:r>
              <a:rPr lang="en-US" altLang="zh-CN" sz="2000" b="1" dirty="0" err="1"/>
              <a:t>i,j</a:t>
            </a:r>
            <a:r>
              <a:rPr lang="en-US" altLang="zh-CN" sz="2000" b="1" dirty="0"/>
              <a:t>] – Allocation [</a:t>
            </a:r>
            <a:r>
              <a:rPr lang="en-US" altLang="zh-CN" sz="2000" b="1" dirty="0" err="1"/>
              <a:t>i,j</a:t>
            </a:r>
            <a:r>
              <a:rPr lang="en-US" altLang="zh-CN" sz="2000" b="1" dirty="0"/>
              <a:t>].</a:t>
            </a:r>
            <a:endParaRPr lang="en-US" altLang="zh-CN" sz="2000" b="1" dirty="0"/>
          </a:p>
        </p:txBody>
      </p:sp>
      <p:sp>
        <p:nvSpPr>
          <p:cNvPr id="5" name="文本框 4"/>
          <p:cNvSpPr txBox="1"/>
          <p:nvPr/>
        </p:nvSpPr>
        <p:spPr>
          <a:xfrm>
            <a:off x="669925" y="1524081"/>
            <a:ext cx="6720396" cy="461665"/>
          </a:xfrm>
          <a:prstGeom prst="rect">
            <a:avLst/>
          </a:prstGeom>
          <a:noFill/>
        </p:spPr>
        <p:txBody>
          <a:bodyPr wrap="square">
            <a:spAutoFit/>
          </a:bodyPr>
          <a:lstStyle/>
          <a:p>
            <a:pPr>
              <a:spcBef>
                <a:spcPct val="50000"/>
              </a:spcBef>
            </a:pPr>
            <a:r>
              <a:rPr lang="en-US" altLang="zh-CN" sz="2400" b="1" dirty="0">
                <a:solidFill>
                  <a:srgbClr val="FF0000"/>
                </a:solidFill>
              </a:rPr>
              <a:t>n</a:t>
            </a:r>
            <a:r>
              <a:rPr lang="zh-CN" altLang="en-US" sz="2400" b="1" dirty="0">
                <a:solidFill>
                  <a:srgbClr val="FF0000"/>
                </a:solidFill>
              </a:rPr>
              <a:t>为进程的数目，</a:t>
            </a:r>
            <a:r>
              <a:rPr lang="en-US" altLang="zh-CN" sz="2400" b="1" dirty="0">
                <a:solidFill>
                  <a:srgbClr val="FF0000"/>
                </a:solidFill>
              </a:rPr>
              <a:t>m</a:t>
            </a:r>
            <a:r>
              <a:rPr lang="zh-CN" altLang="en-US" sz="2400" b="1" dirty="0">
                <a:solidFill>
                  <a:srgbClr val="FF0000"/>
                </a:solidFill>
              </a:rPr>
              <a:t>为资源类型的数目</a:t>
            </a:r>
            <a:endParaRPr lang="zh-CN" altLang="en-US" sz="2400" b="1" dirty="0">
              <a:solidFill>
                <a:srgbClr val="FF0000"/>
              </a:solidFill>
            </a:endParaRPr>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6550" y="2174629"/>
            <a:ext cx="527050" cy="527050"/>
          </a:xfrm>
          <a:prstGeom prst="rect">
            <a:avLst/>
          </a:prstGeom>
          <a:ln>
            <a:noFill/>
          </a:ln>
          <a:effectLst>
            <a:softEdge rad="0"/>
          </a:effectLst>
        </p:spPr>
      </p:pic>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6550" y="2759769"/>
            <a:ext cx="527050" cy="527050"/>
          </a:xfrm>
          <a:prstGeom prst="rect">
            <a:avLst/>
          </a:prstGeom>
          <a:ln>
            <a:noFill/>
          </a:ln>
          <a:effectLst>
            <a:softEdge rad="0"/>
          </a:effectLst>
        </p:spPr>
      </p:pic>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6550" y="3415238"/>
            <a:ext cx="527050" cy="527050"/>
          </a:xfrm>
          <a:prstGeom prst="rect">
            <a:avLst/>
          </a:prstGeom>
          <a:ln>
            <a:noFill/>
          </a:ln>
          <a:effectLst>
            <a:softEdge rad="0"/>
          </a:effectLst>
        </p:spPr>
      </p:pic>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6550" y="4433210"/>
            <a:ext cx="527050" cy="527050"/>
          </a:xfrm>
          <a:prstGeom prst="rect">
            <a:avLst/>
          </a:prstGeom>
          <a:ln>
            <a:noFill/>
          </a:ln>
          <a:effectLst>
            <a:softEdge rad="0"/>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框 30"/>
          <p:cNvSpPr txBox="1"/>
          <p:nvPr/>
        </p:nvSpPr>
        <p:spPr>
          <a:xfrm>
            <a:off x="847790" y="928471"/>
            <a:ext cx="10811167" cy="998855"/>
          </a:xfrm>
          <a:prstGeom prst="rect">
            <a:avLst/>
          </a:prstGeom>
          <a:noFill/>
        </p:spPr>
        <p:txBody>
          <a:bodyPr wrap="square">
            <a:spAutoFit/>
          </a:bodyPr>
          <a:lstStyle/>
          <a:p>
            <a:pPr marL="342900" indent="-342900">
              <a:lnSpc>
                <a:spcPct val="123000"/>
              </a:lnSpc>
              <a:buFont typeface="Wingdings" panose="05000000000000000000" pitchFamily="2" charset="2"/>
              <a:buChar char="Ø"/>
              <a:tabLst>
                <a:tab pos="2452370" algn="l"/>
                <a:tab pos="3492500" algn="ctr"/>
              </a:tabLst>
            </a:pPr>
            <a:r>
              <a:rPr lang="en-US" altLang="zh-CN" sz="2400" dirty="0">
                <a:sym typeface="+mn-ea"/>
              </a:rPr>
              <a:t>5</a:t>
            </a:r>
            <a:r>
              <a:rPr lang="zh-CN" altLang="en-US" sz="2400" dirty="0">
                <a:sym typeface="+mn-ea"/>
              </a:rPr>
              <a:t>个进程，</a:t>
            </a:r>
            <a:r>
              <a:rPr lang="en-US" altLang="zh-CN" sz="2400" dirty="0">
                <a:sym typeface="+mn-ea"/>
              </a:rPr>
              <a:t>3</a:t>
            </a:r>
            <a:r>
              <a:rPr lang="zh-CN" altLang="en-US" sz="2400" dirty="0">
                <a:sym typeface="+mn-ea"/>
              </a:rPr>
              <a:t>个资源类型</a:t>
            </a:r>
            <a:r>
              <a:rPr lang="en-US" altLang="zh-CN" sz="2400" dirty="0">
                <a:sym typeface="+mn-ea"/>
              </a:rPr>
              <a:t>A(10</a:t>
            </a:r>
            <a:r>
              <a:rPr lang="zh-CN" altLang="en-US" sz="2400" dirty="0">
                <a:sym typeface="+mn-ea"/>
              </a:rPr>
              <a:t>个实例），</a:t>
            </a:r>
            <a:r>
              <a:rPr lang="en-US" altLang="zh-CN" sz="2400" dirty="0">
                <a:sym typeface="+mn-ea"/>
              </a:rPr>
              <a:t>B</a:t>
            </a:r>
            <a:r>
              <a:rPr lang="zh-CN" altLang="en-US" sz="2400" dirty="0">
                <a:sym typeface="+mn-ea"/>
              </a:rPr>
              <a:t>（</a:t>
            </a:r>
            <a:r>
              <a:rPr lang="en-US" altLang="zh-CN" sz="2400" dirty="0">
                <a:sym typeface="+mn-ea"/>
              </a:rPr>
              <a:t>5</a:t>
            </a:r>
            <a:r>
              <a:rPr lang="zh-CN" altLang="en-US" sz="2400" dirty="0">
                <a:sym typeface="+mn-ea"/>
              </a:rPr>
              <a:t>个实例），</a:t>
            </a:r>
            <a:r>
              <a:rPr lang="en-US" altLang="zh-CN" sz="2400" dirty="0">
                <a:sym typeface="+mn-ea"/>
              </a:rPr>
              <a:t>C</a:t>
            </a:r>
            <a:r>
              <a:rPr lang="zh-CN" altLang="en-US" sz="2400" dirty="0">
                <a:sym typeface="+mn-ea"/>
              </a:rPr>
              <a:t>（</a:t>
            </a:r>
            <a:r>
              <a:rPr lang="en-US" altLang="zh-CN" sz="2400" dirty="0">
                <a:sym typeface="+mn-ea"/>
              </a:rPr>
              <a:t>7</a:t>
            </a:r>
            <a:r>
              <a:rPr lang="zh-CN" altLang="en-US" sz="2400" dirty="0">
                <a:sym typeface="+mn-ea"/>
              </a:rPr>
              <a:t>个实例）</a:t>
            </a:r>
            <a:endParaRPr lang="zh-CN" altLang="en-US" sz="2400" dirty="0">
              <a:latin typeface="+mn-ea"/>
            </a:endParaRPr>
          </a:p>
          <a:p>
            <a:pPr indent="0">
              <a:lnSpc>
                <a:spcPct val="123000"/>
              </a:lnSpc>
              <a:buFont typeface="Wingdings" panose="05000000000000000000" pitchFamily="2" charset="2"/>
              <a:buNone/>
              <a:tabLst>
                <a:tab pos="2452370" algn="l"/>
                <a:tab pos="3492500" algn="ctr"/>
              </a:tabLst>
            </a:pPr>
            <a:r>
              <a:rPr lang="en-US" altLang="zh-CN" sz="2400" dirty="0">
                <a:latin typeface="+mn-ea"/>
              </a:rPr>
              <a:t>T0</a:t>
            </a:r>
            <a:r>
              <a:rPr lang="zh-CN" altLang="en-US" sz="2400" dirty="0">
                <a:latin typeface="+mn-ea"/>
              </a:rPr>
              <a:t>时刻的矩阵的内容如下表。</a:t>
            </a:r>
            <a:endParaRPr lang="zh-CN" altLang="en-US" sz="2400" dirty="0">
              <a:latin typeface="+mn-ea"/>
            </a:endParaRPr>
          </a:p>
        </p:txBody>
      </p:sp>
      <p:graphicFrame>
        <p:nvGraphicFramePr>
          <p:cNvPr id="38" name="Group 74"/>
          <p:cNvGraphicFramePr>
            <a:graphicFrameLocks noGrp="1"/>
          </p:cNvGraphicFramePr>
          <p:nvPr/>
        </p:nvGraphicFramePr>
        <p:xfrm>
          <a:off x="670560" y="2173820"/>
          <a:ext cx="10988720" cy="3622040"/>
        </p:xfrm>
        <a:graphic>
          <a:graphicData uri="http://schemas.openxmlformats.org/drawingml/2006/table">
            <a:tbl>
              <a:tblPr/>
              <a:tblGrid>
                <a:gridCol w="2197744"/>
                <a:gridCol w="2197744"/>
                <a:gridCol w="2197744"/>
                <a:gridCol w="2197744"/>
                <a:gridCol w="2197744"/>
              </a:tblGrid>
              <a:tr h="1008092">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       </a:t>
                      </a:r>
                      <a:r>
                        <a:rPr kumimoji="1" lang="zh-CN" altLang="en-US" sz="2400" b="0" i="0" u="none" strike="noStrike" cap="none" normalizeH="0" baseline="0" dirty="0">
                          <a:ln>
                            <a:noFill/>
                          </a:ln>
                          <a:solidFill>
                            <a:schemeClr val="tx1"/>
                          </a:solidFill>
                          <a:effectLst/>
                          <a:latin typeface="+mn-ea"/>
                          <a:ea typeface="+mn-ea"/>
                        </a:rPr>
                        <a:t>资源情况</a:t>
                      </a:r>
                      <a:endParaRPr kumimoji="1" lang="zh-CN" altLang="en-US" sz="2400" b="0" i="0" u="none" strike="noStrike" cap="none" normalizeH="0" baseline="0" dirty="0">
                        <a:ln>
                          <a:noFill/>
                        </a:ln>
                        <a:solidFill>
                          <a:schemeClr val="tx1"/>
                        </a:solidFill>
                        <a:effectLst/>
                        <a:latin typeface="+mn-ea"/>
                        <a:ea typeface="+mn-ea"/>
                      </a:endParaRPr>
                    </a:p>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i="0" u="none" strike="noStrike" cap="none" normalizeH="0" baseline="0" dirty="0">
                          <a:ln>
                            <a:noFill/>
                          </a:ln>
                          <a:solidFill>
                            <a:schemeClr val="tx1"/>
                          </a:solidFill>
                          <a:effectLst/>
                          <a:latin typeface="+mn-ea"/>
                          <a:ea typeface="+mn-ea"/>
                        </a:rPr>
                        <a:t>进程</a:t>
                      </a:r>
                      <a:endParaRPr kumimoji="1" lang="zh-CN" altLang="en-US"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Max</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Allocation</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Need</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Available</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r>
              <a:tr h="521977">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0</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7    5    3</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0    1    0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7    4    3</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3    3    2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3240">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1</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3    2    2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2    0    0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1    2    2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523204">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2</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9    0    2</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3    0    2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6    0    0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521977">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3</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2    2    2</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2    1    1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0    1    1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523240">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4</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4    3    3</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0    0    2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4    3    1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bl>
          </a:graphicData>
        </a:graphic>
      </p:graphicFrame>
      <p:sp>
        <p:nvSpPr>
          <p:cNvPr id="2" name="矩形 1"/>
          <p:cNvSpPr/>
          <p:nvPr/>
        </p:nvSpPr>
        <p:spPr>
          <a:xfrm>
            <a:off x="669925" y="78668"/>
            <a:ext cx="7026275" cy="523220"/>
          </a:xfrm>
          <a:prstGeom prst="rect">
            <a:avLst/>
          </a:prstGeom>
        </p:spPr>
        <p:txBody>
          <a:bodyPr wrap="square">
            <a:spAutoFit/>
          </a:bodyPr>
          <a:p>
            <a:r>
              <a:rPr lang="zh-CN" altLang="en-US" sz="2800" b="1" dirty="0">
                <a:solidFill>
                  <a:schemeClr val="bg1"/>
                </a:solidFill>
              </a:rPr>
              <a:t>银行家算法的例子</a:t>
            </a:r>
            <a:endParaRPr lang="en-US" altLang="zh-CN" sz="2800" b="1" dirty="0">
              <a:solidFill>
                <a:schemeClr val="bg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Group 74"/>
          <p:cNvGraphicFramePr>
            <a:graphicFrameLocks noGrp="1"/>
          </p:cNvGraphicFramePr>
          <p:nvPr>
            <p:custDataLst>
              <p:tags r:id="rId1"/>
            </p:custDataLst>
          </p:nvPr>
        </p:nvGraphicFramePr>
        <p:xfrm>
          <a:off x="1285875" y="0"/>
          <a:ext cx="9813925" cy="3410585"/>
        </p:xfrm>
        <a:graphic>
          <a:graphicData uri="http://schemas.openxmlformats.org/drawingml/2006/table">
            <a:tbl>
              <a:tblPr/>
              <a:tblGrid>
                <a:gridCol w="1962785"/>
                <a:gridCol w="1962785"/>
                <a:gridCol w="1962785"/>
                <a:gridCol w="1962785"/>
                <a:gridCol w="1962785"/>
              </a:tblGrid>
              <a:tr h="1114425">
                <a:tc>
                  <a:txBody>
                    <a:bodyPr/>
                    <a:p>
                      <a:pPr marL="0" marR="0" lvl="0" indent="0" algn="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       </a:t>
                      </a:r>
                      <a:r>
                        <a:rPr kumimoji="1" lang="zh-CN" altLang="en-US" sz="2400" b="0" i="0" u="none" strike="noStrike" cap="none" normalizeH="0" baseline="0" dirty="0">
                          <a:ln>
                            <a:noFill/>
                          </a:ln>
                          <a:solidFill>
                            <a:schemeClr val="tx1"/>
                          </a:solidFill>
                          <a:effectLst/>
                          <a:latin typeface="+mn-ea"/>
                          <a:ea typeface="+mn-ea"/>
                        </a:rPr>
                        <a:t>资源情况</a:t>
                      </a:r>
                      <a:endParaRPr kumimoji="1" lang="zh-CN" altLang="en-US" sz="2400" b="0" i="0" u="none" strike="noStrike" cap="none" normalizeH="0" baseline="0" dirty="0">
                        <a:ln>
                          <a:noFill/>
                        </a:ln>
                        <a:solidFill>
                          <a:schemeClr val="tx1"/>
                        </a:solidFill>
                        <a:effectLst/>
                        <a:latin typeface="+mn-ea"/>
                        <a:ea typeface="+mn-ea"/>
                      </a:endParaRPr>
                    </a:p>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i="0" u="none" strike="noStrike" cap="none" normalizeH="0" baseline="0" dirty="0">
                          <a:ln>
                            <a:noFill/>
                          </a:ln>
                          <a:solidFill>
                            <a:schemeClr val="tx1"/>
                          </a:solidFill>
                          <a:effectLst/>
                          <a:latin typeface="+mn-ea"/>
                          <a:ea typeface="+mn-ea"/>
                        </a:rPr>
                        <a:t>进程</a:t>
                      </a:r>
                      <a:endParaRPr kumimoji="1" lang="zh-CN" altLang="en-US"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Max</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Allocation</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Need</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Available</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0</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7    5    3</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0    1    0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7    4    3</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3    3    2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1</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3    2    2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2    0    0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1    2    2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2</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9    0    2</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3    0    2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6    0    0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3</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2    2    2</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2    1    1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0    1    1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4</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4    3    3</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0    0    2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4    3    1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bl>
          </a:graphicData>
        </a:graphic>
      </p:graphicFrame>
      <p:sp>
        <p:nvSpPr>
          <p:cNvPr id="2" name="ïSḻiḍé"/>
          <p:cNvSpPr txBox="1"/>
          <p:nvPr>
            <p:custDataLst>
              <p:tags r:id="rId2"/>
            </p:custDataLst>
          </p:nvPr>
        </p:nvSpPr>
        <p:spPr>
          <a:xfrm>
            <a:off x="777875" y="3592195"/>
            <a:ext cx="10514965" cy="3536315"/>
          </a:xfrm>
          <a:prstGeom prst="rect">
            <a:avLst/>
          </a:prstGeom>
          <a:noFill/>
        </p:spPr>
        <p:txBody>
          <a:bodyPr wrap="square" lIns="91440" tIns="45720" rIns="91440" bIns="45720" rtlCol="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lnSpc>
                <a:spcPct val="200000"/>
              </a:lnSpc>
            </a:pPr>
            <a:r>
              <a:rPr lang="en-US" altLang="zh-CN" sz="2800" dirty="0">
                <a:solidFill>
                  <a:srgbClr val="FF0000"/>
                </a:solidFill>
                <a:latin typeface="+mj-ea"/>
                <a:ea typeface="+mj-ea"/>
              </a:rPr>
              <a:t>1</a:t>
            </a:r>
            <a:r>
              <a:rPr lang="zh-CN" altLang="en-US" sz="2800" dirty="0">
                <a:solidFill>
                  <a:srgbClr val="FF0000"/>
                </a:solidFill>
                <a:latin typeface="+mj-ea"/>
                <a:ea typeface="+mj-ea"/>
              </a:rPr>
              <a:t>、</a:t>
            </a:r>
            <a:r>
              <a:rPr lang="zh-CN" altLang="en-US" sz="2800" dirty="0">
                <a:solidFill>
                  <a:srgbClr val="FF0000"/>
                </a:solidFill>
                <a:latin typeface="+mj-ea"/>
                <a:ea typeface="+mj-ea"/>
                <a:sym typeface="+mn-ea"/>
              </a:rPr>
              <a:t>判断</a:t>
            </a:r>
            <a:r>
              <a:rPr lang="en-US" altLang="zh-CN" sz="2800" dirty="0">
                <a:solidFill>
                  <a:srgbClr val="FF0000"/>
                </a:solidFill>
                <a:latin typeface="+mj-ea"/>
                <a:ea typeface="+mj-ea"/>
                <a:sym typeface="+mn-ea"/>
              </a:rPr>
              <a:t>T0</a:t>
            </a:r>
            <a:r>
              <a:rPr lang="zh-CN" altLang="en-US" sz="2800" dirty="0">
                <a:solidFill>
                  <a:srgbClr val="FF0000"/>
                </a:solidFill>
                <a:latin typeface="+mj-ea"/>
                <a:ea typeface="+mj-ea"/>
                <a:sym typeface="+mn-ea"/>
              </a:rPr>
              <a:t>时刻系统的安全性？</a:t>
            </a:r>
            <a:endParaRPr lang="zh-CN" altLang="en-US" sz="2800" dirty="0">
              <a:latin typeface="+mj-ea"/>
              <a:ea typeface="+mj-ea"/>
            </a:endParaRPr>
          </a:p>
          <a:p>
            <a:pPr algn="l">
              <a:lnSpc>
                <a:spcPct val="200000"/>
              </a:lnSpc>
            </a:pPr>
            <a:r>
              <a:rPr lang="en-US" altLang="zh-CN" sz="2800" dirty="0">
                <a:latin typeface="+mj-ea"/>
                <a:ea typeface="+mj-ea"/>
              </a:rPr>
              <a:t>2</a:t>
            </a:r>
            <a:r>
              <a:rPr lang="zh-CN" altLang="en-US" sz="2800" dirty="0">
                <a:latin typeface="+mj-ea"/>
                <a:ea typeface="+mj-ea"/>
              </a:rPr>
              <a:t>、</a:t>
            </a:r>
            <a:r>
              <a:rPr lang="en-US" altLang="zh-CN" sz="2800" dirty="0">
                <a:latin typeface="+mj-ea"/>
                <a:ea typeface="+mj-ea"/>
              </a:rPr>
              <a:t>T0</a:t>
            </a:r>
            <a:r>
              <a:rPr lang="zh-CN" altLang="en-US" sz="2800" dirty="0">
                <a:latin typeface="+mj-ea"/>
                <a:ea typeface="+mj-ea"/>
              </a:rPr>
              <a:t>时刻</a:t>
            </a:r>
            <a:r>
              <a:rPr lang="en-US" altLang="zh-CN" sz="2800" dirty="0">
                <a:latin typeface="+mj-ea"/>
                <a:ea typeface="+mj-ea"/>
              </a:rPr>
              <a:t>P1</a:t>
            </a:r>
            <a:r>
              <a:rPr lang="zh-CN" altLang="en-US" sz="2800" dirty="0">
                <a:latin typeface="+mj-ea"/>
                <a:ea typeface="+mj-ea"/>
              </a:rPr>
              <a:t>发出请求向量</a:t>
            </a:r>
            <a:r>
              <a:rPr lang="en-US" altLang="zh-CN" sz="2800" dirty="0">
                <a:latin typeface="+mj-ea"/>
                <a:ea typeface="+mj-ea"/>
              </a:rPr>
              <a:t>Request(1,0,2)</a:t>
            </a:r>
            <a:r>
              <a:rPr lang="zh-CN" altLang="en-US" sz="2800" dirty="0">
                <a:latin typeface="+mj-ea"/>
                <a:ea typeface="+mj-ea"/>
              </a:rPr>
              <a:t>，系统能否分配给它吗？</a:t>
            </a:r>
            <a:endParaRPr lang="zh-CN" altLang="en-US" sz="2800" dirty="0">
              <a:latin typeface="+mj-ea"/>
              <a:ea typeface="+mj-ea"/>
            </a:endParaRPr>
          </a:p>
          <a:p>
            <a:pPr algn="l">
              <a:lnSpc>
                <a:spcPct val="200000"/>
              </a:lnSpc>
            </a:pPr>
            <a:endParaRPr lang="en-US" altLang="zh-CN" sz="2800" dirty="0">
              <a:latin typeface="+mj-ea"/>
              <a:ea typeface="+mj-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669925" y="78668"/>
            <a:ext cx="7026275" cy="521970"/>
          </a:xfrm>
          <a:prstGeom prst="rect">
            <a:avLst/>
          </a:prstGeom>
        </p:spPr>
        <p:txBody>
          <a:bodyPr wrap="square">
            <a:spAutoFit/>
          </a:bodyPr>
          <a:p>
            <a:r>
              <a:rPr lang="zh-CN" altLang="en-US" sz="2800" b="1" dirty="0">
                <a:solidFill>
                  <a:schemeClr val="bg1"/>
                </a:solidFill>
              </a:rPr>
              <a:t>银行家算法：安全算法</a:t>
            </a:r>
            <a:r>
              <a:rPr lang="en-US" altLang="zh-CN" sz="2800" b="1" dirty="0">
                <a:solidFill>
                  <a:schemeClr val="bg1"/>
                </a:solidFill>
              </a:rPr>
              <a:t>2</a:t>
            </a:r>
            <a:r>
              <a:rPr lang="zh-CN" altLang="en-US" sz="2800" b="1" dirty="0">
                <a:solidFill>
                  <a:schemeClr val="bg1"/>
                </a:solidFill>
              </a:rPr>
              <a:t>个变量</a:t>
            </a:r>
            <a:endParaRPr lang="zh-CN" altLang="en-US" sz="2800" b="1" dirty="0">
              <a:solidFill>
                <a:schemeClr val="bg1"/>
              </a:solidFill>
            </a:endParaRPr>
          </a:p>
        </p:txBody>
      </p:sp>
      <p:sp>
        <p:nvSpPr>
          <p:cNvPr id="3" name="文本框 2"/>
          <p:cNvSpPr txBox="1"/>
          <p:nvPr/>
        </p:nvSpPr>
        <p:spPr>
          <a:xfrm>
            <a:off x="574040" y="1236345"/>
            <a:ext cx="10749915" cy="3861435"/>
          </a:xfrm>
          <a:prstGeom prst="rect">
            <a:avLst/>
          </a:prstGeom>
          <a:noFill/>
        </p:spPr>
        <p:txBody>
          <a:bodyPr wrap="square" rtlCol="0" anchor="t">
            <a:noAutofit/>
          </a:bodyPr>
          <a:p>
            <a:pPr>
              <a:lnSpc>
                <a:spcPct val="150000"/>
              </a:lnSpc>
            </a:pPr>
            <a:r>
              <a:rPr lang="en-US" altLang="zh-CN" sz="2400"/>
              <a:t>1</a:t>
            </a:r>
            <a:r>
              <a:rPr lang="zh-CN" altLang="en-US" sz="2400"/>
              <a:t>、work：表示系统可提供给进程继续运行所需的各类资源数目</a:t>
            </a:r>
            <a:endParaRPr lang="zh-CN" altLang="en-US" sz="2400"/>
          </a:p>
          <a:p>
            <a:pPr>
              <a:lnSpc>
                <a:spcPct val="150000"/>
              </a:lnSpc>
            </a:pPr>
            <a:r>
              <a:rPr lang="en-US" altLang="zh-CN" sz="2400"/>
              <a:t>                 </a:t>
            </a:r>
            <a:r>
              <a:rPr lang="en-US" altLang="zh-CN" sz="2400" b="1"/>
              <a:t> </a:t>
            </a:r>
            <a:r>
              <a:rPr lang="zh-CN" altLang="en-US" sz="2400" b="1"/>
              <a:t>初始work：=Available；</a:t>
            </a:r>
            <a:endParaRPr lang="zh-CN" altLang="en-US" sz="2400"/>
          </a:p>
          <a:p>
            <a:pPr>
              <a:lnSpc>
                <a:spcPct val="150000"/>
              </a:lnSpc>
            </a:pPr>
            <a:endParaRPr lang="zh-CN" altLang="en-US" sz="2400"/>
          </a:p>
          <a:p>
            <a:pPr>
              <a:lnSpc>
                <a:spcPct val="150000"/>
              </a:lnSpc>
            </a:pPr>
            <a:r>
              <a:rPr lang="en-US" altLang="zh-CN" sz="2400"/>
              <a:t>2</a:t>
            </a:r>
            <a:r>
              <a:rPr lang="zh-CN" altLang="en-US" sz="2400"/>
              <a:t>、Finish：表示系统是否有足够的资源分配</a:t>
            </a:r>
            <a:endParaRPr lang="zh-CN" altLang="en-US" sz="2400"/>
          </a:p>
          <a:p>
            <a:pPr>
              <a:lnSpc>
                <a:spcPct val="150000"/>
              </a:lnSpc>
            </a:pPr>
            <a:r>
              <a:rPr lang="en-US" altLang="zh-CN" sz="2400">
                <a:sym typeface="+mn-ea"/>
              </a:rPr>
              <a:t>                 </a:t>
            </a:r>
            <a:endParaRPr lang="zh-CN" altLang="en-US" sz="2400"/>
          </a:p>
          <a:p>
            <a:pPr>
              <a:lnSpc>
                <a:spcPct val="150000"/>
              </a:lnSpc>
            </a:pPr>
            <a:r>
              <a:rPr lang="en-US" altLang="zh-CN" sz="2400"/>
              <a:t>                 </a:t>
            </a:r>
            <a:r>
              <a:rPr lang="zh-CN" altLang="en-US" sz="2400"/>
              <a:t>开始时先令Finish[i]：=false(i=1..n);</a:t>
            </a:r>
            <a:endParaRPr lang="zh-CN" altLang="en-US" sz="2400"/>
          </a:p>
          <a:p>
            <a:pPr>
              <a:lnSpc>
                <a:spcPct val="150000"/>
              </a:lnSpc>
            </a:pPr>
            <a:r>
              <a:rPr lang="zh-CN" altLang="en-US" sz="2400"/>
              <a:t> </a:t>
            </a:r>
            <a:r>
              <a:rPr lang="en-US" altLang="zh-CN" sz="2400"/>
              <a:t>                </a:t>
            </a:r>
            <a:r>
              <a:rPr lang="zh-CN" altLang="en-US" sz="2400"/>
              <a:t>当有足够资源分配给进程i时，令Finish[i]：=true。</a:t>
            </a:r>
            <a:endParaRPr lang="zh-CN" altLang="en-US" sz="24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Group 156"/>
          <p:cNvGraphicFramePr>
            <a:graphicFrameLocks noGrp="1"/>
          </p:cNvGraphicFramePr>
          <p:nvPr>
            <p:custDataLst>
              <p:tags r:id="rId1"/>
            </p:custDataLst>
          </p:nvPr>
        </p:nvGraphicFramePr>
        <p:xfrm>
          <a:off x="318135" y="3410585"/>
          <a:ext cx="11708130" cy="3263900"/>
        </p:xfrm>
        <a:graphic>
          <a:graphicData uri="http://schemas.openxmlformats.org/drawingml/2006/table">
            <a:tbl>
              <a:tblPr>
                <a:tableStyleId>{5DA37D80-6434-44D0-A028-1B22A696006F}</a:tableStyleId>
              </a:tblPr>
              <a:tblGrid>
                <a:gridCol w="2439035"/>
                <a:gridCol w="1576705"/>
                <a:gridCol w="1592580"/>
                <a:gridCol w="1855470"/>
                <a:gridCol w="2887345"/>
                <a:gridCol w="1356995"/>
              </a:tblGrid>
              <a:tr h="78105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en-US" sz="2400" b="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进程</a:t>
                      </a:r>
                      <a:endParaRPr kumimoji="1" lang="zh-CN" altLang="en-US" sz="2400" b="0" i="0" u="none" strike="noStrike" cap="none" normalizeH="0" baseline="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Work</a:t>
                      </a:r>
                      <a:endParaRPr kumimoji="1" lang="en-US" altLang="zh-CN" sz="2400" b="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a:ln>
                            <a:noFill/>
                          </a:ln>
                          <a:solidFill>
                            <a:schemeClr val="tx1"/>
                          </a:solidFill>
                          <a:effectLst/>
                          <a:latin typeface="+mn-ea"/>
                          <a:ea typeface="+mn-ea"/>
                        </a:rPr>
                        <a:t>Need</a:t>
                      </a:r>
                      <a:endParaRPr kumimoji="1" lang="en-US" altLang="zh-CN" sz="2400" b="0" u="none" strike="noStrike" kern="1200"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a:ln>
                            <a:noFill/>
                          </a:ln>
                          <a:solidFill>
                            <a:schemeClr val="tx1"/>
                          </a:solidFill>
                          <a:effectLst/>
                          <a:latin typeface="+mn-ea"/>
                          <a:ea typeface="+mn-ea"/>
                        </a:rPr>
                        <a:t>A   B    C</a:t>
                      </a:r>
                      <a:endParaRPr kumimoji="1" lang="en-US" altLang="zh-CN" sz="2400" b="0" i="0" u="none" strike="noStrike" kern="1200" cap="none" normalizeH="0" baseline="0" dirty="0">
                        <a:ln>
                          <a:noFill/>
                        </a:ln>
                        <a:solidFill>
                          <a:schemeClr val="tx1"/>
                        </a:solidFill>
                        <a:effectLst/>
                        <a:latin typeface="+mn-ea"/>
                        <a:ea typeface="+mn-ea"/>
                        <a:cs typeface="+mn-cs"/>
                      </a:endParaRPr>
                    </a:p>
                  </a:txBody>
                  <a:tcPr marL="121115" marR="121115" marT="45443" marB="45443" anchor="ctr" horzOverflow="overflow">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a:ln>
                            <a:noFill/>
                          </a:ln>
                          <a:solidFill>
                            <a:schemeClr val="tx1"/>
                          </a:solidFill>
                          <a:effectLst/>
                          <a:latin typeface="+mn-ea"/>
                          <a:ea typeface="+mn-ea"/>
                        </a:rPr>
                        <a:t>Allocation</a:t>
                      </a:r>
                      <a:endParaRPr kumimoji="1" lang="en-US" altLang="zh-CN" sz="2400" b="0" u="none" strike="noStrike" kern="1200"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a:ln>
                            <a:noFill/>
                          </a:ln>
                          <a:solidFill>
                            <a:schemeClr val="tx1"/>
                          </a:solidFill>
                          <a:effectLst/>
                          <a:latin typeface="+mn-ea"/>
                          <a:ea typeface="+mn-ea"/>
                        </a:rPr>
                        <a:t>A    B    C</a:t>
                      </a:r>
                      <a:endParaRPr kumimoji="1" lang="en-US" altLang="zh-CN" sz="2400" b="0" i="0" u="none" strike="noStrike" kern="1200" cap="none" normalizeH="0" baseline="0" dirty="0">
                        <a:ln>
                          <a:noFill/>
                        </a:ln>
                        <a:solidFill>
                          <a:schemeClr val="tx1"/>
                        </a:solidFill>
                        <a:effectLst/>
                        <a:latin typeface="+mn-ea"/>
                        <a:ea typeface="+mn-ea"/>
                        <a:cs typeface="+mn-cs"/>
                      </a:endParaRPr>
                    </a:p>
                  </a:txBody>
                  <a:tcPr marL="121115" marR="121115" marT="45443" marB="45443" anchor="ctr" horzOverflow="overflow">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err="1">
                          <a:ln>
                            <a:noFill/>
                          </a:ln>
                          <a:solidFill>
                            <a:schemeClr val="tx1"/>
                          </a:solidFill>
                          <a:effectLst/>
                          <a:latin typeface="+mn-ea"/>
                          <a:ea typeface="+mn-ea"/>
                        </a:rPr>
                        <a:t>Work+Allocation</a:t>
                      </a:r>
                      <a:endParaRPr kumimoji="1" lang="en-US" altLang="zh-CN" sz="2400" b="0" u="none" strike="noStrike" kern="1200"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a:ln>
                            <a:noFill/>
                          </a:ln>
                          <a:solidFill>
                            <a:schemeClr val="tx1"/>
                          </a:solidFill>
                          <a:effectLst/>
                          <a:latin typeface="+mn-ea"/>
                          <a:ea typeface="+mn-ea"/>
                        </a:rPr>
                        <a:t>A    B    C</a:t>
                      </a:r>
                      <a:endParaRPr kumimoji="1" lang="en-US" altLang="zh-CN" sz="2400" b="0" i="0" u="none" strike="noStrike" kern="1200" cap="none" normalizeH="0" baseline="0" dirty="0">
                        <a:ln>
                          <a:noFill/>
                        </a:ln>
                        <a:solidFill>
                          <a:schemeClr val="tx1"/>
                        </a:solidFill>
                        <a:effectLst/>
                        <a:latin typeface="+mn-ea"/>
                        <a:ea typeface="+mn-ea"/>
                        <a:cs typeface="+mn-cs"/>
                      </a:endParaRPr>
                    </a:p>
                  </a:txBody>
                  <a:tcPr marL="121115" marR="121115" marT="45443" marB="45443" anchor="ctr" horzOverflow="overflow">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u="none" strike="noStrike" kern="1200"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a:ln>
                            <a:noFill/>
                          </a:ln>
                          <a:solidFill>
                            <a:schemeClr val="tx1"/>
                          </a:solidFill>
                          <a:effectLst/>
                          <a:latin typeface="+mn-ea"/>
                          <a:ea typeface="+mn-ea"/>
                        </a:rPr>
                        <a:t>Finish</a:t>
                      </a:r>
                      <a:endParaRPr kumimoji="1" lang="en-US" altLang="zh-CN" sz="2400" b="0" i="0" u="none" strike="noStrike" kern="1200" cap="none" normalizeH="0" baseline="0" dirty="0">
                        <a:ln>
                          <a:noFill/>
                        </a:ln>
                        <a:solidFill>
                          <a:schemeClr val="tx1"/>
                        </a:solidFill>
                        <a:effectLst/>
                        <a:latin typeface="+mn-ea"/>
                        <a:ea typeface="+mn-ea"/>
                        <a:cs typeface="+mn-cs"/>
                      </a:endParaRPr>
                    </a:p>
                  </a:txBody>
                  <a:tcPr marL="121115" marR="121115" marT="45443" marB="45443" horzOverflow="overflow">
                    <a:solidFill>
                      <a:schemeClr val="accent2">
                        <a:lumMod val="20000"/>
                        <a:lumOff val="80000"/>
                      </a:schemeClr>
                    </a:solidFill>
                  </a:tcPr>
                </a:tc>
              </a:tr>
              <a:tr h="539115">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i="0" u="none" strike="noStrike" cap="none" normalizeH="0" baseline="-2500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r>
              <a:tr h="45720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i="0" u="none" strike="noStrike" cap="none" normalizeH="0" baseline="-2500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r>
              <a:tr h="45720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i="0" u="none" strike="noStrike" cap="none" normalizeH="0" baseline="-2500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r>
              <a:tr h="45720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i="0" u="none" strike="noStrike" cap="none" normalizeH="0" baseline="-2500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r>
              <a:tr h="45720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i="0" u="none" strike="noStrike" cap="none" normalizeH="0" baseline="-2500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p>
                      <a:pPr marL="0" marR="0" lvl="0" indent="0" algn="ctr" defTabSz="914400" rtl="0" eaLnBrk="0" fontAlgn="base" latinLnBrk="0" hangingPunct="0">
                        <a:lnSpc>
                          <a:spcPct val="100000"/>
                        </a:lnSpc>
                        <a:spcBef>
                          <a:spcPct val="0"/>
                        </a:spcBef>
                        <a:spcAft>
                          <a:spcPct val="0"/>
                        </a:spcAft>
                        <a:buClrTx/>
                        <a:buSzTx/>
                        <a:buFontTx/>
                        <a:buNone/>
                      </a:pP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r>
            </a:tbl>
          </a:graphicData>
        </a:graphic>
      </p:graphicFrame>
      <p:graphicFrame>
        <p:nvGraphicFramePr>
          <p:cNvPr id="3" name="Group 74"/>
          <p:cNvGraphicFramePr>
            <a:graphicFrameLocks noGrp="1"/>
          </p:cNvGraphicFramePr>
          <p:nvPr>
            <p:custDataLst>
              <p:tags r:id="rId2"/>
            </p:custDataLst>
          </p:nvPr>
        </p:nvGraphicFramePr>
        <p:xfrm>
          <a:off x="1285875" y="0"/>
          <a:ext cx="9813925" cy="3410585"/>
        </p:xfrm>
        <a:graphic>
          <a:graphicData uri="http://schemas.openxmlformats.org/drawingml/2006/table">
            <a:tbl>
              <a:tblPr/>
              <a:tblGrid>
                <a:gridCol w="1962785"/>
                <a:gridCol w="1962785"/>
                <a:gridCol w="1962785"/>
                <a:gridCol w="1962785"/>
                <a:gridCol w="1962785"/>
              </a:tblGrid>
              <a:tr h="1238885">
                <a:tc>
                  <a:txBody>
                    <a:bodyPr/>
                    <a:p>
                      <a:pPr marL="0" marR="0" lvl="0" indent="0" algn="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       </a:t>
                      </a:r>
                      <a:r>
                        <a:rPr kumimoji="1" lang="zh-CN" altLang="en-US" sz="2400" b="0" i="0" u="none" strike="noStrike" cap="none" normalizeH="0" baseline="0" dirty="0">
                          <a:ln>
                            <a:noFill/>
                          </a:ln>
                          <a:solidFill>
                            <a:schemeClr val="tx1"/>
                          </a:solidFill>
                          <a:effectLst/>
                          <a:latin typeface="+mn-ea"/>
                          <a:ea typeface="+mn-ea"/>
                        </a:rPr>
                        <a:t>资源情况</a:t>
                      </a:r>
                      <a:endParaRPr kumimoji="1" lang="zh-CN" altLang="en-US" sz="2400" b="0" i="0" u="none" strike="noStrike" cap="none" normalizeH="0" baseline="0" dirty="0">
                        <a:ln>
                          <a:noFill/>
                        </a:ln>
                        <a:solidFill>
                          <a:schemeClr val="tx1"/>
                        </a:solidFill>
                        <a:effectLst/>
                        <a:latin typeface="+mn-ea"/>
                        <a:ea typeface="+mn-ea"/>
                      </a:endParaRPr>
                    </a:p>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i="0" u="none" strike="noStrike" cap="none" normalizeH="0" baseline="0" dirty="0">
                          <a:ln>
                            <a:noFill/>
                          </a:ln>
                          <a:solidFill>
                            <a:schemeClr val="tx1"/>
                          </a:solidFill>
                          <a:effectLst/>
                          <a:latin typeface="+mn-ea"/>
                          <a:ea typeface="+mn-ea"/>
                        </a:rPr>
                        <a:t>进程</a:t>
                      </a:r>
                      <a:endParaRPr kumimoji="1" lang="zh-CN" altLang="en-US"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Max</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Allocation</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Need</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Available</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0</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7    5    3</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0    1    0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7    4    3</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3    3    2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1</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3    2    2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2    0    0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1    2    2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2</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9    0    2</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3    0    2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6    0    0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3</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2    2    2</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2    1    1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0    1    1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4</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4    3    3</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0    0    2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4    3    1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例子（续）</a:t>
            </a:r>
            <a:endParaRPr lang="zh-CN" altLang="en-US" sz="2800" b="1" dirty="0">
              <a:solidFill>
                <a:schemeClr val="bg1"/>
              </a:solidFill>
            </a:endParaRPr>
          </a:p>
        </p:txBody>
      </p:sp>
      <p:graphicFrame>
        <p:nvGraphicFramePr>
          <p:cNvPr id="6" name="Group 156"/>
          <p:cNvGraphicFramePr>
            <a:graphicFrameLocks noGrp="1"/>
          </p:cNvGraphicFramePr>
          <p:nvPr/>
        </p:nvGraphicFramePr>
        <p:xfrm>
          <a:off x="232653" y="1592232"/>
          <a:ext cx="11555657" cy="4391315"/>
        </p:xfrm>
        <a:graphic>
          <a:graphicData uri="http://schemas.openxmlformats.org/drawingml/2006/table">
            <a:tbl>
              <a:tblPr>
                <a:tableStyleId>{5DA37D80-6434-44D0-A028-1B22A696006F}</a:tableStyleId>
              </a:tblPr>
              <a:tblGrid>
                <a:gridCol w="2407428"/>
                <a:gridCol w="1556805"/>
                <a:gridCol w="1570848"/>
                <a:gridCol w="1831551"/>
                <a:gridCol w="2849732"/>
                <a:gridCol w="1339293"/>
              </a:tblGrid>
              <a:tr h="1053640">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          </a:t>
                      </a:r>
                      <a:r>
                        <a:rPr kumimoji="1" lang="zh-CN" altLang="en-US" sz="2400" b="0" u="none" strike="noStrike" cap="none" normalizeH="0" baseline="0" dirty="0">
                          <a:ln>
                            <a:noFill/>
                          </a:ln>
                          <a:solidFill>
                            <a:schemeClr val="tx1"/>
                          </a:solidFill>
                          <a:effectLst/>
                          <a:latin typeface="+mn-ea"/>
                          <a:ea typeface="+mn-ea"/>
                        </a:rPr>
                        <a:t>资源情况</a:t>
                      </a:r>
                      <a:endParaRPr kumimoji="1" lang="zh-CN" altLang="en-US" sz="2400" b="0" u="none" strike="noStrike" cap="none" normalizeH="0" baseline="0" dirty="0">
                        <a:ln>
                          <a:noFill/>
                        </a:ln>
                        <a:solidFill>
                          <a:schemeClr val="tx1"/>
                        </a:solidFill>
                        <a:effectLst/>
                        <a:latin typeface="+mn-ea"/>
                        <a:ea typeface="+mn-ea"/>
                      </a:endParaRPr>
                    </a:p>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latin typeface="+mn-ea"/>
                          <a:ea typeface="+mn-ea"/>
                        </a:rPr>
                        <a:t>进程</a:t>
                      </a:r>
                      <a:endParaRPr kumimoji="1" lang="zh-CN" altLang="en-US" sz="2400" b="0" i="0" u="none" strike="noStrike" cap="none" normalizeH="0" baseline="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Work</a:t>
                      </a:r>
                      <a:endParaRPr kumimoji="1" lang="en-US" altLang="zh-CN" sz="2400" b="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a:ln>
                            <a:noFill/>
                          </a:ln>
                          <a:solidFill>
                            <a:schemeClr val="tx1"/>
                          </a:solidFill>
                          <a:effectLst/>
                          <a:latin typeface="+mn-ea"/>
                          <a:ea typeface="+mn-ea"/>
                        </a:rPr>
                        <a:t>Need</a:t>
                      </a:r>
                      <a:endParaRPr kumimoji="1" lang="en-US" altLang="zh-CN" sz="2400" b="0" u="none" strike="noStrike" kern="1200"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a:ln>
                            <a:noFill/>
                          </a:ln>
                          <a:solidFill>
                            <a:schemeClr val="tx1"/>
                          </a:solidFill>
                          <a:effectLst/>
                          <a:latin typeface="+mn-ea"/>
                          <a:ea typeface="+mn-ea"/>
                        </a:rPr>
                        <a:t>A   B    C</a:t>
                      </a:r>
                      <a:endParaRPr kumimoji="1" lang="en-US" altLang="zh-CN" sz="2400" b="0" i="0" u="none" strike="noStrike" kern="1200" cap="none" normalizeH="0" baseline="0" dirty="0">
                        <a:ln>
                          <a:noFill/>
                        </a:ln>
                        <a:solidFill>
                          <a:schemeClr val="tx1"/>
                        </a:solidFill>
                        <a:effectLst/>
                        <a:latin typeface="+mn-ea"/>
                        <a:ea typeface="+mn-ea"/>
                        <a:cs typeface="+mn-cs"/>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a:ln>
                            <a:noFill/>
                          </a:ln>
                          <a:solidFill>
                            <a:schemeClr val="tx1"/>
                          </a:solidFill>
                          <a:effectLst/>
                          <a:latin typeface="+mn-ea"/>
                          <a:ea typeface="+mn-ea"/>
                        </a:rPr>
                        <a:t>Allocation</a:t>
                      </a:r>
                      <a:endParaRPr kumimoji="1" lang="en-US" altLang="zh-CN" sz="2400" b="0" u="none" strike="noStrike" kern="1200"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a:ln>
                            <a:noFill/>
                          </a:ln>
                          <a:solidFill>
                            <a:schemeClr val="tx1"/>
                          </a:solidFill>
                          <a:effectLst/>
                          <a:latin typeface="+mn-ea"/>
                          <a:ea typeface="+mn-ea"/>
                        </a:rPr>
                        <a:t>A    B    C</a:t>
                      </a:r>
                      <a:endParaRPr kumimoji="1" lang="en-US" altLang="zh-CN" sz="2400" b="0" i="0" u="none" strike="noStrike" kern="1200" cap="none" normalizeH="0" baseline="0" dirty="0">
                        <a:ln>
                          <a:noFill/>
                        </a:ln>
                        <a:solidFill>
                          <a:schemeClr val="tx1"/>
                        </a:solidFill>
                        <a:effectLst/>
                        <a:latin typeface="+mn-ea"/>
                        <a:ea typeface="+mn-ea"/>
                        <a:cs typeface="+mn-cs"/>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err="1">
                          <a:ln>
                            <a:noFill/>
                          </a:ln>
                          <a:solidFill>
                            <a:schemeClr val="tx1"/>
                          </a:solidFill>
                          <a:effectLst/>
                          <a:latin typeface="+mn-ea"/>
                          <a:ea typeface="+mn-ea"/>
                        </a:rPr>
                        <a:t>Work+Allocation</a:t>
                      </a:r>
                      <a:endParaRPr kumimoji="1" lang="en-US" altLang="zh-CN" sz="2400" b="0" u="none" strike="noStrike" kern="1200"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a:ln>
                            <a:noFill/>
                          </a:ln>
                          <a:solidFill>
                            <a:schemeClr val="tx1"/>
                          </a:solidFill>
                          <a:effectLst/>
                          <a:latin typeface="+mn-ea"/>
                          <a:ea typeface="+mn-ea"/>
                        </a:rPr>
                        <a:t>A    B    C</a:t>
                      </a:r>
                      <a:endParaRPr kumimoji="1" lang="en-US" altLang="zh-CN" sz="2400" b="0" i="0" u="none" strike="noStrike" kern="1200" cap="none" normalizeH="0" baseline="0" dirty="0">
                        <a:ln>
                          <a:noFill/>
                        </a:ln>
                        <a:solidFill>
                          <a:schemeClr val="tx1"/>
                        </a:solidFill>
                        <a:effectLst/>
                        <a:latin typeface="+mn-ea"/>
                        <a:ea typeface="+mn-ea"/>
                        <a:cs typeface="+mn-cs"/>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en-US" altLang="zh-CN" sz="2400" b="0" u="none" strike="noStrike" kern="1200"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kern="1200" cap="none" normalizeH="0" baseline="0" dirty="0">
                          <a:ln>
                            <a:noFill/>
                          </a:ln>
                          <a:solidFill>
                            <a:schemeClr val="tx1"/>
                          </a:solidFill>
                          <a:effectLst/>
                          <a:latin typeface="+mn-ea"/>
                          <a:ea typeface="+mn-ea"/>
                        </a:rPr>
                        <a:t>Finish</a:t>
                      </a:r>
                      <a:endParaRPr kumimoji="1" lang="en-US" altLang="zh-CN" sz="2400" b="0" i="0" u="none" strike="noStrike" kern="1200" cap="none" normalizeH="0" baseline="0" dirty="0">
                        <a:ln>
                          <a:noFill/>
                        </a:ln>
                        <a:solidFill>
                          <a:schemeClr val="tx1"/>
                        </a:solidFill>
                        <a:effectLst/>
                        <a:latin typeface="+mn-ea"/>
                        <a:ea typeface="+mn-ea"/>
                        <a:cs typeface="+mn-cs"/>
                      </a:endParaRPr>
                    </a:p>
                  </a:txBody>
                  <a:tcPr marL="121115" marR="121115" marT="45443" marB="45443" horzOverflow="overflow">
                    <a:solidFill>
                      <a:schemeClr val="accent2">
                        <a:lumMod val="20000"/>
                        <a:lumOff val="80000"/>
                      </a:schemeClr>
                    </a:solidFill>
                  </a:tcPr>
                </a:tc>
              </a:tr>
              <a:tr h="667535">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P</a:t>
                      </a:r>
                      <a:r>
                        <a:rPr kumimoji="1" lang="en-US" altLang="zh-CN" sz="2400" b="0" u="none" strike="noStrike" cap="none" normalizeH="0" baseline="-25000" dirty="0">
                          <a:ln>
                            <a:noFill/>
                          </a:ln>
                          <a:solidFill>
                            <a:schemeClr val="tx1"/>
                          </a:solidFill>
                          <a:effectLst/>
                          <a:latin typeface="+mn-ea"/>
                          <a:ea typeface="+mn-ea"/>
                        </a:rPr>
                        <a:t>1</a:t>
                      </a:r>
                      <a:endParaRPr kumimoji="1" lang="en-US" altLang="zh-CN" sz="2400" b="0" i="0" u="none" strike="noStrike" cap="none" normalizeH="0" baseline="-2500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3    3    2</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1    2    2</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2    0    0</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5    3    2</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true</a:t>
                      </a: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r>
              <a:tr h="667535">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P</a:t>
                      </a:r>
                      <a:r>
                        <a:rPr kumimoji="1" lang="en-US" altLang="zh-CN" sz="2400" b="0" u="none" strike="noStrike" cap="none" normalizeH="0" baseline="-25000" dirty="0">
                          <a:ln>
                            <a:noFill/>
                          </a:ln>
                          <a:solidFill>
                            <a:schemeClr val="tx1"/>
                          </a:solidFill>
                          <a:effectLst/>
                          <a:latin typeface="+mn-ea"/>
                          <a:ea typeface="+mn-ea"/>
                        </a:rPr>
                        <a:t>3</a:t>
                      </a:r>
                      <a:endParaRPr kumimoji="1" lang="en-US" altLang="zh-CN" sz="2400" b="0" i="0" u="none" strike="noStrike" cap="none" normalizeH="0" baseline="-2500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5    3    2</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0    1    1</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2    1    1</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7    4    3</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true</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r>
              <a:tr h="667535">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P</a:t>
                      </a:r>
                      <a:r>
                        <a:rPr kumimoji="1" lang="en-US" altLang="zh-CN" sz="2400" b="0" u="none" strike="noStrike" cap="none" normalizeH="0" baseline="-25000" dirty="0">
                          <a:ln>
                            <a:noFill/>
                          </a:ln>
                          <a:solidFill>
                            <a:schemeClr val="tx1"/>
                          </a:solidFill>
                          <a:effectLst/>
                          <a:latin typeface="+mn-ea"/>
                          <a:ea typeface="+mn-ea"/>
                        </a:rPr>
                        <a:t>4</a:t>
                      </a:r>
                      <a:endParaRPr kumimoji="1" lang="en-US" altLang="zh-CN" sz="2400" b="0" i="0" u="none" strike="noStrike" cap="none" normalizeH="0" baseline="-2500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7    4    3</a:t>
                      </a: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4    3    1</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0    0    2</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7    4    5</a:t>
                      </a: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true</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r>
              <a:tr h="667535">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P</a:t>
                      </a:r>
                      <a:r>
                        <a:rPr kumimoji="1" lang="en-US" altLang="zh-CN" sz="2400" b="0" u="none" strike="noStrike" cap="none" normalizeH="0" baseline="-25000" dirty="0">
                          <a:ln>
                            <a:noFill/>
                          </a:ln>
                          <a:solidFill>
                            <a:schemeClr val="tx1"/>
                          </a:solidFill>
                          <a:effectLst/>
                          <a:latin typeface="+mn-ea"/>
                          <a:ea typeface="+mn-ea"/>
                        </a:rPr>
                        <a:t>2</a:t>
                      </a:r>
                      <a:endParaRPr kumimoji="1" lang="en-US" altLang="zh-CN" sz="2400" b="0" i="0" u="none" strike="noStrike" cap="none" normalizeH="0" baseline="-2500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7    4    5</a:t>
                      </a: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6    0    0</a:t>
                      </a: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3    0    2</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10    4    7</a:t>
                      </a: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true</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r>
              <a:tr h="667535">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P</a:t>
                      </a:r>
                      <a:r>
                        <a:rPr kumimoji="1" lang="en-US" altLang="zh-CN" sz="2400" b="0" u="none" strike="noStrike" cap="none" normalizeH="0" baseline="-25000" dirty="0">
                          <a:ln>
                            <a:noFill/>
                          </a:ln>
                          <a:solidFill>
                            <a:schemeClr val="tx1"/>
                          </a:solidFill>
                          <a:effectLst/>
                          <a:latin typeface="+mn-ea"/>
                          <a:ea typeface="+mn-ea"/>
                        </a:rPr>
                        <a:t>0</a:t>
                      </a:r>
                      <a:endParaRPr kumimoji="1" lang="en-US" altLang="zh-CN" sz="2400" b="0" i="0" u="none" strike="noStrike" cap="none" normalizeH="0" baseline="-25000" dirty="0">
                        <a:ln>
                          <a:noFill/>
                        </a:ln>
                        <a:solidFill>
                          <a:schemeClr val="tx1"/>
                        </a:solidFill>
                        <a:effectLst/>
                        <a:latin typeface="+mn-ea"/>
                        <a:ea typeface="+mn-ea"/>
                      </a:endParaRPr>
                    </a:p>
                  </a:txBody>
                  <a:tcPr marL="121115" marR="121115" marT="45443" marB="45443"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10  4    7</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7    4    3</a:t>
                      </a: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latin typeface="+mn-ea"/>
                          <a:ea typeface="+mn-ea"/>
                        </a:rPr>
                        <a:t>0    1    0</a:t>
                      </a:r>
                      <a:endParaRPr kumimoji="1" lang="en-US" altLang="zh-CN" sz="2400" b="0" i="0" u="none" strike="noStrike" cap="none" normalizeH="0" baseline="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latin typeface="+mn-ea"/>
                          <a:ea typeface="+mn-ea"/>
                        </a:rPr>
                        <a:t>10    5    7</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u="none" strike="noStrike" cap="none" normalizeH="0" baseline="0" dirty="0">
                          <a:ln>
                            <a:noFill/>
                          </a:ln>
                          <a:solidFill>
                            <a:schemeClr val="tx1"/>
                          </a:solidFill>
                          <a:effectLst/>
                          <a:latin typeface="+mn-ea"/>
                          <a:ea typeface="+mn-ea"/>
                        </a:rPr>
                        <a:t>true</a:t>
                      </a:r>
                      <a:endParaRPr kumimoji="1" lang="en-US" altLang="zh-CN" sz="2400" b="0" i="0" u="none" strike="noStrike" cap="none" normalizeH="0" baseline="0" dirty="0">
                        <a:ln>
                          <a:noFill/>
                        </a:ln>
                        <a:solidFill>
                          <a:schemeClr val="tx1"/>
                        </a:solidFill>
                        <a:effectLst/>
                        <a:latin typeface="+mn-ea"/>
                        <a:ea typeface="+mn-ea"/>
                      </a:endParaRPr>
                    </a:p>
                  </a:txBody>
                  <a:tcPr marL="121115" marR="121115" marT="45443" marB="45443" anchor="ctr" horzOverflow="overflow"/>
                </a:tc>
              </a:tr>
            </a:tbl>
          </a:graphicData>
        </a:graphic>
      </p:graphicFrame>
      <p:cxnSp>
        <p:nvCxnSpPr>
          <p:cNvPr id="3" name="直接连接符 2"/>
          <p:cNvCxnSpPr/>
          <p:nvPr/>
        </p:nvCxnSpPr>
        <p:spPr>
          <a:xfrm>
            <a:off x="257452" y="1615736"/>
            <a:ext cx="2396971" cy="1020932"/>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Group 74"/>
          <p:cNvGraphicFramePr>
            <a:graphicFrameLocks noGrp="1"/>
          </p:cNvGraphicFramePr>
          <p:nvPr>
            <p:custDataLst>
              <p:tags r:id="rId1"/>
            </p:custDataLst>
          </p:nvPr>
        </p:nvGraphicFramePr>
        <p:xfrm>
          <a:off x="1285875" y="0"/>
          <a:ext cx="9813925" cy="3410585"/>
        </p:xfrm>
        <a:graphic>
          <a:graphicData uri="http://schemas.openxmlformats.org/drawingml/2006/table">
            <a:tbl>
              <a:tblPr/>
              <a:tblGrid>
                <a:gridCol w="1962785"/>
                <a:gridCol w="1962785"/>
                <a:gridCol w="1962785"/>
                <a:gridCol w="1962785"/>
                <a:gridCol w="1962785"/>
              </a:tblGrid>
              <a:tr h="1114425">
                <a:tc>
                  <a:txBody>
                    <a:bodyPr/>
                    <a:p>
                      <a:pPr marL="0" marR="0" lvl="0" indent="0" algn="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       </a:t>
                      </a:r>
                      <a:r>
                        <a:rPr kumimoji="1" lang="zh-CN" altLang="en-US" sz="2400" b="0" i="0" u="none" strike="noStrike" cap="none" normalizeH="0" baseline="0" dirty="0">
                          <a:ln>
                            <a:noFill/>
                          </a:ln>
                          <a:solidFill>
                            <a:schemeClr val="tx1"/>
                          </a:solidFill>
                          <a:effectLst/>
                          <a:latin typeface="+mn-ea"/>
                          <a:ea typeface="+mn-ea"/>
                        </a:rPr>
                        <a:t>资源情况</a:t>
                      </a:r>
                      <a:endParaRPr kumimoji="1" lang="zh-CN" altLang="en-US" sz="2400" b="0" i="0" u="none" strike="noStrike" cap="none" normalizeH="0" baseline="0" dirty="0">
                        <a:ln>
                          <a:noFill/>
                        </a:ln>
                        <a:solidFill>
                          <a:schemeClr val="tx1"/>
                        </a:solidFill>
                        <a:effectLst/>
                        <a:latin typeface="+mn-ea"/>
                        <a:ea typeface="+mn-ea"/>
                      </a:endParaRPr>
                    </a:p>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i="0" u="none" strike="noStrike" cap="none" normalizeH="0" baseline="0" dirty="0">
                          <a:ln>
                            <a:noFill/>
                          </a:ln>
                          <a:solidFill>
                            <a:schemeClr val="tx1"/>
                          </a:solidFill>
                          <a:effectLst/>
                          <a:latin typeface="+mn-ea"/>
                          <a:ea typeface="+mn-ea"/>
                        </a:rPr>
                        <a:t>进程</a:t>
                      </a:r>
                      <a:endParaRPr kumimoji="1" lang="zh-CN" altLang="en-US"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Max</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Allocation</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Need</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Available</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0</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7    5    3</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0    1    0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7    4    3</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3    3    2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1</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3    2    2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2    0    0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1    2    2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2</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9    0    2</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3    0    2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6    0    0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3</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2    2    2</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2    1    1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0    1    1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4</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4    3    3</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0    0    2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4    3    1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bl>
          </a:graphicData>
        </a:graphic>
      </p:graphicFrame>
      <p:sp>
        <p:nvSpPr>
          <p:cNvPr id="2" name="ïSḻiḍé"/>
          <p:cNvSpPr txBox="1"/>
          <p:nvPr>
            <p:custDataLst>
              <p:tags r:id="rId2"/>
            </p:custDataLst>
          </p:nvPr>
        </p:nvSpPr>
        <p:spPr>
          <a:xfrm>
            <a:off x="777875" y="3592195"/>
            <a:ext cx="10514965" cy="3536315"/>
          </a:xfrm>
          <a:prstGeom prst="rect">
            <a:avLst/>
          </a:prstGeom>
          <a:noFill/>
        </p:spPr>
        <p:txBody>
          <a:bodyPr wrap="square" lIns="91440" tIns="45720" rIns="91440" bIns="45720" rtlCol="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lnSpc>
                <a:spcPct val="200000"/>
              </a:lnSpc>
            </a:pPr>
            <a:r>
              <a:rPr lang="en-US" altLang="zh-CN" sz="2800" dirty="0">
                <a:latin typeface="+mj-ea"/>
                <a:ea typeface="+mj-ea"/>
              </a:rPr>
              <a:t>1</a:t>
            </a:r>
            <a:r>
              <a:rPr lang="zh-CN" altLang="en-US" sz="2800" dirty="0">
                <a:latin typeface="+mj-ea"/>
                <a:ea typeface="+mj-ea"/>
              </a:rPr>
              <a:t>、</a:t>
            </a:r>
            <a:r>
              <a:rPr lang="zh-CN" altLang="en-US" sz="2800" dirty="0">
                <a:latin typeface="+mj-ea"/>
                <a:ea typeface="+mj-ea"/>
                <a:sym typeface="+mn-ea"/>
              </a:rPr>
              <a:t>判断</a:t>
            </a:r>
            <a:r>
              <a:rPr lang="en-US" altLang="zh-CN" sz="2800" dirty="0">
                <a:latin typeface="+mj-ea"/>
                <a:ea typeface="+mj-ea"/>
                <a:sym typeface="+mn-ea"/>
              </a:rPr>
              <a:t>T0</a:t>
            </a:r>
            <a:r>
              <a:rPr lang="zh-CN" altLang="en-US" sz="2800" dirty="0">
                <a:latin typeface="+mj-ea"/>
                <a:ea typeface="+mj-ea"/>
                <a:sym typeface="+mn-ea"/>
              </a:rPr>
              <a:t>时刻系统的安全性？</a:t>
            </a:r>
            <a:endParaRPr lang="zh-CN" altLang="en-US" sz="2800" dirty="0">
              <a:latin typeface="+mj-ea"/>
              <a:ea typeface="+mj-ea"/>
            </a:endParaRPr>
          </a:p>
          <a:p>
            <a:pPr algn="l">
              <a:lnSpc>
                <a:spcPct val="200000"/>
              </a:lnSpc>
            </a:pPr>
            <a:r>
              <a:rPr lang="en-US" altLang="zh-CN" sz="2800" dirty="0">
                <a:solidFill>
                  <a:srgbClr val="FF0000"/>
                </a:solidFill>
                <a:latin typeface="+mj-ea"/>
                <a:ea typeface="+mj-ea"/>
              </a:rPr>
              <a:t>2</a:t>
            </a:r>
            <a:r>
              <a:rPr lang="zh-CN" altLang="en-US" sz="2800" dirty="0">
                <a:solidFill>
                  <a:srgbClr val="FF0000"/>
                </a:solidFill>
                <a:latin typeface="+mj-ea"/>
                <a:ea typeface="+mj-ea"/>
              </a:rPr>
              <a:t>、</a:t>
            </a:r>
            <a:r>
              <a:rPr lang="en-US" altLang="zh-CN" sz="2800" dirty="0">
                <a:solidFill>
                  <a:srgbClr val="FF0000"/>
                </a:solidFill>
                <a:latin typeface="+mj-ea"/>
                <a:ea typeface="+mj-ea"/>
              </a:rPr>
              <a:t>T0</a:t>
            </a:r>
            <a:r>
              <a:rPr lang="zh-CN" altLang="en-US" sz="2800" dirty="0">
                <a:solidFill>
                  <a:srgbClr val="FF0000"/>
                </a:solidFill>
                <a:latin typeface="+mj-ea"/>
                <a:ea typeface="+mj-ea"/>
              </a:rPr>
              <a:t>时刻</a:t>
            </a:r>
            <a:r>
              <a:rPr lang="en-US" altLang="zh-CN" sz="2800" dirty="0">
                <a:solidFill>
                  <a:srgbClr val="FF0000"/>
                </a:solidFill>
                <a:latin typeface="+mj-ea"/>
                <a:ea typeface="+mj-ea"/>
              </a:rPr>
              <a:t>P1</a:t>
            </a:r>
            <a:r>
              <a:rPr lang="zh-CN" altLang="en-US" sz="2800" dirty="0">
                <a:solidFill>
                  <a:srgbClr val="FF0000"/>
                </a:solidFill>
                <a:latin typeface="+mj-ea"/>
                <a:ea typeface="+mj-ea"/>
              </a:rPr>
              <a:t>发出请求向量</a:t>
            </a:r>
            <a:r>
              <a:rPr lang="en-US" altLang="zh-CN" sz="2800" dirty="0">
                <a:solidFill>
                  <a:srgbClr val="FF0000"/>
                </a:solidFill>
                <a:latin typeface="+mj-ea"/>
                <a:ea typeface="+mj-ea"/>
              </a:rPr>
              <a:t>Request(1,0,2)，系统能否分配给它吗？</a:t>
            </a:r>
            <a:endParaRPr lang="zh-CN" altLang="en-US" sz="2800" dirty="0">
              <a:latin typeface="+mj-ea"/>
              <a:ea typeface="+mj-ea"/>
            </a:endParaRPr>
          </a:p>
          <a:p>
            <a:pPr algn="l">
              <a:lnSpc>
                <a:spcPct val="200000"/>
              </a:lnSpc>
            </a:pPr>
            <a:endParaRPr lang="en-US" altLang="zh-CN" sz="2800" dirty="0">
              <a:latin typeface="+mj-ea"/>
              <a:ea typeface="+mj-e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银行家算法：是否满足某进程的资源请求</a:t>
            </a:r>
            <a:endParaRPr lang="en-US" altLang="zh-CN" sz="2800" b="1" dirty="0">
              <a:solidFill>
                <a:schemeClr val="bg1"/>
              </a:solidFill>
            </a:endParaRPr>
          </a:p>
        </p:txBody>
      </p:sp>
      <p:sp>
        <p:nvSpPr>
          <p:cNvPr id="8" name="文本框 7"/>
          <p:cNvSpPr txBox="1"/>
          <p:nvPr/>
        </p:nvSpPr>
        <p:spPr>
          <a:xfrm>
            <a:off x="370110" y="1421752"/>
            <a:ext cx="11288490" cy="470578"/>
          </a:xfrm>
          <a:prstGeom prst="rect">
            <a:avLst/>
          </a:prstGeom>
          <a:noFill/>
        </p:spPr>
        <p:txBody>
          <a:bodyPr wrap="square">
            <a:spAutoFit/>
          </a:bodyPr>
          <a:lstStyle/>
          <a:p>
            <a:pPr marL="914400" lvl="1" indent="-457200">
              <a:lnSpc>
                <a:spcPct val="123000"/>
              </a:lnSpc>
              <a:spcBef>
                <a:spcPts val="600"/>
              </a:spcBef>
              <a:spcAft>
                <a:spcPts val="600"/>
              </a:spcAft>
              <a:buClr>
                <a:srgbClr val="FFC000"/>
              </a:buClr>
              <a:buSzPct val="117000"/>
              <a:buFont typeface="+mj-ea"/>
              <a:buAutoNum type="circleNumDbPlain"/>
            </a:pPr>
            <a:r>
              <a:rPr lang="zh-CN" altLang="en-US" sz="2200" dirty="0">
                <a:latin typeface="+mn-ea"/>
              </a:rPr>
              <a:t>如果 </a:t>
            </a:r>
            <a:r>
              <a:rPr lang="en-US" altLang="zh-CN" sz="2200" dirty="0" err="1">
                <a:latin typeface="+mn-ea"/>
              </a:rPr>
              <a:t>Request</a:t>
            </a:r>
            <a:r>
              <a:rPr lang="en-US" altLang="zh-CN" sz="2200" baseline="-25000" dirty="0" err="1">
                <a:latin typeface="+mn-ea"/>
              </a:rPr>
              <a:t>i</a:t>
            </a:r>
            <a:r>
              <a:rPr lang="en-US" altLang="zh-CN" sz="2200" dirty="0">
                <a:latin typeface="+mn-ea"/>
              </a:rPr>
              <a:t> </a:t>
            </a:r>
            <a:r>
              <a:rPr lang="en-US" altLang="zh-CN" sz="2200" dirty="0">
                <a:latin typeface="+mn-ea"/>
                <a:sym typeface="Symbol" panose="05050102010706020507" pitchFamily="18" charset="2"/>
              </a:rPr>
              <a:t> </a:t>
            </a:r>
            <a:r>
              <a:rPr lang="en-US" altLang="zh-CN" sz="2200" dirty="0" err="1">
                <a:latin typeface="+mn-ea"/>
                <a:sym typeface="Symbol" panose="05050102010706020507" pitchFamily="18" charset="2"/>
              </a:rPr>
              <a:t>Need</a:t>
            </a:r>
            <a:r>
              <a:rPr lang="en-US" altLang="zh-CN" sz="2200" baseline="-25000" dirty="0" err="1">
                <a:latin typeface="+mn-ea"/>
                <a:sym typeface="Symbol" panose="05050102010706020507" pitchFamily="18" charset="2"/>
              </a:rPr>
              <a:t>i</a:t>
            </a:r>
            <a:r>
              <a:rPr lang="en-US" altLang="zh-CN" sz="2200" dirty="0">
                <a:latin typeface="+mn-ea"/>
                <a:sym typeface="Symbol" panose="05050102010706020507" pitchFamily="18" charset="2"/>
              </a:rPr>
              <a:t> </a:t>
            </a:r>
            <a:r>
              <a:rPr lang="zh-CN" altLang="en-US" sz="2200" dirty="0">
                <a:latin typeface="+mn-ea"/>
                <a:sym typeface="Symbol" panose="05050102010706020507" pitchFamily="18" charset="2"/>
              </a:rPr>
              <a:t>转 </a:t>
            </a:r>
            <a:r>
              <a:rPr lang="en-US" altLang="zh-CN" sz="2200" dirty="0">
                <a:latin typeface="+mn-ea"/>
                <a:sym typeface="Symbol" panose="05050102010706020507" pitchFamily="18" charset="2"/>
              </a:rPr>
              <a:t>step 2.  </a:t>
            </a:r>
            <a:r>
              <a:rPr lang="zh-CN" altLang="en-US" sz="2200" dirty="0">
                <a:latin typeface="+mn-ea"/>
                <a:sym typeface="Symbol" panose="05050102010706020507" pitchFamily="18" charset="2"/>
              </a:rPr>
              <a:t>否则报错</a:t>
            </a:r>
            <a:r>
              <a:rPr lang="en-US" altLang="zh-CN" sz="2200" dirty="0">
                <a:latin typeface="+mn-ea"/>
                <a:sym typeface="Symbol" panose="05050102010706020507" pitchFamily="18" charset="2"/>
              </a:rPr>
              <a:t>, </a:t>
            </a:r>
            <a:r>
              <a:rPr lang="zh-CN" altLang="en-US" sz="2200" dirty="0">
                <a:latin typeface="+mn-ea"/>
                <a:sym typeface="Symbol" panose="05050102010706020507" pitchFamily="18" charset="2"/>
              </a:rPr>
              <a:t>因为进程请求超出了其声明的最大值</a:t>
            </a:r>
            <a:endParaRPr lang="en-US" altLang="zh-CN" sz="2200" dirty="0">
              <a:latin typeface="+mn-ea"/>
              <a:sym typeface="Symbol" panose="05050102010706020507" pitchFamily="18" charset="2"/>
            </a:endParaRPr>
          </a:p>
        </p:txBody>
      </p:sp>
      <p:sp>
        <p:nvSpPr>
          <p:cNvPr id="9" name="文本框 8"/>
          <p:cNvSpPr txBox="1"/>
          <p:nvPr/>
        </p:nvSpPr>
        <p:spPr>
          <a:xfrm>
            <a:off x="370110" y="1985689"/>
            <a:ext cx="11437688" cy="470578"/>
          </a:xfrm>
          <a:prstGeom prst="rect">
            <a:avLst/>
          </a:prstGeom>
          <a:noFill/>
        </p:spPr>
        <p:txBody>
          <a:bodyPr wrap="square">
            <a:spAutoFit/>
          </a:bodyPr>
          <a:lstStyle/>
          <a:p>
            <a:pPr marL="914400" lvl="1" indent="-457200">
              <a:lnSpc>
                <a:spcPct val="123000"/>
              </a:lnSpc>
              <a:spcBef>
                <a:spcPts val="600"/>
              </a:spcBef>
              <a:spcAft>
                <a:spcPts val="600"/>
              </a:spcAft>
              <a:buClr>
                <a:srgbClr val="FFC000"/>
              </a:buClr>
              <a:buSzPct val="117000"/>
              <a:buFont typeface="+mj-ea"/>
              <a:buAutoNum type="circleNumDbPlain" startAt="2"/>
            </a:pPr>
            <a:r>
              <a:rPr lang="zh-CN" altLang="en-US" sz="2200" dirty="0">
                <a:latin typeface="+mn-ea"/>
                <a:sym typeface="Symbol" panose="05050102010706020507" pitchFamily="18" charset="2"/>
              </a:rPr>
              <a:t>如果 </a:t>
            </a:r>
            <a:r>
              <a:rPr lang="en-US" altLang="zh-CN" sz="2200" dirty="0" err="1">
                <a:latin typeface="+mn-ea"/>
              </a:rPr>
              <a:t>Request</a:t>
            </a:r>
            <a:r>
              <a:rPr lang="en-US" altLang="zh-CN" sz="2200" baseline="-25000" dirty="0" err="1">
                <a:latin typeface="+mn-ea"/>
              </a:rPr>
              <a:t>i</a:t>
            </a:r>
            <a:r>
              <a:rPr lang="en-US" altLang="zh-CN" sz="2200" dirty="0">
                <a:latin typeface="+mn-ea"/>
              </a:rPr>
              <a:t> </a:t>
            </a:r>
            <a:r>
              <a:rPr lang="en-US" altLang="zh-CN" sz="2200" dirty="0">
                <a:latin typeface="+mn-ea"/>
                <a:sym typeface="Symbol" panose="05050102010706020507" pitchFamily="18" charset="2"/>
              </a:rPr>
              <a:t> Available, </a:t>
            </a:r>
            <a:r>
              <a:rPr lang="zh-CN" altLang="en-US" sz="2200" dirty="0">
                <a:latin typeface="+mn-ea"/>
                <a:sym typeface="Symbol" panose="05050102010706020507" pitchFamily="18" charset="2"/>
              </a:rPr>
              <a:t>转 </a:t>
            </a:r>
            <a:r>
              <a:rPr lang="en-US" altLang="zh-CN" sz="2200" dirty="0">
                <a:latin typeface="+mn-ea"/>
                <a:sym typeface="Symbol" panose="05050102010706020507" pitchFamily="18" charset="2"/>
              </a:rPr>
              <a:t>step 3.  </a:t>
            </a:r>
            <a:r>
              <a:rPr lang="zh-CN" altLang="en-US" sz="2200" dirty="0">
                <a:latin typeface="+mn-ea"/>
                <a:sym typeface="Symbol" panose="05050102010706020507" pitchFamily="18" charset="2"/>
              </a:rPr>
              <a:t>否则 </a:t>
            </a:r>
            <a:r>
              <a:rPr lang="en-US" altLang="zh-CN" sz="2200" dirty="0">
                <a:latin typeface="+mn-ea"/>
                <a:sym typeface="Symbol" panose="05050102010706020507" pitchFamily="18" charset="2"/>
              </a:rPr>
              <a:t>P</a:t>
            </a:r>
            <a:r>
              <a:rPr lang="en-US" altLang="zh-CN" sz="2200" baseline="-25000" dirty="0">
                <a:latin typeface="+mn-ea"/>
                <a:sym typeface="Symbol" panose="05050102010706020507" pitchFamily="18" charset="2"/>
              </a:rPr>
              <a:t>i</a:t>
            </a:r>
            <a:r>
              <a:rPr lang="en-US" altLang="zh-CN" sz="2200" dirty="0">
                <a:latin typeface="+mn-ea"/>
                <a:sym typeface="Symbol" panose="05050102010706020507" pitchFamily="18" charset="2"/>
              </a:rPr>
              <a:t>  </a:t>
            </a:r>
            <a:r>
              <a:rPr lang="zh-CN" altLang="en-US" sz="2200" dirty="0">
                <a:latin typeface="+mn-ea"/>
                <a:sym typeface="Symbol" panose="05050102010706020507" pitchFamily="18" charset="2"/>
              </a:rPr>
              <a:t>必须等待</a:t>
            </a:r>
            <a:r>
              <a:rPr lang="en-US" altLang="zh-CN" sz="2200" dirty="0">
                <a:latin typeface="+mn-ea"/>
                <a:sym typeface="Symbol" panose="05050102010706020507" pitchFamily="18" charset="2"/>
              </a:rPr>
              <a:t>, </a:t>
            </a:r>
            <a:r>
              <a:rPr lang="zh-CN" altLang="en-US" sz="2200" dirty="0">
                <a:latin typeface="+mn-ea"/>
                <a:sym typeface="Symbol" panose="05050102010706020507" pitchFamily="18" charset="2"/>
              </a:rPr>
              <a:t>因为资源不可用</a:t>
            </a:r>
            <a:endParaRPr lang="en-US" altLang="zh-CN" sz="2200" dirty="0">
              <a:latin typeface="+mn-ea"/>
              <a:sym typeface="Symbol" panose="05050102010706020507" pitchFamily="18" charset="2"/>
            </a:endParaRPr>
          </a:p>
        </p:txBody>
      </p:sp>
      <p:sp>
        <p:nvSpPr>
          <p:cNvPr id="10" name="文本框 9"/>
          <p:cNvSpPr txBox="1"/>
          <p:nvPr/>
        </p:nvSpPr>
        <p:spPr>
          <a:xfrm>
            <a:off x="386461" y="2567022"/>
            <a:ext cx="11437688" cy="471796"/>
          </a:xfrm>
          <a:prstGeom prst="rect">
            <a:avLst/>
          </a:prstGeom>
          <a:noFill/>
        </p:spPr>
        <p:txBody>
          <a:bodyPr wrap="square">
            <a:spAutoFit/>
          </a:bodyPr>
          <a:lstStyle/>
          <a:p>
            <a:pPr marL="914400" lvl="1" indent="-457200">
              <a:lnSpc>
                <a:spcPct val="123000"/>
              </a:lnSpc>
              <a:spcBef>
                <a:spcPts val="600"/>
              </a:spcBef>
              <a:spcAft>
                <a:spcPts val="600"/>
              </a:spcAft>
              <a:buClr>
                <a:srgbClr val="FFC000"/>
              </a:buClr>
              <a:buSzPct val="117000"/>
              <a:buFont typeface="+mj-ea"/>
              <a:buAutoNum type="circleNumDbPlain" startAt="3"/>
            </a:pPr>
            <a:r>
              <a:rPr lang="zh-CN" altLang="en-US" sz="2200" dirty="0">
                <a:latin typeface="+mn-ea"/>
                <a:sym typeface="Symbol" panose="05050102010706020507" pitchFamily="18" charset="2"/>
              </a:rPr>
              <a:t>假设通过修改下列状态来试着分配请求的资源给进程</a:t>
            </a:r>
            <a:r>
              <a:rPr lang="en-US" altLang="zh-CN" sz="2200" dirty="0">
                <a:latin typeface="+mn-ea"/>
                <a:sym typeface="Symbol" panose="05050102010706020507" pitchFamily="18" charset="2"/>
              </a:rPr>
              <a:t>P</a:t>
            </a:r>
            <a:r>
              <a:rPr lang="en-US" altLang="zh-CN" sz="2200" baseline="-25000" dirty="0">
                <a:latin typeface="+mn-ea"/>
                <a:sym typeface="Symbol" panose="05050102010706020507" pitchFamily="18" charset="2"/>
              </a:rPr>
              <a:t>i</a:t>
            </a:r>
            <a:r>
              <a:rPr lang="en-US" altLang="zh-CN" sz="2200" dirty="0">
                <a:latin typeface="+mn-ea"/>
                <a:sym typeface="Symbol" panose="05050102010706020507" pitchFamily="18" charset="2"/>
              </a:rPr>
              <a:t> :</a:t>
            </a:r>
            <a:endParaRPr lang="en-US" altLang="zh-CN" sz="2200" dirty="0">
              <a:latin typeface="+mn-ea"/>
              <a:sym typeface="Symbol" panose="05050102010706020507" pitchFamily="18" charset="2"/>
            </a:endParaRPr>
          </a:p>
        </p:txBody>
      </p:sp>
      <p:sp>
        <p:nvSpPr>
          <p:cNvPr id="11" name="文本框 10"/>
          <p:cNvSpPr txBox="1"/>
          <p:nvPr/>
        </p:nvSpPr>
        <p:spPr>
          <a:xfrm>
            <a:off x="0" y="3199909"/>
            <a:ext cx="6956171" cy="471796"/>
          </a:xfrm>
          <a:prstGeom prst="rect">
            <a:avLst/>
          </a:prstGeom>
          <a:noFill/>
        </p:spPr>
        <p:txBody>
          <a:bodyPr wrap="square">
            <a:spAutoFit/>
          </a:bodyPr>
          <a:lstStyle/>
          <a:p>
            <a:pPr marL="1714500" lvl="3" indent="-342900">
              <a:lnSpc>
                <a:spcPct val="123000"/>
              </a:lnSpc>
              <a:spcBef>
                <a:spcPts val="600"/>
              </a:spcBef>
              <a:spcAft>
                <a:spcPts val="600"/>
              </a:spcAft>
              <a:buClr>
                <a:srgbClr val="FFC000"/>
              </a:buClr>
              <a:buFont typeface="Wingdings" panose="05000000000000000000" pitchFamily="2" charset="2"/>
              <a:buChar char="n"/>
            </a:pPr>
            <a:r>
              <a:rPr lang="en-US" altLang="zh-CN" sz="2200" dirty="0">
                <a:latin typeface="+mn-ea"/>
                <a:sym typeface="Symbol" panose="05050102010706020507" pitchFamily="18" charset="2"/>
              </a:rPr>
              <a:t>Available := Available - </a:t>
            </a:r>
            <a:r>
              <a:rPr lang="en-US" altLang="zh-CN" sz="2200" dirty="0" err="1">
                <a:latin typeface="+mn-ea"/>
                <a:sym typeface="Symbol" panose="05050102010706020507" pitchFamily="18" charset="2"/>
              </a:rPr>
              <a:t>Request</a:t>
            </a:r>
            <a:r>
              <a:rPr lang="en-US" altLang="zh-CN" sz="2200" baseline="-25000" dirty="0" err="1">
                <a:latin typeface="+mn-ea"/>
                <a:sym typeface="Symbol" panose="05050102010706020507" pitchFamily="18" charset="2"/>
              </a:rPr>
              <a:t>i</a:t>
            </a:r>
            <a:r>
              <a:rPr lang="en-US" altLang="zh-CN" sz="2200" dirty="0">
                <a:latin typeface="+mn-ea"/>
                <a:sym typeface="Symbol" panose="05050102010706020507" pitchFamily="18" charset="2"/>
              </a:rPr>
              <a:t>;</a:t>
            </a:r>
            <a:endParaRPr lang="en-US" altLang="zh-CN" sz="2200" baseline="-25000" dirty="0">
              <a:latin typeface="+mn-ea"/>
              <a:sym typeface="Symbol" panose="05050102010706020507" pitchFamily="18" charset="2"/>
            </a:endParaRPr>
          </a:p>
        </p:txBody>
      </p:sp>
      <p:sp>
        <p:nvSpPr>
          <p:cNvPr id="12" name="文本框 11"/>
          <p:cNvSpPr txBox="1"/>
          <p:nvPr/>
        </p:nvSpPr>
        <p:spPr>
          <a:xfrm>
            <a:off x="0" y="4216640"/>
            <a:ext cx="10792258" cy="471796"/>
          </a:xfrm>
          <a:prstGeom prst="rect">
            <a:avLst/>
          </a:prstGeom>
          <a:noFill/>
        </p:spPr>
        <p:txBody>
          <a:bodyPr wrap="square">
            <a:spAutoFit/>
          </a:bodyPr>
          <a:lstStyle/>
          <a:p>
            <a:pPr marL="1714500" lvl="3" indent="-342900">
              <a:lnSpc>
                <a:spcPct val="123000"/>
              </a:lnSpc>
              <a:spcBef>
                <a:spcPts val="600"/>
              </a:spcBef>
              <a:spcAft>
                <a:spcPts val="600"/>
              </a:spcAft>
              <a:buClr>
                <a:srgbClr val="FFC000"/>
              </a:buClr>
              <a:buFont typeface="Wingdings" panose="05000000000000000000" pitchFamily="2" charset="2"/>
              <a:buChar char="n"/>
            </a:pPr>
            <a:r>
              <a:rPr lang="en-US" altLang="zh-CN" sz="2200" dirty="0" err="1">
                <a:latin typeface="+mn-ea"/>
                <a:sym typeface="Symbol" panose="05050102010706020507" pitchFamily="18" charset="2"/>
              </a:rPr>
              <a:t>Allocation</a:t>
            </a:r>
            <a:r>
              <a:rPr lang="en-US" altLang="zh-CN" sz="2200" baseline="-25000" dirty="0" err="1">
                <a:latin typeface="+mn-ea"/>
                <a:sym typeface="Symbol" panose="05050102010706020507" pitchFamily="18" charset="2"/>
              </a:rPr>
              <a:t>i</a:t>
            </a:r>
            <a:r>
              <a:rPr lang="en-US" altLang="zh-CN" sz="2200" baseline="-25000" dirty="0">
                <a:latin typeface="+mn-ea"/>
                <a:sym typeface="Symbol" panose="05050102010706020507" pitchFamily="18" charset="2"/>
              </a:rPr>
              <a:t> </a:t>
            </a:r>
            <a:r>
              <a:rPr lang="en-US" altLang="zh-CN" sz="2200" dirty="0">
                <a:latin typeface="+mn-ea"/>
                <a:sym typeface="Symbol" panose="05050102010706020507" pitchFamily="18" charset="2"/>
              </a:rPr>
              <a:t>:= </a:t>
            </a:r>
            <a:r>
              <a:rPr lang="en-US" altLang="zh-CN" sz="2200" dirty="0" err="1">
                <a:latin typeface="+mn-ea"/>
                <a:sym typeface="Symbol" panose="05050102010706020507" pitchFamily="18" charset="2"/>
              </a:rPr>
              <a:t>Allocation</a:t>
            </a:r>
            <a:r>
              <a:rPr lang="en-US" altLang="zh-CN" sz="2200" baseline="-25000" dirty="0" err="1">
                <a:latin typeface="+mn-ea"/>
                <a:sym typeface="Symbol" panose="05050102010706020507" pitchFamily="18" charset="2"/>
              </a:rPr>
              <a:t>i</a:t>
            </a:r>
            <a:r>
              <a:rPr lang="en-US" altLang="zh-CN" sz="2200" dirty="0">
                <a:latin typeface="+mn-ea"/>
                <a:sym typeface="Symbol" panose="05050102010706020507" pitchFamily="18" charset="2"/>
              </a:rPr>
              <a:t> + </a:t>
            </a:r>
            <a:r>
              <a:rPr lang="en-US" altLang="zh-CN" sz="2200" dirty="0" err="1">
                <a:latin typeface="+mn-ea"/>
                <a:sym typeface="Symbol" panose="05050102010706020507" pitchFamily="18" charset="2"/>
              </a:rPr>
              <a:t>Request</a:t>
            </a:r>
            <a:r>
              <a:rPr lang="en-US" altLang="zh-CN" sz="2200" baseline="-25000" dirty="0" err="1">
                <a:latin typeface="+mn-ea"/>
                <a:sym typeface="Symbol" panose="05050102010706020507" pitchFamily="18" charset="2"/>
              </a:rPr>
              <a:t>i</a:t>
            </a:r>
            <a:r>
              <a:rPr lang="en-US" altLang="zh-CN" sz="2200" dirty="0">
                <a:latin typeface="+mn-ea"/>
                <a:sym typeface="Symbol" panose="05050102010706020507" pitchFamily="18" charset="2"/>
              </a:rPr>
              <a:t>;</a:t>
            </a:r>
            <a:endParaRPr lang="en-US" altLang="zh-CN" sz="2200" dirty="0">
              <a:latin typeface="+mn-ea"/>
              <a:sym typeface="Symbol" panose="05050102010706020507" pitchFamily="18" charset="2"/>
            </a:endParaRPr>
          </a:p>
        </p:txBody>
      </p:sp>
      <p:sp>
        <p:nvSpPr>
          <p:cNvPr id="13" name="文本框 12"/>
          <p:cNvSpPr txBox="1"/>
          <p:nvPr/>
        </p:nvSpPr>
        <p:spPr>
          <a:xfrm>
            <a:off x="480285" y="4688071"/>
            <a:ext cx="11178630" cy="1453475"/>
          </a:xfrm>
          <a:prstGeom prst="rect">
            <a:avLst/>
          </a:prstGeom>
          <a:noFill/>
        </p:spPr>
        <p:txBody>
          <a:bodyPr wrap="square">
            <a:spAutoFit/>
          </a:bodyPr>
          <a:lstStyle/>
          <a:p>
            <a:pPr marL="914400" lvl="1" indent="-457200">
              <a:lnSpc>
                <a:spcPct val="123000"/>
              </a:lnSpc>
              <a:spcBef>
                <a:spcPts val="600"/>
              </a:spcBef>
              <a:spcAft>
                <a:spcPts val="600"/>
              </a:spcAft>
              <a:buClr>
                <a:srgbClr val="FFC000"/>
              </a:buClr>
              <a:buSzPct val="117000"/>
              <a:buFont typeface="+mj-ea"/>
              <a:buAutoNum type="circleNumDbPlain" startAt="4"/>
            </a:pPr>
            <a:r>
              <a:rPr lang="zh-CN" altLang="en-US" sz="2200" dirty="0">
                <a:latin typeface="+mn-ea"/>
                <a:sym typeface="Symbol" panose="05050102010706020507" pitchFamily="18" charset="2"/>
              </a:rPr>
              <a:t>系统执行安全性算法</a:t>
            </a:r>
            <a:endParaRPr lang="en-US" altLang="zh-CN" sz="2200" dirty="0">
              <a:latin typeface="+mn-ea"/>
              <a:sym typeface="Symbol" panose="05050102010706020507" pitchFamily="18" charset="2"/>
            </a:endParaRPr>
          </a:p>
          <a:p>
            <a:pPr marL="1371600" lvl="2" indent="-457200">
              <a:lnSpc>
                <a:spcPct val="150000"/>
              </a:lnSpc>
              <a:buClr>
                <a:srgbClr val="FFC000"/>
              </a:buClr>
              <a:buSzPct val="117000"/>
              <a:buFont typeface="Wingdings" panose="05000000000000000000" pitchFamily="2" charset="2"/>
              <a:buChar char="n"/>
            </a:pPr>
            <a:r>
              <a:rPr lang="zh-CN" altLang="en-US" sz="2000" dirty="0">
                <a:latin typeface="+mn-ea"/>
                <a:sym typeface="Symbol" panose="05050102010706020507" pitchFamily="18" charset="2"/>
              </a:rPr>
              <a:t>如果系统安全  将资源分配给 </a:t>
            </a:r>
            <a:r>
              <a:rPr lang="en-US" altLang="zh-CN" sz="2000" dirty="0">
                <a:latin typeface="+mn-ea"/>
                <a:sym typeface="Symbol" panose="05050102010706020507" pitchFamily="18" charset="2"/>
              </a:rPr>
              <a:t>P</a:t>
            </a:r>
            <a:r>
              <a:rPr lang="en-US" altLang="zh-CN" sz="2000" baseline="-25000" dirty="0">
                <a:latin typeface="+mn-ea"/>
                <a:sym typeface="Symbol" panose="05050102010706020507" pitchFamily="18" charset="2"/>
              </a:rPr>
              <a:t>i</a:t>
            </a:r>
            <a:r>
              <a:rPr lang="en-US" altLang="zh-CN" sz="2000" dirty="0">
                <a:latin typeface="+mn-ea"/>
                <a:sym typeface="Symbol" panose="05050102010706020507" pitchFamily="18" charset="2"/>
              </a:rPr>
              <a:t>. </a:t>
            </a:r>
            <a:endParaRPr lang="en-US" altLang="zh-CN" sz="2000" dirty="0">
              <a:latin typeface="+mn-ea"/>
              <a:sym typeface="Symbol" panose="05050102010706020507" pitchFamily="18" charset="2"/>
            </a:endParaRPr>
          </a:p>
          <a:p>
            <a:pPr marL="1371600" lvl="2" indent="-457200">
              <a:lnSpc>
                <a:spcPct val="150000"/>
              </a:lnSpc>
              <a:buClr>
                <a:srgbClr val="FFC000"/>
              </a:buClr>
              <a:buSzPct val="117000"/>
              <a:buFont typeface="Wingdings" panose="05000000000000000000" pitchFamily="2" charset="2"/>
              <a:buChar char="n"/>
            </a:pPr>
            <a:r>
              <a:rPr lang="zh-CN" altLang="en-US" sz="2000" dirty="0">
                <a:latin typeface="+mn-ea"/>
                <a:sym typeface="Symbol" panose="05050102010706020507" pitchFamily="18" charset="2"/>
              </a:rPr>
              <a:t>如果系统不安全 </a:t>
            </a:r>
            <a:r>
              <a:rPr lang="en-US" altLang="zh-CN" sz="2000" dirty="0">
                <a:latin typeface="+mn-ea"/>
                <a:sym typeface="Symbol" panose="05050102010706020507" pitchFamily="18" charset="2"/>
              </a:rPr>
              <a:t> P</a:t>
            </a:r>
            <a:r>
              <a:rPr lang="en-US" altLang="zh-CN" sz="2000" baseline="-25000" dirty="0">
                <a:latin typeface="+mn-ea"/>
                <a:sym typeface="Symbol" panose="05050102010706020507" pitchFamily="18" charset="2"/>
              </a:rPr>
              <a:t>i</a:t>
            </a:r>
            <a:r>
              <a:rPr lang="en-US" altLang="zh-CN" sz="2000" dirty="0">
                <a:latin typeface="+mn-ea"/>
                <a:sym typeface="Symbol" panose="05050102010706020507" pitchFamily="18" charset="2"/>
              </a:rPr>
              <a:t> </a:t>
            </a:r>
            <a:r>
              <a:rPr lang="zh-CN" altLang="en-US" sz="2000" dirty="0">
                <a:latin typeface="+mn-ea"/>
                <a:sym typeface="Symbol" panose="05050102010706020507" pitchFamily="18" charset="2"/>
              </a:rPr>
              <a:t>必须等待，恢复原有的资源分配状态</a:t>
            </a:r>
            <a:endParaRPr lang="zh-CN" altLang="en-US" sz="2000" dirty="0">
              <a:solidFill>
                <a:schemeClr val="accent3"/>
              </a:solidFill>
              <a:latin typeface="+mn-ea"/>
            </a:endParaRPr>
          </a:p>
        </p:txBody>
      </p:sp>
      <p:sp>
        <p:nvSpPr>
          <p:cNvPr id="2" name="文本框 1"/>
          <p:cNvSpPr txBox="1"/>
          <p:nvPr/>
        </p:nvSpPr>
        <p:spPr>
          <a:xfrm>
            <a:off x="0" y="3709035"/>
            <a:ext cx="5994400" cy="507365"/>
          </a:xfrm>
          <a:prstGeom prst="rect">
            <a:avLst/>
          </a:prstGeom>
          <a:noFill/>
        </p:spPr>
        <p:txBody>
          <a:bodyPr wrap="square">
            <a:spAutoFit/>
          </a:bodyPr>
          <a:p>
            <a:pPr marL="1714500" lvl="3" indent="-342900" algn="l">
              <a:lnSpc>
                <a:spcPct val="123000"/>
              </a:lnSpc>
              <a:spcBef>
                <a:spcPts val="600"/>
              </a:spcBef>
              <a:spcAft>
                <a:spcPts val="600"/>
              </a:spcAft>
              <a:buClr>
                <a:srgbClr val="FFC000"/>
              </a:buClr>
              <a:buFont typeface="Wingdings" panose="05000000000000000000" pitchFamily="2" charset="2"/>
              <a:buChar char="n"/>
            </a:pPr>
            <a:r>
              <a:rPr lang="en-US" altLang="zh-CN" sz="2200" dirty="0" err="1">
                <a:latin typeface="+mn-ea"/>
                <a:sym typeface="Symbol" panose="05050102010706020507" pitchFamily="18" charset="2"/>
              </a:rPr>
              <a:t>Need</a:t>
            </a:r>
            <a:r>
              <a:rPr lang="en-US" altLang="zh-CN" sz="2200" baseline="-25000" dirty="0" err="1">
                <a:latin typeface="+mn-ea"/>
                <a:sym typeface="Symbol" panose="05050102010706020507" pitchFamily="18" charset="2"/>
              </a:rPr>
              <a:t>i</a:t>
            </a:r>
            <a:r>
              <a:rPr lang="en-US" altLang="zh-CN" sz="2200" dirty="0">
                <a:latin typeface="+mn-ea"/>
                <a:sym typeface="Symbol" panose="05050102010706020507" pitchFamily="18" charset="2"/>
              </a:rPr>
              <a:t> := </a:t>
            </a:r>
            <a:r>
              <a:rPr lang="en-US" altLang="zh-CN" sz="2200" dirty="0" err="1">
                <a:latin typeface="+mn-ea"/>
                <a:sym typeface="Symbol" panose="05050102010706020507" pitchFamily="18" charset="2"/>
              </a:rPr>
              <a:t>Need</a:t>
            </a:r>
            <a:r>
              <a:rPr lang="en-US" altLang="zh-CN" sz="2200" baseline="-25000" dirty="0" err="1">
                <a:latin typeface="+mn-ea"/>
                <a:sym typeface="Symbol" panose="05050102010706020507" pitchFamily="18" charset="2"/>
              </a:rPr>
              <a:t>i</a:t>
            </a:r>
            <a:r>
              <a:rPr lang="en-US" altLang="zh-CN" sz="2200" dirty="0">
                <a:latin typeface="+mn-ea"/>
                <a:sym typeface="Symbol" panose="05050102010706020507" pitchFamily="18" charset="2"/>
              </a:rPr>
              <a:t> – </a:t>
            </a:r>
            <a:r>
              <a:rPr lang="en-US" altLang="zh-CN" sz="2200" dirty="0" err="1">
                <a:latin typeface="+mn-ea"/>
                <a:sym typeface="Symbol" panose="05050102010706020507" pitchFamily="18" charset="2"/>
              </a:rPr>
              <a:t>Request</a:t>
            </a:r>
            <a:r>
              <a:rPr lang="en-US" altLang="zh-CN" sz="2200" baseline="-25000" dirty="0" err="1">
                <a:latin typeface="+mn-ea"/>
                <a:sym typeface="Symbol" panose="05050102010706020507" pitchFamily="18" charset="2"/>
              </a:rPr>
              <a:t>i</a:t>
            </a:r>
            <a:r>
              <a:rPr lang="en-US" altLang="zh-CN" sz="2200" baseline="-25000" dirty="0">
                <a:latin typeface="+mn-ea"/>
                <a:sym typeface="Symbol" panose="05050102010706020507" pitchFamily="18" charset="2"/>
              </a:rPr>
              <a:t>;</a:t>
            </a:r>
            <a:endParaRPr lang="en-US" altLang="zh-CN" sz="2200" baseline="-25000" dirty="0">
              <a:latin typeface="+mn-ea"/>
              <a:sym typeface="Symbol" panose="05050102010706020507" pitchFamily="18" charset="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例子：</a:t>
            </a:r>
            <a:r>
              <a:rPr lang="en-US" altLang="zh-CN" sz="2800" b="1" dirty="0">
                <a:solidFill>
                  <a:schemeClr val="bg1"/>
                </a:solidFill>
              </a:rPr>
              <a:t>P1 request (1,0,2)</a:t>
            </a:r>
            <a:endParaRPr lang="zh-CN" altLang="en-US" sz="2800" b="1" dirty="0">
              <a:solidFill>
                <a:schemeClr val="bg1"/>
              </a:solidFill>
            </a:endParaRPr>
          </a:p>
        </p:txBody>
      </p:sp>
      <p:sp>
        <p:nvSpPr>
          <p:cNvPr id="7" name="îSļiḓè"/>
          <p:cNvSpPr/>
          <p:nvPr/>
        </p:nvSpPr>
        <p:spPr>
          <a:xfrm>
            <a:off x="1734465" y="123227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8" name="îṡḷíďe"/>
          <p:cNvSpPr/>
          <p:nvPr/>
        </p:nvSpPr>
        <p:spPr>
          <a:xfrm>
            <a:off x="1917735" y="1439839"/>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graphicFrame>
        <p:nvGraphicFramePr>
          <p:cNvPr id="3" name="Group 74"/>
          <p:cNvGraphicFramePr>
            <a:graphicFrameLocks noGrp="1"/>
          </p:cNvGraphicFramePr>
          <p:nvPr>
            <p:custDataLst>
              <p:tags r:id="rId1"/>
            </p:custDataLst>
          </p:nvPr>
        </p:nvGraphicFramePr>
        <p:xfrm>
          <a:off x="1316990" y="2849245"/>
          <a:ext cx="9813925" cy="3410585"/>
        </p:xfrm>
        <a:graphic>
          <a:graphicData uri="http://schemas.openxmlformats.org/drawingml/2006/table">
            <a:tbl>
              <a:tblPr/>
              <a:tblGrid>
                <a:gridCol w="1962785"/>
                <a:gridCol w="1962785"/>
                <a:gridCol w="1962785"/>
                <a:gridCol w="1962785"/>
                <a:gridCol w="1962785"/>
              </a:tblGrid>
              <a:tr h="1238885">
                <a:tc>
                  <a:txBody>
                    <a:bodyPr/>
                    <a:p>
                      <a:pPr marL="0" marR="0" lvl="0" indent="0" algn="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       </a:t>
                      </a:r>
                      <a:r>
                        <a:rPr kumimoji="1" lang="zh-CN" altLang="en-US" sz="2400" b="0" i="0" u="none" strike="noStrike" cap="none" normalizeH="0" baseline="0" dirty="0">
                          <a:ln>
                            <a:noFill/>
                          </a:ln>
                          <a:solidFill>
                            <a:schemeClr val="tx1"/>
                          </a:solidFill>
                          <a:effectLst/>
                          <a:latin typeface="+mn-ea"/>
                          <a:ea typeface="+mn-ea"/>
                        </a:rPr>
                        <a:t>资源情况</a:t>
                      </a:r>
                      <a:endParaRPr kumimoji="1" lang="zh-CN" altLang="en-US" sz="2400" b="0" i="0" u="none" strike="noStrike" cap="none" normalizeH="0" baseline="0" dirty="0">
                        <a:ln>
                          <a:noFill/>
                        </a:ln>
                        <a:solidFill>
                          <a:schemeClr val="tx1"/>
                        </a:solidFill>
                        <a:effectLst/>
                        <a:latin typeface="+mn-ea"/>
                        <a:ea typeface="+mn-ea"/>
                      </a:endParaRPr>
                    </a:p>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i="0" u="none" strike="noStrike" cap="none" normalizeH="0" baseline="0" dirty="0">
                          <a:ln>
                            <a:noFill/>
                          </a:ln>
                          <a:solidFill>
                            <a:schemeClr val="tx1"/>
                          </a:solidFill>
                          <a:effectLst/>
                          <a:latin typeface="+mn-ea"/>
                          <a:ea typeface="+mn-ea"/>
                        </a:rPr>
                        <a:t>进程</a:t>
                      </a:r>
                      <a:endParaRPr kumimoji="1" lang="zh-CN" altLang="en-US"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Max</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Allocation</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Need</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Available</a:t>
                      </a:r>
                      <a:endParaRPr kumimoji="1" lang="en-US" altLang="zh-CN" sz="2400" b="0" i="0" u="none" strike="noStrike" cap="none" normalizeH="0" baseline="0" dirty="0">
                        <a:ln>
                          <a:noFill/>
                        </a:ln>
                        <a:solidFill>
                          <a:schemeClr val="tx1"/>
                        </a:solidFill>
                        <a:effectLst/>
                        <a:latin typeface="+mn-ea"/>
                        <a:ea typeface="+mn-ea"/>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A    B    C</a:t>
                      </a:r>
                      <a:endParaRPr kumimoji="1" lang="en-US" altLang="zh-CN" sz="2400" b="0"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0</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7    5    3</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0    1    0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7    4    3</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rgbClr val="FF0000"/>
                          </a:solidFill>
                          <a:effectLst/>
                          <a:latin typeface="+mn-ea"/>
                          <a:ea typeface="+mn-ea"/>
                        </a:rPr>
                        <a:t>2    3    0</a:t>
                      </a:r>
                      <a:endParaRPr kumimoji="1" lang="en-US" altLang="zh-CN" sz="2400" b="1" i="0" u="none" strike="noStrike" cap="none" normalizeH="0" baseline="0" dirty="0">
                        <a:ln>
                          <a:noFill/>
                        </a:ln>
                        <a:solidFill>
                          <a:srgbClr val="FF0000"/>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1</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3    2    2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rgbClr val="FF0000"/>
                          </a:solidFill>
                          <a:effectLst/>
                          <a:latin typeface="+mn-ea"/>
                          <a:ea typeface="+mn-ea"/>
                        </a:rPr>
                        <a:t>3    0    2</a:t>
                      </a:r>
                      <a:endParaRPr kumimoji="1" lang="en-US" altLang="zh-CN" sz="2400" b="1" i="0" u="none" strike="noStrike" cap="none" normalizeH="0" baseline="0" dirty="0">
                        <a:ln>
                          <a:noFill/>
                        </a:ln>
                        <a:solidFill>
                          <a:srgbClr val="FF0000"/>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rgbClr val="FF0000"/>
                          </a:solidFill>
                          <a:effectLst/>
                          <a:latin typeface="+mn-ea"/>
                          <a:ea typeface="+mn-ea"/>
                        </a:rPr>
                        <a:t>0    2    0</a:t>
                      </a:r>
                      <a:endParaRPr kumimoji="1" lang="en-US" altLang="zh-CN" sz="2400" b="1" i="0" u="none" strike="noStrike" cap="none" normalizeH="0" baseline="0" dirty="0">
                        <a:ln>
                          <a:noFill/>
                        </a:ln>
                        <a:solidFill>
                          <a:srgbClr val="FF0000"/>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2</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9    0    2</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3    0    2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6    0    0</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3</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2    2    2</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2    1    1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0    1    1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434340">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i="0" u="none" strike="noStrike" cap="none" normalizeH="0" baseline="0" dirty="0">
                          <a:ln>
                            <a:noFill/>
                          </a:ln>
                          <a:solidFill>
                            <a:schemeClr val="tx1"/>
                          </a:solidFill>
                          <a:effectLst/>
                          <a:latin typeface="+mn-ea"/>
                          <a:ea typeface="+mn-ea"/>
                        </a:rPr>
                        <a:t>P</a:t>
                      </a:r>
                      <a:r>
                        <a:rPr kumimoji="1" lang="en-US" altLang="zh-CN" sz="2400" b="0" i="0" u="none" strike="noStrike" cap="none" normalizeH="0" baseline="-25000" dirty="0">
                          <a:ln>
                            <a:noFill/>
                          </a:ln>
                          <a:solidFill>
                            <a:schemeClr val="tx1"/>
                          </a:solidFill>
                          <a:effectLst/>
                          <a:latin typeface="+mn-ea"/>
                          <a:ea typeface="+mn-ea"/>
                        </a:rPr>
                        <a:t>4</a:t>
                      </a:r>
                      <a:endParaRPr kumimoji="1" lang="en-US" altLang="zh-CN" sz="2400" b="0" i="0" u="none" strike="noStrike" cap="none" normalizeH="0" baseline="-25000" dirty="0">
                        <a:ln>
                          <a:noFill/>
                        </a:ln>
                        <a:solidFill>
                          <a:schemeClr val="tx1"/>
                        </a:solidFill>
                        <a:effectLst/>
                        <a:latin typeface="+mn-ea"/>
                        <a:ea typeface="+mn-ea"/>
                      </a:endParaRPr>
                    </a:p>
                  </a:txBody>
                  <a:tcPr marL="92072" marR="92072" marT="34530" marB="345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a:ln>
                            <a:noFill/>
                          </a:ln>
                          <a:solidFill>
                            <a:schemeClr val="tx1"/>
                          </a:solidFill>
                          <a:effectLst/>
                          <a:latin typeface="+mn-ea"/>
                          <a:ea typeface="+mn-ea"/>
                        </a:rPr>
                        <a:t>4    3    3</a:t>
                      </a:r>
                      <a:endParaRPr kumimoji="1" lang="en-US" altLang="zh-CN" sz="2400" b="1" i="0" u="none" strike="noStrike" cap="none" normalizeH="0" baseline="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0    0    2</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1" i="0" u="none" strike="noStrike" cap="none" normalizeH="0" baseline="0" dirty="0">
                          <a:ln>
                            <a:noFill/>
                          </a:ln>
                          <a:solidFill>
                            <a:schemeClr val="tx1"/>
                          </a:solidFill>
                          <a:effectLst/>
                          <a:latin typeface="+mn-ea"/>
                          <a:ea typeface="+mn-ea"/>
                        </a:rPr>
                        <a:t>4    3    1</a:t>
                      </a:r>
                      <a:endParaRPr kumimoji="1" lang="en-US" altLang="zh-CN" sz="2400" b="1" i="0" u="none" strike="noStrike" cap="none" normalizeH="0" baseline="0" dirty="0">
                        <a:ln>
                          <a:noFill/>
                        </a:ln>
                        <a:solidFill>
                          <a:schemeClr val="tx1"/>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2400" b="1" i="0" u="none" strike="noStrike" cap="none" normalizeH="0" baseline="0" dirty="0">
                        <a:ln>
                          <a:noFill/>
                        </a:ln>
                        <a:solidFill>
                          <a:schemeClr val="bg2"/>
                        </a:solidFill>
                        <a:effectLst/>
                        <a:latin typeface="+mn-ea"/>
                        <a:ea typeface="+mn-ea"/>
                      </a:endParaRPr>
                    </a:p>
                  </a:txBody>
                  <a:tcPr marL="92072" marR="92072" marT="34530" marB="345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bl>
          </a:graphicData>
        </a:graphic>
      </p:graphicFrame>
      <p:sp>
        <p:nvSpPr>
          <p:cNvPr id="11" name="文本框 10"/>
          <p:cNvSpPr txBox="1"/>
          <p:nvPr/>
        </p:nvSpPr>
        <p:spPr>
          <a:xfrm>
            <a:off x="1541780" y="1145684"/>
            <a:ext cx="6956171" cy="471796"/>
          </a:xfrm>
          <a:prstGeom prst="rect">
            <a:avLst/>
          </a:prstGeom>
          <a:noFill/>
        </p:spPr>
        <p:txBody>
          <a:bodyPr wrap="square">
            <a:spAutoFit/>
          </a:bodyPr>
          <a:p>
            <a:pPr marL="1714500" lvl="3" indent="-342900">
              <a:lnSpc>
                <a:spcPct val="123000"/>
              </a:lnSpc>
              <a:spcBef>
                <a:spcPts val="600"/>
              </a:spcBef>
              <a:spcAft>
                <a:spcPts val="600"/>
              </a:spcAft>
              <a:buClr>
                <a:srgbClr val="FFC000"/>
              </a:buClr>
              <a:buFont typeface="Wingdings" panose="05000000000000000000" pitchFamily="2" charset="2"/>
              <a:buChar char="n"/>
            </a:pPr>
            <a:r>
              <a:rPr lang="en-US" altLang="zh-CN" sz="2200" dirty="0">
                <a:latin typeface="+mn-ea"/>
                <a:sym typeface="Symbol" panose="05050102010706020507" pitchFamily="18" charset="2"/>
              </a:rPr>
              <a:t>Available := Available - </a:t>
            </a:r>
            <a:r>
              <a:rPr lang="en-US" altLang="zh-CN" sz="2200" dirty="0" err="1">
                <a:latin typeface="+mn-ea"/>
                <a:sym typeface="Symbol" panose="05050102010706020507" pitchFamily="18" charset="2"/>
              </a:rPr>
              <a:t>Request</a:t>
            </a:r>
            <a:r>
              <a:rPr lang="en-US" altLang="zh-CN" sz="2200" baseline="-25000" dirty="0" err="1">
                <a:latin typeface="+mn-ea"/>
                <a:sym typeface="Symbol" panose="05050102010706020507" pitchFamily="18" charset="2"/>
              </a:rPr>
              <a:t>i</a:t>
            </a:r>
            <a:r>
              <a:rPr lang="en-US" altLang="zh-CN" sz="2200" dirty="0">
                <a:latin typeface="+mn-ea"/>
                <a:sym typeface="Symbol" panose="05050102010706020507" pitchFamily="18" charset="2"/>
              </a:rPr>
              <a:t>;</a:t>
            </a:r>
            <a:endParaRPr lang="en-US" altLang="zh-CN" sz="2200" baseline="-25000" dirty="0">
              <a:latin typeface="+mn-ea"/>
              <a:sym typeface="Symbol" panose="05050102010706020507" pitchFamily="18" charset="2"/>
            </a:endParaRPr>
          </a:p>
        </p:txBody>
      </p:sp>
      <p:sp>
        <p:nvSpPr>
          <p:cNvPr id="12" name="文本框 11"/>
          <p:cNvSpPr txBox="1"/>
          <p:nvPr/>
        </p:nvSpPr>
        <p:spPr>
          <a:xfrm>
            <a:off x="1541780" y="2264015"/>
            <a:ext cx="10792258" cy="471796"/>
          </a:xfrm>
          <a:prstGeom prst="rect">
            <a:avLst/>
          </a:prstGeom>
          <a:noFill/>
        </p:spPr>
        <p:txBody>
          <a:bodyPr wrap="square">
            <a:spAutoFit/>
          </a:bodyPr>
          <a:p>
            <a:pPr marL="1714500" lvl="3" indent="-342900">
              <a:lnSpc>
                <a:spcPct val="123000"/>
              </a:lnSpc>
              <a:spcBef>
                <a:spcPts val="600"/>
              </a:spcBef>
              <a:spcAft>
                <a:spcPts val="600"/>
              </a:spcAft>
              <a:buClr>
                <a:srgbClr val="FFC000"/>
              </a:buClr>
              <a:buFont typeface="Wingdings" panose="05000000000000000000" pitchFamily="2" charset="2"/>
              <a:buChar char="n"/>
            </a:pPr>
            <a:r>
              <a:rPr lang="en-US" altLang="zh-CN" sz="2200" dirty="0" err="1">
                <a:latin typeface="+mn-ea"/>
                <a:sym typeface="Symbol" panose="05050102010706020507" pitchFamily="18" charset="2"/>
              </a:rPr>
              <a:t>Allocation</a:t>
            </a:r>
            <a:r>
              <a:rPr lang="en-US" altLang="zh-CN" sz="2200" baseline="-25000" dirty="0" err="1">
                <a:latin typeface="+mn-ea"/>
                <a:sym typeface="Symbol" panose="05050102010706020507" pitchFamily="18" charset="2"/>
              </a:rPr>
              <a:t>i</a:t>
            </a:r>
            <a:r>
              <a:rPr lang="en-US" altLang="zh-CN" sz="2200" baseline="-25000" dirty="0">
                <a:latin typeface="+mn-ea"/>
                <a:sym typeface="Symbol" panose="05050102010706020507" pitchFamily="18" charset="2"/>
              </a:rPr>
              <a:t> </a:t>
            </a:r>
            <a:r>
              <a:rPr lang="en-US" altLang="zh-CN" sz="2200" dirty="0">
                <a:latin typeface="+mn-ea"/>
                <a:sym typeface="Symbol" panose="05050102010706020507" pitchFamily="18" charset="2"/>
              </a:rPr>
              <a:t>:= </a:t>
            </a:r>
            <a:r>
              <a:rPr lang="en-US" altLang="zh-CN" sz="2200" dirty="0" err="1">
                <a:latin typeface="+mn-ea"/>
                <a:sym typeface="Symbol" panose="05050102010706020507" pitchFamily="18" charset="2"/>
              </a:rPr>
              <a:t>Allocation</a:t>
            </a:r>
            <a:r>
              <a:rPr lang="en-US" altLang="zh-CN" sz="2200" baseline="-25000" dirty="0" err="1">
                <a:latin typeface="+mn-ea"/>
                <a:sym typeface="Symbol" panose="05050102010706020507" pitchFamily="18" charset="2"/>
              </a:rPr>
              <a:t>i</a:t>
            </a:r>
            <a:r>
              <a:rPr lang="en-US" altLang="zh-CN" sz="2200" dirty="0">
                <a:latin typeface="+mn-ea"/>
                <a:sym typeface="Symbol" panose="05050102010706020507" pitchFamily="18" charset="2"/>
              </a:rPr>
              <a:t> + </a:t>
            </a:r>
            <a:r>
              <a:rPr lang="en-US" altLang="zh-CN" sz="2200" dirty="0" err="1">
                <a:latin typeface="+mn-ea"/>
                <a:sym typeface="Symbol" panose="05050102010706020507" pitchFamily="18" charset="2"/>
              </a:rPr>
              <a:t>Request</a:t>
            </a:r>
            <a:r>
              <a:rPr lang="en-US" altLang="zh-CN" sz="2200" baseline="-25000" dirty="0" err="1">
                <a:latin typeface="+mn-ea"/>
                <a:sym typeface="Symbol" panose="05050102010706020507" pitchFamily="18" charset="2"/>
              </a:rPr>
              <a:t>i</a:t>
            </a:r>
            <a:r>
              <a:rPr lang="en-US" altLang="zh-CN" sz="2200" dirty="0">
                <a:latin typeface="+mn-ea"/>
                <a:sym typeface="Symbol" panose="05050102010706020507" pitchFamily="18" charset="2"/>
              </a:rPr>
              <a:t>;</a:t>
            </a:r>
            <a:endParaRPr lang="en-US" altLang="zh-CN" sz="2200" dirty="0">
              <a:latin typeface="+mn-ea"/>
              <a:sym typeface="Symbol" panose="05050102010706020507" pitchFamily="18" charset="2"/>
            </a:endParaRPr>
          </a:p>
        </p:txBody>
      </p:sp>
      <p:sp>
        <p:nvSpPr>
          <p:cNvPr id="4" name="文本框 3"/>
          <p:cNvSpPr txBox="1"/>
          <p:nvPr/>
        </p:nvSpPr>
        <p:spPr>
          <a:xfrm>
            <a:off x="1541780" y="1687195"/>
            <a:ext cx="5994400" cy="507365"/>
          </a:xfrm>
          <a:prstGeom prst="rect">
            <a:avLst/>
          </a:prstGeom>
          <a:noFill/>
        </p:spPr>
        <p:txBody>
          <a:bodyPr wrap="square">
            <a:spAutoFit/>
          </a:bodyPr>
          <a:p>
            <a:pPr marL="1714500" lvl="3" indent="-342900" algn="l">
              <a:lnSpc>
                <a:spcPct val="123000"/>
              </a:lnSpc>
              <a:spcBef>
                <a:spcPts val="600"/>
              </a:spcBef>
              <a:spcAft>
                <a:spcPts val="600"/>
              </a:spcAft>
              <a:buClr>
                <a:srgbClr val="FFC000"/>
              </a:buClr>
              <a:buFont typeface="Wingdings" panose="05000000000000000000" pitchFamily="2" charset="2"/>
              <a:buChar char="n"/>
            </a:pPr>
            <a:r>
              <a:rPr lang="en-US" altLang="zh-CN" sz="2200" dirty="0" err="1">
                <a:latin typeface="+mn-ea"/>
                <a:sym typeface="Symbol" panose="05050102010706020507" pitchFamily="18" charset="2"/>
              </a:rPr>
              <a:t>Need</a:t>
            </a:r>
            <a:r>
              <a:rPr lang="en-US" altLang="zh-CN" sz="2200" baseline="-25000" dirty="0" err="1">
                <a:latin typeface="+mn-ea"/>
                <a:sym typeface="Symbol" panose="05050102010706020507" pitchFamily="18" charset="2"/>
              </a:rPr>
              <a:t>i</a:t>
            </a:r>
            <a:r>
              <a:rPr lang="en-US" altLang="zh-CN" sz="2200" dirty="0">
                <a:latin typeface="+mn-ea"/>
                <a:sym typeface="Symbol" panose="05050102010706020507" pitchFamily="18" charset="2"/>
              </a:rPr>
              <a:t> := </a:t>
            </a:r>
            <a:r>
              <a:rPr lang="en-US" altLang="zh-CN" sz="2200" dirty="0" err="1">
                <a:latin typeface="+mn-ea"/>
                <a:sym typeface="Symbol" panose="05050102010706020507" pitchFamily="18" charset="2"/>
              </a:rPr>
              <a:t>Need</a:t>
            </a:r>
            <a:r>
              <a:rPr lang="en-US" altLang="zh-CN" sz="2200" baseline="-25000" dirty="0" err="1">
                <a:latin typeface="+mn-ea"/>
                <a:sym typeface="Symbol" panose="05050102010706020507" pitchFamily="18" charset="2"/>
              </a:rPr>
              <a:t>i</a:t>
            </a:r>
            <a:r>
              <a:rPr lang="en-US" altLang="zh-CN" sz="2200" dirty="0">
                <a:latin typeface="+mn-ea"/>
                <a:sym typeface="Symbol" panose="05050102010706020507" pitchFamily="18" charset="2"/>
              </a:rPr>
              <a:t> – </a:t>
            </a:r>
            <a:r>
              <a:rPr lang="en-US" altLang="zh-CN" sz="2200" dirty="0" err="1">
                <a:latin typeface="+mn-ea"/>
                <a:sym typeface="Symbol" panose="05050102010706020507" pitchFamily="18" charset="2"/>
              </a:rPr>
              <a:t>Request</a:t>
            </a:r>
            <a:r>
              <a:rPr lang="en-US" altLang="zh-CN" sz="2200" baseline="-25000" dirty="0" err="1">
                <a:latin typeface="+mn-ea"/>
                <a:sym typeface="Symbol" panose="05050102010706020507" pitchFamily="18" charset="2"/>
              </a:rPr>
              <a:t>i</a:t>
            </a:r>
            <a:r>
              <a:rPr lang="en-US" altLang="zh-CN" sz="2200" baseline="-25000" dirty="0">
                <a:latin typeface="+mn-ea"/>
                <a:sym typeface="Symbol" panose="05050102010706020507" pitchFamily="18" charset="2"/>
              </a:rPr>
              <a:t>;</a:t>
            </a:r>
            <a:endParaRPr lang="en-US" altLang="zh-CN" sz="2200" baseline="-25000" dirty="0">
              <a:latin typeface="+mn-ea"/>
              <a:sym typeface="Symbol" panose="05050102010706020507" pitchFamily="18" charset="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例子续：</a:t>
            </a:r>
            <a:r>
              <a:rPr lang="en-US" altLang="zh-CN" sz="2800" b="1" dirty="0">
                <a:solidFill>
                  <a:schemeClr val="bg1"/>
                </a:solidFill>
              </a:rPr>
              <a:t>P1 request (1,0,2)</a:t>
            </a:r>
            <a:endParaRPr lang="en-US" altLang="zh-CN" sz="2800" b="1" dirty="0">
              <a:solidFill>
                <a:schemeClr val="bg1"/>
              </a:solidFill>
            </a:endParaRPr>
          </a:p>
        </p:txBody>
      </p:sp>
      <p:sp>
        <p:nvSpPr>
          <p:cNvPr id="6" name="文本框 5"/>
          <p:cNvSpPr txBox="1"/>
          <p:nvPr/>
        </p:nvSpPr>
        <p:spPr>
          <a:xfrm>
            <a:off x="355107" y="4592676"/>
            <a:ext cx="10482693" cy="1414875"/>
          </a:xfrm>
          <a:prstGeom prst="rect">
            <a:avLst/>
          </a:prstGeom>
          <a:noFill/>
        </p:spPr>
        <p:txBody>
          <a:bodyPr wrap="square">
            <a:spAutoFit/>
          </a:bodyPr>
          <a:lstStyle/>
          <a:p>
            <a:pPr>
              <a:lnSpc>
                <a:spcPct val="123000"/>
              </a:lnSpc>
              <a:tabLst>
                <a:tab pos="1544320" algn="l"/>
                <a:tab pos="2452370" algn="ctr"/>
                <a:tab pos="3766820" algn="ctr"/>
                <a:tab pos="5022850" algn="ctr"/>
              </a:tabLst>
            </a:pPr>
            <a:r>
              <a:rPr lang="zh-CN" altLang="en-US" sz="2400" dirty="0">
                <a:latin typeface="+mn-ea"/>
              </a:rPr>
              <a:t>执行安全算法表明序列</a:t>
            </a:r>
            <a:r>
              <a:rPr lang="en-US" altLang="zh-CN" sz="2400" b="1" dirty="0">
                <a:latin typeface="+mn-ea"/>
              </a:rPr>
              <a:t>&lt;</a:t>
            </a:r>
            <a:r>
              <a:rPr lang="en-US" altLang="zh-CN" sz="2400" b="1" i="1" dirty="0">
                <a:latin typeface="+mn-ea"/>
              </a:rPr>
              <a:t>P</a:t>
            </a:r>
            <a:r>
              <a:rPr lang="en-US" altLang="zh-CN" sz="2400" b="1" baseline="-25000" dirty="0">
                <a:latin typeface="+mn-ea"/>
              </a:rPr>
              <a:t>1</a:t>
            </a:r>
            <a:r>
              <a:rPr lang="en-US" altLang="zh-CN" sz="2400" b="1" dirty="0">
                <a:latin typeface="+mn-ea"/>
              </a:rPr>
              <a:t>, </a:t>
            </a:r>
            <a:r>
              <a:rPr lang="en-US" altLang="zh-CN" sz="2400" b="1" i="1" dirty="0">
                <a:latin typeface="+mn-ea"/>
              </a:rPr>
              <a:t>P</a:t>
            </a:r>
            <a:r>
              <a:rPr lang="en-US" altLang="zh-CN" sz="2400" b="1" baseline="-25000" dirty="0">
                <a:latin typeface="+mn-ea"/>
              </a:rPr>
              <a:t>3</a:t>
            </a:r>
            <a:r>
              <a:rPr lang="en-US" altLang="zh-CN" sz="2400" b="1" dirty="0">
                <a:latin typeface="+mn-ea"/>
              </a:rPr>
              <a:t>, </a:t>
            </a:r>
            <a:r>
              <a:rPr lang="en-US" altLang="zh-CN" sz="2400" b="1" i="1" dirty="0">
                <a:latin typeface="+mn-ea"/>
              </a:rPr>
              <a:t>P</a:t>
            </a:r>
            <a:r>
              <a:rPr lang="en-US" altLang="zh-CN" sz="2400" b="1" baseline="-25000" dirty="0">
                <a:latin typeface="+mn-ea"/>
              </a:rPr>
              <a:t>4</a:t>
            </a:r>
            <a:r>
              <a:rPr lang="en-US" altLang="zh-CN" sz="2400" b="1" dirty="0">
                <a:latin typeface="+mn-ea"/>
              </a:rPr>
              <a:t>, </a:t>
            </a:r>
            <a:r>
              <a:rPr lang="en-US" altLang="zh-CN" sz="2400" b="1" i="1" dirty="0">
                <a:latin typeface="+mn-ea"/>
              </a:rPr>
              <a:t>P</a:t>
            </a:r>
            <a:r>
              <a:rPr lang="en-US" altLang="zh-CN" sz="2400" b="1" baseline="-25000" dirty="0">
                <a:latin typeface="+mn-ea"/>
              </a:rPr>
              <a:t>0</a:t>
            </a:r>
            <a:r>
              <a:rPr lang="en-US" altLang="zh-CN" sz="2400" b="1" dirty="0">
                <a:latin typeface="+mn-ea"/>
              </a:rPr>
              <a:t>, </a:t>
            </a:r>
            <a:r>
              <a:rPr lang="en-US" altLang="zh-CN" sz="2400" b="1" i="1" dirty="0">
                <a:latin typeface="+mn-ea"/>
              </a:rPr>
              <a:t>P</a:t>
            </a:r>
            <a:r>
              <a:rPr lang="en-US" altLang="zh-CN" sz="2400" b="1" baseline="-25000" dirty="0">
                <a:latin typeface="+mn-ea"/>
              </a:rPr>
              <a:t>2</a:t>
            </a:r>
            <a:r>
              <a:rPr lang="en-US" altLang="zh-CN" sz="2400" b="1" dirty="0">
                <a:latin typeface="+mn-ea"/>
              </a:rPr>
              <a:t>&gt; </a:t>
            </a:r>
            <a:r>
              <a:rPr lang="zh-CN" altLang="en-US" sz="2400" dirty="0">
                <a:latin typeface="+mn-ea"/>
              </a:rPr>
              <a:t>满足要求</a:t>
            </a:r>
            <a:endParaRPr lang="en-US" altLang="zh-CN" sz="2400" dirty="0">
              <a:latin typeface="+mn-ea"/>
            </a:endParaRPr>
          </a:p>
          <a:p>
            <a:pPr>
              <a:lnSpc>
                <a:spcPct val="123000"/>
              </a:lnSpc>
              <a:tabLst>
                <a:tab pos="1544320" algn="l"/>
                <a:tab pos="2452370" algn="ctr"/>
                <a:tab pos="3766820" algn="ctr"/>
                <a:tab pos="5022850" algn="ctr"/>
              </a:tabLst>
            </a:pPr>
            <a:r>
              <a:rPr lang="zh-CN" altLang="en-US" sz="2400" dirty="0">
                <a:latin typeface="+mn-ea"/>
              </a:rPr>
              <a:t>补充</a:t>
            </a:r>
            <a:r>
              <a:rPr lang="zh-CN" altLang="en-US" sz="2400" dirty="0">
                <a:solidFill>
                  <a:srgbClr val="FF0000"/>
                </a:solidFill>
                <a:latin typeface="+mn-ea"/>
              </a:rPr>
              <a:t>思考</a:t>
            </a:r>
            <a:r>
              <a:rPr lang="zh-CN" altLang="en-US" sz="2400" dirty="0">
                <a:latin typeface="+mn-ea"/>
              </a:rPr>
              <a:t>：</a:t>
            </a:r>
            <a:endParaRPr lang="zh-CN" altLang="en-US" sz="2400" dirty="0">
              <a:latin typeface="+mn-ea"/>
            </a:endParaRPr>
          </a:p>
          <a:p>
            <a:pPr marL="742950" lvl="1" indent="-285750">
              <a:lnSpc>
                <a:spcPct val="123000"/>
              </a:lnSpc>
              <a:buClr>
                <a:srgbClr val="FF0000"/>
              </a:buClr>
              <a:buFont typeface="Wingdings" panose="05000000000000000000" pitchFamily="2" charset="2"/>
              <a:buChar char="Ø"/>
              <a:tabLst>
                <a:tab pos="1544320" algn="l"/>
                <a:tab pos="2452370" algn="ctr"/>
                <a:tab pos="3766820" algn="ctr"/>
                <a:tab pos="5022850" algn="ctr"/>
              </a:tabLst>
            </a:pPr>
            <a:r>
              <a:rPr lang="en-US" altLang="zh-CN" sz="2400" i="1" dirty="0">
                <a:latin typeface="+mn-ea"/>
              </a:rPr>
              <a:t>P</a:t>
            </a:r>
            <a:r>
              <a:rPr lang="en-US" altLang="zh-CN" sz="2400" baseline="-25000" dirty="0">
                <a:latin typeface="+mn-ea"/>
              </a:rPr>
              <a:t>4</a:t>
            </a:r>
            <a:r>
              <a:rPr lang="zh-CN" altLang="en-US" sz="2400" dirty="0">
                <a:latin typeface="+mn-ea"/>
              </a:rPr>
              <a:t>的请求</a:t>
            </a:r>
            <a:r>
              <a:rPr lang="zh-CN" altLang="zh-CN" sz="2400" dirty="0">
                <a:latin typeface="+mn-ea"/>
              </a:rPr>
              <a:t>(3,3,0)</a:t>
            </a:r>
            <a:r>
              <a:rPr lang="zh-CN" altLang="en-US" sz="2400" dirty="0">
                <a:latin typeface="+mn-ea"/>
              </a:rPr>
              <a:t>是否可以通过？</a:t>
            </a:r>
            <a:endParaRPr lang="zh-CN" altLang="en-US" sz="2400" dirty="0">
              <a:latin typeface="+mn-ea"/>
            </a:endParaRPr>
          </a:p>
        </p:txBody>
      </p:sp>
      <p:graphicFrame>
        <p:nvGraphicFramePr>
          <p:cNvPr id="7" name="Group 71"/>
          <p:cNvGraphicFramePr>
            <a:graphicFrameLocks noGrp="1"/>
          </p:cNvGraphicFramePr>
          <p:nvPr/>
        </p:nvGraphicFramePr>
        <p:xfrm>
          <a:off x="317777" y="1313899"/>
          <a:ext cx="11519116" cy="3047724"/>
        </p:xfrm>
        <a:graphic>
          <a:graphicData uri="http://schemas.openxmlformats.org/drawingml/2006/table">
            <a:tbl>
              <a:tblPr>
                <a:tableStyleId>{5DA37D80-6434-44D0-A028-1B22A696006F}</a:tableStyleId>
              </a:tblPr>
              <a:tblGrid>
                <a:gridCol w="2399815"/>
                <a:gridCol w="1551881"/>
                <a:gridCol w="1565881"/>
                <a:gridCol w="1936092"/>
                <a:gridCol w="2831451"/>
                <a:gridCol w="1233996"/>
              </a:tblGrid>
              <a:tr h="404819">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         </a:t>
                      </a:r>
                      <a:r>
                        <a:rPr kumimoji="1" lang="zh-CN" altLang="en-US" sz="2400" b="0" u="none" strike="noStrike" cap="none" normalizeH="0" baseline="0" dirty="0">
                          <a:ln>
                            <a:noFill/>
                          </a:ln>
                          <a:solidFill>
                            <a:schemeClr val="tx1"/>
                          </a:solidFill>
                          <a:effectLst/>
                        </a:rPr>
                        <a:t>资源情况</a:t>
                      </a:r>
                      <a:endParaRPr kumimoji="1" lang="zh-CN" altLang="en-US" sz="2400" b="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zh-CN" altLang="en-US" sz="2400" b="0" u="none" strike="noStrike" cap="none" normalizeH="0" baseline="0" dirty="0">
                          <a:ln>
                            <a:noFill/>
                          </a:ln>
                          <a:solidFill>
                            <a:schemeClr val="tx1"/>
                          </a:solidFill>
                          <a:effectLst/>
                        </a:rPr>
                        <a:t>进程</a:t>
                      </a:r>
                      <a:endParaRPr kumimoji="1" lang="zh-CN" altLang="en-US" sz="2400" b="0" i="0" u="none" strike="noStrike" cap="none" normalizeH="0" baseline="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Work</a:t>
                      </a:r>
                      <a:endParaRPr kumimoji="1" lang="en-US" altLang="zh-CN" sz="2400" b="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A   B   C</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Need</a:t>
                      </a:r>
                      <a:endParaRPr kumimoji="1" lang="en-US" altLang="zh-CN" sz="2400" b="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A   B   C</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Allocation</a:t>
                      </a:r>
                      <a:endParaRPr kumimoji="1" lang="en-US" altLang="zh-CN" sz="2400" b="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A    B    C</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err="1">
                          <a:ln>
                            <a:noFill/>
                          </a:ln>
                          <a:solidFill>
                            <a:schemeClr val="tx1"/>
                          </a:solidFill>
                          <a:effectLst/>
                        </a:rPr>
                        <a:t>Work+Allocation</a:t>
                      </a:r>
                      <a:endParaRPr kumimoji="1" lang="en-US" altLang="zh-CN" sz="2400" b="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A    B    C</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Finish</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r>
              <a:tr h="375349">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P</a:t>
                      </a:r>
                      <a:r>
                        <a:rPr kumimoji="1" lang="en-US" altLang="zh-CN" sz="2400" b="0" u="none" strike="noStrike" cap="none" normalizeH="0" baseline="-25000" dirty="0">
                          <a:ln>
                            <a:noFill/>
                          </a:ln>
                          <a:solidFill>
                            <a:schemeClr val="tx1"/>
                          </a:solidFill>
                          <a:effectLst/>
                        </a:rPr>
                        <a:t>1</a:t>
                      </a:r>
                      <a:endParaRPr kumimoji="1" lang="en-US" altLang="zh-CN" sz="2400" b="0" i="0" u="none" strike="noStrike" cap="none" normalizeH="0" baseline="-2500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2    3    0</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0    2    0</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3    0    2</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5    3    2</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true</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r>
              <a:tr h="375349">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P</a:t>
                      </a:r>
                      <a:r>
                        <a:rPr kumimoji="1" lang="en-US" altLang="zh-CN" sz="2400" b="0" u="none" strike="noStrike" cap="none" normalizeH="0" baseline="-25000" dirty="0">
                          <a:ln>
                            <a:noFill/>
                          </a:ln>
                          <a:solidFill>
                            <a:schemeClr val="tx1"/>
                          </a:solidFill>
                          <a:effectLst/>
                        </a:rPr>
                        <a:t>3</a:t>
                      </a:r>
                      <a:endParaRPr kumimoji="1" lang="en-US" altLang="zh-CN" sz="2400" b="0" i="0" u="none" strike="noStrike" cap="none" normalizeH="0" baseline="-2500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5    3    2</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0    1    1</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2    1    1</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7    4    3</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true</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r>
              <a:tr h="375349">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P</a:t>
                      </a:r>
                      <a:r>
                        <a:rPr kumimoji="1" lang="en-US" altLang="zh-CN" sz="2400" b="0" u="none" strike="noStrike" cap="none" normalizeH="0" baseline="-25000" dirty="0">
                          <a:ln>
                            <a:noFill/>
                          </a:ln>
                          <a:solidFill>
                            <a:schemeClr val="tx1"/>
                          </a:solidFill>
                          <a:effectLst/>
                        </a:rPr>
                        <a:t>4</a:t>
                      </a:r>
                      <a:endParaRPr kumimoji="1" lang="en-US" altLang="zh-CN" sz="2400" b="0" i="0" u="none" strike="noStrike" cap="none" normalizeH="0" baseline="-2500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7    4    3</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4    3    1</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0    0    2</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7    4    5</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true</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r>
              <a:tr h="375349">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P</a:t>
                      </a:r>
                      <a:r>
                        <a:rPr kumimoji="1" lang="en-US" altLang="zh-CN" sz="2400" b="0" u="none" strike="noStrike" cap="none" normalizeH="0" baseline="-25000" dirty="0">
                          <a:ln>
                            <a:noFill/>
                          </a:ln>
                          <a:solidFill>
                            <a:schemeClr val="tx1"/>
                          </a:solidFill>
                          <a:effectLst/>
                        </a:rPr>
                        <a:t>0</a:t>
                      </a:r>
                      <a:endParaRPr kumimoji="1" lang="en-US" altLang="zh-CN" sz="2400" b="0" i="0" u="none" strike="noStrike" cap="none" normalizeH="0" baseline="-2500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7    4    5</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7    4    3</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0    1    0</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7    5    5</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u="none" strike="noStrike" cap="none" normalizeH="0" baseline="0" dirty="0">
                          <a:ln>
                            <a:noFill/>
                          </a:ln>
                          <a:solidFill>
                            <a:schemeClr val="tx1"/>
                          </a:solidFill>
                          <a:effectLst/>
                        </a:rPr>
                        <a:t>true</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r>
              <a:tr h="0">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P</a:t>
                      </a:r>
                      <a:r>
                        <a:rPr kumimoji="1" lang="en-US" altLang="zh-CN" sz="2400" b="0" u="none" strike="noStrike" cap="none" normalizeH="0" baseline="-25000" dirty="0">
                          <a:ln>
                            <a:noFill/>
                          </a:ln>
                          <a:solidFill>
                            <a:schemeClr val="tx1"/>
                          </a:solidFill>
                          <a:effectLst/>
                        </a:rPr>
                        <a:t>2</a:t>
                      </a:r>
                      <a:endParaRPr kumimoji="1" lang="en-US" altLang="zh-CN" sz="2400" b="0" i="0" u="none" strike="noStrike" cap="none" normalizeH="0" baseline="-25000" dirty="0">
                        <a:ln>
                          <a:noFill/>
                        </a:ln>
                        <a:solidFill>
                          <a:schemeClr val="tx1"/>
                        </a:solidFill>
                        <a:effectLst/>
                        <a:latin typeface="+mn-ea"/>
                        <a:ea typeface="+mn-ea"/>
                      </a:endParaRPr>
                    </a:p>
                  </a:txBody>
                  <a:tcPr marL="92078" marR="92078" marT="34521" marB="34521" anchor="ctr" horzOverflow="overflow">
                    <a:solidFill>
                      <a:schemeClr val="accent2">
                        <a:lumMod val="20000"/>
                        <a:lumOff val="80000"/>
                      </a:schemeClr>
                    </a:solidFill>
                  </a:tcPr>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7    5    5</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6    0    0</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3    0    2</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a:ln>
                            <a:noFill/>
                          </a:ln>
                          <a:solidFill>
                            <a:schemeClr val="tx1"/>
                          </a:solidFill>
                          <a:effectLst/>
                        </a:rPr>
                        <a:t>10    5    7</a:t>
                      </a:r>
                      <a:endParaRPr kumimoji="1" lang="en-US" altLang="zh-CN" sz="2400" b="0" i="0" u="none" strike="noStrike" cap="none" normalizeH="0" baseline="0">
                        <a:ln>
                          <a:noFill/>
                        </a:ln>
                        <a:solidFill>
                          <a:schemeClr val="tx1"/>
                        </a:solidFill>
                        <a:effectLst/>
                        <a:latin typeface="+mn-ea"/>
                        <a:ea typeface="+mn-ea"/>
                      </a:endParaRPr>
                    </a:p>
                  </a:txBody>
                  <a:tcPr marL="92078" marR="92078" marT="34521" marB="34521" anchor="ctr" horzOverflow="overflow"/>
                </a:tc>
                <a:tc>
                  <a:txBody>
                    <a:bodyPr/>
                    <a:lstStyle>
                      <a:lvl1pPr>
                        <a:buFont typeface="Monotype Sorts" pitchFamily="2" charset="2"/>
                        <a:defRPr kumimoji="1" sz="2800">
                          <a:solidFill>
                            <a:schemeClr val="tx1"/>
                          </a:solidFill>
                          <a:latin typeface="Times New Roman" panose="02020603050405020304" pitchFamily="18" charset="0"/>
                          <a:ea typeface="宋体" panose="02010600030101010101" pitchFamily="2" charset="-122"/>
                        </a:defRPr>
                      </a:lvl1pPr>
                      <a:lvl2pPr>
                        <a:buClr>
                          <a:schemeClr val="tx1"/>
                        </a:buClr>
                        <a:defRPr kumimoji="1" sz="2400">
                          <a:solidFill>
                            <a:schemeClr val="tx1"/>
                          </a:solidFill>
                          <a:latin typeface="Times New Roman" panose="02020603050405020304" pitchFamily="18" charset="0"/>
                          <a:ea typeface="宋体" panose="02010600030101010101" pitchFamily="2" charset="-122"/>
                        </a:defRPr>
                      </a:lvl2pPr>
                      <a:lvl3pPr>
                        <a:buClr>
                          <a:schemeClr val="accent2"/>
                        </a:buClr>
                        <a:buSzPct val="65000"/>
                        <a:buFont typeface="Monotype Sorts" pitchFamily="2" charset="2"/>
                        <a:defRPr kumimoji="1" sz="2000">
                          <a:solidFill>
                            <a:schemeClr val="tx1"/>
                          </a:solidFill>
                          <a:latin typeface="Times New Roman" panose="02020603050405020304" pitchFamily="18" charset="0"/>
                          <a:ea typeface="宋体" panose="02010600030101010101" pitchFamily="2" charset="-122"/>
                        </a:defRPr>
                      </a:lvl3pPr>
                      <a:lvl4pPr>
                        <a:buClr>
                          <a:schemeClr val="tx1"/>
                        </a:buCl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lr>
                          <a:schemeClr val="tx2"/>
                        </a:buClr>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400" b="0" u="none" strike="noStrike" cap="none" normalizeH="0" baseline="0" dirty="0">
                          <a:ln>
                            <a:noFill/>
                          </a:ln>
                          <a:solidFill>
                            <a:schemeClr val="tx1"/>
                          </a:solidFill>
                          <a:effectLst/>
                        </a:rPr>
                        <a:t>true</a:t>
                      </a:r>
                      <a:endParaRPr kumimoji="1" lang="en-US" altLang="zh-CN" sz="2400" b="0" i="0" u="none" strike="noStrike" cap="none" normalizeH="0" baseline="0" dirty="0">
                        <a:ln>
                          <a:noFill/>
                        </a:ln>
                        <a:solidFill>
                          <a:schemeClr val="tx1"/>
                        </a:solidFill>
                        <a:effectLst/>
                        <a:latin typeface="+mn-ea"/>
                        <a:ea typeface="+mn-ea"/>
                      </a:endParaRPr>
                    </a:p>
                  </a:txBody>
                  <a:tcPr marL="92078" marR="92078" marT="34521" marB="34521" anchor="ctr" horzOverflow="overflow"/>
                </a:tc>
              </a:tr>
            </a:tbl>
          </a:graphicData>
        </a:graphic>
      </p:graphicFrame>
      <p:cxnSp>
        <p:nvCxnSpPr>
          <p:cNvPr id="10" name="直接连接符 9"/>
          <p:cNvCxnSpPr/>
          <p:nvPr/>
        </p:nvCxnSpPr>
        <p:spPr>
          <a:xfrm>
            <a:off x="355107" y="1154097"/>
            <a:ext cx="2379215" cy="887767"/>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5397623" y="5501259"/>
            <a:ext cx="5941691" cy="506292"/>
          </a:xfrm>
          <a:prstGeom prst="rect">
            <a:avLst/>
          </a:prstGeom>
          <a:noFill/>
        </p:spPr>
        <p:txBody>
          <a:bodyPr wrap="square">
            <a:spAutoFit/>
          </a:bodyPr>
          <a:lstStyle/>
          <a:p>
            <a:pPr marL="742950" lvl="1" indent="-285750">
              <a:lnSpc>
                <a:spcPct val="123000"/>
              </a:lnSpc>
              <a:buClr>
                <a:srgbClr val="FF0000"/>
              </a:buClr>
              <a:buFont typeface="Wingdings" panose="05000000000000000000" pitchFamily="2" charset="2"/>
              <a:buChar char="Ø"/>
              <a:tabLst>
                <a:tab pos="1544320" algn="l"/>
                <a:tab pos="2452370" algn="ctr"/>
                <a:tab pos="3766820" algn="ctr"/>
                <a:tab pos="5022850" algn="ctr"/>
              </a:tabLst>
            </a:pPr>
            <a:r>
              <a:rPr lang="en-US" altLang="zh-CN" sz="2400" i="1" dirty="0">
                <a:latin typeface="+mn-ea"/>
              </a:rPr>
              <a:t>P</a:t>
            </a:r>
            <a:r>
              <a:rPr lang="en-US" altLang="zh-CN" sz="2400" baseline="-25000" dirty="0">
                <a:latin typeface="+mn-ea"/>
              </a:rPr>
              <a:t>0</a:t>
            </a:r>
            <a:r>
              <a:rPr lang="zh-CN" altLang="en-US" sz="2400" dirty="0">
                <a:latin typeface="+mn-ea"/>
              </a:rPr>
              <a:t>的请求</a:t>
            </a:r>
            <a:r>
              <a:rPr lang="zh-CN" altLang="zh-CN" sz="2400" dirty="0">
                <a:latin typeface="+mn-ea"/>
              </a:rPr>
              <a:t>(0,2,0)</a:t>
            </a:r>
            <a:r>
              <a:rPr lang="zh-CN" altLang="en-US" sz="2400" dirty="0">
                <a:latin typeface="+mn-ea"/>
              </a:rPr>
              <a:t>是否可以通过？</a:t>
            </a:r>
            <a:endParaRPr lang="zh-CN" altLang="en-US" sz="2400"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383405" y="2187575"/>
            <a:ext cx="2225675" cy="583565"/>
          </a:xfrm>
          <a:prstGeom prst="rect">
            <a:avLst/>
          </a:prstGeom>
          <a:noFill/>
        </p:spPr>
        <p:txBody>
          <a:bodyPr wrap="square" rtlCol="0" anchor="t">
            <a:spAutoFit/>
          </a:bodyPr>
          <a:p>
            <a:r>
              <a:rPr lang="zh-CN" altLang="en-US" sz="3200" dirty="0">
                <a:solidFill>
                  <a:srgbClr val="FF0000"/>
                </a:solidFill>
                <a:latin typeface="+mj-ea"/>
                <a:ea typeface="+mj-ea"/>
                <a:sym typeface="+mn-ea"/>
              </a:rPr>
              <a:t>随堂练习</a:t>
            </a:r>
            <a:endParaRPr lang="zh-CN" altLang="en-US" sz="3200" dirty="0">
              <a:solidFill>
                <a:srgbClr val="FF0000"/>
              </a:solidFill>
              <a:latin typeface="+mj-ea"/>
              <a:ea typeface="+mj-ea"/>
              <a:sym typeface="+mn-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22" name="矩形 21"/>
          <p:cNvSpPr/>
          <p:nvPr>
            <p:custDataLst>
              <p:tags r:id="rId1"/>
            </p:custDataLst>
          </p:nvPr>
        </p:nvSpPr>
        <p:spPr>
          <a:xfrm>
            <a:off x="1696469" y="1476238"/>
            <a:ext cx="4500146" cy="461665"/>
          </a:xfrm>
          <a:prstGeom prst="rect">
            <a:avLst/>
          </a:prstGeom>
        </p:spPr>
        <p:txBody>
          <a:bodyPr wrap="square">
            <a:spAutoFit/>
          </a:bodyPr>
          <a:lstStyle/>
          <a:p>
            <a:r>
              <a:rPr lang="en-US" altLang="zh-CN" sz="2400" dirty="0">
                <a:latin typeface="+mj-ea"/>
                <a:ea typeface="+mj-ea"/>
              </a:rPr>
              <a:t>3.1 </a:t>
            </a:r>
            <a:r>
              <a:rPr lang="zh-CN" altLang="en-US" sz="2400" dirty="0">
                <a:latin typeface="+mj-ea"/>
                <a:ea typeface="+mj-ea"/>
              </a:rPr>
              <a:t>处理机调度概述</a:t>
            </a:r>
            <a:endParaRPr lang="zh-CN" altLang="en-US" sz="2400" dirty="0">
              <a:latin typeface="+mj-ea"/>
              <a:ea typeface="+mj-ea"/>
            </a:endParaRPr>
          </a:p>
        </p:txBody>
      </p:sp>
      <p:sp>
        <p:nvSpPr>
          <p:cNvPr id="23" name="矩形 22"/>
          <p:cNvSpPr/>
          <p:nvPr>
            <p:custDataLst>
              <p:tags r:id="rId2"/>
            </p:custDataLst>
          </p:nvPr>
        </p:nvSpPr>
        <p:spPr>
          <a:xfrm>
            <a:off x="1696469" y="2114413"/>
            <a:ext cx="3682150" cy="461665"/>
          </a:xfrm>
          <a:prstGeom prst="rect">
            <a:avLst/>
          </a:prstGeom>
        </p:spPr>
        <p:txBody>
          <a:bodyPr wrap="square">
            <a:spAutoFit/>
          </a:bodyPr>
          <a:lstStyle/>
          <a:p>
            <a:r>
              <a:rPr lang="en-US" altLang="zh-CN" sz="2400" dirty="0">
                <a:latin typeface="+mj-ea"/>
              </a:rPr>
              <a:t>3.2 </a:t>
            </a:r>
            <a:r>
              <a:rPr lang="zh-CN" altLang="en-US" sz="2400" dirty="0">
                <a:latin typeface="+mj-ea"/>
              </a:rPr>
              <a:t>调度算法</a:t>
            </a:r>
            <a:endParaRPr lang="en-US" altLang="zh-CN" sz="2400" dirty="0">
              <a:latin typeface="+mj-ea"/>
            </a:endParaRPr>
          </a:p>
        </p:txBody>
      </p:sp>
      <p:sp>
        <p:nvSpPr>
          <p:cNvPr id="24" name="矩形 23"/>
          <p:cNvSpPr/>
          <p:nvPr>
            <p:custDataLst>
              <p:tags r:id="rId3"/>
            </p:custDataLst>
          </p:nvPr>
        </p:nvSpPr>
        <p:spPr>
          <a:xfrm>
            <a:off x="1696468" y="2733538"/>
            <a:ext cx="3488967" cy="461665"/>
          </a:xfrm>
          <a:prstGeom prst="rect">
            <a:avLst/>
          </a:prstGeom>
        </p:spPr>
        <p:txBody>
          <a:bodyPr wrap="square">
            <a:spAutoFit/>
          </a:bodyPr>
          <a:lstStyle/>
          <a:p>
            <a:r>
              <a:rPr lang="en-US" altLang="zh-CN" sz="2400" dirty="0">
                <a:solidFill>
                  <a:schemeClr val="bg1">
                    <a:lumMod val="75000"/>
                  </a:schemeClr>
                </a:solidFill>
                <a:latin typeface="+mj-ea"/>
              </a:rPr>
              <a:t>3.3 </a:t>
            </a:r>
            <a:r>
              <a:rPr lang="zh-CN" altLang="en-US" sz="2400" dirty="0">
                <a:solidFill>
                  <a:schemeClr val="bg1">
                    <a:lumMod val="75000"/>
                  </a:schemeClr>
                </a:solidFill>
                <a:latin typeface="+mj-ea"/>
              </a:rPr>
              <a:t>实时调度</a:t>
            </a:r>
            <a:endParaRPr lang="zh-CN" altLang="en-US" sz="2400" dirty="0">
              <a:solidFill>
                <a:schemeClr val="bg1">
                  <a:lumMod val="75000"/>
                </a:schemeClr>
              </a:solidFill>
              <a:latin typeface="+mj-ea"/>
            </a:endParaRPr>
          </a:p>
        </p:txBody>
      </p:sp>
      <p:sp>
        <p:nvSpPr>
          <p:cNvPr id="25" name="矩形 24"/>
          <p:cNvSpPr/>
          <p:nvPr>
            <p:custDataLst>
              <p:tags r:id="rId4"/>
            </p:custDataLst>
          </p:nvPr>
        </p:nvSpPr>
        <p:spPr>
          <a:xfrm>
            <a:off x="1696468" y="3352663"/>
            <a:ext cx="3488967" cy="461665"/>
          </a:xfrm>
          <a:prstGeom prst="rect">
            <a:avLst/>
          </a:prstGeom>
        </p:spPr>
        <p:txBody>
          <a:bodyPr wrap="square">
            <a:spAutoFit/>
          </a:bodyPr>
          <a:lstStyle/>
          <a:p>
            <a:r>
              <a:rPr lang="en-US" altLang="zh-CN" sz="2400" dirty="0">
                <a:solidFill>
                  <a:schemeClr val="bg1">
                    <a:lumMod val="75000"/>
                  </a:schemeClr>
                </a:solidFill>
                <a:latin typeface="+mj-ea"/>
              </a:rPr>
              <a:t>3.4 Linux</a:t>
            </a:r>
            <a:r>
              <a:rPr lang="zh-CN" altLang="en-US" sz="2400" dirty="0">
                <a:solidFill>
                  <a:schemeClr val="bg1">
                    <a:lumMod val="75000"/>
                  </a:schemeClr>
                </a:solidFill>
                <a:latin typeface="+mj-ea"/>
              </a:rPr>
              <a:t>进程调度</a:t>
            </a:r>
            <a:endParaRPr lang="zh-CN" altLang="en-US" sz="2400" dirty="0">
              <a:solidFill>
                <a:schemeClr val="bg1">
                  <a:lumMod val="75000"/>
                </a:schemeClr>
              </a:solidFill>
              <a:latin typeface="+mj-ea"/>
            </a:endParaRPr>
          </a:p>
        </p:txBody>
      </p:sp>
      <p:sp>
        <p:nvSpPr>
          <p:cNvPr id="27" name="矩形 26"/>
          <p:cNvSpPr/>
          <p:nvPr>
            <p:custDataLst>
              <p:tags r:id="rId5"/>
            </p:custDataLst>
          </p:nvPr>
        </p:nvSpPr>
        <p:spPr>
          <a:xfrm>
            <a:off x="1696469" y="3971788"/>
            <a:ext cx="5478772" cy="461665"/>
          </a:xfrm>
          <a:prstGeom prst="rect">
            <a:avLst/>
          </a:prstGeom>
        </p:spPr>
        <p:txBody>
          <a:bodyPr wrap="square">
            <a:spAutoFit/>
          </a:bodyPr>
          <a:lstStyle/>
          <a:p>
            <a:r>
              <a:rPr lang="en-US" altLang="zh-CN" sz="2400" dirty="0">
                <a:latin typeface="+mj-ea"/>
              </a:rPr>
              <a:t>3.5 </a:t>
            </a:r>
            <a:r>
              <a:rPr lang="zh-CN" altLang="en-US" sz="2400" dirty="0">
                <a:latin typeface="+mj-ea"/>
              </a:rPr>
              <a:t>死锁概述</a:t>
            </a:r>
            <a:endParaRPr lang="zh-CN" altLang="en-US" sz="2400" dirty="0">
              <a:latin typeface="+mj-ea"/>
            </a:endParaRPr>
          </a:p>
        </p:txBody>
      </p:sp>
      <p:sp>
        <p:nvSpPr>
          <p:cNvPr id="28" name="矩形 27"/>
          <p:cNvSpPr/>
          <p:nvPr>
            <p:custDataLst>
              <p:tags r:id="rId6"/>
            </p:custDataLst>
          </p:nvPr>
        </p:nvSpPr>
        <p:spPr>
          <a:xfrm>
            <a:off x="1696468" y="4590913"/>
            <a:ext cx="3682151" cy="461665"/>
          </a:xfrm>
          <a:prstGeom prst="rect">
            <a:avLst/>
          </a:prstGeom>
        </p:spPr>
        <p:txBody>
          <a:bodyPr wrap="square">
            <a:spAutoFit/>
          </a:bodyPr>
          <a:lstStyle/>
          <a:p>
            <a:r>
              <a:rPr lang="en-US" altLang="zh-CN" sz="2400" dirty="0">
                <a:latin typeface="+mj-ea"/>
              </a:rPr>
              <a:t>3.6 </a:t>
            </a:r>
            <a:r>
              <a:rPr lang="zh-CN" altLang="en-US" sz="2400" dirty="0">
                <a:latin typeface="+mj-ea"/>
              </a:rPr>
              <a:t>预防死锁</a:t>
            </a:r>
            <a:endParaRPr lang="zh-CN" altLang="en-US" sz="2400" dirty="0">
              <a:latin typeface="+mj-ea"/>
            </a:endParaRPr>
          </a:p>
        </p:txBody>
      </p:sp>
      <p:sp>
        <p:nvSpPr>
          <p:cNvPr id="29" name="矩形 28"/>
          <p:cNvSpPr/>
          <p:nvPr>
            <p:custDataLst>
              <p:tags r:id="rId7"/>
            </p:custDataLst>
          </p:nvPr>
        </p:nvSpPr>
        <p:spPr>
          <a:xfrm>
            <a:off x="1696469" y="5210038"/>
            <a:ext cx="2866200" cy="461665"/>
          </a:xfrm>
          <a:prstGeom prst="rect">
            <a:avLst/>
          </a:prstGeom>
        </p:spPr>
        <p:txBody>
          <a:bodyPr wrap="square">
            <a:spAutoFit/>
          </a:bodyPr>
          <a:lstStyle/>
          <a:p>
            <a:r>
              <a:rPr lang="en-US" altLang="zh-CN" sz="2400" dirty="0">
                <a:latin typeface="+mj-ea"/>
              </a:rPr>
              <a:t>3.7 </a:t>
            </a:r>
            <a:r>
              <a:rPr lang="zh-CN" altLang="en-US" sz="2400" dirty="0">
                <a:latin typeface="+mj-ea"/>
              </a:rPr>
              <a:t>避免死锁</a:t>
            </a:r>
            <a:endParaRPr lang="zh-CN" altLang="en-US" sz="2400" dirty="0">
              <a:latin typeface="+mj-ea"/>
            </a:endParaRP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3</a:t>
            </a:r>
            <a:r>
              <a:rPr lang="zh-CN" altLang="en-US" sz="3600" dirty="0">
                <a:solidFill>
                  <a:srgbClr val="000000"/>
                </a:solidFill>
              </a:rPr>
              <a:t>章 处理机调度与死锁</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custDataLst>
              <p:tags r:id="rId9"/>
            </p:custDataLst>
          </p:nvPr>
        </p:nvPicPr>
        <p:blipFill>
          <a:blip r:embed="rId8"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32" name="图片 31"/>
          <p:cNvPicPr>
            <a:picLocks noChangeAspect="1"/>
          </p:cNvPicPr>
          <p:nvPr>
            <p:custDataLst>
              <p:tags r:id="rId10"/>
            </p:custDataLst>
          </p:nvPr>
        </p:nvPicPr>
        <p:blipFill>
          <a:blip r:embed="rId8" cstate="print">
            <a:extLst>
              <a:ext uri="{28A0092B-C50C-407E-A947-70E740481C1C}">
                <a14:useLocalDpi xmlns:a14="http://schemas.microsoft.com/office/drawing/2010/main" val="0"/>
              </a:ext>
            </a:extLst>
          </a:blip>
          <a:srcRect/>
          <a:stretch>
            <a:fillRect/>
          </a:stretch>
        </p:blipFill>
        <p:spPr>
          <a:xfrm>
            <a:off x="1169418" y="2024368"/>
            <a:ext cx="527050" cy="527050"/>
          </a:xfrm>
          <a:prstGeom prst="rect">
            <a:avLst/>
          </a:prstGeom>
          <a:ln>
            <a:noFill/>
          </a:ln>
          <a:effectLst>
            <a:softEdge rad="0"/>
          </a:effectLst>
        </p:spPr>
      </p:pic>
      <p:pic>
        <p:nvPicPr>
          <p:cNvPr id="40" name="图片 39"/>
          <p:cNvPicPr>
            <a:picLocks noChangeAspect="1"/>
          </p:cNvPicPr>
          <p:nvPr>
            <p:custDataLst>
              <p:tags r:id="rId11"/>
            </p:custDataLst>
          </p:nvPr>
        </p:nvPicPr>
        <p:blipFill>
          <a:blip r:embed="rId8" cstate="print">
            <a:extLst>
              <a:ext uri="{28A0092B-C50C-407E-A947-70E740481C1C}">
                <a14:useLocalDpi xmlns:a14="http://schemas.microsoft.com/office/drawing/2010/main" val="0"/>
              </a:ext>
            </a:extLst>
          </a:blip>
          <a:srcRect/>
          <a:stretch>
            <a:fillRect/>
          </a:stretch>
        </p:blipFill>
        <p:spPr>
          <a:xfrm>
            <a:off x="1169418" y="2679837"/>
            <a:ext cx="527050" cy="527050"/>
          </a:xfrm>
          <a:prstGeom prst="rect">
            <a:avLst/>
          </a:prstGeom>
          <a:ln>
            <a:noFill/>
          </a:ln>
          <a:effectLst>
            <a:softEdge rad="0"/>
          </a:effectLst>
        </p:spPr>
      </p:pic>
      <p:pic>
        <p:nvPicPr>
          <p:cNvPr id="41" name="图片 40"/>
          <p:cNvPicPr>
            <a:picLocks noChangeAspect="1"/>
          </p:cNvPicPr>
          <p:nvPr>
            <p:custDataLst>
              <p:tags r:id="rId12"/>
            </p:custDataLst>
          </p:nvPr>
        </p:nvPicPr>
        <p:blipFill>
          <a:blip r:embed="rId8" cstate="print">
            <a:extLst>
              <a:ext uri="{28A0092B-C50C-407E-A947-70E740481C1C}">
                <a14:useLocalDpi xmlns:a14="http://schemas.microsoft.com/office/drawing/2010/main" val="0"/>
              </a:ext>
            </a:extLst>
          </a:blip>
          <a:srcRect/>
          <a:stretch>
            <a:fillRect/>
          </a:stretch>
        </p:blipFill>
        <p:spPr>
          <a:xfrm>
            <a:off x="1169418" y="3298310"/>
            <a:ext cx="527050" cy="527050"/>
          </a:xfrm>
          <a:prstGeom prst="rect">
            <a:avLst/>
          </a:prstGeom>
          <a:ln>
            <a:noFill/>
          </a:ln>
          <a:effectLst>
            <a:softEdge rad="0"/>
          </a:effectLst>
        </p:spPr>
      </p:pic>
      <p:pic>
        <p:nvPicPr>
          <p:cNvPr id="42" name="图片 41"/>
          <p:cNvPicPr>
            <a:picLocks noChangeAspect="1"/>
          </p:cNvPicPr>
          <p:nvPr>
            <p:custDataLst>
              <p:tags r:id="rId13"/>
            </p:custDataLst>
          </p:nvPr>
        </p:nvPicPr>
        <p:blipFill>
          <a:blip r:embed="rId8" cstate="print">
            <a:extLst>
              <a:ext uri="{28A0092B-C50C-407E-A947-70E740481C1C}">
                <a14:useLocalDpi xmlns:a14="http://schemas.microsoft.com/office/drawing/2010/main" val="0"/>
              </a:ext>
            </a:extLst>
          </a:blip>
          <a:srcRect/>
          <a:stretch>
            <a:fillRect/>
          </a:stretch>
        </p:blipFill>
        <p:spPr>
          <a:xfrm>
            <a:off x="1169418" y="3924390"/>
            <a:ext cx="527050" cy="527050"/>
          </a:xfrm>
          <a:prstGeom prst="rect">
            <a:avLst/>
          </a:prstGeom>
          <a:ln>
            <a:noFill/>
          </a:ln>
          <a:effectLst>
            <a:softEdge rad="0"/>
          </a:effectLst>
        </p:spPr>
      </p:pic>
      <p:pic>
        <p:nvPicPr>
          <p:cNvPr id="43" name="图片 42"/>
          <p:cNvPicPr>
            <a:picLocks noChangeAspect="1"/>
          </p:cNvPicPr>
          <p:nvPr>
            <p:custDataLst>
              <p:tags r:id="rId14"/>
            </p:custDataLst>
          </p:nvPr>
        </p:nvPicPr>
        <p:blipFill>
          <a:blip r:embed="rId8" cstate="print">
            <a:extLst>
              <a:ext uri="{28A0092B-C50C-407E-A947-70E740481C1C}">
                <a14:useLocalDpi xmlns:a14="http://schemas.microsoft.com/office/drawing/2010/main" val="0"/>
              </a:ext>
            </a:extLst>
          </a:blip>
          <a:srcRect/>
          <a:stretch>
            <a:fillRect/>
          </a:stretch>
        </p:blipFill>
        <p:spPr>
          <a:xfrm>
            <a:off x="1169418" y="4562103"/>
            <a:ext cx="527050" cy="527050"/>
          </a:xfrm>
          <a:prstGeom prst="rect">
            <a:avLst/>
          </a:prstGeom>
          <a:ln>
            <a:noFill/>
          </a:ln>
          <a:effectLst>
            <a:softEdge rad="0"/>
          </a:effectLst>
        </p:spPr>
      </p:pic>
      <p:pic>
        <p:nvPicPr>
          <p:cNvPr id="44" name="图片 43"/>
          <p:cNvPicPr>
            <a:picLocks noChangeAspect="1"/>
          </p:cNvPicPr>
          <p:nvPr>
            <p:custDataLst>
              <p:tags r:id="rId15"/>
            </p:custDataLst>
          </p:nvPr>
        </p:nvPicPr>
        <p:blipFill>
          <a:blip r:embed="rId8" cstate="print">
            <a:extLst>
              <a:ext uri="{28A0092B-C50C-407E-A947-70E740481C1C}">
                <a14:useLocalDpi xmlns:a14="http://schemas.microsoft.com/office/drawing/2010/main" val="0"/>
              </a:ext>
            </a:extLst>
          </a:blip>
          <a:srcRect/>
          <a:stretch>
            <a:fillRect/>
          </a:stretch>
        </p:blipFill>
        <p:spPr>
          <a:xfrm>
            <a:off x="1169418" y="5162820"/>
            <a:ext cx="527050" cy="527050"/>
          </a:xfrm>
          <a:prstGeom prst="rect">
            <a:avLst/>
          </a:prstGeom>
          <a:ln>
            <a:noFill/>
          </a:ln>
          <a:effectLst>
            <a:softEdge rad="0"/>
          </a:effectLst>
        </p:spPr>
      </p:pic>
      <p:sp>
        <p:nvSpPr>
          <p:cNvPr id="33" name="矩形 32"/>
          <p:cNvSpPr/>
          <p:nvPr/>
        </p:nvSpPr>
        <p:spPr>
          <a:xfrm>
            <a:off x="1696468" y="5863246"/>
            <a:ext cx="4219140" cy="461665"/>
          </a:xfrm>
          <a:prstGeom prst="rect">
            <a:avLst/>
          </a:prstGeom>
        </p:spPr>
        <p:txBody>
          <a:bodyPr wrap="square">
            <a:spAutoFit/>
          </a:bodyPr>
          <a:lstStyle/>
          <a:p>
            <a:r>
              <a:rPr lang="en-US" altLang="zh-CN" sz="2400" b="1" dirty="0">
                <a:solidFill>
                  <a:srgbClr val="0000FF"/>
                </a:solidFill>
                <a:latin typeface="+mj-ea"/>
              </a:rPr>
              <a:t>3.8</a:t>
            </a:r>
            <a:r>
              <a:rPr lang="en-US" altLang="zh-CN" sz="2400" dirty="0">
                <a:latin typeface="+mj-ea"/>
              </a:rPr>
              <a:t> </a:t>
            </a:r>
            <a:r>
              <a:rPr lang="zh-CN" altLang="en-US" sz="2400" b="1" dirty="0">
                <a:solidFill>
                  <a:srgbClr val="0000FF"/>
                </a:solidFill>
                <a:latin typeface="+mj-ea"/>
              </a:rPr>
              <a:t>死锁的检测与解除</a:t>
            </a:r>
            <a:endParaRPr lang="zh-CN" altLang="en-US" sz="2400" b="1" dirty="0">
              <a:solidFill>
                <a:srgbClr val="0000FF"/>
              </a:solidFill>
              <a:latin typeface="+mj-ea"/>
            </a:endParaRPr>
          </a:p>
        </p:txBody>
      </p:sp>
      <p:pic>
        <p:nvPicPr>
          <p:cNvPr id="34" name="图片 33"/>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1169417" y="5816028"/>
            <a:ext cx="527050" cy="527050"/>
          </a:xfrm>
          <a:prstGeom prst="rect">
            <a:avLst/>
          </a:prstGeom>
          <a:ln>
            <a:noFill/>
          </a:ln>
          <a:effectLst>
            <a:softEdge rad="0"/>
          </a:effec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81942" y="1712962"/>
            <a:ext cx="11030051" cy="1091938"/>
          </a:xfrm>
          <a:prstGeom prst="rect">
            <a:avLst/>
          </a:prstGeom>
        </p:spPr>
        <p:txBody>
          <a:bodyPr wrap="square">
            <a:noAutofit/>
          </a:bodyPr>
          <a:lstStyle/>
          <a:p>
            <a:pPr indent="457200">
              <a:lnSpc>
                <a:spcPct val="123000"/>
              </a:lnSpc>
              <a:spcBef>
                <a:spcPts val="600"/>
              </a:spcBef>
              <a:spcAft>
                <a:spcPts val="600"/>
              </a:spcAft>
            </a:pPr>
            <a:r>
              <a:rPr lang="zh-CN" altLang="en-US" sz="2400" dirty="0">
                <a:latin typeface="+mn-ea"/>
              </a:rPr>
              <a:t>当系统为进程分配资源时，若未采取任何限制性措施，则系统必须提供检测和解除死锁的手段。为此，</a:t>
            </a:r>
            <a:r>
              <a:rPr lang="zh-CN" altLang="en-US" sz="2400" dirty="0">
                <a:solidFill>
                  <a:srgbClr val="FF0000"/>
                </a:solidFill>
                <a:latin typeface="+mn-ea"/>
              </a:rPr>
              <a:t>系统必须：</a:t>
            </a:r>
            <a:endParaRPr lang="zh-CN" altLang="en-US" sz="2400" dirty="0">
              <a:solidFill>
                <a:srgbClr val="FF0000"/>
              </a:solidFill>
              <a:latin typeface="+mn-ea"/>
            </a:endParaRPr>
          </a:p>
        </p:txBody>
      </p:sp>
      <p:sp>
        <p:nvSpPr>
          <p:cNvPr id="16" name="矩形 15"/>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死锁检测和解除</a:t>
            </a:r>
            <a:endParaRPr lang="en-US" altLang="zh-CN" sz="2800" b="1" dirty="0">
              <a:solidFill>
                <a:schemeClr val="bg1"/>
              </a:solidFill>
            </a:endParaRPr>
          </a:p>
        </p:txBody>
      </p:sp>
      <p:sp>
        <p:nvSpPr>
          <p:cNvPr id="4" name="iśḷíḑe"/>
          <p:cNvSpPr/>
          <p:nvPr/>
        </p:nvSpPr>
        <p:spPr>
          <a:xfrm>
            <a:off x="1006245" y="2986340"/>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5" name="ïś1ïḑè"/>
          <p:cNvSpPr/>
          <p:nvPr/>
        </p:nvSpPr>
        <p:spPr>
          <a:xfrm>
            <a:off x="1006245" y="4273850"/>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6" name="矩形 5"/>
          <p:cNvSpPr/>
          <p:nvPr/>
        </p:nvSpPr>
        <p:spPr>
          <a:xfrm>
            <a:off x="1621163" y="3100184"/>
            <a:ext cx="9688990" cy="605175"/>
          </a:xfrm>
          <a:prstGeom prst="rect">
            <a:avLst/>
          </a:prstGeom>
        </p:spPr>
        <p:txBody>
          <a:bodyPr wrap="square">
            <a:noAutofit/>
          </a:bodyPr>
          <a:lstStyle/>
          <a:p>
            <a:pPr indent="457200">
              <a:lnSpc>
                <a:spcPct val="123000"/>
              </a:lnSpc>
              <a:spcBef>
                <a:spcPts val="600"/>
              </a:spcBef>
              <a:spcAft>
                <a:spcPts val="600"/>
              </a:spcAft>
            </a:pPr>
            <a:r>
              <a:rPr lang="zh-CN" altLang="en-US" sz="2400" dirty="0">
                <a:latin typeface="+mn-ea"/>
              </a:rPr>
              <a:t>保存有关资源的请求和分配信息；</a:t>
            </a:r>
            <a:endParaRPr lang="zh-CN" altLang="en-US" sz="2400" dirty="0">
              <a:latin typeface="+mn-ea"/>
            </a:endParaRPr>
          </a:p>
        </p:txBody>
      </p:sp>
      <p:sp>
        <p:nvSpPr>
          <p:cNvPr id="7" name="矩形 6"/>
          <p:cNvSpPr/>
          <p:nvPr/>
        </p:nvSpPr>
        <p:spPr>
          <a:xfrm>
            <a:off x="1621163" y="4358311"/>
            <a:ext cx="9688990" cy="605175"/>
          </a:xfrm>
          <a:prstGeom prst="rect">
            <a:avLst/>
          </a:prstGeom>
        </p:spPr>
        <p:txBody>
          <a:bodyPr wrap="square">
            <a:noAutofit/>
          </a:bodyPr>
          <a:lstStyle/>
          <a:p>
            <a:pPr indent="457200">
              <a:lnSpc>
                <a:spcPct val="123000"/>
              </a:lnSpc>
              <a:spcBef>
                <a:spcPts val="600"/>
              </a:spcBef>
              <a:spcAft>
                <a:spcPts val="600"/>
              </a:spcAft>
            </a:pPr>
            <a:r>
              <a:rPr lang="zh-CN" altLang="en-US" sz="2400" dirty="0">
                <a:latin typeface="+mn-ea"/>
              </a:rPr>
              <a:t>提供一种算法，以利用这些信息来检测系统是否已进入死锁状态。</a:t>
            </a:r>
            <a:endParaRPr lang="zh-CN" altLang="en-US" sz="2400" dirty="0">
              <a:latin typeface="+mn-e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资源分配图</a:t>
            </a:r>
            <a:endParaRPr lang="en-US" altLang="zh-CN" sz="2800" b="1" dirty="0">
              <a:solidFill>
                <a:schemeClr val="bg1"/>
              </a:solidFill>
            </a:endParaRPr>
          </a:p>
        </p:txBody>
      </p:sp>
      <p:sp>
        <p:nvSpPr>
          <p:cNvPr id="4" name="Text Box 4"/>
          <p:cNvSpPr txBox="1">
            <a:spLocks noChangeArrowheads="1"/>
          </p:cNvSpPr>
          <p:nvPr/>
        </p:nvSpPr>
        <p:spPr bwMode="auto">
          <a:xfrm>
            <a:off x="1085758" y="1502593"/>
            <a:ext cx="4374009"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2400" dirty="0">
                <a:latin typeface="+mn-ea"/>
                <a:ea typeface="+mn-ea"/>
              </a:rPr>
              <a:t>一个顶点的集合</a:t>
            </a:r>
            <a:r>
              <a:rPr lang="en-US" altLang="zh-CN" sz="2400" dirty="0">
                <a:latin typeface="+mj-lt"/>
                <a:ea typeface="+mn-ea"/>
              </a:rPr>
              <a:t>V</a:t>
            </a:r>
            <a:r>
              <a:rPr lang="zh-CN" altLang="en-US" sz="2400" dirty="0">
                <a:latin typeface="+mn-ea"/>
                <a:ea typeface="+mn-ea"/>
              </a:rPr>
              <a:t>和边的集合</a:t>
            </a:r>
            <a:r>
              <a:rPr lang="en-US" altLang="zh-CN" sz="2400" dirty="0">
                <a:latin typeface="+mj-lt"/>
                <a:ea typeface="+mn-ea"/>
              </a:rPr>
              <a:t>E</a:t>
            </a:r>
            <a:endParaRPr lang="zh-CN" altLang="en-US" sz="2400" dirty="0">
              <a:latin typeface="+mj-lt"/>
              <a:ea typeface="+mn-ea"/>
            </a:endParaRPr>
          </a:p>
        </p:txBody>
      </p:sp>
      <p:sp>
        <p:nvSpPr>
          <p:cNvPr id="6" name="i$lîďê"/>
          <p:cNvSpPr/>
          <p:nvPr/>
        </p:nvSpPr>
        <p:spPr>
          <a:xfrm>
            <a:off x="1900133" y="4060551"/>
            <a:ext cx="3696051" cy="392877"/>
          </a:xfrm>
          <a:prstGeom prst="rect">
            <a:avLst/>
          </a:prstGeom>
          <a:noFill/>
          <a:ln>
            <a:noFill/>
          </a:ln>
        </p:spPr>
        <p:txBody>
          <a:bodyPr wrap="square" lIns="91440" tIns="45720" rIns="91440" bIns="45720" anchor="ctr" anchorCtr="0">
            <a:noAutofit/>
          </a:bodyPr>
          <a:lstStyle/>
          <a:p>
            <a:r>
              <a:rPr lang="zh-CN" altLang="en-US" sz="2400" dirty="0"/>
              <a:t>请求边：有向边</a:t>
            </a:r>
            <a:r>
              <a:rPr lang="en-US" altLang="zh-CN" sz="2400" i="1" dirty="0"/>
              <a:t>P</a:t>
            </a:r>
            <a:r>
              <a:rPr lang="en-US" altLang="zh-CN" sz="2400" baseline="-25000" dirty="0"/>
              <a:t>i </a:t>
            </a:r>
            <a:r>
              <a:rPr lang="en-US" altLang="zh-CN" sz="2400" dirty="0">
                <a:sym typeface="Symbol" panose="05050102010706020507" pitchFamily="18" charset="2"/>
              </a:rPr>
              <a:t> </a:t>
            </a:r>
            <a:r>
              <a:rPr lang="en-US" altLang="zh-CN" sz="2400" i="1" dirty="0" err="1">
                <a:sym typeface="Symbol" panose="05050102010706020507" pitchFamily="18" charset="2"/>
              </a:rPr>
              <a:t>R</a:t>
            </a:r>
            <a:r>
              <a:rPr lang="en-US" altLang="zh-CN" sz="2400" i="1" baseline="-25000" dirty="0" err="1">
                <a:sym typeface="Symbol" panose="05050102010706020507" pitchFamily="18" charset="2"/>
              </a:rPr>
              <a:t>j</a:t>
            </a:r>
            <a:r>
              <a:rPr lang="en-US" altLang="zh-CN" sz="2400" i="1" baseline="-25000" dirty="0">
                <a:sym typeface="Symbol" panose="05050102010706020507" pitchFamily="18" charset="2"/>
              </a:rPr>
              <a:t> </a:t>
            </a:r>
            <a:endParaRPr lang="en-US" altLang="zh-CN" sz="2400" i="1" baseline="-25000" dirty="0">
              <a:sym typeface="Symbol" panose="05050102010706020507" pitchFamily="18" charset="2"/>
            </a:endParaRPr>
          </a:p>
        </p:txBody>
      </p:sp>
      <p:sp>
        <p:nvSpPr>
          <p:cNvPr id="8" name="ïṧḷïḋè"/>
          <p:cNvSpPr/>
          <p:nvPr/>
        </p:nvSpPr>
        <p:spPr>
          <a:xfrm>
            <a:off x="1900135" y="5040382"/>
            <a:ext cx="3696051" cy="415102"/>
          </a:xfrm>
          <a:prstGeom prst="rect">
            <a:avLst/>
          </a:prstGeom>
          <a:noFill/>
          <a:ln>
            <a:noFill/>
          </a:ln>
        </p:spPr>
        <p:txBody>
          <a:bodyPr wrap="square" lIns="91440" tIns="45720" rIns="91440" bIns="45720" anchor="ctr" anchorCtr="0">
            <a:noAutofit/>
          </a:bodyPr>
          <a:lstStyle/>
          <a:p>
            <a:r>
              <a:rPr lang="zh-CN" altLang="en-US" sz="2400" dirty="0"/>
              <a:t>分配边：有向边 </a:t>
            </a:r>
            <a:r>
              <a:rPr lang="en-US" altLang="zh-CN" sz="2400" i="1" dirty="0" err="1">
                <a:sym typeface="Symbol" panose="05050102010706020507" pitchFamily="18" charset="2"/>
              </a:rPr>
              <a:t>R</a:t>
            </a:r>
            <a:r>
              <a:rPr lang="en-US" altLang="zh-CN" sz="2400" i="1" baseline="-25000" dirty="0" err="1">
                <a:sym typeface="Symbol" panose="05050102010706020507" pitchFamily="18" charset="2"/>
              </a:rPr>
              <a:t>j</a:t>
            </a:r>
            <a:r>
              <a:rPr lang="en-US" altLang="zh-CN" sz="2400" i="1" baseline="-25000" dirty="0">
                <a:sym typeface="Symbol" panose="05050102010706020507" pitchFamily="18" charset="2"/>
              </a:rPr>
              <a:t> </a:t>
            </a:r>
            <a:r>
              <a:rPr lang="en-US" altLang="zh-CN" sz="2400" dirty="0">
                <a:sym typeface="Symbol" panose="05050102010706020507" pitchFamily="18" charset="2"/>
              </a:rPr>
              <a:t></a:t>
            </a:r>
            <a:r>
              <a:rPr lang="en-US" altLang="zh-CN" sz="2400" i="1" dirty="0"/>
              <a:t>P</a:t>
            </a:r>
            <a:r>
              <a:rPr lang="en-US" altLang="zh-CN" sz="2400" baseline="-25000" dirty="0"/>
              <a:t>i </a:t>
            </a:r>
            <a:endParaRPr lang="zh-CN" altLang="zh-CN" sz="2400" i="1" baseline="-25000" dirty="0">
              <a:sym typeface="Symbol" panose="05050102010706020507" pitchFamily="18" charset="2"/>
            </a:endParaRPr>
          </a:p>
        </p:txBody>
      </p:sp>
      <p:sp>
        <p:nvSpPr>
          <p:cNvPr id="9" name="îs1iďé"/>
          <p:cNvSpPr/>
          <p:nvPr/>
        </p:nvSpPr>
        <p:spPr>
          <a:xfrm>
            <a:off x="1919191" y="2673497"/>
            <a:ext cx="7026275" cy="1152779"/>
          </a:xfrm>
          <a:prstGeom prst="rect">
            <a:avLst/>
          </a:prstGeom>
          <a:noFill/>
          <a:ln>
            <a:noFill/>
          </a:ln>
        </p:spPr>
        <p:txBody>
          <a:bodyPr wrap="square" lIns="91440" tIns="45720" rIns="91440" bIns="45720" anchor="t" anchorCtr="0">
            <a:noAutofit/>
          </a:bodyPr>
          <a:lstStyle/>
          <a:p>
            <a:pPr marL="342900" indent="-342900">
              <a:lnSpc>
                <a:spcPct val="120000"/>
              </a:lnSpc>
              <a:spcBef>
                <a:spcPts val="800"/>
              </a:spcBef>
              <a:buClr>
                <a:srgbClr val="FF0000"/>
              </a:buClr>
              <a:buFont typeface="Wingdings" panose="05000000000000000000" pitchFamily="2" charset="2"/>
              <a:buChar char="Ø"/>
            </a:pPr>
            <a:r>
              <a:rPr lang="en-US" altLang="zh-CN" sz="2400" dirty="0"/>
              <a:t>P = {P</a:t>
            </a:r>
            <a:r>
              <a:rPr lang="en-US" altLang="zh-CN" sz="2400" baseline="-25000" dirty="0"/>
              <a:t>1</a:t>
            </a:r>
            <a:r>
              <a:rPr lang="en-US" altLang="zh-CN" sz="2400" dirty="0"/>
              <a:t>, P</a:t>
            </a:r>
            <a:r>
              <a:rPr lang="en-US" altLang="zh-CN" sz="2400" baseline="-25000" dirty="0"/>
              <a:t>2</a:t>
            </a:r>
            <a:r>
              <a:rPr lang="en-US" altLang="zh-CN" sz="2400" dirty="0"/>
              <a:t>, …, </a:t>
            </a:r>
            <a:r>
              <a:rPr lang="en-US" altLang="zh-CN" sz="2400" dirty="0" err="1"/>
              <a:t>P</a:t>
            </a:r>
            <a:r>
              <a:rPr lang="en-US" altLang="zh-CN" sz="2400" baseline="-25000" dirty="0" err="1"/>
              <a:t>n</a:t>
            </a:r>
            <a:r>
              <a:rPr lang="en-US" altLang="zh-CN" sz="2400" dirty="0"/>
              <a:t>}, </a:t>
            </a:r>
            <a:r>
              <a:rPr lang="zh-CN" altLang="en-US" sz="2400" dirty="0"/>
              <a:t>含有系统中全部的进程</a:t>
            </a:r>
            <a:endParaRPr lang="zh-CN" altLang="en-US" sz="2400" dirty="0"/>
          </a:p>
          <a:p>
            <a:pPr marL="342900" indent="-342900">
              <a:lnSpc>
                <a:spcPct val="120000"/>
              </a:lnSpc>
              <a:spcBef>
                <a:spcPts val="800"/>
              </a:spcBef>
              <a:buClr>
                <a:srgbClr val="FF0000"/>
              </a:buClr>
              <a:buFont typeface="Wingdings" panose="05000000000000000000" pitchFamily="2" charset="2"/>
              <a:buChar char="Ø"/>
            </a:pPr>
            <a:r>
              <a:rPr lang="en-US" altLang="zh-CN" sz="2400" dirty="0"/>
              <a:t>R = {R</a:t>
            </a:r>
            <a:r>
              <a:rPr lang="en-US" altLang="zh-CN" sz="2400" baseline="-25000" dirty="0"/>
              <a:t>1</a:t>
            </a:r>
            <a:r>
              <a:rPr lang="en-US" altLang="zh-CN" sz="2400" dirty="0"/>
              <a:t>, R</a:t>
            </a:r>
            <a:r>
              <a:rPr lang="en-US" altLang="zh-CN" sz="2400" baseline="-25000" dirty="0"/>
              <a:t>2</a:t>
            </a:r>
            <a:r>
              <a:rPr lang="en-US" altLang="zh-CN" sz="2400" dirty="0"/>
              <a:t>, …, R</a:t>
            </a:r>
            <a:r>
              <a:rPr lang="en-US" altLang="zh-CN" sz="2400" baseline="-25000" dirty="0"/>
              <a:t>m</a:t>
            </a:r>
            <a:r>
              <a:rPr lang="en-US" altLang="zh-CN" sz="2400" dirty="0"/>
              <a:t>}, </a:t>
            </a:r>
            <a:r>
              <a:rPr lang="zh-CN" altLang="en-US" sz="2400" dirty="0"/>
              <a:t>含有系统中全部的资源</a:t>
            </a:r>
            <a:endParaRPr lang="zh-CN" altLang="en-US" sz="2400" dirty="0"/>
          </a:p>
        </p:txBody>
      </p:sp>
      <p:sp>
        <p:nvSpPr>
          <p:cNvPr id="10" name="íšḻíḑê"/>
          <p:cNvSpPr/>
          <p:nvPr/>
        </p:nvSpPr>
        <p:spPr>
          <a:xfrm>
            <a:off x="1900134" y="2204935"/>
            <a:ext cx="3696051" cy="405747"/>
          </a:xfrm>
          <a:prstGeom prst="rect">
            <a:avLst/>
          </a:prstGeom>
          <a:noFill/>
          <a:ln>
            <a:noFill/>
          </a:ln>
        </p:spPr>
        <p:txBody>
          <a:bodyPr wrap="square" lIns="91440" tIns="45720" rIns="91440" bIns="45720" anchor="ctr" anchorCtr="0">
            <a:noAutofit/>
          </a:bodyPr>
          <a:lstStyle/>
          <a:p>
            <a:r>
              <a:rPr lang="en-US" altLang="zh-CN" sz="2400" dirty="0"/>
              <a:t>V</a:t>
            </a:r>
            <a:r>
              <a:rPr lang="zh-CN" altLang="en-US" sz="2400" dirty="0"/>
              <a:t>被分为两个部分</a:t>
            </a:r>
            <a:endParaRPr lang="zh-CN" altLang="en-US" sz="2400" dirty="0"/>
          </a:p>
        </p:txBody>
      </p:sp>
      <p:sp>
        <p:nvSpPr>
          <p:cNvPr id="11" name="îSļiḓè"/>
          <p:cNvSpPr/>
          <p:nvPr/>
        </p:nvSpPr>
        <p:spPr>
          <a:xfrm>
            <a:off x="1216631" y="219137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2" name="íṥḻîḓe"/>
          <p:cNvSpPr/>
          <p:nvPr/>
        </p:nvSpPr>
        <p:spPr>
          <a:xfrm>
            <a:off x="1216631" y="4957780"/>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3" name="îşļiḓè"/>
          <p:cNvSpPr/>
          <p:nvPr/>
        </p:nvSpPr>
        <p:spPr>
          <a:xfrm>
            <a:off x="1216631" y="396002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4" name="îṡḷíďe"/>
          <p:cNvSpPr/>
          <p:nvPr/>
        </p:nvSpPr>
        <p:spPr>
          <a:xfrm>
            <a:off x="1406886" y="2387511"/>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5" name="íSlíḋe"/>
          <p:cNvSpPr/>
          <p:nvPr/>
        </p:nvSpPr>
        <p:spPr>
          <a:xfrm>
            <a:off x="1406885" y="4182042"/>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7" name="ïśḷïḓe"/>
          <p:cNvSpPr/>
          <p:nvPr/>
        </p:nvSpPr>
        <p:spPr>
          <a:xfrm>
            <a:off x="1435824" y="5147240"/>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pic>
        <p:nvPicPr>
          <p:cNvPr id="28" name="图片 27"/>
          <p:cNvPicPr>
            <a:picLocks noChangeAspect="1"/>
          </p:cNvPicPr>
          <p:nvPr/>
        </p:nvPicPr>
        <p:blipFill>
          <a:blip r:embed="rId1"/>
          <a:stretch>
            <a:fillRect/>
          </a:stretch>
        </p:blipFill>
        <p:spPr>
          <a:xfrm>
            <a:off x="8945245" y="3202305"/>
            <a:ext cx="2649220" cy="2491105"/>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无死锁的资源分配图</a:t>
            </a:r>
            <a:endParaRPr lang="en-US" altLang="zh-CN" sz="2800" b="1" dirty="0">
              <a:solidFill>
                <a:schemeClr val="bg1"/>
              </a:solidFill>
            </a:endParaRPr>
          </a:p>
        </p:txBody>
      </p:sp>
      <p:pic>
        <p:nvPicPr>
          <p:cNvPr id="6" name="Picture 6"/>
          <p:cNvPicPr>
            <a:picLocks noChangeAspect="1" noChangeArrowheads="1"/>
          </p:cNvPicPr>
          <p:nvPr/>
        </p:nvPicPr>
        <p:blipFill>
          <a:blip r:embed="rId1">
            <a:duotone>
              <a:schemeClr val="accent2">
                <a:shade val="45000"/>
                <a:satMod val="135000"/>
              </a:schemeClr>
              <a:prstClr val="white"/>
            </a:duotone>
            <a:extLst>
              <a:ext uri="{28A0092B-C50C-407E-A947-70E740481C1C}">
                <a14:useLocalDpi xmlns:a14="http://schemas.microsoft.com/office/drawing/2010/main" val="0"/>
              </a:ext>
            </a:extLst>
          </a:blip>
          <a:srcRect l="23024" t="871" r="23206" b="1060"/>
          <a:stretch>
            <a:fillRect/>
          </a:stretch>
        </p:blipFill>
        <p:spPr bwMode="auto">
          <a:xfrm>
            <a:off x="669807" y="962214"/>
            <a:ext cx="4578936" cy="49343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p:nvPr/>
        </p:nvSpPr>
        <p:spPr>
          <a:xfrm>
            <a:off x="4850765" y="5344795"/>
            <a:ext cx="4714875" cy="766445"/>
          </a:xfrm>
          <a:prstGeom prst="rect">
            <a:avLst/>
          </a:prstGeom>
        </p:spPr>
        <p:txBody>
          <a:bodyPr wrap="square">
            <a:noAutofit/>
          </a:bodyPr>
          <a:p>
            <a:pPr>
              <a:lnSpc>
                <a:spcPct val="123000"/>
              </a:lnSpc>
              <a:spcBef>
                <a:spcPts val="600"/>
              </a:spcBef>
              <a:spcAft>
                <a:spcPts val="600"/>
              </a:spcAft>
            </a:pPr>
            <a:r>
              <a:rPr lang="zh-CN" altLang="en-US" sz="2400" dirty="0">
                <a:solidFill>
                  <a:srgbClr val="FF0000"/>
                </a:solidFill>
                <a:latin typeface="+mn-ea"/>
              </a:rPr>
              <a:t>如果图没有环</a:t>
            </a:r>
            <a:r>
              <a:rPr lang="zh-CN" altLang="en-US" sz="2400" dirty="0">
                <a:latin typeface="+mn-ea"/>
              </a:rPr>
              <a:t>，那么不会有死锁！</a:t>
            </a:r>
            <a:endParaRPr lang="zh-CN" altLang="en-US" sz="2400" dirty="0">
              <a:latin typeface="+mn-ea"/>
            </a:endParaRPr>
          </a:p>
        </p:txBody>
      </p:sp>
      <p:pic>
        <p:nvPicPr>
          <p:cNvPr id="2" name="Picture 4"/>
          <p:cNvPicPr>
            <a:picLocks noChangeAspect="1" noChangeArrowheads="1"/>
          </p:cNvPicPr>
          <p:nvPr/>
        </p:nvPicPr>
        <p:blipFill>
          <a:blip r:embed="rId2">
            <a:clrChange>
              <a:clrFrom>
                <a:srgbClr val="FFFDDB"/>
              </a:clrFrom>
              <a:clrTo>
                <a:srgbClr val="FFFDDB">
                  <a:alpha val="0"/>
                </a:srgbClr>
              </a:clrTo>
            </a:clrChange>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l="19093" t="700" r="19093" b="700"/>
          <a:stretch>
            <a:fillRect/>
          </a:stretch>
        </p:blipFill>
        <p:spPr bwMode="auto">
          <a:xfrm>
            <a:off x="6795770" y="602035"/>
            <a:ext cx="4957692" cy="47428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有死锁的资源分配图</a:t>
            </a:r>
            <a:endParaRPr lang="en-US" altLang="zh-CN" sz="2800" b="1" dirty="0">
              <a:solidFill>
                <a:schemeClr val="bg1"/>
              </a:solidFill>
            </a:endParaRPr>
          </a:p>
        </p:txBody>
      </p:sp>
      <p:pic>
        <p:nvPicPr>
          <p:cNvPr id="5" name="Picture 5"/>
          <p:cNvPicPr>
            <a:picLocks noChangeAspect="1" noChangeArrowheads="1"/>
          </p:cNvPicPr>
          <p:nvPr/>
        </p:nvPicPr>
        <p:blipFill>
          <a:blip r:embed="rId1">
            <a:clrChange>
              <a:clrFrom>
                <a:srgbClr val="FFFDDB"/>
              </a:clrFrom>
              <a:clrTo>
                <a:srgbClr val="FFFDDB">
                  <a:alpha val="0"/>
                </a:srgbClr>
              </a:clrTo>
            </a:clrChange>
            <a:extLst>
              <a:ext uri="{BEBA8EAE-BF5A-486C-A8C5-ECC9F3942E4B}">
                <a14:imgProps xmlns:a14="http://schemas.microsoft.com/office/drawing/2010/main">
                  <a14:imgLayer r:embed="rId2">
                    <a14:imgEffect>
                      <a14:colorTemperature colorTemp="11200"/>
                    </a14:imgEffect>
                  </a14:imgLayer>
                </a14:imgProps>
              </a:ext>
              <a:ext uri="{28A0092B-C50C-407E-A947-70E740481C1C}">
                <a14:useLocalDpi xmlns:a14="http://schemas.microsoft.com/office/drawing/2010/main" val="0"/>
              </a:ext>
            </a:extLst>
          </a:blip>
          <a:srcRect l="23473" t="919" r="23195" b="1358"/>
          <a:stretch>
            <a:fillRect/>
          </a:stretch>
        </p:blipFill>
        <p:spPr bwMode="auto">
          <a:xfrm>
            <a:off x="286975" y="1202023"/>
            <a:ext cx="4440087" cy="48816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 name="Group 37"/>
          <p:cNvGrpSpPr/>
          <p:nvPr/>
        </p:nvGrpSpPr>
        <p:grpSpPr bwMode="auto">
          <a:xfrm>
            <a:off x="7528560" y="761811"/>
            <a:ext cx="3796030" cy="3170852"/>
            <a:chOff x="1728" y="472"/>
            <a:chExt cx="2160" cy="2344"/>
          </a:xfrm>
        </p:grpSpPr>
        <p:sp>
          <p:nvSpPr>
            <p:cNvPr id="9" name="Oval 2"/>
            <p:cNvSpPr>
              <a:spLocks noChangeArrowheads="1"/>
            </p:cNvSpPr>
            <p:nvPr/>
          </p:nvSpPr>
          <p:spPr bwMode="auto">
            <a:xfrm>
              <a:off x="1968" y="768"/>
              <a:ext cx="1728" cy="1728"/>
            </a:xfrm>
            <a:prstGeom prst="ellipse">
              <a:avLst/>
            </a:prstGeom>
            <a:noFill/>
            <a:ln w="38100">
              <a:solidFill>
                <a:srgbClr val="FFC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sz="2800">
                <a:solidFill>
                  <a:schemeClr val="bg1"/>
                </a:solidFill>
              </a:endParaRPr>
            </a:p>
          </p:txBody>
        </p:sp>
        <p:grpSp>
          <p:nvGrpSpPr>
            <p:cNvPr id="10" name="Group 8"/>
            <p:cNvGrpSpPr/>
            <p:nvPr/>
          </p:nvGrpSpPr>
          <p:grpSpPr bwMode="auto">
            <a:xfrm>
              <a:off x="2544" y="472"/>
              <a:ext cx="528" cy="592"/>
              <a:chOff x="336" y="376"/>
              <a:chExt cx="528" cy="592"/>
            </a:xfrm>
          </p:grpSpPr>
          <p:sp>
            <p:nvSpPr>
              <p:cNvPr id="21" name="Oval 6"/>
              <p:cNvSpPr>
                <a:spLocks noChangeArrowheads="1"/>
              </p:cNvSpPr>
              <p:nvPr/>
            </p:nvSpPr>
            <p:spPr bwMode="auto">
              <a:xfrm>
                <a:off x="336" y="432"/>
                <a:ext cx="528" cy="528"/>
              </a:xfrm>
              <a:prstGeom prst="ellipse">
                <a:avLst/>
              </a:prstGeom>
              <a:solidFill>
                <a:srgbClr val="FFC000"/>
              </a:solidFill>
              <a:ln w="19050">
                <a:no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sz="2800">
                  <a:solidFill>
                    <a:schemeClr val="bg1"/>
                  </a:solidFill>
                </a:endParaRPr>
              </a:p>
            </p:txBody>
          </p:sp>
          <p:sp>
            <p:nvSpPr>
              <p:cNvPr id="22" name="Text Box 7"/>
              <p:cNvSpPr txBox="1">
                <a:spLocks noChangeArrowheads="1"/>
              </p:cNvSpPr>
              <p:nvPr/>
            </p:nvSpPr>
            <p:spPr bwMode="auto">
              <a:xfrm>
                <a:off x="446" y="376"/>
                <a:ext cx="336" cy="592"/>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buClr>
                    <a:srgbClr val="E71101"/>
                  </a:buClr>
                  <a:buSzPct val="60000"/>
                  <a:buFont typeface="Monotype Sorts" pitchFamily="2" charset="2"/>
                  <a:buNone/>
                </a:pPr>
                <a:r>
                  <a:rPr lang="en-US" altLang="zh-CN" sz="2800" dirty="0">
                    <a:solidFill>
                      <a:schemeClr val="bg1"/>
                    </a:solidFill>
                  </a:rPr>
                  <a:t>P</a:t>
                </a:r>
                <a:r>
                  <a:rPr lang="en-US" altLang="zh-CN" sz="2800" baseline="-25000" dirty="0">
                    <a:solidFill>
                      <a:schemeClr val="bg1"/>
                    </a:solidFill>
                  </a:rPr>
                  <a:t>1</a:t>
                </a:r>
                <a:endParaRPr lang="en-US" altLang="zh-CN" sz="2800" baseline="-25000" dirty="0">
                  <a:solidFill>
                    <a:schemeClr val="bg1"/>
                  </a:solidFill>
                </a:endParaRPr>
              </a:p>
            </p:txBody>
          </p:sp>
        </p:grpSp>
        <p:grpSp>
          <p:nvGrpSpPr>
            <p:cNvPr id="11" name="Group 9"/>
            <p:cNvGrpSpPr/>
            <p:nvPr/>
          </p:nvGrpSpPr>
          <p:grpSpPr bwMode="auto">
            <a:xfrm>
              <a:off x="2544" y="2224"/>
              <a:ext cx="528" cy="592"/>
              <a:chOff x="336" y="400"/>
              <a:chExt cx="528" cy="592"/>
            </a:xfrm>
          </p:grpSpPr>
          <p:sp>
            <p:nvSpPr>
              <p:cNvPr id="19" name="Oval 10"/>
              <p:cNvSpPr>
                <a:spLocks noChangeArrowheads="1"/>
              </p:cNvSpPr>
              <p:nvPr/>
            </p:nvSpPr>
            <p:spPr bwMode="auto">
              <a:xfrm>
                <a:off x="336" y="432"/>
                <a:ext cx="528" cy="528"/>
              </a:xfrm>
              <a:prstGeom prst="ellipse">
                <a:avLst/>
              </a:prstGeom>
              <a:solidFill>
                <a:srgbClr val="FFC000"/>
              </a:solidFill>
              <a:ln w="19050">
                <a:solidFill>
                  <a:srgbClr val="FFC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sz="2800">
                  <a:solidFill>
                    <a:schemeClr val="bg1"/>
                  </a:solidFill>
                </a:endParaRPr>
              </a:p>
            </p:txBody>
          </p:sp>
          <p:sp>
            <p:nvSpPr>
              <p:cNvPr id="20" name="Text Box 11"/>
              <p:cNvSpPr txBox="1">
                <a:spLocks noChangeArrowheads="1"/>
              </p:cNvSpPr>
              <p:nvPr/>
            </p:nvSpPr>
            <p:spPr bwMode="auto">
              <a:xfrm>
                <a:off x="446" y="400"/>
                <a:ext cx="336" cy="592"/>
              </a:xfrm>
              <a:prstGeom prst="rect">
                <a:avLst/>
              </a:prstGeom>
              <a:solidFill>
                <a:srgbClr val="FFC000"/>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buClr>
                    <a:srgbClr val="E71101"/>
                  </a:buClr>
                  <a:buSzPct val="60000"/>
                  <a:buFont typeface="Monotype Sorts" pitchFamily="2" charset="2"/>
                  <a:buNone/>
                </a:pPr>
                <a:r>
                  <a:rPr lang="en-US" altLang="zh-CN" sz="2800" dirty="0">
                    <a:solidFill>
                      <a:schemeClr val="bg1"/>
                    </a:solidFill>
                  </a:rPr>
                  <a:t>P</a:t>
                </a:r>
                <a:r>
                  <a:rPr lang="en-US" altLang="zh-CN" sz="2800" baseline="-25000" dirty="0">
                    <a:solidFill>
                      <a:schemeClr val="bg1"/>
                    </a:solidFill>
                  </a:rPr>
                  <a:t>2</a:t>
                </a:r>
                <a:endParaRPr lang="en-US" altLang="zh-CN" sz="2800" baseline="-25000" dirty="0">
                  <a:solidFill>
                    <a:schemeClr val="bg1"/>
                  </a:solidFill>
                </a:endParaRPr>
              </a:p>
            </p:txBody>
          </p:sp>
        </p:grpSp>
        <p:sp>
          <p:nvSpPr>
            <p:cNvPr id="12" name="Rectangle 21"/>
            <p:cNvSpPr>
              <a:spLocks noChangeArrowheads="1"/>
            </p:cNvSpPr>
            <p:nvPr/>
          </p:nvSpPr>
          <p:spPr bwMode="auto">
            <a:xfrm>
              <a:off x="1728" y="1536"/>
              <a:ext cx="384" cy="288"/>
            </a:xfrm>
            <a:prstGeom prst="rect">
              <a:avLst/>
            </a:prstGeom>
            <a:solidFill>
              <a:srgbClr val="FFC000"/>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
                  <a:srgbClr val="E71101"/>
                </a:buClr>
                <a:buSzPct val="60000"/>
                <a:buFont typeface="Monotype Sorts" pitchFamily="2" charset="2"/>
                <a:buNone/>
              </a:pPr>
              <a:r>
                <a:rPr lang="en-US" altLang="zh-CN" sz="2800" dirty="0">
                  <a:solidFill>
                    <a:schemeClr val="bg1"/>
                  </a:solidFill>
                </a:rPr>
                <a:t>R</a:t>
              </a:r>
              <a:r>
                <a:rPr lang="en-US" altLang="zh-CN" sz="2800" baseline="-25000" dirty="0">
                  <a:solidFill>
                    <a:schemeClr val="bg1"/>
                  </a:solidFill>
                </a:rPr>
                <a:t>1</a:t>
              </a:r>
              <a:endParaRPr lang="en-US" altLang="zh-CN" sz="2800" baseline="-25000" dirty="0">
                <a:solidFill>
                  <a:schemeClr val="bg1"/>
                </a:solidFill>
              </a:endParaRPr>
            </a:p>
          </p:txBody>
        </p:sp>
        <p:sp>
          <p:nvSpPr>
            <p:cNvPr id="13" name="Rectangle 22"/>
            <p:cNvSpPr>
              <a:spLocks noChangeArrowheads="1"/>
            </p:cNvSpPr>
            <p:nvPr/>
          </p:nvSpPr>
          <p:spPr bwMode="auto">
            <a:xfrm>
              <a:off x="3504" y="1488"/>
              <a:ext cx="384" cy="288"/>
            </a:xfrm>
            <a:prstGeom prst="rect">
              <a:avLst/>
            </a:prstGeom>
            <a:solidFill>
              <a:srgbClr val="FFC000"/>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
                  <a:srgbClr val="E71101"/>
                </a:buClr>
                <a:buSzPct val="60000"/>
                <a:buFont typeface="Monotype Sorts" pitchFamily="2" charset="2"/>
                <a:buNone/>
              </a:pPr>
              <a:r>
                <a:rPr lang="en-US" altLang="zh-CN" sz="2800" dirty="0">
                  <a:solidFill>
                    <a:schemeClr val="bg1"/>
                  </a:solidFill>
                </a:rPr>
                <a:t>R</a:t>
              </a:r>
              <a:r>
                <a:rPr lang="en-US" altLang="zh-CN" sz="2800" baseline="-25000" dirty="0">
                  <a:solidFill>
                    <a:schemeClr val="bg1"/>
                  </a:solidFill>
                </a:rPr>
                <a:t>2</a:t>
              </a:r>
              <a:endParaRPr lang="en-US" altLang="zh-CN" sz="2800" baseline="-25000" dirty="0">
                <a:solidFill>
                  <a:schemeClr val="bg1"/>
                </a:solidFill>
              </a:endParaRPr>
            </a:p>
          </p:txBody>
        </p:sp>
        <p:sp>
          <p:nvSpPr>
            <p:cNvPr id="14" name="Line 26"/>
            <p:cNvSpPr>
              <a:spLocks noChangeShapeType="1"/>
            </p:cNvSpPr>
            <p:nvPr/>
          </p:nvSpPr>
          <p:spPr bwMode="auto">
            <a:xfrm flipV="1">
              <a:off x="2306" y="810"/>
              <a:ext cx="181" cy="136"/>
            </a:xfrm>
            <a:prstGeom prst="line">
              <a:avLst/>
            </a:prstGeom>
            <a:noFill/>
            <a:ln w="571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lIns="92075" tIns="46038" rIns="92075" bIns="46038" anchor="ctr"/>
            <a:lstStyle/>
            <a:p>
              <a:pPr algn="ctr"/>
              <a:endParaRPr lang="zh-CN" altLang="en-US" sz="2800">
                <a:solidFill>
                  <a:schemeClr val="bg1"/>
                </a:solidFill>
              </a:endParaRPr>
            </a:p>
          </p:txBody>
        </p:sp>
        <p:sp>
          <p:nvSpPr>
            <p:cNvPr id="15" name="Line 27"/>
            <p:cNvSpPr>
              <a:spLocks noChangeShapeType="1"/>
            </p:cNvSpPr>
            <p:nvPr/>
          </p:nvSpPr>
          <p:spPr bwMode="auto">
            <a:xfrm>
              <a:off x="3530" y="1082"/>
              <a:ext cx="91" cy="227"/>
            </a:xfrm>
            <a:prstGeom prst="line">
              <a:avLst/>
            </a:prstGeom>
            <a:noFill/>
            <a:ln w="571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lIns="92075" tIns="46038" rIns="92075" bIns="46038" anchor="ctr"/>
            <a:lstStyle/>
            <a:p>
              <a:pPr algn="ctr"/>
              <a:endParaRPr lang="zh-CN" altLang="en-US" sz="2800">
                <a:solidFill>
                  <a:schemeClr val="bg1"/>
                </a:solidFill>
              </a:endParaRPr>
            </a:p>
          </p:txBody>
        </p:sp>
        <p:sp>
          <p:nvSpPr>
            <p:cNvPr id="17" name="Line 28"/>
            <p:cNvSpPr>
              <a:spLocks noChangeShapeType="1"/>
            </p:cNvSpPr>
            <p:nvPr/>
          </p:nvSpPr>
          <p:spPr bwMode="auto">
            <a:xfrm flipH="1" flipV="1">
              <a:off x="2079" y="1989"/>
              <a:ext cx="181" cy="272"/>
            </a:xfrm>
            <a:prstGeom prst="line">
              <a:avLst/>
            </a:prstGeom>
            <a:noFill/>
            <a:ln w="571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lIns="92075" tIns="46038" rIns="92075" bIns="46038" anchor="ctr"/>
            <a:lstStyle/>
            <a:p>
              <a:pPr algn="ctr"/>
              <a:endParaRPr lang="zh-CN" altLang="en-US" sz="2800">
                <a:solidFill>
                  <a:schemeClr val="bg1"/>
                </a:solidFill>
              </a:endParaRPr>
            </a:p>
          </p:txBody>
        </p:sp>
        <p:sp>
          <p:nvSpPr>
            <p:cNvPr id="18" name="Line 29"/>
            <p:cNvSpPr>
              <a:spLocks noChangeShapeType="1"/>
            </p:cNvSpPr>
            <p:nvPr/>
          </p:nvSpPr>
          <p:spPr bwMode="auto">
            <a:xfrm flipH="1">
              <a:off x="3258" y="2261"/>
              <a:ext cx="181" cy="136"/>
            </a:xfrm>
            <a:prstGeom prst="line">
              <a:avLst/>
            </a:prstGeom>
            <a:noFill/>
            <a:ln w="571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lIns="92075" tIns="46038" rIns="92075" bIns="46038" anchor="ctr"/>
            <a:lstStyle/>
            <a:p>
              <a:pPr algn="ctr"/>
              <a:endParaRPr lang="zh-CN" altLang="en-US" sz="2800">
                <a:solidFill>
                  <a:schemeClr val="bg1"/>
                </a:solidFill>
              </a:endParaRPr>
            </a:p>
          </p:txBody>
        </p:sp>
      </p:grpSp>
      <p:sp>
        <p:nvSpPr>
          <p:cNvPr id="2" name="内容占位符 2"/>
          <p:cNvSpPr txBox="1"/>
          <p:nvPr/>
        </p:nvSpPr>
        <p:spPr>
          <a:xfrm>
            <a:off x="4583430" y="4053205"/>
            <a:ext cx="7266940" cy="181165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None/>
            </a:pPr>
            <a:r>
              <a:rPr lang="zh-CN" altLang="en-US" sz="2400" dirty="0">
                <a:solidFill>
                  <a:srgbClr val="FF0000"/>
                </a:solidFill>
                <a:latin typeface="+mn-ea"/>
              </a:rPr>
              <a:t>如果图有环</a:t>
            </a:r>
            <a:r>
              <a:rPr lang="zh-CN" altLang="en-US" sz="2400" dirty="0">
                <a:latin typeface="+mn-ea"/>
              </a:rPr>
              <a:t>，那么：</a:t>
            </a:r>
            <a:endParaRPr lang="zh-CN" altLang="en-US" sz="2400" dirty="0">
              <a:latin typeface="+mn-ea"/>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如果每一种资源类型只有一个实例，那么死锁发生；</a:t>
            </a:r>
            <a:endParaRPr lang="zh-CN" altLang="en-US"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如果一种资源类型有多个实例，那么可能死锁。</a:t>
            </a:r>
            <a:endParaRPr lang="zh-CN" altLang="en-US" sz="2400" dirty="0">
              <a:solidFill>
                <a:schemeClr val="tx1">
                  <a:lumMod val="65000"/>
                  <a:lumOff val="35000"/>
                </a:schemeClr>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资源分配图的简化</a:t>
            </a:r>
            <a:endParaRPr lang="en-US" altLang="zh-CN" sz="2800" b="1" dirty="0">
              <a:solidFill>
                <a:schemeClr val="bg1"/>
              </a:solidFill>
            </a:endParaRPr>
          </a:p>
        </p:txBody>
      </p:sp>
      <p:sp>
        <p:nvSpPr>
          <p:cNvPr id="4" name="iśḷíḑe"/>
          <p:cNvSpPr/>
          <p:nvPr/>
        </p:nvSpPr>
        <p:spPr>
          <a:xfrm>
            <a:off x="784302" y="1249036"/>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5" name="ïś1ïḑè"/>
          <p:cNvSpPr/>
          <p:nvPr/>
        </p:nvSpPr>
        <p:spPr>
          <a:xfrm>
            <a:off x="784302" y="3253381"/>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7" name="矩形 6"/>
          <p:cNvSpPr/>
          <p:nvPr/>
        </p:nvSpPr>
        <p:spPr>
          <a:xfrm>
            <a:off x="1778608" y="1209090"/>
            <a:ext cx="9709097" cy="3489915"/>
          </a:xfrm>
          <a:prstGeom prst="rect">
            <a:avLst/>
          </a:prstGeom>
        </p:spPr>
        <p:txBody>
          <a:bodyPr wrap="square">
            <a:noAutofit/>
          </a:bodyPr>
          <a:lstStyle/>
          <a:p>
            <a:pPr algn="just">
              <a:lnSpc>
                <a:spcPct val="123000"/>
              </a:lnSpc>
              <a:spcBef>
                <a:spcPts val="600"/>
              </a:spcBef>
              <a:spcAft>
                <a:spcPts val="600"/>
              </a:spcAft>
              <a:defRPr/>
            </a:pPr>
            <a:r>
              <a:rPr lang="zh-CN" altLang="en-US" sz="2400" dirty="0">
                <a:latin typeface="+mn-ea"/>
              </a:rPr>
              <a:t>在资源分配图中，</a:t>
            </a:r>
            <a:r>
              <a:rPr lang="zh-CN" altLang="en-US" sz="2400" dirty="0">
                <a:solidFill>
                  <a:srgbClr val="FF0000"/>
                </a:solidFill>
                <a:latin typeface="+mn-ea"/>
              </a:rPr>
              <a:t>找出一个既不阻塞又非独立的进程结点</a:t>
            </a:r>
            <a:r>
              <a:rPr lang="en-US" altLang="zh-CN" sz="2400" dirty="0">
                <a:solidFill>
                  <a:srgbClr val="FF0000"/>
                </a:solidFill>
                <a:latin typeface="+mn-ea"/>
              </a:rPr>
              <a:t>p</a:t>
            </a:r>
            <a:r>
              <a:rPr lang="en-US" altLang="zh-CN" sz="2400" baseline="-30000" dirty="0">
                <a:solidFill>
                  <a:srgbClr val="FF0000"/>
                </a:solidFill>
                <a:latin typeface="+mn-ea"/>
              </a:rPr>
              <a:t>i</a:t>
            </a:r>
            <a:r>
              <a:rPr lang="zh-CN" altLang="en-US" sz="2400" dirty="0">
                <a:solidFill>
                  <a:srgbClr val="FF0000"/>
                </a:solidFill>
                <a:latin typeface="+mn-ea"/>
              </a:rPr>
              <a:t>。</a:t>
            </a:r>
            <a:r>
              <a:rPr lang="zh-CN" altLang="en-US" sz="2400" dirty="0">
                <a:latin typeface="+mn-ea"/>
              </a:rPr>
              <a:t>在顺利的情况下，</a:t>
            </a:r>
            <a:r>
              <a:rPr lang="en-US" altLang="zh-CN" sz="2400" dirty="0">
                <a:latin typeface="+mn-ea"/>
              </a:rPr>
              <a:t>p</a:t>
            </a:r>
            <a:r>
              <a:rPr lang="en-US" altLang="zh-CN" sz="2400" baseline="-30000" dirty="0">
                <a:latin typeface="+mn-ea"/>
              </a:rPr>
              <a:t>i</a:t>
            </a:r>
            <a:r>
              <a:rPr lang="zh-CN" altLang="en-US" sz="2400" dirty="0">
                <a:latin typeface="+mn-ea"/>
              </a:rPr>
              <a:t>可获得所需资源而继续运行，直至运行完毕，再释放其所占有得全部资源，这相当于消去</a:t>
            </a:r>
            <a:r>
              <a:rPr lang="en-US" altLang="zh-CN" sz="2400" dirty="0">
                <a:latin typeface="+mn-ea"/>
              </a:rPr>
              <a:t>p</a:t>
            </a:r>
            <a:r>
              <a:rPr lang="en-US" altLang="zh-CN" sz="2400" baseline="-30000" dirty="0">
                <a:latin typeface="+mn-ea"/>
              </a:rPr>
              <a:t>i</a:t>
            </a:r>
            <a:r>
              <a:rPr lang="zh-CN" altLang="en-US" sz="2400" dirty="0">
                <a:latin typeface="+mn-ea"/>
              </a:rPr>
              <a:t>所有的请求边和分配边，使之成为孤立的结点；</a:t>
            </a:r>
            <a:endParaRPr lang="en-US" altLang="zh-CN" sz="2400" dirty="0">
              <a:latin typeface="+mn-ea"/>
            </a:endParaRPr>
          </a:p>
          <a:p>
            <a:pPr algn="just">
              <a:lnSpc>
                <a:spcPct val="123000"/>
              </a:lnSpc>
              <a:spcBef>
                <a:spcPts val="600"/>
              </a:spcBef>
              <a:spcAft>
                <a:spcPts val="600"/>
              </a:spcAft>
              <a:defRPr/>
            </a:pPr>
            <a:r>
              <a:rPr lang="zh-CN" altLang="en-US" sz="2400" dirty="0">
                <a:latin typeface="+mn-ea"/>
              </a:rPr>
              <a:t>在进行一系列的简化后，</a:t>
            </a:r>
            <a:r>
              <a:rPr lang="zh-CN" altLang="en-US" sz="2400" dirty="0">
                <a:solidFill>
                  <a:srgbClr val="FF0000"/>
                </a:solidFill>
                <a:latin typeface="+mn-ea"/>
              </a:rPr>
              <a:t>若能消去图中所有的边，使所有进程都成为孤立结点，则称该图是可完全简化的；</a:t>
            </a:r>
            <a:r>
              <a:rPr lang="zh-CN" altLang="en-US" sz="2400" dirty="0">
                <a:latin typeface="+mn-ea"/>
              </a:rPr>
              <a:t>若不能通过任何过程使该图完全简化，则称该图是不可完全简化的。</a:t>
            </a:r>
            <a:endParaRPr lang="zh-CN" altLang="en-US" sz="2400" dirty="0">
              <a:latin typeface="+mn-ea"/>
            </a:endParaRPr>
          </a:p>
        </p:txBody>
      </p:sp>
      <p:sp>
        <p:nvSpPr>
          <p:cNvPr id="2" name="ïšļíďè"/>
          <p:cNvSpPr txBox="1"/>
          <p:nvPr/>
        </p:nvSpPr>
        <p:spPr>
          <a:xfrm>
            <a:off x="927735" y="4575175"/>
            <a:ext cx="11043920" cy="174180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2000"/>
              </a:lnSpc>
            </a:pPr>
            <a:r>
              <a:rPr lang="en-US" altLang="zh-CN" sz="2400" dirty="0"/>
              <a:t>S</a:t>
            </a:r>
            <a:r>
              <a:rPr lang="zh-CN" altLang="en-US" sz="2400" dirty="0"/>
              <a:t>为死锁状态的充分条件是：当且仅当</a:t>
            </a:r>
            <a:r>
              <a:rPr lang="en-US" altLang="zh-CN" sz="2400" dirty="0"/>
              <a:t>S</a:t>
            </a:r>
            <a:r>
              <a:rPr lang="zh-CN" altLang="en-US" sz="2400" dirty="0"/>
              <a:t>状态的资源分配图是不可完全简化的。该充分条件称为</a:t>
            </a:r>
            <a:r>
              <a:rPr lang="zh-CN" altLang="en-US" sz="2400" dirty="0">
                <a:solidFill>
                  <a:srgbClr val="0000FF"/>
                </a:solidFill>
              </a:rPr>
              <a:t>死锁定理</a:t>
            </a:r>
            <a:r>
              <a:rPr lang="zh-CN" altLang="en-US" sz="2400" dirty="0"/>
              <a:t>。</a:t>
            </a:r>
            <a:endParaRPr lang="zh-CN" altLang="en-US" sz="2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简化示例</a:t>
            </a:r>
            <a:endParaRPr lang="en-US" altLang="zh-CN" sz="2800" b="1" dirty="0">
              <a:solidFill>
                <a:schemeClr val="bg1"/>
              </a:solidFill>
            </a:endParaRPr>
          </a:p>
        </p:txBody>
      </p:sp>
      <p:pic>
        <p:nvPicPr>
          <p:cNvPr id="23" name="图片 22"/>
          <p:cNvPicPr>
            <a:picLocks noChangeAspect="1"/>
          </p:cNvPicPr>
          <p:nvPr/>
        </p:nvPicPr>
        <p:blipFill>
          <a:blip r:embed="rId1"/>
          <a:stretch>
            <a:fillRect/>
          </a:stretch>
        </p:blipFill>
        <p:spPr>
          <a:xfrm>
            <a:off x="137843" y="1828800"/>
            <a:ext cx="11916314" cy="3496718"/>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4"/>
          <p:cNvPicPr>
            <a:picLocks noChangeAspect="1" noChangeArrowheads="1"/>
          </p:cNvPicPr>
          <p:nvPr/>
        </p:nvPicPr>
        <p:blipFill>
          <a:blip r:embed="rId1">
            <a:clrChange>
              <a:clrFrom>
                <a:srgbClr val="FFFDDB"/>
              </a:clrFrom>
              <a:clrTo>
                <a:srgbClr val="FFFDDB">
                  <a:alpha val="0"/>
                </a:srgbClr>
              </a:clrTo>
            </a:clrChange>
            <a:extLst>
              <a:ext uri="{BEBA8EAE-BF5A-486C-A8C5-ECC9F3942E4B}">
                <a14:imgProps xmlns:a14="http://schemas.microsoft.com/office/drawing/2010/main">
                  <a14:imgLayer r:embed="rId2">
                    <a14:imgEffect>
                      <a14:colorTemperature colorTemp="11200"/>
                    </a14:imgEffect>
                  </a14:imgLayer>
                </a14:imgProps>
              </a:ext>
              <a:ext uri="{28A0092B-C50C-407E-A947-70E740481C1C}">
                <a14:useLocalDpi xmlns:a14="http://schemas.microsoft.com/office/drawing/2010/main" val="0"/>
              </a:ext>
            </a:extLst>
          </a:blip>
          <a:srcRect l="19093" t="700" r="19093" b="700"/>
          <a:stretch>
            <a:fillRect/>
          </a:stretch>
        </p:blipFill>
        <p:spPr bwMode="auto">
          <a:xfrm>
            <a:off x="483235" y="1506855"/>
            <a:ext cx="4652010" cy="445071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图片 1"/>
          <p:cNvPicPr>
            <a:picLocks noChangeAspect="1"/>
          </p:cNvPicPr>
          <p:nvPr/>
        </p:nvPicPr>
        <p:blipFill>
          <a:blip r:embed="rId3"/>
          <a:stretch>
            <a:fillRect/>
          </a:stretch>
        </p:blipFill>
        <p:spPr>
          <a:xfrm>
            <a:off x="5134610" y="1618615"/>
            <a:ext cx="6814185" cy="374904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死锁的解除</a:t>
            </a:r>
            <a:endParaRPr lang="en-US" altLang="zh-CN" sz="2800" b="1" dirty="0">
              <a:solidFill>
                <a:schemeClr val="bg1"/>
              </a:solidFill>
            </a:endParaRPr>
          </a:p>
        </p:txBody>
      </p:sp>
      <p:sp>
        <p:nvSpPr>
          <p:cNvPr id="24" name="iśḷíḑe"/>
          <p:cNvSpPr/>
          <p:nvPr>
            <p:custDataLst>
              <p:tags r:id="rId1"/>
            </p:custDataLst>
          </p:nvPr>
        </p:nvSpPr>
        <p:spPr>
          <a:xfrm>
            <a:off x="391491" y="1137580"/>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25" name="ïś1ïḑè"/>
          <p:cNvSpPr/>
          <p:nvPr>
            <p:custDataLst>
              <p:tags r:id="rId2"/>
            </p:custDataLst>
          </p:nvPr>
        </p:nvSpPr>
        <p:spPr>
          <a:xfrm>
            <a:off x="391491" y="2367882"/>
            <a:ext cx="774099" cy="774099"/>
          </a:xfrm>
          <a:prstGeom prst="ellipse">
            <a:avLst/>
          </a:prstGeom>
          <a:solidFill>
            <a:srgbClr val="07416B"/>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26" name="内容占位符 2"/>
          <p:cNvSpPr txBox="1"/>
          <p:nvPr>
            <p:custDataLst>
              <p:tags r:id="rId3"/>
            </p:custDataLst>
          </p:nvPr>
        </p:nvSpPr>
        <p:spPr>
          <a:xfrm>
            <a:off x="1239432" y="1137091"/>
            <a:ext cx="9106292" cy="10711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solidFill>
                  <a:srgbClr val="FF0000"/>
                </a:solidFill>
              </a:rPr>
              <a:t>抢占资源。</a:t>
            </a:r>
            <a:r>
              <a:rPr lang="zh-CN" altLang="en-US" sz="2400" dirty="0"/>
              <a:t>从一个或多个进程中抢占足够数量的资源给死锁进程，以解除死锁状态</a:t>
            </a:r>
            <a:endParaRPr lang="zh-CN" altLang="en-US" sz="2400" dirty="0"/>
          </a:p>
        </p:txBody>
      </p:sp>
      <p:sp>
        <p:nvSpPr>
          <p:cNvPr id="27" name="内容占位符 2"/>
          <p:cNvSpPr txBox="1"/>
          <p:nvPr>
            <p:custDataLst>
              <p:tags r:id="rId4"/>
            </p:custDataLst>
          </p:nvPr>
        </p:nvSpPr>
        <p:spPr>
          <a:xfrm>
            <a:off x="1337856" y="2400267"/>
            <a:ext cx="9106292" cy="5965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buNone/>
            </a:pPr>
            <a:r>
              <a:rPr lang="zh-CN" altLang="en-US" sz="2400" dirty="0">
                <a:solidFill>
                  <a:srgbClr val="FF0000"/>
                </a:solidFill>
              </a:rPr>
              <a:t>终止或撤消进程</a:t>
            </a:r>
            <a:r>
              <a:rPr lang="zh-CN" altLang="en-US" sz="2400" dirty="0">
                <a:solidFill>
                  <a:srgbClr val="0000FF"/>
                </a:solidFill>
              </a:rPr>
              <a:t>。</a:t>
            </a:r>
            <a:r>
              <a:rPr lang="zh-CN" altLang="en-US" sz="2400" dirty="0"/>
              <a:t>终止系统中一个或多个死锁进程，直到打破循环环路，使死锁状态消除为止。</a:t>
            </a:r>
            <a:endParaRPr lang="zh-CN" altLang="en-US" sz="2400" dirty="0"/>
          </a:p>
        </p:txBody>
      </p:sp>
      <p:sp>
        <p:nvSpPr>
          <p:cNvPr id="28" name="内容占位符 2"/>
          <p:cNvSpPr txBox="1"/>
          <p:nvPr/>
        </p:nvSpPr>
        <p:spPr>
          <a:xfrm>
            <a:off x="953681" y="3429128"/>
            <a:ext cx="5678259" cy="11852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2000"/>
              </a:lnSpc>
              <a:buClr>
                <a:srgbClr val="0000FF"/>
              </a:buClr>
              <a:buFont typeface="Wingdings" panose="05000000000000000000" pitchFamily="2" charset="2"/>
              <a:buChar char="Ø"/>
            </a:pPr>
            <a:r>
              <a:rPr lang="zh-CN" altLang="en-US" sz="2400" dirty="0"/>
              <a:t>终止所有死锁进程（最简单方法）</a:t>
            </a:r>
            <a:endParaRPr lang="zh-CN" altLang="en-US" sz="2400" dirty="0"/>
          </a:p>
          <a:p>
            <a:pPr>
              <a:lnSpc>
                <a:spcPct val="132000"/>
              </a:lnSpc>
              <a:buClr>
                <a:srgbClr val="0000FF"/>
              </a:buClr>
              <a:buFont typeface="Wingdings" panose="05000000000000000000" pitchFamily="2" charset="2"/>
              <a:buChar char="Ø"/>
            </a:pPr>
            <a:r>
              <a:rPr lang="zh-CN" altLang="en-US" sz="2400" dirty="0"/>
              <a:t>逐个终止进程（稍温和方法）</a:t>
            </a:r>
            <a:endParaRPr lang="zh-CN" altLang="en-US" sz="2400" dirty="0"/>
          </a:p>
        </p:txBody>
      </p:sp>
      <p:sp>
        <p:nvSpPr>
          <p:cNvPr id="2" name="文本框 1"/>
          <p:cNvSpPr txBox="1"/>
          <p:nvPr/>
        </p:nvSpPr>
        <p:spPr>
          <a:xfrm>
            <a:off x="5139055" y="4180840"/>
            <a:ext cx="6559550" cy="2245360"/>
          </a:xfrm>
          <a:prstGeom prst="rect">
            <a:avLst/>
          </a:prstGeom>
          <a:noFill/>
        </p:spPr>
        <p:txBody>
          <a:bodyPr wrap="square" rtlCol="0" anchor="t">
            <a:spAutoFit/>
          </a:bodyPr>
          <a:p>
            <a:pPr>
              <a:spcBef>
                <a:spcPts val="1200"/>
              </a:spcBef>
              <a:tabLst>
                <a:tab pos="2800350" algn="l"/>
                <a:tab pos="3708400" algn="ctr"/>
              </a:tabLst>
            </a:pPr>
            <a:r>
              <a:rPr lang="zh-CN" altLang="en-US" sz="2000" dirty="0">
                <a:latin typeface="+mn-ea"/>
                <a:sym typeface="+mn-ea"/>
              </a:rPr>
              <a:t>应该选择怎样的中断顺序，使“</a:t>
            </a:r>
            <a:r>
              <a:rPr lang="zh-CN" altLang="en-US" sz="2000" dirty="0">
                <a:solidFill>
                  <a:srgbClr val="FF0000"/>
                </a:solidFill>
                <a:latin typeface="+mn-ea"/>
                <a:sym typeface="+mn-ea"/>
              </a:rPr>
              <a:t>代价最小</a:t>
            </a:r>
            <a:r>
              <a:rPr lang="zh-CN" altLang="en-US" sz="2000" dirty="0">
                <a:latin typeface="+mn-ea"/>
                <a:sym typeface="+mn-ea"/>
              </a:rPr>
              <a:t>”？</a:t>
            </a:r>
            <a:endParaRPr lang="zh-CN" altLang="en-US" sz="2000" dirty="0">
              <a:latin typeface="+mn-ea"/>
            </a:endParaRPr>
          </a:p>
          <a:p>
            <a:pPr marL="800100" lvl="1" indent="-342900">
              <a:spcBef>
                <a:spcPts val="1200"/>
              </a:spcBef>
              <a:buFont typeface="Wingdings" panose="05000000000000000000" pitchFamily="2" charset="2"/>
              <a:buChar char="Ø"/>
              <a:tabLst>
                <a:tab pos="2800350" algn="l"/>
                <a:tab pos="3708400" algn="ctr"/>
              </a:tabLst>
            </a:pPr>
            <a:r>
              <a:rPr lang="zh-CN" altLang="en-US" sz="2000" dirty="0">
                <a:latin typeface="+mn-ea"/>
                <a:sym typeface="+mn-ea"/>
              </a:rPr>
              <a:t>进程的优先级；</a:t>
            </a:r>
            <a:endParaRPr lang="zh-CN" altLang="en-US" sz="2000" dirty="0">
              <a:latin typeface="+mn-ea"/>
            </a:endParaRPr>
          </a:p>
          <a:p>
            <a:pPr marL="800100" lvl="1" indent="-342900">
              <a:spcBef>
                <a:spcPts val="1200"/>
              </a:spcBef>
              <a:buFont typeface="Wingdings" panose="05000000000000000000" pitchFamily="2" charset="2"/>
              <a:buChar char="Ø"/>
              <a:tabLst>
                <a:tab pos="2800350" algn="l"/>
                <a:tab pos="3708400" algn="ctr"/>
              </a:tabLst>
            </a:pPr>
            <a:r>
              <a:rPr lang="zh-CN" altLang="en-US" sz="2000" dirty="0">
                <a:latin typeface="+mn-ea"/>
                <a:sym typeface="+mn-ea"/>
              </a:rPr>
              <a:t>进程需要计算多长时间，以及需要多长时间结束；</a:t>
            </a:r>
            <a:endParaRPr lang="zh-CN" altLang="en-US" sz="2000" dirty="0">
              <a:latin typeface="+mn-ea"/>
            </a:endParaRPr>
          </a:p>
          <a:p>
            <a:pPr marL="800100" lvl="1" indent="-342900">
              <a:spcBef>
                <a:spcPts val="1200"/>
              </a:spcBef>
              <a:buFont typeface="Wingdings" panose="05000000000000000000" pitchFamily="2" charset="2"/>
              <a:buChar char="Ø"/>
              <a:tabLst>
                <a:tab pos="2800350" algn="l"/>
                <a:tab pos="3708400" algn="ctr"/>
              </a:tabLst>
            </a:pPr>
            <a:r>
              <a:rPr lang="zh-CN" altLang="en-US" sz="2000" dirty="0">
                <a:latin typeface="+mn-ea"/>
                <a:sym typeface="+mn-ea"/>
              </a:rPr>
              <a:t>进程使用的资源，进程完成还需要多少资源；</a:t>
            </a:r>
            <a:endParaRPr lang="zh-CN" altLang="en-US" sz="2000" dirty="0">
              <a:latin typeface="+mn-ea"/>
            </a:endParaRPr>
          </a:p>
          <a:p>
            <a:pPr marL="800100" lvl="1" indent="-342900">
              <a:spcBef>
                <a:spcPts val="1200"/>
              </a:spcBef>
              <a:buFont typeface="Wingdings" panose="05000000000000000000" pitchFamily="2" charset="2"/>
              <a:buChar char="Ø"/>
              <a:tabLst>
                <a:tab pos="2800350" algn="l"/>
                <a:tab pos="3708400" algn="ctr"/>
              </a:tabLst>
            </a:pPr>
            <a:r>
              <a:rPr lang="zh-CN" altLang="en-US" sz="2000" dirty="0">
                <a:latin typeface="+mn-ea"/>
                <a:sym typeface="+mn-ea"/>
              </a:rPr>
              <a:t>进程是交互的还是批处理的。</a:t>
            </a:r>
            <a:endParaRPr lang="zh-CN" altLang="en-US" sz="2000" dirty="0">
              <a:latin typeface="+mn-ea"/>
              <a:sym typeface="+mn-ea"/>
            </a:endParaRPr>
          </a:p>
        </p:txBody>
      </p:sp>
      <p:sp>
        <p:nvSpPr>
          <p:cNvPr id="3" name="ïś1ïḑè"/>
          <p:cNvSpPr/>
          <p:nvPr>
            <p:custDataLst>
              <p:tags r:id="rId5"/>
            </p:custDataLst>
          </p:nvPr>
        </p:nvSpPr>
        <p:spPr>
          <a:xfrm>
            <a:off x="391491" y="4614512"/>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p>
            <a:pPr algn="ctr" defTabSz="1218565">
              <a:defRPr/>
            </a:pPr>
            <a:r>
              <a:rPr lang="en-US" altLang="zh-CN" sz="2400" b="1" kern="0" dirty="0">
                <a:solidFill>
                  <a:prstClr val="white"/>
                </a:solidFill>
              </a:rPr>
              <a:t>03</a:t>
            </a:r>
            <a:endParaRPr lang="zh-CN" altLang="en-US" sz="2400" b="1" kern="0" dirty="0">
              <a:solidFill>
                <a:prstClr val="white"/>
              </a:solidFill>
            </a:endParaRPr>
          </a:p>
        </p:txBody>
      </p:sp>
      <p:sp>
        <p:nvSpPr>
          <p:cNvPr id="4" name="文本框 3"/>
          <p:cNvSpPr txBox="1"/>
          <p:nvPr/>
        </p:nvSpPr>
        <p:spPr>
          <a:xfrm>
            <a:off x="1337945" y="4794885"/>
            <a:ext cx="1426845" cy="460375"/>
          </a:xfrm>
          <a:prstGeom prst="rect">
            <a:avLst/>
          </a:prstGeom>
          <a:noFill/>
        </p:spPr>
        <p:txBody>
          <a:bodyPr wrap="square" rtlCol="0" anchor="t">
            <a:spAutoFit/>
          </a:bodyPr>
          <a:p>
            <a:r>
              <a:rPr lang="zh-CN" altLang="en-US" sz="2400" dirty="0">
                <a:solidFill>
                  <a:schemeClr val="accent3">
                    <a:lumMod val="50000"/>
                    <a:lumOff val="50000"/>
                  </a:schemeClr>
                </a:solidFill>
                <a:sym typeface="+mn-ea"/>
              </a:rPr>
              <a:t>重启。</a:t>
            </a:r>
            <a:endParaRPr lang="zh-CN" altLang="en-US" sz="2400" dirty="0">
              <a:solidFill>
                <a:schemeClr val="accent3">
                  <a:lumMod val="50000"/>
                  <a:lumOff val="50000"/>
                </a:schemeClr>
              </a:solidFill>
              <a:sym typeface="+mn-ea"/>
            </a:endParaRPr>
          </a:p>
        </p:txBody>
      </p:sp>
      <p:sp>
        <p:nvSpPr>
          <p:cNvPr id="5" name="ïś1ïḑè"/>
          <p:cNvSpPr/>
          <p:nvPr>
            <p:custDataLst>
              <p:tags r:id="rId6"/>
            </p:custDataLst>
          </p:nvPr>
        </p:nvSpPr>
        <p:spPr>
          <a:xfrm>
            <a:off x="346406" y="5654642"/>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p>
            <a:pPr algn="ctr" defTabSz="1218565">
              <a:defRPr/>
            </a:pPr>
            <a:r>
              <a:rPr lang="en-US" altLang="zh-CN" sz="2400" b="1" kern="0" dirty="0">
                <a:solidFill>
                  <a:prstClr val="white"/>
                </a:solidFill>
              </a:rPr>
              <a:t>04</a:t>
            </a:r>
            <a:endParaRPr lang="zh-CN" altLang="en-US" sz="2400" b="1" kern="0" dirty="0">
              <a:solidFill>
                <a:prstClr val="white"/>
              </a:solidFill>
            </a:endParaRPr>
          </a:p>
        </p:txBody>
      </p:sp>
      <p:sp>
        <p:nvSpPr>
          <p:cNvPr id="6" name="文本框 5"/>
          <p:cNvSpPr txBox="1"/>
          <p:nvPr/>
        </p:nvSpPr>
        <p:spPr>
          <a:xfrm>
            <a:off x="1292860" y="5835015"/>
            <a:ext cx="4039870" cy="460375"/>
          </a:xfrm>
          <a:prstGeom prst="rect">
            <a:avLst/>
          </a:prstGeom>
          <a:noFill/>
        </p:spPr>
        <p:txBody>
          <a:bodyPr wrap="square" rtlCol="0" anchor="t">
            <a:spAutoFit/>
          </a:bodyPr>
          <a:p>
            <a:r>
              <a:rPr lang="zh-CN" altLang="en-US" sz="2400" dirty="0">
                <a:solidFill>
                  <a:schemeClr val="accent3">
                    <a:lumMod val="50000"/>
                    <a:lumOff val="50000"/>
                  </a:schemeClr>
                </a:solidFill>
                <a:sym typeface="+mn-ea"/>
              </a:rPr>
              <a:t>回到死锁前的上一次检查点。</a:t>
            </a:r>
            <a:endParaRPr lang="zh-CN" altLang="en-US" sz="2400" dirty="0">
              <a:solidFill>
                <a:schemeClr val="accent3">
                  <a:lumMod val="50000"/>
                  <a:lumOff val="50000"/>
                </a:schemeClr>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3" grpId="1" animBg="1"/>
      <p:bldP spid="4" grpId="1"/>
      <p:bldP spid="5" grpId="0" bldLvl="0" animBg="1"/>
      <p:bldP spid="6" grpId="0"/>
      <p:bldP spid="5" grpId="1" animBg="1"/>
      <p:bldP spid="6" grpId="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nvSpPr>
        <p:spPr>
          <a:xfrm>
            <a:off x="669925" y="78668"/>
            <a:ext cx="7026275" cy="521970"/>
          </a:xfrm>
          <a:prstGeom prst="rect">
            <a:avLst/>
          </a:prstGeom>
        </p:spPr>
        <p:txBody>
          <a:bodyPr wrap="square">
            <a:spAutoFit/>
          </a:bodyPr>
          <a:p>
            <a:r>
              <a:rPr lang="zh-CN" altLang="en-US" sz="2800" b="1" dirty="0">
                <a:solidFill>
                  <a:schemeClr val="bg1"/>
                </a:solidFill>
              </a:rPr>
              <a:t>思考：</a:t>
            </a:r>
            <a:endParaRPr lang="zh-CN" altLang="en-US" sz="2800" b="1" dirty="0">
              <a:solidFill>
                <a:schemeClr val="bg1"/>
              </a:solidFill>
            </a:endParaRPr>
          </a:p>
        </p:txBody>
      </p:sp>
      <p:sp>
        <p:nvSpPr>
          <p:cNvPr id="2" name="文本框 1"/>
          <p:cNvSpPr txBox="1"/>
          <p:nvPr/>
        </p:nvSpPr>
        <p:spPr>
          <a:xfrm>
            <a:off x="764540" y="1068705"/>
            <a:ext cx="10581640" cy="1645285"/>
          </a:xfrm>
          <a:prstGeom prst="rect">
            <a:avLst/>
          </a:prstGeom>
          <a:noFill/>
        </p:spPr>
        <p:txBody>
          <a:bodyPr wrap="square" rtlCol="0" anchor="t">
            <a:noAutofit/>
          </a:bodyPr>
          <a:p>
            <a:pPr>
              <a:lnSpc>
                <a:spcPct val="150000"/>
              </a:lnSpc>
            </a:pPr>
            <a:r>
              <a:rPr lang="zh-CN" altLang="en-US" sz="2800"/>
              <a:t>设系统中有下述解决死锁的方法</a:t>
            </a:r>
            <a:r>
              <a:rPr lang="en-US" altLang="zh-CN" sz="2800"/>
              <a:t>: </a:t>
            </a:r>
            <a:endParaRPr lang="en-US" altLang="zh-CN" sz="2800"/>
          </a:p>
          <a:p>
            <a:pPr>
              <a:lnSpc>
                <a:spcPct val="150000"/>
              </a:lnSpc>
            </a:pPr>
            <a:r>
              <a:rPr lang="en-US" altLang="zh-CN" sz="2800"/>
              <a:t>1)</a:t>
            </a:r>
            <a:r>
              <a:rPr lang="zh-CN" altLang="en-US" sz="2800"/>
              <a:t>银行家算法</a:t>
            </a:r>
            <a:r>
              <a:rPr lang="en-US" altLang="zh-CN" sz="2800"/>
              <a:t>.</a:t>
            </a:r>
            <a:endParaRPr lang="en-US" altLang="zh-CN" sz="2800"/>
          </a:p>
          <a:p>
            <a:pPr>
              <a:lnSpc>
                <a:spcPct val="150000"/>
              </a:lnSpc>
            </a:pPr>
            <a:r>
              <a:rPr lang="en-US" altLang="zh-CN" sz="2800"/>
              <a:t>2</a:t>
            </a:r>
            <a:r>
              <a:rPr lang="zh-CN" altLang="en-US" sz="2800"/>
              <a:t>）检测死锁，终止处于死锁状态的进程，释放该进程占有的资源。</a:t>
            </a:r>
            <a:r>
              <a:rPr lang="en-US" altLang="zh-CN" sz="2800"/>
              <a:t> </a:t>
            </a:r>
            <a:endParaRPr lang="en-US" altLang="zh-CN" sz="2800"/>
          </a:p>
          <a:p>
            <a:pPr>
              <a:lnSpc>
                <a:spcPct val="150000"/>
              </a:lnSpc>
            </a:pPr>
            <a:r>
              <a:rPr lang="en-US" altLang="zh-CN" sz="2800"/>
              <a:t>3</a:t>
            </a:r>
            <a:r>
              <a:rPr lang="zh-CN" altLang="en-US" sz="2800"/>
              <a:t>）资源预分配。</a:t>
            </a:r>
            <a:r>
              <a:rPr lang="en-US" altLang="zh-CN" sz="2800"/>
              <a:t> </a:t>
            </a:r>
            <a:endParaRPr lang="en-US" altLang="zh-CN" sz="2800"/>
          </a:p>
          <a:p>
            <a:pPr>
              <a:lnSpc>
                <a:spcPct val="150000"/>
              </a:lnSpc>
            </a:pPr>
            <a:r>
              <a:rPr lang="zh-CN" altLang="en-US" sz="2800"/>
              <a:t>简述哪种办法允许最大的并发性，请按</a:t>
            </a:r>
            <a:r>
              <a:rPr lang="en-US" altLang="zh-CN" sz="2800"/>
              <a:t> “</a:t>
            </a:r>
            <a:r>
              <a:rPr lang="zh-CN" altLang="en-US" sz="2800"/>
              <a:t>并发性</a:t>
            </a:r>
            <a:r>
              <a:rPr lang="en-US" altLang="zh-CN" sz="2800"/>
              <a:t>”</a:t>
            </a:r>
            <a:r>
              <a:rPr lang="zh-CN" altLang="en-US" sz="2800"/>
              <a:t>从大到小对上述三种办法排序。</a:t>
            </a:r>
            <a:endParaRPr lang="zh-CN" altLang="en-US" sz="280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hidden="1"/>
          <p:cNvSpPr/>
          <p:nvPr>
            <p:custDataLst>
              <p:tags r:id="rId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2400"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5" name="标题 4"/>
          <p:cNvSpPr>
            <a:spLocks noGrp="1"/>
          </p:cNvSpPr>
          <p:nvPr>
            <p:ph type="ctrTitle"/>
          </p:nvPr>
        </p:nvSpPr>
        <p:spPr>
          <a:xfrm>
            <a:off x="4789716" y="2449461"/>
            <a:ext cx="6536871" cy="2390427"/>
          </a:xfrm>
        </p:spPr>
        <p:txBody>
          <a:bodyPr>
            <a:normAutofit/>
          </a:bodyPr>
          <a:lstStyle/>
          <a:p>
            <a:r>
              <a:rPr lang="zh-CN" altLang="en-US" sz="6600" dirty="0"/>
              <a:t>学 习 进 步 ！</a:t>
            </a:r>
            <a:endParaRPr lang="zh-CN" altLang="en-US" sz="4000" dirty="0"/>
          </a:p>
        </p:txBody>
      </p:sp>
      <p:sp>
        <p:nvSpPr>
          <p:cNvPr id="8" name="任意多边形: 形状 7"/>
          <p:cNvSpPr/>
          <p:nvPr/>
        </p:nvSpPr>
        <p:spPr>
          <a:xfrm>
            <a:off x="669925" y="2344255"/>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243012" y="602297"/>
            <a:ext cx="4698723" cy="430887"/>
          </a:xfrm>
          <a:prstGeom prst="rect">
            <a:avLst/>
          </a:prstGeom>
        </p:spPr>
        <p:txBody>
          <a:bodyPr wrap="none">
            <a:spAutoFit/>
          </a:bodyPr>
          <a:lstStyle/>
          <a:p>
            <a:pPr algn="ctr"/>
            <a:r>
              <a:rPr lang="zh-CN" altLang="en-US" sz="2200" dirty="0">
                <a:solidFill>
                  <a:schemeClr val="bg1"/>
                </a:solidFill>
                <a:sym typeface="+mn-ea"/>
              </a:rPr>
              <a:t>经典教材《计算机操作系统》</a:t>
            </a:r>
            <a:r>
              <a:rPr lang="zh-CN" altLang="en-US" sz="2200" b="1" dirty="0">
                <a:solidFill>
                  <a:schemeClr val="accent2"/>
                </a:solidFill>
                <a:sym typeface="+mn-ea"/>
              </a:rPr>
              <a:t>最新版</a:t>
            </a:r>
            <a:endParaRPr lang="zh-CN" altLang="en-US" sz="2200" b="1" dirty="0">
              <a:solidFill>
                <a:schemeClr val="accent2"/>
              </a:solidFill>
            </a:endParaRPr>
          </a:p>
        </p:txBody>
      </p:sp>
      <p:pic>
        <p:nvPicPr>
          <p:cNvPr id="12" name="图片 11"/>
          <p:cNvPicPr>
            <a:picLocks noChangeAspect="1"/>
          </p:cNvPicPr>
          <p:nvPr/>
        </p:nvPicPr>
        <p:blipFill>
          <a:blip r:embed="rId2"/>
          <a:stretch>
            <a:fillRect/>
          </a:stretch>
        </p:blipFill>
        <p:spPr>
          <a:xfrm>
            <a:off x="1673475" y="2592475"/>
            <a:ext cx="2508000" cy="3554241"/>
          </a:xfrm>
          <a:prstGeom prst="rect">
            <a:avLst/>
          </a:prstGeom>
        </p:spPr>
      </p:pic>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406400" y="522760"/>
            <a:ext cx="527050" cy="527050"/>
          </a:xfrm>
          <a:prstGeom prst="rect">
            <a:avLst/>
          </a:prstGeom>
        </p:spPr>
      </p:pic>
    </p:spTree>
  </p:cSld>
  <p:clrMapOvr>
    <a:masterClrMapping/>
  </p:clrMapOvr>
</p:sld>
</file>

<file path=ppt/tags/tag1.xml><?xml version="1.0" encoding="utf-8"?>
<p:tagLst xmlns:p="http://schemas.openxmlformats.org/presentationml/2006/main">
  <p:tag name="THINKCELLSHAPEDONOTDELETE" val="tA6S0wzOvQ8a50SA42PUNRg"/>
</p:tagLst>
</file>

<file path=ppt/tags/tag2.xml><?xml version="1.0" encoding="utf-8"?>
<p:tagLst xmlns:p="http://schemas.openxmlformats.org/presentationml/2006/main">
  <p:tag name="KSO_WM_UNIT_TABLE_BEAUTIFY" val="smartTable{b8ab0608-8f07-468f-a0fd-7764cc835be5}"/>
</p:tagLst>
</file>

<file path=ppt/tags/tag3.xml><?xml version="1.0" encoding="utf-8"?>
<p:tagLst xmlns:p="http://schemas.openxmlformats.org/presentationml/2006/main">
  <p:tag name="KSO_WM_DIAGRAM_VIRTUALLY_FRAME" val="{&quot;height&quot;:200.87629921259844,&quot;left&quot;:214.71125984251967,&quot;top&quot;:161.58779527559054,&quot;width&quot;:669.1524409448818}"/>
</p:tagLst>
</file>

<file path=ppt/tags/tag4.xml><?xml version="1.0" encoding="utf-8"?>
<p:tagLst xmlns:p="http://schemas.openxmlformats.org/presentationml/2006/main">
  <p:tag name="KSO_WM_DIAGRAM_VIRTUALLY_FRAME" val="{&quot;height&quot;:200.87629921259844,&quot;left&quot;:214.71125984251967,&quot;top&quot;:161.58779527559054,&quot;width&quot;:669.1524409448818}"/>
</p:tagLst>
</file>

<file path=ppt/tags/tag5.xml><?xml version="1.0" encoding="utf-8"?>
<p:tagLst xmlns:p="http://schemas.openxmlformats.org/presentationml/2006/main">
  <p:tag name="KSO_WM_DIAGRAM_VIRTUALLY_FRAME" val="{&quot;height&quot;:200.87629921259844,&quot;left&quot;:214.71125984251967,&quot;top&quot;:161.58779527559054,&quot;width&quot;:669.1524409448818}"/>
</p:tagLst>
</file>

<file path=ppt/tags/tag6.xml><?xml version="1.0" encoding="utf-8"?>
<p:tagLst xmlns:p="http://schemas.openxmlformats.org/presentationml/2006/main">
  <p:tag name="KSO_WM_DIAGRAM_VIRTUALLY_FRAME" val="{&quot;height&quot;:200.87629921259844,&quot;left&quot;:214.71125984251967,&quot;top&quot;:161.58779527559054,&quot;width&quot;:669.1524409448818}"/>
</p:tagLst>
</file>

<file path=ppt/tags/tag7.xml><?xml version="1.0" encoding="utf-8"?>
<p:tagLst xmlns:p="http://schemas.openxmlformats.org/presentationml/2006/main">
  <p:tag name="KSO_WM_DIAGRAM_VIRTUALLY_FRAME" val="{&quot;height&quot;:200.87629921259844,&quot;left&quot;:214.71125984251967,&quot;top&quot;:161.58779527559054,&quot;width&quot;:669.1524409448818}"/>
</p:tagLst>
</file>

<file path=ppt/tags/tag8.xml><?xml version="1.0" encoding="utf-8"?>
<p:tagLst xmlns:p="http://schemas.openxmlformats.org/presentationml/2006/main">
  <p:tag name="KSO_WM_DIAGRAM_VIRTUALLY_FRAME" val="{&quot;height&quot;:200.87629921259844,&quot;left&quot;:214.71125984251967,&quot;top&quot;:161.58779527559054,&quot;width&quot;:669.1524409448818}"/>
</p:tagLst>
</file>

<file path=ppt/tags/tag9.xml><?xml version="1.0" encoding="utf-8"?>
<p:tagLst xmlns:p="http://schemas.openxmlformats.org/presentationml/2006/main">
  <p:tag name="KSO_WM_DIAGRAM_VIRTUALLY_FRAME" val="{&quot;height&quot;:167.31259842519685,&quot;left&quot;:572.2,&quot;top&quot;:330.65,&quot;width&quot;:384.15}"/>
</p:tagLst>
</file>

<file path=ppt/tags/tag10.xml><?xml version="1.0" encoding="utf-8"?>
<p:tagLst xmlns:p="http://schemas.openxmlformats.org/presentationml/2006/main">
  <p:tag name="KSO_WM_DIAGRAM_VIRTUALLY_FRAME" val="{&quot;height&quot;:167.31259842519685,&quot;left&quot;:572.2,&quot;top&quot;:330.65,&quot;width&quot;:384.15}"/>
</p:tagLst>
</file>

<file path=ppt/tags/tag11.xml><?xml version="1.0" encoding="utf-8"?>
<p:tagLst xmlns:p="http://schemas.openxmlformats.org/presentationml/2006/main">
  <p:tag name="KSO_WM_DIAGRAM_VIRTUALLY_FRAME" val="{&quot;height&quot;:167.31259842519685,&quot;left&quot;:572.2,&quot;top&quot;:330.65,&quot;width&quot;:384.15}"/>
</p:tagLst>
</file>

<file path=ppt/tags/tag12.xml><?xml version="1.0" encoding="utf-8"?>
<p:tagLst xmlns:p="http://schemas.openxmlformats.org/presentationml/2006/main">
  <p:tag name="KSO_WM_DIAGRAM_VIRTUALLY_FRAME" val="{&quot;height&quot;:167.31259842519685,&quot;left&quot;:572.2,&quot;top&quot;:330.65,&quot;width&quot;:384.15}"/>
</p:tagLst>
</file>

<file path=ppt/tags/tag13.xml><?xml version="1.0" encoding="utf-8"?>
<p:tagLst xmlns:p="http://schemas.openxmlformats.org/presentationml/2006/main">
  <p:tag name="KSO_WM_DIAGRAM_VIRTUALLY_FRAME" val="{&quot;height&quot;:167.31259842519685,&quot;left&quot;:572.2,&quot;top&quot;:330.65,&quot;width&quot;:384.15}"/>
</p:tagLst>
</file>

<file path=ppt/tags/tag14.xml><?xml version="1.0" encoding="utf-8"?>
<p:tagLst xmlns:p="http://schemas.openxmlformats.org/presentationml/2006/main">
  <p:tag name="KSO_WM_DIAGRAM_VIRTUALLY_FRAME" val="{&quot;height&quot;:167.31259842519685,&quot;left&quot;:572.2,&quot;top&quot;:330.65,&quot;width&quot;:384.15}"/>
</p:tagLst>
</file>

<file path=ppt/tags/tag15.xml><?xml version="1.0" encoding="utf-8"?>
<p:tagLst xmlns:p="http://schemas.openxmlformats.org/presentationml/2006/main">
  <p:tag name="KSO_WM_DIAGRAM_VIRTUALLY_FRAME" val="{&quot;height&quot;:167.31259842519685,&quot;left&quot;:572.2,&quot;top&quot;:330.65,&quot;width&quot;:384.15}"/>
</p:tagLst>
</file>

<file path=ppt/tags/tag16.xml><?xml version="1.0" encoding="utf-8"?>
<p:tagLst xmlns:p="http://schemas.openxmlformats.org/presentationml/2006/main">
  <p:tag name="KSO_WM_DIAGRAM_VIRTUALLY_FRAME" val="{&quot;height&quot;:167.31259842519685,&quot;left&quot;:572.2,&quot;top&quot;:330.65,&quot;width&quot;:384.15}"/>
</p:tagLst>
</file>

<file path=ppt/tags/tag17.xml><?xml version="1.0" encoding="utf-8"?>
<p:tagLst xmlns:p="http://schemas.openxmlformats.org/presentationml/2006/main">
  <p:tag name="KSO_WM_DIAGRAM_VIRTUALLY_FRAME" val="{&quot;height&quot;:167.31259842519685,&quot;left&quot;:572.2,&quot;top&quot;:330.65,&quot;width&quot;:384.15}"/>
</p:tagLst>
</file>

<file path=ppt/tags/tag18.xml><?xml version="1.0" encoding="utf-8"?>
<p:tagLst xmlns:p="http://schemas.openxmlformats.org/presentationml/2006/main">
  <p:tag name="KSO_WM_DIAGRAM_VIRTUALLY_FRAME" val="{&quot;height&quot;:167.31259842519685,&quot;left&quot;:572.2,&quot;top&quot;:330.65,&quot;width&quot;:384.15}"/>
</p:tagLst>
</file>

<file path=ppt/tags/tag19.xml><?xml version="1.0" encoding="utf-8"?>
<p:tagLst xmlns:p="http://schemas.openxmlformats.org/presentationml/2006/main">
  <p:tag name="KSO_WM_DIAGRAM_VIRTUALLY_FRAME" val="{&quot;height&quot;:167.31259842519685,&quot;left&quot;:572.2,&quot;top&quot;:330.65,&quot;width&quot;:384.15}"/>
</p:tagLst>
</file>

<file path=ppt/tags/tag20.xml><?xml version="1.0" encoding="utf-8"?>
<p:tagLst xmlns:p="http://schemas.openxmlformats.org/presentationml/2006/main">
  <p:tag name="KSO_WM_DIAGRAM_VIRTUALLY_FRAME" val="{&quot;height&quot;:167.31259842519685,&quot;left&quot;:572.2,&quot;top&quot;:330.65,&quot;width&quot;:384.15}"/>
</p:tagLst>
</file>

<file path=ppt/tags/tag21.xml><?xml version="1.0" encoding="utf-8"?>
<p:tagLst xmlns:p="http://schemas.openxmlformats.org/presentationml/2006/main">
  <p:tag name="KSO_WM_DIAGRAM_VIRTUALLY_FRAME" val="{&quot;height&quot;:167.31259842519685,&quot;left&quot;:572.2,&quot;top&quot;:330.65,&quot;width&quot;:384.15}"/>
</p:tagLst>
</file>

<file path=ppt/tags/tag22.xml><?xml version="1.0" encoding="utf-8"?>
<p:tagLst xmlns:p="http://schemas.openxmlformats.org/presentationml/2006/main">
  <p:tag name="KSO_WM_DIAGRAM_VIRTUALLY_FRAME" val="{&quot;height&quot;:167.31259842519685,&quot;left&quot;:572.2,&quot;top&quot;:330.65,&quot;width&quot;:384.15}"/>
</p:tagLst>
</file>

<file path=ppt/tags/tag23.xml><?xml version="1.0" encoding="utf-8"?>
<p:tagLst xmlns:p="http://schemas.openxmlformats.org/presentationml/2006/main">
  <p:tag name="KSO_WM_DIAGRAM_VIRTUALLY_FRAME" val="{&quot;height&quot;:167.31259842519685,&quot;left&quot;:572.2,&quot;top&quot;:330.65,&quot;width&quot;:384.15}"/>
</p:tagLst>
</file>

<file path=ppt/tags/tag24.xml><?xml version="1.0" encoding="utf-8"?>
<p:tagLst xmlns:p="http://schemas.openxmlformats.org/presentationml/2006/main">
  <p:tag name="KSO_WM_DIAGRAM_VIRTUALLY_FRAME" val="{&quot;height&quot;:167.31259842519685,&quot;left&quot;:572.2,&quot;top&quot;:330.65,&quot;width&quot;:384.15}"/>
</p:tagLst>
</file>

<file path=ppt/tags/tag25.xml><?xml version="1.0" encoding="utf-8"?>
<p:tagLst xmlns:p="http://schemas.openxmlformats.org/presentationml/2006/main">
  <p:tag name="KSO_WM_DIAGRAM_VIRTUALLY_FRAME" val="{&quot;height&quot;:167.31259842519685,&quot;left&quot;:572.2,&quot;top&quot;:330.65,&quot;width&quot;:384.15}"/>
</p:tagLst>
</file>

<file path=ppt/tags/tag26.xml><?xml version="1.0" encoding="utf-8"?>
<p:tagLst xmlns:p="http://schemas.openxmlformats.org/presentationml/2006/main">
  <p:tag name="KSO_WM_DIAGRAM_VIRTUALLY_FRAME" val="{&quot;height&quot;:167.31259842519685,&quot;left&quot;:572.2,&quot;top&quot;:330.65,&quot;width&quot;:384.15}"/>
</p:tagLst>
</file>

<file path=ppt/tags/tag27.xml><?xml version="1.0" encoding="utf-8"?>
<p:tagLst xmlns:p="http://schemas.openxmlformats.org/presentationml/2006/main">
  <p:tag name="KSO_WM_DIAGRAM_VIRTUALLY_FRAME" val="{&quot;height&quot;:167.31259842519685,&quot;left&quot;:572.2,&quot;top&quot;:330.65,&quot;width&quot;:384.15}"/>
</p:tagLst>
</file>

<file path=ppt/tags/tag28.xml><?xml version="1.0" encoding="utf-8"?>
<p:tagLst xmlns:p="http://schemas.openxmlformats.org/presentationml/2006/main">
  <p:tag name="KSO_WM_DIAGRAM_VIRTUALLY_FRAME" val="{&quot;height&quot;:167.31259842519685,&quot;left&quot;:572.2,&quot;top&quot;:330.65,&quot;width&quot;:384.15}"/>
</p:tagLst>
</file>

<file path=ppt/tags/tag29.xml><?xml version="1.0" encoding="utf-8"?>
<p:tagLst xmlns:p="http://schemas.openxmlformats.org/presentationml/2006/main">
  <p:tag name="KSO_WM_DIAGRAM_VIRTUALLY_FRAME" val="{&quot;height&quot;:167.31259842519685,&quot;left&quot;:572.2,&quot;top&quot;:330.65,&quot;width&quot;:384.15}"/>
</p:tagLst>
</file>

<file path=ppt/tags/tag30.xml><?xml version="1.0" encoding="utf-8"?>
<p:tagLst xmlns:p="http://schemas.openxmlformats.org/presentationml/2006/main">
  <p:tag name="KSO_WM_DIAGRAM_VIRTUALLY_FRAME" val="{&quot;height&quot;:167.31259842519685,&quot;left&quot;:572.2,&quot;top&quot;:330.65,&quot;width&quot;:384.15}"/>
</p:tagLst>
</file>

<file path=ppt/tags/tag31.xml><?xml version="1.0" encoding="utf-8"?>
<p:tagLst xmlns:p="http://schemas.openxmlformats.org/presentationml/2006/main">
  <p:tag name="KSO_WM_DIAGRAM_VIRTUALLY_FRAME" val="{&quot;height&quot;:167.31259842519685,&quot;left&quot;:572.2,&quot;top&quot;:330.65,&quot;width&quot;:384.15}"/>
</p:tagLst>
</file>

<file path=ppt/tags/tag32.xml><?xml version="1.0" encoding="utf-8"?>
<p:tagLst xmlns:p="http://schemas.openxmlformats.org/presentationml/2006/main">
  <p:tag name="KSO_WM_DIAGRAM_VIRTUALLY_FRAME" val="{&quot;height&quot;:167.31259842519685,&quot;left&quot;:572.2,&quot;top&quot;:330.65,&quot;width&quot;:384.15}"/>
</p:tagLst>
</file>

<file path=ppt/tags/tag33.xml><?xml version="1.0" encoding="utf-8"?>
<p:tagLst xmlns:p="http://schemas.openxmlformats.org/presentationml/2006/main">
  <p:tag name="KSO_WM_DIAGRAM_VIRTUALLY_FRAME" val="{&quot;height&quot;:167.31259842519685,&quot;left&quot;:572.2,&quot;top&quot;:330.65,&quot;width&quot;:384.15}"/>
</p:tagLst>
</file>

<file path=ppt/tags/tag34.xml><?xml version="1.0" encoding="utf-8"?>
<p:tagLst xmlns:p="http://schemas.openxmlformats.org/presentationml/2006/main">
  <p:tag name="KSO_WM_DIAGRAM_VIRTUALLY_FRAME" val="{&quot;height&quot;:167.31259842519685,&quot;left&quot;:572.2,&quot;top&quot;:330.65,&quot;width&quot;:384.15}"/>
</p:tagLst>
</file>

<file path=ppt/tags/tag35.xml><?xml version="1.0" encoding="utf-8"?>
<p:tagLst xmlns:p="http://schemas.openxmlformats.org/presentationml/2006/main">
  <p:tag name="KSO_WM_DIAGRAM_VIRTUALLY_FRAME" val="{&quot;height&quot;:167.31259842519685,&quot;left&quot;:572.2,&quot;top&quot;:330.65,&quot;width&quot;:384.15}"/>
</p:tagLst>
</file>

<file path=ppt/tags/tag36.xml><?xml version="1.0" encoding="utf-8"?>
<p:tagLst xmlns:p="http://schemas.openxmlformats.org/presentationml/2006/main">
  <p:tag name="KSO_WM_DIAGRAM_VIRTUALLY_FRAME" val="{&quot;height&quot;:167.31259842519685,&quot;left&quot;:572.2,&quot;top&quot;:330.65,&quot;width&quot;:384.15}"/>
</p:tagLst>
</file>

<file path=ppt/tags/tag37.xml><?xml version="1.0" encoding="utf-8"?>
<p:tagLst xmlns:p="http://schemas.openxmlformats.org/presentationml/2006/main">
  <p:tag name="KSO_WM_DIAGRAM_VIRTUALLY_FRAME" val="{&quot;height&quot;:167.31259842519685,&quot;left&quot;:572.2,&quot;top&quot;:330.65,&quot;width&quot;:384.15}"/>
</p:tagLst>
</file>

<file path=ppt/tags/tag38.xml><?xml version="1.0" encoding="utf-8"?>
<p:tagLst xmlns:p="http://schemas.openxmlformats.org/presentationml/2006/main">
  <p:tag name="KSO_WM_DIAGRAM_VIRTUALLY_FRAME" val="{&quot;height&quot;:167.31259842519685,&quot;left&quot;:572.2,&quot;top&quot;:330.65,&quot;width&quot;:384.15}"/>
</p:tagLst>
</file>

<file path=ppt/tags/tag39.xml><?xml version="1.0" encoding="utf-8"?>
<p:tagLst xmlns:p="http://schemas.openxmlformats.org/presentationml/2006/main">
  <p:tag name="KSO_WM_DIAGRAM_VIRTUALLY_FRAME" val="{&quot;height&quot;:167.31259842519685,&quot;left&quot;:572.2,&quot;top&quot;:330.65,&quot;width&quot;:384.15}"/>
</p:tagLst>
</file>

<file path=ppt/tags/tag40.xml><?xml version="1.0" encoding="utf-8"?>
<p:tagLst xmlns:p="http://schemas.openxmlformats.org/presentationml/2006/main">
  <p:tag name="KSO_WM_DIAGRAM_VIRTUALLY_FRAME" val="{&quot;height&quot;:167.31259842519685,&quot;left&quot;:572.2,&quot;top&quot;:330.65,&quot;width&quot;:384.15}"/>
</p:tagLst>
</file>

<file path=ppt/tags/tag41.xml><?xml version="1.0" encoding="utf-8"?>
<p:tagLst xmlns:p="http://schemas.openxmlformats.org/presentationml/2006/main">
  <p:tag name="KSO_WM_DIAGRAM_VIRTUALLY_FRAME" val="{&quot;height&quot;:167.31259842519685,&quot;left&quot;:572.2,&quot;top&quot;:330.65,&quot;width&quot;:384.15}"/>
</p:tagLst>
</file>

<file path=ppt/tags/tag42.xml><?xml version="1.0" encoding="utf-8"?>
<p:tagLst xmlns:p="http://schemas.openxmlformats.org/presentationml/2006/main">
  <p:tag name="KSO_WM_DIAGRAM_VIRTUALLY_FRAME" val="{&quot;height&quot;:167.31259842519685,&quot;left&quot;:572.2,&quot;top&quot;:330.65,&quot;width&quot;:384.15}"/>
</p:tagLst>
</file>

<file path=ppt/tags/tag43.xml><?xml version="1.0" encoding="utf-8"?>
<p:tagLst xmlns:p="http://schemas.openxmlformats.org/presentationml/2006/main">
  <p:tag name="KSO_WM_DIAGRAM_VIRTUALLY_FRAME" val="{&quot;height&quot;:167.31259842519685,&quot;left&quot;:572.2,&quot;top&quot;:330.65,&quot;width&quot;:384.15}"/>
</p:tagLst>
</file>

<file path=ppt/tags/tag44.xml><?xml version="1.0" encoding="utf-8"?>
<p:tagLst xmlns:p="http://schemas.openxmlformats.org/presentationml/2006/main">
  <p:tag name="KSO_WM_DIAGRAM_VIRTUALLY_FRAME" val="{&quot;height&quot;:167.31259842519685,&quot;left&quot;:572.2,&quot;top&quot;:330.65,&quot;width&quot;:384.15}"/>
</p:tagLst>
</file>

<file path=ppt/tags/tag45.xml><?xml version="1.0" encoding="utf-8"?>
<p:tagLst xmlns:p="http://schemas.openxmlformats.org/presentationml/2006/main">
  <p:tag name="ISLIDE.DIAGRAM" val="272399"/>
</p:tagLst>
</file>

<file path=ppt/tags/tag46.xml><?xml version="1.0" encoding="utf-8"?>
<p:tagLst xmlns:p="http://schemas.openxmlformats.org/presentationml/2006/main">
  <p:tag name="KSO_WM_DIAGRAM_VIRTUALLY_FRAME" val="{&quot;height&quot;:201.96102362204724,&quot;left&quot;:96.66999999999999,&quot;top&quot;:129.9122834645669,&quot;width&quot;:788.7572440944882}"/>
</p:tagLst>
</file>

<file path=ppt/tags/tag47.xml><?xml version="1.0" encoding="utf-8"?>
<p:tagLst xmlns:p="http://schemas.openxmlformats.org/presentationml/2006/main">
  <p:tag name="KSO_WM_DIAGRAM_VIRTUALLY_FRAME" val="{&quot;height&quot;:201.96102362204724,&quot;left&quot;:96.66999999999999,&quot;top&quot;:129.9122834645669,&quot;width&quot;:788.7572440944882}"/>
</p:tagLst>
</file>

<file path=ppt/tags/tag48.xml><?xml version="1.0" encoding="utf-8"?>
<p:tagLst xmlns:p="http://schemas.openxmlformats.org/presentationml/2006/main">
  <p:tag name="KSO_WM_DIAGRAM_VIRTUALLY_FRAME" val="{&quot;height&quot;:201.96102362204724,&quot;left&quot;:96.66999999999999,&quot;top&quot;:129.9122834645669,&quot;width&quot;:788.7572440944882}"/>
</p:tagLst>
</file>

<file path=ppt/tags/tag49.xml><?xml version="1.0" encoding="utf-8"?>
<p:tagLst xmlns:p="http://schemas.openxmlformats.org/presentationml/2006/main">
  <p:tag name="KSO_WM_DIAGRAM_VIRTUALLY_FRAME" val="{&quot;height&quot;:201.96102362204724,&quot;left&quot;:96.66999999999999,&quot;top&quot;:129.9122834645669,&quot;width&quot;:788.7572440944882}"/>
</p:tagLst>
</file>

<file path=ppt/tags/tag50.xml><?xml version="1.0" encoding="utf-8"?>
<p:tagLst xmlns:p="http://schemas.openxmlformats.org/presentationml/2006/main">
  <p:tag name="KSO_WM_DIAGRAM_VIRTUALLY_FRAME" val="{&quot;height&quot;:201.96102362204724,&quot;left&quot;:96.66999999999999,&quot;top&quot;:129.9122834645669,&quot;width&quot;:788.7572440944882}"/>
</p:tagLst>
</file>

<file path=ppt/tags/tag51.xml><?xml version="1.0" encoding="utf-8"?>
<p:tagLst xmlns:p="http://schemas.openxmlformats.org/presentationml/2006/main">
  <p:tag name="KSO_WM_DIAGRAM_VIRTUALLY_FRAME" val="{&quot;height&quot;:201.96102362204724,&quot;left&quot;:96.66999999999999,&quot;top&quot;:129.9122834645669,&quot;width&quot;:788.7572440944882}"/>
</p:tagLst>
</file>

<file path=ppt/tags/tag52.xml><?xml version="1.0" encoding="utf-8"?>
<p:tagLst xmlns:p="http://schemas.openxmlformats.org/presentationml/2006/main">
  <p:tag name="KSO_WM_DIAGRAM_VIRTUALLY_FRAME" val="{&quot;height&quot;:201.96102362204724,&quot;left&quot;:96.66999999999999,&quot;top&quot;:129.9122834645669,&quot;width&quot;:788.7572440944882}"/>
</p:tagLst>
</file>

<file path=ppt/tags/tag53.xml><?xml version="1.0" encoding="utf-8"?>
<p:tagLst xmlns:p="http://schemas.openxmlformats.org/presentationml/2006/main">
  <p:tag name="KSO_WM_DIAGRAM_VIRTUALLY_FRAME" val="{&quot;height&quot;:201.96102362204724,&quot;left&quot;:96.66999999999999,&quot;top&quot;:129.9122834645669,&quot;width&quot;:788.7572440944882}"/>
</p:tagLst>
</file>

<file path=ppt/tags/tag54.xml><?xml version="1.0" encoding="utf-8"?>
<p:tagLst xmlns:p="http://schemas.openxmlformats.org/presentationml/2006/main">
  <p:tag name="KSO_WM_DIAGRAM_VIRTUALLY_FRAME" val="{&quot;height&quot;:201.96102362204724,&quot;left&quot;:96.66999999999999,&quot;top&quot;:129.9122834645669,&quot;width&quot;:788.7572440944882}"/>
</p:tagLst>
</file>

<file path=ppt/tags/tag55.xml><?xml version="1.0" encoding="utf-8"?>
<p:tagLst xmlns:p="http://schemas.openxmlformats.org/presentationml/2006/main">
  <p:tag name="KSO_WM_DIAGRAM_VIRTUALLY_FRAME" val="{&quot;height&quot;:201.96102362204724,&quot;left&quot;:96.66999999999999,&quot;top&quot;:129.9122834645669,&quot;width&quot;:788.7572440944882}"/>
</p:tagLst>
</file>

<file path=ppt/tags/tag56.xml><?xml version="1.0" encoding="utf-8"?>
<p:tagLst xmlns:p="http://schemas.openxmlformats.org/presentationml/2006/main">
  <p:tag name="ISLIDE.DIAGRAM" val="217641"/>
</p:tagLst>
</file>

<file path=ppt/tags/tag57.xml><?xml version="1.0" encoding="utf-8"?>
<p:tagLst xmlns:p="http://schemas.openxmlformats.org/presentationml/2006/main">
  <p:tag name="KSO_WM_DIAGRAM_VIRTUALLY_FRAME" val="{&quot;height&quot;:413.66275590551174,&quot;left&quot;:52.75,&quot;top&quot;:6.1943307086614166,&quot;width&quot;:848.7967716535434}"/>
</p:tagLst>
</file>

<file path=ppt/tags/tag58.xml><?xml version="1.0" encoding="utf-8"?>
<p:tagLst xmlns:p="http://schemas.openxmlformats.org/presentationml/2006/main">
  <p:tag name="KSO_WM_DIAGRAM_VIRTUALLY_FRAME" val="{&quot;height&quot;:313.7158267716535,&quot;left&quot;:52.758425196850396,&quot;top&quot;:106.14125984251969,&quot;width&quot;:848.7883464566928}"/>
</p:tagLst>
</file>

<file path=ppt/tags/tag59.xml><?xml version="1.0" encoding="utf-8"?>
<p:tagLst xmlns:p="http://schemas.openxmlformats.org/presentationml/2006/main">
  <p:tag name="KSO_WM_DIAGRAM_VIRTUALLY_FRAME" val="{&quot;height&quot;:313.7158267716535,&quot;left&quot;:52.758425196850396,&quot;top&quot;:106.14125984251969,&quot;width&quot;:848.7883464566928}"/>
</p:tagLst>
</file>

<file path=ppt/tags/tag60.xml><?xml version="1.0" encoding="utf-8"?>
<p:tagLst xmlns:p="http://schemas.openxmlformats.org/presentationml/2006/main">
  <p:tag name="KSO_WM_DIAGRAM_VIRTUALLY_FRAME" val="{&quot;height&quot;:413.66275590551174,&quot;left&quot;:52.75,&quot;top&quot;:6.1943307086614166,&quot;width&quot;:848.7967716535434}"/>
</p:tagLst>
</file>

<file path=ppt/tags/tag61.xml><?xml version="1.0" encoding="utf-8"?>
<p:tagLst xmlns:p="http://schemas.openxmlformats.org/presentationml/2006/main">
  <p:tag name="KSO_WM_DIAGRAM_VIRTUALLY_FRAME" val="{&quot;height&quot;:413.66275590551174,&quot;left&quot;:52.75,&quot;top&quot;:6.1943307086614166,&quot;width&quot;:848.7967716535434}"/>
</p:tagLst>
</file>

<file path=ppt/tags/tag62.xml><?xml version="1.0" encoding="utf-8"?>
<p:tagLst xmlns:p="http://schemas.openxmlformats.org/presentationml/2006/main">
  <p:tag name="KSO_WM_DIAGRAM_VIRTUALLY_FRAME" val="{&quot;height&quot;:413.66275590551174,&quot;left&quot;:52.75,&quot;top&quot;:6.1943307086614166,&quot;width&quot;:848.7967716535434}"/>
</p:tagLst>
</file>

<file path=ppt/tags/tag63.xml><?xml version="1.0" encoding="utf-8"?>
<p:tagLst xmlns:p="http://schemas.openxmlformats.org/presentationml/2006/main">
  <p:tag name="ISLIDE.DIAGRAM" val="217641"/>
</p:tagLst>
</file>

<file path=ppt/tags/tag64.xml><?xml version="1.0" encoding="utf-8"?>
<p:tagLst xmlns:p="http://schemas.openxmlformats.org/presentationml/2006/main">
  <p:tag name="ISLIDE.DIAGRAM" val="217641"/>
  <p:tag name="KSO_WM_DIAGRAM_VIRTUALLY_FRAME" val="{&quot;height&quot;:377.08913385826776,&quot;left&quot;:10.641732283464535,&quot;top&quot;:100.04181102362205,&quot;width&quot;:902.3452755905513}"/>
</p:tagLst>
</file>

<file path=ppt/tags/tag65.xml><?xml version="1.0" encoding="utf-8"?>
<p:tagLst xmlns:p="http://schemas.openxmlformats.org/presentationml/2006/main">
  <p:tag name="KSO_WM_DIAGRAM_VIRTUALLY_FRAME" val="{&quot;height&quot;:377.08913385826776,&quot;left&quot;:10.641732283464535,&quot;top&quot;:100.04181102362205,&quot;width&quot;:902.3452755905513}"/>
</p:tagLst>
</file>

<file path=ppt/tags/tag66.xml><?xml version="1.0" encoding="utf-8"?>
<p:tagLst xmlns:p="http://schemas.openxmlformats.org/presentationml/2006/main">
  <p:tag name="KSO_WM_DIAGRAM_VIRTUALLY_FRAME" val="{&quot;height&quot;:377.08913385826776,&quot;left&quot;:10.641732283464535,&quot;top&quot;:100.04181102362205,&quot;width&quot;:902.3452755905513}"/>
</p:tagLst>
</file>

<file path=ppt/tags/tag67.xml><?xml version="1.0" encoding="utf-8"?>
<p:tagLst xmlns:p="http://schemas.openxmlformats.org/presentationml/2006/main">
  <p:tag name="KSO_WM_DIAGRAM_VIRTUALLY_FRAME" val="{&quot;height&quot;:377.08913385826776,&quot;left&quot;:10.641732283464535,&quot;top&quot;:100.04181102362205,&quot;width&quot;:902.3452755905513}"/>
</p:tagLst>
</file>

<file path=ppt/tags/tag68.xml><?xml version="1.0" encoding="utf-8"?>
<p:tagLst xmlns:p="http://schemas.openxmlformats.org/presentationml/2006/main">
  <p:tag name="KSO_WM_DIAGRAM_VIRTUALLY_FRAME" val="{&quot;height&quot;:377.08913385826776,&quot;left&quot;:10.641732283464535,&quot;top&quot;:100.04181102362205,&quot;width&quot;:902.3452755905513}"/>
</p:tagLst>
</file>

<file path=ppt/tags/tag69.xml><?xml version="1.0" encoding="utf-8"?>
<p:tagLst xmlns:p="http://schemas.openxmlformats.org/presentationml/2006/main">
  <p:tag name="KSO_WM_DIAGRAM_VIRTUALLY_FRAME" val="{&quot;height&quot;:377.08913385826776,&quot;left&quot;:10.641732283464535,&quot;top&quot;:100.04181102362205,&quot;width&quot;:902.3452755905513}"/>
</p:tagLst>
</file>

<file path=ppt/tags/tag70.xml><?xml version="1.0" encoding="utf-8"?>
<p:tagLst xmlns:p="http://schemas.openxmlformats.org/presentationml/2006/main">
  <p:tag name="KSO_WM_DIAGRAM_VIRTUALLY_FRAME" val="{&quot;height&quot;:377.08913385826776,&quot;left&quot;:10.641732283464535,&quot;top&quot;:100.04181102362205,&quot;width&quot;:902.3452755905513}"/>
</p:tagLst>
</file>

<file path=ppt/tags/tag71.xml><?xml version="1.0" encoding="utf-8"?>
<p:tagLst xmlns:p="http://schemas.openxmlformats.org/presentationml/2006/main">
  <p:tag name="KSO_WM_DIAGRAM_VIRTUALLY_FRAME" val="{&quot;height&quot;:377.08913385826776,&quot;left&quot;:10.641732283464535,&quot;top&quot;:100.04181102362205,&quot;width&quot;:902.3452755905513}"/>
</p:tagLst>
</file>

<file path=ppt/tags/tag72.xml><?xml version="1.0" encoding="utf-8"?>
<p:tagLst xmlns:p="http://schemas.openxmlformats.org/presentationml/2006/main">
  <p:tag name="KSO_WM_DIAGRAM_VIRTUALLY_FRAME" val="{&quot;height&quot;:377.08913385826776,&quot;left&quot;:10.641732283464535,&quot;top&quot;:100.04181102362205,&quot;width&quot;:902.3452755905513}"/>
</p:tagLst>
</file>

<file path=ppt/tags/tag73.xml><?xml version="1.0" encoding="utf-8"?>
<p:tagLst xmlns:p="http://schemas.openxmlformats.org/presentationml/2006/main">
  <p:tag name="KSO_WM_DIAGRAM_VIRTUALLY_FRAME" val="{&quot;height&quot;:377.08913385826776,&quot;left&quot;:10.641732283464535,&quot;top&quot;:100.04181102362205,&quot;width&quot;:902.3452755905513}"/>
</p:tagLst>
</file>

<file path=ppt/tags/tag74.xml><?xml version="1.0" encoding="utf-8"?>
<p:tagLst xmlns:p="http://schemas.openxmlformats.org/presentationml/2006/main">
  <p:tag name="KSO_WM_DIAGRAM_VIRTUALLY_FRAME" val="{&quot;height&quot;:377.08913385826776,&quot;left&quot;:10.641732283464535,&quot;top&quot;:100.04181102362205,&quot;width&quot;:902.3452755905513}"/>
</p:tagLst>
</file>

<file path=ppt/tags/tag75.xml><?xml version="1.0" encoding="utf-8"?>
<p:tagLst xmlns:p="http://schemas.openxmlformats.org/presentationml/2006/main">
  <p:tag name="KSO_WM_DIAGRAM_VIRTUALLY_FRAME" val="{&quot;height&quot;:377.08913385826776,&quot;left&quot;:10.641732283464535,&quot;top&quot;:100.04181102362205,&quot;width&quot;:902.3452755905513}"/>
</p:tagLst>
</file>

<file path=ppt/tags/tag76.xml><?xml version="1.0" encoding="utf-8"?>
<p:tagLst xmlns:p="http://schemas.openxmlformats.org/presentationml/2006/main">
  <p:tag name="KSO_WM_DIAGRAM_VIRTUALLY_FRAME" val="{&quot;height&quot;:377.08913385826776,&quot;left&quot;:10.641732283464535,&quot;top&quot;:100.04181102362205,&quot;width&quot;:902.3452755905513}"/>
</p:tagLst>
</file>

<file path=ppt/tags/tag77.xml><?xml version="1.0" encoding="utf-8"?>
<p:tagLst xmlns:p="http://schemas.openxmlformats.org/presentationml/2006/main">
  <p:tag name="KSO_WM_DIAGRAM_VIRTUALLY_FRAME" val="{&quot;height&quot;:377.08913385826776,&quot;left&quot;:10.641732283464535,&quot;top&quot;:100.04181102362205,&quot;width&quot;:902.3452755905513}"/>
</p:tagLst>
</file>

<file path=ppt/tags/tag78.xml><?xml version="1.0" encoding="utf-8"?>
<p:tagLst xmlns:p="http://schemas.openxmlformats.org/presentationml/2006/main">
  <p:tag name="KSO_WM_DIAGRAM_VIRTUALLY_FRAME" val="{&quot;height&quot;:377.08913385826776,&quot;left&quot;:10.641732283464535,&quot;top&quot;:100.04181102362205,&quot;width&quot;:902.3452755905513}"/>
</p:tagLst>
</file>

<file path=ppt/tags/tag79.xml><?xml version="1.0" encoding="utf-8"?>
<p:tagLst xmlns:p="http://schemas.openxmlformats.org/presentationml/2006/main">
  <p:tag name="KSO_WM_DIAGRAM_VIRTUALLY_FRAME" val="{&quot;height&quot;:377.08913385826776,&quot;left&quot;:10.641732283464535,&quot;top&quot;:100.04181102362205,&quot;width&quot;:902.3452755905513}"/>
</p:tagLst>
</file>

<file path=ppt/tags/tag80.xml><?xml version="1.0" encoding="utf-8"?>
<p:tagLst xmlns:p="http://schemas.openxmlformats.org/presentationml/2006/main">
  <p:tag name="KSO_WM_DIAGRAM_VIRTUALLY_FRAME" val="{&quot;height&quot;:377.08913385826776,&quot;left&quot;:10.641732283464535,&quot;top&quot;:100.04181102362205,&quot;width&quot;:902.3452755905513}"/>
</p:tagLst>
</file>

<file path=ppt/tags/tag81.xml><?xml version="1.0" encoding="utf-8"?>
<p:tagLst xmlns:p="http://schemas.openxmlformats.org/presentationml/2006/main">
  <p:tag name="KSO_WM_DIAGRAM_VIRTUALLY_FRAME" val="{&quot;height&quot;:377.08913385826776,&quot;left&quot;:10.641732283464535,&quot;top&quot;:100.04181102362205,&quot;width&quot;:902.3452755905513}"/>
</p:tagLst>
</file>

<file path=ppt/tags/tag82.xml><?xml version="1.0" encoding="utf-8"?>
<p:tagLst xmlns:p="http://schemas.openxmlformats.org/presentationml/2006/main">
  <p:tag name="KSO_WM_DIAGRAM_VIRTUALLY_FRAME" val="{&quot;height&quot;:394,&quot;left&quot;:323.0765354330709,&quot;top&quot;:92.79614173228347,&quot;width&quot;:591.0387401574801}"/>
</p:tagLst>
</file>

<file path=ppt/tags/tag83.xml><?xml version="1.0" encoding="utf-8"?>
<p:tagLst xmlns:p="http://schemas.openxmlformats.org/presentationml/2006/main">
  <p:tag name="KSO_WM_DIAGRAM_VIRTUALLY_FRAME" val="{&quot;height&quot;:394,&quot;left&quot;:323.0765354330709,&quot;top&quot;:92.79614173228347,&quot;width&quot;:591.0387401574801}"/>
</p:tagLst>
</file>

<file path=ppt/tags/tag84.xml><?xml version="1.0" encoding="utf-8"?>
<p:tagLst xmlns:p="http://schemas.openxmlformats.org/presentationml/2006/main">
  <p:tag name="KSO_WM_DIAGRAM_VIRTUALLY_FRAME" val="{&quot;height&quot;:394,&quot;left&quot;:323.0765354330709,&quot;top&quot;:92.79614173228347,&quot;width&quot;:591.0387401574801}"/>
</p:tagLst>
</file>

<file path=ppt/tags/tag85.xml><?xml version="1.0" encoding="utf-8"?>
<p:tagLst xmlns:p="http://schemas.openxmlformats.org/presentationml/2006/main">
  <p:tag name="KSO_WM_DIAGRAM_VIRTUALLY_FRAME" val="{&quot;height&quot;:394,&quot;left&quot;:323.0765354330709,&quot;top&quot;:92.79614173228347,&quot;width&quot;:591.0387401574801}"/>
</p:tagLst>
</file>

<file path=ppt/tags/tag86.xml><?xml version="1.0" encoding="utf-8"?>
<p:tagLst xmlns:p="http://schemas.openxmlformats.org/presentationml/2006/main">
  <p:tag name="KSO_WM_DIAGRAM_VIRTUALLY_FRAME" val="{&quot;height&quot;:394,&quot;left&quot;:323.0765354330709,&quot;top&quot;:92.79614173228347,&quot;width&quot;:591.0387401574801}"/>
</p:tagLst>
</file>

<file path=ppt/tags/tag87.xml><?xml version="1.0" encoding="utf-8"?>
<p:tagLst xmlns:p="http://schemas.openxmlformats.org/presentationml/2006/main">
  <p:tag name="TABLE_ENDDRAG_ORIGIN_RECT" val="738*167"/>
  <p:tag name="TABLE_ENDDRAG_RECT" val="116*182*738*167"/>
</p:tagLst>
</file>

<file path=ppt/tags/tag88.xml><?xml version="1.0" encoding="utf-8"?>
<p:tagLst xmlns:p="http://schemas.openxmlformats.org/presentationml/2006/main">
  <p:tag name="TABLE_ENDDRAG_ORIGIN_RECT" val="772*168"/>
  <p:tag name="TABLE_ENDDRAG_RECT" val="33*46*772*168"/>
</p:tagLst>
</file>

<file path=ppt/tags/tag89.xml><?xml version="1.0" encoding="utf-8"?>
<p:tagLst xmlns:p="http://schemas.openxmlformats.org/presentationml/2006/main">
  <p:tag name="KSO_WM_DIAGRAM_VIRTUALLY_FRAME" val="{&quot;height&quot;:394,&quot;left&quot;:323.0765354330709,&quot;top&quot;:92.79614173228347,&quot;width&quot;:591.0387401574801}"/>
</p:tagLst>
</file>

<file path=ppt/tags/tag90.xml><?xml version="1.0" encoding="utf-8"?>
<p:tagLst xmlns:p="http://schemas.openxmlformats.org/presentationml/2006/main">
  <p:tag name="TABLE_ENDDRAG_ORIGIN_RECT" val="921*287"/>
  <p:tag name="TABLE_ENDDRAG_RECT" val="25*296*921*287"/>
</p:tagLst>
</file>

<file path=ppt/tags/tag91.xml><?xml version="1.0" encoding="utf-8"?>
<p:tagLst xmlns:p="http://schemas.openxmlformats.org/presentationml/2006/main">
  <p:tag name="TABLE_ENDDRAG_ORIGIN_RECT" val="772*168"/>
  <p:tag name="TABLE_ENDDRAG_RECT" val="33*46*772*168"/>
</p:tagLst>
</file>

<file path=ppt/tags/tag92.xml><?xml version="1.0" encoding="utf-8"?>
<p:tagLst xmlns:p="http://schemas.openxmlformats.org/presentationml/2006/main">
  <p:tag name="TABLE_ENDDRAG_ORIGIN_RECT" val="772*168"/>
  <p:tag name="TABLE_ENDDRAG_RECT" val="33*46*772*168"/>
</p:tagLst>
</file>

<file path=ppt/tags/tag93.xml><?xml version="1.0" encoding="utf-8"?>
<p:tagLst xmlns:p="http://schemas.openxmlformats.org/presentationml/2006/main">
  <p:tag name="KSO_WM_DIAGRAM_VIRTUALLY_FRAME" val="{&quot;height&quot;:394,&quot;left&quot;:323.0765354330709,&quot;top&quot;:92.79614173228347,&quot;width&quot;:591.0387401574801}"/>
</p:tagLst>
</file>

<file path=ppt/tags/tag94.xml><?xml version="1.0" encoding="utf-8"?>
<p:tagLst xmlns:p="http://schemas.openxmlformats.org/presentationml/2006/main">
  <p:tag name="TABLE_ENDDRAG_ORIGIN_RECT" val="772*168"/>
  <p:tag name="TABLE_ENDDRAG_RECT" val="33*46*772*168"/>
</p:tagLst>
</file>

<file path=ppt/tags/tag95.xml><?xml version="1.0" encoding="utf-8"?>
<p:tagLst xmlns:p="http://schemas.openxmlformats.org/presentationml/2006/main">
  <p:tag name="KSO_WM_DIAGRAM_VIRTUALLY_FRAME" val="{&quot;height&quot;:334.69622047244087,&quot;left&quot;:92.08015748031497,&quot;top&quot;:113.32503937007873,&quot;width&quot;:472.8994488188976}"/>
</p:tagLst>
</file>

<file path=ppt/tags/tag96.xml><?xml version="1.0" encoding="utf-8"?>
<p:tagLst xmlns:p="http://schemas.openxmlformats.org/presentationml/2006/main">
  <p:tag name="KSO_WM_DIAGRAM_VIRTUALLY_FRAME" val="{&quot;height&quot;:334.69622047244087,&quot;left&quot;:92.08015748031497,&quot;top&quot;:113.32503937007873,&quot;width&quot;:472.8994488188976}"/>
</p:tagLst>
</file>

<file path=ppt/tags/tag97.xml><?xml version="1.0" encoding="utf-8"?>
<p:tagLst xmlns:p="http://schemas.openxmlformats.org/presentationml/2006/main">
  <p:tag name="KSO_WM_DIAGRAM_VIRTUALLY_FRAME" val="{&quot;height&quot;:334.69622047244087,&quot;left&quot;:92.08015748031497,&quot;top&quot;:113.32503937007873,&quot;width&quot;:472.8994488188976}"/>
</p:tagLst>
</file>

<file path=ppt/tags/tag98.xml><?xml version="1.0" encoding="utf-8"?>
<p:tagLst xmlns:p="http://schemas.openxmlformats.org/presentationml/2006/main">
  <p:tag name="KSO_WM_DIAGRAM_VIRTUALLY_FRAME" val="{&quot;height&quot;:334.69622047244087,&quot;left&quot;:92.08015748031497,&quot;top&quot;:113.32503937007873,&quot;width&quot;:472.8994488188976}"/>
</p:tagLst>
</file>

<file path=ppt/tags/tag99.xml><?xml version="1.0" encoding="utf-8"?>
<p:tagLst xmlns:p="http://schemas.openxmlformats.org/presentationml/2006/main">
  <p:tag name="KSO_WM_DIAGRAM_VIRTUALLY_FRAME" val="{&quot;height&quot;:334.69622047244087,&quot;left&quot;:92.08015748031497,&quot;top&quot;:113.32503937007873,&quot;width&quot;:472.8994488188976}"/>
</p:tagLst>
</file>

<file path=ppt/tags/tag100.xml><?xml version="1.0" encoding="utf-8"?>
<p:tagLst xmlns:p="http://schemas.openxmlformats.org/presentationml/2006/main">
  <p:tag name="KSO_WM_DIAGRAM_VIRTUALLY_FRAME" val="{&quot;height&quot;:334.69622047244087,&quot;left&quot;:92.08015748031497,&quot;top&quot;:113.32503937007873,&quot;width&quot;:472.8994488188976}"/>
</p:tagLst>
</file>

<file path=ppt/tags/tag101.xml><?xml version="1.0" encoding="utf-8"?>
<p:tagLst xmlns:p="http://schemas.openxmlformats.org/presentationml/2006/main">
  <p:tag name="KSO_WM_DIAGRAM_VIRTUALLY_FRAME" val="{&quot;height&quot;:334.69622047244087,&quot;left&quot;:92.08015748031497,&quot;top&quot;:113.32503937007873,&quot;width&quot;:472.8994488188976}"/>
</p:tagLst>
</file>

<file path=ppt/tags/tag102.xml><?xml version="1.0" encoding="utf-8"?>
<p:tagLst xmlns:p="http://schemas.openxmlformats.org/presentationml/2006/main">
  <p:tag name="KSO_WM_DIAGRAM_VIRTUALLY_FRAME" val="{&quot;height&quot;:334.69622047244087,&quot;left&quot;:92.08015748031497,&quot;top&quot;:113.32503937007873,&quot;width&quot;:472.8994488188976}"/>
</p:tagLst>
</file>

<file path=ppt/tags/tag103.xml><?xml version="1.0" encoding="utf-8"?>
<p:tagLst xmlns:p="http://schemas.openxmlformats.org/presentationml/2006/main">
  <p:tag name="KSO_WM_DIAGRAM_VIRTUALLY_FRAME" val="{&quot;height&quot;:334.69622047244087,&quot;left&quot;:92.08015748031497,&quot;top&quot;:113.32503937007873,&quot;width&quot;:472.8994488188976}"/>
</p:tagLst>
</file>

<file path=ppt/tags/tag104.xml><?xml version="1.0" encoding="utf-8"?>
<p:tagLst xmlns:p="http://schemas.openxmlformats.org/presentationml/2006/main">
  <p:tag name="KSO_WM_DIAGRAM_VIRTUALLY_FRAME" val="{&quot;height&quot;:334.69622047244087,&quot;left&quot;:92.08015748031497,&quot;top&quot;:113.32503937007873,&quot;width&quot;:472.8994488188976}"/>
</p:tagLst>
</file>

<file path=ppt/tags/tag105.xml><?xml version="1.0" encoding="utf-8"?>
<p:tagLst xmlns:p="http://schemas.openxmlformats.org/presentationml/2006/main">
  <p:tag name="KSO_WM_DIAGRAM_VIRTUALLY_FRAME" val="{&quot;height&quot;:334.69622047244087,&quot;left&quot;:92.08015748031497,&quot;top&quot;:113.32503937007873,&quot;width&quot;:472.8994488188976}"/>
</p:tagLst>
</file>

<file path=ppt/tags/tag106.xml><?xml version="1.0" encoding="utf-8"?>
<p:tagLst xmlns:p="http://schemas.openxmlformats.org/presentationml/2006/main">
  <p:tag name="KSO_WM_DIAGRAM_VIRTUALLY_FRAME" val="{&quot;height&quot;:334.69622047244087,&quot;left&quot;:92.08015748031497,&quot;top&quot;:113.32503937007873,&quot;width&quot;:472.8994488188976}"/>
</p:tagLst>
</file>

<file path=ppt/tags/tag107.xml><?xml version="1.0" encoding="utf-8"?>
<p:tagLst xmlns:p="http://schemas.openxmlformats.org/presentationml/2006/main">
  <p:tag name="KSO_WM_DIAGRAM_VIRTUALLY_FRAME" val="{&quot;height&quot;:334.69622047244087,&quot;left&quot;:92.08015748031497,&quot;top&quot;:113.32503937007873,&quot;width&quot;:472.8994488188976}"/>
</p:tagLst>
</file>

<file path=ppt/tags/tag108.xml><?xml version="1.0" encoding="utf-8"?>
<p:tagLst xmlns:p="http://schemas.openxmlformats.org/presentationml/2006/main">
  <p:tag name="KSO_WM_DIAGRAM_VIRTUALLY_FRAME" val="{&quot;height&quot;:334.69622047244087,&quot;left&quot;:92.08015748031497,&quot;top&quot;:113.32503937007873,&quot;width&quot;:472.8994488188976}"/>
</p:tagLst>
</file>

<file path=ppt/tags/tag109.xml><?xml version="1.0" encoding="utf-8"?>
<p:tagLst xmlns:p="http://schemas.openxmlformats.org/presentationml/2006/main">
  <p:tag name="KSO_WM_DIAGRAM_VIRTUALLY_FRAME" val="{&quot;height&quot;:207.36535433070867,&quot;left&quot;:30.826062992125987,&quot;top&quot;:89.53472440944881,&quot;width&quot;:844.347874015748}"/>
</p:tagLst>
</file>

<file path=ppt/tags/tag110.xml><?xml version="1.0" encoding="utf-8"?>
<p:tagLst xmlns:p="http://schemas.openxmlformats.org/presentationml/2006/main">
  <p:tag name="KSO_WM_DIAGRAM_VIRTUALLY_FRAME" val="{&quot;height&quot;:207.36535433070867,&quot;left&quot;:30.826062992125987,&quot;top&quot;:89.53472440944881,&quot;width&quot;:844.347874015748}"/>
</p:tagLst>
</file>

<file path=ppt/tags/tag111.xml><?xml version="1.0" encoding="utf-8"?>
<p:tagLst xmlns:p="http://schemas.openxmlformats.org/presentationml/2006/main">
  <p:tag name="KSO_WM_DIAGRAM_VIRTUALLY_FRAME" val="{&quot;height&quot;:207.36535433070867,&quot;left&quot;:30.826062992125987,&quot;top&quot;:89.53472440944881,&quot;width&quot;:844.347874015748}"/>
</p:tagLst>
</file>

<file path=ppt/tags/tag112.xml><?xml version="1.0" encoding="utf-8"?>
<p:tagLst xmlns:p="http://schemas.openxmlformats.org/presentationml/2006/main">
  <p:tag name="KSO_WM_DIAGRAM_VIRTUALLY_FRAME" val="{&quot;height&quot;:207.36535433070867,&quot;left&quot;:30.826062992125987,&quot;top&quot;:89.53472440944881,&quot;width&quot;:844.347874015748}"/>
</p:tagLst>
</file>

<file path=ppt/tags/tag113.xml><?xml version="1.0" encoding="utf-8"?>
<p:tagLst xmlns:p="http://schemas.openxmlformats.org/presentationml/2006/main">
  <p:tag name="KSO_WM_DIAGRAM_VIRTUALLY_FRAME" val="{&quot;height&quot;:207.36535433070867,&quot;left&quot;:30.826062992125987,&quot;top&quot;:89.53472440944881,&quot;width&quot;:844.347874015748}"/>
</p:tagLst>
</file>

<file path=ppt/tags/tag114.xml><?xml version="1.0" encoding="utf-8"?>
<p:tagLst xmlns:p="http://schemas.openxmlformats.org/presentationml/2006/main">
  <p:tag name="KSO_WM_DIAGRAM_VIRTUALLY_FRAME" val="{&quot;height&quot;:207.36535433070867,&quot;left&quot;:30.826062992125987,&quot;top&quot;:89.53472440944881,&quot;width&quot;:844.347874015748}"/>
</p:tagLst>
</file>

<file path=ppt/tags/tag115.xml><?xml version="1.0" encoding="utf-8"?>
<p:tagLst xmlns:p="http://schemas.openxmlformats.org/presentationml/2006/main">
  <p:tag name="THINKCELLSHAPEDONOTDELETE" val="t1Smkff3fSzGMOuItfjj3Fw"/>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11488</Words>
  <Application>WPS 演示</Application>
  <PresentationFormat>自定义</PresentationFormat>
  <Paragraphs>1569</Paragraphs>
  <Slides>83</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83</vt:i4>
      </vt:variant>
    </vt:vector>
  </HeadingPairs>
  <TitlesOfParts>
    <vt:vector size="100" baseType="lpstr">
      <vt:lpstr>Arial</vt:lpstr>
      <vt:lpstr>宋体</vt:lpstr>
      <vt:lpstr>Wingdings</vt:lpstr>
      <vt:lpstr>微软雅黑</vt:lpstr>
      <vt:lpstr>微软雅黑 (正文)</vt:lpstr>
      <vt:lpstr>黑体</vt:lpstr>
      <vt:lpstr>华文楷体</vt:lpstr>
      <vt:lpstr>Wingdings</vt:lpstr>
      <vt:lpstr>Wingdings 2</vt:lpstr>
      <vt:lpstr>Perpetua</vt:lpstr>
      <vt:lpstr>Arial Unicode MS</vt:lpstr>
      <vt:lpstr>Calibri</vt:lpstr>
      <vt:lpstr>Monotype Sorts</vt:lpstr>
      <vt:lpstr>Helvetica</vt:lpstr>
      <vt:lpstr>Symbol</vt:lpstr>
      <vt:lpstr>Times New Roman</vt:lpstr>
      <vt:lpstr>主题5</vt:lpstr>
      <vt:lpstr>第3章  处理机调度与死锁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学 习 进 步 ！</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沉默是金</cp:lastModifiedBy>
  <cp:revision>416</cp:revision>
  <cp:lastPrinted>2019-04-18T16:00:00Z</cp:lastPrinted>
  <dcterms:created xsi:type="dcterms:W3CDTF">2019-04-18T16:00:00Z</dcterms:created>
  <dcterms:modified xsi:type="dcterms:W3CDTF">2026-01-11T06:30:53Z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1F32A16F52204023B92D71D51B50A55C_12</vt:lpwstr>
  </property>
  <property fmtid="{D5CDD505-2E9C-101B-9397-08002B2CF9AE}" pid="4" name="KSOProductBuildVer">
    <vt:lpwstr>2052-12.1.0.23125</vt:lpwstr>
  </property>
</Properties>
</file>