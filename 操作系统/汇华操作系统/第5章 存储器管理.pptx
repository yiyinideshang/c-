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311" r:id="rId3"/>
    <p:sldId id="312" r:id="rId4"/>
    <p:sldId id="315" r:id="rId5"/>
    <p:sldId id="450" r:id="rId7"/>
    <p:sldId id="297" r:id="rId8"/>
    <p:sldId id="451" r:id="rId9"/>
    <p:sldId id="452" r:id="rId10"/>
    <p:sldId id="453" r:id="rId11"/>
    <p:sldId id="454" r:id="rId12"/>
    <p:sldId id="365" r:id="rId13"/>
    <p:sldId id="362" r:id="rId14"/>
    <p:sldId id="449" r:id="rId15"/>
    <p:sldId id="366" r:id="rId16"/>
    <p:sldId id="368" r:id="rId17"/>
    <p:sldId id="455" r:id="rId18"/>
    <p:sldId id="456" r:id="rId19"/>
    <p:sldId id="377" r:id="rId20"/>
    <p:sldId id="376" r:id="rId21"/>
    <p:sldId id="305" r:id="rId22"/>
    <p:sldId id="779" r:id="rId23"/>
    <p:sldId id="777" r:id="rId24"/>
    <p:sldId id="319" r:id="rId25"/>
    <p:sldId id="379" r:id="rId26"/>
    <p:sldId id="517" r:id="rId27"/>
    <p:sldId id="568" r:id="rId28"/>
    <p:sldId id="380" r:id="rId29"/>
    <p:sldId id="369" r:id="rId30"/>
    <p:sldId id="382" r:id="rId31"/>
    <p:sldId id="383" r:id="rId32"/>
    <p:sldId id="522" r:id="rId33"/>
    <p:sldId id="323" r:id="rId34"/>
    <p:sldId id="523" r:id="rId35"/>
    <p:sldId id="524" r:id="rId36"/>
    <p:sldId id="388" r:id="rId37"/>
    <p:sldId id="525" r:id="rId38"/>
    <p:sldId id="320" r:id="rId39"/>
    <p:sldId id="386" r:id="rId40"/>
    <p:sldId id="615" r:id="rId41"/>
    <p:sldId id="393" r:id="rId42"/>
    <p:sldId id="671" r:id="rId43"/>
    <p:sldId id="390" r:id="rId44"/>
    <p:sldId id="398" r:id="rId45"/>
    <p:sldId id="672" r:id="rId46"/>
    <p:sldId id="780" r:id="rId47"/>
    <p:sldId id="394" r:id="rId48"/>
    <p:sldId id="395" r:id="rId49"/>
    <p:sldId id="703" r:id="rId50"/>
    <p:sldId id="704" r:id="rId51"/>
    <p:sldId id="705" r:id="rId52"/>
    <p:sldId id="707" r:id="rId53"/>
    <p:sldId id="708" r:id="rId54"/>
    <p:sldId id="706" r:id="rId55"/>
    <p:sldId id="750" r:id="rId56"/>
    <p:sldId id="307" r:id="rId57"/>
    <p:sldId id="673" r:id="rId58"/>
    <p:sldId id="321" r:id="rId59"/>
    <p:sldId id="400" r:id="rId60"/>
    <p:sldId id="402" r:id="rId61"/>
    <p:sldId id="405" r:id="rId62"/>
    <p:sldId id="781" r:id="rId63"/>
    <p:sldId id="734" r:id="rId64"/>
    <p:sldId id="785" r:id="rId65"/>
    <p:sldId id="408" r:id="rId66"/>
    <p:sldId id="406" r:id="rId67"/>
    <p:sldId id="409" r:id="rId68"/>
    <p:sldId id="326" r:id="rId69"/>
    <p:sldId id="411" r:id="rId70"/>
    <p:sldId id="412" r:id="rId71"/>
    <p:sldId id="783" r:id="rId72"/>
    <p:sldId id="784" r:id="rId73"/>
    <p:sldId id="306" r:id="rId74"/>
    <p:sldId id="419" r:id="rId75"/>
    <p:sldId id="418" r:id="rId76"/>
    <p:sldId id="772" r:id="rId77"/>
    <p:sldId id="261" r:id="rId78"/>
  </p:sldIdLst>
  <p:sldSz cx="12192000" cy="6858000"/>
  <p:notesSz cx="6858000" cy="9144000"/>
  <p:custDataLst>
    <p:tags r:id="rId8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6" userDrawn="1">
          <p15:clr>
            <a:srgbClr val="A4A3A4"/>
          </p15:clr>
        </p15:guide>
        <p15:guide id="2" pos="384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57525634" name="梁伟" initials="梁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343FA"/>
    <a:srgbClr val="B5C797"/>
    <a:srgbClr val="FFC000"/>
    <a:srgbClr val="B6C0FD"/>
    <a:srgbClr val="FFF2CC"/>
    <a:srgbClr val="6ABBF5"/>
    <a:srgbClr val="00005C"/>
    <a:srgbClr val="E7E8EB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6182" autoAdjust="0"/>
  </p:normalViewPr>
  <p:slideViewPr>
    <p:cSldViewPr snapToGrid="0" showGuides="1">
      <p:cViewPr varScale="1">
        <p:scale>
          <a:sx n="114" d="100"/>
          <a:sy n="114" d="100"/>
        </p:scale>
        <p:origin x="-300" y="-108"/>
      </p:cViewPr>
      <p:guideLst>
        <p:guide orient="horz" pos="2246"/>
        <p:guide pos="384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3" Type="http://schemas.openxmlformats.org/officeDocument/2006/relationships/tags" Target="tags/tag50.xml"/><Relationship Id="rId82" Type="http://schemas.openxmlformats.org/officeDocument/2006/relationships/commentAuthors" Target="commentAuthors.xml"/><Relationship Id="rId81" Type="http://schemas.openxmlformats.org/officeDocument/2006/relationships/tableStyles" Target="tableStyles.xml"/><Relationship Id="rId80" Type="http://schemas.openxmlformats.org/officeDocument/2006/relationships/viewProps" Target="viewProps.xml"/><Relationship Id="rId8" Type="http://schemas.openxmlformats.org/officeDocument/2006/relationships/slide" Target="slides/slide5.xml"/><Relationship Id="rId79" Type="http://schemas.openxmlformats.org/officeDocument/2006/relationships/presProps" Target="presProps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lnSpc>
                <a:spcPct val="132000"/>
              </a:lnSpc>
              <a:buClr>
                <a:srgbClr val="0000FF"/>
              </a:buClr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lnSpc>
                <a:spcPct val="132000"/>
              </a:lnSpc>
              <a:buClr>
                <a:srgbClr val="0000FF"/>
              </a:buClr>
              <a:buNone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缓存</a:t>
            </a:r>
            <a:r>
              <a:rPr lang="zh-CN" altLang="en-US" dirty="0">
                <a:sym typeface="+mn-ea"/>
              </a:rPr>
              <a:t>备份主存（</a:t>
            </a:r>
            <a:r>
              <a:rPr lang="zh-CN" altLang="en-US" dirty="0">
                <a:sym typeface="+mn-ea"/>
              </a:rPr>
              <a:t>硬盘）常用数据，减少对主存储器或固定</a:t>
            </a:r>
            <a:r>
              <a:rPr lang="zh-CN" altLang="en-US" dirty="0">
                <a:sym typeface="+mn-ea"/>
              </a:rPr>
              <a:t>磁盘的访问次数；</a:t>
            </a:r>
            <a:endParaRPr lang="zh-CN" altLang="en-US" dirty="0"/>
          </a:p>
          <a:p>
            <a:pPr lvl="1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ym typeface="+mn-ea"/>
              </a:rPr>
              <a:t>缓和内存与处理机之间、主存和硬盘</a:t>
            </a:r>
            <a:r>
              <a:rPr lang="zh-CN" altLang="en-US" dirty="0">
                <a:sym typeface="+mn-ea"/>
              </a:rPr>
              <a:t>速度的矛盾。</a:t>
            </a:r>
            <a:endParaRPr lang="zh-CN" altLang="en-US" dirty="0">
              <a:sym typeface="+mn-ea"/>
            </a:endParaRPr>
          </a:p>
          <a:p>
            <a:pPr lvl="1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zh-CN" altLang="en-US" dirty="0">
              <a:sym typeface="+mn-ea"/>
            </a:endParaRPr>
          </a:p>
          <a:p>
            <a:pPr lvl="1" indent="0">
              <a:lnSpc>
                <a:spcPct val="132000"/>
              </a:lnSpc>
              <a:buClr>
                <a:srgbClr val="0000FF"/>
              </a:buClr>
              <a:buNone/>
            </a:pPr>
            <a:r>
              <a:rPr lang="zh-CN" altLang="en-US" b="1" dirty="0">
                <a:sym typeface="+mn-ea"/>
              </a:rPr>
              <a:t>磁盘缓存</a:t>
            </a:r>
            <a:endParaRPr lang="zh-CN" altLang="en-US" b="1" dirty="0"/>
          </a:p>
          <a:p>
            <a:pPr lvl="1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ym typeface="+mn-ea"/>
              </a:rPr>
              <a:t>暂时存放频繁使用的一部分磁盘数据和信息；</a:t>
            </a:r>
            <a:endParaRPr lang="zh-CN" altLang="en-US" dirty="0"/>
          </a:p>
          <a:p>
            <a:pPr lvl="1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ym typeface="+mn-ea"/>
              </a:rPr>
              <a:t>缓和主存和</a:t>
            </a:r>
            <a:r>
              <a:rPr lang="en-US" altLang="zh-CN" dirty="0">
                <a:sym typeface="+mn-ea"/>
              </a:rPr>
              <a:t>I/O</a:t>
            </a:r>
            <a:r>
              <a:rPr lang="zh-CN" altLang="en-US" dirty="0">
                <a:sym typeface="+mn-ea"/>
              </a:rPr>
              <a:t>设备在速度上的不匹配；</a:t>
            </a:r>
            <a:endParaRPr lang="zh-CN" altLang="en-US" dirty="0"/>
          </a:p>
          <a:p>
            <a:pPr lvl="1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ym typeface="+mn-ea"/>
              </a:rPr>
              <a:t>利用主存的部分空间，主存可看成辅存的高速缓存。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lnSpc>
                <a:spcPct val="132000"/>
              </a:lnSpc>
              <a:buClr>
                <a:srgbClr val="0000FF"/>
              </a:buClr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lnSpc>
                <a:spcPct val="132000"/>
              </a:lnSpc>
              <a:buClr>
                <a:srgbClr val="0000FF"/>
              </a:buClr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 dirty="0">
              <a:solidFill>
                <a:schemeClr val="tx1"/>
              </a:solidFill>
              <a:latin typeface="+mn-ea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 I 部分的共享依旧存在一定的问题，虽然 I 部分不会被修改，但当某个共享进程不再使用共享内容时，该部分文件将会被调出内存，这会造成其他共享进程的大量缺页。所以，对于被共享的文件内容，应当在所有共享进程都不再需要其时，再将其调出内存。要确定该文件内容是否已被所有共享进程所释放，系统需要遍历所有进程的</a:t>
            </a:r>
            <a:r>
              <a:rPr lang="zh-CN" altLang="en-US" b="1"/>
              <a:t>页表</a:t>
            </a:r>
            <a:r>
              <a:rPr lang="zh-CN" altLang="en-US"/>
              <a:t>，这一操作的代价较大。所以，系统中通常需要为此设立一个新的数据结构，用以记录内存中的共享内容、当前有多少进程共享该内容等信息，段式内存管理方式中介绍的共享</a:t>
            </a:r>
            <a:r>
              <a:rPr lang="zh-CN" altLang="en-US" b="1"/>
              <a:t>段表</a:t>
            </a:r>
            <a:r>
              <a:rPr lang="zh-CN" altLang="en-US"/>
              <a:t>便是这类数据结构的一种。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克服外部碎片可以通过紧凑技术来解决</a:t>
            </a:r>
            <a:r>
              <a:rPr lang="en-US" altLang="zh-CN"/>
              <a:t>,</a:t>
            </a:r>
            <a:r>
              <a:rPr lang="zh-CN" altLang="en-US"/>
              <a:t>即操作系统不时地对进程移动和整理</a:t>
            </a:r>
            <a:r>
              <a:rPr lang="en-US" altLang="zh-CN"/>
              <a:t>.</a:t>
            </a:r>
            <a:r>
              <a:rPr lang="zh-CN" altLang="en-US"/>
              <a:t>但这需要动态重定位寄存器的支持</a:t>
            </a:r>
            <a:r>
              <a:rPr lang="en-US" altLang="zh-CN"/>
              <a:t>,</a:t>
            </a:r>
            <a:r>
              <a:rPr lang="zh-CN" altLang="en-US"/>
              <a:t>且相对费时。紧凑的过程实际上类似于</a:t>
            </a:r>
            <a:r>
              <a:rPr lang="en-US" altLang="zh-CN"/>
              <a:t>Windows</a:t>
            </a:r>
            <a:r>
              <a:rPr lang="zh-CN" altLang="en-US"/>
              <a:t>系统的磁盘碎片整理程序</a:t>
            </a:r>
            <a:r>
              <a:rPr lang="en-US" altLang="zh-CN"/>
              <a:t>,</a:t>
            </a:r>
            <a:r>
              <a:rPr lang="zh-CN" altLang="en-US"/>
              <a:t>只不过后者是对外存空间的紧凑</a:t>
            </a:r>
            <a:r>
              <a:rPr lang="en-US" altLang="zh-CN"/>
              <a:t>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程序</a:t>
            </a:r>
            <a:r>
              <a:rPr lang="zh-CN" altLang="en-US"/>
              <a:t>装入过程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、对于等分分区：任何一个可以装下该程序的区域都是等效的合适</a:t>
            </a:r>
            <a:r>
              <a:rPr lang="zh-CN" altLang="en-US"/>
              <a:t>分区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、对于不等分分区：常用策略是选择可以装下该程序的最小</a:t>
            </a:r>
            <a:r>
              <a:rPr lang="zh-CN" altLang="en-US"/>
              <a:t>分区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答案：</a:t>
            </a:r>
            <a:r>
              <a:rPr lang="en-US" altLang="zh-CN"/>
              <a:t>C</a:t>
            </a:r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答案，下次适应法或循环首次</a:t>
            </a:r>
            <a:r>
              <a:rPr lang="zh-CN" altLang="en-US"/>
              <a:t>适应法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答案：</a:t>
            </a:r>
            <a:r>
              <a:rPr lang="en-US" altLang="zh-CN"/>
              <a:t>B</a:t>
            </a:r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外存也以同样的方式划分，成为块或</a:t>
            </a:r>
            <a:r>
              <a:rPr lang="zh-CN" altLang="en-US"/>
              <a:t>盘块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页表长度：一共有</a:t>
            </a:r>
            <a:r>
              <a:rPr lang="zh-CN" altLang="en-US"/>
              <a:t>多少页</a:t>
            </a:r>
            <a:endParaRPr lang="zh-CN" altLang="en-US"/>
          </a:p>
          <a:p>
            <a:r>
              <a:rPr lang="zh-CN" altLang="en-US"/>
              <a:t>页表项长度：页</a:t>
            </a:r>
            <a:r>
              <a:rPr lang="zh-CN" altLang="en-US"/>
              <a:t>地址所占内存</a:t>
            </a:r>
            <a:r>
              <a:rPr lang="zh-CN" altLang="en-US"/>
              <a:t>大小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【参考答案】注意该逻辑地址为八进制逻辑地址。</a:t>
            </a:r>
            <a:endParaRPr lang="zh-CN" altLang="en-US"/>
          </a:p>
          <a:p>
            <a:r>
              <a:rPr lang="zh-CN" altLang="en-US"/>
              <a:t>当访问0205时，对应的二进制地址为：0010000101B，由于内存块大小64B，故低6位为块内地址，其页号为2，访问快表得到其块号为F3，将块号和页内地址合成，访问其物理地址。</a:t>
            </a:r>
            <a:endParaRPr lang="zh-CN" altLang="en-US"/>
          </a:p>
          <a:p>
            <a:r>
              <a:rPr lang="zh-CN" altLang="en-US"/>
              <a:t>访问0645时，对应的二进制地址为：0110100101B，其页号为6，访问快表缺失，访问页表得到其块号为 FA ，将块号和页内地址合成，访问其物理地址。</a:t>
            </a:r>
            <a:endParaRPr lang="zh-CN" altLang="en-US"/>
          </a:p>
          <a:p>
            <a:r>
              <a:rPr lang="zh-CN" altLang="en-US"/>
              <a:t>访问02311时，地址越界。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答案都是</a:t>
            </a:r>
            <a:r>
              <a:rPr lang="en-US" altLang="zh-CN"/>
              <a:t>C</a:t>
            </a:r>
            <a:endParaRPr lang="en-US" altLang="zh-CN"/>
          </a:p>
          <a:p>
            <a:r>
              <a:rPr lang="en-US" altLang="zh-CN"/>
              <a:t>1</a:t>
            </a:r>
            <a:r>
              <a:rPr lang="zh-CN" altLang="en-US"/>
              <a:t>、页表项数量：</a:t>
            </a:r>
            <a:r>
              <a:rPr lang="en-US" altLang="zh-CN">
                <a:sym typeface="+mn-ea"/>
              </a:rPr>
              <a:t>256TB/4KB=2</a:t>
            </a:r>
            <a:r>
              <a:rPr lang="en-US" altLang="zh-CN" baseline="30000">
                <a:sym typeface="+mn-ea"/>
              </a:rPr>
              <a:t>48</a:t>
            </a:r>
            <a:r>
              <a:rPr lang="en-US" altLang="zh-CN">
                <a:sym typeface="+mn-ea"/>
              </a:rPr>
              <a:t>/2</a:t>
            </a:r>
            <a:r>
              <a:rPr lang="en-US" altLang="zh-CN" baseline="30000">
                <a:sym typeface="+mn-ea"/>
              </a:rPr>
              <a:t>12</a:t>
            </a:r>
            <a:r>
              <a:rPr lang="en-US" altLang="zh-CN">
                <a:sym typeface="+mn-ea"/>
              </a:rPr>
              <a:t>=2</a:t>
            </a:r>
            <a:r>
              <a:rPr lang="en-US" altLang="zh-CN" baseline="30000">
                <a:sym typeface="+mn-ea"/>
              </a:rPr>
              <a:t>36</a:t>
            </a:r>
            <a:r>
              <a:rPr lang="zh-CN" altLang="en-US">
                <a:sym typeface="+mn-ea"/>
              </a:rPr>
              <a:t>，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     </a:t>
            </a:r>
            <a:r>
              <a:rPr lang="zh-CN" altLang="en-US">
                <a:sym typeface="+mn-ea"/>
              </a:rPr>
              <a:t>每个页面最多包含的页表项数量：</a:t>
            </a:r>
            <a:r>
              <a:rPr lang="en-US" altLang="zh-CN">
                <a:sym typeface="+mn-ea"/>
              </a:rPr>
              <a:t>4KB/8B=2</a:t>
            </a:r>
            <a:r>
              <a:rPr lang="en-US" altLang="zh-CN" baseline="30000">
                <a:sym typeface="+mn-ea"/>
              </a:rPr>
              <a:t>12</a:t>
            </a:r>
            <a:r>
              <a:rPr lang="en-US" altLang="zh-CN">
                <a:sym typeface="+mn-ea"/>
              </a:rPr>
              <a:t>/2</a:t>
            </a:r>
            <a:r>
              <a:rPr lang="en-US" altLang="zh-CN" baseline="30000">
                <a:sym typeface="+mn-ea"/>
              </a:rPr>
              <a:t>3</a:t>
            </a:r>
            <a:r>
              <a:rPr lang="en-US" altLang="zh-CN">
                <a:sym typeface="+mn-ea"/>
              </a:rPr>
              <a:t>=2</a:t>
            </a:r>
            <a:r>
              <a:rPr lang="en-US" altLang="zh-CN" baseline="30000">
                <a:sym typeface="+mn-ea"/>
              </a:rPr>
              <a:t>9</a:t>
            </a:r>
            <a:endParaRPr lang="en-US" altLang="zh-CN" baseline="30000">
              <a:sym typeface="+mn-ea"/>
            </a:endParaRPr>
          </a:p>
          <a:p>
            <a:r>
              <a:rPr lang="en-US" altLang="zh-CN" baseline="30000">
                <a:sym typeface="+mn-ea"/>
              </a:rPr>
              <a:t>        </a:t>
            </a:r>
            <a:r>
              <a:rPr lang="zh-CN" altLang="en-US">
                <a:sym typeface="+mn-ea"/>
              </a:rPr>
              <a:t>一共</a:t>
            </a:r>
            <a:r>
              <a:rPr lang="en-US" altLang="zh-CN">
                <a:sym typeface="+mn-ea"/>
              </a:rPr>
              <a:t>36</a:t>
            </a:r>
            <a:r>
              <a:rPr lang="zh-CN" altLang="en-US">
                <a:sym typeface="+mn-ea"/>
              </a:rPr>
              <a:t>位，需要</a:t>
            </a:r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位一组，即为一级，共需要</a:t>
            </a:r>
            <a:r>
              <a:rPr lang="en-US" altLang="zh-CN">
                <a:sym typeface="+mn-ea"/>
              </a:rPr>
              <a:t>36/9=4</a:t>
            </a:r>
            <a:r>
              <a:rPr lang="zh-CN" altLang="en-US">
                <a:sym typeface="+mn-ea"/>
              </a:rPr>
              <a:t>级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、页表项数量：</a:t>
            </a:r>
            <a:r>
              <a:rPr lang="en-US" altLang="zh-CN">
                <a:sym typeface="+mn-ea"/>
              </a:rPr>
              <a:t>2</a:t>
            </a:r>
            <a:r>
              <a:rPr lang="en-US" altLang="zh-CN" baseline="30000">
                <a:sym typeface="+mn-ea"/>
              </a:rPr>
              <a:t>26</a:t>
            </a:r>
            <a:r>
              <a:rPr lang="en-US" altLang="zh-CN">
                <a:sym typeface="+mn-ea"/>
              </a:rPr>
              <a:t>/2</a:t>
            </a:r>
            <a:r>
              <a:rPr lang="en-US" altLang="zh-CN" baseline="30000">
                <a:sym typeface="+mn-ea"/>
              </a:rPr>
              <a:t>10</a:t>
            </a:r>
            <a:r>
              <a:rPr lang="en-US" altLang="zh-CN">
                <a:sym typeface="+mn-ea"/>
              </a:rPr>
              <a:t>=2</a:t>
            </a:r>
            <a:r>
              <a:rPr lang="en-US" altLang="zh-CN" baseline="30000">
                <a:sym typeface="+mn-ea"/>
              </a:rPr>
              <a:t>16</a:t>
            </a:r>
            <a:endParaRPr lang="en-US" altLang="zh-CN" baseline="30000">
              <a:sym typeface="+mn-ea"/>
            </a:endParaRPr>
          </a:p>
          <a:p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</a:t>
            </a:r>
            <a:r>
              <a:rPr lang="zh-CN" altLang="en-US">
                <a:sym typeface="+mn-ea"/>
              </a:rPr>
              <a:t>每个页面最多包含的页表项数量：</a:t>
            </a:r>
            <a:r>
              <a:rPr lang="en-US" altLang="zh-CN">
                <a:sym typeface="+mn-ea"/>
              </a:rPr>
              <a:t>2</a:t>
            </a:r>
            <a:r>
              <a:rPr lang="en-US" altLang="zh-CN" baseline="30000">
                <a:sym typeface="+mn-ea"/>
              </a:rPr>
              <a:t>10</a:t>
            </a:r>
            <a:r>
              <a:rPr lang="en-US" altLang="zh-CN">
                <a:sym typeface="+mn-ea"/>
              </a:rPr>
              <a:t>/2=2</a:t>
            </a:r>
            <a:r>
              <a:rPr lang="en-US" altLang="zh-CN" baseline="30000">
                <a:sym typeface="+mn-ea"/>
              </a:rPr>
              <a:t>9</a:t>
            </a:r>
            <a:endParaRPr lang="en-US" altLang="zh-CN" baseline="30000">
              <a:sym typeface="+mn-ea"/>
            </a:endParaRPr>
          </a:p>
          <a:p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一共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位，需要</a:t>
            </a:r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位一组，即为一级，共需要</a:t>
            </a:r>
            <a:r>
              <a:rPr lang="en-US" altLang="zh-CN">
                <a:sym typeface="+mn-ea"/>
              </a:rPr>
              <a:t>16/9=2</a:t>
            </a:r>
            <a:r>
              <a:rPr lang="zh-CN" altLang="en-US">
                <a:sym typeface="+mn-ea"/>
              </a:rPr>
              <a:t>级，其中最后一级为</a:t>
            </a:r>
            <a:r>
              <a:rPr lang="en-US" altLang="zh-CN">
                <a:sym typeface="+mn-ea"/>
              </a:rPr>
              <a:t>16-9=7</a:t>
            </a:r>
            <a:r>
              <a:rPr lang="zh-CN" altLang="en-US">
                <a:sym typeface="+mn-ea"/>
              </a:rPr>
              <a:t>位，包含</a:t>
            </a:r>
            <a:r>
              <a:rPr lang="en-US" altLang="zh-CN">
                <a:sym typeface="+mn-ea"/>
              </a:rPr>
              <a:t>2</a:t>
            </a:r>
            <a:r>
              <a:rPr lang="en-US" altLang="zh-CN" baseline="30000">
                <a:sym typeface="+mn-ea"/>
              </a:rPr>
              <a:t>7</a:t>
            </a:r>
            <a:r>
              <a:rPr lang="en-US" altLang="zh-CN">
                <a:sym typeface="+mn-ea"/>
              </a:rPr>
              <a:t>=128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页和页表项的关系：可以把页想象成数组，页表项就是元素的个数</a:t>
            </a:r>
            <a:endParaRPr lang="en-US" altLang="zh-CN">
              <a:sym typeface="+mn-ea"/>
            </a:endParaRPr>
          </a:p>
          <a:p>
            <a:endParaRPr lang="en-US" altLang="zh-CN" baseline="30000">
              <a:sym typeface="+mn-ea"/>
            </a:endParaRPr>
          </a:p>
          <a:p>
            <a:endParaRPr lang="en-US" altLang="zh-CN" baseline="30000">
              <a:sym typeface="+mn-ea"/>
            </a:endParaRPr>
          </a:p>
          <a:p>
            <a:endParaRPr lang="en-US" altLang="zh-CN" baseline="30000">
              <a:sym typeface="+mn-ea"/>
            </a:endParaRPr>
          </a:p>
          <a:p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地址转换过程如下：</a:t>
            </a:r>
          </a:p>
          <a:p>
            <a:r>
              <a:t>①将逻辑地址的高位段号取出，与段表长作比较，段号大于表长则越界。</a:t>
            </a:r>
          </a:p>
          <a:p>
            <a:r>
              <a:t>②若未越界，则找到相应段表项，将段长与逻辑地址低位的段内偏移量比较，若偏移量大于</a:t>
            </a:r>
            <a:r>
              <a:rPr lang="zh-CN"/>
              <a:t>段长则越界</a:t>
            </a:r>
            <a:endParaRPr lang="zh-CN"/>
          </a:p>
          <a:p>
            <a:r>
              <a:t>③若未越界，则将段表项中的段起始地址与逻辑地址的段内偏移量组合起来，获得对应的物</a:t>
            </a:r>
            <a:r>
              <a:rPr lang="zh-CN"/>
              <a:t>理地址</a:t>
            </a:r>
            <a:endParaRPr 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0</a:t>
            </a:r>
            <a:r>
              <a:rPr lang="zh-CN" altLang="en-US"/>
              <a:t>：</a:t>
            </a:r>
            <a:r>
              <a:rPr lang="en-US" altLang="zh-CN"/>
              <a:t>210+430=640</a:t>
            </a:r>
            <a:endParaRPr lang="en-US" altLang="zh-CN"/>
          </a:p>
          <a:p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2350+10=2360</a:t>
            </a:r>
            <a:endParaRPr lang="en-US" altLang="zh-CN"/>
          </a:p>
          <a:p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500&gt;90,</a:t>
            </a:r>
            <a:r>
              <a:rPr lang="zh-CN" altLang="en-US"/>
              <a:t>越界，非法</a:t>
            </a:r>
            <a:r>
              <a:rPr lang="zh-CN" altLang="en-US"/>
              <a:t>地址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：</a:t>
            </a:r>
            <a:r>
              <a:rPr lang="en-US" altLang="zh-CN"/>
              <a:t>1350+400=1750</a:t>
            </a:r>
            <a:endParaRPr lang="en-US" altLang="zh-CN"/>
          </a:p>
          <a:p>
            <a:r>
              <a:rPr lang="en-US" altLang="zh-CN"/>
              <a:t>4</a:t>
            </a:r>
            <a:r>
              <a:rPr lang="zh-CN" altLang="en-US"/>
              <a:t>：</a:t>
            </a:r>
            <a:r>
              <a:rPr lang="en-US" altLang="zh-CN"/>
              <a:t>112&gt;95,</a:t>
            </a:r>
            <a:r>
              <a:rPr lang="zh-CN" altLang="en-US"/>
              <a:t>越界，非法</a:t>
            </a:r>
            <a:r>
              <a:rPr lang="zh-CN" altLang="en-US"/>
              <a:t>地址</a:t>
            </a:r>
            <a:endParaRPr lang="zh-CN" altLang="en-US"/>
          </a:p>
          <a:p>
            <a:r>
              <a:rPr lang="en-US" altLang="zh-CN"/>
              <a:t>5</a:t>
            </a:r>
            <a:r>
              <a:rPr lang="zh-CN" altLang="en-US"/>
              <a:t>：段号大于</a:t>
            </a:r>
            <a:r>
              <a:rPr lang="en-US" altLang="zh-CN"/>
              <a:t>4</a:t>
            </a:r>
            <a:r>
              <a:rPr lang="zh-CN" altLang="en-US"/>
              <a:t>，越界，非法</a:t>
            </a:r>
            <a:r>
              <a:rPr lang="zh-CN" altLang="en-US"/>
              <a:t>地址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/>
              <a:t>分页存储管理方式，页面大小是事先固定好的，操作系统知道页面的大小。因此，用户提供一个逻辑地址，</a:t>
            </a:r>
            <a:endParaRPr lang="zh-CN" altLang="en-US"/>
          </a:p>
          <a:p>
            <a:r>
              <a:rPr lang="zh-CN" altLang="en-US"/>
              <a:t>系统可以根据页面大小判断出逻辑地址中哪一部分是页号，哪一部分是页内地址。</a:t>
            </a:r>
            <a:endParaRPr lang="zh-CN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/>
              <a:t>分段存储管理方式下，分段的长度是不固定的，系统不知道本次访问段的长度，所以对于用户给出的逻辑地址，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系统不知道如何进行划分，因此需要给出段号与段内地址。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举例理解一维和二维</a:t>
            </a:r>
            <a:endParaRPr lang="zh-CN" altLang="en-US"/>
          </a:p>
          <a:p>
            <a:r>
              <a:rPr lang="zh-CN" altLang="en-US"/>
              <a:t>学生按学号分组，每</a:t>
            </a:r>
            <a:r>
              <a:rPr lang="en-US" altLang="zh-CN"/>
              <a:t>10</a:t>
            </a:r>
            <a:r>
              <a:rPr lang="zh-CN" altLang="en-US"/>
              <a:t>人一组，</a:t>
            </a:r>
            <a:r>
              <a:rPr lang="en-US" altLang="zh-CN"/>
              <a:t>36</a:t>
            </a:r>
            <a:r>
              <a:rPr lang="zh-CN" altLang="en-US"/>
              <a:t>号很容易定位为第</a:t>
            </a:r>
            <a:r>
              <a:rPr lang="en-US" altLang="zh-CN"/>
              <a:t>3</a:t>
            </a:r>
            <a:r>
              <a:rPr lang="zh-CN" altLang="en-US"/>
              <a:t>组第</a:t>
            </a:r>
            <a:r>
              <a:rPr lang="en-US" altLang="zh-CN"/>
              <a:t>6</a:t>
            </a:r>
            <a:r>
              <a:rPr lang="zh-CN" altLang="en-US"/>
              <a:t>个人，只需要告知一个偏移量</a:t>
            </a:r>
            <a:r>
              <a:rPr lang="en-US" altLang="zh-CN"/>
              <a:t>6</a:t>
            </a:r>
            <a:r>
              <a:rPr lang="zh-CN" altLang="en-US"/>
              <a:t>即可</a:t>
            </a:r>
            <a:endParaRPr lang="zh-CN" altLang="en-US"/>
          </a:p>
          <a:p>
            <a:r>
              <a:rPr lang="zh-CN" altLang="en-US"/>
              <a:t>学生按兴趣分组，第一组</a:t>
            </a:r>
            <a:r>
              <a:rPr lang="en-US" altLang="zh-CN"/>
              <a:t>8</a:t>
            </a:r>
            <a:r>
              <a:rPr lang="zh-CN" altLang="en-US"/>
              <a:t>人，第二组</a:t>
            </a:r>
            <a:r>
              <a:rPr lang="en-US" altLang="zh-CN"/>
              <a:t>10</a:t>
            </a:r>
            <a:r>
              <a:rPr lang="zh-CN" altLang="en-US"/>
              <a:t>分，第三组</a:t>
            </a:r>
            <a:r>
              <a:rPr lang="en-US" altLang="zh-CN"/>
              <a:t>4</a:t>
            </a:r>
            <a:r>
              <a:rPr lang="zh-CN" altLang="en-US"/>
              <a:t>人，那</a:t>
            </a:r>
            <a:r>
              <a:rPr lang="en-US" altLang="zh-CN"/>
              <a:t>36</a:t>
            </a:r>
            <a:r>
              <a:rPr lang="zh-CN" altLang="en-US"/>
              <a:t>号必须告知兴趣组号和组内位置才能定位，需要两个信息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CPU</a:t>
            </a:r>
            <a:r>
              <a:rPr lang="zh-CN" altLang="en-US">
                <a:sym typeface="+mn-ea"/>
              </a:rPr>
              <a:t>要存取一个数据，需要访问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次内存。</a:t>
            </a:r>
            <a:endParaRPr lang="zh-CN" altLang="en-US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4D4D4D"/>
                </a:solidFill>
                <a:latin typeface="-apple-system"/>
                <a:ea typeface="-apple-system"/>
                <a:sym typeface="+mn-ea"/>
              </a:rPr>
              <a:t>访问段表（获取该段的页表地址） </a:t>
            </a:r>
            <a:endParaRPr lang="zh-CN" altLang="en-US" b="0" i="0">
              <a:solidFill>
                <a:srgbClr val="4D4D4D"/>
              </a:solidFill>
              <a:latin typeface="-apple-system"/>
              <a:ea typeface="-apple-system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4D4D4D"/>
                </a:solidFill>
                <a:latin typeface="-apple-system"/>
                <a:ea typeface="-apple-system"/>
                <a:sym typeface="+mn-ea"/>
              </a:rPr>
              <a:t>访问页表（取得物理块号，形成物理地址） </a:t>
            </a:r>
            <a:endParaRPr lang="zh-CN" altLang="en-US" b="0" i="0">
              <a:solidFill>
                <a:srgbClr val="4D4D4D"/>
              </a:solidFill>
              <a:latin typeface="-apple-system"/>
              <a:ea typeface="-apple-system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4D4D4D"/>
                </a:solidFill>
                <a:latin typeface="-apple-system"/>
                <a:ea typeface="-apple-system"/>
                <a:sym typeface="+mn-ea"/>
              </a:rPr>
              <a:t>访问该物理地址（存取指令或数据）</a:t>
            </a:r>
            <a:endParaRPr lang="zh-CN" altLang="en-US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userDrawn="1">
  <p:cSld name="标题幻灯片"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3" name="任意多边形: 形状 22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0" name="任意多边形: 形状 19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9925" y="5306656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9925" y="5602927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4456729"/>
            <a:ext cx="10850563" cy="558799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69925" y="1028701"/>
            <a:ext cx="10850563" cy="3136900"/>
          </a:xfrm>
        </p:spPr>
        <p:txBody>
          <a:bodyPr anchor="b" anchorCtr="0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2_1"/>
          <p:cNvSpPr>
            <a:spLocks noChangeArrowheads="1"/>
          </p:cNvSpPr>
          <p:nvPr userDrawn="1"/>
        </p:nvSpPr>
        <p:spPr bwMode="auto">
          <a:xfrm>
            <a:off x="190500" y="3192312"/>
            <a:ext cx="12192000" cy="3429000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t="-93255" b="-31457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2488168" y="2033814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2489284" y="2929164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-9525" y="-9525"/>
            <a:ext cx="12220575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 bwMode="auto">
          <a:xfrm flipH="1" flipV="1">
            <a:off x="-1219199" y="239311"/>
            <a:ext cx="13411199" cy="801180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FF00"/>
              </a:gs>
              <a:gs pos="11000">
                <a:srgbClr val="FFC0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 rot="10800000">
            <a:off x="-28575" y="6321199"/>
            <a:ext cx="12220575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 bwMode="auto">
          <a:xfrm>
            <a:off x="-9525" y="6230938"/>
            <a:ext cx="12201525" cy="801179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FF00"/>
              </a:gs>
              <a:gs pos="11000">
                <a:srgbClr val="FFC0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520488" y="6486465"/>
            <a:ext cx="67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9552D3-A968-4710-B841-1063F5B640DF}" type="slidenum">
              <a:rPr lang="zh-CN" altLang="en-US" sz="2000" b="1" smtClean="0">
                <a:solidFill>
                  <a:schemeClr val="accent2">
                    <a:lumMod val="50000"/>
                  </a:schemeClr>
                </a:solidFill>
              </a:rPr>
            </a:fld>
            <a:endParaRPr lang="zh-CN" alt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410" y="24187"/>
            <a:ext cx="527050" cy="527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26766-F62E-419D-BB7F-91C9CEBCA24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0" name="任意多边形: 形状 9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034971" y="2163199"/>
            <a:ext cx="6536871" cy="2390427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034971" y="5238353"/>
            <a:ext cx="6536871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034973" y="4942082"/>
            <a:ext cx="653687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1" name="任意多边形: 形状 10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7FE44A0-2E53-457E-9AC0-11D6EE9FA3B5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ags" Target="../tags/tag2.xml"/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5.xml"/><Relationship Id="rId1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jpe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tags" Target="../tags/tag49.xml"/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tags" Target="../tags/tag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0" name="图片 107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9925" y="1319455"/>
            <a:ext cx="10850563" cy="3136900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第</a:t>
            </a:r>
            <a:r>
              <a:rPr lang="en-US" altLang="zh-CN" sz="4800" dirty="0"/>
              <a:t>5</a:t>
            </a:r>
            <a:r>
              <a:rPr lang="zh-CN" altLang="en-US" sz="4800" dirty="0"/>
              <a:t>章 存储器管理</a:t>
            </a:r>
            <a:endParaRPr lang="zh-CN" altLang="en-US" sz="2000" b="0" dirty="0"/>
          </a:p>
        </p:txBody>
      </p:sp>
      <p:sp>
        <p:nvSpPr>
          <p:cNvPr id="29" name="任意多边形: 形状 28"/>
          <p:cNvSpPr/>
          <p:nvPr/>
        </p:nvSpPr>
        <p:spPr>
          <a:xfrm>
            <a:off x="10968292" y="649047"/>
            <a:ext cx="552196" cy="3896208"/>
          </a:xfrm>
          <a:custGeom>
            <a:avLst/>
            <a:gdLst>
              <a:gd name="connsiteX0" fmla="*/ 438280 w 513703"/>
              <a:gd name="connsiteY0" fmla="*/ 3473760 h 3624606"/>
              <a:gd name="connsiteX1" fmla="*/ 513703 w 513703"/>
              <a:gd name="connsiteY1" fmla="*/ 3549183 h 3624606"/>
              <a:gd name="connsiteX2" fmla="*/ 438280 w 513703"/>
              <a:gd name="connsiteY2" fmla="*/ 3624606 h 3624606"/>
              <a:gd name="connsiteX3" fmla="*/ 362857 w 513703"/>
              <a:gd name="connsiteY3" fmla="*/ 3549183 h 3624606"/>
              <a:gd name="connsiteX4" fmla="*/ 438280 w 513703"/>
              <a:gd name="connsiteY4" fmla="*/ 3473760 h 3624606"/>
              <a:gd name="connsiteX5" fmla="*/ 75423 w 513703"/>
              <a:gd name="connsiteY5" fmla="*/ 3473760 h 3624606"/>
              <a:gd name="connsiteX6" fmla="*/ 150846 w 513703"/>
              <a:gd name="connsiteY6" fmla="*/ 3549183 h 3624606"/>
              <a:gd name="connsiteX7" fmla="*/ 75423 w 513703"/>
              <a:gd name="connsiteY7" fmla="*/ 3624606 h 3624606"/>
              <a:gd name="connsiteX8" fmla="*/ 0 w 513703"/>
              <a:gd name="connsiteY8" fmla="*/ 3549183 h 3624606"/>
              <a:gd name="connsiteX9" fmla="*/ 75423 w 513703"/>
              <a:gd name="connsiteY9" fmla="*/ 3473760 h 3624606"/>
              <a:gd name="connsiteX10" fmla="*/ 438280 w 513703"/>
              <a:gd name="connsiteY10" fmla="*/ 3126882 h 3624606"/>
              <a:gd name="connsiteX11" fmla="*/ 513703 w 513703"/>
              <a:gd name="connsiteY11" fmla="*/ 3202305 h 3624606"/>
              <a:gd name="connsiteX12" fmla="*/ 438280 w 513703"/>
              <a:gd name="connsiteY12" fmla="*/ 3277728 h 3624606"/>
              <a:gd name="connsiteX13" fmla="*/ 362857 w 513703"/>
              <a:gd name="connsiteY13" fmla="*/ 3202305 h 3624606"/>
              <a:gd name="connsiteX14" fmla="*/ 438280 w 513703"/>
              <a:gd name="connsiteY14" fmla="*/ 3126882 h 3624606"/>
              <a:gd name="connsiteX15" fmla="*/ 75423 w 513703"/>
              <a:gd name="connsiteY15" fmla="*/ 3126882 h 3624606"/>
              <a:gd name="connsiteX16" fmla="*/ 150846 w 513703"/>
              <a:gd name="connsiteY16" fmla="*/ 3202305 h 3624606"/>
              <a:gd name="connsiteX17" fmla="*/ 75423 w 513703"/>
              <a:gd name="connsiteY17" fmla="*/ 3277728 h 3624606"/>
              <a:gd name="connsiteX18" fmla="*/ 0 w 513703"/>
              <a:gd name="connsiteY18" fmla="*/ 3202305 h 3624606"/>
              <a:gd name="connsiteX19" fmla="*/ 75423 w 513703"/>
              <a:gd name="connsiteY19" fmla="*/ 3126882 h 3624606"/>
              <a:gd name="connsiteX20" fmla="*/ 438280 w 513703"/>
              <a:gd name="connsiteY20" fmla="*/ 2780004 h 3624606"/>
              <a:gd name="connsiteX21" fmla="*/ 513703 w 513703"/>
              <a:gd name="connsiteY21" fmla="*/ 2855427 h 3624606"/>
              <a:gd name="connsiteX22" fmla="*/ 438280 w 513703"/>
              <a:gd name="connsiteY22" fmla="*/ 2930850 h 3624606"/>
              <a:gd name="connsiteX23" fmla="*/ 362857 w 513703"/>
              <a:gd name="connsiteY23" fmla="*/ 2855427 h 3624606"/>
              <a:gd name="connsiteX24" fmla="*/ 438280 w 513703"/>
              <a:gd name="connsiteY24" fmla="*/ 2780004 h 3624606"/>
              <a:gd name="connsiteX25" fmla="*/ 75423 w 513703"/>
              <a:gd name="connsiteY25" fmla="*/ 2780004 h 3624606"/>
              <a:gd name="connsiteX26" fmla="*/ 150846 w 513703"/>
              <a:gd name="connsiteY26" fmla="*/ 2855427 h 3624606"/>
              <a:gd name="connsiteX27" fmla="*/ 75423 w 513703"/>
              <a:gd name="connsiteY27" fmla="*/ 2930850 h 3624606"/>
              <a:gd name="connsiteX28" fmla="*/ 0 w 513703"/>
              <a:gd name="connsiteY28" fmla="*/ 2855427 h 3624606"/>
              <a:gd name="connsiteX29" fmla="*/ 75423 w 513703"/>
              <a:gd name="connsiteY29" fmla="*/ 2780004 h 3624606"/>
              <a:gd name="connsiteX30" fmla="*/ 438280 w 513703"/>
              <a:gd name="connsiteY30" fmla="*/ 2433126 h 3624606"/>
              <a:gd name="connsiteX31" fmla="*/ 513703 w 513703"/>
              <a:gd name="connsiteY31" fmla="*/ 2508549 h 3624606"/>
              <a:gd name="connsiteX32" fmla="*/ 438280 w 513703"/>
              <a:gd name="connsiteY32" fmla="*/ 2583972 h 3624606"/>
              <a:gd name="connsiteX33" fmla="*/ 362857 w 513703"/>
              <a:gd name="connsiteY33" fmla="*/ 2508549 h 3624606"/>
              <a:gd name="connsiteX34" fmla="*/ 438280 w 513703"/>
              <a:gd name="connsiteY34" fmla="*/ 2433126 h 3624606"/>
              <a:gd name="connsiteX35" fmla="*/ 75423 w 513703"/>
              <a:gd name="connsiteY35" fmla="*/ 2433126 h 3624606"/>
              <a:gd name="connsiteX36" fmla="*/ 150846 w 513703"/>
              <a:gd name="connsiteY36" fmla="*/ 2508549 h 3624606"/>
              <a:gd name="connsiteX37" fmla="*/ 75423 w 513703"/>
              <a:gd name="connsiteY37" fmla="*/ 2583972 h 3624606"/>
              <a:gd name="connsiteX38" fmla="*/ 0 w 513703"/>
              <a:gd name="connsiteY38" fmla="*/ 2508549 h 3624606"/>
              <a:gd name="connsiteX39" fmla="*/ 75423 w 513703"/>
              <a:gd name="connsiteY39" fmla="*/ 2433126 h 3624606"/>
              <a:gd name="connsiteX40" fmla="*/ 438280 w 513703"/>
              <a:gd name="connsiteY40" fmla="*/ 2086248 h 3624606"/>
              <a:gd name="connsiteX41" fmla="*/ 513703 w 513703"/>
              <a:gd name="connsiteY41" fmla="*/ 2161671 h 3624606"/>
              <a:gd name="connsiteX42" fmla="*/ 438280 w 513703"/>
              <a:gd name="connsiteY42" fmla="*/ 2237094 h 3624606"/>
              <a:gd name="connsiteX43" fmla="*/ 362857 w 513703"/>
              <a:gd name="connsiteY43" fmla="*/ 2161671 h 3624606"/>
              <a:gd name="connsiteX44" fmla="*/ 438280 w 513703"/>
              <a:gd name="connsiteY44" fmla="*/ 2086248 h 3624606"/>
              <a:gd name="connsiteX45" fmla="*/ 75423 w 513703"/>
              <a:gd name="connsiteY45" fmla="*/ 2086248 h 3624606"/>
              <a:gd name="connsiteX46" fmla="*/ 150846 w 513703"/>
              <a:gd name="connsiteY46" fmla="*/ 2161671 h 3624606"/>
              <a:gd name="connsiteX47" fmla="*/ 75423 w 513703"/>
              <a:gd name="connsiteY47" fmla="*/ 2237094 h 3624606"/>
              <a:gd name="connsiteX48" fmla="*/ 0 w 513703"/>
              <a:gd name="connsiteY48" fmla="*/ 2161671 h 3624606"/>
              <a:gd name="connsiteX49" fmla="*/ 75423 w 513703"/>
              <a:gd name="connsiteY49" fmla="*/ 2086248 h 3624606"/>
              <a:gd name="connsiteX50" fmla="*/ 438280 w 513703"/>
              <a:gd name="connsiteY50" fmla="*/ 1734390 h 3624606"/>
              <a:gd name="connsiteX51" fmla="*/ 513703 w 513703"/>
              <a:gd name="connsiteY51" fmla="*/ 1809813 h 3624606"/>
              <a:gd name="connsiteX52" fmla="*/ 513200 w 513703"/>
              <a:gd name="connsiteY52" fmla="*/ 1812303 h 3624606"/>
              <a:gd name="connsiteX53" fmla="*/ 513703 w 513703"/>
              <a:gd name="connsiteY53" fmla="*/ 1814793 h 3624606"/>
              <a:gd name="connsiteX54" fmla="*/ 438280 w 513703"/>
              <a:gd name="connsiteY54" fmla="*/ 1890216 h 3624606"/>
              <a:gd name="connsiteX55" fmla="*/ 362857 w 513703"/>
              <a:gd name="connsiteY55" fmla="*/ 1814793 h 3624606"/>
              <a:gd name="connsiteX56" fmla="*/ 363360 w 513703"/>
              <a:gd name="connsiteY56" fmla="*/ 1812303 h 3624606"/>
              <a:gd name="connsiteX57" fmla="*/ 362857 w 513703"/>
              <a:gd name="connsiteY57" fmla="*/ 1809813 h 3624606"/>
              <a:gd name="connsiteX58" fmla="*/ 438280 w 513703"/>
              <a:gd name="connsiteY58" fmla="*/ 1734390 h 3624606"/>
              <a:gd name="connsiteX59" fmla="*/ 75423 w 513703"/>
              <a:gd name="connsiteY59" fmla="*/ 1734390 h 3624606"/>
              <a:gd name="connsiteX60" fmla="*/ 150846 w 513703"/>
              <a:gd name="connsiteY60" fmla="*/ 1809813 h 3624606"/>
              <a:gd name="connsiteX61" fmla="*/ 150343 w 513703"/>
              <a:gd name="connsiteY61" fmla="*/ 1812303 h 3624606"/>
              <a:gd name="connsiteX62" fmla="*/ 150846 w 513703"/>
              <a:gd name="connsiteY62" fmla="*/ 1814793 h 3624606"/>
              <a:gd name="connsiteX63" fmla="*/ 75423 w 513703"/>
              <a:gd name="connsiteY63" fmla="*/ 1890216 h 3624606"/>
              <a:gd name="connsiteX64" fmla="*/ 0 w 513703"/>
              <a:gd name="connsiteY64" fmla="*/ 1814793 h 3624606"/>
              <a:gd name="connsiteX65" fmla="*/ 503 w 513703"/>
              <a:gd name="connsiteY65" fmla="*/ 1812303 h 3624606"/>
              <a:gd name="connsiteX66" fmla="*/ 0 w 513703"/>
              <a:gd name="connsiteY66" fmla="*/ 1809813 h 3624606"/>
              <a:gd name="connsiteX67" fmla="*/ 75423 w 513703"/>
              <a:gd name="connsiteY67" fmla="*/ 1734390 h 3624606"/>
              <a:gd name="connsiteX68" fmla="*/ 438280 w 513703"/>
              <a:gd name="connsiteY68" fmla="*/ 1387512 h 3624606"/>
              <a:gd name="connsiteX69" fmla="*/ 513703 w 513703"/>
              <a:gd name="connsiteY69" fmla="*/ 1462935 h 3624606"/>
              <a:gd name="connsiteX70" fmla="*/ 438280 w 513703"/>
              <a:gd name="connsiteY70" fmla="*/ 1538358 h 3624606"/>
              <a:gd name="connsiteX71" fmla="*/ 362857 w 513703"/>
              <a:gd name="connsiteY71" fmla="*/ 1462935 h 3624606"/>
              <a:gd name="connsiteX72" fmla="*/ 438280 w 513703"/>
              <a:gd name="connsiteY72" fmla="*/ 1387512 h 3624606"/>
              <a:gd name="connsiteX73" fmla="*/ 75423 w 513703"/>
              <a:gd name="connsiteY73" fmla="*/ 1387512 h 3624606"/>
              <a:gd name="connsiteX74" fmla="*/ 150846 w 513703"/>
              <a:gd name="connsiteY74" fmla="*/ 1462935 h 3624606"/>
              <a:gd name="connsiteX75" fmla="*/ 75423 w 513703"/>
              <a:gd name="connsiteY75" fmla="*/ 1538358 h 3624606"/>
              <a:gd name="connsiteX76" fmla="*/ 0 w 513703"/>
              <a:gd name="connsiteY76" fmla="*/ 1462935 h 3624606"/>
              <a:gd name="connsiteX77" fmla="*/ 75423 w 513703"/>
              <a:gd name="connsiteY77" fmla="*/ 1387512 h 3624606"/>
              <a:gd name="connsiteX78" fmla="*/ 75423 w 513703"/>
              <a:gd name="connsiteY78" fmla="*/ 1040634 h 3624606"/>
              <a:gd name="connsiteX79" fmla="*/ 150846 w 513703"/>
              <a:gd name="connsiteY79" fmla="*/ 1116057 h 3624606"/>
              <a:gd name="connsiteX80" fmla="*/ 75423 w 513703"/>
              <a:gd name="connsiteY80" fmla="*/ 1191480 h 3624606"/>
              <a:gd name="connsiteX81" fmla="*/ 0 w 513703"/>
              <a:gd name="connsiteY81" fmla="*/ 1116057 h 3624606"/>
              <a:gd name="connsiteX82" fmla="*/ 75423 w 513703"/>
              <a:gd name="connsiteY82" fmla="*/ 1040634 h 3624606"/>
              <a:gd name="connsiteX83" fmla="*/ 438280 w 513703"/>
              <a:gd name="connsiteY83" fmla="*/ 1040634 h 3624606"/>
              <a:gd name="connsiteX84" fmla="*/ 513703 w 513703"/>
              <a:gd name="connsiteY84" fmla="*/ 1116057 h 3624606"/>
              <a:gd name="connsiteX85" fmla="*/ 438280 w 513703"/>
              <a:gd name="connsiteY85" fmla="*/ 1191480 h 3624606"/>
              <a:gd name="connsiteX86" fmla="*/ 362857 w 513703"/>
              <a:gd name="connsiteY86" fmla="*/ 1116057 h 3624606"/>
              <a:gd name="connsiteX87" fmla="*/ 438280 w 513703"/>
              <a:gd name="connsiteY87" fmla="*/ 1040634 h 3624606"/>
              <a:gd name="connsiteX88" fmla="*/ 438280 w 513703"/>
              <a:gd name="connsiteY88" fmla="*/ 693756 h 3624606"/>
              <a:gd name="connsiteX89" fmla="*/ 513703 w 513703"/>
              <a:gd name="connsiteY89" fmla="*/ 769179 h 3624606"/>
              <a:gd name="connsiteX90" fmla="*/ 438280 w 513703"/>
              <a:gd name="connsiteY90" fmla="*/ 844602 h 3624606"/>
              <a:gd name="connsiteX91" fmla="*/ 362857 w 513703"/>
              <a:gd name="connsiteY91" fmla="*/ 769179 h 3624606"/>
              <a:gd name="connsiteX92" fmla="*/ 438280 w 513703"/>
              <a:gd name="connsiteY92" fmla="*/ 693756 h 3624606"/>
              <a:gd name="connsiteX93" fmla="*/ 75423 w 513703"/>
              <a:gd name="connsiteY93" fmla="*/ 693756 h 3624606"/>
              <a:gd name="connsiteX94" fmla="*/ 150846 w 513703"/>
              <a:gd name="connsiteY94" fmla="*/ 769179 h 3624606"/>
              <a:gd name="connsiteX95" fmla="*/ 75423 w 513703"/>
              <a:gd name="connsiteY95" fmla="*/ 844602 h 3624606"/>
              <a:gd name="connsiteX96" fmla="*/ 0 w 513703"/>
              <a:gd name="connsiteY96" fmla="*/ 769179 h 3624606"/>
              <a:gd name="connsiteX97" fmla="*/ 75423 w 513703"/>
              <a:gd name="connsiteY97" fmla="*/ 693756 h 3624606"/>
              <a:gd name="connsiteX98" fmla="*/ 75423 w 513703"/>
              <a:gd name="connsiteY98" fmla="*/ 346879 h 3624606"/>
              <a:gd name="connsiteX99" fmla="*/ 150846 w 513703"/>
              <a:gd name="connsiteY99" fmla="*/ 422302 h 3624606"/>
              <a:gd name="connsiteX100" fmla="*/ 75423 w 513703"/>
              <a:gd name="connsiteY100" fmla="*/ 497724 h 3624606"/>
              <a:gd name="connsiteX101" fmla="*/ 0 w 513703"/>
              <a:gd name="connsiteY101" fmla="*/ 422302 h 3624606"/>
              <a:gd name="connsiteX102" fmla="*/ 75423 w 513703"/>
              <a:gd name="connsiteY102" fmla="*/ 346879 h 3624606"/>
              <a:gd name="connsiteX103" fmla="*/ 438280 w 513703"/>
              <a:gd name="connsiteY103" fmla="*/ 346878 h 3624606"/>
              <a:gd name="connsiteX104" fmla="*/ 513703 w 513703"/>
              <a:gd name="connsiteY104" fmla="*/ 422301 h 3624606"/>
              <a:gd name="connsiteX105" fmla="*/ 438280 w 513703"/>
              <a:gd name="connsiteY105" fmla="*/ 497724 h 3624606"/>
              <a:gd name="connsiteX106" fmla="*/ 362857 w 513703"/>
              <a:gd name="connsiteY106" fmla="*/ 422301 h 3624606"/>
              <a:gd name="connsiteX107" fmla="*/ 438280 w 513703"/>
              <a:gd name="connsiteY107" fmla="*/ 346878 h 3624606"/>
              <a:gd name="connsiteX108" fmla="*/ 75423 w 513703"/>
              <a:gd name="connsiteY108" fmla="*/ 1 h 3624606"/>
              <a:gd name="connsiteX109" fmla="*/ 150846 w 513703"/>
              <a:gd name="connsiteY109" fmla="*/ 75424 h 3624606"/>
              <a:gd name="connsiteX110" fmla="*/ 75423 w 513703"/>
              <a:gd name="connsiteY110" fmla="*/ 150847 h 3624606"/>
              <a:gd name="connsiteX111" fmla="*/ 0 w 513703"/>
              <a:gd name="connsiteY111" fmla="*/ 75424 h 3624606"/>
              <a:gd name="connsiteX112" fmla="*/ 75423 w 513703"/>
              <a:gd name="connsiteY112" fmla="*/ 1 h 3624606"/>
              <a:gd name="connsiteX113" fmla="*/ 438280 w 513703"/>
              <a:gd name="connsiteY113" fmla="*/ 0 h 3624606"/>
              <a:gd name="connsiteX114" fmla="*/ 513703 w 513703"/>
              <a:gd name="connsiteY114" fmla="*/ 75424 h 3624606"/>
              <a:gd name="connsiteX115" fmla="*/ 438280 w 513703"/>
              <a:gd name="connsiteY115" fmla="*/ 150847 h 3624606"/>
              <a:gd name="connsiteX116" fmla="*/ 362857 w 513703"/>
              <a:gd name="connsiteY116" fmla="*/ 75424 h 3624606"/>
              <a:gd name="connsiteX117" fmla="*/ 438280 w 513703"/>
              <a:gd name="connsiteY117" fmla="*/ 0 h 362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513703" h="3624606">
                <a:moveTo>
                  <a:pt x="438280" y="3473760"/>
                </a:moveTo>
                <a:cubicBezTo>
                  <a:pt x="479935" y="3473760"/>
                  <a:pt x="513703" y="3507528"/>
                  <a:pt x="513703" y="3549183"/>
                </a:cubicBezTo>
                <a:cubicBezTo>
                  <a:pt x="513703" y="3590838"/>
                  <a:pt x="479935" y="3624606"/>
                  <a:pt x="438280" y="3624606"/>
                </a:cubicBezTo>
                <a:cubicBezTo>
                  <a:pt x="396625" y="3624606"/>
                  <a:pt x="362857" y="3590838"/>
                  <a:pt x="362857" y="3549183"/>
                </a:cubicBezTo>
                <a:cubicBezTo>
                  <a:pt x="362857" y="3507528"/>
                  <a:pt x="396625" y="3473760"/>
                  <a:pt x="438280" y="3473760"/>
                </a:cubicBezTo>
                <a:close/>
                <a:moveTo>
                  <a:pt x="75423" y="3473760"/>
                </a:moveTo>
                <a:cubicBezTo>
                  <a:pt x="117078" y="3473760"/>
                  <a:pt x="150846" y="3507528"/>
                  <a:pt x="150846" y="3549183"/>
                </a:cubicBezTo>
                <a:cubicBezTo>
                  <a:pt x="150846" y="3590838"/>
                  <a:pt x="117078" y="3624606"/>
                  <a:pt x="75423" y="3624606"/>
                </a:cubicBezTo>
                <a:cubicBezTo>
                  <a:pt x="33768" y="3624606"/>
                  <a:pt x="0" y="3590838"/>
                  <a:pt x="0" y="3549183"/>
                </a:cubicBezTo>
                <a:cubicBezTo>
                  <a:pt x="0" y="3507528"/>
                  <a:pt x="33768" y="3473760"/>
                  <a:pt x="75423" y="3473760"/>
                </a:cubicBezTo>
                <a:close/>
                <a:moveTo>
                  <a:pt x="438280" y="3126882"/>
                </a:moveTo>
                <a:cubicBezTo>
                  <a:pt x="479935" y="3126882"/>
                  <a:pt x="513703" y="3160650"/>
                  <a:pt x="513703" y="3202305"/>
                </a:cubicBezTo>
                <a:cubicBezTo>
                  <a:pt x="513703" y="3243960"/>
                  <a:pt x="479935" y="3277728"/>
                  <a:pt x="438280" y="3277728"/>
                </a:cubicBezTo>
                <a:cubicBezTo>
                  <a:pt x="396625" y="3277728"/>
                  <a:pt x="362857" y="3243960"/>
                  <a:pt x="362857" y="3202305"/>
                </a:cubicBezTo>
                <a:cubicBezTo>
                  <a:pt x="362857" y="3160650"/>
                  <a:pt x="396625" y="3126882"/>
                  <a:pt x="438280" y="3126882"/>
                </a:cubicBezTo>
                <a:close/>
                <a:moveTo>
                  <a:pt x="75423" y="3126882"/>
                </a:moveTo>
                <a:cubicBezTo>
                  <a:pt x="117078" y="3126882"/>
                  <a:pt x="150846" y="3160650"/>
                  <a:pt x="150846" y="3202305"/>
                </a:cubicBezTo>
                <a:cubicBezTo>
                  <a:pt x="150846" y="3243960"/>
                  <a:pt x="117078" y="3277728"/>
                  <a:pt x="75423" y="3277728"/>
                </a:cubicBezTo>
                <a:cubicBezTo>
                  <a:pt x="33768" y="3277728"/>
                  <a:pt x="0" y="3243960"/>
                  <a:pt x="0" y="3202305"/>
                </a:cubicBezTo>
                <a:cubicBezTo>
                  <a:pt x="0" y="3160650"/>
                  <a:pt x="33768" y="3126882"/>
                  <a:pt x="75423" y="3126882"/>
                </a:cubicBezTo>
                <a:close/>
                <a:moveTo>
                  <a:pt x="438280" y="2780004"/>
                </a:moveTo>
                <a:cubicBezTo>
                  <a:pt x="479935" y="2780004"/>
                  <a:pt x="513703" y="2813772"/>
                  <a:pt x="513703" y="2855427"/>
                </a:cubicBezTo>
                <a:cubicBezTo>
                  <a:pt x="513703" y="2897082"/>
                  <a:pt x="479935" y="2930850"/>
                  <a:pt x="438280" y="2930850"/>
                </a:cubicBezTo>
                <a:cubicBezTo>
                  <a:pt x="396625" y="2930850"/>
                  <a:pt x="362857" y="2897082"/>
                  <a:pt x="362857" y="2855427"/>
                </a:cubicBezTo>
                <a:cubicBezTo>
                  <a:pt x="362857" y="2813772"/>
                  <a:pt x="396625" y="2780004"/>
                  <a:pt x="438280" y="2780004"/>
                </a:cubicBezTo>
                <a:close/>
                <a:moveTo>
                  <a:pt x="75423" y="2780004"/>
                </a:moveTo>
                <a:cubicBezTo>
                  <a:pt x="117078" y="2780004"/>
                  <a:pt x="150846" y="2813772"/>
                  <a:pt x="150846" y="2855427"/>
                </a:cubicBezTo>
                <a:cubicBezTo>
                  <a:pt x="150846" y="2897082"/>
                  <a:pt x="117078" y="2930850"/>
                  <a:pt x="75423" y="2930850"/>
                </a:cubicBezTo>
                <a:cubicBezTo>
                  <a:pt x="33768" y="2930850"/>
                  <a:pt x="0" y="2897082"/>
                  <a:pt x="0" y="2855427"/>
                </a:cubicBezTo>
                <a:cubicBezTo>
                  <a:pt x="0" y="2813772"/>
                  <a:pt x="33768" y="2780004"/>
                  <a:pt x="75423" y="2780004"/>
                </a:cubicBezTo>
                <a:close/>
                <a:moveTo>
                  <a:pt x="438280" y="2433126"/>
                </a:moveTo>
                <a:cubicBezTo>
                  <a:pt x="479935" y="2433126"/>
                  <a:pt x="513703" y="2466894"/>
                  <a:pt x="513703" y="2508549"/>
                </a:cubicBezTo>
                <a:cubicBezTo>
                  <a:pt x="513703" y="2550204"/>
                  <a:pt x="479935" y="2583972"/>
                  <a:pt x="438280" y="2583972"/>
                </a:cubicBezTo>
                <a:cubicBezTo>
                  <a:pt x="396625" y="2583972"/>
                  <a:pt x="362857" y="2550204"/>
                  <a:pt x="362857" y="2508549"/>
                </a:cubicBezTo>
                <a:cubicBezTo>
                  <a:pt x="362857" y="2466894"/>
                  <a:pt x="396625" y="2433126"/>
                  <a:pt x="438280" y="2433126"/>
                </a:cubicBezTo>
                <a:close/>
                <a:moveTo>
                  <a:pt x="75423" y="2433126"/>
                </a:moveTo>
                <a:cubicBezTo>
                  <a:pt x="117078" y="2433126"/>
                  <a:pt x="150846" y="2466894"/>
                  <a:pt x="150846" y="2508549"/>
                </a:cubicBezTo>
                <a:cubicBezTo>
                  <a:pt x="150846" y="2550204"/>
                  <a:pt x="117078" y="2583972"/>
                  <a:pt x="75423" y="2583972"/>
                </a:cubicBezTo>
                <a:cubicBezTo>
                  <a:pt x="33768" y="2583972"/>
                  <a:pt x="0" y="2550204"/>
                  <a:pt x="0" y="2508549"/>
                </a:cubicBezTo>
                <a:cubicBezTo>
                  <a:pt x="0" y="2466894"/>
                  <a:pt x="33768" y="2433126"/>
                  <a:pt x="75423" y="2433126"/>
                </a:cubicBezTo>
                <a:close/>
                <a:moveTo>
                  <a:pt x="438280" y="2086248"/>
                </a:moveTo>
                <a:cubicBezTo>
                  <a:pt x="479935" y="2086248"/>
                  <a:pt x="513703" y="2120016"/>
                  <a:pt x="513703" y="2161671"/>
                </a:cubicBezTo>
                <a:cubicBezTo>
                  <a:pt x="513703" y="2203326"/>
                  <a:pt x="479935" y="2237094"/>
                  <a:pt x="438280" y="2237094"/>
                </a:cubicBezTo>
                <a:cubicBezTo>
                  <a:pt x="396625" y="2237094"/>
                  <a:pt x="362857" y="2203326"/>
                  <a:pt x="362857" y="2161671"/>
                </a:cubicBezTo>
                <a:cubicBezTo>
                  <a:pt x="362857" y="2120016"/>
                  <a:pt x="396625" y="2086248"/>
                  <a:pt x="438280" y="2086248"/>
                </a:cubicBezTo>
                <a:close/>
                <a:moveTo>
                  <a:pt x="75423" y="2086248"/>
                </a:moveTo>
                <a:cubicBezTo>
                  <a:pt x="117078" y="2086248"/>
                  <a:pt x="150846" y="2120016"/>
                  <a:pt x="150846" y="2161671"/>
                </a:cubicBezTo>
                <a:cubicBezTo>
                  <a:pt x="150846" y="2203326"/>
                  <a:pt x="117078" y="2237094"/>
                  <a:pt x="75423" y="2237094"/>
                </a:cubicBezTo>
                <a:cubicBezTo>
                  <a:pt x="33768" y="2237094"/>
                  <a:pt x="0" y="2203326"/>
                  <a:pt x="0" y="2161671"/>
                </a:cubicBezTo>
                <a:cubicBezTo>
                  <a:pt x="0" y="2120016"/>
                  <a:pt x="33768" y="2086248"/>
                  <a:pt x="75423" y="2086248"/>
                </a:cubicBezTo>
                <a:close/>
                <a:moveTo>
                  <a:pt x="438280" y="1734390"/>
                </a:moveTo>
                <a:cubicBezTo>
                  <a:pt x="479935" y="1734390"/>
                  <a:pt x="513703" y="1768158"/>
                  <a:pt x="513703" y="1809813"/>
                </a:cubicBezTo>
                <a:lnTo>
                  <a:pt x="513200" y="1812303"/>
                </a:lnTo>
                <a:lnTo>
                  <a:pt x="513703" y="1814793"/>
                </a:lnTo>
                <a:cubicBezTo>
                  <a:pt x="513703" y="1856448"/>
                  <a:pt x="479935" y="1890216"/>
                  <a:pt x="438280" y="1890216"/>
                </a:cubicBezTo>
                <a:cubicBezTo>
                  <a:pt x="396625" y="1890216"/>
                  <a:pt x="362857" y="1856448"/>
                  <a:pt x="362857" y="1814793"/>
                </a:cubicBezTo>
                <a:lnTo>
                  <a:pt x="363360" y="1812303"/>
                </a:lnTo>
                <a:lnTo>
                  <a:pt x="362857" y="1809813"/>
                </a:lnTo>
                <a:cubicBezTo>
                  <a:pt x="362857" y="1768158"/>
                  <a:pt x="396625" y="1734390"/>
                  <a:pt x="438280" y="1734390"/>
                </a:cubicBezTo>
                <a:close/>
                <a:moveTo>
                  <a:pt x="75423" y="1734390"/>
                </a:moveTo>
                <a:cubicBezTo>
                  <a:pt x="117078" y="1734390"/>
                  <a:pt x="150846" y="1768158"/>
                  <a:pt x="150846" y="1809813"/>
                </a:cubicBezTo>
                <a:lnTo>
                  <a:pt x="150343" y="1812303"/>
                </a:lnTo>
                <a:lnTo>
                  <a:pt x="150846" y="1814793"/>
                </a:lnTo>
                <a:cubicBezTo>
                  <a:pt x="150846" y="1856448"/>
                  <a:pt x="117078" y="1890216"/>
                  <a:pt x="75423" y="1890216"/>
                </a:cubicBezTo>
                <a:cubicBezTo>
                  <a:pt x="33768" y="1890216"/>
                  <a:pt x="0" y="1856448"/>
                  <a:pt x="0" y="1814793"/>
                </a:cubicBezTo>
                <a:lnTo>
                  <a:pt x="503" y="1812303"/>
                </a:lnTo>
                <a:lnTo>
                  <a:pt x="0" y="1809813"/>
                </a:lnTo>
                <a:cubicBezTo>
                  <a:pt x="0" y="1768158"/>
                  <a:pt x="33768" y="1734390"/>
                  <a:pt x="75423" y="1734390"/>
                </a:cubicBezTo>
                <a:close/>
                <a:moveTo>
                  <a:pt x="438280" y="1387512"/>
                </a:moveTo>
                <a:cubicBezTo>
                  <a:pt x="479935" y="1387512"/>
                  <a:pt x="513703" y="1421280"/>
                  <a:pt x="513703" y="1462935"/>
                </a:cubicBezTo>
                <a:cubicBezTo>
                  <a:pt x="513703" y="1504590"/>
                  <a:pt x="479935" y="1538358"/>
                  <a:pt x="438280" y="1538358"/>
                </a:cubicBezTo>
                <a:cubicBezTo>
                  <a:pt x="396625" y="1538358"/>
                  <a:pt x="362857" y="1504590"/>
                  <a:pt x="362857" y="1462935"/>
                </a:cubicBezTo>
                <a:cubicBezTo>
                  <a:pt x="362857" y="1421280"/>
                  <a:pt x="396625" y="1387512"/>
                  <a:pt x="438280" y="1387512"/>
                </a:cubicBezTo>
                <a:close/>
                <a:moveTo>
                  <a:pt x="75423" y="1387512"/>
                </a:moveTo>
                <a:cubicBezTo>
                  <a:pt x="117078" y="1387512"/>
                  <a:pt x="150846" y="1421280"/>
                  <a:pt x="150846" y="1462935"/>
                </a:cubicBezTo>
                <a:cubicBezTo>
                  <a:pt x="150846" y="1504590"/>
                  <a:pt x="117078" y="1538358"/>
                  <a:pt x="75423" y="1538358"/>
                </a:cubicBezTo>
                <a:cubicBezTo>
                  <a:pt x="33768" y="1538358"/>
                  <a:pt x="0" y="1504590"/>
                  <a:pt x="0" y="1462935"/>
                </a:cubicBezTo>
                <a:cubicBezTo>
                  <a:pt x="0" y="1421280"/>
                  <a:pt x="33768" y="1387512"/>
                  <a:pt x="75423" y="1387512"/>
                </a:cubicBezTo>
                <a:close/>
                <a:moveTo>
                  <a:pt x="75423" y="1040634"/>
                </a:moveTo>
                <a:cubicBezTo>
                  <a:pt x="117078" y="1040634"/>
                  <a:pt x="150846" y="1074403"/>
                  <a:pt x="150846" y="1116057"/>
                </a:cubicBezTo>
                <a:cubicBezTo>
                  <a:pt x="150846" y="1157713"/>
                  <a:pt x="117078" y="1191480"/>
                  <a:pt x="75423" y="1191480"/>
                </a:cubicBezTo>
                <a:cubicBezTo>
                  <a:pt x="33768" y="1191480"/>
                  <a:pt x="0" y="1157713"/>
                  <a:pt x="0" y="1116057"/>
                </a:cubicBezTo>
                <a:cubicBezTo>
                  <a:pt x="0" y="1074403"/>
                  <a:pt x="33768" y="1040634"/>
                  <a:pt x="75423" y="1040634"/>
                </a:cubicBezTo>
                <a:close/>
                <a:moveTo>
                  <a:pt x="438280" y="1040634"/>
                </a:moveTo>
                <a:cubicBezTo>
                  <a:pt x="479935" y="1040634"/>
                  <a:pt x="513703" y="1074402"/>
                  <a:pt x="513703" y="1116057"/>
                </a:cubicBezTo>
                <a:cubicBezTo>
                  <a:pt x="513703" y="1157712"/>
                  <a:pt x="479935" y="1191480"/>
                  <a:pt x="438280" y="1191480"/>
                </a:cubicBezTo>
                <a:cubicBezTo>
                  <a:pt x="396625" y="1191480"/>
                  <a:pt x="362857" y="1157712"/>
                  <a:pt x="362857" y="1116057"/>
                </a:cubicBezTo>
                <a:cubicBezTo>
                  <a:pt x="362857" y="1074402"/>
                  <a:pt x="396625" y="1040634"/>
                  <a:pt x="438280" y="1040634"/>
                </a:cubicBezTo>
                <a:close/>
                <a:moveTo>
                  <a:pt x="438280" y="693756"/>
                </a:moveTo>
                <a:cubicBezTo>
                  <a:pt x="479935" y="693756"/>
                  <a:pt x="513703" y="727524"/>
                  <a:pt x="513703" y="769179"/>
                </a:cubicBezTo>
                <a:cubicBezTo>
                  <a:pt x="513703" y="810834"/>
                  <a:pt x="479935" y="844602"/>
                  <a:pt x="438280" y="844602"/>
                </a:cubicBezTo>
                <a:cubicBezTo>
                  <a:pt x="396625" y="844602"/>
                  <a:pt x="362857" y="810834"/>
                  <a:pt x="362857" y="769179"/>
                </a:cubicBezTo>
                <a:cubicBezTo>
                  <a:pt x="362857" y="727524"/>
                  <a:pt x="396625" y="693756"/>
                  <a:pt x="438280" y="693756"/>
                </a:cubicBezTo>
                <a:close/>
                <a:moveTo>
                  <a:pt x="75423" y="693756"/>
                </a:moveTo>
                <a:cubicBezTo>
                  <a:pt x="117078" y="693756"/>
                  <a:pt x="150846" y="727525"/>
                  <a:pt x="150846" y="769179"/>
                </a:cubicBezTo>
                <a:cubicBezTo>
                  <a:pt x="150846" y="810834"/>
                  <a:pt x="117078" y="844602"/>
                  <a:pt x="75423" y="844602"/>
                </a:cubicBezTo>
                <a:cubicBezTo>
                  <a:pt x="33768" y="844602"/>
                  <a:pt x="0" y="810834"/>
                  <a:pt x="0" y="769179"/>
                </a:cubicBezTo>
                <a:cubicBezTo>
                  <a:pt x="0" y="727525"/>
                  <a:pt x="33768" y="693756"/>
                  <a:pt x="75423" y="693756"/>
                </a:cubicBezTo>
                <a:close/>
                <a:moveTo>
                  <a:pt x="75423" y="346879"/>
                </a:moveTo>
                <a:cubicBezTo>
                  <a:pt x="117078" y="346879"/>
                  <a:pt x="150846" y="380647"/>
                  <a:pt x="150846" y="422302"/>
                </a:cubicBezTo>
                <a:cubicBezTo>
                  <a:pt x="150846" y="463957"/>
                  <a:pt x="117078" y="497724"/>
                  <a:pt x="75423" y="497724"/>
                </a:cubicBezTo>
                <a:cubicBezTo>
                  <a:pt x="33768" y="497724"/>
                  <a:pt x="0" y="463957"/>
                  <a:pt x="0" y="422302"/>
                </a:cubicBezTo>
                <a:cubicBezTo>
                  <a:pt x="0" y="380647"/>
                  <a:pt x="33768" y="346879"/>
                  <a:pt x="75423" y="346879"/>
                </a:cubicBezTo>
                <a:close/>
                <a:moveTo>
                  <a:pt x="438280" y="346878"/>
                </a:moveTo>
                <a:cubicBezTo>
                  <a:pt x="479935" y="346878"/>
                  <a:pt x="513703" y="380646"/>
                  <a:pt x="513703" y="422301"/>
                </a:cubicBezTo>
                <a:cubicBezTo>
                  <a:pt x="513703" y="463956"/>
                  <a:pt x="479935" y="497724"/>
                  <a:pt x="438280" y="497724"/>
                </a:cubicBezTo>
                <a:cubicBezTo>
                  <a:pt x="396625" y="497724"/>
                  <a:pt x="362857" y="463956"/>
                  <a:pt x="362857" y="422301"/>
                </a:cubicBezTo>
                <a:cubicBezTo>
                  <a:pt x="362857" y="380646"/>
                  <a:pt x="396625" y="346878"/>
                  <a:pt x="438280" y="346878"/>
                </a:cubicBezTo>
                <a:close/>
                <a:moveTo>
                  <a:pt x="75423" y="1"/>
                </a:moveTo>
                <a:cubicBezTo>
                  <a:pt x="117078" y="1"/>
                  <a:pt x="150846" y="33769"/>
                  <a:pt x="150846" y="75424"/>
                </a:cubicBezTo>
                <a:cubicBezTo>
                  <a:pt x="150846" y="117079"/>
                  <a:pt x="117078" y="150847"/>
                  <a:pt x="75423" y="150847"/>
                </a:cubicBezTo>
                <a:cubicBezTo>
                  <a:pt x="33768" y="150847"/>
                  <a:pt x="0" y="117079"/>
                  <a:pt x="0" y="75424"/>
                </a:cubicBezTo>
                <a:cubicBezTo>
                  <a:pt x="0" y="33769"/>
                  <a:pt x="33768" y="1"/>
                  <a:pt x="75423" y="1"/>
                </a:cubicBezTo>
                <a:close/>
                <a:moveTo>
                  <a:pt x="438280" y="0"/>
                </a:moveTo>
                <a:cubicBezTo>
                  <a:pt x="479935" y="0"/>
                  <a:pt x="513703" y="33769"/>
                  <a:pt x="513703" y="75424"/>
                </a:cubicBezTo>
                <a:cubicBezTo>
                  <a:pt x="513703" y="117079"/>
                  <a:pt x="479935" y="150847"/>
                  <a:pt x="438280" y="150847"/>
                </a:cubicBezTo>
                <a:cubicBezTo>
                  <a:pt x="396625" y="150847"/>
                  <a:pt x="362857" y="117079"/>
                  <a:pt x="362857" y="75424"/>
                </a:cubicBezTo>
                <a:cubicBezTo>
                  <a:pt x="362857" y="33769"/>
                  <a:pt x="396625" y="0"/>
                  <a:pt x="438280" y="0"/>
                </a:cubicBezTo>
                <a:close/>
              </a:path>
            </a:pathLst>
          </a:custGeom>
          <a:gradFill>
            <a:gsLst>
              <a:gs pos="74000">
                <a:schemeClr val="accent2">
                  <a:alpha val="70000"/>
                </a:schemeClr>
              </a:gs>
              <a:gs pos="0">
                <a:schemeClr val="accent4">
                  <a:alpha val="7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6" y="488949"/>
            <a:ext cx="631826" cy="63182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243012" y="589418"/>
            <a:ext cx="4698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经典教材《计算机操作系统》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最新版</a:t>
            </a:r>
            <a:endParaRPr lang="zh-CN" altLang="en-US" sz="2200" b="1" dirty="0">
              <a:solidFill>
                <a:schemeClr val="accent2"/>
              </a:solidFill>
            </a:endParaRPr>
          </a:p>
        </p:txBody>
      </p:sp>
      <p:sp>
        <p:nvSpPr>
          <p:cNvPr id="17" name="矩形: 圆角 21"/>
          <p:cNvSpPr/>
          <p:nvPr/>
        </p:nvSpPr>
        <p:spPr>
          <a:xfrm>
            <a:off x="800099" y="4579447"/>
            <a:ext cx="4235540" cy="45927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主讲教师：解</a:t>
            </a:r>
            <a:r>
              <a:rPr lang="zh-CN" altLang="en-US" b="1" dirty="0">
                <a:solidFill>
                  <a:schemeClr val="tx1"/>
                </a:solidFill>
              </a:rPr>
              <a:t>春燕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84121" y="5993053"/>
            <a:ext cx="2074491" cy="43179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5100" y="844791"/>
            <a:ext cx="3007096" cy="42615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25394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第</a:t>
            </a:r>
            <a:r>
              <a:rPr lang="en-US" altLang="zh-CN" sz="2800" b="1" dirty="0">
                <a:solidFill>
                  <a:schemeClr val="bg1"/>
                </a:solidFill>
              </a:rPr>
              <a:t>5</a:t>
            </a:r>
            <a:r>
              <a:rPr lang="zh-CN" altLang="en-US" sz="2800" b="1" dirty="0">
                <a:solidFill>
                  <a:schemeClr val="bg1"/>
                </a:solidFill>
              </a:rPr>
              <a:t>章知识导图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0" name="表格 29"/>
          <p:cNvGraphicFramePr/>
          <p:nvPr>
            <p:custDataLst>
              <p:tags r:id="rId1"/>
            </p:custDataLst>
          </p:nvPr>
        </p:nvGraphicFramePr>
        <p:xfrm>
          <a:off x="462431" y="1634204"/>
          <a:ext cx="4173963" cy="478945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21039"/>
                <a:gridCol w="2952924"/>
              </a:tblGrid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 (正文)"/>
                        </a:rPr>
                        <a:t>第1章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微软雅黑 (正文)"/>
                        </a:rPr>
                        <a:t>操作系统引论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进程的描述与控制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第3章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处理机调度与死锁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第4章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进程同步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微软雅黑 (正文)"/>
                        </a:rPr>
                        <a:t>第5章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微软雅黑 (正文)"/>
                        </a:rPr>
                        <a:t>存储器管理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第6章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虚拟存储器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第7章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输入</a:t>
                      </a:r>
                      <a:r>
                        <a:rPr lang="en-US" sz="2000" dirty="0">
                          <a:latin typeface="微软雅黑 (正文)"/>
                        </a:rPr>
                        <a:t>/</a:t>
                      </a:r>
                      <a:r>
                        <a:rPr lang="en-US" sz="2000" dirty="0" err="1">
                          <a:latin typeface="微软雅黑 (正文)"/>
                        </a:rPr>
                        <a:t>输出系统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第8章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文件管理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第9章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磁盘存储器管理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第10章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多处理机操作系统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第11章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虚拟化和云计算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保护和安全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</a:tbl>
          </a:graphicData>
        </a:graphic>
      </p:graphicFrame>
      <p:sp>
        <p:nvSpPr>
          <p:cNvPr id="8" name="任意多边形: 形状 7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2" name="图片 1" descr="第5章 知识导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220" y="1159510"/>
            <a:ext cx="7411720" cy="56222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720" y="1737360"/>
            <a:ext cx="335978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5.1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存储器的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  <a:ea typeface="+mj-ea"/>
              </a:rPr>
              <a:t>层次结构</a:t>
            </a:r>
            <a:endParaRPr lang="zh-CN" altLang="en-US" sz="2400" b="1" dirty="0" smtClean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5.2 程序的装入和链接</a:t>
            </a:r>
            <a:endParaRPr lang="zh-CN" altLang="en-US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5.3 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对换与</a:t>
            </a:r>
            <a:r>
              <a:rPr lang="zh-CN" altLang="en-US" sz="2400" dirty="0" smtClean="0">
                <a:solidFill>
                  <a:schemeClr val="bg1">
                    <a:lumMod val="75000"/>
                  </a:schemeClr>
                </a:solidFill>
                <a:latin typeface="+mj-ea"/>
              </a:rPr>
              <a:t>覆盖</a:t>
            </a:r>
            <a:endParaRPr lang="zh-CN" altLang="en-US" sz="2400" dirty="0" smtClean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5.4 </a:t>
            </a:r>
            <a:r>
              <a:rPr lang="zh-CN" altLang="en-US" sz="2400" dirty="0">
                <a:latin typeface="+mj-ea"/>
              </a:rPr>
              <a:t>连续分配存储管理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5.5 </a:t>
            </a:r>
            <a:r>
              <a:rPr lang="zh-CN" altLang="en-US" sz="2400" dirty="0">
                <a:latin typeface="+mj-ea"/>
              </a:rPr>
              <a:t>分页存储管理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5.6 </a:t>
            </a:r>
            <a:r>
              <a:rPr lang="zh-CN" altLang="en-US" sz="2400" dirty="0">
                <a:latin typeface="+mj-ea"/>
              </a:rPr>
              <a:t>分段存储管理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40217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solidFill>
                  <a:schemeClr val="bg1">
                    <a:lumMod val="75000"/>
                  </a:schemeClr>
                </a:solidFill>
                <a:latin typeface="+mj-ea"/>
              </a:rPr>
              <a:t>5.7 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基于</a:t>
            </a: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IA-32/x86-64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架构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  <a:p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      的内存管理策略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5</a:t>
            </a:r>
            <a:r>
              <a:rPr lang="zh-CN" altLang="en-US" sz="3600" dirty="0">
                <a:solidFill>
                  <a:srgbClr val="000000"/>
                </a:solidFill>
              </a:rPr>
              <a:t>章 </a:t>
            </a:r>
            <a:r>
              <a:rPr lang="zh-CN" altLang="en-US" sz="3600" dirty="0" smtClean="0">
                <a:solidFill>
                  <a:srgbClr val="000000"/>
                </a:solidFill>
              </a:rPr>
              <a:t>   存储器管理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" name="右大括号 1"/>
          <p:cNvSpPr/>
          <p:nvPr/>
        </p:nvSpPr>
        <p:spPr>
          <a:xfrm>
            <a:off x="4919345" y="1911985"/>
            <a:ext cx="163830" cy="84709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78450" y="2092325"/>
            <a:ext cx="15881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 smtClean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基本概念</a:t>
            </a:r>
            <a:endParaRPr lang="zh-CN" altLang="en-US" sz="2400" b="1" dirty="0" smtClean="0">
              <a:solidFill>
                <a:srgbClr val="FF0000"/>
              </a:solidFill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</a:rPr>
              <a:t>、内存管理主要</a:t>
            </a:r>
            <a:r>
              <a:rPr lang="zh-CN" altLang="en-US" sz="2800" b="1" dirty="0">
                <a:solidFill>
                  <a:schemeClr val="bg1"/>
                </a:solidFill>
              </a:rPr>
              <a:t>内容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0530" y="888365"/>
            <a:ext cx="11574145" cy="4572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just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tx1"/>
                </a:solidFill>
                <a:latin typeface="+mn-ea"/>
                <a:sym typeface="+mn-ea"/>
              </a:rPr>
              <a:t>内存的分配与回收</a:t>
            </a:r>
            <a:endParaRPr lang="zh-CN" altLang="en-US" sz="3200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342900" indent="-342900" algn="just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tx1"/>
                </a:solidFill>
                <a:latin typeface="+mn-ea"/>
                <a:sym typeface="+mn-ea"/>
              </a:rPr>
              <a:t>地址转换</a:t>
            </a:r>
            <a:endParaRPr lang="zh-CN" altLang="en-US" sz="3200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342900" indent="-342900" algn="just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tx1"/>
                </a:solidFill>
                <a:latin typeface="+mn-ea"/>
                <a:sym typeface="+mn-ea"/>
              </a:rPr>
              <a:t>内存空间的逻辑扩充</a:t>
            </a:r>
            <a:endParaRPr lang="zh-CN" altLang="en-US" sz="3200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342900" indent="-342900" algn="just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tx1"/>
                </a:solidFill>
                <a:latin typeface="+mn-ea"/>
                <a:sym typeface="+mn-ea"/>
              </a:rPr>
              <a:t>内存共享</a:t>
            </a:r>
            <a:endParaRPr lang="zh-CN" altLang="en-US" sz="3200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342900" indent="-342900" algn="just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chemeClr val="tx1"/>
                </a:solidFill>
                <a:latin typeface="+mn-ea"/>
                <a:sym typeface="+mn-ea"/>
              </a:rPr>
              <a:t>内存保护</a:t>
            </a:r>
            <a:endParaRPr lang="zh-CN" altLang="en-US" sz="3200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57040" y="913765"/>
            <a:ext cx="7538720" cy="902970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txBody>
          <a:bodyPr wrap="square" rtlCol="0" anchor="t">
            <a:spAutoFit/>
          </a:bodyPr>
          <a:p>
            <a:pPr lvl="1" indent="0">
              <a:lnSpc>
                <a:spcPct val="132000"/>
              </a:lnSpc>
              <a:buClr>
                <a:srgbClr val="0000FF"/>
              </a:buClr>
              <a:buNone/>
            </a:pPr>
            <a:r>
              <a:rPr lang="zh-CN" altLang="en-US" sz="2000">
                <a:sym typeface="+mn-ea"/>
              </a:rPr>
              <a:t>使计算机系统可以合理高效地利用内存资源。</a:t>
            </a:r>
            <a:r>
              <a:rPr lang="zh-CN" altLang="en-US" sz="2000" b="1">
                <a:sym typeface="+mn-ea"/>
              </a:rPr>
              <a:t>由单一的连续分配发展为固定分区分配，再发展为动态分区分配</a:t>
            </a:r>
            <a:endParaRPr lang="zh-CN" altLang="en-US" sz="2000" b="1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28315" y="2129790"/>
            <a:ext cx="8767445" cy="902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lvl="1" indent="0">
              <a:lnSpc>
                <a:spcPct val="132000"/>
              </a:lnSpc>
              <a:buClr>
                <a:srgbClr val="0000FF"/>
              </a:buClr>
              <a:buNone/>
            </a:pPr>
            <a:r>
              <a:rPr lang="zh-CN" altLang="en-US" sz="2000">
                <a:sym typeface="+mn-ea"/>
              </a:rPr>
              <a:t>由于进程的逻辑地址与其在内存中的物理地址可能存在不一致，系统需要对进程的地址进行转换，即将逻辑地址转换成物理地址</a:t>
            </a:r>
            <a:endParaRPr lang="zh-CN" altLang="en-US" sz="20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61840" y="3203575"/>
            <a:ext cx="7564120" cy="902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lvl="1" indent="0">
              <a:lnSpc>
                <a:spcPct val="132000"/>
              </a:lnSpc>
              <a:buClr>
                <a:srgbClr val="0000FF"/>
              </a:buClr>
              <a:buNone/>
            </a:pPr>
            <a:r>
              <a:rPr lang="zh-CN" altLang="en-US" sz="2000">
                <a:sym typeface="+mn-ea"/>
              </a:rPr>
              <a:t>采用虚拟存储器技术将内存从逻辑上进行扩充，从而高效利用内存，并解决了大部分程序无法装入内存的问题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80030" y="4415790"/>
            <a:ext cx="9224645" cy="902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lvl="1" indent="0">
              <a:lnSpc>
                <a:spcPct val="132000"/>
              </a:lnSpc>
              <a:buClr>
                <a:srgbClr val="0000FF"/>
              </a:buClr>
              <a:buNone/>
            </a:pPr>
            <a:r>
              <a:rPr lang="zh-CN" altLang="en-US" sz="2000">
                <a:sym typeface="+mn-ea"/>
              </a:rPr>
              <a:t>使不同的进程之间共享同一部分内存。不同进程之间相互通信，以及减少内存的占用。</a:t>
            </a:r>
            <a:endParaRPr lang="zh-CN" altLang="en-US" sz="200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02560" y="5370830"/>
            <a:ext cx="9062085" cy="902970"/>
          </a:xfrm>
          <a:prstGeom prst="rect">
            <a:avLst/>
          </a:prstGeom>
          <a:solidFill>
            <a:srgbClr val="B5C797"/>
          </a:solidFill>
        </p:spPr>
        <p:txBody>
          <a:bodyPr wrap="square" rtlCol="0" anchor="t">
            <a:spAutoFit/>
          </a:bodyPr>
          <a:p>
            <a:pPr lvl="1" indent="0">
              <a:lnSpc>
                <a:spcPct val="132000"/>
              </a:lnSpc>
              <a:buClr>
                <a:srgbClr val="0000FF"/>
              </a:buClr>
              <a:buNone/>
            </a:pPr>
            <a:r>
              <a:rPr lang="zh-CN" altLang="en-US" sz="2000">
                <a:sym typeface="+mn-ea"/>
              </a:rPr>
              <a:t>采用界地址保护和存取访问控制等方式，控制进程只能访问自己有权访问的内存部分，从而防止用户进程对操作系统的干扰或用户进程之间的相互干扰。</a:t>
            </a:r>
            <a:endParaRPr lang="zh-CN" altLang="en-US" sz="20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3" grpId="0" animBg="1"/>
      <p:bldP spid="3" grpId="1" animBg="1"/>
      <p:bldP spid="4" grpId="0" bldLvl="0" animBg="1"/>
      <p:bldP spid="4" grpId="1" animBg="1"/>
      <p:bldP spid="5" grpId="0" bldLvl="0" animBg="1"/>
      <p:bldP spid="5" grpId="1" animBg="1"/>
      <p:bldP spid="6" grpId="0" bldLvl="0" animBg="1"/>
      <p:bldP spid="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</a:rPr>
              <a:t>、计算机存储层次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14" name="组合 41"/>
          <p:cNvGrpSpPr/>
          <p:nvPr/>
        </p:nvGrpSpPr>
        <p:grpSpPr bwMode="auto">
          <a:xfrm>
            <a:off x="368822" y="1339916"/>
            <a:ext cx="7127942" cy="4285358"/>
            <a:chOff x="1038179" y="1916832"/>
            <a:chExt cx="5988084" cy="3600400"/>
          </a:xfrm>
        </p:grpSpPr>
        <p:sp>
          <p:nvSpPr>
            <p:cNvPr id="15" name="梯形 14"/>
            <p:cNvSpPr/>
            <p:nvPr/>
          </p:nvSpPr>
          <p:spPr>
            <a:xfrm>
              <a:off x="2418238" y="1916832"/>
              <a:ext cx="4608025" cy="3600400"/>
            </a:xfrm>
            <a:prstGeom prst="trapezoid">
              <a:avLst/>
            </a:prstGeom>
            <a:solidFill>
              <a:srgbClr val="FFFF00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2400" dirty="0">
                <a:latin typeface="+mn-ea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3132537" y="2564523"/>
              <a:ext cx="316831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2988090" y="3140777"/>
              <a:ext cx="3455621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15" idx="1"/>
              <a:endCxn id="15" idx="3"/>
            </p:cNvCxnSpPr>
            <p:nvPr/>
          </p:nvCxnSpPr>
          <p:spPr>
            <a:xfrm>
              <a:off x="2867453" y="3717032"/>
              <a:ext cx="3708008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2699196" y="4364723"/>
              <a:ext cx="403341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2556336" y="4940977"/>
              <a:ext cx="431913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9"/>
            <p:cNvSpPr txBox="1">
              <a:spLocks noChangeArrowheads="1"/>
            </p:cNvSpPr>
            <p:nvPr/>
          </p:nvSpPr>
          <p:spPr bwMode="auto">
            <a:xfrm>
              <a:off x="4211960" y="2060847"/>
              <a:ext cx="1080120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latin typeface="+mn-ea"/>
                  <a:ea typeface="+mn-ea"/>
                </a:rPr>
                <a:t>寄存器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23" name="文本框 30"/>
            <p:cNvSpPr txBox="1">
              <a:spLocks noChangeArrowheads="1"/>
            </p:cNvSpPr>
            <p:nvPr/>
          </p:nvSpPr>
          <p:spPr bwMode="auto">
            <a:xfrm>
              <a:off x="4211960" y="2699628"/>
              <a:ext cx="1224136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+mn-ea"/>
                  <a:ea typeface="+mn-ea"/>
                </a:rPr>
                <a:t>高速缓存</a:t>
              </a: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4" name="文本框 31"/>
            <p:cNvSpPr txBox="1">
              <a:spLocks noChangeArrowheads="1"/>
            </p:cNvSpPr>
            <p:nvPr/>
          </p:nvSpPr>
          <p:spPr bwMode="auto">
            <a:xfrm>
              <a:off x="4211960" y="3275692"/>
              <a:ext cx="1224136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+mn-ea"/>
                  <a:ea typeface="+mn-ea"/>
                </a:rPr>
                <a:t>主存储器</a:t>
              </a: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5" name="文本框 32"/>
            <p:cNvSpPr txBox="1">
              <a:spLocks noChangeArrowheads="1"/>
            </p:cNvSpPr>
            <p:nvPr/>
          </p:nvSpPr>
          <p:spPr bwMode="auto">
            <a:xfrm>
              <a:off x="4283968" y="3872123"/>
              <a:ext cx="1224136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+mn-ea"/>
                  <a:ea typeface="+mn-ea"/>
                </a:rPr>
                <a:t>磁盘缓存</a:t>
              </a: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6" name="文本框 33"/>
            <p:cNvSpPr txBox="1">
              <a:spLocks noChangeArrowheads="1"/>
            </p:cNvSpPr>
            <p:nvPr/>
          </p:nvSpPr>
          <p:spPr bwMode="auto">
            <a:xfrm>
              <a:off x="4283968" y="4478450"/>
              <a:ext cx="1224136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+mn-ea"/>
                  <a:ea typeface="+mn-ea"/>
                </a:rPr>
                <a:t>固定磁盘</a:t>
              </a: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7" name="文本框 34"/>
            <p:cNvSpPr txBox="1">
              <a:spLocks noChangeArrowheads="1"/>
            </p:cNvSpPr>
            <p:nvPr/>
          </p:nvSpPr>
          <p:spPr bwMode="auto">
            <a:xfrm>
              <a:off x="3995935" y="5084658"/>
              <a:ext cx="2099863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latin typeface="+mn-ea"/>
                  <a:ea typeface="+mn-ea"/>
                </a:rPr>
                <a:t>可移动存储介质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28" name="文本框 35"/>
            <p:cNvSpPr txBox="1">
              <a:spLocks noChangeArrowheads="1"/>
            </p:cNvSpPr>
            <p:nvPr/>
          </p:nvSpPr>
          <p:spPr bwMode="auto">
            <a:xfrm>
              <a:off x="1043608" y="2060847"/>
              <a:ext cx="1512168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+mn-ea"/>
                  <a:ea typeface="+mn-ea"/>
                  <a:cs typeface="黑体" panose="02010609060101010101" charset="-122"/>
                </a:rPr>
                <a:t>CPU</a:t>
              </a:r>
              <a:r>
                <a:rPr lang="zh-CN" altLang="en-US" sz="2400">
                  <a:latin typeface="+mn-ea"/>
                  <a:ea typeface="+mn-ea"/>
                  <a:cs typeface="黑体" panose="02010609060101010101" charset="-122"/>
                </a:rPr>
                <a:t>寄存器</a:t>
              </a:r>
              <a:endParaRPr lang="zh-CN" altLang="en-US" sz="2400">
                <a:latin typeface="+mn-ea"/>
                <a:ea typeface="+mn-ea"/>
                <a:cs typeface="黑体" panose="02010609060101010101" charset="-122"/>
              </a:endParaRPr>
            </a:p>
          </p:txBody>
        </p:sp>
        <p:sp>
          <p:nvSpPr>
            <p:cNvPr id="29" name="文本框 36"/>
            <p:cNvSpPr txBox="1">
              <a:spLocks noChangeArrowheads="1"/>
            </p:cNvSpPr>
            <p:nvPr/>
          </p:nvSpPr>
          <p:spPr bwMode="auto">
            <a:xfrm>
              <a:off x="1339839" y="3275692"/>
              <a:ext cx="716611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+mn-ea"/>
                  <a:ea typeface="+mn-ea"/>
                </a:rPr>
                <a:t>主存</a:t>
              </a: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0" name="文本框 37"/>
            <p:cNvSpPr txBox="1">
              <a:spLocks noChangeArrowheads="1"/>
            </p:cNvSpPr>
            <p:nvPr/>
          </p:nvSpPr>
          <p:spPr bwMode="auto">
            <a:xfrm>
              <a:off x="1038179" y="4715326"/>
              <a:ext cx="725510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latin typeface="+mn-ea"/>
                  <a:ea typeface="+mn-ea"/>
                </a:rPr>
                <a:t>辅存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31" name="左大括号 30"/>
            <p:cNvSpPr/>
            <p:nvPr/>
          </p:nvSpPr>
          <p:spPr>
            <a:xfrm>
              <a:off x="2556336" y="1916832"/>
              <a:ext cx="142860" cy="647691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32" name="左大括号 31"/>
            <p:cNvSpPr/>
            <p:nvPr/>
          </p:nvSpPr>
          <p:spPr>
            <a:xfrm>
              <a:off x="2286489" y="2564523"/>
              <a:ext cx="125399" cy="1730351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33" name="左大括号 32"/>
            <p:cNvSpPr/>
            <p:nvPr/>
          </p:nvSpPr>
          <p:spPr>
            <a:xfrm>
              <a:off x="1910291" y="4364723"/>
              <a:ext cx="141273" cy="1152509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2400">
                <a:latin typeface="+mn-ea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7489190" y="888365"/>
            <a:ext cx="4515485" cy="3650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sym typeface="+mn-ea"/>
              </a:rPr>
              <a:t>层次越高，访问速度越快，价格也越高，存储容量也</a:t>
            </a:r>
            <a:r>
              <a:rPr lang="zh-CN" altLang="en-US" sz="2400" dirty="0" smtClean="0">
                <a:solidFill>
                  <a:schemeClr val="tx1"/>
                </a:solidFill>
                <a:latin typeface="+mn-ea"/>
                <a:sym typeface="+mn-ea"/>
              </a:rPr>
              <a:t>最小</a:t>
            </a:r>
            <a:endParaRPr lang="zh-CN" altLang="en-US" sz="2400" dirty="0">
              <a:solidFill>
                <a:schemeClr val="tx1"/>
              </a:solidFill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寄存器和主存掉电后存储的信息不再存在</a:t>
            </a:r>
            <a:endParaRPr lang="zh-CN" altLang="en-US" sz="2400" dirty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辅存的信息长期保存</a:t>
            </a:r>
            <a:endParaRPr lang="zh-CN" altLang="en-US" sz="2400" dirty="0"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3</a:t>
            </a:r>
            <a:r>
              <a:rPr lang="zh-CN" altLang="en-US" sz="2800" b="1" dirty="0">
                <a:solidFill>
                  <a:schemeClr val="bg1"/>
                </a:solidFill>
              </a:rPr>
              <a:t>、内存空间</a:t>
            </a:r>
            <a:r>
              <a:rPr lang="zh-CN" altLang="en-US" sz="2800" b="1" dirty="0">
                <a:solidFill>
                  <a:schemeClr val="bg1"/>
                </a:solidFill>
              </a:rPr>
              <a:t>结构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7475" y="888365"/>
            <a:ext cx="12074525" cy="4572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just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tx1"/>
                </a:solidFill>
                <a:latin typeface="+mn-ea"/>
                <a:sym typeface="+mn-ea"/>
              </a:rPr>
              <a:t>内存由一系列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sym typeface="+mn-ea"/>
              </a:rPr>
              <a:t>大小相同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sym typeface="+mn-ea"/>
              </a:rPr>
              <a:t>的存储单元组成，从0开始依次编址</a:t>
            </a:r>
            <a:endParaRPr lang="zh-CN" altLang="en-US" sz="2800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342900" indent="-342900" algn="just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tx1"/>
                </a:solidFill>
                <a:latin typeface="+mn-ea"/>
                <a:sym typeface="+mn-ea"/>
              </a:rPr>
              <a:t>一般以字节或字作为单位，没有特殊说明，默认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sym typeface="+mn-ea"/>
              </a:rPr>
              <a:t>字节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sym typeface="+mn-ea"/>
              </a:rPr>
              <a:t>为单位</a:t>
            </a:r>
            <a:endParaRPr lang="zh-CN" altLang="en-US" sz="2800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342900" indent="-342900" algn="just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tx1"/>
                </a:solidFill>
                <a:latin typeface="+mn-ea"/>
                <a:sym typeface="+mn-ea"/>
              </a:rPr>
              <a:t>单位换算：1T</a:t>
            </a:r>
            <a:r>
              <a:rPr lang="en-US" altLang="zh-CN" sz="2800" dirty="0">
                <a:solidFill>
                  <a:schemeClr val="tx1"/>
                </a:solidFill>
                <a:latin typeface="+mn-ea"/>
                <a:sym typeface="+mn-ea"/>
              </a:rPr>
              <a:t>B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sym typeface="+mn-ea"/>
              </a:rPr>
              <a:t>=2</a:t>
            </a:r>
            <a:r>
              <a:rPr lang="zh-CN" altLang="en-US" sz="2800" baseline="30000" dirty="0">
                <a:solidFill>
                  <a:schemeClr val="tx1"/>
                </a:solidFill>
                <a:latin typeface="+mn-ea"/>
                <a:sym typeface="+mn-ea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sym typeface="+mn-ea"/>
              </a:rPr>
              <a:t>G</a:t>
            </a:r>
            <a:r>
              <a:rPr lang="en-US" altLang="zh-CN" sz="2800" dirty="0">
                <a:solidFill>
                  <a:schemeClr val="tx1"/>
                </a:solidFill>
                <a:latin typeface="+mn-ea"/>
                <a:sym typeface="+mn-ea"/>
              </a:rPr>
              <a:t>B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sym typeface="+mn-ea"/>
              </a:rPr>
              <a:t>=2</a:t>
            </a:r>
            <a:r>
              <a:rPr lang="zh-CN" altLang="en-US" sz="2800" baseline="30000" dirty="0">
                <a:solidFill>
                  <a:schemeClr val="tx1"/>
                </a:solidFill>
                <a:latin typeface="+mn-ea"/>
                <a:sym typeface="+mn-ea"/>
              </a:rPr>
              <a:t>20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sym typeface="+mn-ea"/>
              </a:rPr>
              <a:t>M</a:t>
            </a:r>
            <a:r>
              <a:rPr lang="en-US" altLang="zh-CN" sz="2800" dirty="0">
                <a:solidFill>
                  <a:schemeClr val="tx1"/>
                </a:solidFill>
                <a:latin typeface="+mn-ea"/>
                <a:sym typeface="+mn-ea"/>
              </a:rPr>
              <a:t>B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sym typeface="+mn-ea"/>
              </a:rPr>
              <a:t>=2</a:t>
            </a:r>
            <a:r>
              <a:rPr lang="zh-CN" altLang="en-US" sz="2800" baseline="30000" dirty="0">
                <a:solidFill>
                  <a:schemeClr val="tx1"/>
                </a:solidFill>
                <a:latin typeface="+mn-ea"/>
                <a:sym typeface="+mn-ea"/>
              </a:rPr>
              <a:t>30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sym typeface="+mn-ea"/>
              </a:rPr>
              <a:t>K</a:t>
            </a:r>
            <a:r>
              <a:rPr lang="en-US" altLang="zh-CN" sz="2800" dirty="0">
                <a:solidFill>
                  <a:schemeClr val="tx1"/>
                </a:solidFill>
                <a:latin typeface="+mn-ea"/>
                <a:sym typeface="+mn-ea"/>
              </a:rPr>
              <a:t>B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sym typeface="+mn-ea"/>
              </a:rPr>
              <a:t>=2</a:t>
            </a:r>
            <a:r>
              <a:rPr lang="zh-CN" altLang="en-US" sz="2800" baseline="30000" dirty="0">
                <a:solidFill>
                  <a:schemeClr val="tx1"/>
                </a:solidFill>
                <a:latin typeface="+mn-ea"/>
                <a:sym typeface="+mn-ea"/>
              </a:rPr>
              <a:t>40</a:t>
            </a:r>
            <a:r>
              <a:rPr lang="en-US" altLang="zh-CN" sz="2800" dirty="0">
                <a:solidFill>
                  <a:schemeClr val="tx1"/>
                </a:solidFill>
                <a:latin typeface="+mn-ea"/>
                <a:sym typeface="+mn-ea"/>
              </a:rPr>
              <a:t>B</a:t>
            </a:r>
            <a:endParaRPr lang="en-US" altLang="zh-CN" sz="2800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342900" indent="-342900" algn="just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  <a:latin typeface="+mn-ea"/>
                <a:sym typeface="+mn-ea"/>
              </a:rPr>
              <a:t>内存空间通常会被划分为系统区和用户区。系统区仅供OS使用，位于</a:t>
            </a:r>
            <a:r>
              <a:rPr sz="2800" dirty="0">
                <a:solidFill>
                  <a:schemeClr val="tx1"/>
                </a:solidFill>
                <a:latin typeface="+mn-ea"/>
                <a:sym typeface="+mn-ea"/>
              </a:rPr>
              <a:t>物理内存地址</a:t>
            </a:r>
            <a:r>
              <a:rPr lang="zh-CN" sz="2800" dirty="0">
                <a:solidFill>
                  <a:schemeClr val="tx1"/>
                </a:solidFill>
                <a:latin typeface="+mn-ea"/>
                <a:sym typeface="+mn-ea"/>
              </a:rPr>
              <a:t>的</a:t>
            </a:r>
            <a:r>
              <a:rPr sz="2800" dirty="0">
                <a:solidFill>
                  <a:schemeClr val="tx1"/>
                </a:solidFill>
                <a:latin typeface="+mn-ea"/>
                <a:sym typeface="+mn-ea"/>
              </a:rPr>
              <a:t>低地址</a:t>
            </a:r>
            <a:r>
              <a:rPr lang="zh-CN" sz="2800" dirty="0">
                <a:solidFill>
                  <a:schemeClr val="tx1"/>
                </a:solidFill>
                <a:latin typeface="+mn-ea"/>
                <a:sym typeface="+mn-ea"/>
              </a:rPr>
              <a:t>区，位于</a:t>
            </a:r>
            <a:r>
              <a:rPr sz="2800" dirty="0">
                <a:solidFill>
                  <a:schemeClr val="tx1"/>
                </a:solidFill>
                <a:latin typeface="+mn-ea"/>
                <a:sym typeface="+mn-ea"/>
              </a:rPr>
              <a:t>虚拟内存</a:t>
            </a:r>
            <a:r>
              <a:rPr lang="zh-CN" sz="2800" dirty="0">
                <a:solidFill>
                  <a:schemeClr val="tx1"/>
                </a:solidFill>
                <a:latin typeface="+mn-ea"/>
                <a:sym typeface="+mn-ea"/>
              </a:rPr>
              <a:t>的</a:t>
            </a:r>
            <a:r>
              <a:rPr sz="2800" dirty="0">
                <a:solidFill>
                  <a:schemeClr val="tx1"/>
                </a:solidFill>
                <a:latin typeface="+mn-ea"/>
                <a:sym typeface="+mn-ea"/>
              </a:rPr>
              <a:t>在高地址</a:t>
            </a:r>
            <a:r>
              <a:rPr lang="zh-CN" sz="2800" dirty="0">
                <a:solidFill>
                  <a:schemeClr val="tx1"/>
                </a:solidFill>
                <a:latin typeface="+mn-ea"/>
                <a:sym typeface="+mn-ea"/>
              </a:rPr>
              <a:t>区</a:t>
            </a:r>
            <a:r>
              <a:rPr sz="2800" dirty="0">
                <a:solidFill>
                  <a:schemeClr val="tx1"/>
                </a:solidFill>
                <a:latin typeface="+mn-ea"/>
                <a:sym typeface="+mn-ea"/>
              </a:rPr>
              <a:t>。</a:t>
            </a:r>
            <a:r>
              <a:rPr lang="en-US" altLang="zh-CN" sz="2800" dirty="0">
                <a:solidFill>
                  <a:schemeClr val="tx1"/>
                </a:solidFill>
                <a:latin typeface="+mn-ea"/>
                <a:sym typeface="+mn-ea"/>
              </a:rPr>
              <a:t>内存分配任务大都在用户区进行。</a:t>
            </a:r>
            <a:endParaRPr lang="en-US" altLang="zh-CN" sz="2800" dirty="0">
              <a:solidFill>
                <a:schemeClr val="tx1"/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</a:rPr>
              <a:t>、进程的内存</a:t>
            </a:r>
            <a:r>
              <a:rPr lang="zh-CN" altLang="en-US" sz="2800" b="1" dirty="0">
                <a:solidFill>
                  <a:schemeClr val="bg1"/>
                </a:solidFill>
              </a:rPr>
              <a:t>映像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7475" y="888365"/>
            <a:ext cx="12074525" cy="1051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ea"/>
                <a:sym typeface="+mn-ea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sym typeface="+mn-ea"/>
              </a:rPr>
              <a:t>）进程初始化工作：分配存储空间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sym typeface="+mn-ea"/>
              </a:rPr>
              <a:t>+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sym typeface="+mn-ea"/>
              </a:rPr>
              <a:t>建立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sym typeface="+mn-ea"/>
              </a:rPr>
              <a:t>PCB</a:t>
            </a:r>
            <a:endParaRPr lang="en-US" altLang="zh-CN" sz="2400" dirty="0">
              <a:solidFill>
                <a:schemeClr val="tx1"/>
              </a:solidFill>
              <a:latin typeface="+mn-ea"/>
              <a:sym typeface="+mn-ea"/>
            </a:endParaRPr>
          </a:p>
          <a:p>
            <a:pPr indent="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ea"/>
                <a:sym typeface="+mn-ea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sym typeface="+mn-ea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sym typeface="+mn-ea"/>
              </a:rPr>
              <a:t>进程映像是执行程序时所需的可执行文件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sym typeface="+mn-ea"/>
              </a:rPr>
              <a:t>，也可以理解为进程在内存中的样子，放在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+mn-ea"/>
              </a:rPr>
              <a:t>用户区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sym typeface="+mn-ea"/>
              </a:rPr>
              <a:t>。</a:t>
            </a:r>
            <a:endParaRPr lang="en-US" altLang="zh-CN" sz="2400" dirty="0">
              <a:solidFill>
                <a:schemeClr val="tx1"/>
              </a:solidFill>
              <a:latin typeface="+mn-ea"/>
              <a:sym typeface="+mn-ea"/>
            </a:endParaRPr>
          </a:p>
          <a:p>
            <a:pPr indent="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ea"/>
                <a:sym typeface="+mn-ea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sym typeface="+mn-ea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sym typeface="+mn-ea"/>
              </a:rPr>
              <a:t>PCB更像是一个数据结构来保存程序的运行时信息。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sym typeface="+mn-ea"/>
              </a:rPr>
              <a:t>放在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sym typeface="+mn-ea"/>
              </a:rPr>
              <a:t>系统区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sym typeface="+mn-ea"/>
              </a:rPr>
              <a:t>。</a:t>
            </a:r>
            <a:endParaRPr lang="en-US" altLang="zh-CN" sz="2400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3413125" y="3429000"/>
          <a:ext cx="4284345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4345"/>
              </a:tblGrid>
              <a:tr h="7543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</a:rPr>
                        <a:t>OS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</a:rPr>
                        <a:t>内核区（</a:t>
                      </a:r>
                      <a:r>
                        <a:rPr lang="zh-CN" altLang="en-US" sz="2000" b="0">
                          <a:solidFill>
                            <a:schemeClr val="tx1"/>
                          </a:solidFill>
                        </a:rPr>
                        <a:t>用户不可见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</a:rPr>
                        <a:t>）</a:t>
                      </a:r>
                      <a:endParaRPr lang="zh-CN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E7E8EB"/>
                    </a:solidFill>
                  </a:tcPr>
                </a:tc>
              </a:tr>
              <a:tr h="6762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/>
                        <a:t>栈</a:t>
                      </a:r>
                      <a:r>
                        <a:rPr lang="en-US" altLang="zh-CN" sz="2400" b="1"/>
                        <a:t>(</a:t>
                      </a:r>
                      <a:r>
                        <a:rPr lang="zh-CN" altLang="en-US" sz="2000"/>
                        <a:t>stack，实现函数调用</a:t>
                      </a:r>
                      <a:r>
                        <a:rPr lang="en-US" altLang="zh-CN" sz="2400" b="1"/>
                        <a:t>)</a:t>
                      </a:r>
                      <a:endParaRPr lang="en-US" altLang="zh-CN" sz="2400" b="1"/>
                    </a:p>
                  </a:txBody>
                  <a:tcPr anchor="ctr" anchorCtr="0"/>
                </a:tc>
              </a:tr>
              <a:tr h="6419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/>
                        <a:t>堆</a:t>
                      </a:r>
                      <a:r>
                        <a:rPr lang="en-US" altLang="zh-CN" sz="2400" b="1"/>
                        <a:t>(</a:t>
                      </a:r>
                      <a:r>
                        <a:rPr lang="zh-CN" altLang="en-US" sz="2000" b="0"/>
                        <a:t>存放动态分配的变量</a:t>
                      </a:r>
                      <a:r>
                        <a:rPr lang="en-US" altLang="zh-CN" sz="2400" b="1"/>
                        <a:t>)</a:t>
                      </a:r>
                      <a:endParaRPr lang="en-US" altLang="zh-CN" sz="2400" b="1"/>
                    </a:p>
                  </a:txBody>
                  <a:tcPr anchor="ctr" anchorCtr="0"/>
                </a:tc>
              </a:tr>
              <a:tr h="791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/>
                        <a:t>数据块</a:t>
                      </a:r>
                      <a:r>
                        <a:rPr lang="en-US" altLang="zh-CN" sz="2400" b="1"/>
                        <a:t>(</a:t>
                      </a:r>
                      <a:r>
                        <a:rPr lang="zh-CN" altLang="en-US" sz="2000" b="0"/>
                        <a:t>可读写，加工处理的对象</a:t>
                      </a:r>
                      <a:r>
                        <a:rPr lang="en-US" altLang="zh-CN" sz="2400" b="1"/>
                        <a:t>)</a:t>
                      </a:r>
                      <a:endParaRPr lang="en-US" altLang="zh-CN" sz="2400" b="1"/>
                    </a:p>
                  </a:txBody>
                  <a:tcPr anchor="ctr" anchorCtr="0"/>
                </a:tc>
              </a:tr>
              <a:tr h="4699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/>
                        <a:t>代码段（</a:t>
                      </a:r>
                      <a:r>
                        <a:rPr lang="zh-CN" altLang="en-US" sz="2000" b="0"/>
                        <a:t>只读,二进制代码</a:t>
                      </a:r>
                      <a:r>
                        <a:rPr lang="zh-CN" altLang="en-US" sz="2400" b="1"/>
                        <a:t>）</a:t>
                      </a:r>
                      <a:endParaRPr lang="zh-CN" altLang="en-US" sz="2400" b="1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697470" y="4422140"/>
            <a:ext cx="4043045" cy="8388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lvl="1" indent="0">
              <a:lnSpc>
                <a:spcPct val="132000"/>
              </a:lnSpc>
              <a:buClr>
                <a:srgbClr val="0000FF"/>
              </a:buClr>
              <a:buNone/>
            </a:pPr>
            <a:r>
              <a:rPr lang="zh-CN" altLang="en-US" sz="2400">
                <a:sym typeface="+mn-ea"/>
              </a:rPr>
              <a:t>堆和栈会动态扩展和收缩</a:t>
            </a:r>
            <a:endParaRPr lang="zh-CN" altLang="en-US" sz="24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762240" y="5596255"/>
            <a:ext cx="4257040" cy="581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r>
              <a:rPr lang="zh-CN" altLang="en-US" sz="2400">
                <a:sym typeface="+mn-ea"/>
              </a:rPr>
              <a:t>代码段和数据块大小固定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5</a:t>
            </a:r>
            <a:r>
              <a:rPr lang="zh-CN" altLang="en-US" sz="2800" b="1" dirty="0">
                <a:solidFill>
                  <a:schemeClr val="bg1"/>
                </a:solidFill>
              </a:rPr>
              <a:t>、物理地址和逻辑地址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6" name="27239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0" y="1434838"/>
            <a:ext cx="6435859" cy="4925301"/>
            <a:chOff x="660400" y="1434838"/>
            <a:chExt cx="6435859" cy="4925301"/>
          </a:xfrm>
        </p:grpSpPr>
        <p:grpSp>
          <p:nvGrpSpPr>
            <p:cNvPr id="10" name="iṡļiḓe"/>
            <p:cNvGrpSpPr/>
            <p:nvPr/>
          </p:nvGrpSpPr>
          <p:grpSpPr>
            <a:xfrm>
              <a:off x="660400" y="1434838"/>
              <a:ext cx="6435859" cy="1978066"/>
              <a:chOff x="660400" y="1434838"/>
              <a:chExt cx="6435859" cy="1978066"/>
            </a:xfrm>
          </p:grpSpPr>
          <p:grpSp>
            <p:nvGrpSpPr>
              <p:cNvPr id="21" name="iSḻíḓè"/>
              <p:cNvGrpSpPr/>
              <p:nvPr/>
            </p:nvGrpSpPr>
            <p:grpSpPr>
              <a:xfrm>
                <a:off x="1530997" y="1434838"/>
                <a:ext cx="5565262" cy="1978066"/>
                <a:chOff x="1592242" y="1434838"/>
                <a:chExt cx="7019189" cy="1978066"/>
              </a:xfrm>
            </p:grpSpPr>
            <p:sp>
              <p:nvSpPr>
                <p:cNvPr id="25" name="îṧľîḋé"/>
                <p:cNvSpPr txBox="1"/>
                <p:nvPr/>
              </p:nvSpPr>
              <p:spPr>
                <a:xfrm>
                  <a:off x="1592242" y="1434838"/>
                  <a:ext cx="6293555" cy="38942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zh-CN" altLang="en-US" sz="2800" dirty="0">
                      <a:solidFill>
                        <a:srgbClr val="0000FF"/>
                      </a:solidFill>
                    </a:rPr>
                    <a:t>物理地址（绝对地址）</a:t>
                  </a:r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26" name="íşļîḓé"/>
                <p:cNvSpPr/>
                <p:nvPr/>
              </p:nvSpPr>
              <p:spPr bwMode="auto">
                <a:xfrm>
                  <a:off x="1592242" y="1878561"/>
                  <a:ext cx="7019189" cy="153434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342900" lvl="1" indent="-342900">
                    <a:lnSpc>
                      <a:spcPct val="120000"/>
                    </a:lnSpc>
                    <a:buClr>
                      <a:schemeClr val="accent4">
                        <a:lumMod val="40000"/>
                        <a:lumOff val="60000"/>
                      </a:schemeClr>
                    </a:buClr>
                    <a:buFont typeface="Wingdings" panose="05000000000000000000" pitchFamily="2" charset="2"/>
                    <a:buChar char="Ø"/>
                  </a:pPr>
                  <a:r>
                    <a:rPr lang="zh-CN" altLang="en-US" sz="2400" dirty="0"/>
                    <a:t>内存的</a:t>
                  </a:r>
                  <a:r>
                    <a:rPr lang="zh-CN" altLang="en-US" sz="2400" dirty="0"/>
                    <a:t>实际地址，内存以字节为单位</a:t>
                  </a:r>
                  <a:endParaRPr lang="zh-CN" altLang="en-US" sz="2400" dirty="0"/>
                </a:p>
                <a:p>
                  <a:pPr marL="342900" lvl="1" indent="-342900">
                    <a:lnSpc>
                      <a:spcPct val="120000"/>
                    </a:lnSpc>
                    <a:buClr>
                      <a:schemeClr val="accent4">
                        <a:lumMod val="40000"/>
                        <a:lumOff val="60000"/>
                      </a:schemeClr>
                    </a:buClr>
                    <a:buFont typeface="Wingdings" panose="05000000000000000000" pitchFamily="2" charset="2"/>
                    <a:buChar char="Ø"/>
                  </a:pPr>
                  <a:r>
                    <a:rPr lang="zh-CN" altLang="en-US" sz="2400" dirty="0"/>
                    <a:t>系统需要使用物理地址来访问内存中的程序</a:t>
                  </a:r>
                  <a:r>
                    <a:rPr lang="zh-CN" altLang="en-US" sz="2400" dirty="0"/>
                    <a:t>数据</a:t>
                  </a:r>
                  <a:endParaRPr lang="zh-CN" altLang="en-US" sz="2400" dirty="0"/>
                </a:p>
                <a:p>
                  <a:pPr marL="342900" lvl="1" indent="-342900">
                    <a:lnSpc>
                      <a:spcPct val="120000"/>
                    </a:lnSpc>
                    <a:buClr>
                      <a:schemeClr val="accent4">
                        <a:lumMod val="40000"/>
                        <a:lumOff val="60000"/>
                      </a:schemeClr>
                    </a:buClr>
                    <a:buFont typeface="Wingdings" panose="05000000000000000000" pitchFamily="2" charset="2"/>
                    <a:buChar char="Ø"/>
                  </a:pPr>
                  <a:endParaRPr lang="zh-CN" altLang="en-US" sz="2400" dirty="0"/>
                </a:p>
              </p:txBody>
            </p:sp>
          </p:grpSp>
          <p:grpSp>
            <p:nvGrpSpPr>
              <p:cNvPr id="22" name="ïS1íḋé"/>
              <p:cNvGrpSpPr/>
              <p:nvPr/>
            </p:nvGrpSpPr>
            <p:grpSpPr>
              <a:xfrm>
                <a:off x="660400" y="1461336"/>
                <a:ext cx="733394" cy="733394"/>
                <a:chOff x="660400" y="1461336"/>
                <a:chExt cx="733394" cy="733394"/>
              </a:xfrm>
            </p:grpSpPr>
            <p:sp>
              <p:nvSpPr>
                <p:cNvPr id="23" name="islîḋe"/>
                <p:cNvSpPr/>
                <p:nvPr/>
              </p:nvSpPr>
              <p:spPr>
                <a:xfrm>
                  <a:off x="660400" y="1461336"/>
                  <a:ext cx="733394" cy="733394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bg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" name="îŝlîďe"/>
                <p:cNvSpPr/>
                <p:nvPr/>
              </p:nvSpPr>
              <p:spPr>
                <a:xfrm>
                  <a:off x="797603" y="1646207"/>
                  <a:ext cx="381389" cy="346064"/>
                </a:xfrm>
                <a:custGeom>
                  <a:avLst/>
                  <a:gdLst>
                    <a:gd name="connsiteX0" fmla="*/ 116112 w 607919"/>
                    <a:gd name="connsiteY0" fmla="*/ 473652 h 551610"/>
                    <a:gd name="connsiteX1" fmla="*/ 118901 w 607919"/>
                    <a:gd name="connsiteY1" fmla="*/ 480423 h 551610"/>
                    <a:gd name="connsiteX2" fmla="*/ 118901 w 607919"/>
                    <a:gd name="connsiteY2" fmla="*/ 551610 h 551610"/>
                    <a:gd name="connsiteX3" fmla="*/ 55604 w 607919"/>
                    <a:gd name="connsiteY3" fmla="*/ 551610 h 551610"/>
                    <a:gd name="connsiteX4" fmla="*/ 55604 w 607919"/>
                    <a:gd name="connsiteY4" fmla="*/ 540851 h 551610"/>
                    <a:gd name="connsiteX5" fmla="*/ 65255 w 607919"/>
                    <a:gd name="connsiteY5" fmla="*/ 520583 h 551610"/>
                    <a:gd name="connsiteX6" fmla="*/ 83555 w 607919"/>
                    <a:gd name="connsiteY6" fmla="*/ 502317 h 551610"/>
                    <a:gd name="connsiteX7" fmla="*/ 109375 w 607919"/>
                    <a:gd name="connsiteY7" fmla="*/ 476545 h 551610"/>
                    <a:gd name="connsiteX8" fmla="*/ 116112 w 607919"/>
                    <a:gd name="connsiteY8" fmla="*/ 473652 h 551610"/>
                    <a:gd name="connsiteX9" fmla="*/ 199155 w 607919"/>
                    <a:gd name="connsiteY9" fmla="*/ 390799 h 551610"/>
                    <a:gd name="connsiteX10" fmla="*/ 201956 w 607919"/>
                    <a:gd name="connsiteY10" fmla="*/ 397632 h 551610"/>
                    <a:gd name="connsiteX11" fmla="*/ 201956 w 607919"/>
                    <a:gd name="connsiteY11" fmla="*/ 551610 h 551610"/>
                    <a:gd name="connsiteX12" fmla="*/ 145363 w 607919"/>
                    <a:gd name="connsiteY12" fmla="*/ 551610 h 551610"/>
                    <a:gd name="connsiteX13" fmla="*/ 145363 w 607919"/>
                    <a:gd name="connsiteY13" fmla="*/ 454170 h 551610"/>
                    <a:gd name="connsiteX14" fmla="*/ 154879 w 607919"/>
                    <a:gd name="connsiteY14" fmla="*/ 431030 h 551610"/>
                    <a:gd name="connsiteX15" fmla="*/ 192315 w 607919"/>
                    <a:gd name="connsiteY15" fmla="*/ 393630 h 551610"/>
                    <a:gd name="connsiteX16" fmla="*/ 199155 w 607919"/>
                    <a:gd name="connsiteY16" fmla="*/ 390799 h 551610"/>
                    <a:gd name="connsiteX17" fmla="*/ 231082 w 607919"/>
                    <a:gd name="connsiteY17" fmla="*/ 388245 h 551610"/>
                    <a:gd name="connsiteX18" fmla="*/ 237930 w 607919"/>
                    <a:gd name="connsiteY18" fmla="*/ 391091 h 551610"/>
                    <a:gd name="connsiteX19" fmla="*/ 266763 w 607919"/>
                    <a:gd name="connsiteY19" fmla="*/ 419867 h 551610"/>
                    <a:gd name="connsiteX20" fmla="*/ 275915 w 607919"/>
                    <a:gd name="connsiteY20" fmla="*/ 428875 h 551610"/>
                    <a:gd name="connsiteX21" fmla="*/ 284941 w 607919"/>
                    <a:gd name="connsiteY21" fmla="*/ 451520 h 551610"/>
                    <a:gd name="connsiteX22" fmla="*/ 284941 w 607919"/>
                    <a:gd name="connsiteY22" fmla="*/ 551610 h 551610"/>
                    <a:gd name="connsiteX23" fmla="*/ 228277 w 607919"/>
                    <a:gd name="connsiteY23" fmla="*/ 551610 h 551610"/>
                    <a:gd name="connsiteX24" fmla="*/ 228277 w 607919"/>
                    <a:gd name="connsiteY24" fmla="*/ 394969 h 551610"/>
                    <a:gd name="connsiteX25" fmla="*/ 231082 w 607919"/>
                    <a:gd name="connsiteY25" fmla="*/ 388245 h 551610"/>
                    <a:gd name="connsiteX26" fmla="*/ 365148 w 607919"/>
                    <a:gd name="connsiteY26" fmla="*/ 381336 h 551610"/>
                    <a:gd name="connsiteX27" fmla="*/ 367997 w 607919"/>
                    <a:gd name="connsiteY27" fmla="*/ 388122 h 551610"/>
                    <a:gd name="connsiteX28" fmla="*/ 367997 w 607919"/>
                    <a:gd name="connsiteY28" fmla="*/ 551610 h 551610"/>
                    <a:gd name="connsiteX29" fmla="*/ 311262 w 607919"/>
                    <a:gd name="connsiteY29" fmla="*/ 551610 h 551610"/>
                    <a:gd name="connsiteX30" fmla="*/ 311262 w 607919"/>
                    <a:gd name="connsiteY30" fmla="*/ 444661 h 551610"/>
                    <a:gd name="connsiteX31" fmla="*/ 316898 w 607919"/>
                    <a:gd name="connsiteY31" fmla="*/ 425523 h 551610"/>
                    <a:gd name="connsiteX32" fmla="*/ 322534 w 607919"/>
                    <a:gd name="connsiteY32" fmla="*/ 419894 h 551610"/>
                    <a:gd name="connsiteX33" fmla="*/ 358353 w 607919"/>
                    <a:gd name="connsiteY33" fmla="*/ 384120 h 551610"/>
                    <a:gd name="connsiteX34" fmla="*/ 365148 w 607919"/>
                    <a:gd name="connsiteY34" fmla="*/ 381336 h 551610"/>
                    <a:gd name="connsiteX35" fmla="*/ 448177 w 607919"/>
                    <a:gd name="connsiteY35" fmla="*/ 298352 h 551610"/>
                    <a:gd name="connsiteX36" fmla="*/ 450982 w 607919"/>
                    <a:gd name="connsiteY36" fmla="*/ 305139 h 551610"/>
                    <a:gd name="connsiteX37" fmla="*/ 450982 w 607919"/>
                    <a:gd name="connsiteY37" fmla="*/ 551610 h 551610"/>
                    <a:gd name="connsiteX38" fmla="*/ 394318 w 607919"/>
                    <a:gd name="connsiteY38" fmla="*/ 551610 h 551610"/>
                    <a:gd name="connsiteX39" fmla="*/ 394318 w 607919"/>
                    <a:gd name="connsiteY39" fmla="*/ 361815 h 551610"/>
                    <a:gd name="connsiteX40" fmla="*/ 403846 w 607919"/>
                    <a:gd name="connsiteY40" fmla="*/ 338669 h 551610"/>
                    <a:gd name="connsiteX41" fmla="*/ 441329 w 607919"/>
                    <a:gd name="connsiteY41" fmla="*/ 301136 h 551610"/>
                    <a:gd name="connsiteX42" fmla="*/ 448177 w 607919"/>
                    <a:gd name="connsiteY42" fmla="*/ 298352 h 551610"/>
                    <a:gd name="connsiteX43" fmla="*/ 527085 w 607919"/>
                    <a:gd name="connsiteY43" fmla="*/ 219452 h 551610"/>
                    <a:gd name="connsiteX44" fmla="*/ 529874 w 607919"/>
                    <a:gd name="connsiteY44" fmla="*/ 226177 h 551610"/>
                    <a:gd name="connsiteX45" fmla="*/ 529874 w 607919"/>
                    <a:gd name="connsiteY45" fmla="*/ 551610 h 551610"/>
                    <a:gd name="connsiteX46" fmla="*/ 477232 w 607919"/>
                    <a:gd name="connsiteY46" fmla="*/ 551610 h 551610"/>
                    <a:gd name="connsiteX47" fmla="*/ 477232 w 607919"/>
                    <a:gd name="connsiteY47" fmla="*/ 278727 h 551610"/>
                    <a:gd name="connsiteX48" fmla="*/ 486883 w 607919"/>
                    <a:gd name="connsiteY48" fmla="*/ 255580 h 551610"/>
                    <a:gd name="connsiteX49" fmla="*/ 520348 w 607919"/>
                    <a:gd name="connsiteY49" fmla="*/ 222298 h 551610"/>
                    <a:gd name="connsiteX50" fmla="*/ 527085 w 607919"/>
                    <a:gd name="connsiteY50" fmla="*/ 219452 h 551610"/>
                    <a:gd name="connsiteX51" fmla="*/ 387769 w 607919"/>
                    <a:gd name="connsiteY51" fmla="*/ 0 h 551610"/>
                    <a:gd name="connsiteX52" fmla="*/ 580729 w 607919"/>
                    <a:gd name="connsiteY52" fmla="*/ 0 h 551610"/>
                    <a:gd name="connsiteX53" fmla="*/ 607919 w 607919"/>
                    <a:gd name="connsiteY53" fmla="*/ 26022 h 551610"/>
                    <a:gd name="connsiteX54" fmla="*/ 607919 w 607919"/>
                    <a:gd name="connsiteY54" fmla="*/ 219812 h 551610"/>
                    <a:gd name="connsiteX55" fmla="*/ 598271 w 607919"/>
                    <a:gd name="connsiteY55" fmla="*/ 223815 h 551610"/>
                    <a:gd name="connsiteX56" fmla="*/ 530610 w 607919"/>
                    <a:gd name="connsiteY56" fmla="*/ 156258 h 551610"/>
                    <a:gd name="connsiteX57" fmla="*/ 304320 w 607919"/>
                    <a:gd name="connsiteY57" fmla="*/ 382325 h 551610"/>
                    <a:gd name="connsiteX58" fmla="*/ 285024 w 607919"/>
                    <a:gd name="connsiteY58" fmla="*/ 382325 h 551610"/>
                    <a:gd name="connsiteX59" fmla="*/ 216360 w 607919"/>
                    <a:gd name="connsiteY59" fmla="*/ 313767 h 551610"/>
                    <a:gd name="connsiteX60" fmla="*/ 94068 w 607919"/>
                    <a:gd name="connsiteY60" fmla="*/ 435996 h 551610"/>
                    <a:gd name="connsiteX61" fmla="*/ 17260 w 607919"/>
                    <a:gd name="connsiteY61" fmla="*/ 435996 h 551610"/>
                    <a:gd name="connsiteX62" fmla="*/ 15882 w 607919"/>
                    <a:gd name="connsiteY62" fmla="*/ 434745 h 551610"/>
                    <a:gd name="connsiteX63" fmla="*/ 15882 w 607919"/>
                    <a:gd name="connsiteY63" fmla="*/ 358055 h 551610"/>
                    <a:gd name="connsiteX64" fmla="*/ 206837 w 607919"/>
                    <a:gd name="connsiteY64" fmla="*/ 167267 h 551610"/>
                    <a:gd name="connsiteX65" fmla="*/ 226008 w 607919"/>
                    <a:gd name="connsiteY65" fmla="*/ 167267 h 551610"/>
                    <a:gd name="connsiteX66" fmla="*/ 294672 w 607919"/>
                    <a:gd name="connsiteY66" fmla="*/ 235701 h 551610"/>
                    <a:gd name="connsiteX67" fmla="*/ 424481 w 607919"/>
                    <a:gd name="connsiteY67" fmla="*/ 105965 h 551610"/>
                    <a:gd name="connsiteX68" fmla="*/ 452423 w 607919"/>
                    <a:gd name="connsiteY68" fmla="*/ 78192 h 551610"/>
                    <a:gd name="connsiteX69" fmla="*/ 383885 w 607919"/>
                    <a:gd name="connsiteY69" fmla="*/ 9633 h 551610"/>
                    <a:gd name="connsiteX70" fmla="*/ 387769 w 607919"/>
                    <a:gd name="connsiteY70" fmla="*/ 0 h 551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07919" h="551610">
                      <a:moveTo>
                        <a:pt x="116112" y="473652"/>
                      </a:moveTo>
                      <a:cubicBezTo>
                        <a:pt x="117836" y="474356"/>
                        <a:pt x="118901" y="476670"/>
                        <a:pt x="118901" y="480423"/>
                      </a:cubicBezTo>
                      <a:lnTo>
                        <a:pt x="118901" y="551610"/>
                      </a:lnTo>
                      <a:lnTo>
                        <a:pt x="55604" y="551610"/>
                      </a:lnTo>
                      <a:lnTo>
                        <a:pt x="55604" y="540851"/>
                      </a:lnTo>
                      <a:cubicBezTo>
                        <a:pt x="55604" y="534971"/>
                        <a:pt x="59991" y="525838"/>
                        <a:pt x="65255" y="520583"/>
                      </a:cubicBezTo>
                      <a:lnTo>
                        <a:pt x="83555" y="502317"/>
                      </a:lnTo>
                      <a:lnTo>
                        <a:pt x="109375" y="476545"/>
                      </a:lnTo>
                      <a:cubicBezTo>
                        <a:pt x="112007" y="473855"/>
                        <a:pt x="114389" y="472948"/>
                        <a:pt x="116112" y="473652"/>
                      </a:cubicBezTo>
                      <a:close/>
                      <a:moveTo>
                        <a:pt x="199155" y="390799"/>
                      </a:moveTo>
                      <a:cubicBezTo>
                        <a:pt x="200892" y="391534"/>
                        <a:pt x="201956" y="393880"/>
                        <a:pt x="201956" y="397632"/>
                      </a:cubicBezTo>
                      <a:lnTo>
                        <a:pt x="201956" y="551610"/>
                      </a:lnTo>
                      <a:lnTo>
                        <a:pt x="145363" y="551610"/>
                      </a:lnTo>
                      <a:lnTo>
                        <a:pt x="145363" y="454170"/>
                      </a:lnTo>
                      <a:cubicBezTo>
                        <a:pt x="145363" y="446665"/>
                        <a:pt x="149620" y="436283"/>
                        <a:pt x="154879" y="431030"/>
                      </a:cubicBezTo>
                      <a:lnTo>
                        <a:pt x="192315" y="393630"/>
                      </a:lnTo>
                      <a:cubicBezTo>
                        <a:pt x="195007" y="390941"/>
                        <a:pt x="197417" y="390065"/>
                        <a:pt x="199155" y="390799"/>
                      </a:cubicBezTo>
                      <a:close/>
                      <a:moveTo>
                        <a:pt x="231082" y="388245"/>
                      </a:moveTo>
                      <a:cubicBezTo>
                        <a:pt x="232822" y="387525"/>
                        <a:pt x="235235" y="388401"/>
                        <a:pt x="237930" y="391091"/>
                      </a:cubicBezTo>
                      <a:lnTo>
                        <a:pt x="266763" y="419867"/>
                      </a:lnTo>
                      <a:lnTo>
                        <a:pt x="275915" y="428875"/>
                      </a:lnTo>
                      <a:cubicBezTo>
                        <a:pt x="280929" y="433879"/>
                        <a:pt x="284941" y="444013"/>
                        <a:pt x="284941" y="451520"/>
                      </a:cubicBezTo>
                      <a:lnTo>
                        <a:pt x="284941" y="551610"/>
                      </a:lnTo>
                      <a:lnTo>
                        <a:pt x="228277" y="551610"/>
                      </a:lnTo>
                      <a:lnTo>
                        <a:pt x="228277" y="394969"/>
                      </a:lnTo>
                      <a:cubicBezTo>
                        <a:pt x="228277" y="391278"/>
                        <a:pt x="229343" y="388964"/>
                        <a:pt x="231082" y="388245"/>
                      </a:cubicBezTo>
                      <a:close/>
                      <a:moveTo>
                        <a:pt x="365148" y="381336"/>
                      </a:moveTo>
                      <a:cubicBezTo>
                        <a:pt x="366901" y="382055"/>
                        <a:pt x="367997" y="384370"/>
                        <a:pt x="367997" y="388122"/>
                      </a:cubicBezTo>
                      <a:lnTo>
                        <a:pt x="367997" y="551610"/>
                      </a:lnTo>
                      <a:lnTo>
                        <a:pt x="311262" y="551610"/>
                      </a:lnTo>
                      <a:lnTo>
                        <a:pt x="311262" y="444661"/>
                      </a:lnTo>
                      <a:cubicBezTo>
                        <a:pt x="311262" y="437156"/>
                        <a:pt x="313767" y="428650"/>
                        <a:pt x="316898" y="425523"/>
                      </a:cubicBezTo>
                      <a:cubicBezTo>
                        <a:pt x="320029" y="422396"/>
                        <a:pt x="322534" y="419894"/>
                        <a:pt x="322534" y="419894"/>
                      </a:cubicBezTo>
                      <a:lnTo>
                        <a:pt x="358353" y="384120"/>
                      </a:lnTo>
                      <a:cubicBezTo>
                        <a:pt x="360983" y="381493"/>
                        <a:pt x="363394" y="380617"/>
                        <a:pt x="365148" y="381336"/>
                      </a:cubicBezTo>
                      <a:close/>
                      <a:moveTo>
                        <a:pt x="448177" y="298352"/>
                      </a:moveTo>
                      <a:cubicBezTo>
                        <a:pt x="449916" y="299071"/>
                        <a:pt x="450982" y="301386"/>
                        <a:pt x="450982" y="305139"/>
                      </a:cubicBezTo>
                      <a:lnTo>
                        <a:pt x="450982" y="551610"/>
                      </a:lnTo>
                      <a:lnTo>
                        <a:pt x="394318" y="551610"/>
                      </a:lnTo>
                      <a:lnTo>
                        <a:pt x="394318" y="361815"/>
                      </a:lnTo>
                      <a:cubicBezTo>
                        <a:pt x="394318" y="354308"/>
                        <a:pt x="398580" y="343924"/>
                        <a:pt x="403846" y="338669"/>
                      </a:cubicBezTo>
                      <a:lnTo>
                        <a:pt x="441329" y="301136"/>
                      </a:lnTo>
                      <a:cubicBezTo>
                        <a:pt x="444024" y="298508"/>
                        <a:pt x="446438" y="297633"/>
                        <a:pt x="448177" y="298352"/>
                      </a:cubicBezTo>
                      <a:close/>
                      <a:moveTo>
                        <a:pt x="527085" y="219452"/>
                      </a:moveTo>
                      <a:cubicBezTo>
                        <a:pt x="528809" y="220171"/>
                        <a:pt x="529874" y="222486"/>
                        <a:pt x="529874" y="226177"/>
                      </a:cubicBezTo>
                      <a:lnTo>
                        <a:pt x="529874" y="551610"/>
                      </a:lnTo>
                      <a:lnTo>
                        <a:pt x="477232" y="551610"/>
                      </a:lnTo>
                      <a:lnTo>
                        <a:pt x="477232" y="278727"/>
                      </a:lnTo>
                      <a:cubicBezTo>
                        <a:pt x="477232" y="271345"/>
                        <a:pt x="481494" y="260960"/>
                        <a:pt x="486883" y="255580"/>
                      </a:cubicBezTo>
                      <a:lnTo>
                        <a:pt x="520348" y="222298"/>
                      </a:lnTo>
                      <a:cubicBezTo>
                        <a:pt x="522980" y="219608"/>
                        <a:pt x="525362" y="218732"/>
                        <a:pt x="527085" y="219452"/>
                      </a:cubicBezTo>
                      <a:close/>
                      <a:moveTo>
                        <a:pt x="387769" y="0"/>
                      </a:moveTo>
                      <a:lnTo>
                        <a:pt x="580729" y="0"/>
                      </a:lnTo>
                      <a:cubicBezTo>
                        <a:pt x="594512" y="0"/>
                        <a:pt x="607919" y="12135"/>
                        <a:pt x="607919" y="26022"/>
                      </a:cubicBezTo>
                      <a:lnTo>
                        <a:pt x="607919" y="219812"/>
                      </a:lnTo>
                      <a:cubicBezTo>
                        <a:pt x="607919" y="227318"/>
                        <a:pt x="603534" y="229070"/>
                        <a:pt x="598271" y="223815"/>
                      </a:cubicBezTo>
                      <a:lnTo>
                        <a:pt x="530610" y="156258"/>
                      </a:lnTo>
                      <a:lnTo>
                        <a:pt x="304320" y="382325"/>
                      </a:lnTo>
                      <a:cubicBezTo>
                        <a:pt x="298932" y="387580"/>
                        <a:pt x="290412" y="387580"/>
                        <a:pt x="285024" y="382325"/>
                      </a:cubicBezTo>
                      <a:lnTo>
                        <a:pt x="216360" y="313767"/>
                      </a:lnTo>
                      <a:lnTo>
                        <a:pt x="94068" y="435996"/>
                      </a:lnTo>
                      <a:cubicBezTo>
                        <a:pt x="72767" y="457264"/>
                        <a:pt x="38435" y="457264"/>
                        <a:pt x="17260" y="435996"/>
                      </a:cubicBezTo>
                      <a:lnTo>
                        <a:pt x="15882" y="434745"/>
                      </a:lnTo>
                      <a:cubicBezTo>
                        <a:pt x="-5294" y="413477"/>
                        <a:pt x="-5294" y="379198"/>
                        <a:pt x="15882" y="358055"/>
                      </a:cubicBezTo>
                      <a:lnTo>
                        <a:pt x="206837" y="167267"/>
                      </a:lnTo>
                      <a:cubicBezTo>
                        <a:pt x="212100" y="161888"/>
                        <a:pt x="220745" y="161888"/>
                        <a:pt x="226008" y="167267"/>
                      </a:cubicBezTo>
                      <a:lnTo>
                        <a:pt x="294672" y="235701"/>
                      </a:lnTo>
                      <a:lnTo>
                        <a:pt x="424481" y="105965"/>
                      </a:lnTo>
                      <a:lnTo>
                        <a:pt x="452423" y="78192"/>
                      </a:lnTo>
                      <a:lnTo>
                        <a:pt x="383885" y="9633"/>
                      </a:lnTo>
                      <a:cubicBezTo>
                        <a:pt x="378497" y="4379"/>
                        <a:pt x="380376" y="0"/>
                        <a:pt x="38776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1" name="iŝļïḓê"/>
            <p:cNvGrpSpPr/>
            <p:nvPr/>
          </p:nvGrpSpPr>
          <p:grpSpPr>
            <a:xfrm>
              <a:off x="660400" y="3826925"/>
              <a:ext cx="6297845" cy="2533214"/>
              <a:chOff x="660400" y="1435581"/>
              <a:chExt cx="6297845" cy="2533214"/>
            </a:xfrm>
          </p:grpSpPr>
          <p:grpSp>
            <p:nvGrpSpPr>
              <p:cNvPr id="13" name="ïṧļïḓe"/>
              <p:cNvGrpSpPr/>
              <p:nvPr/>
            </p:nvGrpSpPr>
            <p:grpSpPr>
              <a:xfrm>
                <a:off x="1539875" y="1464651"/>
                <a:ext cx="5418370" cy="2504144"/>
                <a:chOff x="1603439" y="1464651"/>
                <a:chExt cx="6833922" cy="2504144"/>
              </a:xfrm>
            </p:grpSpPr>
            <p:sp>
              <p:nvSpPr>
                <p:cNvPr id="18" name="ïšļíďè"/>
                <p:cNvSpPr txBox="1"/>
                <p:nvPr/>
              </p:nvSpPr>
              <p:spPr>
                <a:xfrm>
                  <a:off x="1603439" y="1464651"/>
                  <a:ext cx="6833922" cy="38942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zh-CN" altLang="en-US" sz="2800" dirty="0">
                      <a:solidFill>
                        <a:srgbClr val="FF0000"/>
                      </a:solidFill>
                    </a:rPr>
                    <a:t>逻辑地址（虚拟地址、相对地址）</a:t>
                  </a:r>
                  <a:endParaRPr lang="zh-CN" altLang="en-US" sz="28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9" name="íşľíḑè"/>
                <p:cNvSpPr/>
                <p:nvPr/>
              </p:nvSpPr>
              <p:spPr bwMode="auto">
                <a:xfrm>
                  <a:off x="1619683" y="1959889"/>
                  <a:ext cx="6293556" cy="20089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342900" lvl="1" indent="-342900">
                    <a:lnSpc>
                      <a:spcPct val="120000"/>
                    </a:lnSpc>
                    <a:buFont typeface="Wingdings" panose="05000000000000000000" pitchFamily="2" charset="2"/>
                    <a:buChar char="Ø"/>
                  </a:pPr>
                  <a:r>
                    <a:rPr lang="zh-CN" altLang="en-US" sz="2400" dirty="0"/>
                    <a:t>由</a:t>
                  </a:r>
                  <a:r>
                    <a:rPr lang="en-US" altLang="zh-CN" sz="2400" dirty="0"/>
                    <a:t>CPU</a:t>
                  </a:r>
                  <a:r>
                    <a:rPr lang="zh-CN" altLang="en-US" sz="2400" dirty="0"/>
                    <a:t>产生的地址，即程序编译后使用的相对于程序开始的</a:t>
                  </a:r>
                  <a:r>
                    <a:rPr lang="en-US" altLang="zh-CN" sz="2400" dirty="0"/>
                    <a:t>0</a:t>
                  </a:r>
                  <a:r>
                    <a:rPr lang="zh-CN" altLang="en-US" sz="2400" dirty="0"/>
                    <a:t>字节的地址</a:t>
                  </a:r>
                  <a:endParaRPr lang="zh-CN" altLang="en-US" sz="2400" dirty="0"/>
                </a:p>
                <a:p>
                  <a:pPr marL="342900" lvl="1" indent="-342900">
                    <a:lnSpc>
                      <a:spcPct val="120000"/>
                    </a:lnSpc>
                    <a:buFont typeface="Wingdings" panose="05000000000000000000" pitchFamily="2" charset="2"/>
                    <a:buChar char="Ø"/>
                  </a:pPr>
                  <a:endParaRPr lang="zh-CN" altLang="en-US" sz="2400" dirty="0"/>
                </a:p>
              </p:txBody>
            </p:sp>
          </p:grpSp>
          <p:grpSp>
            <p:nvGrpSpPr>
              <p:cNvPr id="15" name="ïŝľídè"/>
              <p:cNvGrpSpPr/>
              <p:nvPr/>
            </p:nvGrpSpPr>
            <p:grpSpPr>
              <a:xfrm>
                <a:off x="660400" y="1435581"/>
                <a:ext cx="733394" cy="733394"/>
                <a:chOff x="660400" y="1435581"/>
                <a:chExt cx="733394" cy="733394"/>
              </a:xfrm>
            </p:grpSpPr>
            <p:sp>
              <p:nvSpPr>
                <p:cNvPr id="16" name="ïṡľïde"/>
                <p:cNvSpPr/>
                <p:nvPr/>
              </p:nvSpPr>
              <p:spPr>
                <a:xfrm>
                  <a:off x="660400" y="1435581"/>
                  <a:ext cx="733394" cy="733394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9050">
                  <a:solidFill>
                    <a:schemeClr val="bg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ïšliḍe"/>
                <p:cNvSpPr/>
                <p:nvPr/>
              </p:nvSpPr>
              <p:spPr>
                <a:xfrm>
                  <a:off x="806481" y="1647086"/>
                  <a:ext cx="381389" cy="346064"/>
                </a:xfrm>
                <a:custGeom>
                  <a:avLst/>
                  <a:gdLst>
                    <a:gd name="connsiteX0" fmla="*/ 116112 w 607919"/>
                    <a:gd name="connsiteY0" fmla="*/ 473652 h 551610"/>
                    <a:gd name="connsiteX1" fmla="*/ 118901 w 607919"/>
                    <a:gd name="connsiteY1" fmla="*/ 480423 h 551610"/>
                    <a:gd name="connsiteX2" fmla="*/ 118901 w 607919"/>
                    <a:gd name="connsiteY2" fmla="*/ 551610 h 551610"/>
                    <a:gd name="connsiteX3" fmla="*/ 55604 w 607919"/>
                    <a:gd name="connsiteY3" fmla="*/ 551610 h 551610"/>
                    <a:gd name="connsiteX4" fmla="*/ 55604 w 607919"/>
                    <a:gd name="connsiteY4" fmla="*/ 540851 h 551610"/>
                    <a:gd name="connsiteX5" fmla="*/ 65255 w 607919"/>
                    <a:gd name="connsiteY5" fmla="*/ 520583 h 551610"/>
                    <a:gd name="connsiteX6" fmla="*/ 83555 w 607919"/>
                    <a:gd name="connsiteY6" fmla="*/ 502317 h 551610"/>
                    <a:gd name="connsiteX7" fmla="*/ 109375 w 607919"/>
                    <a:gd name="connsiteY7" fmla="*/ 476545 h 551610"/>
                    <a:gd name="connsiteX8" fmla="*/ 116112 w 607919"/>
                    <a:gd name="connsiteY8" fmla="*/ 473652 h 551610"/>
                    <a:gd name="connsiteX9" fmla="*/ 199155 w 607919"/>
                    <a:gd name="connsiteY9" fmla="*/ 390799 h 551610"/>
                    <a:gd name="connsiteX10" fmla="*/ 201956 w 607919"/>
                    <a:gd name="connsiteY10" fmla="*/ 397632 h 551610"/>
                    <a:gd name="connsiteX11" fmla="*/ 201956 w 607919"/>
                    <a:gd name="connsiteY11" fmla="*/ 551610 h 551610"/>
                    <a:gd name="connsiteX12" fmla="*/ 145363 w 607919"/>
                    <a:gd name="connsiteY12" fmla="*/ 551610 h 551610"/>
                    <a:gd name="connsiteX13" fmla="*/ 145363 w 607919"/>
                    <a:gd name="connsiteY13" fmla="*/ 454170 h 551610"/>
                    <a:gd name="connsiteX14" fmla="*/ 154879 w 607919"/>
                    <a:gd name="connsiteY14" fmla="*/ 431030 h 551610"/>
                    <a:gd name="connsiteX15" fmla="*/ 192315 w 607919"/>
                    <a:gd name="connsiteY15" fmla="*/ 393630 h 551610"/>
                    <a:gd name="connsiteX16" fmla="*/ 199155 w 607919"/>
                    <a:gd name="connsiteY16" fmla="*/ 390799 h 551610"/>
                    <a:gd name="connsiteX17" fmla="*/ 231082 w 607919"/>
                    <a:gd name="connsiteY17" fmla="*/ 388245 h 551610"/>
                    <a:gd name="connsiteX18" fmla="*/ 237930 w 607919"/>
                    <a:gd name="connsiteY18" fmla="*/ 391091 h 551610"/>
                    <a:gd name="connsiteX19" fmla="*/ 266763 w 607919"/>
                    <a:gd name="connsiteY19" fmla="*/ 419867 h 551610"/>
                    <a:gd name="connsiteX20" fmla="*/ 275915 w 607919"/>
                    <a:gd name="connsiteY20" fmla="*/ 428875 h 551610"/>
                    <a:gd name="connsiteX21" fmla="*/ 284941 w 607919"/>
                    <a:gd name="connsiteY21" fmla="*/ 451520 h 551610"/>
                    <a:gd name="connsiteX22" fmla="*/ 284941 w 607919"/>
                    <a:gd name="connsiteY22" fmla="*/ 551610 h 551610"/>
                    <a:gd name="connsiteX23" fmla="*/ 228277 w 607919"/>
                    <a:gd name="connsiteY23" fmla="*/ 551610 h 551610"/>
                    <a:gd name="connsiteX24" fmla="*/ 228277 w 607919"/>
                    <a:gd name="connsiteY24" fmla="*/ 394969 h 551610"/>
                    <a:gd name="connsiteX25" fmla="*/ 231082 w 607919"/>
                    <a:gd name="connsiteY25" fmla="*/ 388245 h 551610"/>
                    <a:gd name="connsiteX26" fmla="*/ 365148 w 607919"/>
                    <a:gd name="connsiteY26" fmla="*/ 381336 h 551610"/>
                    <a:gd name="connsiteX27" fmla="*/ 367997 w 607919"/>
                    <a:gd name="connsiteY27" fmla="*/ 388122 h 551610"/>
                    <a:gd name="connsiteX28" fmla="*/ 367997 w 607919"/>
                    <a:gd name="connsiteY28" fmla="*/ 551610 h 551610"/>
                    <a:gd name="connsiteX29" fmla="*/ 311262 w 607919"/>
                    <a:gd name="connsiteY29" fmla="*/ 551610 h 551610"/>
                    <a:gd name="connsiteX30" fmla="*/ 311262 w 607919"/>
                    <a:gd name="connsiteY30" fmla="*/ 444661 h 551610"/>
                    <a:gd name="connsiteX31" fmla="*/ 316898 w 607919"/>
                    <a:gd name="connsiteY31" fmla="*/ 425523 h 551610"/>
                    <a:gd name="connsiteX32" fmla="*/ 322534 w 607919"/>
                    <a:gd name="connsiteY32" fmla="*/ 419894 h 551610"/>
                    <a:gd name="connsiteX33" fmla="*/ 358353 w 607919"/>
                    <a:gd name="connsiteY33" fmla="*/ 384120 h 551610"/>
                    <a:gd name="connsiteX34" fmla="*/ 365148 w 607919"/>
                    <a:gd name="connsiteY34" fmla="*/ 381336 h 551610"/>
                    <a:gd name="connsiteX35" fmla="*/ 448177 w 607919"/>
                    <a:gd name="connsiteY35" fmla="*/ 298352 h 551610"/>
                    <a:gd name="connsiteX36" fmla="*/ 450982 w 607919"/>
                    <a:gd name="connsiteY36" fmla="*/ 305139 h 551610"/>
                    <a:gd name="connsiteX37" fmla="*/ 450982 w 607919"/>
                    <a:gd name="connsiteY37" fmla="*/ 551610 h 551610"/>
                    <a:gd name="connsiteX38" fmla="*/ 394318 w 607919"/>
                    <a:gd name="connsiteY38" fmla="*/ 551610 h 551610"/>
                    <a:gd name="connsiteX39" fmla="*/ 394318 w 607919"/>
                    <a:gd name="connsiteY39" fmla="*/ 361815 h 551610"/>
                    <a:gd name="connsiteX40" fmla="*/ 403846 w 607919"/>
                    <a:gd name="connsiteY40" fmla="*/ 338669 h 551610"/>
                    <a:gd name="connsiteX41" fmla="*/ 441329 w 607919"/>
                    <a:gd name="connsiteY41" fmla="*/ 301136 h 551610"/>
                    <a:gd name="connsiteX42" fmla="*/ 448177 w 607919"/>
                    <a:gd name="connsiteY42" fmla="*/ 298352 h 551610"/>
                    <a:gd name="connsiteX43" fmla="*/ 527085 w 607919"/>
                    <a:gd name="connsiteY43" fmla="*/ 219452 h 551610"/>
                    <a:gd name="connsiteX44" fmla="*/ 529874 w 607919"/>
                    <a:gd name="connsiteY44" fmla="*/ 226177 h 551610"/>
                    <a:gd name="connsiteX45" fmla="*/ 529874 w 607919"/>
                    <a:gd name="connsiteY45" fmla="*/ 551610 h 551610"/>
                    <a:gd name="connsiteX46" fmla="*/ 477232 w 607919"/>
                    <a:gd name="connsiteY46" fmla="*/ 551610 h 551610"/>
                    <a:gd name="connsiteX47" fmla="*/ 477232 w 607919"/>
                    <a:gd name="connsiteY47" fmla="*/ 278727 h 551610"/>
                    <a:gd name="connsiteX48" fmla="*/ 486883 w 607919"/>
                    <a:gd name="connsiteY48" fmla="*/ 255580 h 551610"/>
                    <a:gd name="connsiteX49" fmla="*/ 520348 w 607919"/>
                    <a:gd name="connsiteY49" fmla="*/ 222298 h 551610"/>
                    <a:gd name="connsiteX50" fmla="*/ 527085 w 607919"/>
                    <a:gd name="connsiteY50" fmla="*/ 219452 h 551610"/>
                    <a:gd name="connsiteX51" fmla="*/ 387769 w 607919"/>
                    <a:gd name="connsiteY51" fmla="*/ 0 h 551610"/>
                    <a:gd name="connsiteX52" fmla="*/ 580729 w 607919"/>
                    <a:gd name="connsiteY52" fmla="*/ 0 h 551610"/>
                    <a:gd name="connsiteX53" fmla="*/ 607919 w 607919"/>
                    <a:gd name="connsiteY53" fmla="*/ 26022 h 551610"/>
                    <a:gd name="connsiteX54" fmla="*/ 607919 w 607919"/>
                    <a:gd name="connsiteY54" fmla="*/ 219812 h 551610"/>
                    <a:gd name="connsiteX55" fmla="*/ 598271 w 607919"/>
                    <a:gd name="connsiteY55" fmla="*/ 223815 h 551610"/>
                    <a:gd name="connsiteX56" fmla="*/ 530610 w 607919"/>
                    <a:gd name="connsiteY56" fmla="*/ 156258 h 551610"/>
                    <a:gd name="connsiteX57" fmla="*/ 304320 w 607919"/>
                    <a:gd name="connsiteY57" fmla="*/ 382325 h 551610"/>
                    <a:gd name="connsiteX58" fmla="*/ 285024 w 607919"/>
                    <a:gd name="connsiteY58" fmla="*/ 382325 h 551610"/>
                    <a:gd name="connsiteX59" fmla="*/ 216360 w 607919"/>
                    <a:gd name="connsiteY59" fmla="*/ 313767 h 551610"/>
                    <a:gd name="connsiteX60" fmla="*/ 94068 w 607919"/>
                    <a:gd name="connsiteY60" fmla="*/ 435996 h 551610"/>
                    <a:gd name="connsiteX61" fmla="*/ 17260 w 607919"/>
                    <a:gd name="connsiteY61" fmla="*/ 435996 h 551610"/>
                    <a:gd name="connsiteX62" fmla="*/ 15882 w 607919"/>
                    <a:gd name="connsiteY62" fmla="*/ 434745 h 551610"/>
                    <a:gd name="connsiteX63" fmla="*/ 15882 w 607919"/>
                    <a:gd name="connsiteY63" fmla="*/ 358055 h 551610"/>
                    <a:gd name="connsiteX64" fmla="*/ 206837 w 607919"/>
                    <a:gd name="connsiteY64" fmla="*/ 167267 h 551610"/>
                    <a:gd name="connsiteX65" fmla="*/ 226008 w 607919"/>
                    <a:gd name="connsiteY65" fmla="*/ 167267 h 551610"/>
                    <a:gd name="connsiteX66" fmla="*/ 294672 w 607919"/>
                    <a:gd name="connsiteY66" fmla="*/ 235701 h 551610"/>
                    <a:gd name="connsiteX67" fmla="*/ 424481 w 607919"/>
                    <a:gd name="connsiteY67" fmla="*/ 105965 h 551610"/>
                    <a:gd name="connsiteX68" fmla="*/ 452423 w 607919"/>
                    <a:gd name="connsiteY68" fmla="*/ 78192 h 551610"/>
                    <a:gd name="connsiteX69" fmla="*/ 383885 w 607919"/>
                    <a:gd name="connsiteY69" fmla="*/ 9633 h 551610"/>
                    <a:gd name="connsiteX70" fmla="*/ 387769 w 607919"/>
                    <a:gd name="connsiteY70" fmla="*/ 0 h 551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07919" h="551610">
                      <a:moveTo>
                        <a:pt x="116112" y="473652"/>
                      </a:moveTo>
                      <a:cubicBezTo>
                        <a:pt x="117836" y="474356"/>
                        <a:pt x="118901" y="476670"/>
                        <a:pt x="118901" y="480423"/>
                      </a:cubicBezTo>
                      <a:lnTo>
                        <a:pt x="118901" y="551610"/>
                      </a:lnTo>
                      <a:lnTo>
                        <a:pt x="55604" y="551610"/>
                      </a:lnTo>
                      <a:lnTo>
                        <a:pt x="55604" y="540851"/>
                      </a:lnTo>
                      <a:cubicBezTo>
                        <a:pt x="55604" y="534971"/>
                        <a:pt x="59991" y="525838"/>
                        <a:pt x="65255" y="520583"/>
                      </a:cubicBezTo>
                      <a:lnTo>
                        <a:pt x="83555" y="502317"/>
                      </a:lnTo>
                      <a:lnTo>
                        <a:pt x="109375" y="476545"/>
                      </a:lnTo>
                      <a:cubicBezTo>
                        <a:pt x="112007" y="473855"/>
                        <a:pt x="114389" y="472948"/>
                        <a:pt x="116112" y="473652"/>
                      </a:cubicBezTo>
                      <a:close/>
                      <a:moveTo>
                        <a:pt x="199155" y="390799"/>
                      </a:moveTo>
                      <a:cubicBezTo>
                        <a:pt x="200892" y="391534"/>
                        <a:pt x="201956" y="393880"/>
                        <a:pt x="201956" y="397632"/>
                      </a:cubicBezTo>
                      <a:lnTo>
                        <a:pt x="201956" y="551610"/>
                      </a:lnTo>
                      <a:lnTo>
                        <a:pt x="145363" y="551610"/>
                      </a:lnTo>
                      <a:lnTo>
                        <a:pt x="145363" y="454170"/>
                      </a:lnTo>
                      <a:cubicBezTo>
                        <a:pt x="145363" y="446665"/>
                        <a:pt x="149620" y="436283"/>
                        <a:pt x="154879" y="431030"/>
                      </a:cubicBezTo>
                      <a:lnTo>
                        <a:pt x="192315" y="393630"/>
                      </a:lnTo>
                      <a:cubicBezTo>
                        <a:pt x="195007" y="390941"/>
                        <a:pt x="197417" y="390065"/>
                        <a:pt x="199155" y="390799"/>
                      </a:cubicBezTo>
                      <a:close/>
                      <a:moveTo>
                        <a:pt x="231082" y="388245"/>
                      </a:moveTo>
                      <a:cubicBezTo>
                        <a:pt x="232822" y="387525"/>
                        <a:pt x="235235" y="388401"/>
                        <a:pt x="237930" y="391091"/>
                      </a:cubicBezTo>
                      <a:lnTo>
                        <a:pt x="266763" y="419867"/>
                      </a:lnTo>
                      <a:lnTo>
                        <a:pt x="275915" y="428875"/>
                      </a:lnTo>
                      <a:cubicBezTo>
                        <a:pt x="280929" y="433879"/>
                        <a:pt x="284941" y="444013"/>
                        <a:pt x="284941" y="451520"/>
                      </a:cubicBezTo>
                      <a:lnTo>
                        <a:pt x="284941" y="551610"/>
                      </a:lnTo>
                      <a:lnTo>
                        <a:pt x="228277" y="551610"/>
                      </a:lnTo>
                      <a:lnTo>
                        <a:pt x="228277" y="394969"/>
                      </a:lnTo>
                      <a:cubicBezTo>
                        <a:pt x="228277" y="391278"/>
                        <a:pt x="229343" y="388964"/>
                        <a:pt x="231082" y="388245"/>
                      </a:cubicBezTo>
                      <a:close/>
                      <a:moveTo>
                        <a:pt x="365148" y="381336"/>
                      </a:moveTo>
                      <a:cubicBezTo>
                        <a:pt x="366901" y="382055"/>
                        <a:pt x="367997" y="384370"/>
                        <a:pt x="367997" y="388122"/>
                      </a:cubicBezTo>
                      <a:lnTo>
                        <a:pt x="367997" y="551610"/>
                      </a:lnTo>
                      <a:lnTo>
                        <a:pt x="311262" y="551610"/>
                      </a:lnTo>
                      <a:lnTo>
                        <a:pt x="311262" y="444661"/>
                      </a:lnTo>
                      <a:cubicBezTo>
                        <a:pt x="311262" y="437156"/>
                        <a:pt x="313767" y="428650"/>
                        <a:pt x="316898" y="425523"/>
                      </a:cubicBezTo>
                      <a:cubicBezTo>
                        <a:pt x="320029" y="422396"/>
                        <a:pt x="322534" y="419894"/>
                        <a:pt x="322534" y="419894"/>
                      </a:cubicBezTo>
                      <a:lnTo>
                        <a:pt x="358353" y="384120"/>
                      </a:lnTo>
                      <a:cubicBezTo>
                        <a:pt x="360983" y="381493"/>
                        <a:pt x="363394" y="380617"/>
                        <a:pt x="365148" y="381336"/>
                      </a:cubicBezTo>
                      <a:close/>
                      <a:moveTo>
                        <a:pt x="448177" y="298352"/>
                      </a:moveTo>
                      <a:cubicBezTo>
                        <a:pt x="449916" y="299071"/>
                        <a:pt x="450982" y="301386"/>
                        <a:pt x="450982" y="305139"/>
                      </a:cubicBezTo>
                      <a:lnTo>
                        <a:pt x="450982" y="551610"/>
                      </a:lnTo>
                      <a:lnTo>
                        <a:pt x="394318" y="551610"/>
                      </a:lnTo>
                      <a:lnTo>
                        <a:pt x="394318" y="361815"/>
                      </a:lnTo>
                      <a:cubicBezTo>
                        <a:pt x="394318" y="354308"/>
                        <a:pt x="398580" y="343924"/>
                        <a:pt x="403846" y="338669"/>
                      </a:cubicBezTo>
                      <a:lnTo>
                        <a:pt x="441329" y="301136"/>
                      </a:lnTo>
                      <a:cubicBezTo>
                        <a:pt x="444024" y="298508"/>
                        <a:pt x="446438" y="297633"/>
                        <a:pt x="448177" y="298352"/>
                      </a:cubicBezTo>
                      <a:close/>
                      <a:moveTo>
                        <a:pt x="527085" y="219452"/>
                      </a:moveTo>
                      <a:cubicBezTo>
                        <a:pt x="528809" y="220171"/>
                        <a:pt x="529874" y="222486"/>
                        <a:pt x="529874" y="226177"/>
                      </a:cubicBezTo>
                      <a:lnTo>
                        <a:pt x="529874" y="551610"/>
                      </a:lnTo>
                      <a:lnTo>
                        <a:pt x="477232" y="551610"/>
                      </a:lnTo>
                      <a:lnTo>
                        <a:pt x="477232" y="278727"/>
                      </a:lnTo>
                      <a:cubicBezTo>
                        <a:pt x="477232" y="271345"/>
                        <a:pt x="481494" y="260960"/>
                        <a:pt x="486883" y="255580"/>
                      </a:cubicBezTo>
                      <a:lnTo>
                        <a:pt x="520348" y="222298"/>
                      </a:lnTo>
                      <a:cubicBezTo>
                        <a:pt x="522980" y="219608"/>
                        <a:pt x="525362" y="218732"/>
                        <a:pt x="527085" y="219452"/>
                      </a:cubicBezTo>
                      <a:close/>
                      <a:moveTo>
                        <a:pt x="387769" y="0"/>
                      </a:moveTo>
                      <a:lnTo>
                        <a:pt x="580729" y="0"/>
                      </a:lnTo>
                      <a:cubicBezTo>
                        <a:pt x="594512" y="0"/>
                        <a:pt x="607919" y="12135"/>
                        <a:pt x="607919" y="26022"/>
                      </a:cubicBezTo>
                      <a:lnTo>
                        <a:pt x="607919" y="219812"/>
                      </a:lnTo>
                      <a:cubicBezTo>
                        <a:pt x="607919" y="227318"/>
                        <a:pt x="603534" y="229070"/>
                        <a:pt x="598271" y="223815"/>
                      </a:cubicBezTo>
                      <a:lnTo>
                        <a:pt x="530610" y="156258"/>
                      </a:lnTo>
                      <a:lnTo>
                        <a:pt x="304320" y="382325"/>
                      </a:lnTo>
                      <a:cubicBezTo>
                        <a:pt x="298932" y="387580"/>
                        <a:pt x="290412" y="387580"/>
                        <a:pt x="285024" y="382325"/>
                      </a:cubicBezTo>
                      <a:lnTo>
                        <a:pt x="216360" y="313767"/>
                      </a:lnTo>
                      <a:lnTo>
                        <a:pt x="94068" y="435996"/>
                      </a:lnTo>
                      <a:cubicBezTo>
                        <a:pt x="72767" y="457264"/>
                        <a:pt x="38435" y="457264"/>
                        <a:pt x="17260" y="435996"/>
                      </a:cubicBezTo>
                      <a:lnTo>
                        <a:pt x="15882" y="434745"/>
                      </a:lnTo>
                      <a:cubicBezTo>
                        <a:pt x="-5294" y="413477"/>
                        <a:pt x="-5294" y="379198"/>
                        <a:pt x="15882" y="358055"/>
                      </a:cubicBezTo>
                      <a:lnTo>
                        <a:pt x="206837" y="167267"/>
                      </a:lnTo>
                      <a:cubicBezTo>
                        <a:pt x="212100" y="161888"/>
                        <a:pt x="220745" y="161888"/>
                        <a:pt x="226008" y="167267"/>
                      </a:cubicBezTo>
                      <a:lnTo>
                        <a:pt x="294672" y="235701"/>
                      </a:lnTo>
                      <a:lnTo>
                        <a:pt x="424481" y="105965"/>
                      </a:lnTo>
                      <a:lnTo>
                        <a:pt x="452423" y="78192"/>
                      </a:lnTo>
                      <a:lnTo>
                        <a:pt x="383885" y="9633"/>
                      </a:lnTo>
                      <a:cubicBezTo>
                        <a:pt x="378497" y="4379"/>
                        <a:pt x="380376" y="0"/>
                        <a:pt x="38776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cxnSp>
          <p:nvCxnSpPr>
            <p:cNvPr id="12" name="直接连接符 11"/>
            <p:cNvCxnSpPr/>
            <p:nvPr/>
          </p:nvCxnSpPr>
          <p:spPr>
            <a:xfrm>
              <a:off x="660400" y="3632200"/>
              <a:ext cx="540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/>
          <p:cNvSpPr txBox="1"/>
          <p:nvPr/>
        </p:nvSpPr>
        <p:spPr>
          <a:xfrm>
            <a:off x="7946390" y="1154430"/>
            <a:ext cx="3542030" cy="2810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96200" y="1352550"/>
            <a:ext cx="4204970" cy="38881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重定位：</a:t>
            </a:r>
            <a:r>
              <a:rPr lang="zh-CN" altLang="en-US" sz="2400" dirty="0">
                <a:sym typeface="+mn-ea"/>
              </a:rPr>
              <a:t>逻辑地址转换为物理地址的过程，称为重定位，也称为地址变换</a:t>
            </a:r>
            <a:endParaRPr lang="zh-CN" altLang="en-US" sz="2400" dirty="0">
              <a:sym typeface="+mn-ea"/>
            </a:endParaRPr>
          </a:p>
          <a:p>
            <a:endParaRPr lang="zh-CN" altLang="en-US" sz="2400" dirty="0">
              <a:sym typeface="+mn-ea"/>
            </a:endParaRPr>
          </a:p>
          <a:p>
            <a:endParaRPr lang="zh-CN" altLang="en-US" sz="2000" dirty="0">
              <a:latin typeface="+mn-ea"/>
              <a:sym typeface="+mn-ea"/>
            </a:endParaRPr>
          </a:p>
          <a:p>
            <a:r>
              <a:rPr lang="zh-CN" altLang="en-US" sz="2000" dirty="0">
                <a:latin typeface="+mn-ea"/>
                <a:sym typeface="+mn-ea"/>
              </a:rPr>
              <a:t>举例：编程人员使用数组，数组的下标即为逻辑地址，但实际运行时系统需要将数组下标转换成物理地址去访问。</a:t>
            </a:r>
            <a:endParaRPr lang="zh-CN" altLang="en-US" sz="2000" dirty="0"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作业装入内存示意图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14" name="Group 41"/>
          <p:cNvGrpSpPr/>
          <p:nvPr/>
        </p:nvGrpSpPr>
        <p:grpSpPr bwMode="auto">
          <a:xfrm>
            <a:off x="984500" y="1110801"/>
            <a:ext cx="8802722" cy="5064657"/>
            <a:chOff x="340" y="1008"/>
            <a:chExt cx="4552" cy="2619"/>
          </a:xfrm>
        </p:grpSpPr>
        <p:sp>
          <p:nvSpPr>
            <p:cNvPr id="16" name="Rectangle 5"/>
            <p:cNvSpPr>
              <a:spLocks noChangeArrowheads="1"/>
            </p:cNvSpPr>
            <p:nvPr/>
          </p:nvSpPr>
          <p:spPr bwMode="auto">
            <a:xfrm>
              <a:off x="1014" y="1248"/>
              <a:ext cx="1242" cy="172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 smtClean="0">
                <a:latin typeface="+mn-ea"/>
                <a:ea typeface="+mn-ea"/>
              </a:endParaRPr>
            </a:p>
          </p:txBody>
        </p:sp>
        <p:sp>
          <p:nvSpPr>
            <p:cNvPr id="17" name="Line 6"/>
            <p:cNvSpPr>
              <a:spLocks noChangeShapeType="1"/>
            </p:cNvSpPr>
            <p:nvPr/>
          </p:nvSpPr>
          <p:spPr bwMode="auto">
            <a:xfrm>
              <a:off x="1014" y="1608"/>
              <a:ext cx="124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8" name="Line 7"/>
            <p:cNvSpPr>
              <a:spLocks noChangeShapeType="1"/>
            </p:cNvSpPr>
            <p:nvPr/>
          </p:nvSpPr>
          <p:spPr bwMode="auto">
            <a:xfrm>
              <a:off x="1032" y="1955"/>
              <a:ext cx="122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auto">
            <a:xfrm>
              <a:off x="1032" y="2256"/>
              <a:ext cx="122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1" name="Line 9"/>
            <p:cNvSpPr>
              <a:spLocks noChangeShapeType="1"/>
            </p:cNvSpPr>
            <p:nvPr/>
          </p:nvSpPr>
          <p:spPr bwMode="auto">
            <a:xfrm>
              <a:off x="1032" y="2663"/>
              <a:ext cx="122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2" name="Text Box 10"/>
            <p:cNvSpPr txBox="1">
              <a:spLocks noChangeArrowheads="1"/>
            </p:cNvSpPr>
            <p:nvPr/>
          </p:nvSpPr>
          <p:spPr bwMode="auto">
            <a:xfrm>
              <a:off x="1032" y="1678"/>
              <a:ext cx="117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27FFB7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LOAD 1</a:t>
              </a:r>
              <a:r>
                <a:rPr lang="zh-CN" altLang="en-US" sz="2400" dirty="0">
                  <a:latin typeface="+mn-ea"/>
                  <a:ea typeface="+mn-ea"/>
                </a:rPr>
                <a:t>，</a:t>
              </a:r>
              <a:r>
                <a:rPr lang="en-US" altLang="zh-CN" sz="2400" dirty="0">
                  <a:latin typeface="+mn-ea"/>
                  <a:ea typeface="+mn-ea"/>
                </a:rPr>
                <a:t>2500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23" name="Text Box 11"/>
            <p:cNvSpPr txBox="1">
              <a:spLocks noChangeArrowheads="1"/>
            </p:cNvSpPr>
            <p:nvPr/>
          </p:nvSpPr>
          <p:spPr bwMode="auto">
            <a:xfrm>
              <a:off x="1110" y="2339"/>
              <a:ext cx="96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365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24" name="Text Box 12"/>
            <p:cNvSpPr txBox="1">
              <a:spLocks noChangeArrowheads="1"/>
            </p:cNvSpPr>
            <p:nvPr/>
          </p:nvSpPr>
          <p:spPr bwMode="auto">
            <a:xfrm>
              <a:off x="1067" y="3121"/>
              <a:ext cx="1104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作业地址空间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25" name="Text Box 13"/>
            <p:cNvSpPr txBox="1">
              <a:spLocks noChangeArrowheads="1"/>
            </p:cNvSpPr>
            <p:nvPr/>
          </p:nvSpPr>
          <p:spPr bwMode="auto">
            <a:xfrm>
              <a:off x="340" y="1200"/>
              <a:ext cx="674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>
                  <a:latin typeface="+mn-ea"/>
                  <a:ea typeface="+mn-ea"/>
                </a:rPr>
                <a:t>0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26" name="Text Box 14"/>
            <p:cNvSpPr txBox="1">
              <a:spLocks noChangeArrowheads="1"/>
            </p:cNvSpPr>
            <p:nvPr/>
          </p:nvSpPr>
          <p:spPr bwMode="auto">
            <a:xfrm>
              <a:off x="340" y="1536"/>
              <a:ext cx="674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1000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27" name="Text Box 15"/>
            <p:cNvSpPr txBox="1">
              <a:spLocks noChangeArrowheads="1"/>
            </p:cNvSpPr>
            <p:nvPr/>
          </p:nvSpPr>
          <p:spPr bwMode="auto">
            <a:xfrm>
              <a:off x="358" y="2124"/>
              <a:ext cx="674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2500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28" name="Text Box 16"/>
            <p:cNvSpPr txBox="1">
              <a:spLocks noChangeArrowheads="1"/>
            </p:cNvSpPr>
            <p:nvPr/>
          </p:nvSpPr>
          <p:spPr bwMode="auto">
            <a:xfrm>
              <a:off x="340" y="2784"/>
              <a:ext cx="674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>
                  <a:latin typeface="+mn-ea"/>
                  <a:ea typeface="+mn-ea"/>
                </a:rPr>
                <a:t>5000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29" name="Rectangle 17"/>
            <p:cNvSpPr>
              <a:spLocks noChangeArrowheads="1"/>
            </p:cNvSpPr>
            <p:nvPr/>
          </p:nvSpPr>
          <p:spPr bwMode="auto">
            <a:xfrm>
              <a:off x="3644" y="1008"/>
              <a:ext cx="1248" cy="23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rgbClr val="27FFB7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 smtClean="0">
                <a:latin typeface="+mn-ea"/>
                <a:ea typeface="+mn-ea"/>
              </a:endParaRPr>
            </a:p>
          </p:txBody>
        </p:sp>
        <p:sp>
          <p:nvSpPr>
            <p:cNvPr id="30" name="Line 18"/>
            <p:cNvSpPr>
              <a:spLocks noChangeShapeType="1"/>
            </p:cNvSpPr>
            <p:nvPr/>
          </p:nvSpPr>
          <p:spPr bwMode="auto">
            <a:xfrm>
              <a:off x="3646" y="1728"/>
              <a:ext cx="124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>
              <a:off x="3646" y="2043"/>
              <a:ext cx="124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>
              <a:off x="3646" y="2256"/>
              <a:ext cx="12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33" name="Line 21"/>
            <p:cNvSpPr>
              <a:spLocks noChangeShapeType="1"/>
            </p:cNvSpPr>
            <p:nvPr/>
          </p:nvSpPr>
          <p:spPr bwMode="auto">
            <a:xfrm>
              <a:off x="3646" y="2544"/>
              <a:ext cx="12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34" name="Text Box 22"/>
            <p:cNvSpPr txBox="1">
              <a:spLocks noChangeArrowheads="1"/>
            </p:cNvSpPr>
            <p:nvPr/>
          </p:nvSpPr>
          <p:spPr bwMode="auto">
            <a:xfrm>
              <a:off x="3646" y="1763"/>
              <a:ext cx="1244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LOAD 1</a:t>
              </a:r>
              <a:r>
                <a:rPr lang="zh-CN" altLang="en-US" sz="2400" dirty="0">
                  <a:latin typeface="+mn-ea"/>
                  <a:ea typeface="+mn-ea"/>
                </a:rPr>
                <a:t>，</a:t>
              </a:r>
              <a:r>
                <a:rPr lang="en-US" altLang="zh-CN" sz="2400" dirty="0">
                  <a:latin typeface="+mn-ea"/>
                  <a:ea typeface="+mn-ea"/>
                </a:rPr>
                <a:t>2500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35" name="Text Box 23"/>
            <p:cNvSpPr txBox="1">
              <a:spLocks noChangeArrowheads="1"/>
            </p:cNvSpPr>
            <p:nvPr/>
          </p:nvSpPr>
          <p:spPr bwMode="auto">
            <a:xfrm>
              <a:off x="3744" y="2315"/>
              <a:ext cx="96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365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36" name="Text Box 24"/>
            <p:cNvSpPr txBox="1">
              <a:spLocks noChangeArrowheads="1"/>
            </p:cNvSpPr>
            <p:nvPr/>
          </p:nvSpPr>
          <p:spPr bwMode="auto">
            <a:xfrm>
              <a:off x="3744" y="3388"/>
              <a:ext cx="96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内存空间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37" name="Text Box 25"/>
            <p:cNvSpPr txBox="1">
              <a:spLocks noChangeArrowheads="1"/>
            </p:cNvSpPr>
            <p:nvPr/>
          </p:nvSpPr>
          <p:spPr bwMode="auto">
            <a:xfrm>
              <a:off x="2930" y="1344"/>
              <a:ext cx="668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10000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38" name="Text Box 26"/>
            <p:cNvSpPr txBox="1">
              <a:spLocks noChangeArrowheads="1"/>
            </p:cNvSpPr>
            <p:nvPr/>
          </p:nvSpPr>
          <p:spPr bwMode="auto">
            <a:xfrm>
              <a:off x="3001" y="1632"/>
              <a:ext cx="597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11000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39" name="Text Box 27"/>
            <p:cNvSpPr txBox="1">
              <a:spLocks noChangeArrowheads="1"/>
            </p:cNvSpPr>
            <p:nvPr/>
          </p:nvSpPr>
          <p:spPr bwMode="auto">
            <a:xfrm>
              <a:off x="2976" y="2160"/>
              <a:ext cx="622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12500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40" name="Text Box 28"/>
            <p:cNvSpPr txBox="1">
              <a:spLocks noChangeArrowheads="1"/>
            </p:cNvSpPr>
            <p:nvPr/>
          </p:nvSpPr>
          <p:spPr bwMode="auto">
            <a:xfrm>
              <a:off x="2976" y="2880"/>
              <a:ext cx="622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15000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51" name="Line 29"/>
            <p:cNvSpPr>
              <a:spLocks noChangeShapeType="1"/>
            </p:cNvSpPr>
            <p:nvPr/>
          </p:nvSpPr>
          <p:spPr bwMode="auto">
            <a:xfrm>
              <a:off x="3646" y="1392"/>
              <a:ext cx="124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52" name="Line 30"/>
            <p:cNvSpPr>
              <a:spLocks noChangeShapeType="1"/>
            </p:cNvSpPr>
            <p:nvPr/>
          </p:nvSpPr>
          <p:spPr bwMode="auto">
            <a:xfrm>
              <a:off x="2158" y="1248"/>
              <a:ext cx="1488" cy="144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53" name="Line 31"/>
            <p:cNvSpPr>
              <a:spLocks noChangeShapeType="1"/>
            </p:cNvSpPr>
            <p:nvPr/>
          </p:nvSpPr>
          <p:spPr bwMode="auto">
            <a:xfrm>
              <a:off x="3644" y="2817"/>
              <a:ext cx="124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54" name="Text Box 32"/>
            <p:cNvSpPr txBox="1">
              <a:spLocks noChangeArrowheads="1"/>
            </p:cNvSpPr>
            <p:nvPr/>
          </p:nvSpPr>
          <p:spPr bwMode="auto">
            <a:xfrm>
              <a:off x="3502" y="2544"/>
              <a:ext cx="24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≈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55" name="Text Box 33"/>
            <p:cNvSpPr txBox="1">
              <a:spLocks noChangeArrowheads="1"/>
            </p:cNvSpPr>
            <p:nvPr/>
          </p:nvSpPr>
          <p:spPr bwMode="auto">
            <a:xfrm>
              <a:off x="4557" y="2561"/>
              <a:ext cx="24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≈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56" name="Text Box 34"/>
            <p:cNvSpPr txBox="1">
              <a:spLocks noChangeArrowheads="1"/>
            </p:cNvSpPr>
            <p:nvPr/>
          </p:nvSpPr>
          <p:spPr bwMode="auto">
            <a:xfrm>
              <a:off x="3502" y="3024"/>
              <a:ext cx="24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>
                  <a:latin typeface="+mn-ea"/>
                  <a:ea typeface="+mn-ea"/>
                </a:rPr>
                <a:t>≈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57" name="Text Box 35"/>
            <p:cNvSpPr txBox="1">
              <a:spLocks noChangeArrowheads="1"/>
            </p:cNvSpPr>
            <p:nvPr/>
          </p:nvSpPr>
          <p:spPr bwMode="auto">
            <a:xfrm>
              <a:off x="4555" y="2999"/>
              <a:ext cx="24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≈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58" name="Line 36"/>
            <p:cNvSpPr>
              <a:spLocks noChangeShapeType="1"/>
            </p:cNvSpPr>
            <p:nvPr/>
          </p:nvSpPr>
          <p:spPr bwMode="auto">
            <a:xfrm flipV="1">
              <a:off x="2206" y="2784"/>
              <a:ext cx="1440" cy="96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59" name="AutoShape 37"/>
            <p:cNvSpPr>
              <a:spLocks noChangeArrowheads="1"/>
            </p:cNvSpPr>
            <p:nvPr/>
          </p:nvSpPr>
          <p:spPr bwMode="auto">
            <a:xfrm>
              <a:off x="2302" y="1968"/>
              <a:ext cx="1200" cy="144"/>
            </a:xfrm>
            <a:prstGeom prst="rightArrow">
              <a:avLst>
                <a:gd name="adj1" fmla="val 50000"/>
                <a:gd name="adj2" fmla="val 208333"/>
              </a:avLst>
            </a:prstGeom>
            <a:solidFill>
              <a:schemeClr val="accent1"/>
            </a:solidFill>
            <a:ln w="2857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 txBox="1"/>
          <p:nvPr/>
        </p:nvSpPr>
        <p:spPr>
          <a:xfrm>
            <a:off x="669925" y="3864215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6</a:t>
            </a:r>
            <a:r>
              <a:rPr lang="zh-CN" altLang="en-US" sz="2800" b="1" dirty="0">
                <a:solidFill>
                  <a:schemeClr val="bg1"/>
                </a:solidFill>
              </a:rPr>
              <a:t>、程序的装入和链接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7" name="i$1îḑe"/>
          <p:cNvSpPr/>
          <p:nvPr/>
        </p:nvSpPr>
        <p:spPr>
          <a:xfrm>
            <a:off x="669925" y="3515841"/>
            <a:ext cx="624349" cy="624349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3</a:t>
            </a:r>
            <a:endParaRPr lang="en-US" altLang="zh-CN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í$1îḍe"/>
          <p:cNvSpPr txBox="1"/>
          <p:nvPr/>
        </p:nvSpPr>
        <p:spPr>
          <a:xfrm>
            <a:off x="1623687" y="3541426"/>
            <a:ext cx="8627896" cy="487739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装入：</a:t>
            </a:r>
            <a:r>
              <a:rPr lang="zh-CN" altLang="en-US" sz="2400" dirty="0"/>
              <a:t>由装入程序</a:t>
            </a:r>
            <a:r>
              <a:rPr lang="en-US" altLang="zh-CN" sz="2400" dirty="0"/>
              <a:t>(Loader)</a:t>
            </a:r>
            <a:r>
              <a:rPr lang="zh-CN" altLang="en-US" sz="2400" dirty="0"/>
              <a:t>将装入模块装入内存</a:t>
            </a:r>
            <a:endParaRPr lang="zh-CN" altLang="en-US" sz="2400" dirty="0"/>
          </a:p>
        </p:txBody>
      </p:sp>
      <p:sp>
        <p:nvSpPr>
          <p:cNvPr id="30" name="ïSļïḓè"/>
          <p:cNvSpPr/>
          <p:nvPr/>
        </p:nvSpPr>
        <p:spPr>
          <a:xfrm>
            <a:off x="669925" y="2547121"/>
            <a:ext cx="624349" cy="624349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2</a:t>
            </a:r>
            <a:endParaRPr lang="en-US" altLang="zh-CN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1" name="iŝļíďè"/>
          <p:cNvSpPr txBox="1"/>
          <p:nvPr/>
        </p:nvSpPr>
        <p:spPr>
          <a:xfrm>
            <a:off x="1623687" y="2344895"/>
            <a:ext cx="9619569" cy="1032638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链接：</a:t>
            </a:r>
            <a:r>
              <a:rPr lang="zh-CN" altLang="en-US" sz="2400" dirty="0"/>
              <a:t>由链接程序</a:t>
            </a:r>
            <a:r>
              <a:rPr lang="en-US" altLang="zh-CN" sz="2400" dirty="0"/>
              <a:t>(Linker)</a:t>
            </a:r>
            <a:r>
              <a:rPr lang="zh-CN" altLang="en-US" sz="2400" dirty="0"/>
              <a:t>将目标模块和它们所需要的库函数链接在一起，形成一个完整的装入模块</a:t>
            </a:r>
            <a:endParaRPr lang="zh-CN" altLang="en-US" sz="2400" dirty="0"/>
          </a:p>
        </p:txBody>
      </p:sp>
      <p:sp>
        <p:nvSpPr>
          <p:cNvPr id="33" name="ïśľiďe"/>
          <p:cNvSpPr/>
          <p:nvPr/>
        </p:nvSpPr>
        <p:spPr>
          <a:xfrm>
            <a:off x="669927" y="1681416"/>
            <a:ext cx="624349" cy="62434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1</a:t>
            </a:r>
            <a:endParaRPr lang="en-US" altLang="zh-CN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îṡ1ide"/>
          <p:cNvSpPr txBox="1"/>
          <p:nvPr/>
        </p:nvSpPr>
        <p:spPr>
          <a:xfrm>
            <a:off x="1623687" y="1687590"/>
            <a:ext cx="9896801" cy="556258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编译：</a:t>
            </a:r>
            <a:r>
              <a:rPr lang="zh-CN" altLang="en-US" sz="2400" dirty="0"/>
              <a:t>由编译程序</a:t>
            </a:r>
            <a:r>
              <a:rPr lang="en-US" altLang="zh-CN" sz="2400" dirty="0"/>
              <a:t>(Compiler)</a:t>
            </a:r>
            <a:r>
              <a:rPr lang="zh-CN" altLang="en-US" sz="2400" dirty="0"/>
              <a:t>对源程序进行编译，形成若干个目标模块</a:t>
            </a:r>
            <a:endParaRPr lang="zh-CN" altLang="en-US" sz="2400" dirty="0"/>
          </a:p>
        </p:txBody>
      </p:sp>
      <p:cxnSp>
        <p:nvCxnSpPr>
          <p:cNvPr id="36" name="直接连接符 35"/>
          <p:cNvCxnSpPr/>
          <p:nvPr/>
        </p:nvCxnSpPr>
        <p:spPr>
          <a:xfrm>
            <a:off x="1752475" y="3407964"/>
            <a:ext cx="9490781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1752475" y="2331523"/>
            <a:ext cx="9490781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1688082" y="4058686"/>
            <a:ext cx="6645560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38"/>
          <p:cNvGrpSpPr/>
          <p:nvPr/>
        </p:nvGrpSpPr>
        <p:grpSpPr bwMode="auto">
          <a:xfrm>
            <a:off x="883920" y="3611245"/>
            <a:ext cx="10358755" cy="2898608"/>
            <a:chOff x="-336" y="252"/>
            <a:chExt cx="5664" cy="3032"/>
          </a:xfrm>
        </p:grpSpPr>
        <p:sp>
          <p:nvSpPr>
            <p:cNvPr id="29" name="Text Box 3"/>
            <p:cNvSpPr txBox="1">
              <a:spLocks noChangeArrowheads="1"/>
            </p:cNvSpPr>
            <p:nvPr/>
          </p:nvSpPr>
          <p:spPr bwMode="auto">
            <a:xfrm>
              <a:off x="-336" y="1380"/>
              <a:ext cx="1483" cy="10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3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汇编程序或编译程序产生的目标模块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32" name="AutoShape 4"/>
            <p:cNvSpPr/>
            <p:nvPr/>
          </p:nvSpPr>
          <p:spPr bwMode="auto">
            <a:xfrm>
              <a:off x="1200" y="1440"/>
              <a:ext cx="96" cy="1104"/>
            </a:xfrm>
            <a:prstGeom prst="leftBrace">
              <a:avLst>
                <a:gd name="adj1" fmla="val 95833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" name="Rectangle 5"/>
            <p:cNvSpPr>
              <a:spLocks noChangeArrowheads="1"/>
            </p:cNvSpPr>
            <p:nvPr/>
          </p:nvSpPr>
          <p:spPr bwMode="auto">
            <a:xfrm>
              <a:off x="1344" y="1440"/>
              <a:ext cx="720" cy="24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" name="Rectangle 6"/>
            <p:cNvSpPr>
              <a:spLocks noChangeArrowheads="1"/>
            </p:cNvSpPr>
            <p:nvPr/>
          </p:nvSpPr>
          <p:spPr bwMode="auto">
            <a:xfrm>
              <a:off x="1344" y="1824"/>
              <a:ext cx="720" cy="24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" name="Text Box 7"/>
            <p:cNvSpPr txBox="1">
              <a:spLocks noChangeArrowheads="1"/>
            </p:cNvSpPr>
            <p:nvPr/>
          </p:nvSpPr>
          <p:spPr bwMode="auto">
            <a:xfrm>
              <a:off x="1572" y="2160"/>
              <a:ext cx="25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>
                  <a:solidFill>
                    <a:schemeClr val="accent2"/>
                  </a:solidFill>
                </a:rPr>
                <a:t>…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2" name="AutoShape 8"/>
            <p:cNvSpPr/>
            <p:nvPr/>
          </p:nvSpPr>
          <p:spPr bwMode="auto">
            <a:xfrm rot="-5400000">
              <a:off x="1723" y="1253"/>
              <a:ext cx="240" cy="2821"/>
            </a:xfrm>
            <a:prstGeom prst="leftBrace">
              <a:avLst>
                <a:gd name="adj1" fmla="val 108333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" name="Text Box 10"/>
            <p:cNvSpPr txBox="1">
              <a:spLocks noChangeArrowheads="1"/>
            </p:cNvSpPr>
            <p:nvPr/>
          </p:nvSpPr>
          <p:spPr bwMode="auto">
            <a:xfrm>
              <a:off x="1532" y="2880"/>
              <a:ext cx="624" cy="404"/>
            </a:xfrm>
            <a:prstGeom prst="rect">
              <a:avLst/>
            </a:prstGeom>
            <a:solidFill>
              <a:srgbClr val="0000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10000"/>
                </a:spcBef>
                <a:buClrTx/>
                <a:buSzTx/>
                <a:buFont typeface="Monotype Sorts" pitchFamily="2" charset="2"/>
                <a:buNone/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</a:rPr>
                <a:t>链接</a:t>
              </a:r>
              <a:endParaRPr lang="zh-CN" altLang="en-US" sz="24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44" name="AutoShape 11"/>
            <p:cNvSpPr>
              <a:spLocks noChangeArrowheads="1"/>
            </p:cNvSpPr>
            <p:nvPr/>
          </p:nvSpPr>
          <p:spPr bwMode="auto">
            <a:xfrm>
              <a:off x="1296" y="768"/>
              <a:ext cx="448" cy="473"/>
            </a:xfrm>
            <a:prstGeom prst="flowChartOnlineStorag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库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cxnSp>
          <p:nvCxnSpPr>
            <p:cNvPr id="45" name="AutoShape 12"/>
            <p:cNvCxnSpPr>
              <a:cxnSpLocks noChangeShapeType="1"/>
              <a:stCxn id="44" idx="3"/>
            </p:cNvCxnSpPr>
            <p:nvPr/>
          </p:nvCxnSpPr>
          <p:spPr bwMode="auto">
            <a:xfrm>
              <a:off x="1669" y="1005"/>
              <a:ext cx="635" cy="1443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6" name="Line 14"/>
            <p:cNvSpPr>
              <a:spLocks noChangeShapeType="1"/>
            </p:cNvSpPr>
            <p:nvPr/>
          </p:nvSpPr>
          <p:spPr bwMode="auto">
            <a:xfrm>
              <a:off x="2064" y="15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" name="Line 15"/>
            <p:cNvSpPr>
              <a:spLocks noChangeShapeType="1"/>
            </p:cNvSpPr>
            <p:nvPr/>
          </p:nvSpPr>
          <p:spPr bwMode="auto">
            <a:xfrm>
              <a:off x="2064" y="192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8" name="Line 16"/>
            <p:cNvSpPr>
              <a:spLocks noChangeShapeType="1"/>
            </p:cNvSpPr>
            <p:nvPr/>
          </p:nvSpPr>
          <p:spPr bwMode="auto">
            <a:xfrm>
              <a:off x="2304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9" name="Text Box 17"/>
            <p:cNvSpPr txBox="1">
              <a:spLocks noChangeArrowheads="1"/>
            </p:cNvSpPr>
            <p:nvPr/>
          </p:nvSpPr>
          <p:spPr bwMode="auto">
            <a:xfrm>
              <a:off x="2640" y="1377"/>
              <a:ext cx="528" cy="75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u="sng">
                  <a:latin typeface="+mn-ea"/>
                  <a:ea typeface="+mn-ea"/>
                </a:rPr>
                <a:t>链接</a:t>
              </a:r>
              <a:endParaRPr lang="zh-CN" altLang="en-US" sz="2400" u="sng">
                <a:latin typeface="+mn-ea"/>
                <a:ea typeface="+mn-ea"/>
              </a:endParaRPr>
            </a:p>
            <a:p>
              <a:pPr algn="ctr"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u="sng">
                  <a:latin typeface="+mn-ea"/>
                  <a:ea typeface="+mn-ea"/>
                </a:rPr>
                <a:t>程序</a:t>
              </a:r>
              <a:endParaRPr lang="zh-CN" altLang="en-US" sz="2400" u="sng">
                <a:latin typeface="+mn-ea"/>
                <a:ea typeface="+mn-ea"/>
              </a:endParaRPr>
            </a:p>
          </p:txBody>
        </p:sp>
        <p:sp>
          <p:nvSpPr>
            <p:cNvPr id="50" name="Text Box 18"/>
            <p:cNvSpPr txBox="1">
              <a:spLocks noChangeArrowheads="1"/>
            </p:cNvSpPr>
            <p:nvPr/>
          </p:nvSpPr>
          <p:spPr bwMode="auto">
            <a:xfrm>
              <a:off x="3360" y="1377"/>
              <a:ext cx="528" cy="75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装入</a:t>
              </a:r>
              <a:endParaRPr lang="zh-CN" altLang="en-US" sz="2400" dirty="0">
                <a:latin typeface="+mn-ea"/>
                <a:ea typeface="+mn-ea"/>
              </a:endParaRPr>
            </a:p>
            <a:p>
              <a:pPr algn="ctr"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模块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51" name="Text Box 19"/>
            <p:cNvSpPr txBox="1">
              <a:spLocks noChangeArrowheads="1"/>
            </p:cNvSpPr>
            <p:nvPr/>
          </p:nvSpPr>
          <p:spPr bwMode="auto">
            <a:xfrm>
              <a:off x="4080" y="1377"/>
              <a:ext cx="528" cy="75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u="sng">
                  <a:latin typeface="+mn-ea"/>
                  <a:ea typeface="+mn-ea"/>
                </a:rPr>
                <a:t>装入</a:t>
              </a:r>
              <a:endParaRPr lang="zh-CN" altLang="en-US" sz="2400" u="sng">
                <a:latin typeface="+mn-ea"/>
                <a:ea typeface="+mn-ea"/>
              </a:endParaRPr>
            </a:p>
            <a:p>
              <a:pPr algn="ctr"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u="sng">
                  <a:latin typeface="+mn-ea"/>
                  <a:ea typeface="+mn-ea"/>
                </a:rPr>
                <a:t>程序</a:t>
              </a:r>
              <a:endParaRPr lang="zh-CN" altLang="en-US" sz="2400" u="sng">
                <a:latin typeface="+mn-ea"/>
                <a:ea typeface="+mn-ea"/>
              </a:endParaRPr>
            </a:p>
          </p:txBody>
        </p:sp>
        <p:sp>
          <p:nvSpPr>
            <p:cNvPr id="52" name="AutoShape 20"/>
            <p:cNvSpPr>
              <a:spLocks noChangeArrowheads="1"/>
            </p:cNvSpPr>
            <p:nvPr/>
          </p:nvSpPr>
          <p:spPr bwMode="auto">
            <a:xfrm>
              <a:off x="4896" y="672"/>
              <a:ext cx="432" cy="1968"/>
            </a:xfrm>
            <a:prstGeom prst="flowChartPunchedTap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3" name="Line 21"/>
            <p:cNvSpPr>
              <a:spLocks noChangeShapeType="1"/>
            </p:cNvSpPr>
            <p:nvPr/>
          </p:nvSpPr>
          <p:spPr bwMode="auto">
            <a:xfrm>
              <a:off x="4896" y="1392"/>
              <a:ext cx="432" cy="0"/>
            </a:xfrm>
            <a:prstGeom prst="line">
              <a:avLst/>
            </a:prstGeom>
            <a:noFill/>
            <a:ln w="9525">
              <a:solidFill>
                <a:srgbClr val="27FFB7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>
              <a:off x="4896" y="1968"/>
              <a:ext cx="432" cy="0"/>
            </a:xfrm>
            <a:prstGeom prst="line">
              <a:avLst/>
            </a:prstGeom>
            <a:noFill/>
            <a:ln w="9525">
              <a:solidFill>
                <a:srgbClr val="27FFB7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5" name="Rectangle 23" descr="浅色上对角线"/>
            <p:cNvSpPr>
              <a:spLocks noChangeArrowheads="1"/>
            </p:cNvSpPr>
            <p:nvPr/>
          </p:nvSpPr>
          <p:spPr bwMode="auto">
            <a:xfrm>
              <a:off x="4896" y="1392"/>
              <a:ext cx="432" cy="576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" name="AutoShape 24"/>
            <p:cNvSpPr/>
            <p:nvPr/>
          </p:nvSpPr>
          <p:spPr bwMode="auto">
            <a:xfrm>
              <a:off x="4800" y="1392"/>
              <a:ext cx="48" cy="576"/>
            </a:xfrm>
            <a:prstGeom prst="leftBrace">
              <a:avLst>
                <a:gd name="adj1" fmla="val 10000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" name="Line 25"/>
            <p:cNvSpPr>
              <a:spLocks noChangeShapeType="1"/>
            </p:cNvSpPr>
            <p:nvPr/>
          </p:nvSpPr>
          <p:spPr bwMode="auto">
            <a:xfrm>
              <a:off x="4608" y="171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8" name="Line 26"/>
            <p:cNvSpPr>
              <a:spLocks noChangeShapeType="1"/>
            </p:cNvSpPr>
            <p:nvPr/>
          </p:nvSpPr>
          <p:spPr bwMode="auto">
            <a:xfrm>
              <a:off x="3168" y="17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9" name="Line 27"/>
            <p:cNvSpPr>
              <a:spLocks noChangeShapeType="1"/>
            </p:cNvSpPr>
            <p:nvPr/>
          </p:nvSpPr>
          <p:spPr bwMode="auto">
            <a:xfrm>
              <a:off x="3888" y="17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60" name="Text Box 28"/>
            <p:cNvSpPr txBox="1">
              <a:spLocks noChangeArrowheads="1"/>
            </p:cNvSpPr>
            <p:nvPr/>
          </p:nvSpPr>
          <p:spPr bwMode="auto">
            <a:xfrm>
              <a:off x="4848" y="252"/>
              <a:ext cx="480" cy="40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内存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63" name="AutoShape 31"/>
            <p:cNvSpPr/>
            <p:nvPr/>
          </p:nvSpPr>
          <p:spPr bwMode="auto">
            <a:xfrm rot="-5400000">
              <a:off x="3954" y="1843"/>
              <a:ext cx="240" cy="1643"/>
            </a:xfrm>
            <a:prstGeom prst="leftBrace">
              <a:avLst>
                <a:gd name="adj1" fmla="val 52778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4" name="Text Box 32"/>
            <p:cNvSpPr txBox="1">
              <a:spLocks noChangeArrowheads="1"/>
            </p:cNvSpPr>
            <p:nvPr/>
          </p:nvSpPr>
          <p:spPr bwMode="auto">
            <a:xfrm>
              <a:off x="3839" y="2880"/>
              <a:ext cx="624" cy="404"/>
            </a:xfrm>
            <a:prstGeom prst="rect">
              <a:avLst/>
            </a:prstGeom>
            <a:solidFill>
              <a:srgbClr val="0000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</a:rPr>
                <a:t>装入</a:t>
              </a:r>
              <a:endParaRPr lang="zh-CN" altLang="en-US" sz="24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65" name="Line 34"/>
            <p:cNvSpPr>
              <a:spLocks noChangeShapeType="1"/>
            </p:cNvSpPr>
            <p:nvPr/>
          </p:nvSpPr>
          <p:spPr bwMode="auto">
            <a:xfrm>
              <a:off x="392" y="2304"/>
              <a:ext cx="0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67" name="Line 36"/>
            <p:cNvSpPr>
              <a:spLocks noChangeShapeType="1"/>
            </p:cNvSpPr>
            <p:nvPr/>
          </p:nvSpPr>
          <p:spPr bwMode="auto">
            <a:xfrm>
              <a:off x="3264" y="1832"/>
              <a:ext cx="0" cy="86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sp>
        <p:nvSpPr>
          <p:cNvPr id="69" name="矩形 68"/>
          <p:cNvSpPr/>
          <p:nvPr/>
        </p:nvSpPr>
        <p:spPr>
          <a:xfrm>
            <a:off x="150" y="1074766"/>
            <a:ext cx="10850563" cy="49364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程序的运行步骤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37815" y="1169670"/>
            <a:ext cx="9260205" cy="3987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 anchor="t">
            <a:spAutoFit/>
          </a:bodyPr>
          <a:p>
            <a:r>
              <a:rPr lang="en-US" altLang="zh-CN" sz="2000">
                <a:sym typeface="+mn-ea"/>
              </a:rPr>
              <a:t>a.c——(</a:t>
            </a:r>
            <a:r>
              <a:rPr lang="zh-CN" altLang="en-US" sz="2000">
                <a:sym typeface="+mn-ea"/>
              </a:rPr>
              <a:t>编译模块</a:t>
            </a:r>
            <a:r>
              <a:rPr lang="en-US" altLang="zh-CN" sz="2000">
                <a:sym typeface="+mn-ea"/>
              </a:rPr>
              <a:t>)——&gt;a.obj——(</a:t>
            </a:r>
            <a:r>
              <a:rPr lang="zh-CN" altLang="en-US" sz="2000">
                <a:sym typeface="+mn-ea"/>
              </a:rPr>
              <a:t>链接模块</a:t>
            </a:r>
            <a:r>
              <a:rPr lang="en-US" altLang="zh-CN" sz="2000">
                <a:sym typeface="+mn-ea"/>
              </a:rPr>
              <a:t>)——&gt;a.exe——(</a:t>
            </a:r>
            <a:r>
              <a:rPr lang="zh-CN" altLang="en-US" sz="2000">
                <a:sym typeface="+mn-ea"/>
              </a:rPr>
              <a:t>装入模块</a:t>
            </a:r>
            <a:r>
              <a:rPr lang="en-US" altLang="zh-CN" sz="2000">
                <a:sym typeface="+mn-ea"/>
              </a:rPr>
              <a:t>)——&gt;</a:t>
            </a:r>
            <a:r>
              <a:rPr lang="zh-CN" altLang="en-US" sz="2000">
                <a:sym typeface="+mn-ea"/>
              </a:rPr>
              <a:t>内存</a:t>
            </a:r>
            <a:endParaRPr lang="zh-CN" altLang="en-US" sz="20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（</a:t>
            </a:r>
            <a:r>
              <a:rPr lang="en-US" altLang="zh-CN" sz="2800" b="1" dirty="0">
                <a:solidFill>
                  <a:schemeClr val="bg1"/>
                </a:solidFill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</a:rPr>
              <a:t>）程序的装入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6" name="íśľïḋé"/>
          <p:cNvSpPr/>
          <p:nvPr/>
        </p:nvSpPr>
        <p:spPr>
          <a:xfrm>
            <a:off x="953135" y="3159125"/>
            <a:ext cx="408305" cy="363855"/>
          </a:xfrm>
          <a:custGeom>
            <a:avLst/>
            <a:gdLst>
              <a:gd name="connsiteX0" fmla="*/ 514822 w 607336"/>
              <a:gd name="connsiteY0" fmla="*/ 287718 h 541236"/>
              <a:gd name="connsiteX1" fmla="*/ 501327 w 607336"/>
              <a:gd name="connsiteY1" fmla="*/ 301190 h 541236"/>
              <a:gd name="connsiteX2" fmla="*/ 501327 w 607336"/>
              <a:gd name="connsiteY2" fmla="*/ 357185 h 541236"/>
              <a:gd name="connsiteX3" fmla="*/ 514822 w 607336"/>
              <a:gd name="connsiteY3" fmla="*/ 370656 h 541236"/>
              <a:gd name="connsiteX4" fmla="*/ 528317 w 607336"/>
              <a:gd name="connsiteY4" fmla="*/ 357185 h 541236"/>
              <a:gd name="connsiteX5" fmla="*/ 528317 w 607336"/>
              <a:gd name="connsiteY5" fmla="*/ 301190 h 541236"/>
              <a:gd name="connsiteX6" fmla="*/ 514822 w 607336"/>
              <a:gd name="connsiteY6" fmla="*/ 287718 h 541236"/>
              <a:gd name="connsiteX7" fmla="*/ 513884 w 607336"/>
              <a:gd name="connsiteY7" fmla="*/ 257846 h 541236"/>
              <a:gd name="connsiteX8" fmla="*/ 524093 w 607336"/>
              <a:gd name="connsiteY8" fmla="*/ 258315 h 541236"/>
              <a:gd name="connsiteX9" fmla="*/ 591098 w 607336"/>
              <a:gd name="connsiteY9" fmla="*/ 286664 h 541236"/>
              <a:gd name="connsiteX10" fmla="*/ 596496 w 607336"/>
              <a:gd name="connsiteY10" fmla="*/ 294630 h 541236"/>
              <a:gd name="connsiteX11" fmla="*/ 605297 w 607336"/>
              <a:gd name="connsiteY11" fmla="*/ 403457 h 541236"/>
              <a:gd name="connsiteX12" fmla="*/ 581123 w 607336"/>
              <a:gd name="connsiteY12" fmla="*/ 508770 h 541236"/>
              <a:gd name="connsiteX13" fmla="*/ 575725 w 607336"/>
              <a:gd name="connsiteY13" fmla="*/ 516736 h 541236"/>
              <a:gd name="connsiteX14" fmla="*/ 514822 w 607336"/>
              <a:gd name="connsiteY14" fmla="*/ 536650 h 541236"/>
              <a:gd name="connsiteX15" fmla="*/ 453919 w 607336"/>
              <a:gd name="connsiteY15" fmla="*/ 516736 h 541236"/>
              <a:gd name="connsiteX16" fmla="*/ 448521 w 607336"/>
              <a:gd name="connsiteY16" fmla="*/ 508770 h 541236"/>
              <a:gd name="connsiteX17" fmla="*/ 424348 w 607336"/>
              <a:gd name="connsiteY17" fmla="*/ 403457 h 541236"/>
              <a:gd name="connsiteX18" fmla="*/ 433149 w 607336"/>
              <a:gd name="connsiteY18" fmla="*/ 294630 h 541236"/>
              <a:gd name="connsiteX19" fmla="*/ 438547 w 607336"/>
              <a:gd name="connsiteY19" fmla="*/ 286664 h 541236"/>
              <a:gd name="connsiteX20" fmla="*/ 502970 w 607336"/>
              <a:gd name="connsiteY20" fmla="*/ 258315 h 541236"/>
              <a:gd name="connsiteX21" fmla="*/ 513884 w 607336"/>
              <a:gd name="connsiteY21" fmla="*/ 257846 h 541236"/>
              <a:gd name="connsiteX22" fmla="*/ 23466 w 607336"/>
              <a:gd name="connsiteY22" fmla="*/ 0 h 541236"/>
              <a:gd name="connsiteX23" fmla="*/ 555312 w 607336"/>
              <a:gd name="connsiteY23" fmla="*/ 0 h 541236"/>
              <a:gd name="connsiteX24" fmla="*/ 578778 w 607336"/>
              <a:gd name="connsiteY24" fmla="*/ 23430 h 541236"/>
              <a:gd name="connsiteX25" fmla="*/ 578778 w 607336"/>
              <a:gd name="connsiteY25" fmla="*/ 253163 h 541236"/>
              <a:gd name="connsiteX26" fmla="*/ 531847 w 607336"/>
              <a:gd name="connsiteY26" fmla="*/ 239339 h 541236"/>
              <a:gd name="connsiteX27" fmla="*/ 531847 w 607336"/>
              <a:gd name="connsiteY27" fmla="*/ 46861 h 541236"/>
              <a:gd name="connsiteX28" fmla="*/ 46931 w 607336"/>
              <a:gd name="connsiteY28" fmla="*/ 46861 h 541236"/>
              <a:gd name="connsiteX29" fmla="*/ 46931 w 607336"/>
              <a:gd name="connsiteY29" fmla="*/ 346766 h 541236"/>
              <a:gd name="connsiteX30" fmla="*/ 404898 w 607336"/>
              <a:gd name="connsiteY30" fmla="*/ 346766 h 541236"/>
              <a:gd name="connsiteX31" fmla="*/ 405837 w 607336"/>
              <a:gd name="connsiteY31" fmla="*/ 410730 h 541236"/>
              <a:gd name="connsiteX32" fmla="*/ 409005 w 607336"/>
              <a:gd name="connsiteY32" fmla="*/ 432638 h 541236"/>
              <a:gd name="connsiteX33" fmla="*/ 368175 w 607336"/>
              <a:gd name="connsiteY33" fmla="*/ 432638 h 541236"/>
              <a:gd name="connsiteX34" fmla="*/ 388120 w 607336"/>
              <a:gd name="connsiteY34" fmla="*/ 500585 h 541236"/>
              <a:gd name="connsiteX35" fmla="*/ 412407 w 607336"/>
              <a:gd name="connsiteY35" fmla="*/ 500585 h 541236"/>
              <a:gd name="connsiteX36" fmla="*/ 423553 w 607336"/>
              <a:gd name="connsiteY36" fmla="*/ 511714 h 541236"/>
              <a:gd name="connsiteX37" fmla="*/ 423553 w 607336"/>
              <a:gd name="connsiteY37" fmla="*/ 530107 h 541236"/>
              <a:gd name="connsiteX38" fmla="*/ 412407 w 607336"/>
              <a:gd name="connsiteY38" fmla="*/ 541236 h 541236"/>
              <a:gd name="connsiteX39" fmla="*/ 166371 w 607336"/>
              <a:gd name="connsiteY39" fmla="*/ 541236 h 541236"/>
              <a:gd name="connsiteX40" fmla="*/ 155225 w 607336"/>
              <a:gd name="connsiteY40" fmla="*/ 530107 h 541236"/>
              <a:gd name="connsiteX41" fmla="*/ 155225 w 607336"/>
              <a:gd name="connsiteY41" fmla="*/ 511714 h 541236"/>
              <a:gd name="connsiteX42" fmla="*/ 166371 w 607336"/>
              <a:gd name="connsiteY42" fmla="*/ 500585 h 541236"/>
              <a:gd name="connsiteX43" fmla="*/ 190658 w 607336"/>
              <a:gd name="connsiteY43" fmla="*/ 500585 h 541236"/>
              <a:gd name="connsiteX44" fmla="*/ 210721 w 607336"/>
              <a:gd name="connsiteY44" fmla="*/ 432638 h 541236"/>
              <a:gd name="connsiteX45" fmla="*/ 23466 w 607336"/>
              <a:gd name="connsiteY45" fmla="*/ 432638 h 541236"/>
              <a:gd name="connsiteX46" fmla="*/ 0 w 607336"/>
              <a:gd name="connsiteY46" fmla="*/ 409207 h 541236"/>
              <a:gd name="connsiteX47" fmla="*/ 0 w 607336"/>
              <a:gd name="connsiteY47" fmla="*/ 23430 h 541236"/>
              <a:gd name="connsiteX48" fmla="*/ 23466 w 607336"/>
              <a:gd name="connsiteY48" fmla="*/ 0 h 541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07336" h="541236">
                <a:moveTo>
                  <a:pt x="514822" y="287718"/>
                </a:moveTo>
                <a:cubicBezTo>
                  <a:pt x="507429" y="287718"/>
                  <a:pt x="501327" y="293810"/>
                  <a:pt x="501327" y="301190"/>
                </a:cubicBezTo>
                <a:lnTo>
                  <a:pt x="501327" y="357185"/>
                </a:lnTo>
                <a:cubicBezTo>
                  <a:pt x="501327" y="364682"/>
                  <a:pt x="507429" y="370656"/>
                  <a:pt x="514822" y="370656"/>
                </a:cubicBezTo>
                <a:cubicBezTo>
                  <a:pt x="522215" y="370656"/>
                  <a:pt x="528317" y="364682"/>
                  <a:pt x="528317" y="357185"/>
                </a:cubicBezTo>
                <a:lnTo>
                  <a:pt x="528317" y="301190"/>
                </a:lnTo>
                <a:cubicBezTo>
                  <a:pt x="528317" y="293810"/>
                  <a:pt x="522215" y="287718"/>
                  <a:pt x="514822" y="287718"/>
                </a:cubicBezTo>
                <a:close/>
                <a:moveTo>
                  <a:pt x="513884" y="257846"/>
                </a:moveTo>
                <a:cubicBezTo>
                  <a:pt x="521042" y="257846"/>
                  <a:pt x="524093" y="258315"/>
                  <a:pt x="524093" y="258315"/>
                </a:cubicBezTo>
                <a:cubicBezTo>
                  <a:pt x="546506" y="260423"/>
                  <a:pt x="569037" y="269795"/>
                  <a:pt x="591098" y="286664"/>
                </a:cubicBezTo>
                <a:cubicBezTo>
                  <a:pt x="593679" y="288655"/>
                  <a:pt x="595557" y="291467"/>
                  <a:pt x="596496" y="294630"/>
                </a:cubicBezTo>
                <a:cubicBezTo>
                  <a:pt x="606940" y="330710"/>
                  <a:pt x="609756" y="365268"/>
                  <a:pt x="605297" y="403457"/>
                </a:cubicBezTo>
                <a:cubicBezTo>
                  <a:pt x="601307" y="437312"/>
                  <a:pt x="592037" y="471166"/>
                  <a:pt x="581123" y="508770"/>
                </a:cubicBezTo>
                <a:cubicBezTo>
                  <a:pt x="580185" y="511933"/>
                  <a:pt x="578307" y="514744"/>
                  <a:pt x="575725" y="516736"/>
                </a:cubicBezTo>
                <a:cubicBezTo>
                  <a:pt x="559062" y="529622"/>
                  <a:pt x="537470" y="536650"/>
                  <a:pt x="514822" y="536650"/>
                </a:cubicBezTo>
                <a:cubicBezTo>
                  <a:pt x="492174" y="536650"/>
                  <a:pt x="470583" y="529622"/>
                  <a:pt x="453919" y="516736"/>
                </a:cubicBezTo>
                <a:cubicBezTo>
                  <a:pt x="451338" y="514744"/>
                  <a:pt x="449460" y="511933"/>
                  <a:pt x="448521" y="508770"/>
                </a:cubicBezTo>
                <a:cubicBezTo>
                  <a:pt x="437608" y="471166"/>
                  <a:pt x="428338" y="437312"/>
                  <a:pt x="424348" y="403457"/>
                </a:cubicBezTo>
                <a:cubicBezTo>
                  <a:pt x="420006" y="365268"/>
                  <a:pt x="422705" y="330710"/>
                  <a:pt x="433149" y="294630"/>
                </a:cubicBezTo>
                <a:cubicBezTo>
                  <a:pt x="434088" y="291467"/>
                  <a:pt x="435965" y="288655"/>
                  <a:pt x="438547" y="286664"/>
                </a:cubicBezTo>
                <a:cubicBezTo>
                  <a:pt x="459787" y="270381"/>
                  <a:pt x="481378" y="260892"/>
                  <a:pt x="502970" y="258315"/>
                </a:cubicBezTo>
                <a:cubicBezTo>
                  <a:pt x="502970" y="258315"/>
                  <a:pt x="506725" y="257846"/>
                  <a:pt x="513884" y="257846"/>
                </a:cubicBezTo>
                <a:close/>
                <a:moveTo>
                  <a:pt x="23466" y="0"/>
                </a:moveTo>
                <a:lnTo>
                  <a:pt x="555312" y="0"/>
                </a:lnTo>
                <a:cubicBezTo>
                  <a:pt x="568336" y="0"/>
                  <a:pt x="578778" y="10544"/>
                  <a:pt x="578778" y="23430"/>
                </a:cubicBezTo>
                <a:lnTo>
                  <a:pt x="578778" y="253163"/>
                </a:lnTo>
                <a:cubicBezTo>
                  <a:pt x="563408" y="245548"/>
                  <a:pt x="547686" y="240979"/>
                  <a:pt x="531847" y="239339"/>
                </a:cubicBezTo>
                <a:lnTo>
                  <a:pt x="531847" y="46861"/>
                </a:lnTo>
                <a:lnTo>
                  <a:pt x="46931" y="46861"/>
                </a:lnTo>
                <a:lnTo>
                  <a:pt x="46931" y="346766"/>
                </a:lnTo>
                <a:lnTo>
                  <a:pt x="404898" y="346766"/>
                </a:lnTo>
                <a:cubicBezTo>
                  <a:pt x="402904" y="367502"/>
                  <a:pt x="403256" y="388589"/>
                  <a:pt x="405837" y="410730"/>
                </a:cubicBezTo>
                <a:cubicBezTo>
                  <a:pt x="406658" y="418111"/>
                  <a:pt x="407714" y="425374"/>
                  <a:pt x="409005" y="432638"/>
                </a:cubicBezTo>
                <a:lnTo>
                  <a:pt x="368175" y="432638"/>
                </a:lnTo>
                <a:lnTo>
                  <a:pt x="388120" y="500585"/>
                </a:lnTo>
                <a:lnTo>
                  <a:pt x="412407" y="500585"/>
                </a:lnTo>
                <a:cubicBezTo>
                  <a:pt x="418626" y="500585"/>
                  <a:pt x="423553" y="505622"/>
                  <a:pt x="423553" y="511714"/>
                </a:cubicBezTo>
                <a:lnTo>
                  <a:pt x="423553" y="530107"/>
                </a:lnTo>
                <a:cubicBezTo>
                  <a:pt x="423553" y="536199"/>
                  <a:pt x="418626" y="541236"/>
                  <a:pt x="412407" y="541236"/>
                </a:cubicBezTo>
                <a:lnTo>
                  <a:pt x="166371" y="541236"/>
                </a:lnTo>
                <a:cubicBezTo>
                  <a:pt x="160270" y="541236"/>
                  <a:pt x="155225" y="536199"/>
                  <a:pt x="155225" y="530107"/>
                </a:cubicBezTo>
                <a:lnTo>
                  <a:pt x="155225" y="511714"/>
                </a:lnTo>
                <a:cubicBezTo>
                  <a:pt x="155225" y="505622"/>
                  <a:pt x="160270" y="500585"/>
                  <a:pt x="166371" y="500585"/>
                </a:cubicBezTo>
                <a:lnTo>
                  <a:pt x="190658" y="500585"/>
                </a:lnTo>
                <a:lnTo>
                  <a:pt x="210721" y="432638"/>
                </a:lnTo>
                <a:lnTo>
                  <a:pt x="23466" y="432638"/>
                </a:lnTo>
                <a:cubicBezTo>
                  <a:pt x="10560" y="432638"/>
                  <a:pt x="0" y="422211"/>
                  <a:pt x="0" y="409207"/>
                </a:cubicBezTo>
                <a:lnTo>
                  <a:pt x="0" y="23430"/>
                </a:lnTo>
                <a:cubicBezTo>
                  <a:pt x="0" y="10544"/>
                  <a:pt x="10560" y="0"/>
                  <a:pt x="23466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49" name="ïsľíḓê"/>
          <p:cNvSpPr/>
          <p:nvPr/>
        </p:nvSpPr>
        <p:spPr>
          <a:xfrm>
            <a:off x="953135" y="5345430"/>
            <a:ext cx="408305" cy="363855"/>
          </a:xfrm>
          <a:custGeom>
            <a:avLst/>
            <a:gdLst>
              <a:gd name="connsiteX0" fmla="*/ 514822 w 607336"/>
              <a:gd name="connsiteY0" fmla="*/ 287718 h 541236"/>
              <a:gd name="connsiteX1" fmla="*/ 501327 w 607336"/>
              <a:gd name="connsiteY1" fmla="*/ 301190 h 541236"/>
              <a:gd name="connsiteX2" fmla="*/ 501327 w 607336"/>
              <a:gd name="connsiteY2" fmla="*/ 357185 h 541236"/>
              <a:gd name="connsiteX3" fmla="*/ 514822 w 607336"/>
              <a:gd name="connsiteY3" fmla="*/ 370656 h 541236"/>
              <a:gd name="connsiteX4" fmla="*/ 528317 w 607336"/>
              <a:gd name="connsiteY4" fmla="*/ 357185 h 541236"/>
              <a:gd name="connsiteX5" fmla="*/ 528317 w 607336"/>
              <a:gd name="connsiteY5" fmla="*/ 301190 h 541236"/>
              <a:gd name="connsiteX6" fmla="*/ 514822 w 607336"/>
              <a:gd name="connsiteY6" fmla="*/ 287718 h 541236"/>
              <a:gd name="connsiteX7" fmla="*/ 513884 w 607336"/>
              <a:gd name="connsiteY7" fmla="*/ 257846 h 541236"/>
              <a:gd name="connsiteX8" fmla="*/ 524093 w 607336"/>
              <a:gd name="connsiteY8" fmla="*/ 258315 h 541236"/>
              <a:gd name="connsiteX9" fmla="*/ 591098 w 607336"/>
              <a:gd name="connsiteY9" fmla="*/ 286664 h 541236"/>
              <a:gd name="connsiteX10" fmla="*/ 596496 w 607336"/>
              <a:gd name="connsiteY10" fmla="*/ 294630 h 541236"/>
              <a:gd name="connsiteX11" fmla="*/ 605297 w 607336"/>
              <a:gd name="connsiteY11" fmla="*/ 403457 h 541236"/>
              <a:gd name="connsiteX12" fmla="*/ 581123 w 607336"/>
              <a:gd name="connsiteY12" fmla="*/ 508770 h 541236"/>
              <a:gd name="connsiteX13" fmla="*/ 575725 w 607336"/>
              <a:gd name="connsiteY13" fmla="*/ 516736 h 541236"/>
              <a:gd name="connsiteX14" fmla="*/ 514822 w 607336"/>
              <a:gd name="connsiteY14" fmla="*/ 536650 h 541236"/>
              <a:gd name="connsiteX15" fmla="*/ 453919 w 607336"/>
              <a:gd name="connsiteY15" fmla="*/ 516736 h 541236"/>
              <a:gd name="connsiteX16" fmla="*/ 448521 w 607336"/>
              <a:gd name="connsiteY16" fmla="*/ 508770 h 541236"/>
              <a:gd name="connsiteX17" fmla="*/ 424348 w 607336"/>
              <a:gd name="connsiteY17" fmla="*/ 403457 h 541236"/>
              <a:gd name="connsiteX18" fmla="*/ 433149 w 607336"/>
              <a:gd name="connsiteY18" fmla="*/ 294630 h 541236"/>
              <a:gd name="connsiteX19" fmla="*/ 438547 w 607336"/>
              <a:gd name="connsiteY19" fmla="*/ 286664 h 541236"/>
              <a:gd name="connsiteX20" fmla="*/ 502970 w 607336"/>
              <a:gd name="connsiteY20" fmla="*/ 258315 h 541236"/>
              <a:gd name="connsiteX21" fmla="*/ 513884 w 607336"/>
              <a:gd name="connsiteY21" fmla="*/ 257846 h 541236"/>
              <a:gd name="connsiteX22" fmla="*/ 23466 w 607336"/>
              <a:gd name="connsiteY22" fmla="*/ 0 h 541236"/>
              <a:gd name="connsiteX23" fmla="*/ 555312 w 607336"/>
              <a:gd name="connsiteY23" fmla="*/ 0 h 541236"/>
              <a:gd name="connsiteX24" fmla="*/ 578778 w 607336"/>
              <a:gd name="connsiteY24" fmla="*/ 23430 h 541236"/>
              <a:gd name="connsiteX25" fmla="*/ 578778 w 607336"/>
              <a:gd name="connsiteY25" fmla="*/ 253163 h 541236"/>
              <a:gd name="connsiteX26" fmla="*/ 531847 w 607336"/>
              <a:gd name="connsiteY26" fmla="*/ 239339 h 541236"/>
              <a:gd name="connsiteX27" fmla="*/ 531847 w 607336"/>
              <a:gd name="connsiteY27" fmla="*/ 46861 h 541236"/>
              <a:gd name="connsiteX28" fmla="*/ 46931 w 607336"/>
              <a:gd name="connsiteY28" fmla="*/ 46861 h 541236"/>
              <a:gd name="connsiteX29" fmla="*/ 46931 w 607336"/>
              <a:gd name="connsiteY29" fmla="*/ 346766 h 541236"/>
              <a:gd name="connsiteX30" fmla="*/ 404898 w 607336"/>
              <a:gd name="connsiteY30" fmla="*/ 346766 h 541236"/>
              <a:gd name="connsiteX31" fmla="*/ 405837 w 607336"/>
              <a:gd name="connsiteY31" fmla="*/ 410730 h 541236"/>
              <a:gd name="connsiteX32" fmla="*/ 409005 w 607336"/>
              <a:gd name="connsiteY32" fmla="*/ 432638 h 541236"/>
              <a:gd name="connsiteX33" fmla="*/ 368175 w 607336"/>
              <a:gd name="connsiteY33" fmla="*/ 432638 h 541236"/>
              <a:gd name="connsiteX34" fmla="*/ 388120 w 607336"/>
              <a:gd name="connsiteY34" fmla="*/ 500585 h 541236"/>
              <a:gd name="connsiteX35" fmla="*/ 412407 w 607336"/>
              <a:gd name="connsiteY35" fmla="*/ 500585 h 541236"/>
              <a:gd name="connsiteX36" fmla="*/ 423553 w 607336"/>
              <a:gd name="connsiteY36" fmla="*/ 511714 h 541236"/>
              <a:gd name="connsiteX37" fmla="*/ 423553 w 607336"/>
              <a:gd name="connsiteY37" fmla="*/ 530107 h 541236"/>
              <a:gd name="connsiteX38" fmla="*/ 412407 w 607336"/>
              <a:gd name="connsiteY38" fmla="*/ 541236 h 541236"/>
              <a:gd name="connsiteX39" fmla="*/ 166371 w 607336"/>
              <a:gd name="connsiteY39" fmla="*/ 541236 h 541236"/>
              <a:gd name="connsiteX40" fmla="*/ 155225 w 607336"/>
              <a:gd name="connsiteY40" fmla="*/ 530107 h 541236"/>
              <a:gd name="connsiteX41" fmla="*/ 155225 w 607336"/>
              <a:gd name="connsiteY41" fmla="*/ 511714 h 541236"/>
              <a:gd name="connsiteX42" fmla="*/ 166371 w 607336"/>
              <a:gd name="connsiteY42" fmla="*/ 500585 h 541236"/>
              <a:gd name="connsiteX43" fmla="*/ 190658 w 607336"/>
              <a:gd name="connsiteY43" fmla="*/ 500585 h 541236"/>
              <a:gd name="connsiteX44" fmla="*/ 210721 w 607336"/>
              <a:gd name="connsiteY44" fmla="*/ 432638 h 541236"/>
              <a:gd name="connsiteX45" fmla="*/ 23466 w 607336"/>
              <a:gd name="connsiteY45" fmla="*/ 432638 h 541236"/>
              <a:gd name="connsiteX46" fmla="*/ 0 w 607336"/>
              <a:gd name="connsiteY46" fmla="*/ 409207 h 541236"/>
              <a:gd name="connsiteX47" fmla="*/ 0 w 607336"/>
              <a:gd name="connsiteY47" fmla="*/ 23430 h 541236"/>
              <a:gd name="connsiteX48" fmla="*/ 23466 w 607336"/>
              <a:gd name="connsiteY48" fmla="*/ 0 h 541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07336" h="541236">
                <a:moveTo>
                  <a:pt x="514822" y="287718"/>
                </a:moveTo>
                <a:cubicBezTo>
                  <a:pt x="507429" y="287718"/>
                  <a:pt x="501327" y="293810"/>
                  <a:pt x="501327" y="301190"/>
                </a:cubicBezTo>
                <a:lnTo>
                  <a:pt x="501327" y="357185"/>
                </a:lnTo>
                <a:cubicBezTo>
                  <a:pt x="501327" y="364682"/>
                  <a:pt x="507429" y="370656"/>
                  <a:pt x="514822" y="370656"/>
                </a:cubicBezTo>
                <a:cubicBezTo>
                  <a:pt x="522215" y="370656"/>
                  <a:pt x="528317" y="364682"/>
                  <a:pt x="528317" y="357185"/>
                </a:cubicBezTo>
                <a:lnTo>
                  <a:pt x="528317" y="301190"/>
                </a:lnTo>
                <a:cubicBezTo>
                  <a:pt x="528317" y="293810"/>
                  <a:pt x="522215" y="287718"/>
                  <a:pt x="514822" y="287718"/>
                </a:cubicBezTo>
                <a:close/>
                <a:moveTo>
                  <a:pt x="513884" y="257846"/>
                </a:moveTo>
                <a:cubicBezTo>
                  <a:pt x="521042" y="257846"/>
                  <a:pt x="524093" y="258315"/>
                  <a:pt x="524093" y="258315"/>
                </a:cubicBezTo>
                <a:cubicBezTo>
                  <a:pt x="546506" y="260423"/>
                  <a:pt x="569037" y="269795"/>
                  <a:pt x="591098" y="286664"/>
                </a:cubicBezTo>
                <a:cubicBezTo>
                  <a:pt x="593679" y="288655"/>
                  <a:pt x="595557" y="291467"/>
                  <a:pt x="596496" y="294630"/>
                </a:cubicBezTo>
                <a:cubicBezTo>
                  <a:pt x="606940" y="330710"/>
                  <a:pt x="609756" y="365268"/>
                  <a:pt x="605297" y="403457"/>
                </a:cubicBezTo>
                <a:cubicBezTo>
                  <a:pt x="601307" y="437312"/>
                  <a:pt x="592037" y="471166"/>
                  <a:pt x="581123" y="508770"/>
                </a:cubicBezTo>
                <a:cubicBezTo>
                  <a:pt x="580185" y="511933"/>
                  <a:pt x="578307" y="514744"/>
                  <a:pt x="575725" y="516736"/>
                </a:cubicBezTo>
                <a:cubicBezTo>
                  <a:pt x="559062" y="529622"/>
                  <a:pt x="537470" y="536650"/>
                  <a:pt x="514822" y="536650"/>
                </a:cubicBezTo>
                <a:cubicBezTo>
                  <a:pt x="492174" y="536650"/>
                  <a:pt x="470583" y="529622"/>
                  <a:pt x="453919" y="516736"/>
                </a:cubicBezTo>
                <a:cubicBezTo>
                  <a:pt x="451338" y="514744"/>
                  <a:pt x="449460" y="511933"/>
                  <a:pt x="448521" y="508770"/>
                </a:cubicBezTo>
                <a:cubicBezTo>
                  <a:pt x="437608" y="471166"/>
                  <a:pt x="428338" y="437312"/>
                  <a:pt x="424348" y="403457"/>
                </a:cubicBezTo>
                <a:cubicBezTo>
                  <a:pt x="420006" y="365268"/>
                  <a:pt x="422705" y="330710"/>
                  <a:pt x="433149" y="294630"/>
                </a:cubicBezTo>
                <a:cubicBezTo>
                  <a:pt x="434088" y="291467"/>
                  <a:pt x="435965" y="288655"/>
                  <a:pt x="438547" y="286664"/>
                </a:cubicBezTo>
                <a:cubicBezTo>
                  <a:pt x="459787" y="270381"/>
                  <a:pt x="481378" y="260892"/>
                  <a:pt x="502970" y="258315"/>
                </a:cubicBezTo>
                <a:cubicBezTo>
                  <a:pt x="502970" y="258315"/>
                  <a:pt x="506725" y="257846"/>
                  <a:pt x="513884" y="257846"/>
                </a:cubicBezTo>
                <a:close/>
                <a:moveTo>
                  <a:pt x="23466" y="0"/>
                </a:moveTo>
                <a:lnTo>
                  <a:pt x="555312" y="0"/>
                </a:lnTo>
                <a:cubicBezTo>
                  <a:pt x="568336" y="0"/>
                  <a:pt x="578778" y="10544"/>
                  <a:pt x="578778" y="23430"/>
                </a:cubicBezTo>
                <a:lnTo>
                  <a:pt x="578778" y="253163"/>
                </a:lnTo>
                <a:cubicBezTo>
                  <a:pt x="563408" y="245548"/>
                  <a:pt x="547686" y="240979"/>
                  <a:pt x="531847" y="239339"/>
                </a:cubicBezTo>
                <a:lnTo>
                  <a:pt x="531847" y="46861"/>
                </a:lnTo>
                <a:lnTo>
                  <a:pt x="46931" y="46861"/>
                </a:lnTo>
                <a:lnTo>
                  <a:pt x="46931" y="346766"/>
                </a:lnTo>
                <a:lnTo>
                  <a:pt x="404898" y="346766"/>
                </a:lnTo>
                <a:cubicBezTo>
                  <a:pt x="402904" y="367502"/>
                  <a:pt x="403256" y="388589"/>
                  <a:pt x="405837" y="410730"/>
                </a:cubicBezTo>
                <a:cubicBezTo>
                  <a:pt x="406658" y="418111"/>
                  <a:pt x="407714" y="425374"/>
                  <a:pt x="409005" y="432638"/>
                </a:cubicBezTo>
                <a:lnTo>
                  <a:pt x="368175" y="432638"/>
                </a:lnTo>
                <a:lnTo>
                  <a:pt x="388120" y="500585"/>
                </a:lnTo>
                <a:lnTo>
                  <a:pt x="412407" y="500585"/>
                </a:lnTo>
                <a:cubicBezTo>
                  <a:pt x="418626" y="500585"/>
                  <a:pt x="423553" y="505622"/>
                  <a:pt x="423553" y="511714"/>
                </a:cubicBezTo>
                <a:lnTo>
                  <a:pt x="423553" y="530107"/>
                </a:lnTo>
                <a:cubicBezTo>
                  <a:pt x="423553" y="536199"/>
                  <a:pt x="418626" y="541236"/>
                  <a:pt x="412407" y="541236"/>
                </a:cubicBezTo>
                <a:lnTo>
                  <a:pt x="166371" y="541236"/>
                </a:lnTo>
                <a:cubicBezTo>
                  <a:pt x="160270" y="541236"/>
                  <a:pt x="155225" y="536199"/>
                  <a:pt x="155225" y="530107"/>
                </a:cubicBezTo>
                <a:lnTo>
                  <a:pt x="155225" y="511714"/>
                </a:lnTo>
                <a:cubicBezTo>
                  <a:pt x="155225" y="505622"/>
                  <a:pt x="160270" y="500585"/>
                  <a:pt x="166371" y="500585"/>
                </a:cubicBezTo>
                <a:lnTo>
                  <a:pt x="190658" y="500585"/>
                </a:lnTo>
                <a:lnTo>
                  <a:pt x="210721" y="432638"/>
                </a:lnTo>
                <a:lnTo>
                  <a:pt x="23466" y="432638"/>
                </a:lnTo>
                <a:cubicBezTo>
                  <a:pt x="10560" y="432638"/>
                  <a:pt x="0" y="422211"/>
                  <a:pt x="0" y="409207"/>
                </a:cubicBezTo>
                <a:lnTo>
                  <a:pt x="0" y="23430"/>
                </a:lnTo>
                <a:cubicBezTo>
                  <a:pt x="0" y="10544"/>
                  <a:pt x="10560" y="0"/>
                  <a:pt x="23466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ïSḻiḍé"/>
          <p:cNvSpPr txBox="1"/>
          <p:nvPr/>
        </p:nvSpPr>
        <p:spPr>
          <a:xfrm>
            <a:off x="953135" y="967105"/>
            <a:ext cx="6636385" cy="55435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+mj-ea"/>
                <a:ea typeface="+mj-ea"/>
              </a:rPr>
              <a:t>绝对装入</a:t>
            </a:r>
            <a:r>
              <a:rPr lang="zh-CN" altLang="en-US" sz="2400" dirty="0" smtClean="0">
                <a:solidFill>
                  <a:srgbClr val="0000FF"/>
                </a:solidFill>
                <a:latin typeface="+mj-ea"/>
                <a:ea typeface="+mj-ea"/>
              </a:rPr>
              <a:t>方式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4" name="îŝľîḓè"/>
          <p:cNvSpPr txBox="1"/>
          <p:nvPr/>
        </p:nvSpPr>
        <p:spPr>
          <a:xfrm>
            <a:off x="1038225" y="2747645"/>
            <a:ext cx="7633335" cy="65659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可重定位装入方式</a:t>
            </a:r>
            <a:endParaRPr lang="zh-CN" altLang="en-US" sz="2400" dirty="0"/>
          </a:p>
        </p:txBody>
      </p:sp>
      <p:sp>
        <p:nvSpPr>
          <p:cNvPr id="5" name="íṧļîḋê"/>
          <p:cNvSpPr txBox="1"/>
          <p:nvPr/>
        </p:nvSpPr>
        <p:spPr>
          <a:xfrm>
            <a:off x="1120140" y="4398645"/>
            <a:ext cx="3138805" cy="58039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dirty="0" smtClean="0">
                <a:solidFill>
                  <a:srgbClr val="0000FF"/>
                </a:solidFill>
              </a:rPr>
              <a:t>动态</a:t>
            </a:r>
            <a:r>
              <a:rPr lang="zh-CN" altLang="en-US" sz="2400" dirty="0">
                <a:solidFill>
                  <a:srgbClr val="0000FF"/>
                </a:solidFill>
              </a:rPr>
              <a:t>运行时装入方式</a:t>
            </a:r>
            <a:endParaRPr lang="zh-CN" altLang="en-US" sz="2400" dirty="0"/>
          </a:p>
        </p:txBody>
      </p:sp>
      <p:sp>
        <p:nvSpPr>
          <p:cNvPr id="6" name="ïSḻiḍé"/>
          <p:cNvSpPr txBox="1"/>
          <p:nvPr/>
        </p:nvSpPr>
        <p:spPr>
          <a:xfrm>
            <a:off x="789305" y="1521460"/>
            <a:ext cx="9921240" cy="122618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j-ea"/>
                <a:ea typeface="+mj-ea"/>
                <a:sym typeface="+mn-ea"/>
              </a:rPr>
              <a:t>预先知道装入位置，编译时就将逻辑地址转换为物理地址</a:t>
            </a:r>
            <a:endParaRPr lang="zh-CN" altLang="en-US" sz="2800" dirty="0">
              <a:latin typeface="+mj-ea"/>
              <a:ea typeface="+mj-ea"/>
            </a:endParaRPr>
          </a:p>
          <a:p>
            <a:pPr marL="457200" indent="-457200" algn="just">
              <a:lnSpc>
                <a:spcPct val="13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j-ea"/>
                <a:ea typeface="+mj-ea"/>
              </a:rPr>
              <a:t>因为大多数系统中，位置无法预知，</a:t>
            </a:r>
            <a:r>
              <a:rPr lang="zh-CN" altLang="en-US" sz="2800" dirty="0">
                <a:latin typeface="+mj-ea"/>
                <a:ea typeface="+mj-ea"/>
                <a:sym typeface="+mn-ea"/>
              </a:rPr>
              <a:t>只适合单道程序环境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3135" y="3323590"/>
            <a:ext cx="6096000" cy="10750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sym typeface="+mn-ea"/>
              </a:rPr>
              <a:t>在装入</a:t>
            </a:r>
            <a:r>
              <a:rPr lang="zh-CN" altLang="en-US" sz="2800" dirty="0">
                <a:sym typeface="+mn-ea"/>
              </a:rPr>
              <a:t>内存时，完成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静态重定位</a:t>
            </a:r>
            <a:endParaRPr lang="zh-CN" altLang="en-US" sz="2800" b="1" dirty="0">
              <a:solidFill>
                <a:srgbClr val="FF0000"/>
              </a:solidFill>
              <a:sym typeface="+mn-ea"/>
            </a:endParaRPr>
          </a:p>
          <a:p>
            <a:pPr marL="457200" indent="-457200">
              <a:lnSpc>
                <a:spcPct val="13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sym typeface="+mn-ea"/>
              </a:rPr>
              <a:t>适合多道程序环境</a:t>
            </a:r>
            <a:endParaRPr lang="zh-CN" altLang="en-US" sz="2800" dirty="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8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圆角矩形标注 8"/>
          <p:cNvSpPr/>
          <p:nvPr/>
        </p:nvSpPr>
        <p:spPr>
          <a:xfrm>
            <a:off x="7589520" y="2973705"/>
            <a:ext cx="4415790" cy="871855"/>
          </a:xfrm>
          <a:prstGeom prst="wedgeRoundRectCallout">
            <a:avLst>
              <a:gd name="adj1" fmla="val -71987"/>
              <a:gd name="adj2" fmla="val 21852"/>
              <a:gd name="adj3" fmla="val 16667"/>
            </a:avLst>
          </a:prstGeom>
          <a:solidFill>
            <a:srgbClr val="04862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 eaLnBrk="1" hangingPunct="1">
              <a:defRPr/>
            </a:pPr>
            <a:r>
              <a:rPr lang="zh-CN" altLang="en-US" sz="2400" dirty="0"/>
              <a:t>地址转换在装入时一次性完成，后期不再发生改变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65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bg1"/>
                </a:solidFill>
                <a:sym typeface="+mn-ea"/>
              </a:rPr>
              <a:t>动态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运行时装入方式</a:t>
            </a:r>
            <a:endParaRPr lang="zh-CN" altLang="en-US" sz="28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43" name="îslîďê"/>
          <p:cNvSpPr/>
          <p:nvPr/>
        </p:nvSpPr>
        <p:spPr>
          <a:xfrm>
            <a:off x="953135" y="1858010"/>
            <a:ext cx="408305" cy="363855"/>
          </a:xfrm>
          <a:custGeom>
            <a:avLst/>
            <a:gdLst>
              <a:gd name="connsiteX0" fmla="*/ 514822 w 607336"/>
              <a:gd name="connsiteY0" fmla="*/ 287718 h 541236"/>
              <a:gd name="connsiteX1" fmla="*/ 501327 w 607336"/>
              <a:gd name="connsiteY1" fmla="*/ 301190 h 541236"/>
              <a:gd name="connsiteX2" fmla="*/ 501327 w 607336"/>
              <a:gd name="connsiteY2" fmla="*/ 357185 h 541236"/>
              <a:gd name="connsiteX3" fmla="*/ 514822 w 607336"/>
              <a:gd name="connsiteY3" fmla="*/ 370656 h 541236"/>
              <a:gd name="connsiteX4" fmla="*/ 528317 w 607336"/>
              <a:gd name="connsiteY4" fmla="*/ 357185 h 541236"/>
              <a:gd name="connsiteX5" fmla="*/ 528317 w 607336"/>
              <a:gd name="connsiteY5" fmla="*/ 301190 h 541236"/>
              <a:gd name="connsiteX6" fmla="*/ 514822 w 607336"/>
              <a:gd name="connsiteY6" fmla="*/ 287718 h 541236"/>
              <a:gd name="connsiteX7" fmla="*/ 513884 w 607336"/>
              <a:gd name="connsiteY7" fmla="*/ 257846 h 541236"/>
              <a:gd name="connsiteX8" fmla="*/ 524093 w 607336"/>
              <a:gd name="connsiteY8" fmla="*/ 258315 h 541236"/>
              <a:gd name="connsiteX9" fmla="*/ 591098 w 607336"/>
              <a:gd name="connsiteY9" fmla="*/ 286664 h 541236"/>
              <a:gd name="connsiteX10" fmla="*/ 596496 w 607336"/>
              <a:gd name="connsiteY10" fmla="*/ 294630 h 541236"/>
              <a:gd name="connsiteX11" fmla="*/ 605297 w 607336"/>
              <a:gd name="connsiteY11" fmla="*/ 403457 h 541236"/>
              <a:gd name="connsiteX12" fmla="*/ 581123 w 607336"/>
              <a:gd name="connsiteY12" fmla="*/ 508770 h 541236"/>
              <a:gd name="connsiteX13" fmla="*/ 575725 w 607336"/>
              <a:gd name="connsiteY13" fmla="*/ 516736 h 541236"/>
              <a:gd name="connsiteX14" fmla="*/ 514822 w 607336"/>
              <a:gd name="connsiteY14" fmla="*/ 536650 h 541236"/>
              <a:gd name="connsiteX15" fmla="*/ 453919 w 607336"/>
              <a:gd name="connsiteY15" fmla="*/ 516736 h 541236"/>
              <a:gd name="connsiteX16" fmla="*/ 448521 w 607336"/>
              <a:gd name="connsiteY16" fmla="*/ 508770 h 541236"/>
              <a:gd name="connsiteX17" fmla="*/ 424348 w 607336"/>
              <a:gd name="connsiteY17" fmla="*/ 403457 h 541236"/>
              <a:gd name="connsiteX18" fmla="*/ 433149 w 607336"/>
              <a:gd name="connsiteY18" fmla="*/ 294630 h 541236"/>
              <a:gd name="connsiteX19" fmla="*/ 438547 w 607336"/>
              <a:gd name="connsiteY19" fmla="*/ 286664 h 541236"/>
              <a:gd name="connsiteX20" fmla="*/ 502970 w 607336"/>
              <a:gd name="connsiteY20" fmla="*/ 258315 h 541236"/>
              <a:gd name="connsiteX21" fmla="*/ 513884 w 607336"/>
              <a:gd name="connsiteY21" fmla="*/ 257846 h 541236"/>
              <a:gd name="connsiteX22" fmla="*/ 23466 w 607336"/>
              <a:gd name="connsiteY22" fmla="*/ 0 h 541236"/>
              <a:gd name="connsiteX23" fmla="*/ 555312 w 607336"/>
              <a:gd name="connsiteY23" fmla="*/ 0 h 541236"/>
              <a:gd name="connsiteX24" fmla="*/ 578778 w 607336"/>
              <a:gd name="connsiteY24" fmla="*/ 23430 h 541236"/>
              <a:gd name="connsiteX25" fmla="*/ 578778 w 607336"/>
              <a:gd name="connsiteY25" fmla="*/ 253163 h 541236"/>
              <a:gd name="connsiteX26" fmla="*/ 531847 w 607336"/>
              <a:gd name="connsiteY26" fmla="*/ 239339 h 541236"/>
              <a:gd name="connsiteX27" fmla="*/ 531847 w 607336"/>
              <a:gd name="connsiteY27" fmla="*/ 46861 h 541236"/>
              <a:gd name="connsiteX28" fmla="*/ 46931 w 607336"/>
              <a:gd name="connsiteY28" fmla="*/ 46861 h 541236"/>
              <a:gd name="connsiteX29" fmla="*/ 46931 w 607336"/>
              <a:gd name="connsiteY29" fmla="*/ 346766 h 541236"/>
              <a:gd name="connsiteX30" fmla="*/ 404898 w 607336"/>
              <a:gd name="connsiteY30" fmla="*/ 346766 h 541236"/>
              <a:gd name="connsiteX31" fmla="*/ 405837 w 607336"/>
              <a:gd name="connsiteY31" fmla="*/ 410730 h 541236"/>
              <a:gd name="connsiteX32" fmla="*/ 409005 w 607336"/>
              <a:gd name="connsiteY32" fmla="*/ 432638 h 541236"/>
              <a:gd name="connsiteX33" fmla="*/ 368175 w 607336"/>
              <a:gd name="connsiteY33" fmla="*/ 432638 h 541236"/>
              <a:gd name="connsiteX34" fmla="*/ 388120 w 607336"/>
              <a:gd name="connsiteY34" fmla="*/ 500585 h 541236"/>
              <a:gd name="connsiteX35" fmla="*/ 412407 w 607336"/>
              <a:gd name="connsiteY35" fmla="*/ 500585 h 541236"/>
              <a:gd name="connsiteX36" fmla="*/ 423553 w 607336"/>
              <a:gd name="connsiteY36" fmla="*/ 511714 h 541236"/>
              <a:gd name="connsiteX37" fmla="*/ 423553 w 607336"/>
              <a:gd name="connsiteY37" fmla="*/ 530107 h 541236"/>
              <a:gd name="connsiteX38" fmla="*/ 412407 w 607336"/>
              <a:gd name="connsiteY38" fmla="*/ 541236 h 541236"/>
              <a:gd name="connsiteX39" fmla="*/ 166371 w 607336"/>
              <a:gd name="connsiteY39" fmla="*/ 541236 h 541236"/>
              <a:gd name="connsiteX40" fmla="*/ 155225 w 607336"/>
              <a:gd name="connsiteY40" fmla="*/ 530107 h 541236"/>
              <a:gd name="connsiteX41" fmla="*/ 155225 w 607336"/>
              <a:gd name="connsiteY41" fmla="*/ 511714 h 541236"/>
              <a:gd name="connsiteX42" fmla="*/ 166371 w 607336"/>
              <a:gd name="connsiteY42" fmla="*/ 500585 h 541236"/>
              <a:gd name="connsiteX43" fmla="*/ 190658 w 607336"/>
              <a:gd name="connsiteY43" fmla="*/ 500585 h 541236"/>
              <a:gd name="connsiteX44" fmla="*/ 210721 w 607336"/>
              <a:gd name="connsiteY44" fmla="*/ 432638 h 541236"/>
              <a:gd name="connsiteX45" fmla="*/ 23466 w 607336"/>
              <a:gd name="connsiteY45" fmla="*/ 432638 h 541236"/>
              <a:gd name="connsiteX46" fmla="*/ 0 w 607336"/>
              <a:gd name="connsiteY46" fmla="*/ 409207 h 541236"/>
              <a:gd name="connsiteX47" fmla="*/ 0 w 607336"/>
              <a:gd name="connsiteY47" fmla="*/ 23430 h 541236"/>
              <a:gd name="connsiteX48" fmla="*/ 23466 w 607336"/>
              <a:gd name="connsiteY48" fmla="*/ 0 h 541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07336" h="541236">
                <a:moveTo>
                  <a:pt x="514822" y="287718"/>
                </a:moveTo>
                <a:cubicBezTo>
                  <a:pt x="507429" y="287718"/>
                  <a:pt x="501327" y="293810"/>
                  <a:pt x="501327" y="301190"/>
                </a:cubicBezTo>
                <a:lnTo>
                  <a:pt x="501327" y="357185"/>
                </a:lnTo>
                <a:cubicBezTo>
                  <a:pt x="501327" y="364682"/>
                  <a:pt x="507429" y="370656"/>
                  <a:pt x="514822" y="370656"/>
                </a:cubicBezTo>
                <a:cubicBezTo>
                  <a:pt x="522215" y="370656"/>
                  <a:pt x="528317" y="364682"/>
                  <a:pt x="528317" y="357185"/>
                </a:cubicBezTo>
                <a:lnTo>
                  <a:pt x="528317" y="301190"/>
                </a:lnTo>
                <a:cubicBezTo>
                  <a:pt x="528317" y="293810"/>
                  <a:pt x="522215" y="287718"/>
                  <a:pt x="514822" y="287718"/>
                </a:cubicBezTo>
                <a:close/>
                <a:moveTo>
                  <a:pt x="513884" y="257846"/>
                </a:moveTo>
                <a:cubicBezTo>
                  <a:pt x="521042" y="257846"/>
                  <a:pt x="524093" y="258315"/>
                  <a:pt x="524093" y="258315"/>
                </a:cubicBezTo>
                <a:cubicBezTo>
                  <a:pt x="546506" y="260423"/>
                  <a:pt x="569037" y="269795"/>
                  <a:pt x="591098" y="286664"/>
                </a:cubicBezTo>
                <a:cubicBezTo>
                  <a:pt x="593679" y="288655"/>
                  <a:pt x="595557" y="291467"/>
                  <a:pt x="596496" y="294630"/>
                </a:cubicBezTo>
                <a:cubicBezTo>
                  <a:pt x="606940" y="330710"/>
                  <a:pt x="609756" y="365268"/>
                  <a:pt x="605297" y="403457"/>
                </a:cubicBezTo>
                <a:cubicBezTo>
                  <a:pt x="601307" y="437312"/>
                  <a:pt x="592037" y="471166"/>
                  <a:pt x="581123" y="508770"/>
                </a:cubicBezTo>
                <a:cubicBezTo>
                  <a:pt x="580185" y="511933"/>
                  <a:pt x="578307" y="514744"/>
                  <a:pt x="575725" y="516736"/>
                </a:cubicBezTo>
                <a:cubicBezTo>
                  <a:pt x="559062" y="529622"/>
                  <a:pt x="537470" y="536650"/>
                  <a:pt x="514822" y="536650"/>
                </a:cubicBezTo>
                <a:cubicBezTo>
                  <a:pt x="492174" y="536650"/>
                  <a:pt x="470583" y="529622"/>
                  <a:pt x="453919" y="516736"/>
                </a:cubicBezTo>
                <a:cubicBezTo>
                  <a:pt x="451338" y="514744"/>
                  <a:pt x="449460" y="511933"/>
                  <a:pt x="448521" y="508770"/>
                </a:cubicBezTo>
                <a:cubicBezTo>
                  <a:pt x="437608" y="471166"/>
                  <a:pt x="428338" y="437312"/>
                  <a:pt x="424348" y="403457"/>
                </a:cubicBezTo>
                <a:cubicBezTo>
                  <a:pt x="420006" y="365268"/>
                  <a:pt x="422705" y="330710"/>
                  <a:pt x="433149" y="294630"/>
                </a:cubicBezTo>
                <a:cubicBezTo>
                  <a:pt x="434088" y="291467"/>
                  <a:pt x="435965" y="288655"/>
                  <a:pt x="438547" y="286664"/>
                </a:cubicBezTo>
                <a:cubicBezTo>
                  <a:pt x="459787" y="270381"/>
                  <a:pt x="481378" y="260892"/>
                  <a:pt x="502970" y="258315"/>
                </a:cubicBezTo>
                <a:cubicBezTo>
                  <a:pt x="502970" y="258315"/>
                  <a:pt x="506725" y="257846"/>
                  <a:pt x="513884" y="257846"/>
                </a:cubicBezTo>
                <a:close/>
                <a:moveTo>
                  <a:pt x="23466" y="0"/>
                </a:moveTo>
                <a:lnTo>
                  <a:pt x="555312" y="0"/>
                </a:lnTo>
                <a:cubicBezTo>
                  <a:pt x="568336" y="0"/>
                  <a:pt x="578778" y="10544"/>
                  <a:pt x="578778" y="23430"/>
                </a:cubicBezTo>
                <a:lnTo>
                  <a:pt x="578778" y="253163"/>
                </a:lnTo>
                <a:cubicBezTo>
                  <a:pt x="563408" y="245548"/>
                  <a:pt x="547686" y="240979"/>
                  <a:pt x="531847" y="239339"/>
                </a:cubicBezTo>
                <a:lnTo>
                  <a:pt x="531847" y="46861"/>
                </a:lnTo>
                <a:lnTo>
                  <a:pt x="46931" y="46861"/>
                </a:lnTo>
                <a:lnTo>
                  <a:pt x="46931" y="346766"/>
                </a:lnTo>
                <a:lnTo>
                  <a:pt x="404898" y="346766"/>
                </a:lnTo>
                <a:cubicBezTo>
                  <a:pt x="402904" y="367502"/>
                  <a:pt x="403256" y="388589"/>
                  <a:pt x="405837" y="410730"/>
                </a:cubicBezTo>
                <a:cubicBezTo>
                  <a:pt x="406658" y="418111"/>
                  <a:pt x="407714" y="425374"/>
                  <a:pt x="409005" y="432638"/>
                </a:cubicBezTo>
                <a:lnTo>
                  <a:pt x="368175" y="432638"/>
                </a:lnTo>
                <a:lnTo>
                  <a:pt x="388120" y="500585"/>
                </a:lnTo>
                <a:lnTo>
                  <a:pt x="412407" y="500585"/>
                </a:lnTo>
                <a:cubicBezTo>
                  <a:pt x="418626" y="500585"/>
                  <a:pt x="423553" y="505622"/>
                  <a:pt x="423553" y="511714"/>
                </a:cubicBezTo>
                <a:lnTo>
                  <a:pt x="423553" y="530107"/>
                </a:lnTo>
                <a:cubicBezTo>
                  <a:pt x="423553" y="536199"/>
                  <a:pt x="418626" y="541236"/>
                  <a:pt x="412407" y="541236"/>
                </a:cubicBezTo>
                <a:lnTo>
                  <a:pt x="166371" y="541236"/>
                </a:lnTo>
                <a:cubicBezTo>
                  <a:pt x="160270" y="541236"/>
                  <a:pt x="155225" y="536199"/>
                  <a:pt x="155225" y="530107"/>
                </a:cubicBezTo>
                <a:lnTo>
                  <a:pt x="155225" y="511714"/>
                </a:lnTo>
                <a:cubicBezTo>
                  <a:pt x="155225" y="505622"/>
                  <a:pt x="160270" y="500585"/>
                  <a:pt x="166371" y="500585"/>
                </a:cubicBezTo>
                <a:lnTo>
                  <a:pt x="190658" y="500585"/>
                </a:lnTo>
                <a:lnTo>
                  <a:pt x="210721" y="432638"/>
                </a:lnTo>
                <a:lnTo>
                  <a:pt x="23466" y="432638"/>
                </a:lnTo>
                <a:cubicBezTo>
                  <a:pt x="10560" y="432638"/>
                  <a:pt x="0" y="422211"/>
                  <a:pt x="0" y="409207"/>
                </a:cubicBezTo>
                <a:lnTo>
                  <a:pt x="0" y="23430"/>
                </a:lnTo>
                <a:cubicBezTo>
                  <a:pt x="0" y="10544"/>
                  <a:pt x="10560" y="0"/>
                  <a:pt x="23466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îŝľîḓè"/>
          <p:cNvSpPr txBox="1"/>
          <p:nvPr/>
        </p:nvSpPr>
        <p:spPr>
          <a:xfrm>
            <a:off x="283845" y="1858010"/>
            <a:ext cx="11813540" cy="184404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800" dirty="0"/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/>
              <a:t>在装入内存时，并不立即把逻辑地址转换成物理地址，而是把地址转换</a:t>
            </a:r>
            <a:r>
              <a:rPr lang="zh-CN" altLang="en-US" sz="2800" dirty="0">
                <a:solidFill>
                  <a:schemeClr val="tx1"/>
                </a:solidFill>
              </a:rPr>
              <a:t>推迟</a:t>
            </a:r>
            <a:r>
              <a:rPr lang="zh-CN" altLang="en-US" sz="2800" dirty="0"/>
              <a:t>到程序真正执行时（譬如后面讲到的</a:t>
            </a:r>
            <a:r>
              <a:rPr lang="zh-CN" altLang="en-US" sz="2800" b="1" dirty="0"/>
              <a:t>动态重定位</a:t>
            </a:r>
            <a:r>
              <a:rPr lang="zh-CN" altLang="en-US" sz="2800" dirty="0"/>
              <a:t>内存</a:t>
            </a:r>
            <a:r>
              <a:rPr lang="zh-CN" altLang="en-US" sz="2800" dirty="0"/>
              <a:t>分配）。</a:t>
            </a:r>
            <a:endParaRPr lang="zh-CN" altLang="en-US" sz="2800" dirty="0"/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/>
              <a:t>设置一个</a:t>
            </a:r>
            <a:r>
              <a:rPr lang="zh-CN" altLang="en-US" sz="2800" dirty="0">
                <a:solidFill>
                  <a:srgbClr val="FF0000"/>
                </a:solidFill>
              </a:rPr>
              <a:t>重定位寄存器</a:t>
            </a:r>
            <a:r>
              <a:rPr lang="en-US" altLang="zh-CN" sz="2800" dirty="0">
                <a:solidFill>
                  <a:srgbClr val="FF0000"/>
                </a:solidFill>
              </a:rPr>
              <a:t>(</a:t>
            </a:r>
            <a:r>
              <a:rPr lang="zh-CN" altLang="en-US" sz="2800" dirty="0">
                <a:solidFill>
                  <a:srgbClr val="FF0000"/>
                </a:solidFill>
              </a:rPr>
              <a:t>基址寄存器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r>
              <a:rPr lang="zh-CN" altLang="en-US" sz="2800" dirty="0">
                <a:solidFill>
                  <a:srgbClr val="FF0000"/>
                </a:solidFill>
              </a:rPr>
              <a:t>：</a:t>
            </a:r>
            <a:r>
              <a:rPr lang="zh-CN" altLang="en-US" sz="2800">
                <a:sym typeface="+mn-ea"/>
              </a:rPr>
              <a:t>程序装在内存中的起始地址。可变。</a:t>
            </a:r>
            <a:endParaRPr lang="zh-CN" altLang="en-US" sz="2800"/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/>
              <a:t>物理地址</a:t>
            </a:r>
            <a:r>
              <a:rPr lang="en-US" altLang="zh-CN" sz="2800" dirty="0"/>
              <a:t>=</a:t>
            </a:r>
            <a:r>
              <a:rPr lang="zh-CN" altLang="en-US" sz="2800" dirty="0">
                <a:solidFill>
                  <a:srgbClr val="FF0000"/>
                </a:solidFill>
              </a:rPr>
              <a:t>逻辑地址</a:t>
            </a:r>
            <a:r>
              <a:rPr lang="en-US" altLang="zh-CN" sz="2800" dirty="0"/>
              <a:t>+</a:t>
            </a:r>
            <a:r>
              <a:rPr lang="zh-CN" altLang="en-US" sz="2800" dirty="0">
                <a:solidFill>
                  <a:srgbClr val="FF0000"/>
                </a:solidFill>
              </a:rPr>
              <a:t>重定位寄存器</a:t>
            </a:r>
            <a:endParaRPr lang="zh-CN" altLang="en-US" sz="2800" dirty="0"/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zh-CN" altLang="en-US" sz="2800" dirty="0"/>
          </a:p>
          <a:p>
            <a:pPr marL="342900" indent="-342900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zh-CN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1440" y="3812540"/>
            <a:ext cx="9418320" cy="30454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903845" y="3290570"/>
            <a:ext cx="3484245" cy="5219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chemeClr val="bg1"/>
                </a:solidFill>
                <a:sym typeface="+mn-ea"/>
              </a:rPr>
              <a:t>思考：随堂选择题</a:t>
            </a:r>
            <a:endParaRPr lang="zh-CN" altLang="en-US" sz="28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（</a:t>
            </a:r>
            <a:r>
              <a:rPr lang="en-US" altLang="zh-CN" sz="2800" b="1" dirty="0">
                <a:solidFill>
                  <a:schemeClr val="bg1"/>
                </a:solidFill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</a:rPr>
              <a:t>）程序的链接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3" name="íšḻîḋè"/>
          <p:cNvSpPr/>
          <p:nvPr/>
        </p:nvSpPr>
        <p:spPr>
          <a:xfrm>
            <a:off x="1495052" y="3375285"/>
            <a:ext cx="9238835" cy="100847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在装入内存时，采用边装入边链接的链接方式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便于修改和</a:t>
            </a:r>
            <a:r>
              <a:rPr lang="zh-CN" altLang="en-US" sz="2200" dirty="0" smtClean="0"/>
              <a:t>更新</a:t>
            </a:r>
            <a:endParaRPr lang="zh-CN" altLang="en-US" sz="2200" dirty="0" smtClean="0"/>
          </a:p>
        </p:txBody>
      </p:sp>
      <p:sp>
        <p:nvSpPr>
          <p:cNvPr id="26" name="i$lîďê"/>
          <p:cNvSpPr/>
          <p:nvPr/>
        </p:nvSpPr>
        <p:spPr>
          <a:xfrm>
            <a:off x="1550688" y="2911376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b="1" dirty="0"/>
              <a:t>装入时动态链接</a:t>
            </a:r>
            <a:endParaRPr lang="zh-CN" altLang="en-US" sz="2400" b="1" dirty="0"/>
          </a:p>
        </p:txBody>
      </p:sp>
      <p:sp>
        <p:nvSpPr>
          <p:cNvPr id="29" name="î$ļíḋè"/>
          <p:cNvSpPr/>
          <p:nvPr/>
        </p:nvSpPr>
        <p:spPr>
          <a:xfrm>
            <a:off x="1550688" y="4835433"/>
            <a:ext cx="10177484" cy="171127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ym typeface="+mn-ea"/>
              </a:rPr>
              <a:t>在程序运行过程中需要某模块时，再把它装入内存进行链接，即</a:t>
            </a:r>
            <a:r>
              <a:rPr lang="zh-CN" altLang="en-US" sz="2200" dirty="0"/>
              <a:t>将目标模块的链接</a:t>
            </a:r>
            <a:r>
              <a:rPr lang="zh-CN" altLang="en-US" sz="2200" b="1" dirty="0">
                <a:solidFill>
                  <a:srgbClr val="FF0000"/>
                </a:solidFill>
              </a:rPr>
              <a:t>推迟到执行</a:t>
            </a:r>
            <a:r>
              <a:rPr lang="zh-CN" altLang="en-US" sz="2200" dirty="0"/>
              <a:t>时才</a:t>
            </a:r>
            <a:r>
              <a:rPr lang="zh-CN" altLang="en-US" sz="2200" dirty="0"/>
              <a:t>进行。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加快装入过程，节省大量的内存空间</a:t>
            </a:r>
            <a:endParaRPr lang="zh-CN" altLang="en-US" sz="2200" dirty="0"/>
          </a:p>
        </p:txBody>
      </p:sp>
      <p:sp>
        <p:nvSpPr>
          <p:cNvPr id="32" name="ïṧḷïḋè"/>
          <p:cNvSpPr/>
          <p:nvPr/>
        </p:nvSpPr>
        <p:spPr>
          <a:xfrm>
            <a:off x="1550690" y="4388793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b="1" dirty="0"/>
              <a:t>运行时动态链接</a:t>
            </a:r>
            <a:endParaRPr lang="zh-CN" altLang="en-US" sz="2400" b="1" dirty="0"/>
          </a:p>
        </p:txBody>
      </p:sp>
      <p:sp>
        <p:nvSpPr>
          <p:cNvPr id="35" name="îs1iďé"/>
          <p:cNvSpPr/>
          <p:nvPr/>
        </p:nvSpPr>
        <p:spPr>
          <a:xfrm>
            <a:off x="1569746" y="1517508"/>
            <a:ext cx="9711234" cy="135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在</a:t>
            </a:r>
            <a:r>
              <a:rPr lang="zh-CN" altLang="en-US" sz="2200" dirty="0"/>
              <a:t>装入前，将各目标模块及它们所需的库函数链接成一个完整的装配模块，以后不再拆开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对相对地址进行修改；变换外部调用符号</a:t>
            </a:r>
            <a:endParaRPr lang="zh-CN" altLang="en-US" sz="2200" dirty="0"/>
          </a:p>
        </p:txBody>
      </p:sp>
      <p:sp>
        <p:nvSpPr>
          <p:cNvPr id="40" name="íšḻíḑê"/>
          <p:cNvSpPr/>
          <p:nvPr/>
        </p:nvSpPr>
        <p:spPr>
          <a:xfrm>
            <a:off x="1550689" y="1100462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b="1" dirty="0"/>
              <a:t>静态链接</a:t>
            </a:r>
            <a:endParaRPr lang="zh-CN" altLang="en-US" sz="2400" b="1" dirty="0"/>
          </a:p>
        </p:txBody>
      </p:sp>
      <p:sp>
        <p:nvSpPr>
          <p:cNvPr id="41" name="îSļiḓè"/>
          <p:cNvSpPr/>
          <p:nvPr/>
        </p:nvSpPr>
        <p:spPr>
          <a:xfrm>
            <a:off x="867186" y="108690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42" name="íṥḻîḓe"/>
          <p:cNvSpPr/>
          <p:nvPr/>
        </p:nvSpPr>
        <p:spPr>
          <a:xfrm>
            <a:off x="867186" y="430619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43" name="îşļiḓè"/>
          <p:cNvSpPr/>
          <p:nvPr/>
        </p:nvSpPr>
        <p:spPr>
          <a:xfrm>
            <a:off x="867186" y="281085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44" name="îṡḷíďe"/>
          <p:cNvSpPr/>
          <p:nvPr/>
        </p:nvSpPr>
        <p:spPr>
          <a:xfrm>
            <a:off x="1057441" y="1283038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45" name="íSlíḋe"/>
          <p:cNvSpPr/>
          <p:nvPr/>
        </p:nvSpPr>
        <p:spPr>
          <a:xfrm>
            <a:off x="1057440" y="3032867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46" name="ïśḷïḓe"/>
          <p:cNvSpPr/>
          <p:nvPr/>
        </p:nvSpPr>
        <p:spPr>
          <a:xfrm>
            <a:off x="1086379" y="4495651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52" name="íšḻîḋè"/>
          <p:cNvSpPr/>
          <p:nvPr/>
        </p:nvSpPr>
        <p:spPr>
          <a:xfrm>
            <a:off x="4463539" y="3907082"/>
            <a:ext cx="4468427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/>
              <a:t>便于实现对目标模块的共享</a:t>
            </a:r>
            <a:endParaRPr lang="zh-CN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静态链接示意图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736993" y="1168490"/>
            <a:ext cx="7114113" cy="5312603"/>
            <a:chOff x="2046797" y="228600"/>
            <a:chExt cx="6967650" cy="5312603"/>
          </a:xfrm>
          <a:noFill/>
        </p:grpSpPr>
        <p:sp>
          <p:nvSpPr>
            <p:cNvPr id="26" name="Rectangle 2"/>
            <p:cNvSpPr>
              <a:spLocks noChangeArrowheads="1"/>
            </p:cNvSpPr>
            <p:nvPr/>
          </p:nvSpPr>
          <p:spPr bwMode="auto">
            <a:xfrm>
              <a:off x="2895600" y="2100808"/>
              <a:ext cx="1828800" cy="1600200"/>
            </a:xfrm>
            <a:prstGeom prst="rect">
              <a:avLst/>
            </a:prstGeom>
            <a:grpFill/>
            <a:ln w="28575">
              <a:solidFill>
                <a:srgbClr val="C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zh-CN" altLang="en-US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模块</a:t>
              </a:r>
              <a:r>
                <a:rPr lang="en-US" altLang="zh-CN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B</a:t>
              </a:r>
              <a:endParaRPr lang="en-US" altLang="zh-CN" sz="2400" dirty="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CALL C</a:t>
              </a:r>
              <a:r>
                <a:rPr lang="zh-CN" altLang="en-US" sz="2400" dirty="0">
                  <a:latin typeface="Arial" panose="020B0604020202020204" pitchFamily="34" charset="0"/>
                </a:rPr>
                <a:t>；</a:t>
              </a:r>
              <a:endParaRPr lang="zh-CN" altLang="en-US" sz="2400" dirty="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Return;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29" name="Text Box 4"/>
            <p:cNvSpPr txBox="1">
              <a:spLocks noChangeArrowheads="1"/>
            </p:cNvSpPr>
            <p:nvPr/>
          </p:nvSpPr>
          <p:spPr bwMode="auto">
            <a:xfrm>
              <a:off x="2046797" y="1524000"/>
              <a:ext cx="646160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L-1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32" name="Rectangle 5"/>
            <p:cNvSpPr>
              <a:spLocks noChangeArrowheads="1"/>
            </p:cNvSpPr>
            <p:nvPr/>
          </p:nvSpPr>
          <p:spPr bwMode="auto">
            <a:xfrm>
              <a:off x="2895600" y="228600"/>
              <a:ext cx="1828800" cy="1600200"/>
            </a:xfrm>
            <a:prstGeom prst="rect">
              <a:avLst/>
            </a:prstGeom>
            <a:grpFill/>
            <a:ln w="28575">
              <a:solidFill>
                <a:srgbClr val="C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zh-CN" altLang="en-US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模块</a:t>
              </a:r>
              <a:r>
                <a:rPr lang="en-US" altLang="zh-CN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A</a:t>
              </a:r>
              <a:endParaRPr lang="en-US" altLang="zh-CN" sz="2400" dirty="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CALL B</a:t>
              </a:r>
              <a:r>
                <a:rPr lang="zh-CN" altLang="en-US" sz="2400" dirty="0">
                  <a:latin typeface="Arial" panose="020B0604020202020204" pitchFamily="34" charset="0"/>
                </a:rPr>
                <a:t>；</a:t>
              </a:r>
              <a:endParaRPr lang="zh-CN" altLang="en-US" sz="2400" dirty="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Return;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35" name="Rectangle 8"/>
            <p:cNvSpPr>
              <a:spLocks noChangeArrowheads="1"/>
            </p:cNvSpPr>
            <p:nvPr/>
          </p:nvSpPr>
          <p:spPr bwMode="auto">
            <a:xfrm>
              <a:off x="2895600" y="3886200"/>
              <a:ext cx="1828800" cy="1600200"/>
            </a:xfrm>
            <a:prstGeom prst="rect">
              <a:avLst/>
            </a:prstGeom>
            <a:grpFill/>
            <a:ln w="28575">
              <a:solidFill>
                <a:srgbClr val="C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zh-CN" altLang="en-US" sz="2400">
                  <a:solidFill>
                    <a:srgbClr val="0000FF"/>
                  </a:solidFill>
                  <a:latin typeface="Arial" panose="020B0604020202020204" pitchFamily="34" charset="0"/>
                </a:rPr>
                <a:t>模块</a:t>
              </a:r>
              <a:r>
                <a:rPr lang="en-US" altLang="zh-CN" sz="2400">
                  <a:solidFill>
                    <a:srgbClr val="0000FF"/>
                  </a:solidFill>
                  <a:latin typeface="Arial" panose="020B0604020202020204" pitchFamily="34" charset="0"/>
                </a:rPr>
                <a:t>C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 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Return;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0" name="Text Box 9"/>
            <p:cNvSpPr txBox="1">
              <a:spLocks noChangeArrowheads="1"/>
            </p:cNvSpPr>
            <p:nvPr/>
          </p:nvSpPr>
          <p:spPr bwMode="auto">
            <a:xfrm>
              <a:off x="2438400" y="3810000"/>
              <a:ext cx="381000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0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1" name="Text Box 10"/>
            <p:cNvSpPr txBox="1">
              <a:spLocks noChangeArrowheads="1"/>
            </p:cNvSpPr>
            <p:nvPr/>
          </p:nvSpPr>
          <p:spPr bwMode="auto">
            <a:xfrm>
              <a:off x="2159559" y="5078896"/>
              <a:ext cx="685800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N-1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2" name="Rectangle 11"/>
            <p:cNvSpPr>
              <a:spLocks noChangeArrowheads="1"/>
            </p:cNvSpPr>
            <p:nvPr/>
          </p:nvSpPr>
          <p:spPr bwMode="auto">
            <a:xfrm>
              <a:off x="6248400" y="304800"/>
              <a:ext cx="1828800" cy="1600200"/>
            </a:xfrm>
            <a:prstGeom prst="rect">
              <a:avLst/>
            </a:prstGeom>
            <a:grpFill/>
            <a:ln w="28575">
              <a:solidFill>
                <a:srgbClr val="C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zh-CN" altLang="en-US" sz="2400">
                  <a:solidFill>
                    <a:srgbClr val="0000FF"/>
                  </a:solidFill>
                  <a:latin typeface="Arial" panose="020B0604020202020204" pitchFamily="34" charset="0"/>
                </a:rPr>
                <a:t>模块</a:t>
              </a:r>
              <a:r>
                <a:rPr lang="en-US" altLang="zh-CN" sz="2400">
                  <a:solidFill>
                    <a:srgbClr val="0000FF"/>
                  </a:solidFill>
                  <a:latin typeface="Arial" panose="020B0604020202020204" pitchFamily="34" charset="0"/>
                </a:rPr>
                <a:t>A</a:t>
              </a:r>
              <a:endParaRPr lang="en-US" altLang="zh-CN" sz="2400">
                <a:solidFill>
                  <a:srgbClr val="0000FF"/>
                </a:solidFill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JSR “L”</a:t>
              </a:r>
              <a:r>
                <a:rPr lang="zh-CN" altLang="en-US" sz="2400">
                  <a:latin typeface="Arial" panose="020B0604020202020204" pitchFamily="34" charset="0"/>
                </a:rPr>
                <a:t>；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Return;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" name="Text Box 12"/>
            <p:cNvSpPr txBox="1">
              <a:spLocks noChangeArrowheads="1"/>
            </p:cNvSpPr>
            <p:nvPr/>
          </p:nvSpPr>
          <p:spPr bwMode="auto">
            <a:xfrm>
              <a:off x="5791200" y="228600"/>
              <a:ext cx="381000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0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" name="Text Box 13"/>
            <p:cNvSpPr txBox="1">
              <a:spLocks noChangeArrowheads="1"/>
            </p:cNvSpPr>
            <p:nvPr/>
          </p:nvSpPr>
          <p:spPr bwMode="auto">
            <a:xfrm>
              <a:off x="5544835" y="1497496"/>
              <a:ext cx="627366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L-1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5" name="Rectangle 17"/>
            <p:cNvSpPr>
              <a:spLocks noChangeArrowheads="1"/>
            </p:cNvSpPr>
            <p:nvPr/>
          </p:nvSpPr>
          <p:spPr bwMode="auto">
            <a:xfrm>
              <a:off x="6248400" y="1905000"/>
              <a:ext cx="1828800" cy="1600200"/>
            </a:xfrm>
            <a:prstGeom prst="rect">
              <a:avLst/>
            </a:prstGeom>
            <a:grpFill/>
            <a:ln w="28575">
              <a:solidFill>
                <a:srgbClr val="C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zh-CN" altLang="en-US" sz="2400">
                  <a:solidFill>
                    <a:srgbClr val="0000FF"/>
                  </a:solidFill>
                  <a:latin typeface="Arial" panose="020B0604020202020204" pitchFamily="34" charset="0"/>
                </a:rPr>
                <a:t>模块</a:t>
              </a:r>
              <a:r>
                <a:rPr lang="en-US" altLang="zh-CN" sz="2400">
                  <a:solidFill>
                    <a:srgbClr val="0000FF"/>
                  </a:solidFill>
                  <a:latin typeface="Arial" panose="020B0604020202020204" pitchFamily="34" charset="0"/>
                </a:rPr>
                <a:t>B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JSR “L+M”</a:t>
              </a:r>
              <a:r>
                <a:rPr lang="zh-CN" altLang="en-US" sz="2400">
                  <a:latin typeface="Arial" panose="020B0604020202020204" pitchFamily="34" charset="0"/>
                </a:rPr>
                <a:t>；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Return;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6" name="Text Box 18"/>
            <p:cNvSpPr txBox="1">
              <a:spLocks noChangeArrowheads="1"/>
            </p:cNvSpPr>
            <p:nvPr/>
          </p:nvSpPr>
          <p:spPr bwMode="auto">
            <a:xfrm>
              <a:off x="5544835" y="1881808"/>
              <a:ext cx="627366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L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7" name="Text Box 19"/>
            <p:cNvSpPr txBox="1">
              <a:spLocks noChangeArrowheads="1"/>
            </p:cNvSpPr>
            <p:nvPr/>
          </p:nvSpPr>
          <p:spPr bwMode="auto">
            <a:xfrm>
              <a:off x="5141961" y="3071192"/>
              <a:ext cx="1182640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L+M-1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8" name="Rectangle 20"/>
            <p:cNvSpPr>
              <a:spLocks noChangeArrowheads="1"/>
            </p:cNvSpPr>
            <p:nvPr/>
          </p:nvSpPr>
          <p:spPr bwMode="auto">
            <a:xfrm>
              <a:off x="6248400" y="3505200"/>
              <a:ext cx="1828800" cy="1600200"/>
            </a:xfrm>
            <a:prstGeom prst="rect">
              <a:avLst/>
            </a:prstGeom>
            <a:grpFill/>
            <a:ln w="28575">
              <a:solidFill>
                <a:srgbClr val="C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zh-CN" altLang="en-US" sz="2400">
                  <a:solidFill>
                    <a:srgbClr val="0000FF"/>
                  </a:solidFill>
                  <a:latin typeface="Arial" panose="020B0604020202020204" pitchFamily="34" charset="0"/>
                </a:rPr>
                <a:t>模块</a:t>
              </a:r>
              <a:r>
                <a:rPr lang="en-US" altLang="zh-CN" sz="2400">
                  <a:solidFill>
                    <a:srgbClr val="0000FF"/>
                  </a:solidFill>
                  <a:latin typeface="Arial" panose="020B0604020202020204" pitchFamily="34" charset="0"/>
                </a:rPr>
                <a:t>C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 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Return;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9" name="Text Box 21"/>
            <p:cNvSpPr txBox="1">
              <a:spLocks noChangeArrowheads="1"/>
            </p:cNvSpPr>
            <p:nvPr/>
          </p:nvSpPr>
          <p:spPr bwMode="auto">
            <a:xfrm>
              <a:off x="5333999" y="3442252"/>
              <a:ext cx="838201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L+M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50" name="Text Box 22"/>
            <p:cNvSpPr txBox="1">
              <a:spLocks noChangeArrowheads="1"/>
            </p:cNvSpPr>
            <p:nvPr/>
          </p:nvSpPr>
          <p:spPr bwMode="auto">
            <a:xfrm>
              <a:off x="4800601" y="4724400"/>
              <a:ext cx="1524000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L+M+N-1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2438400" y="2057400"/>
              <a:ext cx="381000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0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2" name="Text Box 24"/>
            <p:cNvSpPr txBox="1">
              <a:spLocks noChangeArrowheads="1"/>
            </p:cNvSpPr>
            <p:nvPr/>
          </p:nvSpPr>
          <p:spPr bwMode="auto">
            <a:xfrm>
              <a:off x="2075165" y="3349488"/>
              <a:ext cx="744235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M-1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53" name="Line 25"/>
            <p:cNvSpPr>
              <a:spLocks noChangeShapeType="1"/>
            </p:cNvSpPr>
            <p:nvPr/>
          </p:nvSpPr>
          <p:spPr bwMode="auto">
            <a:xfrm>
              <a:off x="7947646" y="1066800"/>
              <a:ext cx="1066800" cy="0"/>
            </a:xfrm>
            <a:prstGeom prst="line">
              <a:avLst/>
            </a:prstGeom>
            <a:grpFill/>
            <a:ln w="28575">
              <a:solidFill>
                <a:srgbClr val="C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1" hangingPunct="1">
                <a:defRPr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4" name="Line 26"/>
            <p:cNvSpPr>
              <a:spLocks noChangeShapeType="1"/>
            </p:cNvSpPr>
            <p:nvPr/>
          </p:nvSpPr>
          <p:spPr bwMode="auto">
            <a:xfrm>
              <a:off x="9014447" y="1066800"/>
              <a:ext cx="0" cy="1295400"/>
            </a:xfrm>
            <a:prstGeom prst="line">
              <a:avLst/>
            </a:prstGeom>
            <a:grpFill/>
            <a:ln w="28575">
              <a:solidFill>
                <a:srgbClr val="C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1" hangingPunct="1">
                <a:defRPr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5" name="Line 27"/>
            <p:cNvSpPr>
              <a:spLocks noChangeShapeType="1"/>
            </p:cNvSpPr>
            <p:nvPr/>
          </p:nvSpPr>
          <p:spPr bwMode="auto">
            <a:xfrm flipH="1">
              <a:off x="7947646" y="2362200"/>
              <a:ext cx="1066800" cy="0"/>
            </a:xfrm>
            <a:prstGeom prst="line">
              <a:avLst/>
            </a:prstGeom>
            <a:grpFill/>
            <a:ln w="28575">
              <a:solidFill>
                <a:srgbClr val="C00000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1" hangingPunct="1">
                <a:defRPr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6" name="Line 28"/>
            <p:cNvSpPr>
              <a:spLocks noChangeShapeType="1"/>
            </p:cNvSpPr>
            <p:nvPr/>
          </p:nvSpPr>
          <p:spPr bwMode="auto">
            <a:xfrm>
              <a:off x="7940588" y="2743200"/>
              <a:ext cx="1066800" cy="0"/>
            </a:xfrm>
            <a:prstGeom prst="line">
              <a:avLst/>
            </a:prstGeom>
            <a:grpFill/>
            <a:ln w="28575">
              <a:solidFill>
                <a:srgbClr val="C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1" hangingPunct="1">
                <a:defRPr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7" name="Line 29"/>
            <p:cNvSpPr>
              <a:spLocks noChangeShapeType="1"/>
            </p:cNvSpPr>
            <p:nvPr/>
          </p:nvSpPr>
          <p:spPr bwMode="auto">
            <a:xfrm>
              <a:off x="9007389" y="2743200"/>
              <a:ext cx="0" cy="1295400"/>
            </a:xfrm>
            <a:prstGeom prst="line">
              <a:avLst/>
            </a:prstGeom>
            <a:grpFill/>
            <a:ln w="28575">
              <a:solidFill>
                <a:srgbClr val="C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1" hangingPunct="1">
                <a:defRPr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8" name="Line 30"/>
            <p:cNvSpPr>
              <a:spLocks noChangeShapeType="1"/>
            </p:cNvSpPr>
            <p:nvPr/>
          </p:nvSpPr>
          <p:spPr bwMode="auto">
            <a:xfrm flipH="1">
              <a:off x="7836755" y="4038599"/>
              <a:ext cx="1170633" cy="1"/>
            </a:xfrm>
            <a:prstGeom prst="line">
              <a:avLst/>
            </a:prstGeom>
            <a:grpFill/>
            <a:ln w="28575">
              <a:solidFill>
                <a:srgbClr val="C00000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1" hangingPunct="1">
                <a:defRPr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3" name="Text Box 23"/>
          <p:cNvSpPr txBox="1">
            <a:spLocks noChangeArrowheads="1"/>
          </p:cNvSpPr>
          <p:nvPr/>
        </p:nvSpPr>
        <p:spPr bwMode="auto">
          <a:xfrm>
            <a:off x="3007360" y="1243965"/>
            <a:ext cx="645795" cy="2342515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noAutofit/>
          </a:bodyPr>
          <a:p>
            <a:pPr eaLnBrk="1" hangingPunct="1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 sz="2400">
                <a:latin typeface="Arial" panose="020B0604020202020204" pitchFamily="34" charset="0"/>
              </a:rPr>
              <a:t>0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50195" y="1089025"/>
            <a:ext cx="1602740" cy="2213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 anchor="t">
            <a:noAutofit/>
          </a:bodyPr>
          <a:p>
            <a:r>
              <a:rPr lang="en-US" altLang="zh-CN" sz="2400">
                <a:sym typeface="+mn-ea"/>
              </a:rPr>
              <a:t>JSR</a:t>
            </a:r>
            <a:r>
              <a:rPr lang="zh-CN" altLang="en-US" sz="2400">
                <a:sym typeface="+mn-ea"/>
              </a:rPr>
              <a:t>：</a:t>
            </a:r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汇编语言指令，表示无条件跳转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7</a:t>
            </a:r>
            <a:r>
              <a:rPr lang="zh-CN" altLang="en-US" sz="2800" b="1" dirty="0">
                <a:solidFill>
                  <a:schemeClr val="bg1"/>
                </a:solidFill>
              </a:rPr>
              <a:t>、内存</a:t>
            </a:r>
            <a:r>
              <a:rPr lang="zh-CN" altLang="en-US" sz="2800" b="1" dirty="0">
                <a:solidFill>
                  <a:schemeClr val="bg1"/>
                </a:solidFill>
              </a:rPr>
              <a:t>共享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850" y="871220"/>
            <a:ext cx="11952605" cy="107061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2800">
                <a:solidFill>
                  <a:srgbClr val="FF0000"/>
                </a:solidFill>
              </a:rPr>
              <a:t>内存共享</a:t>
            </a:r>
            <a:r>
              <a:rPr lang="zh-CN" altLang="en-US" sz="2800"/>
              <a:t>是指当多个用户进程需要用到同一个程序文件时，只在内存中保留该程序文件的</a:t>
            </a:r>
            <a:r>
              <a:rPr lang="zh-CN" altLang="en-US" sz="2800"/>
              <a:t>一个副本，令共享该程序文件的进程都指向其所在的内存空间。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167005" y="1981835"/>
            <a:ext cx="11758930" cy="95313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800"/>
              <a:t>被共享的内容应当是那些不会被修改的</a:t>
            </a:r>
            <a:r>
              <a:rPr lang="zh-CN" altLang="en-US" sz="2800"/>
              <a:t>只读部分，这部分代码被称之为</a:t>
            </a:r>
            <a:r>
              <a:rPr lang="zh-CN" altLang="en-US" sz="2800">
                <a:solidFill>
                  <a:srgbClr val="FF0000"/>
                </a:solidFill>
              </a:rPr>
              <a:t>可重入代码</a:t>
            </a:r>
            <a:r>
              <a:rPr lang="zh-CN" altLang="en-US" sz="2800">
                <a:solidFill>
                  <a:schemeClr val="tx1"/>
                </a:solidFill>
              </a:rPr>
              <a:t>又称为</a:t>
            </a:r>
            <a:r>
              <a:rPr lang="zh-CN" altLang="en-US" sz="2800">
                <a:solidFill>
                  <a:srgbClr val="FF0000"/>
                </a:solidFill>
              </a:rPr>
              <a:t>纯代码</a:t>
            </a:r>
            <a:r>
              <a:rPr lang="zh-CN" altLang="en-US" sz="2800"/>
              <a:t>。</a:t>
            </a:r>
            <a:endParaRPr lang="zh-CN" altLang="en-US" sz="2800"/>
          </a:p>
        </p:txBody>
      </p:sp>
      <p:sp>
        <p:nvSpPr>
          <p:cNvPr id="5" name="文本框 4"/>
          <p:cNvSpPr txBox="1"/>
          <p:nvPr/>
        </p:nvSpPr>
        <p:spPr>
          <a:xfrm>
            <a:off x="274955" y="3327400"/>
            <a:ext cx="11475720" cy="22745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2400"/>
              <a:t>一个可以同时容纳</a:t>
            </a:r>
            <a:r>
              <a:rPr lang="en-US" altLang="zh-CN" sz="2400"/>
              <a:t>40</a:t>
            </a:r>
            <a:r>
              <a:rPr lang="zh-CN" altLang="en-US" sz="2400"/>
              <a:t>个用户的多用户系统</a:t>
            </a:r>
            <a:r>
              <a:rPr lang="en-US" altLang="zh-CN" sz="2400"/>
              <a:t>,</a:t>
            </a:r>
            <a:r>
              <a:rPr lang="zh-CN" altLang="en-US" sz="2400"/>
              <a:t>他们同时执行一个文本编辑程序，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若该程序有</a:t>
            </a:r>
            <a:r>
              <a:rPr lang="en-US" altLang="zh-CN" sz="2400"/>
              <a:t>160KB</a:t>
            </a:r>
            <a:r>
              <a:rPr lang="zh-CN" altLang="en-US" sz="2400"/>
              <a:t>代码区和</a:t>
            </a:r>
            <a:r>
              <a:rPr lang="en-US" altLang="zh-CN" sz="2400"/>
              <a:t>40KB</a:t>
            </a:r>
            <a:r>
              <a:rPr lang="zh-CN" altLang="en-US" sz="2400"/>
              <a:t>数据区</a:t>
            </a:r>
            <a:r>
              <a:rPr lang="en-US" altLang="zh-CN" sz="2400"/>
              <a:t>,</a:t>
            </a:r>
            <a:r>
              <a:rPr lang="zh-CN" altLang="en-US" sz="2400"/>
              <a:t>则共需</a:t>
            </a:r>
            <a:r>
              <a:rPr lang="en-US" altLang="zh-CN" sz="2400"/>
              <a:t>8000</a:t>
            </a:r>
            <a:r>
              <a:rPr lang="en-US" altLang="zh-CN" sz="2400"/>
              <a:t>KB</a:t>
            </a:r>
            <a:r>
              <a:rPr lang="zh-CN" altLang="en-US" sz="2400"/>
              <a:t>的内存空间。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如果</a:t>
            </a:r>
            <a:r>
              <a:rPr lang="en-US" altLang="zh-CN" sz="2400"/>
              <a:t>160KB</a:t>
            </a:r>
            <a:r>
              <a:rPr lang="zh-CN" altLang="en-US" sz="2400"/>
              <a:t>代码是纯代码</a:t>
            </a:r>
            <a:r>
              <a:rPr lang="en-US" altLang="zh-CN" sz="2400"/>
              <a:t>,</a:t>
            </a:r>
            <a:r>
              <a:rPr lang="zh-CN" altLang="en-US" sz="2400"/>
              <a:t>则整个系统只需保留一份副本即可，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此时所需的内存空间仅为</a:t>
            </a:r>
            <a:r>
              <a:rPr lang="en-US" altLang="zh-CN" sz="2400"/>
              <a:t>40KB</a:t>
            </a:r>
            <a:r>
              <a:rPr lang="en-US" altLang="en-US" sz="2400"/>
              <a:t>×</a:t>
            </a:r>
            <a:r>
              <a:rPr lang="en-US" altLang="zh-CN" sz="2400"/>
              <a:t>40+160KB= 1760KB</a:t>
            </a:r>
            <a:r>
              <a:rPr lang="zh-CN" altLang="en-US" sz="2400"/>
              <a:t>。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 txBox="1"/>
          <p:nvPr/>
        </p:nvSpPr>
        <p:spPr>
          <a:xfrm>
            <a:off x="669925" y="3864215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8</a:t>
            </a:r>
            <a:r>
              <a:rPr lang="zh-CN" altLang="en-US" sz="2800" b="1" dirty="0">
                <a:solidFill>
                  <a:schemeClr val="bg1"/>
                </a:solidFill>
              </a:rPr>
              <a:t>、内存</a:t>
            </a:r>
            <a:r>
              <a:rPr lang="zh-CN" altLang="en-US" sz="2800" b="1" dirty="0">
                <a:solidFill>
                  <a:schemeClr val="bg1"/>
                </a:solidFill>
              </a:rPr>
              <a:t>保护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0045" y="1169670"/>
            <a:ext cx="11595735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内存保护</a:t>
            </a:r>
            <a:r>
              <a:rPr lang="zh-CN" altLang="en-US" sz="2400"/>
              <a:t>是指由</a:t>
            </a:r>
            <a:r>
              <a:rPr lang="zh-CN" altLang="en-US" sz="2400" b="1" u="sng"/>
              <a:t>操作系统和硬件</a:t>
            </a:r>
            <a:r>
              <a:rPr lang="zh-CN" altLang="en-US" sz="2400" b="1" u="sng"/>
              <a:t>机构合作</a:t>
            </a:r>
            <a:r>
              <a:rPr lang="zh-CN" altLang="en-US" sz="2400"/>
              <a:t>保证进程在未被允许的情况下，不能访问分配给其他进程的内存空间，从而保护进程数据不受外界干扰，实现存储安全。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165100" y="2171700"/>
            <a:ext cx="11946890" cy="36804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noAutofit/>
          </a:bodyPr>
          <a:p>
            <a:r>
              <a:rPr lang="zh-CN" altLang="en-US" sz="2700">
                <a:solidFill>
                  <a:srgbClr val="FF0000"/>
                </a:solidFill>
              </a:rPr>
              <a:t>内存保护机构有以下两种：</a:t>
            </a:r>
            <a:endParaRPr lang="zh-CN" altLang="en-US" sz="270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700"/>
              <a:t>(1</a:t>
            </a:r>
            <a:r>
              <a:rPr lang="zh-CN" altLang="en-US" sz="2700"/>
              <a:t>）</a:t>
            </a:r>
            <a:r>
              <a:rPr lang="zh-CN" altLang="en-US" sz="2700">
                <a:solidFill>
                  <a:srgbClr val="0070C0"/>
                </a:solidFill>
              </a:rPr>
              <a:t>一对上下限寄存器</a:t>
            </a:r>
            <a:r>
              <a:rPr lang="zh-CN" altLang="en-US" sz="2700"/>
              <a:t>，分别记录当前作业的起始地址和尾址。 </a:t>
            </a:r>
            <a:r>
              <a:rPr lang="en-US" altLang="zh-CN" sz="2700"/>
              <a:t>CPU </a:t>
            </a:r>
            <a:r>
              <a:rPr lang="zh-CN" altLang="en-US" sz="2700"/>
              <a:t>访存时验证访问地址是否处于二者之间。</a:t>
            </a:r>
            <a:endParaRPr lang="zh-CN" altLang="en-US" sz="2700"/>
          </a:p>
          <a:p>
            <a:pPr>
              <a:lnSpc>
                <a:spcPct val="150000"/>
              </a:lnSpc>
            </a:pPr>
            <a:r>
              <a:rPr lang="en-US" altLang="zh-CN" sz="2700"/>
              <a:t>(2</a:t>
            </a:r>
            <a:r>
              <a:rPr lang="zh-CN" altLang="en-US" sz="2700"/>
              <a:t>）</a:t>
            </a:r>
            <a:r>
              <a:rPr lang="zh-CN" altLang="en-US" sz="2700">
                <a:solidFill>
                  <a:srgbClr val="0070C0"/>
                </a:solidFill>
              </a:rPr>
              <a:t>一个重定位寄存器（基址寄存器）和界地址寄存器</a:t>
            </a:r>
            <a:r>
              <a:rPr lang="zh-CN" altLang="en-US" sz="2700"/>
              <a:t>。</a:t>
            </a:r>
            <a:endParaRPr lang="zh-CN" altLang="en-US" sz="2700"/>
          </a:p>
          <a:p>
            <a:pPr>
              <a:lnSpc>
                <a:spcPct val="150000"/>
              </a:lnSpc>
            </a:pPr>
            <a:r>
              <a:rPr lang="zh-CN" altLang="en-US" sz="2700"/>
              <a:t>基址寄存器记录作业的起始地址，界地址寄存器记录作业的长度， </a:t>
            </a:r>
            <a:r>
              <a:rPr lang="en-US" altLang="zh-CN" sz="2700"/>
              <a:t>CPU </a:t>
            </a:r>
            <a:r>
              <a:rPr lang="zh-CN" altLang="en-US" sz="2700"/>
              <a:t>访存时比较访问地址是否处于起始地址和尾址（尾址＝起始地址＋长度）之间。</a:t>
            </a:r>
            <a:endParaRPr lang="zh-CN" altLang="en-US" sz="27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5.1 </a:t>
            </a:r>
            <a:r>
              <a:rPr lang="zh-CN" altLang="en-US" sz="2400" dirty="0">
                <a:latin typeface="+mj-ea"/>
                <a:ea typeface="+mj-ea"/>
              </a:rPr>
              <a:t>存储器的</a:t>
            </a:r>
            <a:r>
              <a:rPr lang="zh-CN" altLang="en-US" sz="2400" dirty="0" smtClean="0">
                <a:latin typeface="+mj-ea"/>
                <a:ea typeface="+mj-ea"/>
              </a:rPr>
              <a:t>层次结构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5.2 </a:t>
            </a:r>
            <a:r>
              <a:rPr lang="zh-CN" altLang="en-US" sz="2400" dirty="0">
                <a:latin typeface="+mj-ea"/>
              </a:rPr>
              <a:t>程序的装入和</a:t>
            </a:r>
            <a:r>
              <a:rPr lang="zh-CN" altLang="en-US" sz="2400" dirty="0" smtClean="0">
                <a:latin typeface="+mj-ea"/>
              </a:rPr>
              <a:t>链接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5.3 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对换与</a:t>
            </a:r>
            <a:r>
              <a:rPr lang="zh-CN" altLang="en-US" sz="2400" dirty="0" smtClean="0">
                <a:solidFill>
                  <a:schemeClr val="bg1">
                    <a:lumMod val="75000"/>
                  </a:schemeClr>
                </a:solidFill>
                <a:latin typeface="+mj-ea"/>
              </a:rPr>
              <a:t>覆盖</a:t>
            </a:r>
            <a:endParaRPr lang="zh-CN" altLang="en-US" sz="2400" dirty="0" smtClean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+mj-ea"/>
              </a:rPr>
              <a:t>5.4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连续分配存储管理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</a:rPr>
              <a:t>方式</a:t>
            </a:r>
            <a:endParaRPr lang="zh-CN" altLang="en-US" sz="2400" b="1" dirty="0">
              <a:solidFill>
                <a:srgbClr val="0000FF"/>
              </a:solidFill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5.5 </a:t>
            </a:r>
            <a:r>
              <a:rPr lang="zh-CN" altLang="en-US" sz="2400" dirty="0">
                <a:latin typeface="+mj-ea"/>
              </a:rPr>
              <a:t>分页存储管理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5.6 </a:t>
            </a:r>
            <a:r>
              <a:rPr lang="zh-CN" altLang="en-US" sz="2400" dirty="0">
                <a:latin typeface="+mj-ea"/>
              </a:rPr>
              <a:t>分段存储管理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430658"/>
            <a:ext cx="4021751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5.7 基于IA-32/x86-64架构</a:t>
            </a:r>
            <a:endParaRPr lang="en-US" altLang="zh-CN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  <a:p>
            <a:pPr algn="l">
              <a:buClrTx/>
              <a:buSzTx/>
              <a:buFontTx/>
            </a:pP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      的内存管理策略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5</a:t>
            </a:r>
            <a:r>
              <a:rPr lang="zh-CN" altLang="en-US" sz="3600" dirty="0">
                <a:solidFill>
                  <a:srgbClr val="000000"/>
                </a:solidFill>
              </a:rPr>
              <a:t>章 </a:t>
            </a:r>
            <a:r>
              <a:rPr lang="zh-CN" altLang="en-US" sz="3600" dirty="0" smtClean="0">
                <a:solidFill>
                  <a:srgbClr val="000000"/>
                </a:solidFill>
              </a:rPr>
              <a:t>   存储器管理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" name="右大括号 1"/>
          <p:cNvSpPr/>
          <p:nvPr/>
        </p:nvSpPr>
        <p:spPr>
          <a:xfrm>
            <a:off x="4919345" y="1977390"/>
            <a:ext cx="163830" cy="84709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78450" y="2155825"/>
            <a:ext cx="15881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 smtClean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基本概念</a:t>
            </a:r>
            <a:endParaRPr lang="zh-CN" altLang="en-US" sz="2400" b="1" dirty="0" smtClean="0">
              <a:solidFill>
                <a:schemeClr val="tx1"/>
              </a:solidFill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连续分配存储管理方式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669925" y="1222533"/>
            <a:ext cx="10585885" cy="61914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连续分配方式：</a:t>
            </a:r>
            <a:r>
              <a:rPr lang="zh-CN" altLang="en-US" sz="2400" dirty="0"/>
              <a:t>为一个用户程序分配一个连续的内存空间。</a:t>
            </a:r>
            <a:endParaRPr lang="zh-CN" altLang="en-US" sz="2400" dirty="0"/>
          </a:p>
        </p:txBody>
      </p:sp>
      <p:sp>
        <p:nvSpPr>
          <p:cNvPr id="12" name="内容占位符 2"/>
          <p:cNvSpPr txBox="1"/>
          <p:nvPr/>
        </p:nvSpPr>
        <p:spPr>
          <a:xfrm>
            <a:off x="669925" y="1843178"/>
            <a:ext cx="10585885" cy="61914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/>
              <a:t>分类：</a:t>
            </a:r>
            <a:endParaRPr lang="zh-CN" altLang="en-US" sz="2400" dirty="0"/>
          </a:p>
        </p:txBody>
      </p:sp>
      <p:grpSp>
        <p:nvGrpSpPr>
          <p:cNvPr id="13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2833583"/>
            <a:ext cx="10845800" cy="2533182"/>
            <a:chOff x="673100" y="1929384"/>
            <a:chExt cx="10845800" cy="2533182"/>
          </a:xfrm>
        </p:grpSpPr>
        <p:sp>
          <p:nvSpPr>
            <p:cNvPr id="14" name="ïsḷîḋê"/>
            <p:cNvSpPr/>
            <p:nvPr>
              <p:custDataLst>
                <p:tags r:id="rId2"/>
              </p:custDataLst>
            </p:nvPr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ïṩḻíḑe"/>
            <p:cNvSpPr/>
            <p:nvPr>
              <p:custDataLst>
                <p:tags r:id="rId3"/>
              </p:custDataLst>
            </p:nvPr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is1íḑe"/>
            <p:cNvSpPr/>
            <p:nvPr>
              <p:custDataLst>
                <p:tags r:id="rId4"/>
              </p:custDataLst>
            </p:nvPr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íṡ1ïḋé"/>
            <p:cNvSpPr/>
            <p:nvPr>
              <p:custDataLst>
                <p:tags r:id="rId5"/>
              </p:custDataLst>
            </p:nvPr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8" name="îṡlíḓè"/>
            <p:cNvSpPr/>
            <p:nvPr>
              <p:custDataLst>
                <p:tags r:id="rId6"/>
              </p:custDataLst>
            </p:nvPr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9" name="ï$1iḍe"/>
            <p:cNvSpPr txBox="1"/>
            <p:nvPr>
              <p:custDataLst>
                <p:tags r:id="rId7"/>
              </p:custDataLst>
            </p:nvPr>
          </p:nvSpPr>
          <p:spPr>
            <a:xfrm>
              <a:off x="673100" y="4070054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dirty="0">
                  <a:solidFill>
                    <a:srgbClr val="0000FF"/>
                  </a:solidFill>
                </a:rPr>
                <a:t>单一连续分配</a:t>
              </a:r>
              <a:endParaRPr lang="zh-CN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22" name="íṩ1ïḑe"/>
            <p:cNvSpPr txBox="1"/>
            <p:nvPr>
              <p:custDataLst>
                <p:tags r:id="rId8"/>
              </p:custDataLst>
            </p:nvPr>
          </p:nvSpPr>
          <p:spPr>
            <a:xfrm>
              <a:off x="3502940" y="4070054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dirty="0">
                  <a:solidFill>
                    <a:srgbClr val="0000FF"/>
                  </a:solidFill>
                </a:rPr>
                <a:t>固定分区分配</a:t>
              </a:r>
              <a:endParaRPr lang="zh-CN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23" name="ïsḻiďê"/>
            <p:cNvSpPr txBox="1"/>
            <p:nvPr>
              <p:custDataLst>
                <p:tags r:id="rId9"/>
              </p:custDataLst>
            </p:nvPr>
          </p:nvSpPr>
          <p:spPr>
            <a:xfrm>
              <a:off x="6332780" y="4070054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dirty="0">
                  <a:solidFill>
                    <a:srgbClr val="0000FF"/>
                  </a:solidFill>
                </a:rPr>
                <a:t>动态分区分配</a:t>
              </a:r>
              <a:endParaRPr lang="zh-CN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24" name="isḷiḋé"/>
            <p:cNvSpPr txBox="1"/>
            <p:nvPr>
              <p:custDataLst>
                <p:tags r:id="rId10"/>
              </p:custDataLst>
            </p:nvPr>
          </p:nvSpPr>
          <p:spPr>
            <a:xfrm>
              <a:off x="9162620" y="4070054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2400" dirty="0">
                  <a:solidFill>
                    <a:srgbClr val="0000FF"/>
                  </a:solidFill>
                </a:rPr>
                <a:t>动态可重定位分区分配</a:t>
              </a:r>
              <a:endParaRPr lang="zh-CN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25" name="îṣḻidé"/>
            <p:cNvSpPr txBox="1"/>
            <p:nvPr>
              <p:custDataLst>
                <p:tags r:id="rId11"/>
              </p:custDataLst>
            </p:nvPr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01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26" name="ïŝ1ïḋè"/>
            <p:cNvSpPr txBox="1"/>
            <p:nvPr>
              <p:custDataLst>
                <p:tags r:id="rId12"/>
              </p:custDataLst>
            </p:nvPr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02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27" name="í$lîdé"/>
            <p:cNvSpPr txBox="1"/>
            <p:nvPr>
              <p:custDataLst>
                <p:tags r:id="rId13"/>
              </p:custDataLst>
            </p:nvPr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03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28" name="išḻïďè"/>
            <p:cNvSpPr txBox="1"/>
            <p:nvPr>
              <p:custDataLst>
                <p:tags r:id="rId14"/>
              </p:custDataLst>
            </p:nvPr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04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单一连续分配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0" name="íšḻîḋè"/>
          <p:cNvSpPr/>
          <p:nvPr/>
        </p:nvSpPr>
        <p:spPr>
          <a:xfrm>
            <a:off x="401955" y="3209290"/>
            <a:ext cx="6799580" cy="25819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不能并发，用于单道程序环境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+mn-ea"/>
              </a:rPr>
              <a:t>不需要内存保护措施</a:t>
            </a:r>
            <a:r>
              <a:rPr lang="zh-CN" altLang="en-US" sz="2400" dirty="0"/>
              <a:t>，安全性较高且</a:t>
            </a:r>
            <a:r>
              <a:rPr lang="zh-CN" altLang="en-US" sz="2400" dirty="0"/>
              <a:t>容易实现</a:t>
            </a:r>
            <a:endParaRPr lang="zh-CN" altLang="en-US" sz="2400" dirty="0"/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+mn-ea"/>
              </a:rPr>
              <a:t>内存利用率低</a:t>
            </a:r>
            <a:endParaRPr lang="zh-CN" altLang="en-US" sz="2400" dirty="0">
              <a:sym typeface="+mn-ea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+mn-ea"/>
              </a:rPr>
              <a:t>无外部碎片，有</a:t>
            </a:r>
            <a:r>
              <a:rPr lang="zh-CN" altLang="en-US" sz="2400" dirty="0">
                <a:sym typeface="+mn-ea"/>
              </a:rPr>
              <a:t>内部碎片</a:t>
            </a:r>
            <a:endParaRPr lang="zh-CN" altLang="en-US" sz="2400" dirty="0">
              <a:sym typeface="+mn-ea"/>
            </a:endParaRPr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zh-CN" altLang="en-US" sz="2400" dirty="0"/>
          </a:p>
        </p:txBody>
      </p:sp>
      <p:sp>
        <p:nvSpPr>
          <p:cNvPr id="221" name="i$lîďê"/>
          <p:cNvSpPr/>
          <p:nvPr/>
        </p:nvSpPr>
        <p:spPr>
          <a:xfrm>
            <a:off x="1529080" y="1314450"/>
            <a:ext cx="10610850" cy="3930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分配方式</a:t>
            </a:r>
            <a:r>
              <a:rPr lang="zh-CN" altLang="en-US" sz="2400" dirty="0"/>
              <a:t>：单道程序环境下，仅装有一道用户程序，即整个内存的用户空间由该程序独占。</a:t>
            </a:r>
            <a:endParaRPr lang="zh-CN" altLang="en-US" sz="2400" dirty="0"/>
          </a:p>
        </p:txBody>
      </p:sp>
      <p:sp>
        <p:nvSpPr>
          <p:cNvPr id="227" name="íṥḻîḓe"/>
          <p:cNvSpPr/>
          <p:nvPr/>
        </p:nvSpPr>
        <p:spPr>
          <a:xfrm>
            <a:off x="669857" y="2580987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8" name="îşļiḓè"/>
          <p:cNvSpPr/>
          <p:nvPr/>
        </p:nvSpPr>
        <p:spPr>
          <a:xfrm>
            <a:off x="733294" y="1136319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30" name="íSlíḋe"/>
          <p:cNvSpPr/>
          <p:nvPr/>
        </p:nvSpPr>
        <p:spPr>
          <a:xfrm>
            <a:off x="923548" y="1364051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31" name="ïśḷïḓe"/>
          <p:cNvSpPr/>
          <p:nvPr/>
        </p:nvSpPr>
        <p:spPr>
          <a:xfrm>
            <a:off x="923290" y="2743835"/>
            <a:ext cx="211455" cy="24955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33794" name="Rectangle 3"/>
          <p:cNvSpPr>
            <a:spLocks noGrp="1"/>
          </p:cNvSpPr>
          <p:nvPr/>
        </p:nvSpPr>
        <p:spPr>
          <a:xfrm>
            <a:off x="1052830" y="1887220"/>
            <a:ext cx="10865485" cy="143954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81000" indent="-381000" eaLnBrk="1" hangingPunct="1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一个容量为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256KB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的内存，操作系统占用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32KB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，剩下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224KB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全部分配给用户作业，如果一个作业仅需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64KB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，那么就有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160KB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的存储空间被浪费。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266706" name="Group 18"/>
          <p:cNvGraphicFramePr>
            <a:graphicFrameLocks noGrp="1"/>
          </p:cNvGraphicFramePr>
          <p:nvPr/>
        </p:nvGraphicFramePr>
        <p:xfrm>
          <a:off x="8896668" y="3140393"/>
          <a:ext cx="1828800" cy="2943240"/>
        </p:xfrm>
        <a:graphic>
          <a:graphicData uri="http://schemas.openxmlformats.org/drawingml/2006/table">
            <a:tbl>
              <a:tblPr/>
              <a:tblGrid>
                <a:gridCol w="1828800"/>
              </a:tblGrid>
              <a:tr h="5236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操作系统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60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234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805" name="Text Box 14"/>
          <p:cNvSpPr txBox="1"/>
          <p:nvPr/>
        </p:nvSpPr>
        <p:spPr>
          <a:xfrm>
            <a:off x="10725468" y="3082608"/>
            <a:ext cx="2017712" cy="30664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  <a:buFontTx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0KB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5000"/>
              </a:lnSpc>
              <a:spcBef>
                <a:spcPct val="50000"/>
              </a:spcBef>
              <a:buFontTx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32KB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FontTx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FontTx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FontTx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96KB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"/>
              </a:lnSpc>
              <a:spcBef>
                <a:spcPct val="50000"/>
              </a:spcBef>
              <a:buFontTx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"/>
              </a:lnSpc>
              <a:spcBef>
                <a:spcPct val="50000"/>
              </a:spcBef>
              <a:buFontTx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"/>
              </a:lnSpc>
              <a:spcBef>
                <a:spcPct val="50000"/>
              </a:spcBef>
              <a:buFontTx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"/>
              </a:lnSpc>
              <a:spcBef>
                <a:spcPct val="50000"/>
              </a:spcBef>
              <a:buFontTx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"/>
              </a:lnSpc>
              <a:spcBef>
                <a:spcPct val="50000"/>
              </a:spcBef>
              <a:buFontTx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"/>
              </a:lnSpc>
              <a:spcBef>
                <a:spcPct val="50000"/>
              </a:spcBef>
              <a:buFontTx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"/>
              </a:lnSpc>
              <a:spcBef>
                <a:spcPct val="50000"/>
              </a:spcBef>
              <a:buFontTx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"/>
              </a:lnSpc>
              <a:spcBef>
                <a:spcPct val="50000"/>
              </a:spcBef>
              <a:buFontTx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256KB-1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806" name="AutoShape 15"/>
          <p:cNvSpPr/>
          <p:nvPr/>
        </p:nvSpPr>
        <p:spPr>
          <a:xfrm>
            <a:off x="7829868" y="3678555"/>
            <a:ext cx="808037" cy="2376488"/>
          </a:xfrm>
          <a:prstGeom prst="leftBrace">
            <a:avLst>
              <a:gd name="adj1" fmla="val 24481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</a:pPr>
            <a:endParaRPr lang="zh-CN" altLang="zh-CN" sz="2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807" name="Text Box 16"/>
          <p:cNvSpPr txBox="1"/>
          <p:nvPr/>
        </p:nvSpPr>
        <p:spPr>
          <a:xfrm>
            <a:off x="6382068" y="4664393"/>
            <a:ext cx="1447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FontTx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分配给用户的空间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圆角矩形标注 8"/>
          <p:cNvSpPr/>
          <p:nvPr/>
        </p:nvSpPr>
        <p:spPr>
          <a:xfrm>
            <a:off x="929640" y="1196975"/>
            <a:ext cx="10457815" cy="2232660"/>
          </a:xfrm>
          <a:prstGeom prst="wedgeRoundRectCallout">
            <a:avLst>
              <a:gd name="adj1" fmla="val -19670"/>
              <a:gd name="adj2" fmla="val -5072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 anchorCtr="0"/>
          <a:p>
            <a:pPr algn="l" eaLnBrk="1" hangingPunct="1">
              <a:lnSpc>
                <a:spcPct val="150000"/>
              </a:lnSpc>
              <a:defRPr/>
            </a:pPr>
            <a:r>
              <a:rPr lang="zh-CN" altLang="en-US" sz="2800" dirty="0">
                <a:solidFill>
                  <a:schemeClr val="tx1"/>
                </a:solidFill>
              </a:rPr>
              <a:t>程序装入内存后，可能不会占据所有分配</a:t>
            </a:r>
            <a:r>
              <a:rPr lang="zh-CN" altLang="en-US" sz="2800" dirty="0">
                <a:solidFill>
                  <a:schemeClr val="tx1"/>
                </a:solidFill>
              </a:rPr>
              <a:t>的空间，被浪费的这部分内部空间，称为内部碎片。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l" eaLnBrk="1" hangingPunct="1">
              <a:lnSpc>
                <a:spcPct val="150000"/>
              </a:lnSpc>
              <a:defRPr/>
            </a:pPr>
            <a:r>
              <a:rPr lang="zh-CN" altLang="en-US" sz="2800">
                <a:solidFill>
                  <a:srgbClr val="FF0000"/>
                </a:solidFill>
                <a:sym typeface="+mn-ea"/>
              </a:rPr>
              <a:t>即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已分配</a:t>
            </a:r>
            <a:r>
              <a:rPr lang="zh-CN" altLang="en-US" sz="2800">
                <a:solidFill>
                  <a:srgbClr val="FF0000"/>
                </a:solidFill>
                <a:sym typeface="+mn-ea"/>
              </a:rPr>
              <a:t>的内存空间，由于给多了，</a:t>
            </a:r>
            <a:r>
              <a:rPr lang="zh-CN" altLang="en-US" sz="2800" b="1">
                <a:solidFill>
                  <a:srgbClr val="FF0000"/>
                </a:solidFill>
                <a:sym typeface="+mn-ea"/>
              </a:rPr>
              <a:t>作业造成的浪费</a:t>
            </a:r>
            <a:endParaRPr lang="zh-CN" altLang="en-US" sz="28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补充：</a:t>
            </a:r>
            <a:r>
              <a:rPr lang="zh-CN" altLang="en-US" sz="2800" b="1" dirty="0">
                <a:solidFill>
                  <a:schemeClr val="bg1"/>
                </a:solidFill>
              </a:rPr>
              <a:t>内部碎片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补充：</a:t>
            </a:r>
            <a:r>
              <a:rPr lang="zh-CN" altLang="en-US" sz="2800" b="1" dirty="0">
                <a:solidFill>
                  <a:schemeClr val="bg1"/>
                </a:solidFill>
              </a:rPr>
              <a:t>外部碎片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" y="600710"/>
            <a:ext cx="8711565" cy="55975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011920" y="765175"/>
            <a:ext cx="2845435" cy="49606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r>
              <a:rPr lang="zh-CN" altLang="en-US" sz="3200">
                <a:sym typeface="+mn-ea"/>
              </a:rPr>
              <a:t>外部碎片：</a:t>
            </a:r>
            <a:endParaRPr lang="zh-CN" altLang="en-US" sz="32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3200">
                <a:sym typeface="+mn-ea"/>
              </a:rPr>
              <a:t>即</a:t>
            </a:r>
            <a:r>
              <a:rPr lang="zh-CN" altLang="en-US" sz="3200" b="1">
                <a:sym typeface="+mn-ea"/>
              </a:rPr>
              <a:t>未分配</a:t>
            </a:r>
            <a:r>
              <a:rPr lang="zh-CN" altLang="en-US" sz="3200">
                <a:sym typeface="+mn-ea"/>
              </a:rPr>
              <a:t>的内存空间，由于太小无法分配给合适的作业，</a:t>
            </a:r>
            <a:r>
              <a:rPr lang="zh-CN" altLang="en-US" sz="3200" b="1">
                <a:sym typeface="+mn-ea"/>
              </a:rPr>
              <a:t>系统造成的浪费</a:t>
            </a:r>
            <a:r>
              <a:rPr lang="zh-CN" altLang="en-US" sz="3200">
                <a:sym typeface="+mn-ea"/>
              </a:rPr>
              <a:t>。</a:t>
            </a:r>
            <a:endParaRPr lang="zh-CN" altLang="en-US" sz="3200"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固定分区分配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8" name="isľîdê"/>
          <p:cNvSpPr txBox="1"/>
          <p:nvPr/>
        </p:nvSpPr>
        <p:spPr>
          <a:xfrm>
            <a:off x="763270" y="1085215"/>
            <a:ext cx="8529320" cy="6953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lvl="1" indent="-342900" algn="l">
              <a:lnSpc>
                <a:spcPct val="120000"/>
              </a:lnSpc>
              <a:buFont typeface="Wingdings" panose="05000000000000000000" charset="0"/>
              <a:buChar char="n"/>
            </a:pPr>
            <a:r>
              <a:rPr lang="zh-CN" altLang="en-US" sz="2400" dirty="0"/>
              <a:t>最早的、也是最简单的一种可运行多道程序的存储管理方式。</a:t>
            </a:r>
            <a:endParaRPr lang="zh-CN" altLang="en-US" sz="2400" dirty="0"/>
          </a:p>
        </p:txBody>
      </p:sp>
      <p:sp>
        <p:nvSpPr>
          <p:cNvPr id="34" name="isľîdê"/>
          <p:cNvSpPr txBox="1"/>
          <p:nvPr/>
        </p:nvSpPr>
        <p:spPr>
          <a:xfrm>
            <a:off x="763270" y="1780540"/>
            <a:ext cx="10711815" cy="6578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lvl="1" indent="-457200" algn="l">
              <a:lnSpc>
                <a:spcPct val="120000"/>
              </a:lnSpc>
              <a:buFont typeface="Wingdings" panose="05000000000000000000" charset="0"/>
              <a:buChar char="n"/>
            </a:pPr>
            <a:r>
              <a:rPr lang="zh-CN" altLang="en-US" sz="2400" dirty="0"/>
              <a:t>预先把可分配的主存空间分割成若干个连续区域，称为一个</a:t>
            </a:r>
            <a:r>
              <a:rPr lang="zh-CN" altLang="en-US" sz="2400" dirty="0">
                <a:solidFill>
                  <a:srgbClr val="FF0000"/>
                </a:solidFill>
              </a:rPr>
              <a:t>分区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marL="0" lvl="1" algn="l">
              <a:lnSpc>
                <a:spcPct val="120000"/>
              </a:lnSpc>
            </a:pP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782320" y="254381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n"/>
            </a:pPr>
            <a:r>
              <a:rPr lang="zh-CN" altLang="en-US" sz="2400" dirty="0">
                <a:sym typeface="+mn-ea"/>
              </a:rPr>
              <a:t>每个分区只能装一个作业，作业不能跨区。</a:t>
            </a:r>
            <a:endParaRPr lang="zh-CN" altLang="en-US" sz="2400" dirty="0">
              <a:sym typeface="+mn-ea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782320" y="3336290"/>
            <a:ext cx="3274695" cy="4953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ym typeface="Wingdings" panose="05000000000000000000" pitchFamily="2" charset="2"/>
              </a:rPr>
              <a:t>分区大小</a:t>
            </a:r>
            <a:r>
              <a:rPr lang="zh-CN" alt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一样</a:t>
            </a:r>
            <a:endParaRPr lang="zh-CN" altLang="en-US" sz="2400" dirty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63270" y="4039235"/>
            <a:ext cx="5738495" cy="178181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265" lvl="1" indent="-5334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缺乏灵活性</a:t>
            </a:r>
            <a:endParaRPr lang="zh-CN" altLang="en-US" sz="2400" dirty="0"/>
          </a:p>
          <a:p>
            <a:pPr marL="799465" lvl="2" indent="-5334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/>
              <a:t>程序太小：浪费内存，产生内部</a:t>
            </a:r>
            <a:r>
              <a:rPr lang="zh-CN" altLang="en-US" sz="2200" dirty="0"/>
              <a:t>碎片</a:t>
            </a:r>
            <a:endParaRPr lang="zh-CN" altLang="en-US" sz="2200" dirty="0"/>
          </a:p>
          <a:p>
            <a:pPr marL="799465" lvl="2" indent="-5334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/>
              <a:t>程序太大：装不下</a:t>
            </a:r>
            <a:endParaRPr lang="zh-CN" altLang="en-US" sz="2400" dirty="0"/>
          </a:p>
        </p:txBody>
      </p:sp>
      <p:sp>
        <p:nvSpPr>
          <p:cNvPr id="7" name="矩形: 圆角 4"/>
          <p:cNvSpPr/>
          <p:nvPr/>
        </p:nvSpPr>
        <p:spPr>
          <a:xfrm>
            <a:off x="7760662" y="3335987"/>
            <a:ext cx="2961592" cy="57035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ym typeface="Wingdings" panose="05000000000000000000" pitchFamily="2" charset="2"/>
              </a:rPr>
              <a:t>分区大小</a:t>
            </a:r>
            <a:r>
              <a:rPr lang="zh-CN" alt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不等</a:t>
            </a:r>
            <a:endParaRPr lang="zh-CN" altLang="en-US" sz="2400" dirty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7760661" y="4039522"/>
            <a:ext cx="3244927" cy="179644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多个小分区</a:t>
            </a:r>
            <a:endParaRPr lang="zh-CN" altLang="en-US" sz="2400" dirty="0"/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适量中分区</a:t>
            </a:r>
            <a:endParaRPr lang="zh-CN" altLang="en-US" sz="2400" dirty="0"/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少量大分区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</a:rPr>
              <a:t>固定</a:t>
            </a:r>
            <a:r>
              <a:rPr lang="zh-CN" altLang="en-US" sz="2800" b="1" dirty="0" smtClean="0">
                <a:solidFill>
                  <a:schemeClr val="bg1"/>
                </a:solidFill>
              </a:rPr>
              <a:t>分区分配例子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10" name="Group 14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64963" y="1332888"/>
          <a:ext cx="5902509" cy="3947449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195444"/>
                <a:gridCol w="1270161"/>
                <a:gridCol w="2166743"/>
                <a:gridCol w="1270161"/>
              </a:tblGrid>
              <a:tr h="799177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分区号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大小</a:t>
                      </a: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(K)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起始地址</a:t>
                      </a: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(K)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状态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</a:tr>
              <a:tr h="77495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12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已分配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</a:tr>
              <a:tr h="82339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已分配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</a:tr>
              <a:tr h="77495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64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64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已分配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</a:tr>
              <a:tr h="77495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128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128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未分配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</a:tr>
            </a:tbl>
          </a:graphicData>
        </a:graphic>
      </p:graphicFrame>
      <p:graphicFrame>
        <p:nvGraphicFramePr>
          <p:cNvPr id="12" name="Group 129"/>
          <p:cNvGraphicFramePr>
            <a:graphicFrameLocks noGrp="1"/>
          </p:cNvGraphicFramePr>
          <p:nvPr/>
        </p:nvGraphicFramePr>
        <p:xfrm>
          <a:off x="7696200" y="1332888"/>
          <a:ext cx="2915992" cy="4654508"/>
        </p:xfrm>
        <a:graphic>
          <a:graphicData uri="http://schemas.openxmlformats.org/drawingml/2006/table">
            <a:tbl>
              <a:tblPr/>
              <a:tblGrid>
                <a:gridCol w="1073532"/>
                <a:gridCol w="1842460"/>
              </a:tblGrid>
              <a:tr h="64135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b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操作系统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700"/>
                    </a:solidFill>
                  </a:tcPr>
                </a:tc>
              </a:tr>
              <a:tr h="51883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b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作业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81162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b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作业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6003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b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作业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1285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b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内容占位符 2"/>
          <p:cNvSpPr txBox="1"/>
          <p:nvPr/>
        </p:nvSpPr>
        <p:spPr>
          <a:xfrm>
            <a:off x="2657269" y="5452451"/>
            <a:ext cx="2527300" cy="5032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 sz="2400" dirty="0" smtClean="0"/>
              <a:t>固定分区</a:t>
            </a:r>
            <a:r>
              <a:rPr lang="zh-CN" altLang="en-US" sz="2400" dirty="0" smtClean="0"/>
              <a:t>说明表</a:t>
            </a:r>
            <a:endParaRPr lang="zh-CN" altLang="en-US" sz="2400" dirty="0" smtClean="0"/>
          </a:p>
        </p:txBody>
      </p:sp>
      <p:sp>
        <p:nvSpPr>
          <p:cNvPr id="2" name="文本框 1"/>
          <p:cNvSpPr txBox="1"/>
          <p:nvPr/>
        </p:nvSpPr>
        <p:spPr>
          <a:xfrm>
            <a:off x="7964170" y="1732280"/>
            <a:ext cx="810895" cy="469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kumimoji="1" lang="en-US" altLang="zh-CN" sz="2400" dirty="0" smtClean="0">
                <a:ln>
                  <a:noFill/>
                </a:ln>
                <a:effectLst/>
                <a:latin typeface="+mn-ea"/>
                <a:sym typeface="+mn-ea"/>
              </a:rPr>
              <a:t>20K</a:t>
            </a:r>
            <a:endParaRPr kumimoji="1" lang="en-US" altLang="zh-CN" sz="2400" dirty="0" smtClean="0">
              <a:ln>
                <a:noFill/>
              </a:ln>
              <a:effectLst/>
              <a:latin typeface="+mn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64170" y="2268220"/>
            <a:ext cx="763270" cy="469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kumimoji="1" lang="en-US" altLang="zh-CN" sz="2400" dirty="0" smtClean="0">
                <a:ln>
                  <a:noFill/>
                </a:ln>
                <a:effectLst/>
                <a:latin typeface="+mn-ea"/>
                <a:sym typeface="+mn-ea"/>
              </a:rPr>
              <a:t>32K</a:t>
            </a:r>
            <a:endParaRPr kumimoji="1" lang="en-US" altLang="zh-CN" sz="2400" dirty="0" smtClean="0">
              <a:ln>
                <a:noFill/>
              </a:ln>
              <a:effectLst/>
              <a:latin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55915" y="3310255"/>
            <a:ext cx="771525" cy="469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kumimoji="1" lang="en-US" altLang="zh-CN" sz="2400" dirty="0" smtClean="0">
                <a:ln>
                  <a:noFill/>
                </a:ln>
                <a:effectLst/>
                <a:latin typeface="+mn-ea"/>
                <a:sym typeface="+mn-ea"/>
              </a:rPr>
              <a:t>64K</a:t>
            </a:r>
            <a:endParaRPr kumimoji="1" lang="en-US" altLang="zh-CN" sz="2400" dirty="0" smtClean="0">
              <a:ln>
                <a:noFill/>
              </a:ln>
              <a:effectLst/>
              <a:latin typeface="+mn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40345" y="4888230"/>
            <a:ext cx="963295" cy="469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kumimoji="1" lang="en-US" altLang="zh-CN" sz="2400" dirty="0" smtClean="0">
                <a:ln>
                  <a:noFill/>
                </a:ln>
                <a:effectLst/>
                <a:latin typeface="+mn-ea"/>
                <a:sym typeface="+mn-ea"/>
              </a:rPr>
              <a:t>128K</a:t>
            </a:r>
            <a:endParaRPr kumimoji="1" lang="en-US" altLang="zh-CN" sz="2400" dirty="0" smtClean="0">
              <a:ln>
                <a:noFill/>
              </a:ln>
              <a:effectLst/>
              <a:latin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55915" y="5714365"/>
            <a:ext cx="963295" cy="469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kumimoji="1" lang="en-US" altLang="zh-CN" sz="2400" dirty="0" smtClean="0">
                <a:ln>
                  <a:noFill/>
                </a:ln>
                <a:effectLst/>
                <a:latin typeface="+mn-ea"/>
                <a:sym typeface="+mn-ea"/>
              </a:rPr>
              <a:t>256K</a:t>
            </a:r>
            <a:endParaRPr kumimoji="1" lang="en-US" altLang="zh-CN" sz="2400" dirty="0" smtClean="0">
              <a:ln>
                <a:noFill/>
              </a:ln>
              <a:effectLst/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固定分区分配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8" name="isľîdê"/>
          <p:cNvSpPr txBox="1"/>
          <p:nvPr/>
        </p:nvSpPr>
        <p:spPr>
          <a:xfrm>
            <a:off x="763270" y="1085215"/>
            <a:ext cx="10953115" cy="271970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lvl="1" indent="-342900" algn="l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3200" dirty="0"/>
              <a:t>不存在外部碎片，实现简单，是系统开销很小的多道程序内存分配方法</a:t>
            </a:r>
            <a:endParaRPr lang="zh-CN" altLang="en-US" sz="3200" dirty="0"/>
          </a:p>
          <a:p>
            <a:pPr marL="342900" lvl="1" indent="-342900" algn="l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3200" dirty="0"/>
              <a:t>产生较多的内部碎片</a:t>
            </a:r>
            <a:endParaRPr lang="zh-CN" altLang="en-US" sz="3200" dirty="0"/>
          </a:p>
          <a:p>
            <a:pPr marL="0" lvl="1" indent="0" algn="l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83260" y="1320165"/>
            <a:ext cx="10844530" cy="403352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某系统采用固定分区分配存储管理，内存空间为</a:t>
            </a:r>
            <a:r>
              <a:rPr lang="en-US" altLang="zh-CN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430K</a:t>
            </a:r>
            <a:r>
              <a:rPr lang="zh-CN" altLang="en-US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，其中地址</a:t>
            </a:r>
            <a:r>
              <a:rPr lang="en-US" altLang="zh-CN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en-US" altLang="zh-CN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30K</a:t>
            </a:r>
            <a:r>
              <a:rPr lang="zh-CN" altLang="en-US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被系统占用，其他空间按分区大小相等的方法划为</a:t>
            </a:r>
            <a:r>
              <a:rPr lang="en-US" altLang="zh-CN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个分区，则当有大小分别为</a:t>
            </a:r>
            <a:r>
              <a:rPr lang="en-US" altLang="zh-CN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7KB</a:t>
            </a:r>
            <a:r>
              <a:rPr lang="zh-CN" altLang="en-US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90KB</a:t>
            </a:r>
            <a:r>
              <a:rPr lang="zh-CN" altLang="en-US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30KB</a:t>
            </a:r>
            <a:r>
              <a:rPr lang="zh-CN" altLang="en-US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20KB</a:t>
            </a:r>
            <a:r>
              <a:rPr lang="zh-CN" altLang="en-US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的作业进入内存时，浪费的内存为（</a:t>
            </a:r>
            <a:r>
              <a:rPr lang="en-US" altLang="zh-CN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C)</a:t>
            </a:r>
            <a:r>
              <a:rPr lang="zh-CN" altLang="en-US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800" b="0" i="0">
              <a:solidFill>
                <a:srgbClr val="181E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A.53KB    B.200KB    C.253KB     D.280KB</a:t>
            </a:r>
            <a:endParaRPr lang="en-US" altLang="zh-CN" sz="2800" b="0" i="0">
              <a:solidFill>
                <a:srgbClr val="181E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动态分区分配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24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34086" y="1451710"/>
            <a:ext cx="11315396" cy="4097641"/>
            <a:chOff x="604685" y="1464590"/>
            <a:chExt cx="11315396" cy="4097641"/>
          </a:xfrm>
        </p:grpSpPr>
        <p:sp>
          <p:nvSpPr>
            <p:cNvPr id="25" name="ïsḷîḋê"/>
            <p:cNvSpPr/>
            <p:nvPr>
              <p:custDataLst>
                <p:tags r:id="rId2"/>
              </p:custDataLst>
            </p:nvPr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ïṩḻíḑe"/>
            <p:cNvSpPr/>
            <p:nvPr>
              <p:custDataLst>
                <p:tags r:id="rId3"/>
              </p:custDataLst>
            </p:nvPr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7" name="is1íḑe"/>
            <p:cNvSpPr/>
            <p:nvPr>
              <p:custDataLst>
                <p:tags r:id="rId4"/>
              </p:custDataLst>
            </p:nvPr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8" name="íṡ1ïḋé"/>
            <p:cNvSpPr/>
            <p:nvPr>
              <p:custDataLst>
                <p:tags r:id="rId5"/>
              </p:custDataLst>
            </p:nvPr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9" name="îṡlíḓè"/>
            <p:cNvSpPr/>
            <p:nvPr>
              <p:custDataLst>
                <p:tags r:id="rId6"/>
              </p:custDataLst>
            </p:nvPr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0" name="ï$1iḍe"/>
            <p:cNvSpPr txBox="1"/>
            <p:nvPr>
              <p:custDataLst>
                <p:tags r:id="rId7"/>
              </p:custDataLst>
            </p:nvPr>
          </p:nvSpPr>
          <p:spPr>
            <a:xfrm>
              <a:off x="738159" y="1491721"/>
              <a:ext cx="2687137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动态分区分配</a:t>
              </a:r>
              <a:endParaRPr lang="zh-CN" altLang="en-US" sz="2400" b="1" dirty="0"/>
            </a:p>
          </p:txBody>
        </p:sp>
        <p:sp>
          <p:nvSpPr>
            <p:cNvPr id="31" name="isľîdê"/>
            <p:cNvSpPr txBox="1"/>
            <p:nvPr/>
          </p:nvSpPr>
          <p:spPr>
            <a:xfrm>
              <a:off x="604685" y="4100515"/>
              <a:ext cx="2715405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根据进程的实际需要，动态地为之分配内存空间。</a:t>
              </a:r>
              <a:endParaRPr lang="zh-CN" altLang="en-US" sz="2400" dirty="0"/>
            </a:p>
          </p:txBody>
        </p:sp>
        <p:sp>
          <p:nvSpPr>
            <p:cNvPr id="32" name="íṩ1ïḑe"/>
            <p:cNvSpPr txBox="1"/>
            <p:nvPr>
              <p:custDataLst>
                <p:tags r:id="rId8"/>
              </p:custDataLst>
            </p:nvPr>
          </p:nvSpPr>
          <p:spPr>
            <a:xfrm>
              <a:off x="3077666" y="1464590"/>
              <a:ext cx="3316591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2400" b="1" dirty="0"/>
                <a:t>数据结构</a:t>
              </a:r>
              <a:endParaRPr lang="zh-CN" altLang="en-US" sz="2400" b="1" dirty="0"/>
            </a:p>
          </p:txBody>
        </p:sp>
        <p:sp>
          <p:nvSpPr>
            <p:cNvPr id="33" name="ïsḻiďê"/>
            <p:cNvSpPr txBox="1"/>
            <p:nvPr>
              <p:custDataLst>
                <p:tags r:id="rId9"/>
              </p:custDataLst>
            </p:nvPr>
          </p:nvSpPr>
          <p:spPr>
            <a:xfrm>
              <a:off x="6366706" y="1478156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</a:rPr>
                <a:t>分配算法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4" name="isḷiḋé"/>
            <p:cNvSpPr txBox="1"/>
            <p:nvPr>
              <p:custDataLst>
                <p:tags r:id="rId10"/>
              </p:custDataLst>
            </p:nvPr>
          </p:nvSpPr>
          <p:spPr>
            <a:xfrm>
              <a:off x="8833059" y="1491721"/>
              <a:ext cx="3087022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分配操作</a:t>
              </a:r>
              <a:endParaRPr lang="zh-CN" altLang="en-US" sz="2400" b="1" dirty="0"/>
            </a:p>
          </p:txBody>
        </p:sp>
        <p:sp>
          <p:nvSpPr>
            <p:cNvPr id="35" name="îṣḻidé"/>
            <p:cNvSpPr txBox="1"/>
            <p:nvPr>
              <p:custDataLst>
                <p:tags r:id="rId11"/>
              </p:custDataLst>
            </p:nvPr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6" name="ïŝ1ïḋè"/>
            <p:cNvSpPr txBox="1"/>
            <p:nvPr>
              <p:custDataLst>
                <p:tags r:id="rId12"/>
              </p:custDataLst>
            </p:nvPr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7" name="í$lîdé"/>
            <p:cNvSpPr txBox="1"/>
            <p:nvPr>
              <p:custDataLst>
                <p:tags r:id="rId13"/>
              </p:custDataLst>
            </p:nvPr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8" name="išḻïďè"/>
            <p:cNvSpPr txBox="1"/>
            <p:nvPr>
              <p:custDataLst>
                <p:tags r:id="rId14"/>
              </p:custDataLst>
            </p:nvPr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9" name="isľîdê"/>
            <p:cNvSpPr txBox="1"/>
            <p:nvPr/>
          </p:nvSpPr>
          <p:spPr>
            <a:xfrm>
              <a:off x="3540236" y="4127645"/>
              <a:ext cx="2276119" cy="858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空闲分区表</a:t>
              </a:r>
              <a:endParaRPr lang="zh-CN" altLang="en-US" sz="2400" dirty="0"/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空闲分区链</a:t>
              </a:r>
              <a:endParaRPr lang="zh-CN" altLang="en-US" sz="2400" dirty="0"/>
            </a:p>
          </p:txBody>
        </p:sp>
        <p:sp>
          <p:nvSpPr>
            <p:cNvPr id="40" name="isľîdê"/>
            <p:cNvSpPr txBox="1"/>
            <p:nvPr/>
          </p:nvSpPr>
          <p:spPr>
            <a:xfrm>
              <a:off x="5980812" y="4127645"/>
              <a:ext cx="2742174" cy="531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顺序式分配算法</a:t>
              </a:r>
              <a:endParaRPr lang="zh-CN" altLang="en-US" sz="2400" dirty="0"/>
            </a:p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olidFill>
                    <a:schemeClr val="bg1">
                      <a:lumMod val="65000"/>
                    </a:schemeClr>
                  </a:solidFill>
                </a:rPr>
                <a:t>索引式分配算法</a:t>
              </a:r>
              <a:endParaRPr lang="zh-CN" altLang="en-US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1" name="isľîdê"/>
            <p:cNvSpPr txBox="1"/>
            <p:nvPr/>
          </p:nvSpPr>
          <p:spPr>
            <a:xfrm>
              <a:off x="9430508" y="4151140"/>
              <a:ext cx="2369079" cy="8352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分配内存</a:t>
              </a:r>
              <a:endParaRPr lang="zh-CN" altLang="en-US" sz="2400" dirty="0"/>
            </a:p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回收内存</a:t>
              </a:r>
              <a:endParaRPr lang="zh-CN" altLang="en-US" sz="2400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动态分区分配中的数据结构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855969" y="1331757"/>
            <a:ext cx="2742976" cy="5703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defRPr/>
            </a:pPr>
            <a:r>
              <a:rPr lang="zh-CN" altLang="en-US" sz="2400" dirty="0">
                <a:sym typeface="Wingdings" panose="05000000000000000000" pitchFamily="2" charset="2"/>
              </a:rPr>
              <a:t>空闲分区</a:t>
            </a:r>
            <a:r>
              <a:rPr lang="zh-CN" alt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表</a:t>
            </a:r>
            <a:endParaRPr lang="zh-CN" altLang="en-US" sz="2400" dirty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26" name="内容占位符 2"/>
          <p:cNvSpPr txBox="1"/>
          <p:nvPr/>
        </p:nvSpPr>
        <p:spPr>
          <a:xfrm>
            <a:off x="361950" y="2054225"/>
            <a:ext cx="5233035" cy="311023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265" lvl="1" indent="-5334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分区序号、分区大小、</a:t>
            </a:r>
            <a:r>
              <a:rPr lang="zh-CN" altLang="en-US" sz="2400" dirty="0">
                <a:sym typeface="+mn-ea"/>
              </a:rPr>
              <a:t>分区始址、</a:t>
            </a:r>
            <a:r>
              <a:rPr lang="zh-CN" altLang="en-US" sz="2400" dirty="0"/>
              <a:t>状态等</a:t>
            </a:r>
            <a:endParaRPr lang="zh-CN" altLang="en-US" sz="2400" dirty="0"/>
          </a:p>
        </p:txBody>
      </p:sp>
      <p:sp>
        <p:nvSpPr>
          <p:cNvPr id="29" name="矩形: 圆角 4"/>
          <p:cNvSpPr/>
          <p:nvPr/>
        </p:nvSpPr>
        <p:spPr>
          <a:xfrm>
            <a:off x="6414230" y="1331756"/>
            <a:ext cx="2961592" cy="57035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defRPr/>
            </a:pPr>
            <a:r>
              <a:rPr lang="zh-CN" altLang="en-US" sz="2400" dirty="0">
                <a:sym typeface="Wingdings" panose="05000000000000000000" pitchFamily="2" charset="2"/>
              </a:rPr>
              <a:t>空闲分区</a:t>
            </a:r>
            <a:r>
              <a:rPr lang="zh-CN" alt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链</a:t>
            </a:r>
            <a:endParaRPr lang="zh-CN" altLang="en-US" sz="2400" dirty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32" name="内容占位符 2"/>
          <p:cNvSpPr txBox="1"/>
          <p:nvPr/>
        </p:nvSpPr>
        <p:spPr>
          <a:xfrm>
            <a:off x="5829300" y="1931035"/>
            <a:ext cx="6257290" cy="108839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通过前、后向指针，可将所有的空闲分区链接成一个</a:t>
            </a:r>
            <a:r>
              <a:rPr lang="zh-CN" altLang="en-US" sz="2400" b="1" dirty="0"/>
              <a:t>双向链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cxnSp>
        <p:nvCxnSpPr>
          <p:cNvPr id="35" name="直接连接符 34"/>
          <p:cNvCxnSpPr/>
          <p:nvPr/>
        </p:nvCxnSpPr>
        <p:spPr>
          <a:xfrm>
            <a:off x="5703548" y="2192208"/>
            <a:ext cx="0" cy="371919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68" y="3791093"/>
            <a:ext cx="4608513" cy="22701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Group 104"/>
          <p:cNvGraphicFramePr>
            <a:graphicFrameLocks noGrp="1"/>
          </p:cNvGraphicFramePr>
          <p:nvPr/>
        </p:nvGraphicFramePr>
        <p:xfrm>
          <a:off x="5955227" y="3257806"/>
          <a:ext cx="1447800" cy="584200"/>
        </p:xfrm>
        <a:graphic>
          <a:graphicData uri="http://schemas.openxmlformats.org/drawingml/2006/table">
            <a:tbl>
              <a:tblPr/>
              <a:tblGrid>
                <a:gridCol w="304800"/>
                <a:gridCol w="838200"/>
                <a:gridCol w="304800"/>
              </a:tblGrid>
              <a:tr h="584200"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Group 105"/>
          <p:cNvGraphicFramePr>
            <a:graphicFrameLocks noGrp="1"/>
          </p:cNvGraphicFramePr>
          <p:nvPr/>
        </p:nvGraphicFramePr>
        <p:xfrm>
          <a:off x="8317427" y="3257806"/>
          <a:ext cx="1447800" cy="584200"/>
        </p:xfrm>
        <a:graphic>
          <a:graphicData uri="http://schemas.openxmlformats.org/drawingml/2006/table">
            <a:tbl>
              <a:tblPr/>
              <a:tblGrid>
                <a:gridCol w="304800"/>
                <a:gridCol w="838200"/>
                <a:gridCol w="304800"/>
              </a:tblGrid>
              <a:tr h="584200"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Group 106"/>
          <p:cNvGraphicFramePr>
            <a:graphicFrameLocks noGrp="1"/>
          </p:cNvGraphicFramePr>
          <p:nvPr/>
        </p:nvGraphicFramePr>
        <p:xfrm>
          <a:off x="10679627" y="3257806"/>
          <a:ext cx="1447800" cy="584200"/>
        </p:xfrm>
        <a:graphic>
          <a:graphicData uri="http://schemas.openxmlformats.org/drawingml/2006/table">
            <a:tbl>
              <a:tblPr/>
              <a:tblGrid>
                <a:gridCol w="304800"/>
                <a:gridCol w="838200"/>
                <a:gridCol w="304800"/>
              </a:tblGrid>
              <a:tr h="584200"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Group 9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044565" y="4324350"/>
          <a:ext cx="5771515" cy="1499235"/>
        </p:xfrm>
        <a:graphic>
          <a:graphicData uri="http://schemas.openxmlformats.org/drawingml/2006/table">
            <a:tbl>
              <a:tblPr/>
              <a:tblGrid>
                <a:gridCol w="1827530"/>
                <a:gridCol w="2616200"/>
                <a:gridCol w="1327785"/>
              </a:tblGrid>
              <a:tr h="622935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前向指针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个字节可用</a:t>
                      </a:r>
                      <a:endParaRPr kumimoji="1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后向指针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8790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分区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大小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分区大小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7510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状态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状态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Line 83"/>
          <p:cNvSpPr>
            <a:spLocks noChangeShapeType="1"/>
          </p:cNvSpPr>
          <p:nvPr/>
        </p:nvSpPr>
        <p:spPr bwMode="auto">
          <a:xfrm>
            <a:off x="7250627" y="3410206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p>
            <a:endParaRPr lang="zh-CN" altLang="en-US"/>
          </a:p>
        </p:txBody>
      </p:sp>
      <p:sp>
        <p:nvSpPr>
          <p:cNvPr id="14" name="Line 84"/>
          <p:cNvSpPr>
            <a:spLocks noChangeShapeType="1"/>
          </p:cNvSpPr>
          <p:nvPr/>
        </p:nvSpPr>
        <p:spPr bwMode="auto">
          <a:xfrm>
            <a:off x="9612827" y="3410206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p>
            <a:endParaRPr lang="zh-CN" altLang="en-US"/>
          </a:p>
        </p:txBody>
      </p:sp>
      <p:sp>
        <p:nvSpPr>
          <p:cNvPr id="15" name="Line 85"/>
          <p:cNvSpPr>
            <a:spLocks noChangeShapeType="1"/>
          </p:cNvSpPr>
          <p:nvPr/>
        </p:nvSpPr>
        <p:spPr bwMode="auto">
          <a:xfrm>
            <a:off x="7403027" y="3638806"/>
            <a:ext cx="10668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p>
            <a:endParaRPr lang="zh-CN" altLang="en-US"/>
          </a:p>
        </p:txBody>
      </p:sp>
      <p:sp>
        <p:nvSpPr>
          <p:cNvPr id="16" name="Line 86"/>
          <p:cNvSpPr>
            <a:spLocks noChangeShapeType="1"/>
          </p:cNvSpPr>
          <p:nvPr/>
        </p:nvSpPr>
        <p:spPr bwMode="auto">
          <a:xfrm>
            <a:off x="9765227" y="3638806"/>
            <a:ext cx="10668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p>
            <a:endParaRPr lang="zh-CN" altLang="en-US"/>
          </a:p>
        </p:txBody>
      </p:sp>
      <p:sp>
        <p:nvSpPr>
          <p:cNvPr id="17" name="Line 87"/>
          <p:cNvSpPr>
            <a:spLocks noChangeShapeType="1"/>
          </p:cNvSpPr>
          <p:nvPr/>
        </p:nvSpPr>
        <p:spPr bwMode="auto">
          <a:xfrm flipV="1">
            <a:off x="7479227" y="3867406"/>
            <a:ext cx="838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p>
            <a:endParaRPr lang="zh-CN" altLang="en-US"/>
          </a:p>
        </p:txBody>
      </p:sp>
      <p:sp>
        <p:nvSpPr>
          <p:cNvPr id="18" name="Line 88"/>
          <p:cNvSpPr>
            <a:spLocks noChangeShapeType="1"/>
          </p:cNvSpPr>
          <p:nvPr/>
        </p:nvSpPr>
        <p:spPr bwMode="auto">
          <a:xfrm>
            <a:off x="9765227" y="3791206"/>
            <a:ext cx="114300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分配算法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iṥlídè"/>
          <p:cNvSpPr/>
          <p:nvPr/>
        </p:nvSpPr>
        <p:spPr>
          <a:xfrm>
            <a:off x="8716010" y="1127760"/>
            <a:ext cx="3475990" cy="5008245"/>
          </a:xfrm>
          <a:prstGeom prst="rect">
            <a:avLst/>
          </a:prstGeom>
          <a:blipFill>
            <a:blip r:embed="rId1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0" name="iṡļiḓe"/>
          <p:cNvGrpSpPr/>
          <p:nvPr/>
        </p:nvGrpSpPr>
        <p:grpSpPr>
          <a:xfrm>
            <a:off x="660400" y="1298467"/>
            <a:ext cx="7035696" cy="4639256"/>
            <a:chOff x="660400" y="1787149"/>
            <a:chExt cx="7035696" cy="4639256"/>
          </a:xfrm>
        </p:grpSpPr>
        <p:grpSp>
          <p:nvGrpSpPr>
            <p:cNvPr id="11" name="iSḻíḓè"/>
            <p:cNvGrpSpPr/>
            <p:nvPr/>
          </p:nvGrpSpPr>
          <p:grpSpPr>
            <a:xfrm>
              <a:off x="1296566" y="1835355"/>
              <a:ext cx="6399530" cy="4591050"/>
              <a:chOff x="1296566" y="1835355"/>
              <a:chExt cx="8071410" cy="4591050"/>
            </a:xfrm>
          </p:grpSpPr>
          <p:sp>
            <p:nvSpPr>
              <p:cNvPr id="15" name="îṧľîḋé"/>
              <p:cNvSpPr txBox="1"/>
              <p:nvPr/>
            </p:nvSpPr>
            <p:spPr>
              <a:xfrm>
                <a:off x="1296567" y="1835355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基于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顺序搜索</a:t>
                </a:r>
                <a:r>
                  <a:rPr lang="zh-CN" altLang="en-US" sz="2400" dirty="0"/>
                  <a:t>的动态分区分配算法</a:t>
                </a:r>
                <a:endParaRPr lang="zh-CN" altLang="en-US" sz="2400" dirty="0"/>
              </a:p>
            </p:txBody>
          </p:sp>
          <p:sp>
            <p:nvSpPr>
              <p:cNvPr id="16" name="íşļîḓé"/>
              <p:cNvSpPr/>
              <p:nvPr/>
            </p:nvSpPr>
            <p:spPr bwMode="auto">
              <a:xfrm>
                <a:off x="1296566" y="2279220"/>
                <a:ext cx="8071410" cy="4147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3200" dirty="0"/>
                  <a:t>首次适应算法</a:t>
                </a:r>
                <a:endParaRPr lang="zh-CN" altLang="en-US" sz="3200" dirty="0"/>
              </a:p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3200" dirty="0"/>
                  <a:t>循环首次适应算法（下次</a:t>
                </a:r>
                <a:r>
                  <a:rPr lang="zh-CN" altLang="en-US" sz="3200" dirty="0"/>
                  <a:t>适应法）</a:t>
                </a:r>
                <a:endParaRPr lang="zh-CN" altLang="en-US" sz="3200" dirty="0"/>
              </a:p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3200" dirty="0"/>
                  <a:t>最佳适应算法</a:t>
                </a:r>
                <a:endParaRPr lang="zh-CN" altLang="en-US" sz="3200" dirty="0"/>
              </a:p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3200" dirty="0"/>
                  <a:t>最坏适应</a:t>
                </a:r>
                <a:r>
                  <a:rPr lang="zh-CN" altLang="en-US" sz="3200" dirty="0" smtClean="0"/>
                  <a:t>算法</a:t>
                </a:r>
                <a:endParaRPr lang="zh-CN" altLang="en-US" sz="3200" dirty="0"/>
              </a:p>
            </p:txBody>
          </p:sp>
        </p:grpSp>
        <p:grpSp>
          <p:nvGrpSpPr>
            <p:cNvPr id="12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13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首次适应算法</a:t>
            </a:r>
            <a:endParaRPr lang="zh-CN" altLang="en-US" sz="2800" b="1" dirty="0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11" name="iSḻíḓè"/>
          <p:cNvGrpSpPr/>
          <p:nvPr/>
        </p:nvGrpSpPr>
        <p:grpSpPr>
          <a:xfrm rot="0">
            <a:off x="415290" y="1282065"/>
            <a:ext cx="11776710" cy="2748280"/>
            <a:chOff x="184925" y="1835355"/>
            <a:chExt cx="14853380" cy="2748280"/>
          </a:xfrm>
        </p:grpSpPr>
        <p:sp>
          <p:nvSpPr>
            <p:cNvPr id="15" name="îṧľîḋé"/>
            <p:cNvSpPr txBox="1"/>
            <p:nvPr/>
          </p:nvSpPr>
          <p:spPr>
            <a:xfrm>
              <a:off x="1296567" y="1835355"/>
              <a:ext cx="6293555" cy="38942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 sz="3200" dirty="0"/>
            </a:p>
          </p:txBody>
        </p:sp>
        <p:sp>
          <p:nvSpPr>
            <p:cNvPr id="16" name="íşļîḓé"/>
            <p:cNvSpPr/>
            <p:nvPr/>
          </p:nvSpPr>
          <p:spPr bwMode="auto">
            <a:xfrm>
              <a:off x="184925" y="2080465"/>
              <a:ext cx="14853380" cy="2503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342900" lvl="1" indent="-342900">
                <a:lnSpc>
                  <a:spcPct val="123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4">
                    <a:lumMod val="40000"/>
                    <a:lumOff val="60000"/>
                  </a:schemeClr>
                </a:buClr>
                <a:buFont typeface="Wingdings" panose="05000000000000000000" pitchFamily="2" charset="2"/>
                <a:buChar char="Ø"/>
              </a:pPr>
              <a:r>
                <a:rPr lang="zh-CN" altLang="en-US" sz="2800" dirty="0"/>
                <a:t>空闲分区链以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地址递增</a:t>
              </a:r>
              <a:r>
                <a:rPr lang="zh-CN" altLang="en-US" sz="2800" dirty="0"/>
                <a:t>的次序链接</a:t>
              </a:r>
              <a:endParaRPr lang="zh-CN" altLang="en-US" sz="2800" dirty="0"/>
            </a:p>
            <a:p>
              <a:pPr marL="342900" lvl="1" indent="-342900">
                <a:lnSpc>
                  <a:spcPct val="123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4">
                    <a:lumMod val="40000"/>
                    <a:lumOff val="60000"/>
                  </a:schemeClr>
                </a:buClr>
                <a:buFont typeface="Wingdings" panose="05000000000000000000" pitchFamily="2" charset="2"/>
                <a:buChar char="Ø"/>
              </a:pPr>
              <a:r>
                <a:rPr lang="zh-CN" altLang="en-US" sz="2800" dirty="0"/>
                <a:t>从链首开始顺序查找，直到找到一个大小能满足要求的空闲分区为止</a:t>
              </a:r>
              <a:endParaRPr lang="zh-CN" altLang="en-US" sz="2800" dirty="0"/>
            </a:p>
            <a:p>
              <a:pPr marL="342900" lvl="1" indent="-342900">
                <a:lnSpc>
                  <a:spcPct val="123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4">
                    <a:lumMod val="40000"/>
                    <a:lumOff val="60000"/>
                  </a:schemeClr>
                </a:buClr>
                <a:buFont typeface="Wingdings" panose="05000000000000000000" pitchFamily="2" charset="2"/>
                <a:buChar char="Ø"/>
              </a:pPr>
              <a:r>
                <a:rPr lang="zh-CN" altLang="en-US" sz="2800" dirty="0"/>
                <a:t>优点：通常是最好和最快</a:t>
              </a:r>
              <a:r>
                <a:rPr lang="zh-CN" altLang="en-US" sz="2800" dirty="0"/>
                <a:t>的，保留了高址空间的大连续空间，利于后续大程序装入</a:t>
              </a:r>
              <a:endParaRPr lang="zh-CN" altLang="en-US" sz="2800" dirty="0"/>
            </a:p>
            <a:p>
              <a:pPr marL="342900" lvl="1" indent="-342900">
                <a:lnSpc>
                  <a:spcPct val="123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4">
                    <a:lumMod val="40000"/>
                    <a:lumOff val="60000"/>
                  </a:schemeClr>
                </a:buClr>
                <a:buFont typeface="Wingdings" panose="05000000000000000000" pitchFamily="2" charset="2"/>
                <a:buChar char="Ø"/>
              </a:pPr>
              <a:r>
                <a:rPr lang="zh-CN" altLang="en-US" sz="2800" dirty="0"/>
                <a:t>缺点：低址部分留下许多小碎片，每次都从低地址开始，查找开销大。</a:t>
              </a:r>
              <a:endParaRPr lang="zh-CN" altLang="en-US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循环首次适应算法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（下次适应法）</a:t>
            </a:r>
            <a:endParaRPr lang="zh-CN" altLang="en-US" sz="28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íşľíḑè"/>
          <p:cNvSpPr/>
          <p:nvPr/>
        </p:nvSpPr>
        <p:spPr bwMode="auto">
          <a:xfrm>
            <a:off x="782320" y="1720850"/>
            <a:ext cx="1030732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342900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</a:rPr>
              <a:t>从上次找到的空闲分区的</a:t>
            </a:r>
            <a:r>
              <a:rPr lang="zh-CN" altLang="en-US" sz="2800" b="1" dirty="0">
                <a:solidFill>
                  <a:srgbClr val="FF0000"/>
                </a:solidFill>
              </a:rPr>
              <a:t>下一个空闲</a:t>
            </a:r>
            <a:r>
              <a:rPr lang="zh-CN" altLang="en-US" sz="2800" dirty="0">
                <a:solidFill>
                  <a:schemeClr val="tx1"/>
                </a:solidFill>
              </a:rPr>
              <a:t>分区开始查找</a:t>
            </a:r>
            <a:r>
              <a:rPr lang="zh-CN" altLang="en-US" sz="2800" dirty="0"/>
              <a:t>，直到找到一个能满足要求的空闲分区</a:t>
            </a:r>
            <a:endParaRPr lang="zh-CN" altLang="en-US" sz="2800" dirty="0"/>
          </a:p>
          <a:p>
            <a:pPr marL="342900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800" dirty="0"/>
              <a:t>空闲分区分布更均匀，减少了查找的开销</a:t>
            </a:r>
            <a:endParaRPr lang="zh-CN" altLang="en-US" sz="2800" dirty="0"/>
          </a:p>
          <a:p>
            <a:pPr marL="342900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800" dirty="0"/>
              <a:t>容易导致内存尾部分裂成小碎片，缺乏大的空闲分区，通常比首次适应算法</a:t>
            </a:r>
            <a:r>
              <a:rPr lang="zh-CN" altLang="en-US" sz="2800" dirty="0"/>
              <a:t>要差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最佳适应算法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7" name="îslîďê"/>
          <p:cNvSpPr/>
          <p:nvPr/>
        </p:nvSpPr>
        <p:spPr>
          <a:xfrm>
            <a:off x="4182745" y="1983105"/>
            <a:ext cx="408305" cy="363855"/>
          </a:xfrm>
          <a:custGeom>
            <a:avLst/>
            <a:gdLst>
              <a:gd name="connsiteX0" fmla="*/ 514822 w 607336"/>
              <a:gd name="connsiteY0" fmla="*/ 287718 h 541236"/>
              <a:gd name="connsiteX1" fmla="*/ 501327 w 607336"/>
              <a:gd name="connsiteY1" fmla="*/ 301190 h 541236"/>
              <a:gd name="connsiteX2" fmla="*/ 501327 w 607336"/>
              <a:gd name="connsiteY2" fmla="*/ 357185 h 541236"/>
              <a:gd name="connsiteX3" fmla="*/ 514822 w 607336"/>
              <a:gd name="connsiteY3" fmla="*/ 370656 h 541236"/>
              <a:gd name="connsiteX4" fmla="*/ 528317 w 607336"/>
              <a:gd name="connsiteY4" fmla="*/ 357185 h 541236"/>
              <a:gd name="connsiteX5" fmla="*/ 528317 w 607336"/>
              <a:gd name="connsiteY5" fmla="*/ 301190 h 541236"/>
              <a:gd name="connsiteX6" fmla="*/ 514822 w 607336"/>
              <a:gd name="connsiteY6" fmla="*/ 287718 h 541236"/>
              <a:gd name="connsiteX7" fmla="*/ 513884 w 607336"/>
              <a:gd name="connsiteY7" fmla="*/ 257846 h 541236"/>
              <a:gd name="connsiteX8" fmla="*/ 524093 w 607336"/>
              <a:gd name="connsiteY8" fmla="*/ 258315 h 541236"/>
              <a:gd name="connsiteX9" fmla="*/ 591098 w 607336"/>
              <a:gd name="connsiteY9" fmla="*/ 286664 h 541236"/>
              <a:gd name="connsiteX10" fmla="*/ 596496 w 607336"/>
              <a:gd name="connsiteY10" fmla="*/ 294630 h 541236"/>
              <a:gd name="connsiteX11" fmla="*/ 605297 w 607336"/>
              <a:gd name="connsiteY11" fmla="*/ 403457 h 541236"/>
              <a:gd name="connsiteX12" fmla="*/ 581123 w 607336"/>
              <a:gd name="connsiteY12" fmla="*/ 508770 h 541236"/>
              <a:gd name="connsiteX13" fmla="*/ 575725 w 607336"/>
              <a:gd name="connsiteY13" fmla="*/ 516736 h 541236"/>
              <a:gd name="connsiteX14" fmla="*/ 514822 w 607336"/>
              <a:gd name="connsiteY14" fmla="*/ 536650 h 541236"/>
              <a:gd name="connsiteX15" fmla="*/ 453919 w 607336"/>
              <a:gd name="connsiteY15" fmla="*/ 516736 h 541236"/>
              <a:gd name="connsiteX16" fmla="*/ 448521 w 607336"/>
              <a:gd name="connsiteY16" fmla="*/ 508770 h 541236"/>
              <a:gd name="connsiteX17" fmla="*/ 424348 w 607336"/>
              <a:gd name="connsiteY17" fmla="*/ 403457 h 541236"/>
              <a:gd name="connsiteX18" fmla="*/ 433149 w 607336"/>
              <a:gd name="connsiteY18" fmla="*/ 294630 h 541236"/>
              <a:gd name="connsiteX19" fmla="*/ 438547 w 607336"/>
              <a:gd name="connsiteY19" fmla="*/ 286664 h 541236"/>
              <a:gd name="connsiteX20" fmla="*/ 502970 w 607336"/>
              <a:gd name="connsiteY20" fmla="*/ 258315 h 541236"/>
              <a:gd name="connsiteX21" fmla="*/ 513884 w 607336"/>
              <a:gd name="connsiteY21" fmla="*/ 257846 h 541236"/>
              <a:gd name="connsiteX22" fmla="*/ 23466 w 607336"/>
              <a:gd name="connsiteY22" fmla="*/ 0 h 541236"/>
              <a:gd name="connsiteX23" fmla="*/ 555312 w 607336"/>
              <a:gd name="connsiteY23" fmla="*/ 0 h 541236"/>
              <a:gd name="connsiteX24" fmla="*/ 578778 w 607336"/>
              <a:gd name="connsiteY24" fmla="*/ 23430 h 541236"/>
              <a:gd name="connsiteX25" fmla="*/ 578778 w 607336"/>
              <a:gd name="connsiteY25" fmla="*/ 253163 h 541236"/>
              <a:gd name="connsiteX26" fmla="*/ 531847 w 607336"/>
              <a:gd name="connsiteY26" fmla="*/ 239339 h 541236"/>
              <a:gd name="connsiteX27" fmla="*/ 531847 w 607336"/>
              <a:gd name="connsiteY27" fmla="*/ 46861 h 541236"/>
              <a:gd name="connsiteX28" fmla="*/ 46931 w 607336"/>
              <a:gd name="connsiteY28" fmla="*/ 46861 h 541236"/>
              <a:gd name="connsiteX29" fmla="*/ 46931 w 607336"/>
              <a:gd name="connsiteY29" fmla="*/ 346766 h 541236"/>
              <a:gd name="connsiteX30" fmla="*/ 404898 w 607336"/>
              <a:gd name="connsiteY30" fmla="*/ 346766 h 541236"/>
              <a:gd name="connsiteX31" fmla="*/ 405837 w 607336"/>
              <a:gd name="connsiteY31" fmla="*/ 410730 h 541236"/>
              <a:gd name="connsiteX32" fmla="*/ 409005 w 607336"/>
              <a:gd name="connsiteY32" fmla="*/ 432638 h 541236"/>
              <a:gd name="connsiteX33" fmla="*/ 368175 w 607336"/>
              <a:gd name="connsiteY33" fmla="*/ 432638 h 541236"/>
              <a:gd name="connsiteX34" fmla="*/ 388120 w 607336"/>
              <a:gd name="connsiteY34" fmla="*/ 500585 h 541236"/>
              <a:gd name="connsiteX35" fmla="*/ 412407 w 607336"/>
              <a:gd name="connsiteY35" fmla="*/ 500585 h 541236"/>
              <a:gd name="connsiteX36" fmla="*/ 423553 w 607336"/>
              <a:gd name="connsiteY36" fmla="*/ 511714 h 541236"/>
              <a:gd name="connsiteX37" fmla="*/ 423553 w 607336"/>
              <a:gd name="connsiteY37" fmla="*/ 530107 h 541236"/>
              <a:gd name="connsiteX38" fmla="*/ 412407 w 607336"/>
              <a:gd name="connsiteY38" fmla="*/ 541236 h 541236"/>
              <a:gd name="connsiteX39" fmla="*/ 166371 w 607336"/>
              <a:gd name="connsiteY39" fmla="*/ 541236 h 541236"/>
              <a:gd name="connsiteX40" fmla="*/ 155225 w 607336"/>
              <a:gd name="connsiteY40" fmla="*/ 530107 h 541236"/>
              <a:gd name="connsiteX41" fmla="*/ 155225 w 607336"/>
              <a:gd name="connsiteY41" fmla="*/ 511714 h 541236"/>
              <a:gd name="connsiteX42" fmla="*/ 166371 w 607336"/>
              <a:gd name="connsiteY42" fmla="*/ 500585 h 541236"/>
              <a:gd name="connsiteX43" fmla="*/ 190658 w 607336"/>
              <a:gd name="connsiteY43" fmla="*/ 500585 h 541236"/>
              <a:gd name="connsiteX44" fmla="*/ 210721 w 607336"/>
              <a:gd name="connsiteY44" fmla="*/ 432638 h 541236"/>
              <a:gd name="connsiteX45" fmla="*/ 23466 w 607336"/>
              <a:gd name="connsiteY45" fmla="*/ 432638 h 541236"/>
              <a:gd name="connsiteX46" fmla="*/ 0 w 607336"/>
              <a:gd name="connsiteY46" fmla="*/ 409207 h 541236"/>
              <a:gd name="connsiteX47" fmla="*/ 0 w 607336"/>
              <a:gd name="connsiteY47" fmla="*/ 23430 h 541236"/>
              <a:gd name="connsiteX48" fmla="*/ 23466 w 607336"/>
              <a:gd name="connsiteY48" fmla="*/ 0 h 541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07336" h="541236">
                <a:moveTo>
                  <a:pt x="514822" y="287718"/>
                </a:moveTo>
                <a:cubicBezTo>
                  <a:pt x="507429" y="287718"/>
                  <a:pt x="501327" y="293810"/>
                  <a:pt x="501327" y="301190"/>
                </a:cubicBezTo>
                <a:lnTo>
                  <a:pt x="501327" y="357185"/>
                </a:lnTo>
                <a:cubicBezTo>
                  <a:pt x="501327" y="364682"/>
                  <a:pt x="507429" y="370656"/>
                  <a:pt x="514822" y="370656"/>
                </a:cubicBezTo>
                <a:cubicBezTo>
                  <a:pt x="522215" y="370656"/>
                  <a:pt x="528317" y="364682"/>
                  <a:pt x="528317" y="357185"/>
                </a:cubicBezTo>
                <a:lnTo>
                  <a:pt x="528317" y="301190"/>
                </a:lnTo>
                <a:cubicBezTo>
                  <a:pt x="528317" y="293810"/>
                  <a:pt x="522215" y="287718"/>
                  <a:pt x="514822" y="287718"/>
                </a:cubicBezTo>
                <a:close/>
                <a:moveTo>
                  <a:pt x="513884" y="257846"/>
                </a:moveTo>
                <a:cubicBezTo>
                  <a:pt x="521042" y="257846"/>
                  <a:pt x="524093" y="258315"/>
                  <a:pt x="524093" y="258315"/>
                </a:cubicBezTo>
                <a:cubicBezTo>
                  <a:pt x="546506" y="260423"/>
                  <a:pt x="569037" y="269795"/>
                  <a:pt x="591098" y="286664"/>
                </a:cubicBezTo>
                <a:cubicBezTo>
                  <a:pt x="593679" y="288655"/>
                  <a:pt x="595557" y="291467"/>
                  <a:pt x="596496" y="294630"/>
                </a:cubicBezTo>
                <a:cubicBezTo>
                  <a:pt x="606940" y="330710"/>
                  <a:pt x="609756" y="365268"/>
                  <a:pt x="605297" y="403457"/>
                </a:cubicBezTo>
                <a:cubicBezTo>
                  <a:pt x="601307" y="437312"/>
                  <a:pt x="592037" y="471166"/>
                  <a:pt x="581123" y="508770"/>
                </a:cubicBezTo>
                <a:cubicBezTo>
                  <a:pt x="580185" y="511933"/>
                  <a:pt x="578307" y="514744"/>
                  <a:pt x="575725" y="516736"/>
                </a:cubicBezTo>
                <a:cubicBezTo>
                  <a:pt x="559062" y="529622"/>
                  <a:pt x="537470" y="536650"/>
                  <a:pt x="514822" y="536650"/>
                </a:cubicBezTo>
                <a:cubicBezTo>
                  <a:pt x="492174" y="536650"/>
                  <a:pt x="470583" y="529622"/>
                  <a:pt x="453919" y="516736"/>
                </a:cubicBezTo>
                <a:cubicBezTo>
                  <a:pt x="451338" y="514744"/>
                  <a:pt x="449460" y="511933"/>
                  <a:pt x="448521" y="508770"/>
                </a:cubicBezTo>
                <a:cubicBezTo>
                  <a:pt x="437608" y="471166"/>
                  <a:pt x="428338" y="437312"/>
                  <a:pt x="424348" y="403457"/>
                </a:cubicBezTo>
                <a:cubicBezTo>
                  <a:pt x="420006" y="365268"/>
                  <a:pt x="422705" y="330710"/>
                  <a:pt x="433149" y="294630"/>
                </a:cubicBezTo>
                <a:cubicBezTo>
                  <a:pt x="434088" y="291467"/>
                  <a:pt x="435965" y="288655"/>
                  <a:pt x="438547" y="286664"/>
                </a:cubicBezTo>
                <a:cubicBezTo>
                  <a:pt x="459787" y="270381"/>
                  <a:pt x="481378" y="260892"/>
                  <a:pt x="502970" y="258315"/>
                </a:cubicBezTo>
                <a:cubicBezTo>
                  <a:pt x="502970" y="258315"/>
                  <a:pt x="506725" y="257846"/>
                  <a:pt x="513884" y="257846"/>
                </a:cubicBezTo>
                <a:close/>
                <a:moveTo>
                  <a:pt x="23466" y="0"/>
                </a:moveTo>
                <a:lnTo>
                  <a:pt x="555312" y="0"/>
                </a:lnTo>
                <a:cubicBezTo>
                  <a:pt x="568336" y="0"/>
                  <a:pt x="578778" y="10544"/>
                  <a:pt x="578778" y="23430"/>
                </a:cubicBezTo>
                <a:lnTo>
                  <a:pt x="578778" y="253163"/>
                </a:lnTo>
                <a:cubicBezTo>
                  <a:pt x="563408" y="245548"/>
                  <a:pt x="547686" y="240979"/>
                  <a:pt x="531847" y="239339"/>
                </a:cubicBezTo>
                <a:lnTo>
                  <a:pt x="531847" y="46861"/>
                </a:lnTo>
                <a:lnTo>
                  <a:pt x="46931" y="46861"/>
                </a:lnTo>
                <a:lnTo>
                  <a:pt x="46931" y="346766"/>
                </a:lnTo>
                <a:lnTo>
                  <a:pt x="404898" y="346766"/>
                </a:lnTo>
                <a:cubicBezTo>
                  <a:pt x="402904" y="367502"/>
                  <a:pt x="403256" y="388589"/>
                  <a:pt x="405837" y="410730"/>
                </a:cubicBezTo>
                <a:cubicBezTo>
                  <a:pt x="406658" y="418111"/>
                  <a:pt x="407714" y="425374"/>
                  <a:pt x="409005" y="432638"/>
                </a:cubicBezTo>
                <a:lnTo>
                  <a:pt x="368175" y="432638"/>
                </a:lnTo>
                <a:lnTo>
                  <a:pt x="388120" y="500585"/>
                </a:lnTo>
                <a:lnTo>
                  <a:pt x="412407" y="500585"/>
                </a:lnTo>
                <a:cubicBezTo>
                  <a:pt x="418626" y="500585"/>
                  <a:pt x="423553" y="505622"/>
                  <a:pt x="423553" y="511714"/>
                </a:cubicBezTo>
                <a:lnTo>
                  <a:pt x="423553" y="530107"/>
                </a:lnTo>
                <a:cubicBezTo>
                  <a:pt x="423553" y="536199"/>
                  <a:pt x="418626" y="541236"/>
                  <a:pt x="412407" y="541236"/>
                </a:cubicBezTo>
                <a:lnTo>
                  <a:pt x="166371" y="541236"/>
                </a:lnTo>
                <a:cubicBezTo>
                  <a:pt x="160270" y="541236"/>
                  <a:pt x="155225" y="536199"/>
                  <a:pt x="155225" y="530107"/>
                </a:cubicBezTo>
                <a:lnTo>
                  <a:pt x="155225" y="511714"/>
                </a:lnTo>
                <a:cubicBezTo>
                  <a:pt x="155225" y="505622"/>
                  <a:pt x="160270" y="500585"/>
                  <a:pt x="166371" y="500585"/>
                </a:cubicBezTo>
                <a:lnTo>
                  <a:pt x="190658" y="500585"/>
                </a:lnTo>
                <a:lnTo>
                  <a:pt x="210721" y="432638"/>
                </a:lnTo>
                <a:lnTo>
                  <a:pt x="23466" y="432638"/>
                </a:lnTo>
                <a:cubicBezTo>
                  <a:pt x="10560" y="432638"/>
                  <a:pt x="0" y="422211"/>
                  <a:pt x="0" y="409207"/>
                </a:cubicBezTo>
                <a:lnTo>
                  <a:pt x="0" y="23430"/>
                </a:lnTo>
                <a:cubicBezTo>
                  <a:pt x="0" y="10544"/>
                  <a:pt x="10560" y="0"/>
                  <a:pt x="23466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2" name="ïSḻiḍé"/>
          <p:cNvSpPr txBox="1"/>
          <p:nvPr/>
        </p:nvSpPr>
        <p:spPr>
          <a:xfrm>
            <a:off x="798195" y="705485"/>
            <a:ext cx="10180955" cy="272351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+mj-ea"/>
                <a:ea typeface="+mj-ea"/>
              </a:rPr>
              <a:t>空闲分区按其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容量从小到大</a:t>
            </a:r>
            <a:r>
              <a:rPr lang="zh-CN" altLang="en-US" sz="2800" dirty="0">
                <a:latin typeface="+mj-ea"/>
                <a:ea typeface="+mj-ea"/>
              </a:rPr>
              <a:t>的顺序链接</a:t>
            </a:r>
            <a:endParaRPr lang="zh-CN" altLang="en-US" sz="2800" dirty="0">
              <a:latin typeface="+mj-ea"/>
              <a:ea typeface="+mj-ea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+mj-ea"/>
                <a:ea typeface="+mj-ea"/>
                <a:sym typeface="+mn-ea"/>
              </a:rPr>
              <a:t>搜索整个序列，找到适合条件的</a:t>
            </a:r>
            <a:r>
              <a:rPr lang="zh-CN" altLang="en-US" sz="2800" b="1" dirty="0">
                <a:latin typeface="+mj-ea"/>
                <a:ea typeface="+mj-ea"/>
                <a:sym typeface="+mn-ea"/>
              </a:rPr>
              <a:t>最小的分区</a:t>
            </a:r>
            <a:r>
              <a:rPr lang="zh-CN" altLang="en-US" sz="2800" dirty="0">
                <a:latin typeface="+mj-ea"/>
                <a:ea typeface="+mj-ea"/>
                <a:sym typeface="+mn-ea"/>
              </a:rPr>
              <a:t>进行分配</a:t>
            </a:r>
            <a:endParaRPr lang="zh-CN" altLang="en-US" sz="2800" dirty="0">
              <a:latin typeface="+mj-ea"/>
              <a:ea typeface="+mj-ea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+mj-ea"/>
                <a:ea typeface="+mj-ea"/>
              </a:rPr>
              <a:t>最容易</a:t>
            </a:r>
            <a:r>
              <a:rPr lang="zh-CN" altLang="en-US" sz="2800" dirty="0">
                <a:latin typeface="+mj-ea"/>
                <a:ea typeface="+mj-ea"/>
              </a:rPr>
              <a:t>留下许多难以利用的外部小碎片，其性能通常</a:t>
            </a:r>
            <a:r>
              <a:rPr lang="zh-CN" altLang="en-US" sz="2800" dirty="0">
                <a:latin typeface="+mj-ea"/>
                <a:ea typeface="+mj-ea"/>
              </a:rPr>
              <a:t>很差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05205" y="3728085"/>
            <a:ext cx="1069784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0070C0"/>
                </a:solidFill>
                <a:sym typeface="+mn-ea"/>
              </a:rPr>
              <a:t>实际为了避免产生太多细小的外部碎片，会设定一个阈值，当剩余空间小于阈值时，将直接把连续的内存空间一起分配出去。</a:t>
            </a:r>
            <a:endParaRPr lang="zh-CN" altLang="en-US" sz="2800">
              <a:solidFill>
                <a:srgbClr val="0070C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65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最坏适配算法</a:t>
            </a:r>
            <a:endParaRPr lang="zh-CN" altLang="en-US" sz="28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7" name="îslîďê"/>
          <p:cNvSpPr/>
          <p:nvPr/>
        </p:nvSpPr>
        <p:spPr>
          <a:xfrm>
            <a:off x="4182745" y="1983105"/>
            <a:ext cx="408305" cy="363855"/>
          </a:xfrm>
          <a:custGeom>
            <a:avLst/>
            <a:gdLst>
              <a:gd name="connsiteX0" fmla="*/ 514822 w 607336"/>
              <a:gd name="connsiteY0" fmla="*/ 287718 h 541236"/>
              <a:gd name="connsiteX1" fmla="*/ 501327 w 607336"/>
              <a:gd name="connsiteY1" fmla="*/ 301190 h 541236"/>
              <a:gd name="connsiteX2" fmla="*/ 501327 w 607336"/>
              <a:gd name="connsiteY2" fmla="*/ 357185 h 541236"/>
              <a:gd name="connsiteX3" fmla="*/ 514822 w 607336"/>
              <a:gd name="connsiteY3" fmla="*/ 370656 h 541236"/>
              <a:gd name="connsiteX4" fmla="*/ 528317 w 607336"/>
              <a:gd name="connsiteY4" fmla="*/ 357185 h 541236"/>
              <a:gd name="connsiteX5" fmla="*/ 528317 w 607336"/>
              <a:gd name="connsiteY5" fmla="*/ 301190 h 541236"/>
              <a:gd name="connsiteX6" fmla="*/ 514822 w 607336"/>
              <a:gd name="connsiteY6" fmla="*/ 287718 h 541236"/>
              <a:gd name="connsiteX7" fmla="*/ 513884 w 607336"/>
              <a:gd name="connsiteY7" fmla="*/ 257846 h 541236"/>
              <a:gd name="connsiteX8" fmla="*/ 524093 w 607336"/>
              <a:gd name="connsiteY8" fmla="*/ 258315 h 541236"/>
              <a:gd name="connsiteX9" fmla="*/ 591098 w 607336"/>
              <a:gd name="connsiteY9" fmla="*/ 286664 h 541236"/>
              <a:gd name="connsiteX10" fmla="*/ 596496 w 607336"/>
              <a:gd name="connsiteY10" fmla="*/ 294630 h 541236"/>
              <a:gd name="connsiteX11" fmla="*/ 605297 w 607336"/>
              <a:gd name="connsiteY11" fmla="*/ 403457 h 541236"/>
              <a:gd name="connsiteX12" fmla="*/ 581123 w 607336"/>
              <a:gd name="connsiteY12" fmla="*/ 508770 h 541236"/>
              <a:gd name="connsiteX13" fmla="*/ 575725 w 607336"/>
              <a:gd name="connsiteY13" fmla="*/ 516736 h 541236"/>
              <a:gd name="connsiteX14" fmla="*/ 514822 w 607336"/>
              <a:gd name="connsiteY14" fmla="*/ 536650 h 541236"/>
              <a:gd name="connsiteX15" fmla="*/ 453919 w 607336"/>
              <a:gd name="connsiteY15" fmla="*/ 516736 h 541236"/>
              <a:gd name="connsiteX16" fmla="*/ 448521 w 607336"/>
              <a:gd name="connsiteY16" fmla="*/ 508770 h 541236"/>
              <a:gd name="connsiteX17" fmla="*/ 424348 w 607336"/>
              <a:gd name="connsiteY17" fmla="*/ 403457 h 541236"/>
              <a:gd name="connsiteX18" fmla="*/ 433149 w 607336"/>
              <a:gd name="connsiteY18" fmla="*/ 294630 h 541236"/>
              <a:gd name="connsiteX19" fmla="*/ 438547 w 607336"/>
              <a:gd name="connsiteY19" fmla="*/ 286664 h 541236"/>
              <a:gd name="connsiteX20" fmla="*/ 502970 w 607336"/>
              <a:gd name="connsiteY20" fmla="*/ 258315 h 541236"/>
              <a:gd name="connsiteX21" fmla="*/ 513884 w 607336"/>
              <a:gd name="connsiteY21" fmla="*/ 257846 h 541236"/>
              <a:gd name="connsiteX22" fmla="*/ 23466 w 607336"/>
              <a:gd name="connsiteY22" fmla="*/ 0 h 541236"/>
              <a:gd name="connsiteX23" fmla="*/ 555312 w 607336"/>
              <a:gd name="connsiteY23" fmla="*/ 0 h 541236"/>
              <a:gd name="connsiteX24" fmla="*/ 578778 w 607336"/>
              <a:gd name="connsiteY24" fmla="*/ 23430 h 541236"/>
              <a:gd name="connsiteX25" fmla="*/ 578778 w 607336"/>
              <a:gd name="connsiteY25" fmla="*/ 253163 h 541236"/>
              <a:gd name="connsiteX26" fmla="*/ 531847 w 607336"/>
              <a:gd name="connsiteY26" fmla="*/ 239339 h 541236"/>
              <a:gd name="connsiteX27" fmla="*/ 531847 w 607336"/>
              <a:gd name="connsiteY27" fmla="*/ 46861 h 541236"/>
              <a:gd name="connsiteX28" fmla="*/ 46931 w 607336"/>
              <a:gd name="connsiteY28" fmla="*/ 46861 h 541236"/>
              <a:gd name="connsiteX29" fmla="*/ 46931 w 607336"/>
              <a:gd name="connsiteY29" fmla="*/ 346766 h 541236"/>
              <a:gd name="connsiteX30" fmla="*/ 404898 w 607336"/>
              <a:gd name="connsiteY30" fmla="*/ 346766 h 541236"/>
              <a:gd name="connsiteX31" fmla="*/ 405837 w 607336"/>
              <a:gd name="connsiteY31" fmla="*/ 410730 h 541236"/>
              <a:gd name="connsiteX32" fmla="*/ 409005 w 607336"/>
              <a:gd name="connsiteY32" fmla="*/ 432638 h 541236"/>
              <a:gd name="connsiteX33" fmla="*/ 368175 w 607336"/>
              <a:gd name="connsiteY33" fmla="*/ 432638 h 541236"/>
              <a:gd name="connsiteX34" fmla="*/ 388120 w 607336"/>
              <a:gd name="connsiteY34" fmla="*/ 500585 h 541236"/>
              <a:gd name="connsiteX35" fmla="*/ 412407 w 607336"/>
              <a:gd name="connsiteY35" fmla="*/ 500585 h 541236"/>
              <a:gd name="connsiteX36" fmla="*/ 423553 w 607336"/>
              <a:gd name="connsiteY36" fmla="*/ 511714 h 541236"/>
              <a:gd name="connsiteX37" fmla="*/ 423553 w 607336"/>
              <a:gd name="connsiteY37" fmla="*/ 530107 h 541236"/>
              <a:gd name="connsiteX38" fmla="*/ 412407 w 607336"/>
              <a:gd name="connsiteY38" fmla="*/ 541236 h 541236"/>
              <a:gd name="connsiteX39" fmla="*/ 166371 w 607336"/>
              <a:gd name="connsiteY39" fmla="*/ 541236 h 541236"/>
              <a:gd name="connsiteX40" fmla="*/ 155225 w 607336"/>
              <a:gd name="connsiteY40" fmla="*/ 530107 h 541236"/>
              <a:gd name="connsiteX41" fmla="*/ 155225 w 607336"/>
              <a:gd name="connsiteY41" fmla="*/ 511714 h 541236"/>
              <a:gd name="connsiteX42" fmla="*/ 166371 w 607336"/>
              <a:gd name="connsiteY42" fmla="*/ 500585 h 541236"/>
              <a:gd name="connsiteX43" fmla="*/ 190658 w 607336"/>
              <a:gd name="connsiteY43" fmla="*/ 500585 h 541236"/>
              <a:gd name="connsiteX44" fmla="*/ 210721 w 607336"/>
              <a:gd name="connsiteY44" fmla="*/ 432638 h 541236"/>
              <a:gd name="connsiteX45" fmla="*/ 23466 w 607336"/>
              <a:gd name="connsiteY45" fmla="*/ 432638 h 541236"/>
              <a:gd name="connsiteX46" fmla="*/ 0 w 607336"/>
              <a:gd name="connsiteY46" fmla="*/ 409207 h 541236"/>
              <a:gd name="connsiteX47" fmla="*/ 0 w 607336"/>
              <a:gd name="connsiteY47" fmla="*/ 23430 h 541236"/>
              <a:gd name="connsiteX48" fmla="*/ 23466 w 607336"/>
              <a:gd name="connsiteY48" fmla="*/ 0 h 541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07336" h="541236">
                <a:moveTo>
                  <a:pt x="514822" y="287718"/>
                </a:moveTo>
                <a:cubicBezTo>
                  <a:pt x="507429" y="287718"/>
                  <a:pt x="501327" y="293810"/>
                  <a:pt x="501327" y="301190"/>
                </a:cubicBezTo>
                <a:lnTo>
                  <a:pt x="501327" y="357185"/>
                </a:lnTo>
                <a:cubicBezTo>
                  <a:pt x="501327" y="364682"/>
                  <a:pt x="507429" y="370656"/>
                  <a:pt x="514822" y="370656"/>
                </a:cubicBezTo>
                <a:cubicBezTo>
                  <a:pt x="522215" y="370656"/>
                  <a:pt x="528317" y="364682"/>
                  <a:pt x="528317" y="357185"/>
                </a:cubicBezTo>
                <a:lnTo>
                  <a:pt x="528317" y="301190"/>
                </a:lnTo>
                <a:cubicBezTo>
                  <a:pt x="528317" y="293810"/>
                  <a:pt x="522215" y="287718"/>
                  <a:pt x="514822" y="287718"/>
                </a:cubicBezTo>
                <a:close/>
                <a:moveTo>
                  <a:pt x="513884" y="257846"/>
                </a:moveTo>
                <a:cubicBezTo>
                  <a:pt x="521042" y="257846"/>
                  <a:pt x="524093" y="258315"/>
                  <a:pt x="524093" y="258315"/>
                </a:cubicBezTo>
                <a:cubicBezTo>
                  <a:pt x="546506" y="260423"/>
                  <a:pt x="569037" y="269795"/>
                  <a:pt x="591098" y="286664"/>
                </a:cubicBezTo>
                <a:cubicBezTo>
                  <a:pt x="593679" y="288655"/>
                  <a:pt x="595557" y="291467"/>
                  <a:pt x="596496" y="294630"/>
                </a:cubicBezTo>
                <a:cubicBezTo>
                  <a:pt x="606940" y="330710"/>
                  <a:pt x="609756" y="365268"/>
                  <a:pt x="605297" y="403457"/>
                </a:cubicBezTo>
                <a:cubicBezTo>
                  <a:pt x="601307" y="437312"/>
                  <a:pt x="592037" y="471166"/>
                  <a:pt x="581123" y="508770"/>
                </a:cubicBezTo>
                <a:cubicBezTo>
                  <a:pt x="580185" y="511933"/>
                  <a:pt x="578307" y="514744"/>
                  <a:pt x="575725" y="516736"/>
                </a:cubicBezTo>
                <a:cubicBezTo>
                  <a:pt x="559062" y="529622"/>
                  <a:pt x="537470" y="536650"/>
                  <a:pt x="514822" y="536650"/>
                </a:cubicBezTo>
                <a:cubicBezTo>
                  <a:pt x="492174" y="536650"/>
                  <a:pt x="470583" y="529622"/>
                  <a:pt x="453919" y="516736"/>
                </a:cubicBezTo>
                <a:cubicBezTo>
                  <a:pt x="451338" y="514744"/>
                  <a:pt x="449460" y="511933"/>
                  <a:pt x="448521" y="508770"/>
                </a:cubicBezTo>
                <a:cubicBezTo>
                  <a:pt x="437608" y="471166"/>
                  <a:pt x="428338" y="437312"/>
                  <a:pt x="424348" y="403457"/>
                </a:cubicBezTo>
                <a:cubicBezTo>
                  <a:pt x="420006" y="365268"/>
                  <a:pt x="422705" y="330710"/>
                  <a:pt x="433149" y="294630"/>
                </a:cubicBezTo>
                <a:cubicBezTo>
                  <a:pt x="434088" y="291467"/>
                  <a:pt x="435965" y="288655"/>
                  <a:pt x="438547" y="286664"/>
                </a:cubicBezTo>
                <a:cubicBezTo>
                  <a:pt x="459787" y="270381"/>
                  <a:pt x="481378" y="260892"/>
                  <a:pt x="502970" y="258315"/>
                </a:cubicBezTo>
                <a:cubicBezTo>
                  <a:pt x="502970" y="258315"/>
                  <a:pt x="506725" y="257846"/>
                  <a:pt x="513884" y="257846"/>
                </a:cubicBezTo>
                <a:close/>
                <a:moveTo>
                  <a:pt x="23466" y="0"/>
                </a:moveTo>
                <a:lnTo>
                  <a:pt x="555312" y="0"/>
                </a:lnTo>
                <a:cubicBezTo>
                  <a:pt x="568336" y="0"/>
                  <a:pt x="578778" y="10544"/>
                  <a:pt x="578778" y="23430"/>
                </a:cubicBezTo>
                <a:lnTo>
                  <a:pt x="578778" y="253163"/>
                </a:lnTo>
                <a:cubicBezTo>
                  <a:pt x="563408" y="245548"/>
                  <a:pt x="547686" y="240979"/>
                  <a:pt x="531847" y="239339"/>
                </a:cubicBezTo>
                <a:lnTo>
                  <a:pt x="531847" y="46861"/>
                </a:lnTo>
                <a:lnTo>
                  <a:pt x="46931" y="46861"/>
                </a:lnTo>
                <a:lnTo>
                  <a:pt x="46931" y="346766"/>
                </a:lnTo>
                <a:lnTo>
                  <a:pt x="404898" y="346766"/>
                </a:lnTo>
                <a:cubicBezTo>
                  <a:pt x="402904" y="367502"/>
                  <a:pt x="403256" y="388589"/>
                  <a:pt x="405837" y="410730"/>
                </a:cubicBezTo>
                <a:cubicBezTo>
                  <a:pt x="406658" y="418111"/>
                  <a:pt x="407714" y="425374"/>
                  <a:pt x="409005" y="432638"/>
                </a:cubicBezTo>
                <a:lnTo>
                  <a:pt x="368175" y="432638"/>
                </a:lnTo>
                <a:lnTo>
                  <a:pt x="388120" y="500585"/>
                </a:lnTo>
                <a:lnTo>
                  <a:pt x="412407" y="500585"/>
                </a:lnTo>
                <a:cubicBezTo>
                  <a:pt x="418626" y="500585"/>
                  <a:pt x="423553" y="505622"/>
                  <a:pt x="423553" y="511714"/>
                </a:cubicBezTo>
                <a:lnTo>
                  <a:pt x="423553" y="530107"/>
                </a:lnTo>
                <a:cubicBezTo>
                  <a:pt x="423553" y="536199"/>
                  <a:pt x="418626" y="541236"/>
                  <a:pt x="412407" y="541236"/>
                </a:cubicBezTo>
                <a:lnTo>
                  <a:pt x="166371" y="541236"/>
                </a:lnTo>
                <a:cubicBezTo>
                  <a:pt x="160270" y="541236"/>
                  <a:pt x="155225" y="536199"/>
                  <a:pt x="155225" y="530107"/>
                </a:cubicBezTo>
                <a:lnTo>
                  <a:pt x="155225" y="511714"/>
                </a:lnTo>
                <a:cubicBezTo>
                  <a:pt x="155225" y="505622"/>
                  <a:pt x="160270" y="500585"/>
                  <a:pt x="166371" y="500585"/>
                </a:cubicBezTo>
                <a:lnTo>
                  <a:pt x="190658" y="500585"/>
                </a:lnTo>
                <a:lnTo>
                  <a:pt x="210721" y="432638"/>
                </a:lnTo>
                <a:lnTo>
                  <a:pt x="23466" y="432638"/>
                </a:lnTo>
                <a:cubicBezTo>
                  <a:pt x="10560" y="432638"/>
                  <a:pt x="0" y="422211"/>
                  <a:pt x="0" y="409207"/>
                </a:cubicBezTo>
                <a:lnTo>
                  <a:pt x="0" y="23430"/>
                </a:lnTo>
                <a:cubicBezTo>
                  <a:pt x="0" y="10544"/>
                  <a:pt x="10560" y="0"/>
                  <a:pt x="23466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3" name="íśľïḋé"/>
          <p:cNvSpPr/>
          <p:nvPr/>
        </p:nvSpPr>
        <p:spPr>
          <a:xfrm>
            <a:off x="4182745" y="4017010"/>
            <a:ext cx="408305" cy="363855"/>
          </a:xfrm>
          <a:custGeom>
            <a:avLst/>
            <a:gdLst>
              <a:gd name="connsiteX0" fmla="*/ 514822 w 607336"/>
              <a:gd name="connsiteY0" fmla="*/ 287718 h 541236"/>
              <a:gd name="connsiteX1" fmla="*/ 501327 w 607336"/>
              <a:gd name="connsiteY1" fmla="*/ 301190 h 541236"/>
              <a:gd name="connsiteX2" fmla="*/ 501327 w 607336"/>
              <a:gd name="connsiteY2" fmla="*/ 357185 h 541236"/>
              <a:gd name="connsiteX3" fmla="*/ 514822 w 607336"/>
              <a:gd name="connsiteY3" fmla="*/ 370656 h 541236"/>
              <a:gd name="connsiteX4" fmla="*/ 528317 w 607336"/>
              <a:gd name="connsiteY4" fmla="*/ 357185 h 541236"/>
              <a:gd name="connsiteX5" fmla="*/ 528317 w 607336"/>
              <a:gd name="connsiteY5" fmla="*/ 301190 h 541236"/>
              <a:gd name="connsiteX6" fmla="*/ 514822 w 607336"/>
              <a:gd name="connsiteY6" fmla="*/ 287718 h 541236"/>
              <a:gd name="connsiteX7" fmla="*/ 513884 w 607336"/>
              <a:gd name="connsiteY7" fmla="*/ 257846 h 541236"/>
              <a:gd name="connsiteX8" fmla="*/ 524093 w 607336"/>
              <a:gd name="connsiteY8" fmla="*/ 258315 h 541236"/>
              <a:gd name="connsiteX9" fmla="*/ 591098 w 607336"/>
              <a:gd name="connsiteY9" fmla="*/ 286664 h 541236"/>
              <a:gd name="connsiteX10" fmla="*/ 596496 w 607336"/>
              <a:gd name="connsiteY10" fmla="*/ 294630 h 541236"/>
              <a:gd name="connsiteX11" fmla="*/ 605297 w 607336"/>
              <a:gd name="connsiteY11" fmla="*/ 403457 h 541236"/>
              <a:gd name="connsiteX12" fmla="*/ 581123 w 607336"/>
              <a:gd name="connsiteY12" fmla="*/ 508770 h 541236"/>
              <a:gd name="connsiteX13" fmla="*/ 575725 w 607336"/>
              <a:gd name="connsiteY13" fmla="*/ 516736 h 541236"/>
              <a:gd name="connsiteX14" fmla="*/ 514822 w 607336"/>
              <a:gd name="connsiteY14" fmla="*/ 536650 h 541236"/>
              <a:gd name="connsiteX15" fmla="*/ 453919 w 607336"/>
              <a:gd name="connsiteY15" fmla="*/ 516736 h 541236"/>
              <a:gd name="connsiteX16" fmla="*/ 448521 w 607336"/>
              <a:gd name="connsiteY16" fmla="*/ 508770 h 541236"/>
              <a:gd name="connsiteX17" fmla="*/ 424348 w 607336"/>
              <a:gd name="connsiteY17" fmla="*/ 403457 h 541236"/>
              <a:gd name="connsiteX18" fmla="*/ 433149 w 607336"/>
              <a:gd name="connsiteY18" fmla="*/ 294630 h 541236"/>
              <a:gd name="connsiteX19" fmla="*/ 438547 w 607336"/>
              <a:gd name="connsiteY19" fmla="*/ 286664 h 541236"/>
              <a:gd name="connsiteX20" fmla="*/ 502970 w 607336"/>
              <a:gd name="connsiteY20" fmla="*/ 258315 h 541236"/>
              <a:gd name="connsiteX21" fmla="*/ 513884 w 607336"/>
              <a:gd name="connsiteY21" fmla="*/ 257846 h 541236"/>
              <a:gd name="connsiteX22" fmla="*/ 23466 w 607336"/>
              <a:gd name="connsiteY22" fmla="*/ 0 h 541236"/>
              <a:gd name="connsiteX23" fmla="*/ 555312 w 607336"/>
              <a:gd name="connsiteY23" fmla="*/ 0 h 541236"/>
              <a:gd name="connsiteX24" fmla="*/ 578778 w 607336"/>
              <a:gd name="connsiteY24" fmla="*/ 23430 h 541236"/>
              <a:gd name="connsiteX25" fmla="*/ 578778 w 607336"/>
              <a:gd name="connsiteY25" fmla="*/ 253163 h 541236"/>
              <a:gd name="connsiteX26" fmla="*/ 531847 w 607336"/>
              <a:gd name="connsiteY26" fmla="*/ 239339 h 541236"/>
              <a:gd name="connsiteX27" fmla="*/ 531847 w 607336"/>
              <a:gd name="connsiteY27" fmla="*/ 46861 h 541236"/>
              <a:gd name="connsiteX28" fmla="*/ 46931 w 607336"/>
              <a:gd name="connsiteY28" fmla="*/ 46861 h 541236"/>
              <a:gd name="connsiteX29" fmla="*/ 46931 w 607336"/>
              <a:gd name="connsiteY29" fmla="*/ 346766 h 541236"/>
              <a:gd name="connsiteX30" fmla="*/ 404898 w 607336"/>
              <a:gd name="connsiteY30" fmla="*/ 346766 h 541236"/>
              <a:gd name="connsiteX31" fmla="*/ 405837 w 607336"/>
              <a:gd name="connsiteY31" fmla="*/ 410730 h 541236"/>
              <a:gd name="connsiteX32" fmla="*/ 409005 w 607336"/>
              <a:gd name="connsiteY32" fmla="*/ 432638 h 541236"/>
              <a:gd name="connsiteX33" fmla="*/ 368175 w 607336"/>
              <a:gd name="connsiteY33" fmla="*/ 432638 h 541236"/>
              <a:gd name="connsiteX34" fmla="*/ 388120 w 607336"/>
              <a:gd name="connsiteY34" fmla="*/ 500585 h 541236"/>
              <a:gd name="connsiteX35" fmla="*/ 412407 w 607336"/>
              <a:gd name="connsiteY35" fmla="*/ 500585 h 541236"/>
              <a:gd name="connsiteX36" fmla="*/ 423553 w 607336"/>
              <a:gd name="connsiteY36" fmla="*/ 511714 h 541236"/>
              <a:gd name="connsiteX37" fmla="*/ 423553 w 607336"/>
              <a:gd name="connsiteY37" fmla="*/ 530107 h 541236"/>
              <a:gd name="connsiteX38" fmla="*/ 412407 w 607336"/>
              <a:gd name="connsiteY38" fmla="*/ 541236 h 541236"/>
              <a:gd name="connsiteX39" fmla="*/ 166371 w 607336"/>
              <a:gd name="connsiteY39" fmla="*/ 541236 h 541236"/>
              <a:gd name="connsiteX40" fmla="*/ 155225 w 607336"/>
              <a:gd name="connsiteY40" fmla="*/ 530107 h 541236"/>
              <a:gd name="connsiteX41" fmla="*/ 155225 w 607336"/>
              <a:gd name="connsiteY41" fmla="*/ 511714 h 541236"/>
              <a:gd name="connsiteX42" fmla="*/ 166371 w 607336"/>
              <a:gd name="connsiteY42" fmla="*/ 500585 h 541236"/>
              <a:gd name="connsiteX43" fmla="*/ 190658 w 607336"/>
              <a:gd name="connsiteY43" fmla="*/ 500585 h 541236"/>
              <a:gd name="connsiteX44" fmla="*/ 210721 w 607336"/>
              <a:gd name="connsiteY44" fmla="*/ 432638 h 541236"/>
              <a:gd name="connsiteX45" fmla="*/ 23466 w 607336"/>
              <a:gd name="connsiteY45" fmla="*/ 432638 h 541236"/>
              <a:gd name="connsiteX46" fmla="*/ 0 w 607336"/>
              <a:gd name="connsiteY46" fmla="*/ 409207 h 541236"/>
              <a:gd name="connsiteX47" fmla="*/ 0 w 607336"/>
              <a:gd name="connsiteY47" fmla="*/ 23430 h 541236"/>
              <a:gd name="connsiteX48" fmla="*/ 23466 w 607336"/>
              <a:gd name="connsiteY48" fmla="*/ 0 h 541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07336" h="541236">
                <a:moveTo>
                  <a:pt x="514822" y="287718"/>
                </a:moveTo>
                <a:cubicBezTo>
                  <a:pt x="507429" y="287718"/>
                  <a:pt x="501327" y="293810"/>
                  <a:pt x="501327" y="301190"/>
                </a:cubicBezTo>
                <a:lnTo>
                  <a:pt x="501327" y="357185"/>
                </a:lnTo>
                <a:cubicBezTo>
                  <a:pt x="501327" y="364682"/>
                  <a:pt x="507429" y="370656"/>
                  <a:pt x="514822" y="370656"/>
                </a:cubicBezTo>
                <a:cubicBezTo>
                  <a:pt x="522215" y="370656"/>
                  <a:pt x="528317" y="364682"/>
                  <a:pt x="528317" y="357185"/>
                </a:cubicBezTo>
                <a:lnTo>
                  <a:pt x="528317" y="301190"/>
                </a:lnTo>
                <a:cubicBezTo>
                  <a:pt x="528317" y="293810"/>
                  <a:pt x="522215" y="287718"/>
                  <a:pt x="514822" y="287718"/>
                </a:cubicBezTo>
                <a:close/>
                <a:moveTo>
                  <a:pt x="513884" y="257846"/>
                </a:moveTo>
                <a:cubicBezTo>
                  <a:pt x="521042" y="257846"/>
                  <a:pt x="524093" y="258315"/>
                  <a:pt x="524093" y="258315"/>
                </a:cubicBezTo>
                <a:cubicBezTo>
                  <a:pt x="546506" y="260423"/>
                  <a:pt x="569037" y="269795"/>
                  <a:pt x="591098" y="286664"/>
                </a:cubicBezTo>
                <a:cubicBezTo>
                  <a:pt x="593679" y="288655"/>
                  <a:pt x="595557" y="291467"/>
                  <a:pt x="596496" y="294630"/>
                </a:cubicBezTo>
                <a:cubicBezTo>
                  <a:pt x="606940" y="330710"/>
                  <a:pt x="609756" y="365268"/>
                  <a:pt x="605297" y="403457"/>
                </a:cubicBezTo>
                <a:cubicBezTo>
                  <a:pt x="601307" y="437312"/>
                  <a:pt x="592037" y="471166"/>
                  <a:pt x="581123" y="508770"/>
                </a:cubicBezTo>
                <a:cubicBezTo>
                  <a:pt x="580185" y="511933"/>
                  <a:pt x="578307" y="514744"/>
                  <a:pt x="575725" y="516736"/>
                </a:cubicBezTo>
                <a:cubicBezTo>
                  <a:pt x="559062" y="529622"/>
                  <a:pt x="537470" y="536650"/>
                  <a:pt x="514822" y="536650"/>
                </a:cubicBezTo>
                <a:cubicBezTo>
                  <a:pt x="492174" y="536650"/>
                  <a:pt x="470583" y="529622"/>
                  <a:pt x="453919" y="516736"/>
                </a:cubicBezTo>
                <a:cubicBezTo>
                  <a:pt x="451338" y="514744"/>
                  <a:pt x="449460" y="511933"/>
                  <a:pt x="448521" y="508770"/>
                </a:cubicBezTo>
                <a:cubicBezTo>
                  <a:pt x="437608" y="471166"/>
                  <a:pt x="428338" y="437312"/>
                  <a:pt x="424348" y="403457"/>
                </a:cubicBezTo>
                <a:cubicBezTo>
                  <a:pt x="420006" y="365268"/>
                  <a:pt x="422705" y="330710"/>
                  <a:pt x="433149" y="294630"/>
                </a:cubicBezTo>
                <a:cubicBezTo>
                  <a:pt x="434088" y="291467"/>
                  <a:pt x="435965" y="288655"/>
                  <a:pt x="438547" y="286664"/>
                </a:cubicBezTo>
                <a:cubicBezTo>
                  <a:pt x="459787" y="270381"/>
                  <a:pt x="481378" y="260892"/>
                  <a:pt x="502970" y="258315"/>
                </a:cubicBezTo>
                <a:cubicBezTo>
                  <a:pt x="502970" y="258315"/>
                  <a:pt x="506725" y="257846"/>
                  <a:pt x="513884" y="257846"/>
                </a:cubicBezTo>
                <a:close/>
                <a:moveTo>
                  <a:pt x="23466" y="0"/>
                </a:moveTo>
                <a:lnTo>
                  <a:pt x="555312" y="0"/>
                </a:lnTo>
                <a:cubicBezTo>
                  <a:pt x="568336" y="0"/>
                  <a:pt x="578778" y="10544"/>
                  <a:pt x="578778" y="23430"/>
                </a:cubicBezTo>
                <a:lnTo>
                  <a:pt x="578778" y="253163"/>
                </a:lnTo>
                <a:cubicBezTo>
                  <a:pt x="563408" y="245548"/>
                  <a:pt x="547686" y="240979"/>
                  <a:pt x="531847" y="239339"/>
                </a:cubicBezTo>
                <a:lnTo>
                  <a:pt x="531847" y="46861"/>
                </a:lnTo>
                <a:lnTo>
                  <a:pt x="46931" y="46861"/>
                </a:lnTo>
                <a:lnTo>
                  <a:pt x="46931" y="346766"/>
                </a:lnTo>
                <a:lnTo>
                  <a:pt x="404898" y="346766"/>
                </a:lnTo>
                <a:cubicBezTo>
                  <a:pt x="402904" y="367502"/>
                  <a:pt x="403256" y="388589"/>
                  <a:pt x="405837" y="410730"/>
                </a:cubicBezTo>
                <a:cubicBezTo>
                  <a:pt x="406658" y="418111"/>
                  <a:pt x="407714" y="425374"/>
                  <a:pt x="409005" y="432638"/>
                </a:cubicBezTo>
                <a:lnTo>
                  <a:pt x="368175" y="432638"/>
                </a:lnTo>
                <a:lnTo>
                  <a:pt x="388120" y="500585"/>
                </a:lnTo>
                <a:lnTo>
                  <a:pt x="412407" y="500585"/>
                </a:lnTo>
                <a:cubicBezTo>
                  <a:pt x="418626" y="500585"/>
                  <a:pt x="423553" y="505622"/>
                  <a:pt x="423553" y="511714"/>
                </a:cubicBezTo>
                <a:lnTo>
                  <a:pt x="423553" y="530107"/>
                </a:lnTo>
                <a:cubicBezTo>
                  <a:pt x="423553" y="536199"/>
                  <a:pt x="418626" y="541236"/>
                  <a:pt x="412407" y="541236"/>
                </a:cubicBezTo>
                <a:lnTo>
                  <a:pt x="166371" y="541236"/>
                </a:lnTo>
                <a:cubicBezTo>
                  <a:pt x="160270" y="541236"/>
                  <a:pt x="155225" y="536199"/>
                  <a:pt x="155225" y="530107"/>
                </a:cubicBezTo>
                <a:lnTo>
                  <a:pt x="155225" y="511714"/>
                </a:lnTo>
                <a:cubicBezTo>
                  <a:pt x="155225" y="505622"/>
                  <a:pt x="160270" y="500585"/>
                  <a:pt x="166371" y="500585"/>
                </a:cubicBezTo>
                <a:lnTo>
                  <a:pt x="190658" y="500585"/>
                </a:lnTo>
                <a:lnTo>
                  <a:pt x="210721" y="432638"/>
                </a:lnTo>
                <a:lnTo>
                  <a:pt x="23466" y="432638"/>
                </a:lnTo>
                <a:cubicBezTo>
                  <a:pt x="10560" y="432638"/>
                  <a:pt x="0" y="422211"/>
                  <a:pt x="0" y="409207"/>
                </a:cubicBezTo>
                <a:lnTo>
                  <a:pt x="0" y="23430"/>
                </a:lnTo>
                <a:cubicBezTo>
                  <a:pt x="0" y="10544"/>
                  <a:pt x="10560" y="0"/>
                  <a:pt x="23466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îŝľîḓè"/>
          <p:cNvSpPr txBox="1"/>
          <p:nvPr/>
        </p:nvSpPr>
        <p:spPr>
          <a:xfrm>
            <a:off x="718820" y="1491615"/>
            <a:ext cx="10557510" cy="252539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+mn-ea"/>
              </a:rPr>
              <a:t>空闲分区按其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容量从大到小</a:t>
            </a:r>
            <a:r>
              <a:rPr lang="zh-CN" altLang="en-US" sz="2800" dirty="0">
                <a:sym typeface="+mn-ea"/>
              </a:rPr>
              <a:t>的顺序链接</a:t>
            </a:r>
            <a:endParaRPr lang="zh-CN" altLang="en-US" sz="28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/>
              <a:t>搜索整个序列，寻找</a:t>
            </a:r>
            <a:r>
              <a:rPr lang="zh-CN" altLang="en-US" sz="2800" b="1" dirty="0"/>
              <a:t>最大的分区</a:t>
            </a:r>
            <a:r>
              <a:rPr lang="zh-CN" altLang="en-US" sz="2800" dirty="0"/>
              <a:t>进行分配</a:t>
            </a:r>
            <a:endParaRPr lang="zh-CN" altLang="en-US" sz="28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/>
              <a:t>可以减少外部碎片的产生，但缺乏大的空闲分区，性能</a:t>
            </a:r>
            <a:r>
              <a:rPr lang="zh-CN" altLang="en-US" sz="2800" dirty="0"/>
              <a:t>也很差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65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算法</a:t>
            </a:r>
            <a:r>
              <a:rPr lang="zh-CN" altLang="en-US" sz="2800" b="1" dirty="0">
                <a:solidFill>
                  <a:schemeClr val="bg1"/>
                </a:solidFill>
                <a:sym typeface="+mn-ea"/>
              </a:rPr>
              <a:t>总结</a:t>
            </a:r>
            <a:endParaRPr lang="zh-CN" altLang="en-US" sz="28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7" name="îslîďê"/>
          <p:cNvSpPr/>
          <p:nvPr/>
        </p:nvSpPr>
        <p:spPr>
          <a:xfrm>
            <a:off x="4182745" y="1983105"/>
            <a:ext cx="408305" cy="363855"/>
          </a:xfrm>
          <a:custGeom>
            <a:avLst/>
            <a:gdLst>
              <a:gd name="connsiteX0" fmla="*/ 514822 w 607336"/>
              <a:gd name="connsiteY0" fmla="*/ 287718 h 541236"/>
              <a:gd name="connsiteX1" fmla="*/ 501327 w 607336"/>
              <a:gd name="connsiteY1" fmla="*/ 301190 h 541236"/>
              <a:gd name="connsiteX2" fmla="*/ 501327 w 607336"/>
              <a:gd name="connsiteY2" fmla="*/ 357185 h 541236"/>
              <a:gd name="connsiteX3" fmla="*/ 514822 w 607336"/>
              <a:gd name="connsiteY3" fmla="*/ 370656 h 541236"/>
              <a:gd name="connsiteX4" fmla="*/ 528317 w 607336"/>
              <a:gd name="connsiteY4" fmla="*/ 357185 h 541236"/>
              <a:gd name="connsiteX5" fmla="*/ 528317 w 607336"/>
              <a:gd name="connsiteY5" fmla="*/ 301190 h 541236"/>
              <a:gd name="connsiteX6" fmla="*/ 514822 w 607336"/>
              <a:gd name="connsiteY6" fmla="*/ 287718 h 541236"/>
              <a:gd name="connsiteX7" fmla="*/ 513884 w 607336"/>
              <a:gd name="connsiteY7" fmla="*/ 257846 h 541236"/>
              <a:gd name="connsiteX8" fmla="*/ 524093 w 607336"/>
              <a:gd name="connsiteY8" fmla="*/ 258315 h 541236"/>
              <a:gd name="connsiteX9" fmla="*/ 591098 w 607336"/>
              <a:gd name="connsiteY9" fmla="*/ 286664 h 541236"/>
              <a:gd name="connsiteX10" fmla="*/ 596496 w 607336"/>
              <a:gd name="connsiteY10" fmla="*/ 294630 h 541236"/>
              <a:gd name="connsiteX11" fmla="*/ 605297 w 607336"/>
              <a:gd name="connsiteY11" fmla="*/ 403457 h 541236"/>
              <a:gd name="connsiteX12" fmla="*/ 581123 w 607336"/>
              <a:gd name="connsiteY12" fmla="*/ 508770 h 541236"/>
              <a:gd name="connsiteX13" fmla="*/ 575725 w 607336"/>
              <a:gd name="connsiteY13" fmla="*/ 516736 h 541236"/>
              <a:gd name="connsiteX14" fmla="*/ 514822 w 607336"/>
              <a:gd name="connsiteY14" fmla="*/ 536650 h 541236"/>
              <a:gd name="connsiteX15" fmla="*/ 453919 w 607336"/>
              <a:gd name="connsiteY15" fmla="*/ 516736 h 541236"/>
              <a:gd name="connsiteX16" fmla="*/ 448521 w 607336"/>
              <a:gd name="connsiteY16" fmla="*/ 508770 h 541236"/>
              <a:gd name="connsiteX17" fmla="*/ 424348 w 607336"/>
              <a:gd name="connsiteY17" fmla="*/ 403457 h 541236"/>
              <a:gd name="connsiteX18" fmla="*/ 433149 w 607336"/>
              <a:gd name="connsiteY18" fmla="*/ 294630 h 541236"/>
              <a:gd name="connsiteX19" fmla="*/ 438547 w 607336"/>
              <a:gd name="connsiteY19" fmla="*/ 286664 h 541236"/>
              <a:gd name="connsiteX20" fmla="*/ 502970 w 607336"/>
              <a:gd name="connsiteY20" fmla="*/ 258315 h 541236"/>
              <a:gd name="connsiteX21" fmla="*/ 513884 w 607336"/>
              <a:gd name="connsiteY21" fmla="*/ 257846 h 541236"/>
              <a:gd name="connsiteX22" fmla="*/ 23466 w 607336"/>
              <a:gd name="connsiteY22" fmla="*/ 0 h 541236"/>
              <a:gd name="connsiteX23" fmla="*/ 555312 w 607336"/>
              <a:gd name="connsiteY23" fmla="*/ 0 h 541236"/>
              <a:gd name="connsiteX24" fmla="*/ 578778 w 607336"/>
              <a:gd name="connsiteY24" fmla="*/ 23430 h 541236"/>
              <a:gd name="connsiteX25" fmla="*/ 578778 w 607336"/>
              <a:gd name="connsiteY25" fmla="*/ 253163 h 541236"/>
              <a:gd name="connsiteX26" fmla="*/ 531847 w 607336"/>
              <a:gd name="connsiteY26" fmla="*/ 239339 h 541236"/>
              <a:gd name="connsiteX27" fmla="*/ 531847 w 607336"/>
              <a:gd name="connsiteY27" fmla="*/ 46861 h 541236"/>
              <a:gd name="connsiteX28" fmla="*/ 46931 w 607336"/>
              <a:gd name="connsiteY28" fmla="*/ 46861 h 541236"/>
              <a:gd name="connsiteX29" fmla="*/ 46931 w 607336"/>
              <a:gd name="connsiteY29" fmla="*/ 346766 h 541236"/>
              <a:gd name="connsiteX30" fmla="*/ 404898 w 607336"/>
              <a:gd name="connsiteY30" fmla="*/ 346766 h 541236"/>
              <a:gd name="connsiteX31" fmla="*/ 405837 w 607336"/>
              <a:gd name="connsiteY31" fmla="*/ 410730 h 541236"/>
              <a:gd name="connsiteX32" fmla="*/ 409005 w 607336"/>
              <a:gd name="connsiteY32" fmla="*/ 432638 h 541236"/>
              <a:gd name="connsiteX33" fmla="*/ 368175 w 607336"/>
              <a:gd name="connsiteY33" fmla="*/ 432638 h 541236"/>
              <a:gd name="connsiteX34" fmla="*/ 388120 w 607336"/>
              <a:gd name="connsiteY34" fmla="*/ 500585 h 541236"/>
              <a:gd name="connsiteX35" fmla="*/ 412407 w 607336"/>
              <a:gd name="connsiteY35" fmla="*/ 500585 h 541236"/>
              <a:gd name="connsiteX36" fmla="*/ 423553 w 607336"/>
              <a:gd name="connsiteY36" fmla="*/ 511714 h 541236"/>
              <a:gd name="connsiteX37" fmla="*/ 423553 w 607336"/>
              <a:gd name="connsiteY37" fmla="*/ 530107 h 541236"/>
              <a:gd name="connsiteX38" fmla="*/ 412407 w 607336"/>
              <a:gd name="connsiteY38" fmla="*/ 541236 h 541236"/>
              <a:gd name="connsiteX39" fmla="*/ 166371 w 607336"/>
              <a:gd name="connsiteY39" fmla="*/ 541236 h 541236"/>
              <a:gd name="connsiteX40" fmla="*/ 155225 w 607336"/>
              <a:gd name="connsiteY40" fmla="*/ 530107 h 541236"/>
              <a:gd name="connsiteX41" fmla="*/ 155225 w 607336"/>
              <a:gd name="connsiteY41" fmla="*/ 511714 h 541236"/>
              <a:gd name="connsiteX42" fmla="*/ 166371 w 607336"/>
              <a:gd name="connsiteY42" fmla="*/ 500585 h 541236"/>
              <a:gd name="connsiteX43" fmla="*/ 190658 w 607336"/>
              <a:gd name="connsiteY43" fmla="*/ 500585 h 541236"/>
              <a:gd name="connsiteX44" fmla="*/ 210721 w 607336"/>
              <a:gd name="connsiteY44" fmla="*/ 432638 h 541236"/>
              <a:gd name="connsiteX45" fmla="*/ 23466 w 607336"/>
              <a:gd name="connsiteY45" fmla="*/ 432638 h 541236"/>
              <a:gd name="connsiteX46" fmla="*/ 0 w 607336"/>
              <a:gd name="connsiteY46" fmla="*/ 409207 h 541236"/>
              <a:gd name="connsiteX47" fmla="*/ 0 w 607336"/>
              <a:gd name="connsiteY47" fmla="*/ 23430 h 541236"/>
              <a:gd name="connsiteX48" fmla="*/ 23466 w 607336"/>
              <a:gd name="connsiteY48" fmla="*/ 0 h 541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07336" h="541236">
                <a:moveTo>
                  <a:pt x="514822" y="287718"/>
                </a:moveTo>
                <a:cubicBezTo>
                  <a:pt x="507429" y="287718"/>
                  <a:pt x="501327" y="293810"/>
                  <a:pt x="501327" y="301190"/>
                </a:cubicBezTo>
                <a:lnTo>
                  <a:pt x="501327" y="357185"/>
                </a:lnTo>
                <a:cubicBezTo>
                  <a:pt x="501327" y="364682"/>
                  <a:pt x="507429" y="370656"/>
                  <a:pt x="514822" y="370656"/>
                </a:cubicBezTo>
                <a:cubicBezTo>
                  <a:pt x="522215" y="370656"/>
                  <a:pt x="528317" y="364682"/>
                  <a:pt x="528317" y="357185"/>
                </a:cubicBezTo>
                <a:lnTo>
                  <a:pt x="528317" y="301190"/>
                </a:lnTo>
                <a:cubicBezTo>
                  <a:pt x="528317" y="293810"/>
                  <a:pt x="522215" y="287718"/>
                  <a:pt x="514822" y="287718"/>
                </a:cubicBezTo>
                <a:close/>
                <a:moveTo>
                  <a:pt x="513884" y="257846"/>
                </a:moveTo>
                <a:cubicBezTo>
                  <a:pt x="521042" y="257846"/>
                  <a:pt x="524093" y="258315"/>
                  <a:pt x="524093" y="258315"/>
                </a:cubicBezTo>
                <a:cubicBezTo>
                  <a:pt x="546506" y="260423"/>
                  <a:pt x="569037" y="269795"/>
                  <a:pt x="591098" y="286664"/>
                </a:cubicBezTo>
                <a:cubicBezTo>
                  <a:pt x="593679" y="288655"/>
                  <a:pt x="595557" y="291467"/>
                  <a:pt x="596496" y="294630"/>
                </a:cubicBezTo>
                <a:cubicBezTo>
                  <a:pt x="606940" y="330710"/>
                  <a:pt x="609756" y="365268"/>
                  <a:pt x="605297" y="403457"/>
                </a:cubicBezTo>
                <a:cubicBezTo>
                  <a:pt x="601307" y="437312"/>
                  <a:pt x="592037" y="471166"/>
                  <a:pt x="581123" y="508770"/>
                </a:cubicBezTo>
                <a:cubicBezTo>
                  <a:pt x="580185" y="511933"/>
                  <a:pt x="578307" y="514744"/>
                  <a:pt x="575725" y="516736"/>
                </a:cubicBezTo>
                <a:cubicBezTo>
                  <a:pt x="559062" y="529622"/>
                  <a:pt x="537470" y="536650"/>
                  <a:pt x="514822" y="536650"/>
                </a:cubicBezTo>
                <a:cubicBezTo>
                  <a:pt x="492174" y="536650"/>
                  <a:pt x="470583" y="529622"/>
                  <a:pt x="453919" y="516736"/>
                </a:cubicBezTo>
                <a:cubicBezTo>
                  <a:pt x="451338" y="514744"/>
                  <a:pt x="449460" y="511933"/>
                  <a:pt x="448521" y="508770"/>
                </a:cubicBezTo>
                <a:cubicBezTo>
                  <a:pt x="437608" y="471166"/>
                  <a:pt x="428338" y="437312"/>
                  <a:pt x="424348" y="403457"/>
                </a:cubicBezTo>
                <a:cubicBezTo>
                  <a:pt x="420006" y="365268"/>
                  <a:pt x="422705" y="330710"/>
                  <a:pt x="433149" y="294630"/>
                </a:cubicBezTo>
                <a:cubicBezTo>
                  <a:pt x="434088" y="291467"/>
                  <a:pt x="435965" y="288655"/>
                  <a:pt x="438547" y="286664"/>
                </a:cubicBezTo>
                <a:cubicBezTo>
                  <a:pt x="459787" y="270381"/>
                  <a:pt x="481378" y="260892"/>
                  <a:pt x="502970" y="258315"/>
                </a:cubicBezTo>
                <a:cubicBezTo>
                  <a:pt x="502970" y="258315"/>
                  <a:pt x="506725" y="257846"/>
                  <a:pt x="513884" y="257846"/>
                </a:cubicBezTo>
                <a:close/>
                <a:moveTo>
                  <a:pt x="23466" y="0"/>
                </a:moveTo>
                <a:lnTo>
                  <a:pt x="555312" y="0"/>
                </a:lnTo>
                <a:cubicBezTo>
                  <a:pt x="568336" y="0"/>
                  <a:pt x="578778" y="10544"/>
                  <a:pt x="578778" y="23430"/>
                </a:cubicBezTo>
                <a:lnTo>
                  <a:pt x="578778" y="253163"/>
                </a:lnTo>
                <a:cubicBezTo>
                  <a:pt x="563408" y="245548"/>
                  <a:pt x="547686" y="240979"/>
                  <a:pt x="531847" y="239339"/>
                </a:cubicBezTo>
                <a:lnTo>
                  <a:pt x="531847" y="46861"/>
                </a:lnTo>
                <a:lnTo>
                  <a:pt x="46931" y="46861"/>
                </a:lnTo>
                <a:lnTo>
                  <a:pt x="46931" y="346766"/>
                </a:lnTo>
                <a:lnTo>
                  <a:pt x="404898" y="346766"/>
                </a:lnTo>
                <a:cubicBezTo>
                  <a:pt x="402904" y="367502"/>
                  <a:pt x="403256" y="388589"/>
                  <a:pt x="405837" y="410730"/>
                </a:cubicBezTo>
                <a:cubicBezTo>
                  <a:pt x="406658" y="418111"/>
                  <a:pt x="407714" y="425374"/>
                  <a:pt x="409005" y="432638"/>
                </a:cubicBezTo>
                <a:lnTo>
                  <a:pt x="368175" y="432638"/>
                </a:lnTo>
                <a:lnTo>
                  <a:pt x="388120" y="500585"/>
                </a:lnTo>
                <a:lnTo>
                  <a:pt x="412407" y="500585"/>
                </a:lnTo>
                <a:cubicBezTo>
                  <a:pt x="418626" y="500585"/>
                  <a:pt x="423553" y="505622"/>
                  <a:pt x="423553" y="511714"/>
                </a:cubicBezTo>
                <a:lnTo>
                  <a:pt x="423553" y="530107"/>
                </a:lnTo>
                <a:cubicBezTo>
                  <a:pt x="423553" y="536199"/>
                  <a:pt x="418626" y="541236"/>
                  <a:pt x="412407" y="541236"/>
                </a:cubicBezTo>
                <a:lnTo>
                  <a:pt x="166371" y="541236"/>
                </a:lnTo>
                <a:cubicBezTo>
                  <a:pt x="160270" y="541236"/>
                  <a:pt x="155225" y="536199"/>
                  <a:pt x="155225" y="530107"/>
                </a:cubicBezTo>
                <a:lnTo>
                  <a:pt x="155225" y="511714"/>
                </a:lnTo>
                <a:cubicBezTo>
                  <a:pt x="155225" y="505622"/>
                  <a:pt x="160270" y="500585"/>
                  <a:pt x="166371" y="500585"/>
                </a:cubicBezTo>
                <a:lnTo>
                  <a:pt x="190658" y="500585"/>
                </a:lnTo>
                <a:lnTo>
                  <a:pt x="210721" y="432638"/>
                </a:lnTo>
                <a:lnTo>
                  <a:pt x="23466" y="432638"/>
                </a:lnTo>
                <a:cubicBezTo>
                  <a:pt x="10560" y="432638"/>
                  <a:pt x="0" y="422211"/>
                  <a:pt x="0" y="409207"/>
                </a:cubicBezTo>
                <a:lnTo>
                  <a:pt x="0" y="23430"/>
                </a:lnTo>
                <a:cubicBezTo>
                  <a:pt x="0" y="10544"/>
                  <a:pt x="10560" y="0"/>
                  <a:pt x="23466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3" name="íśľïḋé"/>
          <p:cNvSpPr/>
          <p:nvPr/>
        </p:nvSpPr>
        <p:spPr>
          <a:xfrm>
            <a:off x="4182745" y="4017010"/>
            <a:ext cx="408305" cy="363855"/>
          </a:xfrm>
          <a:custGeom>
            <a:avLst/>
            <a:gdLst>
              <a:gd name="connsiteX0" fmla="*/ 514822 w 607336"/>
              <a:gd name="connsiteY0" fmla="*/ 287718 h 541236"/>
              <a:gd name="connsiteX1" fmla="*/ 501327 w 607336"/>
              <a:gd name="connsiteY1" fmla="*/ 301190 h 541236"/>
              <a:gd name="connsiteX2" fmla="*/ 501327 w 607336"/>
              <a:gd name="connsiteY2" fmla="*/ 357185 h 541236"/>
              <a:gd name="connsiteX3" fmla="*/ 514822 w 607336"/>
              <a:gd name="connsiteY3" fmla="*/ 370656 h 541236"/>
              <a:gd name="connsiteX4" fmla="*/ 528317 w 607336"/>
              <a:gd name="connsiteY4" fmla="*/ 357185 h 541236"/>
              <a:gd name="connsiteX5" fmla="*/ 528317 w 607336"/>
              <a:gd name="connsiteY5" fmla="*/ 301190 h 541236"/>
              <a:gd name="connsiteX6" fmla="*/ 514822 w 607336"/>
              <a:gd name="connsiteY6" fmla="*/ 287718 h 541236"/>
              <a:gd name="connsiteX7" fmla="*/ 513884 w 607336"/>
              <a:gd name="connsiteY7" fmla="*/ 257846 h 541236"/>
              <a:gd name="connsiteX8" fmla="*/ 524093 w 607336"/>
              <a:gd name="connsiteY8" fmla="*/ 258315 h 541236"/>
              <a:gd name="connsiteX9" fmla="*/ 591098 w 607336"/>
              <a:gd name="connsiteY9" fmla="*/ 286664 h 541236"/>
              <a:gd name="connsiteX10" fmla="*/ 596496 w 607336"/>
              <a:gd name="connsiteY10" fmla="*/ 294630 h 541236"/>
              <a:gd name="connsiteX11" fmla="*/ 605297 w 607336"/>
              <a:gd name="connsiteY11" fmla="*/ 403457 h 541236"/>
              <a:gd name="connsiteX12" fmla="*/ 581123 w 607336"/>
              <a:gd name="connsiteY12" fmla="*/ 508770 h 541236"/>
              <a:gd name="connsiteX13" fmla="*/ 575725 w 607336"/>
              <a:gd name="connsiteY13" fmla="*/ 516736 h 541236"/>
              <a:gd name="connsiteX14" fmla="*/ 514822 w 607336"/>
              <a:gd name="connsiteY14" fmla="*/ 536650 h 541236"/>
              <a:gd name="connsiteX15" fmla="*/ 453919 w 607336"/>
              <a:gd name="connsiteY15" fmla="*/ 516736 h 541236"/>
              <a:gd name="connsiteX16" fmla="*/ 448521 w 607336"/>
              <a:gd name="connsiteY16" fmla="*/ 508770 h 541236"/>
              <a:gd name="connsiteX17" fmla="*/ 424348 w 607336"/>
              <a:gd name="connsiteY17" fmla="*/ 403457 h 541236"/>
              <a:gd name="connsiteX18" fmla="*/ 433149 w 607336"/>
              <a:gd name="connsiteY18" fmla="*/ 294630 h 541236"/>
              <a:gd name="connsiteX19" fmla="*/ 438547 w 607336"/>
              <a:gd name="connsiteY19" fmla="*/ 286664 h 541236"/>
              <a:gd name="connsiteX20" fmla="*/ 502970 w 607336"/>
              <a:gd name="connsiteY20" fmla="*/ 258315 h 541236"/>
              <a:gd name="connsiteX21" fmla="*/ 513884 w 607336"/>
              <a:gd name="connsiteY21" fmla="*/ 257846 h 541236"/>
              <a:gd name="connsiteX22" fmla="*/ 23466 w 607336"/>
              <a:gd name="connsiteY22" fmla="*/ 0 h 541236"/>
              <a:gd name="connsiteX23" fmla="*/ 555312 w 607336"/>
              <a:gd name="connsiteY23" fmla="*/ 0 h 541236"/>
              <a:gd name="connsiteX24" fmla="*/ 578778 w 607336"/>
              <a:gd name="connsiteY24" fmla="*/ 23430 h 541236"/>
              <a:gd name="connsiteX25" fmla="*/ 578778 w 607336"/>
              <a:gd name="connsiteY25" fmla="*/ 253163 h 541236"/>
              <a:gd name="connsiteX26" fmla="*/ 531847 w 607336"/>
              <a:gd name="connsiteY26" fmla="*/ 239339 h 541236"/>
              <a:gd name="connsiteX27" fmla="*/ 531847 w 607336"/>
              <a:gd name="connsiteY27" fmla="*/ 46861 h 541236"/>
              <a:gd name="connsiteX28" fmla="*/ 46931 w 607336"/>
              <a:gd name="connsiteY28" fmla="*/ 46861 h 541236"/>
              <a:gd name="connsiteX29" fmla="*/ 46931 w 607336"/>
              <a:gd name="connsiteY29" fmla="*/ 346766 h 541236"/>
              <a:gd name="connsiteX30" fmla="*/ 404898 w 607336"/>
              <a:gd name="connsiteY30" fmla="*/ 346766 h 541236"/>
              <a:gd name="connsiteX31" fmla="*/ 405837 w 607336"/>
              <a:gd name="connsiteY31" fmla="*/ 410730 h 541236"/>
              <a:gd name="connsiteX32" fmla="*/ 409005 w 607336"/>
              <a:gd name="connsiteY32" fmla="*/ 432638 h 541236"/>
              <a:gd name="connsiteX33" fmla="*/ 368175 w 607336"/>
              <a:gd name="connsiteY33" fmla="*/ 432638 h 541236"/>
              <a:gd name="connsiteX34" fmla="*/ 388120 w 607336"/>
              <a:gd name="connsiteY34" fmla="*/ 500585 h 541236"/>
              <a:gd name="connsiteX35" fmla="*/ 412407 w 607336"/>
              <a:gd name="connsiteY35" fmla="*/ 500585 h 541236"/>
              <a:gd name="connsiteX36" fmla="*/ 423553 w 607336"/>
              <a:gd name="connsiteY36" fmla="*/ 511714 h 541236"/>
              <a:gd name="connsiteX37" fmla="*/ 423553 w 607336"/>
              <a:gd name="connsiteY37" fmla="*/ 530107 h 541236"/>
              <a:gd name="connsiteX38" fmla="*/ 412407 w 607336"/>
              <a:gd name="connsiteY38" fmla="*/ 541236 h 541236"/>
              <a:gd name="connsiteX39" fmla="*/ 166371 w 607336"/>
              <a:gd name="connsiteY39" fmla="*/ 541236 h 541236"/>
              <a:gd name="connsiteX40" fmla="*/ 155225 w 607336"/>
              <a:gd name="connsiteY40" fmla="*/ 530107 h 541236"/>
              <a:gd name="connsiteX41" fmla="*/ 155225 w 607336"/>
              <a:gd name="connsiteY41" fmla="*/ 511714 h 541236"/>
              <a:gd name="connsiteX42" fmla="*/ 166371 w 607336"/>
              <a:gd name="connsiteY42" fmla="*/ 500585 h 541236"/>
              <a:gd name="connsiteX43" fmla="*/ 190658 w 607336"/>
              <a:gd name="connsiteY43" fmla="*/ 500585 h 541236"/>
              <a:gd name="connsiteX44" fmla="*/ 210721 w 607336"/>
              <a:gd name="connsiteY44" fmla="*/ 432638 h 541236"/>
              <a:gd name="connsiteX45" fmla="*/ 23466 w 607336"/>
              <a:gd name="connsiteY45" fmla="*/ 432638 h 541236"/>
              <a:gd name="connsiteX46" fmla="*/ 0 w 607336"/>
              <a:gd name="connsiteY46" fmla="*/ 409207 h 541236"/>
              <a:gd name="connsiteX47" fmla="*/ 0 w 607336"/>
              <a:gd name="connsiteY47" fmla="*/ 23430 h 541236"/>
              <a:gd name="connsiteX48" fmla="*/ 23466 w 607336"/>
              <a:gd name="connsiteY48" fmla="*/ 0 h 541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07336" h="541236">
                <a:moveTo>
                  <a:pt x="514822" y="287718"/>
                </a:moveTo>
                <a:cubicBezTo>
                  <a:pt x="507429" y="287718"/>
                  <a:pt x="501327" y="293810"/>
                  <a:pt x="501327" y="301190"/>
                </a:cubicBezTo>
                <a:lnTo>
                  <a:pt x="501327" y="357185"/>
                </a:lnTo>
                <a:cubicBezTo>
                  <a:pt x="501327" y="364682"/>
                  <a:pt x="507429" y="370656"/>
                  <a:pt x="514822" y="370656"/>
                </a:cubicBezTo>
                <a:cubicBezTo>
                  <a:pt x="522215" y="370656"/>
                  <a:pt x="528317" y="364682"/>
                  <a:pt x="528317" y="357185"/>
                </a:cubicBezTo>
                <a:lnTo>
                  <a:pt x="528317" y="301190"/>
                </a:lnTo>
                <a:cubicBezTo>
                  <a:pt x="528317" y="293810"/>
                  <a:pt x="522215" y="287718"/>
                  <a:pt x="514822" y="287718"/>
                </a:cubicBezTo>
                <a:close/>
                <a:moveTo>
                  <a:pt x="513884" y="257846"/>
                </a:moveTo>
                <a:cubicBezTo>
                  <a:pt x="521042" y="257846"/>
                  <a:pt x="524093" y="258315"/>
                  <a:pt x="524093" y="258315"/>
                </a:cubicBezTo>
                <a:cubicBezTo>
                  <a:pt x="546506" y="260423"/>
                  <a:pt x="569037" y="269795"/>
                  <a:pt x="591098" y="286664"/>
                </a:cubicBezTo>
                <a:cubicBezTo>
                  <a:pt x="593679" y="288655"/>
                  <a:pt x="595557" y="291467"/>
                  <a:pt x="596496" y="294630"/>
                </a:cubicBezTo>
                <a:cubicBezTo>
                  <a:pt x="606940" y="330710"/>
                  <a:pt x="609756" y="365268"/>
                  <a:pt x="605297" y="403457"/>
                </a:cubicBezTo>
                <a:cubicBezTo>
                  <a:pt x="601307" y="437312"/>
                  <a:pt x="592037" y="471166"/>
                  <a:pt x="581123" y="508770"/>
                </a:cubicBezTo>
                <a:cubicBezTo>
                  <a:pt x="580185" y="511933"/>
                  <a:pt x="578307" y="514744"/>
                  <a:pt x="575725" y="516736"/>
                </a:cubicBezTo>
                <a:cubicBezTo>
                  <a:pt x="559062" y="529622"/>
                  <a:pt x="537470" y="536650"/>
                  <a:pt x="514822" y="536650"/>
                </a:cubicBezTo>
                <a:cubicBezTo>
                  <a:pt x="492174" y="536650"/>
                  <a:pt x="470583" y="529622"/>
                  <a:pt x="453919" y="516736"/>
                </a:cubicBezTo>
                <a:cubicBezTo>
                  <a:pt x="451338" y="514744"/>
                  <a:pt x="449460" y="511933"/>
                  <a:pt x="448521" y="508770"/>
                </a:cubicBezTo>
                <a:cubicBezTo>
                  <a:pt x="437608" y="471166"/>
                  <a:pt x="428338" y="437312"/>
                  <a:pt x="424348" y="403457"/>
                </a:cubicBezTo>
                <a:cubicBezTo>
                  <a:pt x="420006" y="365268"/>
                  <a:pt x="422705" y="330710"/>
                  <a:pt x="433149" y="294630"/>
                </a:cubicBezTo>
                <a:cubicBezTo>
                  <a:pt x="434088" y="291467"/>
                  <a:pt x="435965" y="288655"/>
                  <a:pt x="438547" y="286664"/>
                </a:cubicBezTo>
                <a:cubicBezTo>
                  <a:pt x="459787" y="270381"/>
                  <a:pt x="481378" y="260892"/>
                  <a:pt x="502970" y="258315"/>
                </a:cubicBezTo>
                <a:cubicBezTo>
                  <a:pt x="502970" y="258315"/>
                  <a:pt x="506725" y="257846"/>
                  <a:pt x="513884" y="257846"/>
                </a:cubicBezTo>
                <a:close/>
                <a:moveTo>
                  <a:pt x="23466" y="0"/>
                </a:moveTo>
                <a:lnTo>
                  <a:pt x="555312" y="0"/>
                </a:lnTo>
                <a:cubicBezTo>
                  <a:pt x="568336" y="0"/>
                  <a:pt x="578778" y="10544"/>
                  <a:pt x="578778" y="23430"/>
                </a:cubicBezTo>
                <a:lnTo>
                  <a:pt x="578778" y="253163"/>
                </a:lnTo>
                <a:cubicBezTo>
                  <a:pt x="563408" y="245548"/>
                  <a:pt x="547686" y="240979"/>
                  <a:pt x="531847" y="239339"/>
                </a:cubicBezTo>
                <a:lnTo>
                  <a:pt x="531847" y="46861"/>
                </a:lnTo>
                <a:lnTo>
                  <a:pt x="46931" y="46861"/>
                </a:lnTo>
                <a:lnTo>
                  <a:pt x="46931" y="346766"/>
                </a:lnTo>
                <a:lnTo>
                  <a:pt x="404898" y="346766"/>
                </a:lnTo>
                <a:cubicBezTo>
                  <a:pt x="402904" y="367502"/>
                  <a:pt x="403256" y="388589"/>
                  <a:pt x="405837" y="410730"/>
                </a:cubicBezTo>
                <a:cubicBezTo>
                  <a:pt x="406658" y="418111"/>
                  <a:pt x="407714" y="425374"/>
                  <a:pt x="409005" y="432638"/>
                </a:cubicBezTo>
                <a:lnTo>
                  <a:pt x="368175" y="432638"/>
                </a:lnTo>
                <a:lnTo>
                  <a:pt x="388120" y="500585"/>
                </a:lnTo>
                <a:lnTo>
                  <a:pt x="412407" y="500585"/>
                </a:lnTo>
                <a:cubicBezTo>
                  <a:pt x="418626" y="500585"/>
                  <a:pt x="423553" y="505622"/>
                  <a:pt x="423553" y="511714"/>
                </a:cubicBezTo>
                <a:lnTo>
                  <a:pt x="423553" y="530107"/>
                </a:lnTo>
                <a:cubicBezTo>
                  <a:pt x="423553" y="536199"/>
                  <a:pt x="418626" y="541236"/>
                  <a:pt x="412407" y="541236"/>
                </a:cubicBezTo>
                <a:lnTo>
                  <a:pt x="166371" y="541236"/>
                </a:lnTo>
                <a:cubicBezTo>
                  <a:pt x="160270" y="541236"/>
                  <a:pt x="155225" y="536199"/>
                  <a:pt x="155225" y="530107"/>
                </a:cubicBezTo>
                <a:lnTo>
                  <a:pt x="155225" y="511714"/>
                </a:lnTo>
                <a:cubicBezTo>
                  <a:pt x="155225" y="505622"/>
                  <a:pt x="160270" y="500585"/>
                  <a:pt x="166371" y="500585"/>
                </a:cubicBezTo>
                <a:lnTo>
                  <a:pt x="190658" y="500585"/>
                </a:lnTo>
                <a:lnTo>
                  <a:pt x="210721" y="432638"/>
                </a:lnTo>
                <a:lnTo>
                  <a:pt x="23466" y="432638"/>
                </a:lnTo>
                <a:cubicBezTo>
                  <a:pt x="10560" y="432638"/>
                  <a:pt x="0" y="422211"/>
                  <a:pt x="0" y="409207"/>
                </a:cubicBezTo>
                <a:lnTo>
                  <a:pt x="0" y="23430"/>
                </a:lnTo>
                <a:cubicBezTo>
                  <a:pt x="0" y="10544"/>
                  <a:pt x="10560" y="0"/>
                  <a:pt x="23466" y="0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îŝľîḓè"/>
          <p:cNvSpPr txBox="1"/>
          <p:nvPr/>
        </p:nvSpPr>
        <p:spPr>
          <a:xfrm>
            <a:off x="699770" y="903605"/>
            <a:ext cx="10557510" cy="75311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ym typeface="+mn-ea"/>
              </a:rPr>
              <a:t>无论哪种算法，都有其优缺点，需要权衡</a:t>
            </a:r>
            <a:r>
              <a:rPr lang="zh-CN" altLang="en-US" sz="2800" dirty="0">
                <a:sym typeface="+mn-ea"/>
              </a:rPr>
              <a:t>选择</a:t>
            </a:r>
            <a:endParaRPr lang="zh-CN" altLang="en-US" sz="2800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9770" y="1830705"/>
            <a:ext cx="10241280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800" b="0" i="0">
                <a:solidFill>
                  <a:srgbClr val="181E33"/>
                </a:solidFill>
                <a:latin typeface="CXChineseQuote"/>
                <a:ea typeface="CXChineseQuote"/>
              </a:rPr>
              <a:t>在动态分区存储系统中，空闲表的内容如下：</a:t>
            </a:r>
            <a:endParaRPr lang="zh-CN" altLang="en-US" sz="2800" b="0" i="0">
              <a:solidFill>
                <a:srgbClr val="181E33"/>
              </a:solidFill>
              <a:latin typeface="CXChineseQuote"/>
              <a:ea typeface="CXChineseQuote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720" y="2443480"/>
            <a:ext cx="5474335" cy="24212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13080" y="4864735"/>
            <a:ext cx="11089640" cy="9531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此时，进程 </a:t>
            </a:r>
            <a:r>
              <a:rPr lang="en-US" altLang="zh-CN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 </a:t>
            </a:r>
            <a:r>
              <a:rPr lang="zh-CN" altLang="en-US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请求</a:t>
            </a:r>
            <a:r>
              <a:rPr lang="en-US" altLang="zh-CN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50KB</a:t>
            </a:r>
            <a:r>
              <a:rPr lang="zh-CN" altLang="en-US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内存，系统从第一个空闲块开始查找，结果把第</a:t>
            </a:r>
            <a:r>
              <a:rPr lang="en-US" altLang="zh-CN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个空闲块分配给了进程 </a:t>
            </a:r>
            <a:r>
              <a:rPr lang="en-US" altLang="zh-CN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 </a:t>
            </a:r>
            <a:r>
              <a:rPr lang="zh-CN" altLang="en-US" sz="2800" b="0" i="0">
                <a:solidFill>
                  <a:srgbClr val="181E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。请问系统采用的分区分配算法是（）。</a:t>
            </a:r>
            <a:endParaRPr lang="zh-CN" altLang="en-US" sz="2800" b="0" i="0">
              <a:solidFill>
                <a:srgbClr val="181E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24520" y="2999740"/>
            <a:ext cx="19367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随堂练习</a:t>
            </a:r>
            <a:endParaRPr lang="zh-CN" altLang="en-US" sz="2800" dirty="0">
              <a:solidFill>
                <a:srgbClr val="FF0000"/>
              </a:solidFill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内存回收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1" name="Group 55"/>
          <p:cNvGraphicFramePr>
            <a:graphicFrameLocks noGrp="1"/>
          </p:cNvGraphicFramePr>
          <p:nvPr/>
        </p:nvGraphicFramePr>
        <p:xfrm>
          <a:off x="5162550" y="1468120"/>
          <a:ext cx="1568450" cy="4133850"/>
        </p:xfrm>
        <a:graphic>
          <a:graphicData uri="http://schemas.openxmlformats.org/drawingml/2006/table">
            <a:tbl>
              <a:tblPr/>
              <a:tblGrid>
                <a:gridCol w="1568450"/>
              </a:tblGrid>
              <a:tr h="76454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651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F1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107442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回收区</a:t>
                      </a:r>
                      <a:endParaRPr kumimoji="1" lang="zh-CN" altLang="en-US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7FFB7"/>
                    </a:solidFill>
                  </a:tcPr>
                </a:tc>
              </a:tr>
              <a:tr h="7651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76454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Group 56"/>
          <p:cNvGraphicFramePr>
            <a:graphicFrameLocks noGrp="1"/>
          </p:cNvGraphicFramePr>
          <p:nvPr/>
        </p:nvGraphicFramePr>
        <p:xfrm>
          <a:off x="6956425" y="1504950"/>
          <a:ext cx="1568450" cy="4133850"/>
        </p:xfrm>
        <a:graphic>
          <a:graphicData uri="http://schemas.openxmlformats.org/drawingml/2006/table">
            <a:tbl>
              <a:tblPr/>
              <a:tblGrid>
                <a:gridCol w="1568450"/>
              </a:tblGrid>
              <a:tr h="76454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651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107442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回收区</a:t>
                      </a:r>
                      <a:endParaRPr kumimoji="1" lang="zh-CN" altLang="en-US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7FFB7"/>
                    </a:solidFill>
                  </a:tcPr>
                </a:tc>
              </a:tr>
              <a:tr h="7651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F2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76454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Group 58"/>
          <p:cNvGraphicFramePr>
            <a:graphicFrameLocks noGrp="1"/>
          </p:cNvGraphicFramePr>
          <p:nvPr/>
        </p:nvGraphicFramePr>
        <p:xfrm>
          <a:off x="8702675" y="1504950"/>
          <a:ext cx="1568450" cy="4133850"/>
        </p:xfrm>
        <a:graphic>
          <a:graphicData uri="http://schemas.openxmlformats.org/drawingml/2006/table">
            <a:tbl>
              <a:tblPr/>
              <a:tblGrid>
                <a:gridCol w="1568450"/>
              </a:tblGrid>
              <a:tr h="76454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651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F1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107442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回收区</a:t>
                      </a:r>
                      <a:endParaRPr kumimoji="1" lang="zh-CN" altLang="en-US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7FFB7"/>
                    </a:solidFill>
                  </a:tcPr>
                </a:tc>
              </a:tr>
              <a:tr h="7651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F2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76454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Group 55"/>
          <p:cNvGraphicFramePr>
            <a:graphicFrameLocks noGrp="1"/>
          </p:cNvGraphicFramePr>
          <p:nvPr/>
        </p:nvGraphicFramePr>
        <p:xfrm>
          <a:off x="10438130" y="1504950"/>
          <a:ext cx="1568450" cy="4133850"/>
        </p:xfrm>
        <a:graphic>
          <a:graphicData uri="http://schemas.openxmlformats.org/drawingml/2006/table">
            <a:tbl>
              <a:tblPr/>
              <a:tblGrid>
                <a:gridCol w="1568450"/>
              </a:tblGrid>
              <a:tr h="76454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651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107442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回收区</a:t>
                      </a:r>
                      <a:endParaRPr kumimoji="1" lang="zh-CN" altLang="en-US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7FFB7"/>
                    </a:solidFill>
                  </a:tcPr>
                </a:tc>
              </a:tr>
              <a:tr h="7651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76454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929370" y="714375"/>
            <a:ext cx="2955925" cy="521970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t">
            <a:spAutoFit/>
          </a:bodyPr>
          <a:p>
            <a:r>
              <a:rPr lang="zh-CN" altLang="en-US" sz="2800" dirty="0">
                <a:sym typeface="+mn-ea"/>
              </a:rPr>
              <a:t>桔色代表</a:t>
            </a:r>
            <a:r>
              <a:rPr lang="zh-CN" altLang="en-US" sz="2800" dirty="0">
                <a:sym typeface="+mn-ea"/>
              </a:rPr>
              <a:t>空闲区</a:t>
            </a:r>
            <a:endParaRPr lang="zh-CN" altLang="en-US" sz="2800" dirty="0">
              <a:sym typeface="+mn-ea"/>
            </a:endParaRPr>
          </a:p>
        </p:txBody>
      </p:sp>
      <p:pic>
        <p:nvPicPr>
          <p:cNvPr id="3" name="图片 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83" y="1023128"/>
            <a:ext cx="4608513" cy="22701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îŝľîḓè"/>
          <p:cNvSpPr txBox="1"/>
          <p:nvPr/>
        </p:nvSpPr>
        <p:spPr>
          <a:xfrm>
            <a:off x="179705" y="3293110"/>
            <a:ext cx="4982845" cy="280225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ym typeface="+mn-ea"/>
              </a:rPr>
              <a:t>1</a:t>
            </a:r>
            <a:r>
              <a:rPr lang="zh-CN" altLang="en-US" sz="2400" dirty="0">
                <a:sym typeface="+mn-ea"/>
              </a:rPr>
              <a:t>、只需要修改前空闲区的大小即可</a:t>
            </a:r>
            <a:endParaRPr lang="zh-CN" altLang="en-US" sz="2400" dirty="0"/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、需要修改</a:t>
            </a:r>
            <a:r>
              <a:rPr lang="zh-CN" altLang="en-US" sz="2400" dirty="0"/>
              <a:t>后空闲区的起址和大小</a:t>
            </a:r>
            <a:endParaRPr lang="zh-CN" altLang="en-US" sz="2400" dirty="0"/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、需要合并前后空闲区，起址为前区起止，大小为</a:t>
            </a:r>
            <a:r>
              <a:rPr lang="en-US" altLang="zh-CN" sz="2400" dirty="0"/>
              <a:t>3</a:t>
            </a:r>
            <a:r>
              <a:rPr lang="zh-CN" altLang="en-US" sz="2400" dirty="0"/>
              <a:t>个区大小总和，并且在表中删除后空闲区</a:t>
            </a:r>
            <a:r>
              <a:rPr lang="zh-CN" altLang="en-US" sz="2400" dirty="0"/>
              <a:t>信息</a:t>
            </a:r>
            <a:endParaRPr lang="zh-CN" altLang="en-US" sz="2400" dirty="0"/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4</a:t>
            </a:r>
            <a:r>
              <a:rPr lang="zh-CN" altLang="en-US" sz="2400" dirty="0"/>
              <a:t>、在空闲说明表中增加回收信</a:t>
            </a:r>
            <a:r>
              <a:rPr lang="zh-CN" altLang="en-US" sz="2400" dirty="0"/>
              <a:t>区息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0195" y="909320"/>
            <a:ext cx="11454765" cy="52622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2800"/>
              <a:t>某计算机按</a:t>
            </a:r>
            <a:r>
              <a:rPr lang="zh-CN" altLang="en-US" sz="2800" b="1"/>
              <a:t>字节</a:t>
            </a:r>
            <a:r>
              <a:rPr lang="zh-CN" altLang="en-US" sz="2800"/>
              <a:t>编址，其动态分区内存管理采用</a:t>
            </a:r>
            <a:r>
              <a:rPr lang="zh-CN" altLang="en-US" sz="2800" b="1"/>
              <a:t>最佳适应算法</a:t>
            </a:r>
            <a:r>
              <a:rPr lang="zh-CN" altLang="en-US" sz="2800"/>
              <a:t>，每次分配和回收内存后都对空闲分区链</a:t>
            </a:r>
            <a:r>
              <a:rPr lang="zh-CN" altLang="en-US" sz="2800" b="1"/>
              <a:t>重新排序</a:t>
            </a:r>
            <a:r>
              <a:rPr lang="zh-CN" altLang="en-US" sz="2800"/>
              <a:t>。当前空闲分区信息如表所示。回收起始地址为</a:t>
            </a:r>
            <a:r>
              <a:rPr lang="en-US" altLang="zh-CN" sz="2800"/>
              <a:t>60K</a:t>
            </a:r>
            <a:r>
              <a:rPr lang="zh-CN" altLang="en-US" sz="2800"/>
              <a:t>、大小为</a:t>
            </a:r>
            <a:r>
              <a:rPr lang="en-US" altLang="zh-CN" sz="2800"/>
              <a:t>140KB</a:t>
            </a:r>
            <a:r>
              <a:rPr lang="zh-CN" altLang="en-US" sz="2800"/>
              <a:t>的分区后，系统中空闲分区的数量、空闲分区链第一个分区的起始地址和大小分别是（</a:t>
            </a:r>
            <a:r>
              <a:rPr lang="en-US" altLang="zh-CN" sz="2800"/>
              <a:t>A</a:t>
            </a:r>
            <a:r>
              <a:rPr lang="en-US" altLang="zh-CN" sz="2800"/>
              <a:t>) </a:t>
            </a:r>
            <a:endParaRPr lang="en-US" altLang="zh-CN" sz="2800"/>
          </a:p>
          <a:p>
            <a:pPr>
              <a:lnSpc>
                <a:spcPct val="150000"/>
              </a:lnSpc>
            </a:pPr>
            <a:r>
              <a:rPr lang="en-US" altLang="zh-CN" sz="2800"/>
              <a:t>A.3</a:t>
            </a:r>
            <a:r>
              <a:rPr lang="zh-CN" altLang="en-US" sz="2800"/>
              <a:t>、</a:t>
            </a:r>
            <a:r>
              <a:rPr lang="en-US" altLang="zh-CN" sz="2800"/>
              <a:t>20K</a:t>
            </a:r>
            <a:r>
              <a:rPr lang="zh-CN" altLang="en-US" sz="2800"/>
              <a:t>、</a:t>
            </a:r>
            <a:r>
              <a:rPr lang="en-US" altLang="zh-CN" sz="2800"/>
              <a:t>380KB</a:t>
            </a:r>
            <a:endParaRPr lang="en-US" altLang="zh-CN" sz="2800"/>
          </a:p>
          <a:p>
            <a:pPr>
              <a:lnSpc>
                <a:spcPct val="150000"/>
              </a:lnSpc>
            </a:pPr>
            <a:r>
              <a:rPr lang="en-US" altLang="zh-CN" sz="2800"/>
              <a:t>B.3</a:t>
            </a:r>
            <a:r>
              <a:rPr lang="zh-CN" altLang="en-US" sz="2800"/>
              <a:t>、</a:t>
            </a:r>
            <a:r>
              <a:rPr lang="en-US" altLang="zh-CN" sz="2800"/>
              <a:t>500K</a:t>
            </a:r>
            <a:r>
              <a:rPr lang="zh-CN" altLang="en-US" sz="2800"/>
              <a:t>、</a:t>
            </a:r>
            <a:r>
              <a:rPr lang="en-US" altLang="zh-CN" sz="2800"/>
              <a:t>80KB</a:t>
            </a:r>
            <a:endParaRPr lang="en-US" altLang="zh-CN" sz="2800"/>
          </a:p>
          <a:p>
            <a:pPr>
              <a:lnSpc>
                <a:spcPct val="150000"/>
              </a:lnSpc>
            </a:pPr>
            <a:r>
              <a:rPr lang="en-US" altLang="zh-CN" sz="2800"/>
              <a:t>C.4</a:t>
            </a:r>
            <a:r>
              <a:rPr lang="zh-CN" altLang="en-US" sz="2800"/>
              <a:t>、</a:t>
            </a:r>
            <a:r>
              <a:rPr lang="en-US" altLang="zh-CN" sz="2800"/>
              <a:t>20K</a:t>
            </a:r>
            <a:r>
              <a:rPr lang="zh-CN" altLang="en-US" sz="2800"/>
              <a:t>、</a:t>
            </a:r>
            <a:r>
              <a:rPr lang="en-US" altLang="zh-CN" sz="2800"/>
              <a:t>180KB</a:t>
            </a:r>
            <a:endParaRPr lang="en-US" altLang="zh-CN" sz="2800"/>
          </a:p>
          <a:p>
            <a:pPr>
              <a:lnSpc>
                <a:spcPct val="150000"/>
              </a:lnSpc>
            </a:pPr>
            <a:r>
              <a:rPr lang="en-US" altLang="zh-CN" sz="2800"/>
              <a:t>D.4</a:t>
            </a:r>
            <a:r>
              <a:rPr lang="zh-CN" altLang="en-US" sz="2800"/>
              <a:t>、</a:t>
            </a:r>
            <a:r>
              <a:rPr lang="en-US" altLang="zh-CN" sz="2800"/>
              <a:t>500K</a:t>
            </a:r>
            <a:r>
              <a:rPr lang="zh-CN" altLang="en-US" sz="2800"/>
              <a:t>、</a:t>
            </a:r>
            <a:r>
              <a:rPr lang="en-US" altLang="zh-CN" sz="2800"/>
              <a:t>80KB</a:t>
            </a:r>
            <a:endParaRPr lang="en-US" altLang="zh-CN" sz="280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151120" y="3607435"/>
          <a:ext cx="5548630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4315"/>
                <a:gridCol w="2774315"/>
              </a:tblGrid>
              <a:tr h="4394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分区起始</a:t>
                      </a:r>
                      <a:r>
                        <a:rPr lang="zh-CN" altLang="en-US"/>
                        <a:t>地址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分区</a:t>
                      </a:r>
                      <a:r>
                        <a:rPr lang="zh-CN" altLang="en-US"/>
                        <a:t>大小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4394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</a:t>
                      </a:r>
                      <a:r>
                        <a:rPr lang="en-US" altLang="zh-CN"/>
                        <a:t>k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40K</a:t>
                      </a: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4394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500</a:t>
                      </a:r>
                      <a:r>
                        <a:rPr lang="en-US" altLang="zh-CN"/>
                        <a:t>k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80KB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4394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1000</a:t>
                      </a:r>
                      <a:r>
                        <a:rPr lang="en-US" altLang="zh-CN"/>
                        <a:t>k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100KB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4394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200</a:t>
                      </a:r>
                      <a:r>
                        <a:rPr lang="en-US" altLang="zh-CN"/>
                        <a:t>k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200KB</a:t>
                      </a:r>
                      <a:endParaRPr lang="en-US" altLang="zh-CN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动态可重定位分区分配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1" name="i$lîďê"/>
          <p:cNvSpPr/>
          <p:nvPr/>
        </p:nvSpPr>
        <p:spPr>
          <a:xfrm>
            <a:off x="1802479" y="4233983"/>
            <a:ext cx="9730292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动态重定位：在指令运行时，实现地址转换</a:t>
            </a:r>
            <a:endParaRPr lang="en-US" altLang="zh-CN" sz="2400" dirty="0"/>
          </a:p>
        </p:txBody>
      </p:sp>
      <p:sp>
        <p:nvSpPr>
          <p:cNvPr id="223" name="ïṧḷïḋè"/>
          <p:cNvSpPr/>
          <p:nvPr/>
        </p:nvSpPr>
        <p:spPr>
          <a:xfrm>
            <a:off x="1802481" y="5086300"/>
            <a:ext cx="9350623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分配算法：类似于动态分区分配算法，增加了紧凑的功能</a:t>
            </a:r>
            <a:endParaRPr lang="zh-CN" altLang="en-US" sz="2400" dirty="0"/>
          </a:p>
        </p:txBody>
      </p:sp>
      <p:sp>
        <p:nvSpPr>
          <p:cNvPr id="224" name="îs1iďé"/>
          <p:cNvSpPr/>
          <p:nvPr/>
        </p:nvSpPr>
        <p:spPr>
          <a:xfrm>
            <a:off x="1821537" y="1997545"/>
            <a:ext cx="9711234" cy="1490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</a:rPr>
              <a:t>碎片：</a:t>
            </a:r>
            <a:r>
              <a:rPr lang="zh-CN" altLang="en-US" sz="2400" dirty="0"/>
              <a:t>不能被利用的小分区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解决方案：</a:t>
            </a:r>
            <a:r>
              <a:rPr lang="zh-CN" altLang="en-US" sz="2400" dirty="0">
                <a:solidFill>
                  <a:srgbClr val="FF0000"/>
                </a:solidFill>
              </a:rPr>
              <a:t>紧凑</a:t>
            </a:r>
            <a:r>
              <a:rPr lang="zh-CN" altLang="en-US" sz="2400" dirty="0"/>
              <a:t>：通过移动内存中的作业位置，把原来多个分散的小分区拼接成一个大分区的方法，也叫“拼接”</a:t>
            </a:r>
            <a:endParaRPr lang="zh-CN" altLang="en-US" sz="2400" dirty="0"/>
          </a:p>
        </p:txBody>
      </p:sp>
      <p:sp>
        <p:nvSpPr>
          <p:cNvPr id="225" name="íšḻíḑê"/>
          <p:cNvSpPr/>
          <p:nvPr/>
        </p:nvSpPr>
        <p:spPr>
          <a:xfrm>
            <a:off x="1802480" y="1528983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连续分配方式存在的问题 </a:t>
            </a:r>
            <a:endParaRPr lang="zh-CN" altLang="en-US" sz="2400" dirty="0"/>
          </a:p>
        </p:txBody>
      </p:sp>
      <p:sp>
        <p:nvSpPr>
          <p:cNvPr id="226" name="îSļiḓè"/>
          <p:cNvSpPr/>
          <p:nvPr/>
        </p:nvSpPr>
        <p:spPr>
          <a:xfrm>
            <a:off x="1118977" y="151542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7" name="íṥḻîḓe"/>
          <p:cNvSpPr/>
          <p:nvPr/>
        </p:nvSpPr>
        <p:spPr>
          <a:xfrm>
            <a:off x="1118977" y="500369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8" name="îşļiḓè"/>
          <p:cNvSpPr/>
          <p:nvPr/>
        </p:nvSpPr>
        <p:spPr>
          <a:xfrm>
            <a:off x="1118977" y="413345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9" name="îṡḷíďe"/>
          <p:cNvSpPr/>
          <p:nvPr/>
        </p:nvSpPr>
        <p:spPr>
          <a:xfrm>
            <a:off x="1309232" y="1711559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30" name="íSlíḋe"/>
          <p:cNvSpPr/>
          <p:nvPr/>
        </p:nvSpPr>
        <p:spPr>
          <a:xfrm>
            <a:off x="1309231" y="4355474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31" name="ïśḷïḓe"/>
          <p:cNvSpPr/>
          <p:nvPr/>
        </p:nvSpPr>
        <p:spPr>
          <a:xfrm>
            <a:off x="1338170" y="5193158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紧凑例子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1" name="Picture 4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" t="10748" r="948" b="10780"/>
          <a:stretch>
            <a:fillRect/>
          </a:stretch>
        </p:blipFill>
        <p:spPr bwMode="auto">
          <a:xfrm>
            <a:off x="2278219" y="1081825"/>
            <a:ext cx="7962223" cy="5365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629535" y="261556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dirty="0" smtClean="0">
                <a:solidFill>
                  <a:srgbClr val="FF0000"/>
                </a:solidFill>
                <a:latin typeface="+mj-ea"/>
                <a:ea typeface="+mj-ea"/>
                <a:sym typeface="+mn-ea"/>
              </a:rPr>
              <a:t>连续分配课后练习</a:t>
            </a:r>
            <a:endParaRPr lang="zh-CN" altLang="en-US" sz="3600" dirty="0" smtClean="0">
              <a:solidFill>
                <a:srgbClr val="FF0000"/>
              </a:solidFill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5.1 </a:t>
            </a:r>
            <a:r>
              <a:rPr lang="zh-CN" altLang="en-US" sz="2400" dirty="0">
                <a:latin typeface="+mj-ea"/>
                <a:ea typeface="+mj-ea"/>
              </a:rPr>
              <a:t>存储器的</a:t>
            </a:r>
            <a:r>
              <a:rPr lang="zh-CN" altLang="en-US" sz="2400" dirty="0" smtClean="0">
                <a:latin typeface="+mj-ea"/>
                <a:ea typeface="+mj-ea"/>
              </a:rPr>
              <a:t>层次结构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5.2 </a:t>
            </a:r>
            <a:r>
              <a:rPr lang="zh-CN" altLang="en-US" sz="2400" dirty="0">
                <a:latin typeface="+mj-ea"/>
              </a:rPr>
              <a:t>程序的装入和</a:t>
            </a:r>
            <a:r>
              <a:rPr lang="zh-CN" altLang="en-US" sz="2400" dirty="0" smtClean="0">
                <a:latin typeface="+mj-ea"/>
              </a:rPr>
              <a:t>链接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+mj-ea"/>
              </a:rPr>
              <a:t>5.3 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+mj-ea"/>
              </a:rPr>
              <a:t>对换与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</a:rPr>
              <a:t>覆盖</a:t>
            </a:r>
            <a:endParaRPr lang="zh-CN" altLang="en-US" sz="2400" dirty="0" smtClean="0">
              <a:solidFill>
                <a:schemeClr val="bg1">
                  <a:lumMod val="65000"/>
                </a:schemeClr>
              </a:solidFill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5.4 </a:t>
            </a:r>
            <a:r>
              <a:rPr lang="zh-CN" altLang="en-US" sz="2400" dirty="0">
                <a:latin typeface="+mj-ea"/>
              </a:rPr>
              <a:t>连续分配存储管理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+mj-ea"/>
              </a:rPr>
              <a:t>5.5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分页存储管理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</a:rPr>
              <a:t>方式</a:t>
            </a:r>
            <a:endParaRPr lang="zh-CN" altLang="en-US" sz="2400" b="1" dirty="0">
              <a:solidFill>
                <a:srgbClr val="0000FF"/>
              </a:solidFill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5.6 </a:t>
            </a:r>
            <a:r>
              <a:rPr lang="zh-CN" altLang="en-US" sz="2400" dirty="0">
                <a:latin typeface="+mj-ea"/>
              </a:rPr>
              <a:t>分段存储管理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4021751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5.7 基于IA-32/x86-64架构</a:t>
            </a:r>
            <a:endParaRPr lang="en-US" altLang="zh-CN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  <a:p>
            <a:pPr algn="l">
              <a:buClrTx/>
              <a:buSzTx/>
              <a:buFontTx/>
            </a:pP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      的内存管理策略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5</a:t>
            </a:r>
            <a:r>
              <a:rPr lang="zh-CN" altLang="en-US" sz="3600" dirty="0">
                <a:solidFill>
                  <a:srgbClr val="000000"/>
                </a:solidFill>
              </a:rPr>
              <a:t>章 </a:t>
            </a:r>
            <a:r>
              <a:rPr lang="zh-CN" altLang="en-US" sz="3600" dirty="0" smtClean="0">
                <a:solidFill>
                  <a:srgbClr val="000000"/>
                </a:solidFill>
              </a:rPr>
              <a:t>   存储器管理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" name="右大括号 1"/>
          <p:cNvSpPr/>
          <p:nvPr/>
        </p:nvSpPr>
        <p:spPr>
          <a:xfrm>
            <a:off x="4919345" y="1977390"/>
            <a:ext cx="163830" cy="84709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78450" y="2155825"/>
            <a:ext cx="15881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 smtClean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基本概念</a:t>
            </a:r>
            <a:endParaRPr lang="zh-CN" altLang="en-US" sz="2400" b="1" dirty="0" smtClean="0">
              <a:solidFill>
                <a:schemeClr val="tx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6196330" y="3347720"/>
            <a:ext cx="5860415" cy="1489075"/>
          </a:xfrm>
          <a:prstGeom prst="wedgeRoundRectCallout">
            <a:avLst>
              <a:gd name="adj1" fmla="val -65743"/>
              <a:gd name="adj2" fmla="val 46631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000">
                <a:solidFill>
                  <a:schemeClr val="tx1"/>
                </a:solidFill>
              </a:rPr>
              <a:t>连续分配方式会形成“碎片”，虽然可以通过“紧凑”解决，但开销大。如果允许将一个进程直接分散地装入许多不相邻的分区中，则无需“紧凑”，由此产生离散分配方式。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5083175" y="4349750"/>
            <a:ext cx="163830" cy="84709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1460" y="1132205"/>
            <a:ext cx="11831955" cy="1403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010" y="226060"/>
            <a:ext cx="9130665" cy="691578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基本分页存储管理方式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1" name="内容占位符 2"/>
          <p:cNvSpPr txBox="1"/>
          <p:nvPr/>
        </p:nvSpPr>
        <p:spPr>
          <a:xfrm>
            <a:off x="1459230" y="1151255"/>
            <a:ext cx="10411460" cy="4762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>
                <a:sym typeface="+mn-ea"/>
              </a:rPr>
              <a:t>把逻辑地址空间分成大小</a:t>
            </a:r>
            <a:r>
              <a:rPr lang="zh-CN" altLang="en-US" sz="2800" dirty="0" smtClean="0">
                <a:sym typeface="+mn-ea"/>
              </a:rPr>
              <a:t>固定的块，称为</a:t>
            </a:r>
            <a:r>
              <a:rPr lang="zh-CN" altLang="en-US" sz="2800" dirty="0" smtClean="0">
                <a:solidFill>
                  <a:srgbClr val="FF0000"/>
                </a:solidFill>
                <a:sym typeface="+mn-ea"/>
              </a:rPr>
              <a:t>页</a:t>
            </a:r>
            <a:r>
              <a:rPr lang="en-US" altLang="zh-CN" sz="2800" dirty="0" smtClean="0">
                <a:sym typeface="+mn-ea"/>
              </a:rPr>
              <a:t>(page)</a:t>
            </a:r>
            <a:r>
              <a:rPr lang="zh-CN" altLang="en-US" sz="2800" dirty="0" smtClean="0">
                <a:sym typeface="+mn-ea"/>
              </a:rPr>
              <a:t>。</a:t>
            </a:r>
            <a:endParaRPr lang="zh-CN" altLang="en-US" sz="28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 smtClean="0"/>
              <a:t>把物理地址空间分成大小固定的块，称为</a:t>
            </a:r>
            <a:r>
              <a:rPr lang="zh-CN" altLang="en-US" sz="2800" dirty="0" smtClean="0">
                <a:solidFill>
                  <a:srgbClr val="FF0000"/>
                </a:solidFill>
              </a:rPr>
              <a:t>页框</a:t>
            </a:r>
            <a:r>
              <a:rPr lang="en-US" altLang="zh-CN" sz="2800" dirty="0" smtClean="0">
                <a:solidFill>
                  <a:schemeClr val="tx1"/>
                </a:solidFill>
              </a:rPr>
              <a:t>(</a:t>
            </a:r>
            <a:r>
              <a:rPr lang="zh-CN" altLang="en-US" sz="2800" dirty="0" smtClean="0">
                <a:solidFill>
                  <a:schemeClr val="tx1"/>
                </a:solidFill>
              </a:rPr>
              <a:t>页帧</a:t>
            </a:r>
            <a:r>
              <a:rPr lang="en-US" altLang="zh-CN" sz="2800" dirty="0" smtClean="0">
                <a:solidFill>
                  <a:schemeClr val="tx1"/>
                </a:solidFill>
              </a:rPr>
              <a:t>)</a:t>
            </a:r>
            <a:r>
              <a:rPr lang="zh-CN" altLang="en-US" sz="2800" dirty="0" smtClean="0"/>
              <a:t>。</a:t>
            </a:r>
            <a:endParaRPr lang="zh-CN" altLang="en-US" sz="2800" dirty="0" smtClean="0"/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800" dirty="0" smtClean="0"/>
              <a:t>页框大小与页面大小一样，</a:t>
            </a:r>
            <a:r>
              <a:rPr lang="zh-CN" altLang="en-US" sz="2800" dirty="0" smtClean="0"/>
              <a:t>顺序号都是从</a:t>
            </a:r>
            <a:r>
              <a:rPr lang="en-US" altLang="zh-CN" sz="2800" dirty="0" smtClean="0"/>
              <a:t>0</a:t>
            </a:r>
            <a:r>
              <a:rPr lang="zh-CN" altLang="en-US" sz="2800" dirty="0" smtClean="0"/>
              <a:t>开始</a:t>
            </a:r>
            <a:endParaRPr lang="en-US" altLang="zh-CN" sz="2800" dirty="0" smtClean="0"/>
          </a:p>
          <a:p>
            <a:pPr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800" dirty="0" smtClean="0"/>
              <a:t>运行一个有</a:t>
            </a:r>
            <a:r>
              <a:rPr lang="en-US" altLang="zh-CN" sz="2800" dirty="0" smtClean="0"/>
              <a:t>N</a:t>
            </a:r>
            <a:r>
              <a:rPr lang="zh-CN" altLang="en-US" sz="2800" dirty="0" smtClean="0"/>
              <a:t>页大小的程序，需要找到</a:t>
            </a:r>
            <a:r>
              <a:rPr lang="en-US" altLang="zh-CN" sz="2800" dirty="0" smtClean="0"/>
              <a:t>N</a:t>
            </a:r>
            <a:r>
              <a:rPr lang="zh-CN" altLang="en-US" sz="2800" dirty="0" smtClean="0"/>
              <a:t>个空的页框来装入程序</a:t>
            </a:r>
            <a:endParaRPr lang="zh-CN" altLang="en-US" sz="2800" dirty="0" smtClean="0"/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 dirty="0" smtClean="0"/>
              <a:t>（思考：</a:t>
            </a:r>
            <a:r>
              <a:rPr lang="zh-CN" altLang="en-US" sz="28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如果空页框不够呢</a:t>
            </a:r>
            <a:r>
              <a:rPr lang="zh-CN" altLang="en-US" sz="2800" dirty="0" smtClean="0"/>
              <a:t>？补充基本和请求的</a:t>
            </a:r>
            <a:r>
              <a:rPr lang="zh-CN" altLang="en-US" sz="2800" dirty="0" smtClean="0"/>
              <a:t>不同）</a:t>
            </a:r>
            <a:endParaRPr lang="zh-CN" altLang="en-US" sz="2800" dirty="0" smtClean="0"/>
          </a:p>
          <a:p>
            <a:pPr marL="0" indent="0">
              <a:lnSpc>
                <a:spcPct val="120000"/>
              </a:lnSpc>
              <a:buNone/>
            </a:pPr>
            <a:endParaRPr lang="zh-CN" altLang="en-US" sz="2800" dirty="0" smtClean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974" y="115093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974" y="1835032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页表的作用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10" name="Group 229"/>
          <p:cNvGraphicFramePr>
            <a:graphicFrameLocks noGrp="1"/>
          </p:cNvGraphicFramePr>
          <p:nvPr/>
        </p:nvGraphicFramePr>
        <p:xfrm>
          <a:off x="1722120" y="1517721"/>
          <a:ext cx="1447800" cy="4475165"/>
        </p:xfrm>
        <a:graphic>
          <a:graphicData uri="http://schemas.openxmlformats.org/drawingml/2006/table">
            <a:tbl>
              <a:tblPr/>
              <a:tblGrid>
                <a:gridCol w="1447800"/>
              </a:tblGrid>
              <a:tr h="45786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用户程序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86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86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090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86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86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86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918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……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86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Group 228"/>
          <p:cNvGraphicFramePr>
            <a:graphicFrameLocks noGrp="1"/>
          </p:cNvGraphicFramePr>
          <p:nvPr/>
        </p:nvGraphicFramePr>
        <p:xfrm>
          <a:off x="4236720" y="1060513"/>
          <a:ext cx="1828800" cy="4932373"/>
        </p:xfrm>
        <a:graphic>
          <a:graphicData uri="http://schemas.openxmlformats.org/drawingml/2006/table">
            <a:tbl>
              <a:tblPr/>
              <a:tblGrid>
                <a:gridCol w="990600"/>
                <a:gridCol w="838200"/>
              </a:tblGrid>
              <a:tr h="457821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45782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页号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块号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82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5782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507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5782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5782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5782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19022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…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…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5782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Group 23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285792" y="1060513"/>
          <a:ext cx="1750454" cy="5951348"/>
        </p:xfrm>
        <a:graphic>
          <a:graphicData uri="http://schemas.openxmlformats.org/drawingml/2006/table">
            <a:tbl>
              <a:tblPr/>
              <a:tblGrid>
                <a:gridCol w="1196662"/>
                <a:gridCol w="553792"/>
              </a:tblGrid>
              <a:tr h="412773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内存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343FA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Line 221"/>
          <p:cNvSpPr>
            <a:spLocks noChangeShapeType="1"/>
          </p:cNvSpPr>
          <p:nvPr/>
        </p:nvSpPr>
        <p:spPr bwMode="auto">
          <a:xfrm>
            <a:off x="6065520" y="2290829"/>
            <a:ext cx="1219200" cy="44609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4" name="Line 222"/>
          <p:cNvSpPr>
            <a:spLocks noChangeShapeType="1"/>
          </p:cNvSpPr>
          <p:nvPr/>
        </p:nvSpPr>
        <p:spPr bwMode="auto">
          <a:xfrm>
            <a:off x="6065520" y="2605156"/>
            <a:ext cx="1177925" cy="43656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5" name="Line 223"/>
          <p:cNvSpPr>
            <a:spLocks noChangeShapeType="1"/>
          </p:cNvSpPr>
          <p:nvPr/>
        </p:nvSpPr>
        <p:spPr bwMode="auto">
          <a:xfrm>
            <a:off x="6065520" y="3281428"/>
            <a:ext cx="1177925" cy="114443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6" name="Line 224"/>
          <p:cNvSpPr>
            <a:spLocks noChangeShapeType="1"/>
          </p:cNvSpPr>
          <p:nvPr/>
        </p:nvSpPr>
        <p:spPr bwMode="auto">
          <a:xfrm>
            <a:off x="6065520" y="3802296"/>
            <a:ext cx="1219200" cy="152685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7" name="Line 225"/>
          <p:cNvSpPr>
            <a:spLocks noChangeShapeType="1"/>
          </p:cNvSpPr>
          <p:nvPr/>
        </p:nvSpPr>
        <p:spPr bwMode="auto">
          <a:xfrm>
            <a:off x="6065520" y="4184720"/>
            <a:ext cx="1219200" cy="1751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09875" y="538480"/>
            <a:ext cx="5170170" cy="52197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【实现从页号到块号的地址映射】</a:t>
            </a:r>
            <a:endParaRPr lang="zh-CN" altLang="en-US" sz="28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87655" y="925830"/>
            <a:ext cx="11646535" cy="4646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/>
              <a:t>基本分页式存储管理</a:t>
            </a:r>
            <a:endParaRPr lang="zh-CN" altLang="en-US" sz="3200"/>
          </a:p>
          <a:p>
            <a:r>
              <a:rPr lang="zh-CN" altLang="en-US" sz="3200"/>
              <a:t>系统若能满足一个作业所要求的全部块数， 此作业才能被装入</a:t>
            </a:r>
            <a:endParaRPr lang="zh-CN" altLang="en-US" sz="3200"/>
          </a:p>
          <a:p>
            <a:r>
              <a:rPr lang="zh-CN" altLang="en-US" sz="3200"/>
              <a:t>否则不为它分配任何内存。</a:t>
            </a:r>
            <a:endParaRPr lang="zh-CN" altLang="en-US" sz="3200"/>
          </a:p>
          <a:p>
            <a:endParaRPr lang="zh-CN" altLang="en-US" sz="3200"/>
          </a:p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/>
              <a:t>请求分页式存储管理</a:t>
            </a:r>
            <a:endParaRPr lang="zh-CN" altLang="en-US" sz="3200"/>
          </a:p>
          <a:p>
            <a:r>
              <a:rPr lang="zh-CN" altLang="en-US" sz="3200"/>
              <a:t>运行一个作业时，并不要求把该作业的全部程序和数据都装入</a:t>
            </a:r>
            <a:endParaRPr lang="zh-CN" altLang="en-US" sz="3200"/>
          </a:p>
          <a:p>
            <a:r>
              <a:rPr lang="zh-CN" altLang="en-US" sz="3200"/>
              <a:t>内存，可以只把目前要执行的几页调入内存的空闲块中，其余</a:t>
            </a:r>
            <a:endParaRPr lang="zh-CN" altLang="en-US" sz="3200"/>
          </a:p>
          <a:p>
            <a:r>
              <a:rPr lang="zh-CN" altLang="en-US" sz="3200"/>
              <a:t>的仍保存</a:t>
            </a:r>
            <a:r>
              <a:rPr lang="zh-CN" altLang="en-US" sz="3200"/>
              <a:t>在外存中，以后根据作业运行的需要再调入内存</a:t>
            </a:r>
            <a:endParaRPr lang="zh-CN" altLang="en-US" sz="32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0970" y="1014730"/>
            <a:ext cx="11788775" cy="5175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3200"/>
              <a:t>分页像分区相等的固定分区技术，但有</a:t>
            </a:r>
            <a:r>
              <a:rPr lang="zh-CN" altLang="en-US" sz="3200"/>
              <a:t>本质的不同</a:t>
            </a:r>
            <a:r>
              <a:rPr lang="en-US" altLang="zh-CN" sz="3200"/>
              <a:t>:</a:t>
            </a:r>
            <a:endParaRPr lang="en-US" altLang="zh-CN" sz="3200"/>
          </a:p>
          <a:p>
            <a:pPr>
              <a:lnSpc>
                <a:spcPct val="150000"/>
              </a:lnSpc>
            </a:pPr>
            <a:endParaRPr lang="en-US" altLang="zh-CN" sz="32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200"/>
              <a:t>块的大小相对分区要小很多，是</a:t>
            </a:r>
            <a:r>
              <a:rPr lang="en-US" altLang="zh-CN" sz="3200"/>
              <a:t>2</a:t>
            </a:r>
            <a:r>
              <a:rPr lang="zh-CN" altLang="en-US" sz="3200"/>
              <a:t>的</a:t>
            </a:r>
            <a:r>
              <a:rPr lang="zh-CN" altLang="en-US" sz="3200"/>
              <a:t>整数幂，</a:t>
            </a:r>
            <a:r>
              <a:rPr lang="zh-CN" altLang="en-US" sz="3200" dirty="0" smtClean="0">
                <a:sym typeface="+mn-ea"/>
              </a:rPr>
              <a:t>通常为</a:t>
            </a:r>
            <a:r>
              <a:rPr lang="en-US" altLang="zh-CN" sz="3200" dirty="0" smtClean="0">
                <a:sym typeface="+mn-ea"/>
              </a:rPr>
              <a:t>1KB~8KB</a:t>
            </a:r>
            <a:r>
              <a:rPr lang="zh-CN" altLang="en-US" sz="3200" dirty="0" smtClean="0">
                <a:sym typeface="+mn-ea"/>
              </a:rPr>
              <a:t>范围，</a:t>
            </a:r>
            <a:r>
              <a:rPr lang="zh-CN" altLang="en-US" sz="3200"/>
              <a:t>而且进程也按照块进行划分，进程运行时按块申请。这样，进程只会在为最后一个不完整的块申请时，才产生碎片，这种碎片相对于进程来说是很小的，每个进程平均只产生半个块大小的内部碎片（也称</a:t>
            </a:r>
            <a:r>
              <a:rPr lang="zh-CN" altLang="en-US" sz="3200" b="1"/>
              <a:t>页内碎片</a:t>
            </a:r>
            <a:r>
              <a:rPr lang="zh-CN" altLang="en-US" sz="3200"/>
              <a:t>）</a:t>
            </a:r>
            <a:endParaRPr lang="zh-CN" altLang="en-US" sz="3200"/>
          </a:p>
          <a:p>
            <a:pPr indent="0">
              <a:buFont typeface="Arial" panose="020B0604020202020204" pitchFamily="34" charset="0"/>
              <a:buNone/>
            </a:pPr>
            <a:endParaRPr lang="zh-CN" altLang="en-US" sz="32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逻辑地址结构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1" name="Group 23"/>
          <p:cNvGrpSpPr/>
          <p:nvPr/>
        </p:nvGrpSpPr>
        <p:grpSpPr bwMode="auto">
          <a:xfrm>
            <a:off x="1317491" y="1085067"/>
            <a:ext cx="9110163" cy="1207371"/>
            <a:chOff x="912" y="1114"/>
            <a:chExt cx="3984" cy="528"/>
          </a:xfrm>
        </p:grpSpPr>
        <p:sp>
          <p:nvSpPr>
            <p:cNvPr id="32" name="Rectangle 7"/>
            <p:cNvSpPr>
              <a:spLocks noChangeArrowheads="1"/>
            </p:cNvSpPr>
            <p:nvPr/>
          </p:nvSpPr>
          <p:spPr bwMode="auto">
            <a:xfrm>
              <a:off x="2880" y="1392"/>
              <a:ext cx="1920" cy="2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kumimoji="1" lang="zh-CN" altLang="en-US" sz="2400" b="1" dirty="0">
                  <a:solidFill>
                    <a:schemeClr val="bg1"/>
                  </a:solidFill>
                  <a:latin typeface="+mn-ea"/>
                  <a:ea typeface="+mn-ea"/>
                </a:rPr>
                <a:t>位移量</a:t>
              </a:r>
              <a:r>
                <a:rPr kumimoji="1" lang="en-US" altLang="zh-CN" sz="2400" b="1" dirty="0">
                  <a:solidFill>
                    <a:schemeClr val="bg1"/>
                  </a:solidFill>
                  <a:latin typeface="+mn-ea"/>
                  <a:ea typeface="+mn-ea"/>
                </a:rPr>
                <a:t>W</a:t>
              </a:r>
              <a:r>
                <a:rPr kumimoji="1" lang="zh-CN" altLang="en-US" sz="2400" b="1" dirty="0">
                  <a:solidFill>
                    <a:schemeClr val="bg1"/>
                  </a:solidFill>
                  <a:latin typeface="+mn-ea"/>
                  <a:ea typeface="+mn-ea"/>
                </a:rPr>
                <a:t>（页内</a:t>
              </a:r>
              <a:r>
                <a:rPr kumimoji="1" lang="zh-CN" altLang="en-US" sz="2400" b="1" dirty="0">
                  <a:solidFill>
                    <a:schemeClr val="bg1"/>
                  </a:solidFill>
                  <a:latin typeface="+mn-ea"/>
                  <a:ea typeface="+mn-ea"/>
                </a:rPr>
                <a:t>地址）</a:t>
              </a:r>
              <a:endParaRPr kumimoji="1" lang="zh-CN" altLang="en-US" sz="24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34" name="Rectangle 6"/>
            <p:cNvSpPr>
              <a:spLocks noChangeArrowheads="1"/>
            </p:cNvSpPr>
            <p:nvPr/>
          </p:nvSpPr>
          <p:spPr bwMode="auto">
            <a:xfrm>
              <a:off x="960" y="1392"/>
              <a:ext cx="1920" cy="25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FFC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r>
                <a:rPr lang="zh-CN" altLang="en-US" sz="2400" b="1">
                  <a:solidFill>
                    <a:schemeClr val="bg1"/>
                  </a:solidFill>
                  <a:latin typeface="+mn-ea"/>
                  <a:ea typeface="+mn-ea"/>
                </a:rPr>
                <a:t>页号</a:t>
              </a:r>
              <a:r>
                <a:rPr lang="en-US" altLang="zh-CN" sz="2400" b="1">
                  <a:solidFill>
                    <a:schemeClr val="bg1"/>
                  </a:solidFill>
                  <a:latin typeface="+mn-ea"/>
                  <a:ea typeface="+mn-ea"/>
                </a:rPr>
                <a:t>P</a:t>
              </a:r>
              <a:endParaRPr lang="en-US" altLang="zh-CN" sz="2400" b="1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36" name="Line 8"/>
            <p:cNvSpPr>
              <a:spLocks noChangeShapeType="1"/>
            </p:cNvSpPr>
            <p:nvPr/>
          </p:nvSpPr>
          <p:spPr bwMode="auto">
            <a:xfrm>
              <a:off x="960" y="1392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38" name="Line 9"/>
            <p:cNvSpPr>
              <a:spLocks noChangeShapeType="1"/>
            </p:cNvSpPr>
            <p:nvPr/>
          </p:nvSpPr>
          <p:spPr bwMode="auto">
            <a:xfrm>
              <a:off x="960" y="1642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39" name="Line 10"/>
            <p:cNvSpPr>
              <a:spLocks noChangeShapeType="1"/>
            </p:cNvSpPr>
            <p:nvPr/>
          </p:nvSpPr>
          <p:spPr bwMode="auto">
            <a:xfrm>
              <a:off x="960" y="1392"/>
              <a:ext cx="0" cy="2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>
              <a:off x="2880" y="1392"/>
              <a:ext cx="0" cy="2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42" name="Line 12"/>
            <p:cNvSpPr>
              <a:spLocks noChangeShapeType="1"/>
            </p:cNvSpPr>
            <p:nvPr/>
          </p:nvSpPr>
          <p:spPr bwMode="auto">
            <a:xfrm>
              <a:off x="4800" y="1392"/>
              <a:ext cx="0" cy="2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44" name="Text Box 19"/>
            <p:cNvSpPr txBox="1">
              <a:spLocks noChangeArrowheads="1"/>
            </p:cNvSpPr>
            <p:nvPr/>
          </p:nvSpPr>
          <p:spPr bwMode="auto">
            <a:xfrm>
              <a:off x="912" y="1114"/>
              <a:ext cx="288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>
                  <a:latin typeface="+mn-ea"/>
                  <a:ea typeface="+mn-ea"/>
                </a:rPr>
                <a:t>31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45" name="Text Box 20"/>
            <p:cNvSpPr txBox="1">
              <a:spLocks noChangeArrowheads="1"/>
            </p:cNvSpPr>
            <p:nvPr/>
          </p:nvSpPr>
          <p:spPr bwMode="auto">
            <a:xfrm>
              <a:off x="2650" y="1114"/>
              <a:ext cx="288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12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46" name="Text Box 21"/>
            <p:cNvSpPr txBox="1">
              <a:spLocks noChangeArrowheads="1"/>
            </p:cNvSpPr>
            <p:nvPr/>
          </p:nvSpPr>
          <p:spPr bwMode="auto">
            <a:xfrm>
              <a:off x="2870" y="1123"/>
              <a:ext cx="288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>
                  <a:latin typeface="+mn-ea"/>
                  <a:ea typeface="+mn-ea"/>
                </a:rPr>
                <a:t>11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47" name="Text Box 22"/>
            <p:cNvSpPr txBox="1">
              <a:spLocks noChangeArrowheads="1"/>
            </p:cNvSpPr>
            <p:nvPr/>
          </p:nvSpPr>
          <p:spPr bwMode="auto">
            <a:xfrm>
              <a:off x="4608" y="1114"/>
              <a:ext cx="288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>
                  <a:latin typeface="+mn-ea"/>
                  <a:ea typeface="+mn-ea"/>
                </a:rPr>
                <a:t>0</a:t>
              </a:r>
              <a:endParaRPr lang="en-US" altLang="zh-CN" sz="2400">
                <a:latin typeface="+mn-ea"/>
                <a:ea typeface="+mn-ea"/>
              </a:endParaRPr>
            </a:p>
          </p:txBody>
        </p:sp>
      </p:grpSp>
      <p:sp>
        <p:nvSpPr>
          <p:cNvPr id="48" name="Rectangle 3"/>
          <p:cNvSpPr txBox="1">
            <a:spLocks noChangeArrowheads="1"/>
          </p:cNvSpPr>
          <p:nvPr/>
        </p:nvSpPr>
        <p:spPr>
          <a:xfrm>
            <a:off x="1699579" y="3189522"/>
            <a:ext cx="8728075" cy="29241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23000"/>
              </a:lnSpc>
              <a:buNone/>
            </a:pPr>
            <a:r>
              <a:rPr lang="zh-CN" altLang="en-US" sz="2400" b="1" dirty="0" smtClean="0">
                <a:sym typeface="Wingdings" panose="05000000000000000000" pitchFamily="2" charset="2"/>
              </a:rPr>
              <a:t>页号</a:t>
            </a:r>
            <a:r>
              <a:rPr lang="en-US" altLang="zh-CN" sz="2400" b="1" dirty="0" smtClean="0">
                <a:sym typeface="Wingdings" panose="05000000000000000000" pitchFamily="2" charset="2"/>
              </a:rPr>
              <a:t>P</a:t>
            </a:r>
            <a:endParaRPr lang="en-US" altLang="zh-CN" sz="2400" b="1" dirty="0" smtClean="0">
              <a:sym typeface="Wingdings" panose="05000000000000000000" pitchFamily="2" charset="2"/>
            </a:endParaRPr>
          </a:p>
          <a:p>
            <a:pPr lvl="2">
              <a:lnSpc>
                <a:spcPct val="123000"/>
              </a:lnSpc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en-US" altLang="zh-CN" sz="2400" dirty="0" smtClean="0">
                <a:sym typeface="Wingdings" panose="05000000000000000000" pitchFamily="2" charset="2"/>
              </a:rPr>
              <a:t>12-31</a:t>
            </a:r>
            <a:r>
              <a:rPr lang="zh-CN" altLang="en-US" sz="2400" dirty="0" smtClean="0">
                <a:sym typeface="Wingdings" panose="05000000000000000000" pitchFamily="2" charset="2"/>
              </a:rPr>
              <a:t>位：</a:t>
            </a:r>
            <a:r>
              <a:rPr lang="en-US" altLang="zh-CN" sz="2400" dirty="0" smtClean="0">
                <a:sym typeface="Wingdings" panose="05000000000000000000" pitchFamily="2" charset="2"/>
              </a:rPr>
              <a:t>20</a:t>
            </a:r>
            <a:r>
              <a:rPr lang="zh-CN" altLang="en-US" sz="2400" dirty="0" smtClean="0">
                <a:sym typeface="Wingdings" panose="05000000000000000000" pitchFamily="2" charset="2"/>
              </a:rPr>
              <a:t>位</a:t>
            </a:r>
            <a:endParaRPr lang="zh-CN" altLang="en-US" sz="2400" dirty="0" smtClean="0">
              <a:sym typeface="Wingdings" panose="05000000000000000000" pitchFamily="2" charset="2"/>
            </a:endParaRPr>
          </a:p>
          <a:p>
            <a:pPr lvl="2">
              <a:lnSpc>
                <a:spcPct val="123000"/>
              </a:lnSpc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ym typeface="Wingdings" panose="05000000000000000000" pitchFamily="2" charset="2"/>
              </a:rPr>
              <a:t>地址空间最多允许有</a:t>
            </a:r>
            <a:r>
              <a:rPr lang="en-US" altLang="zh-CN" sz="2400" dirty="0" smtClean="0">
                <a:sym typeface="Wingdings" panose="05000000000000000000" pitchFamily="2" charset="2"/>
              </a:rPr>
              <a:t>1M</a:t>
            </a:r>
            <a:r>
              <a:rPr lang="zh-CN" altLang="en-US" sz="2400" dirty="0" smtClean="0">
                <a:sym typeface="Wingdings" panose="05000000000000000000" pitchFamily="2" charset="2"/>
              </a:rPr>
              <a:t>（</a:t>
            </a:r>
            <a:r>
              <a:rPr lang="en-US" altLang="zh-CN" sz="2400" dirty="0" smtClean="0">
                <a:sym typeface="Wingdings" panose="05000000000000000000" pitchFamily="2" charset="2"/>
              </a:rPr>
              <a:t>2</a:t>
            </a:r>
            <a:r>
              <a:rPr lang="en-US" altLang="zh-CN" sz="2400" baseline="30000" dirty="0" smtClean="0">
                <a:sym typeface="Wingdings" panose="05000000000000000000" pitchFamily="2" charset="2"/>
              </a:rPr>
              <a:t>20</a:t>
            </a:r>
            <a:r>
              <a:rPr lang="zh-CN" altLang="en-US" sz="2400" dirty="0" smtClean="0">
                <a:sym typeface="Wingdings" panose="05000000000000000000" pitchFamily="2" charset="2"/>
              </a:rPr>
              <a:t>）页</a:t>
            </a:r>
            <a:endParaRPr lang="zh-CN" altLang="en-US" sz="2400" dirty="0" smtClean="0">
              <a:sym typeface="Wingdings" panose="05000000000000000000" pitchFamily="2" charset="2"/>
            </a:endParaRPr>
          </a:p>
          <a:p>
            <a:pPr marL="457200" lvl="1" indent="0">
              <a:lnSpc>
                <a:spcPct val="123000"/>
              </a:lnSpc>
              <a:buNone/>
            </a:pPr>
            <a:r>
              <a:rPr lang="zh-CN" altLang="en-US" sz="2400" b="1" dirty="0" smtClean="0">
                <a:sym typeface="Wingdings" panose="05000000000000000000" pitchFamily="2" charset="2"/>
              </a:rPr>
              <a:t>位移量</a:t>
            </a:r>
            <a:r>
              <a:rPr lang="en-US" altLang="zh-CN" sz="2400" b="1" dirty="0" smtClean="0">
                <a:sym typeface="Wingdings" panose="05000000000000000000" pitchFamily="2" charset="2"/>
              </a:rPr>
              <a:t>W</a:t>
            </a:r>
            <a:r>
              <a:rPr lang="zh-CN" altLang="en-US" sz="2400" b="1" dirty="0" smtClean="0">
                <a:sym typeface="Wingdings" panose="05000000000000000000" pitchFamily="2" charset="2"/>
              </a:rPr>
              <a:t>（页内地址）</a:t>
            </a:r>
            <a:endParaRPr lang="zh-CN" altLang="en-US" sz="2400" b="1" dirty="0" smtClean="0">
              <a:sym typeface="Wingdings" panose="05000000000000000000" pitchFamily="2" charset="2"/>
            </a:endParaRPr>
          </a:p>
          <a:p>
            <a:pPr lvl="2">
              <a:lnSpc>
                <a:spcPct val="123000"/>
              </a:lnSpc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en-US" altLang="zh-CN" sz="2400" dirty="0" smtClean="0">
                <a:sym typeface="Wingdings" panose="05000000000000000000" pitchFamily="2" charset="2"/>
              </a:rPr>
              <a:t>0-11</a:t>
            </a:r>
            <a:r>
              <a:rPr lang="zh-CN" altLang="en-US" sz="2400" dirty="0" smtClean="0">
                <a:sym typeface="Wingdings" panose="05000000000000000000" pitchFamily="2" charset="2"/>
              </a:rPr>
              <a:t>：</a:t>
            </a:r>
            <a:r>
              <a:rPr lang="en-US" altLang="zh-CN" sz="2400" dirty="0" smtClean="0">
                <a:sym typeface="Wingdings" panose="05000000000000000000" pitchFamily="2" charset="2"/>
              </a:rPr>
              <a:t>12</a:t>
            </a:r>
            <a:r>
              <a:rPr lang="zh-CN" altLang="en-US" sz="2400" dirty="0" smtClean="0">
                <a:sym typeface="Wingdings" panose="05000000000000000000" pitchFamily="2" charset="2"/>
              </a:rPr>
              <a:t>位</a:t>
            </a:r>
            <a:endParaRPr lang="zh-CN" altLang="en-US" sz="2400" dirty="0" smtClean="0">
              <a:sym typeface="Wingdings" panose="05000000000000000000" pitchFamily="2" charset="2"/>
            </a:endParaRPr>
          </a:p>
          <a:p>
            <a:pPr lvl="2">
              <a:lnSpc>
                <a:spcPct val="123000"/>
              </a:lnSpc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ym typeface="Wingdings" panose="05000000000000000000" pitchFamily="2" charset="2"/>
              </a:rPr>
              <a:t>每页大小为</a:t>
            </a:r>
            <a:r>
              <a:rPr lang="en-US" altLang="zh-CN" sz="2400" dirty="0" smtClean="0">
                <a:sym typeface="Wingdings" panose="05000000000000000000" pitchFamily="2" charset="2"/>
              </a:rPr>
              <a:t>4KB </a:t>
            </a:r>
            <a:r>
              <a:rPr lang="zh-CN" altLang="en-US" sz="2400" dirty="0" smtClean="0">
                <a:sym typeface="Wingdings" panose="05000000000000000000" pitchFamily="2" charset="2"/>
              </a:rPr>
              <a:t>（</a:t>
            </a:r>
            <a:r>
              <a:rPr lang="en-US" altLang="zh-CN" sz="2400" dirty="0" smtClean="0">
                <a:sym typeface="Wingdings" panose="05000000000000000000" pitchFamily="2" charset="2"/>
              </a:rPr>
              <a:t>2</a:t>
            </a:r>
            <a:r>
              <a:rPr lang="en-US" altLang="zh-CN" sz="2400" baseline="30000" dirty="0" smtClean="0">
                <a:sym typeface="Wingdings" panose="05000000000000000000" pitchFamily="2" charset="2"/>
              </a:rPr>
              <a:t>12</a:t>
            </a:r>
            <a:r>
              <a:rPr lang="zh-CN" altLang="en-US" sz="2400" dirty="0" smtClean="0">
                <a:sym typeface="Wingdings" panose="05000000000000000000" pitchFamily="2" charset="2"/>
              </a:rPr>
              <a:t>）</a:t>
            </a:r>
            <a:endParaRPr lang="zh-CN" altLang="en-US" sz="2400" dirty="0" smtClean="0">
              <a:sym typeface="Wingdings" panose="05000000000000000000" pitchFamily="2" charset="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317491" y="2549313"/>
            <a:ext cx="10277467" cy="5860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分页地址中的结构（</a:t>
            </a:r>
            <a:r>
              <a:rPr lang="en-US" altLang="zh-CN" sz="2400" b="1" dirty="0">
                <a:solidFill>
                  <a:srgbClr val="C00000"/>
                </a:solidFill>
              </a:rPr>
              <a:t>32</a:t>
            </a:r>
            <a:r>
              <a:rPr lang="zh-CN" altLang="en-US" sz="2400" b="1" dirty="0">
                <a:solidFill>
                  <a:srgbClr val="C00000"/>
                </a:solidFill>
              </a:rPr>
              <a:t>位）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7252" y="3178862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7252" y="475567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地址</a:t>
            </a:r>
            <a:r>
              <a:rPr lang="zh-CN" altLang="en-US" sz="2800" b="1" dirty="0">
                <a:solidFill>
                  <a:schemeClr val="bg1"/>
                </a:solidFill>
              </a:rPr>
              <a:t>计算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1274576" y="1347843"/>
            <a:ext cx="8728075" cy="5163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23000"/>
              </a:lnSpc>
              <a:buNone/>
            </a:pPr>
            <a:r>
              <a:rPr lang="zh-CN" altLang="en-US" sz="2400" dirty="0">
                <a:sym typeface="Wingdings" panose="05000000000000000000" pitchFamily="2" charset="2"/>
              </a:rPr>
              <a:t>对某特定机器，地址结构是一定的。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2249" y="1337182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2249" y="216702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1265774" y="2177683"/>
            <a:ext cx="10196423" cy="5163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23000"/>
              </a:lnSpc>
              <a:buNone/>
            </a:pPr>
            <a:r>
              <a:rPr lang="zh-CN" altLang="en-US" sz="2400" dirty="0">
                <a:sym typeface="Wingdings" panose="05000000000000000000" pitchFamily="2" charset="2"/>
              </a:rPr>
              <a:t>若给定一个逻辑地址空间中的地址为</a:t>
            </a:r>
            <a:r>
              <a:rPr lang="en-US" altLang="zh-CN" sz="2400" dirty="0">
                <a:sym typeface="Wingdings" panose="05000000000000000000" pitchFamily="2" charset="2"/>
              </a:rPr>
              <a:t>A</a:t>
            </a:r>
            <a:r>
              <a:rPr lang="zh-CN" altLang="en-US" sz="2400" dirty="0">
                <a:sym typeface="Wingdings" panose="05000000000000000000" pitchFamily="2" charset="2"/>
              </a:rPr>
              <a:t>，页面的大小为</a:t>
            </a:r>
            <a:r>
              <a:rPr lang="en-US" altLang="zh-CN" sz="2400" dirty="0">
                <a:sym typeface="Wingdings" panose="05000000000000000000" pitchFamily="2" charset="2"/>
              </a:rPr>
              <a:t>L</a:t>
            </a:r>
            <a:r>
              <a:rPr lang="zh-CN" altLang="en-US" sz="2400" dirty="0">
                <a:sym typeface="Wingdings" panose="05000000000000000000" pitchFamily="2" charset="2"/>
              </a:rPr>
              <a:t>，则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页号</a:t>
            </a: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P</a:t>
            </a:r>
            <a:r>
              <a:rPr lang="zh-CN" altLang="en-US" sz="2400" dirty="0">
                <a:sym typeface="Wingdings" panose="05000000000000000000" pitchFamily="2" charset="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页内地址</a:t>
            </a: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d</a:t>
            </a:r>
            <a:r>
              <a:rPr lang="zh-CN" altLang="en-US" sz="2400" dirty="0">
                <a:sym typeface="Wingdings" panose="05000000000000000000" pitchFamily="2" charset="2"/>
              </a:rPr>
              <a:t>可按下式求得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graphicFrame>
        <p:nvGraphicFramePr>
          <p:cNvPr id="38" name="Object 18"/>
          <p:cNvGraphicFramePr>
            <a:graphicFrameLocks noChangeAspect="1"/>
          </p:cNvGraphicFramePr>
          <p:nvPr/>
        </p:nvGraphicFramePr>
        <p:xfrm>
          <a:off x="1861320" y="3332787"/>
          <a:ext cx="2321742" cy="123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Equation" r:id="rId2" imgW="812800" imgH="431800" progId="Equation.3">
                  <p:embed/>
                </p:oleObj>
              </mc:Choice>
              <mc:Fallback>
                <p:oleObj name="Equation" r:id="rId2" imgW="812800" imgH="431800" progId="Equation.3">
                  <p:embed/>
                  <p:pic>
                    <p:nvPicPr>
                      <p:cNvPr id="0" name="图片 30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1320" y="3332787"/>
                        <a:ext cx="2321742" cy="12326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19"/>
          <p:cNvSpPr txBox="1">
            <a:spLocks noChangeArrowheads="1"/>
          </p:cNvSpPr>
          <p:nvPr/>
        </p:nvSpPr>
        <p:spPr bwMode="auto">
          <a:xfrm>
            <a:off x="4623435" y="3663950"/>
            <a:ext cx="6684010" cy="62547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lIns="92075" tIns="46038" rIns="92075" bIns="46038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d= [A] MOD L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40" name="Rectangle 3"/>
          <p:cNvSpPr txBox="1">
            <a:spLocks noChangeArrowheads="1"/>
          </p:cNvSpPr>
          <p:nvPr/>
        </p:nvSpPr>
        <p:spPr>
          <a:xfrm>
            <a:off x="1736346" y="4958419"/>
            <a:ext cx="9571306" cy="10163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FFC000"/>
              </a:buClr>
              <a:buSzPct val="75000"/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其中，</a:t>
            </a:r>
            <a:r>
              <a:rPr kumimoji="1"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INT</a:t>
            </a:r>
            <a:r>
              <a:rPr kumimoji="1" lang="zh-CN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：整除函数，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下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取整</a:t>
            </a:r>
            <a:r>
              <a:rPr kumimoji="1" lang="zh-CN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kumimoji="1"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MOD</a:t>
            </a:r>
            <a:r>
              <a:rPr kumimoji="1" lang="zh-CN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：取余函数</a:t>
            </a:r>
            <a:endParaRPr kumimoji="1" lang="zh-CN" altLang="en-US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spcBef>
                <a:spcPct val="20000"/>
              </a:spcBef>
              <a:buClr>
                <a:srgbClr val="FFC000"/>
              </a:buClr>
              <a:buSzPct val="75000"/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例如：系统页面大小为</a:t>
            </a:r>
            <a:r>
              <a:rPr kumimoji="1"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1KB</a:t>
            </a:r>
            <a:r>
              <a:rPr kumimoji="1" lang="zh-CN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，设</a:t>
            </a:r>
            <a:r>
              <a:rPr kumimoji="1"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A=5168B</a:t>
            </a:r>
            <a:r>
              <a:rPr kumimoji="1" lang="zh-CN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，则</a:t>
            </a:r>
            <a:r>
              <a:rPr kumimoji="1" lang="en-US" altLang="zh-CN" sz="2400" b="1" u="sng" dirty="0">
                <a:latin typeface="Times New Roman" panose="02020603050405020304" pitchFamily="18" charset="0"/>
                <a:sym typeface="Wingdings" panose="05000000000000000000" pitchFamily="2" charset="2"/>
              </a:rPr>
              <a:t>P=5</a:t>
            </a:r>
            <a:r>
              <a:rPr kumimoji="1" lang="zh-CN" altLang="en-US" sz="2400" b="1" u="sng" dirty="0">
                <a:latin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kumimoji="1" lang="en-US" altLang="zh-CN" sz="2400" b="1" u="sng" dirty="0">
                <a:latin typeface="Times New Roman" panose="02020603050405020304" pitchFamily="18" charset="0"/>
                <a:sym typeface="Wingdings" panose="05000000000000000000" pitchFamily="2" charset="2"/>
              </a:rPr>
              <a:t>d=48</a:t>
            </a:r>
            <a:endParaRPr kumimoji="1" lang="en-US" altLang="zh-CN" sz="2400" b="1" u="sng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02565" y="1105535"/>
            <a:ext cx="11989435" cy="11372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noAutofit/>
          </a:bodyPr>
          <a:p>
            <a:r>
              <a:rPr lang="zh-CN" altLang="en-US" sz="3200"/>
              <a:t>设页面大小为1KB，将逻辑地址3BADH划分为页号和页内偏</a:t>
            </a:r>
            <a:endParaRPr lang="zh-CN" altLang="en-US" sz="3200"/>
          </a:p>
          <a:p>
            <a:r>
              <a:rPr lang="zh-CN" altLang="en-US" sz="3200"/>
              <a:t>移量两部分。用16进制表示。</a:t>
            </a:r>
            <a:endParaRPr lang="zh-CN" altLang="en-US" sz="3200"/>
          </a:p>
          <a:p>
            <a:endParaRPr lang="zh-CN" altLang="en-US" sz="3200"/>
          </a:p>
        </p:txBody>
      </p:sp>
      <p:sp>
        <p:nvSpPr>
          <p:cNvPr id="3" name="文本框 2"/>
          <p:cNvSpPr txBox="1"/>
          <p:nvPr/>
        </p:nvSpPr>
        <p:spPr>
          <a:xfrm>
            <a:off x="398145" y="2498090"/>
            <a:ext cx="11680825" cy="3585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200"/>
              <a:t>  </a:t>
            </a:r>
            <a:r>
              <a:rPr lang="en-US" altLang="zh-CN" sz="3200">
                <a:solidFill>
                  <a:schemeClr val="accent4">
                    <a:lumMod val="60000"/>
                    <a:lumOff val="40000"/>
                  </a:schemeClr>
                </a:solidFill>
              </a:rPr>
              <a:t> 传统方法：</a:t>
            </a:r>
            <a:endParaRPr lang="zh-CN" altLang="en-US" sz="3200"/>
          </a:p>
          <a:p>
            <a:r>
              <a:rPr lang="en-US" altLang="zh-CN" sz="3200"/>
              <a:t>(1</a:t>
            </a:r>
            <a:r>
              <a:rPr lang="zh-CN" altLang="en-US" sz="3200"/>
              <a:t>）</a:t>
            </a:r>
            <a:r>
              <a:rPr lang="en-US" altLang="zh-CN" sz="3200"/>
              <a:t>16</a:t>
            </a:r>
            <a:r>
              <a:rPr lang="zh-CN" altLang="en-US" sz="3200"/>
              <a:t>进制 3BADH转换为</a:t>
            </a:r>
            <a:r>
              <a:rPr lang="en-US" altLang="zh-CN" sz="3200"/>
              <a:t>10</a:t>
            </a:r>
            <a:r>
              <a:rPr lang="zh-CN" altLang="en-US" sz="3200"/>
              <a:t>进制</a:t>
            </a:r>
            <a:r>
              <a:rPr lang="en-US" altLang="zh-CN" sz="3200"/>
              <a:t>    </a:t>
            </a:r>
            <a:endParaRPr lang="en-US" altLang="zh-CN" sz="3200"/>
          </a:p>
          <a:p>
            <a:r>
              <a:rPr lang="en-US" altLang="zh-CN" sz="3200"/>
              <a:t>         </a:t>
            </a:r>
            <a:r>
              <a:rPr lang="zh-CN" altLang="en-US" sz="2800"/>
              <a:t>3×16</a:t>
            </a:r>
            <a:r>
              <a:rPr lang="zh-CN" altLang="en-US" sz="2800" baseline="30000"/>
              <a:t>3</a:t>
            </a:r>
            <a:r>
              <a:rPr lang="zh-CN" altLang="en-US" sz="2800"/>
              <a:t>+11×16</a:t>
            </a:r>
            <a:r>
              <a:rPr lang="en-US" altLang="zh-CN" sz="2800" baseline="30000"/>
              <a:t>2</a:t>
            </a:r>
            <a:r>
              <a:rPr lang="zh-CN" altLang="en-US" sz="2800"/>
              <a:t>+10×16</a:t>
            </a:r>
            <a:r>
              <a:rPr lang="en-US" altLang="zh-CN" sz="2800" baseline="30000"/>
              <a:t>1</a:t>
            </a:r>
            <a:r>
              <a:rPr lang="zh-CN" altLang="en-US" sz="2800"/>
              <a:t>+13×16</a:t>
            </a:r>
            <a:r>
              <a:rPr lang="zh-CN" altLang="en-US" sz="2800" baseline="30000"/>
              <a:t>0</a:t>
            </a:r>
            <a:r>
              <a:rPr lang="zh-CN" altLang="en-US" sz="2800"/>
              <a:t>= 12288+2816+160+13</a:t>
            </a:r>
            <a:r>
              <a:rPr lang="en-US" altLang="zh-CN" sz="2800"/>
              <a:t>=</a:t>
            </a:r>
            <a:r>
              <a:rPr lang="zh-CN" altLang="en-US" sz="2800">
                <a:sym typeface="+mn-ea"/>
              </a:rPr>
              <a:t>15277</a:t>
            </a:r>
            <a:r>
              <a:rPr lang="zh-CN" altLang="en-US" sz="3200">
                <a:sym typeface="+mn-ea"/>
              </a:rPr>
              <a:t> </a:t>
            </a:r>
            <a:endParaRPr lang="zh-CN" altLang="en-US" sz="3200"/>
          </a:p>
          <a:p>
            <a:r>
              <a:rPr lang="en-US" altLang="zh-CN" sz="3200"/>
              <a:t>(2</a:t>
            </a:r>
            <a:r>
              <a:rPr lang="zh-CN" altLang="en-US" sz="3200"/>
              <a:t>） </a:t>
            </a:r>
            <a:r>
              <a:rPr lang="zh-CN" altLang="en-US" sz="3200">
                <a:sym typeface="+mn-ea"/>
              </a:rPr>
              <a:t> P=</a:t>
            </a:r>
            <a:r>
              <a:rPr lang="en-US" altLang="zh-CN" sz="3200">
                <a:sym typeface="+mn-ea"/>
              </a:rPr>
              <a:t>INT</a:t>
            </a:r>
            <a:r>
              <a:rPr lang="zh-CN" altLang="en-US" sz="3200">
                <a:sym typeface="+mn-ea"/>
              </a:rPr>
              <a:t>(15277/1024)=14</a:t>
            </a:r>
            <a:endParaRPr lang="zh-CN" altLang="en-US" sz="3200"/>
          </a:p>
          <a:p>
            <a:r>
              <a:rPr lang="en-US" altLang="zh-CN" sz="3200"/>
              <a:t>         </a:t>
            </a:r>
            <a:r>
              <a:rPr lang="zh-CN" altLang="en-US" sz="3200"/>
              <a:t>W= 15277 mod 1024 = 941</a:t>
            </a:r>
            <a:endParaRPr lang="zh-CN" altLang="en-US" sz="3200"/>
          </a:p>
          <a:p>
            <a:r>
              <a:rPr lang="en-US" altLang="zh-CN" sz="3200"/>
              <a:t>(3</a:t>
            </a:r>
            <a:r>
              <a:rPr lang="zh-CN" altLang="en-US" sz="3200"/>
              <a:t>）最后转换为</a:t>
            </a:r>
            <a:r>
              <a:rPr lang="en-US" altLang="zh-CN" sz="3200"/>
              <a:t>16</a:t>
            </a:r>
            <a:r>
              <a:rPr lang="zh-CN" altLang="en-US" sz="3200"/>
              <a:t>进制为</a:t>
            </a:r>
            <a:endParaRPr lang="zh-CN" altLang="en-US" sz="3200"/>
          </a:p>
          <a:p>
            <a:r>
              <a:rPr lang="zh-CN" altLang="en-US" sz="3200"/>
              <a:t> </a:t>
            </a:r>
            <a:r>
              <a:rPr lang="en-US" altLang="zh-CN" sz="3200"/>
              <a:t>        </a:t>
            </a:r>
            <a:r>
              <a:rPr lang="zh-CN" altLang="en-US" sz="3200"/>
              <a:t>P=EH，W</a:t>
            </a:r>
            <a:r>
              <a:rPr lang="en-US" altLang="zh-CN" sz="3200"/>
              <a:t>=</a:t>
            </a:r>
            <a:r>
              <a:rPr lang="zh-CN" altLang="en-US" sz="3200"/>
              <a:t>3ADH</a:t>
            </a:r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02565" y="1105535"/>
            <a:ext cx="11989435" cy="11372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noAutofit/>
          </a:bodyPr>
          <a:p>
            <a:r>
              <a:rPr lang="zh-CN" altLang="en-US" sz="3200"/>
              <a:t>设页面大小为1KB，将逻辑地址3BADH划分为页号和页内偏</a:t>
            </a:r>
            <a:endParaRPr lang="zh-CN" altLang="en-US" sz="3200"/>
          </a:p>
          <a:p>
            <a:r>
              <a:rPr lang="zh-CN" altLang="en-US" sz="3200"/>
              <a:t>移量两部分。用16进制表示。</a:t>
            </a:r>
            <a:endParaRPr lang="zh-CN" altLang="en-US" sz="3200"/>
          </a:p>
          <a:p>
            <a:endParaRPr lang="zh-CN" altLang="en-US" sz="3200"/>
          </a:p>
        </p:txBody>
      </p:sp>
      <p:sp>
        <p:nvSpPr>
          <p:cNvPr id="3" name="文本框 2"/>
          <p:cNvSpPr txBox="1"/>
          <p:nvPr/>
        </p:nvSpPr>
        <p:spPr>
          <a:xfrm>
            <a:off x="398145" y="2498090"/>
            <a:ext cx="11680825" cy="11093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200"/>
              <a:t>  </a:t>
            </a:r>
            <a:r>
              <a:rPr lang="zh-CN" altLang="en-US" sz="3200">
                <a:solidFill>
                  <a:schemeClr val="accent4">
                    <a:lumMod val="60000"/>
                    <a:lumOff val="40000"/>
                  </a:schemeClr>
                </a:solidFill>
              </a:rPr>
              <a:t>进阶</a:t>
            </a:r>
            <a:r>
              <a:rPr lang="en-US" altLang="zh-CN" sz="3200">
                <a:solidFill>
                  <a:schemeClr val="accent4">
                    <a:lumMod val="60000"/>
                    <a:lumOff val="40000"/>
                  </a:schemeClr>
                </a:solidFill>
              </a:rPr>
              <a:t>方法：</a:t>
            </a:r>
            <a:endParaRPr lang="zh-CN" altLang="en-US" sz="3200"/>
          </a:p>
          <a:p>
            <a:r>
              <a:rPr lang="en-US" altLang="zh-CN" sz="3200">
                <a:sym typeface="+mn-ea"/>
              </a:rPr>
              <a:t>(1)16</a:t>
            </a:r>
            <a:r>
              <a:rPr lang="zh-CN" altLang="en-US" sz="3200">
                <a:sym typeface="+mn-ea"/>
              </a:rPr>
              <a:t>进制 3BADH转换为</a:t>
            </a:r>
            <a:r>
              <a:rPr lang="en-US" altLang="zh-CN" sz="3200">
                <a:sym typeface="+mn-ea"/>
              </a:rPr>
              <a:t>2</a:t>
            </a:r>
            <a:r>
              <a:rPr lang="zh-CN" altLang="en-US" sz="3200">
                <a:sym typeface="+mn-ea"/>
              </a:rPr>
              <a:t>进制</a:t>
            </a:r>
            <a:endParaRPr lang="zh-CN" altLang="en-US" sz="3200">
              <a:sym typeface="+mn-ea"/>
            </a:endParaRPr>
          </a:p>
          <a:p>
            <a:endParaRPr lang="zh-CN" altLang="en-US" sz="3200">
              <a:sym typeface="+mn-ea"/>
            </a:endParaRPr>
          </a:p>
          <a:p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 </a:t>
            </a:r>
            <a:endParaRPr lang="zh-CN" altLang="en-US" sz="320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730375" y="3879215"/>
          <a:ext cx="8524240" cy="823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765"/>
                <a:gridCol w="532765"/>
                <a:gridCol w="532765"/>
                <a:gridCol w="532765"/>
                <a:gridCol w="532765"/>
                <a:gridCol w="532765"/>
                <a:gridCol w="532765"/>
                <a:gridCol w="532765"/>
                <a:gridCol w="532765"/>
                <a:gridCol w="532765"/>
                <a:gridCol w="532765"/>
                <a:gridCol w="532765"/>
                <a:gridCol w="532765"/>
                <a:gridCol w="532765"/>
                <a:gridCol w="532765"/>
                <a:gridCol w="532765"/>
              </a:tblGrid>
              <a:tr h="8235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98145" y="5166995"/>
            <a:ext cx="1068705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>
                <a:sym typeface="+mn-ea"/>
              </a:rPr>
              <a:t>(2) </a:t>
            </a:r>
            <a:r>
              <a:rPr lang="zh-CN" altLang="en-US" sz="3200">
                <a:sym typeface="+mn-ea"/>
              </a:rPr>
              <a:t>页面大小</a:t>
            </a:r>
            <a:r>
              <a:rPr lang="en-US" altLang="zh-CN" sz="3200">
                <a:sym typeface="+mn-ea"/>
              </a:rPr>
              <a:t>1KB</a:t>
            </a:r>
            <a:r>
              <a:rPr lang="zh-CN" altLang="en-US" sz="3200">
                <a:sym typeface="+mn-ea"/>
              </a:rPr>
              <a:t>，即</a:t>
            </a:r>
            <a:r>
              <a:rPr lang="en-US" altLang="zh-CN" sz="3200">
                <a:sym typeface="+mn-ea"/>
              </a:rPr>
              <a:t>2</a:t>
            </a:r>
            <a:r>
              <a:rPr lang="en-US" altLang="zh-CN" sz="3200" baseline="30000">
                <a:sym typeface="+mn-ea"/>
              </a:rPr>
              <a:t>10 </a:t>
            </a:r>
            <a:r>
              <a:rPr lang="zh-CN" altLang="en-US" sz="3200">
                <a:sym typeface="+mn-ea"/>
              </a:rPr>
              <a:t>，取</a:t>
            </a:r>
            <a:r>
              <a:rPr lang="en-US" altLang="zh-CN" sz="3200">
                <a:sym typeface="+mn-ea"/>
              </a:rPr>
              <a:t>10</a:t>
            </a:r>
            <a:r>
              <a:rPr lang="zh-CN" altLang="en-US" sz="3200">
                <a:sym typeface="+mn-ea"/>
              </a:rPr>
              <a:t>位代表页内偏移地址，剩下的即为页号位数，所以：</a:t>
            </a:r>
            <a:r>
              <a:rPr lang="zh-CN" altLang="en-US" sz="3200">
                <a:sym typeface="+mn-ea"/>
              </a:rPr>
              <a:t>P=EH，W</a:t>
            </a:r>
            <a:r>
              <a:rPr lang="en-US" altLang="zh-CN" sz="3200">
                <a:sym typeface="+mn-ea"/>
              </a:rPr>
              <a:t>=</a:t>
            </a:r>
            <a:r>
              <a:rPr lang="zh-CN" altLang="en-US" sz="3200">
                <a:sym typeface="+mn-ea"/>
              </a:rPr>
              <a:t>3ADH</a:t>
            </a:r>
            <a:endParaRPr lang="zh-CN" altLang="en-US" sz="3200"/>
          </a:p>
          <a:p>
            <a:endParaRPr lang="zh-CN" altLang="en-US" sz="32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基本的地址变换机构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1" name="Group 32"/>
          <p:cNvGraphicFramePr>
            <a:graphicFrameLocks noGrp="1"/>
          </p:cNvGraphicFramePr>
          <p:nvPr/>
        </p:nvGraphicFramePr>
        <p:xfrm>
          <a:off x="2740508" y="1101126"/>
          <a:ext cx="3068391" cy="1066800"/>
        </p:xfrm>
        <a:graphic>
          <a:graphicData uri="http://schemas.openxmlformats.org/drawingml/2006/table">
            <a:tbl>
              <a:tblPr/>
              <a:tblGrid>
                <a:gridCol w="1552997"/>
                <a:gridCol w="1515394"/>
              </a:tblGrid>
              <a:tr h="533400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页表寄存器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(PTR)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5334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页表始址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页表长度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2" name="Oval 27"/>
          <p:cNvSpPr>
            <a:spLocks noChangeArrowheads="1"/>
          </p:cNvSpPr>
          <p:nvPr/>
        </p:nvSpPr>
        <p:spPr bwMode="auto">
          <a:xfrm>
            <a:off x="3751499" y="2496337"/>
            <a:ext cx="457200" cy="4572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  <a:round/>
          </a:ln>
          <a:effectLst/>
        </p:spPr>
        <p:txBody>
          <a:bodyPr wrap="none" lIns="92075" tIns="46038" rIns="92075" bIns="46038" anchor="ctr"/>
          <a:lstStyle/>
          <a:p>
            <a:pPr algn="ctr">
              <a:buFont typeface="Monotype Sorts" pitchFamily="2" charset="2"/>
              <a:buNone/>
              <a:defRPr/>
            </a:pPr>
            <a:r>
              <a:rPr lang="en-US" altLang="zh-CN" b="1" dirty="0">
                <a:latin typeface="Arial" panose="020B0604020202020204" pitchFamily="34" charset="0"/>
              </a:rPr>
              <a:t>+</a:t>
            </a:r>
            <a:endParaRPr lang="en-US" altLang="zh-CN" b="1" dirty="0">
              <a:latin typeface="Arial" panose="020B0604020202020204" pitchFamily="34" charset="0"/>
            </a:endParaRPr>
          </a:p>
        </p:txBody>
      </p:sp>
      <p:sp>
        <p:nvSpPr>
          <p:cNvPr id="34" name="Line 46"/>
          <p:cNvSpPr>
            <a:spLocks noChangeShapeType="1"/>
          </p:cNvSpPr>
          <p:nvPr/>
        </p:nvSpPr>
        <p:spPr bwMode="auto">
          <a:xfrm>
            <a:off x="6266099" y="3065151"/>
            <a:ext cx="8382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6" name="Line 53"/>
          <p:cNvSpPr>
            <a:spLocks noChangeShapeType="1"/>
          </p:cNvSpPr>
          <p:nvPr/>
        </p:nvSpPr>
        <p:spPr bwMode="auto">
          <a:xfrm>
            <a:off x="6266099" y="3065151"/>
            <a:ext cx="0" cy="39687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8" name="Line 55"/>
          <p:cNvSpPr>
            <a:spLocks noChangeShapeType="1"/>
          </p:cNvSpPr>
          <p:nvPr/>
        </p:nvSpPr>
        <p:spPr bwMode="auto">
          <a:xfrm>
            <a:off x="8704499" y="3065151"/>
            <a:ext cx="0" cy="39687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9" name="Line 59"/>
          <p:cNvSpPr>
            <a:spLocks noChangeShapeType="1"/>
          </p:cNvSpPr>
          <p:nvPr/>
        </p:nvSpPr>
        <p:spPr bwMode="auto">
          <a:xfrm>
            <a:off x="7104299" y="3065151"/>
            <a:ext cx="16002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" name="Line 60"/>
          <p:cNvSpPr>
            <a:spLocks noChangeShapeType="1"/>
          </p:cNvSpPr>
          <p:nvPr/>
        </p:nvSpPr>
        <p:spPr bwMode="auto">
          <a:xfrm>
            <a:off x="6266099" y="3462026"/>
            <a:ext cx="0" cy="52705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2" name="Line 68"/>
          <p:cNvSpPr>
            <a:spLocks noChangeShapeType="1"/>
          </p:cNvSpPr>
          <p:nvPr/>
        </p:nvSpPr>
        <p:spPr bwMode="auto">
          <a:xfrm>
            <a:off x="6266099" y="3989076"/>
            <a:ext cx="0" cy="5302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4" name="Line 71"/>
          <p:cNvSpPr>
            <a:spLocks noChangeShapeType="1"/>
          </p:cNvSpPr>
          <p:nvPr/>
        </p:nvSpPr>
        <p:spPr bwMode="auto">
          <a:xfrm>
            <a:off x="6266099" y="4519301"/>
            <a:ext cx="0" cy="5302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5" name="Line 74"/>
          <p:cNvSpPr>
            <a:spLocks noChangeShapeType="1"/>
          </p:cNvSpPr>
          <p:nvPr/>
        </p:nvSpPr>
        <p:spPr bwMode="auto">
          <a:xfrm>
            <a:off x="6266099" y="5049526"/>
            <a:ext cx="0" cy="52705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6" name="Line 77"/>
          <p:cNvSpPr>
            <a:spLocks noChangeShapeType="1"/>
          </p:cNvSpPr>
          <p:nvPr/>
        </p:nvSpPr>
        <p:spPr bwMode="auto">
          <a:xfrm>
            <a:off x="6266099" y="5576576"/>
            <a:ext cx="0" cy="5302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7" name="Rectangle 96"/>
          <p:cNvSpPr>
            <a:spLocks noChangeArrowheads="1"/>
          </p:cNvSpPr>
          <p:nvPr/>
        </p:nvSpPr>
        <p:spPr bwMode="auto">
          <a:xfrm>
            <a:off x="7028099" y="5271776"/>
            <a:ext cx="1600200" cy="5302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/>
        </p:spPr>
        <p:txBody>
          <a:bodyPr lIns="92075" tIns="46038" rIns="92075" bIns="46038" anchor="ctr"/>
          <a:lstStyle>
            <a:lvl1pPr>
              <a:buClr>
                <a:schemeClr val="tx2"/>
              </a:buClr>
              <a:buSzPct val="75000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buClr>
                <a:schemeClr val="tx1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buClr>
                <a:schemeClr val="accent2"/>
              </a:buClr>
              <a:buSzPct val="65000"/>
              <a:buChar char="u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buClr>
                <a:schemeClr val="tx1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  <a:defRPr/>
            </a:pPr>
            <a:endParaRPr lang="zh-CN" altLang="zh-CN" sz="2000" b="1"/>
          </a:p>
        </p:txBody>
      </p:sp>
      <p:sp>
        <p:nvSpPr>
          <p:cNvPr id="48" name="Rectangle 45"/>
          <p:cNvSpPr>
            <a:spLocks noChangeArrowheads="1"/>
          </p:cNvSpPr>
          <p:nvPr/>
        </p:nvSpPr>
        <p:spPr bwMode="auto">
          <a:xfrm>
            <a:off x="7028099" y="5802001"/>
            <a:ext cx="160020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页表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49" name="Rectangle 43"/>
          <p:cNvSpPr>
            <a:spLocks noChangeArrowheads="1"/>
          </p:cNvSpPr>
          <p:nvPr/>
        </p:nvSpPr>
        <p:spPr bwMode="auto">
          <a:xfrm>
            <a:off x="7028099" y="4744726"/>
            <a:ext cx="1600200" cy="527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/>
        </p:spPr>
        <p:txBody>
          <a:bodyPr lIns="92075" tIns="46038" rIns="92075" bIns="46038" anchor="ctr"/>
          <a:lstStyle>
            <a:lvl1pPr>
              <a:buClr>
                <a:schemeClr val="tx2"/>
              </a:buClr>
              <a:buSzPct val="75000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buClr>
                <a:schemeClr val="tx1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buClr>
                <a:schemeClr val="accent2"/>
              </a:buClr>
              <a:buSzPct val="65000"/>
              <a:buChar char="u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buClr>
                <a:schemeClr val="tx1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  <a:defRPr/>
            </a:pPr>
            <a:r>
              <a:rPr lang="en-US" altLang="zh-CN" b="1" dirty="0" smtClean="0">
                <a:latin typeface="+mj-lt"/>
              </a:rPr>
              <a:t>b</a:t>
            </a:r>
            <a:endParaRPr lang="en-US" altLang="zh-CN" b="1" dirty="0">
              <a:latin typeface="+mj-lt"/>
            </a:endParaRPr>
          </a:p>
        </p:txBody>
      </p:sp>
      <p:sp>
        <p:nvSpPr>
          <p:cNvPr id="50" name="Rectangle 42"/>
          <p:cNvSpPr>
            <a:spLocks noChangeArrowheads="1"/>
          </p:cNvSpPr>
          <p:nvPr/>
        </p:nvSpPr>
        <p:spPr bwMode="auto">
          <a:xfrm>
            <a:off x="6189899" y="4744726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600" b="1">
                <a:latin typeface="+mj-lt"/>
              </a:rPr>
              <a:t>3</a:t>
            </a:r>
            <a:endParaRPr kumimoji="1" lang="en-US" altLang="zh-CN" sz="2600" b="1">
              <a:latin typeface="+mj-lt"/>
            </a:endParaRPr>
          </a:p>
        </p:txBody>
      </p:sp>
      <p:sp>
        <p:nvSpPr>
          <p:cNvPr id="51" name="Rectangle 41"/>
          <p:cNvSpPr>
            <a:spLocks noChangeArrowheads="1"/>
          </p:cNvSpPr>
          <p:nvPr/>
        </p:nvSpPr>
        <p:spPr bwMode="auto">
          <a:xfrm>
            <a:off x="7028099" y="4214501"/>
            <a:ext cx="1600200" cy="5302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/>
        </p:spPr>
        <p:txBody>
          <a:bodyPr lIns="92075" tIns="46038" rIns="92075" bIns="46038" anchor="ctr"/>
          <a:lstStyle>
            <a:lvl1pPr>
              <a:buClr>
                <a:schemeClr val="tx2"/>
              </a:buClr>
              <a:buSzPct val="75000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buClr>
                <a:schemeClr val="tx1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buClr>
                <a:schemeClr val="accent2"/>
              </a:buClr>
              <a:buSzPct val="65000"/>
              <a:buChar char="u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buClr>
                <a:schemeClr val="tx1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  <a:defRPr/>
            </a:pPr>
            <a:endParaRPr lang="zh-CN" altLang="zh-CN" sz="2000" b="1"/>
          </a:p>
        </p:txBody>
      </p:sp>
      <p:sp>
        <p:nvSpPr>
          <p:cNvPr id="52" name="Rectangle 40"/>
          <p:cNvSpPr>
            <a:spLocks noChangeArrowheads="1"/>
          </p:cNvSpPr>
          <p:nvPr/>
        </p:nvSpPr>
        <p:spPr bwMode="auto">
          <a:xfrm>
            <a:off x="6189899" y="4214501"/>
            <a:ext cx="8382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600" b="1">
                <a:latin typeface="+mj-lt"/>
              </a:rPr>
              <a:t>2</a:t>
            </a:r>
            <a:endParaRPr kumimoji="1" lang="en-US" altLang="zh-CN" sz="2600" b="1">
              <a:latin typeface="+mj-lt"/>
            </a:endParaRPr>
          </a:p>
        </p:txBody>
      </p:sp>
      <p:sp>
        <p:nvSpPr>
          <p:cNvPr id="53" name="Rectangle 39"/>
          <p:cNvSpPr>
            <a:spLocks noChangeArrowheads="1"/>
          </p:cNvSpPr>
          <p:nvPr/>
        </p:nvSpPr>
        <p:spPr bwMode="auto">
          <a:xfrm>
            <a:off x="7028099" y="3684276"/>
            <a:ext cx="1600200" cy="5302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/>
        </p:spPr>
        <p:txBody>
          <a:bodyPr lIns="92075" tIns="46038" rIns="92075" bIns="46038" anchor="ctr"/>
          <a:lstStyle>
            <a:lvl1pPr>
              <a:buClr>
                <a:schemeClr val="tx2"/>
              </a:buClr>
              <a:buSzPct val="75000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buClr>
                <a:schemeClr val="tx1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buClr>
                <a:schemeClr val="accent2"/>
              </a:buClr>
              <a:buSzPct val="65000"/>
              <a:buChar char="u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buClr>
                <a:schemeClr val="tx1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  <a:defRPr/>
            </a:pPr>
            <a:endParaRPr lang="zh-CN" altLang="zh-CN" sz="2000" b="1"/>
          </a:p>
        </p:txBody>
      </p:sp>
      <p:sp>
        <p:nvSpPr>
          <p:cNvPr id="54" name="Rectangle 38"/>
          <p:cNvSpPr>
            <a:spLocks noChangeArrowheads="1"/>
          </p:cNvSpPr>
          <p:nvPr/>
        </p:nvSpPr>
        <p:spPr bwMode="auto">
          <a:xfrm>
            <a:off x="6189899" y="3684276"/>
            <a:ext cx="8382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600" b="1">
                <a:latin typeface="+mj-lt"/>
              </a:rPr>
              <a:t>1</a:t>
            </a:r>
            <a:endParaRPr kumimoji="1" lang="en-US" altLang="zh-CN" sz="2600" b="1">
              <a:latin typeface="+mj-lt"/>
            </a:endParaRPr>
          </a:p>
        </p:txBody>
      </p:sp>
      <p:sp>
        <p:nvSpPr>
          <p:cNvPr id="55" name="Rectangle 37"/>
          <p:cNvSpPr>
            <a:spLocks noChangeArrowheads="1"/>
          </p:cNvSpPr>
          <p:nvPr/>
        </p:nvSpPr>
        <p:spPr bwMode="auto">
          <a:xfrm>
            <a:off x="7028099" y="3141351"/>
            <a:ext cx="1600200" cy="527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/>
        </p:spPr>
        <p:txBody>
          <a:bodyPr lIns="92075" tIns="46038" rIns="92075" bIns="46038" anchor="ctr"/>
          <a:lstStyle>
            <a:lvl1pPr>
              <a:buClr>
                <a:schemeClr val="tx2"/>
              </a:buClr>
              <a:buSzPct val="75000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buClr>
                <a:schemeClr val="tx1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buClr>
                <a:schemeClr val="accent2"/>
              </a:buClr>
              <a:buSzPct val="65000"/>
              <a:buChar char="u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buClr>
                <a:schemeClr val="tx1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  <a:defRPr/>
            </a:pPr>
            <a:r>
              <a:rPr lang="en-US" altLang="zh-CN" b="1" dirty="0">
                <a:latin typeface="+mj-lt"/>
              </a:rPr>
              <a:t>1</a:t>
            </a:r>
            <a:endParaRPr lang="en-US" altLang="zh-CN" b="1" dirty="0">
              <a:latin typeface="+mj-lt"/>
            </a:endParaRPr>
          </a:p>
        </p:txBody>
      </p:sp>
      <p:sp>
        <p:nvSpPr>
          <p:cNvPr id="56" name="Rectangle 36"/>
          <p:cNvSpPr>
            <a:spLocks noChangeArrowheads="1"/>
          </p:cNvSpPr>
          <p:nvPr/>
        </p:nvSpPr>
        <p:spPr bwMode="auto">
          <a:xfrm>
            <a:off x="6189899" y="3157226"/>
            <a:ext cx="838200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600" b="1" dirty="0">
                <a:latin typeface="+mj-lt"/>
              </a:rPr>
              <a:t>0</a:t>
            </a:r>
            <a:endParaRPr kumimoji="1" lang="en-US" altLang="zh-CN" sz="2600" b="1" dirty="0">
              <a:latin typeface="+mj-lt"/>
            </a:endParaRPr>
          </a:p>
        </p:txBody>
      </p:sp>
      <p:sp>
        <p:nvSpPr>
          <p:cNvPr id="57" name="Rectangle 35"/>
          <p:cNvSpPr>
            <a:spLocks noChangeArrowheads="1"/>
          </p:cNvSpPr>
          <p:nvPr/>
        </p:nvSpPr>
        <p:spPr bwMode="auto">
          <a:xfrm>
            <a:off x="7028099" y="2760351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zh-CN" altLang="en-US" sz="2000" b="1" dirty="0">
                <a:latin typeface="+mn-ea"/>
                <a:ea typeface="+mn-ea"/>
              </a:rPr>
              <a:t>块号</a:t>
            </a:r>
            <a:endParaRPr kumimoji="1" lang="zh-CN" altLang="en-US" sz="2000" b="1" dirty="0">
              <a:latin typeface="+mn-ea"/>
              <a:ea typeface="+mn-ea"/>
            </a:endParaRPr>
          </a:p>
        </p:txBody>
      </p:sp>
      <p:sp>
        <p:nvSpPr>
          <p:cNvPr id="58" name="Rectangle 34"/>
          <p:cNvSpPr>
            <a:spLocks noChangeArrowheads="1"/>
          </p:cNvSpPr>
          <p:nvPr/>
        </p:nvSpPr>
        <p:spPr bwMode="auto">
          <a:xfrm>
            <a:off x="6189899" y="2760351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zh-CN" altLang="en-US" sz="2000" b="1" dirty="0">
                <a:latin typeface="+mn-ea"/>
                <a:ea typeface="+mn-ea"/>
              </a:rPr>
              <a:t>页号</a:t>
            </a:r>
            <a:endParaRPr kumimoji="1" lang="zh-CN" altLang="en-US" sz="2000" b="1" dirty="0">
              <a:latin typeface="+mn-ea"/>
              <a:ea typeface="+mn-ea"/>
            </a:endParaRPr>
          </a:p>
        </p:txBody>
      </p:sp>
      <p:sp>
        <p:nvSpPr>
          <p:cNvPr id="59" name="Line 47"/>
          <p:cNvSpPr>
            <a:spLocks noChangeShapeType="1"/>
          </p:cNvSpPr>
          <p:nvPr/>
        </p:nvSpPr>
        <p:spPr bwMode="auto">
          <a:xfrm>
            <a:off x="6189899" y="3157226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0" name="Line 70"/>
          <p:cNvSpPr>
            <a:spLocks noChangeShapeType="1"/>
          </p:cNvSpPr>
          <p:nvPr/>
        </p:nvSpPr>
        <p:spPr bwMode="auto">
          <a:xfrm>
            <a:off x="7028099" y="3684276"/>
            <a:ext cx="16002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1" name="Line 73"/>
          <p:cNvSpPr>
            <a:spLocks noChangeShapeType="1"/>
          </p:cNvSpPr>
          <p:nvPr/>
        </p:nvSpPr>
        <p:spPr bwMode="auto">
          <a:xfrm>
            <a:off x="7028099" y="4214501"/>
            <a:ext cx="16002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2" name="Line 76"/>
          <p:cNvSpPr>
            <a:spLocks noChangeShapeType="1"/>
          </p:cNvSpPr>
          <p:nvPr/>
        </p:nvSpPr>
        <p:spPr bwMode="auto">
          <a:xfrm>
            <a:off x="7028099" y="4744726"/>
            <a:ext cx="160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3" name="Line 79"/>
          <p:cNvSpPr>
            <a:spLocks noChangeShapeType="1"/>
          </p:cNvSpPr>
          <p:nvPr/>
        </p:nvSpPr>
        <p:spPr bwMode="auto">
          <a:xfrm>
            <a:off x="7028099" y="5271776"/>
            <a:ext cx="160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4" name="Line 82"/>
          <p:cNvSpPr>
            <a:spLocks noChangeShapeType="1"/>
          </p:cNvSpPr>
          <p:nvPr/>
        </p:nvSpPr>
        <p:spPr bwMode="auto">
          <a:xfrm>
            <a:off x="7028099" y="2760351"/>
            <a:ext cx="0" cy="396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5" name="Line 67"/>
          <p:cNvSpPr>
            <a:spLocks noChangeShapeType="1"/>
          </p:cNvSpPr>
          <p:nvPr/>
        </p:nvSpPr>
        <p:spPr bwMode="auto">
          <a:xfrm>
            <a:off x="7028099" y="3157226"/>
            <a:ext cx="1600200" cy="0"/>
          </a:xfrm>
          <a:prstGeom prst="line">
            <a:avLst/>
          </a:prstGeom>
          <a:noFill/>
          <a:ln w="3175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6" name="Line 61"/>
          <p:cNvSpPr>
            <a:spLocks noChangeShapeType="1"/>
          </p:cNvSpPr>
          <p:nvPr/>
        </p:nvSpPr>
        <p:spPr bwMode="auto">
          <a:xfrm>
            <a:off x="7028099" y="3157226"/>
            <a:ext cx="0" cy="2644775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7" name="Line 62"/>
          <p:cNvSpPr>
            <a:spLocks noChangeShapeType="1"/>
          </p:cNvSpPr>
          <p:nvPr/>
        </p:nvSpPr>
        <p:spPr bwMode="auto">
          <a:xfrm>
            <a:off x="8628299" y="3157226"/>
            <a:ext cx="0" cy="2644775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8" name="Line 97"/>
          <p:cNvSpPr>
            <a:spLocks noChangeShapeType="1"/>
          </p:cNvSpPr>
          <p:nvPr/>
        </p:nvSpPr>
        <p:spPr bwMode="auto">
          <a:xfrm>
            <a:off x="7028099" y="5802001"/>
            <a:ext cx="160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9" name="Line 94"/>
          <p:cNvSpPr>
            <a:spLocks noChangeShapeType="1"/>
          </p:cNvSpPr>
          <p:nvPr/>
        </p:nvSpPr>
        <p:spPr bwMode="auto">
          <a:xfrm>
            <a:off x="6723299" y="4995551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graphicFrame>
        <p:nvGraphicFramePr>
          <p:cNvPr id="70" name="Group 133"/>
          <p:cNvGraphicFramePr>
            <a:graphicFrameLocks noGrp="1"/>
          </p:cNvGraphicFramePr>
          <p:nvPr/>
        </p:nvGraphicFramePr>
        <p:xfrm>
          <a:off x="9390299" y="5139726"/>
          <a:ext cx="2209800" cy="915672"/>
        </p:xfrm>
        <a:graphic>
          <a:graphicData uri="http://schemas.openxmlformats.org/drawingml/2006/table">
            <a:tbl>
              <a:tblPr/>
              <a:tblGrid>
                <a:gridCol w="762000"/>
                <a:gridCol w="1447800"/>
              </a:tblGrid>
              <a:tr h="44291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kumimoji="1" lang="zh-CN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  <a:endParaRPr kumimoji="1" lang="zh-CN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3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物理地址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71" name="Group 134"/>
          <p:cNvGraphicFramePr>
            <a:graphicFrameLocks noGrp="1"/>
          </p:cNvGraphicFramePr>
          <p:nvPr/>
        </p:nvGraphicFramePr>
        <p:xfrm>
          <a:off x="8856899" y="1177326"/>
          <a:ext cx="3276599" cy="1066800"/>
        </p:xfrm>
        <a:graphic>
          <a:graphicData uri="http://schemas.openxmlformats.org/drawingml/2006/table">
            <a:tbl>
              <a:tblPr/>
              <a:tblGrid>
                <a:gridCol w="1311148"/>
                <a:gridCol w="1965451"/>
              </a:tblGrid>
              <a:tr h="533400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逻辑地址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83" marR="92083" marT="46038" marB="46038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5334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页号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(3)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83" marR="92083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页内地址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83" marR="92083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72" name="Group 158"/>
          <p:cNvGrpSpPr/>
          <p:nvPr/>
        </p:nvGrpSpPr>
        <p:grpSpPr bwMode="auto">
          <a:xfrm>
            <a:off x="6951899" y="948726"/>
            <a:ext cx="1447800" cy="1295400"/>
            <a:chOff x="2544" y="624"/>
            <a:chExt cx="912" cy="816"/>
          </a:xfrm>
        </p:grpSpPr>
        <p:sp>
          <p:nvSpPr>
            <p:cNvPr id="73" name="Oval 146"/>
            <p:cNvSpPr>
              <a:spLocks noChangeArrowheads="1"/>
            </p:cNvSpPr>
            <p:nvPr/>
          </p:nvSpPr>
          <p:spPr bwMode="auto">
            <a:xfrm>
              <a:off x="2880" y="1152"/>
              <a:ext cx="288" cy="28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en-US" altLang="zh-CN" dirty="0">
                  <a:latin typeface="Arial" panose="020B0604020202020204" pitchFamily="34" charset="0"/>
                </a:rPr>
                <a:t>&gt;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74" name="Text Box 147"/>
            <p:cNvSpPr txBox="1">
              <a:spLocks noChangeArrowheads="1"/>
            </p:cNvSpPr>
            <p:nvPr/>
          </p:nvSpPr>
          <p:spPr bwMode="auto">
            <a:xfrm>
              <a:off x="2544" y="624"/>
              <a:ext cx="9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越界中断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75" name="Line 148"/>
            <p:cNvSpPr>
              <a:spLocks noChangeShapeType="1"/>
            </p:cNvSpPr>
            <p:nvPr/>
          </p:nvSpPr>
          <p:spPr bwMode="auto">
            <a:xfrm flipV="1">
              <a:off x="3024" y="864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sp>
        <p:nvSpPr>
          <p:cNvPr id="76" name="Oval 149"/>
          <p:cNvSpPr>
            <a:spLocks noChangeArrowheads="1"/>
          </p:cNvSpPr>
          <p:nvPr/>
        </p:nvSpPr>
        <p:spPr bwMode="auto">
          <a:xfrm>
            <a:off x="7637699" y="261009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2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7" name="Line 150"/>
          <p:cNvSpPr>
            <a:spLocks noChangeShapeType="1"/>
          </p:cNvSpPr>
          <p:nvPr/>
        </p:nvSpPr>
        <p:spPr bwMode="auto">
          <a:xfrm flipV="1">
            <a:off x="7713899" y="2244125"/>
            <a:ext cx="0" cy="44432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8" name="Line 151"/>
          <p:cNvSpPr>
            <a:spLocks noChangeShapeType="1"/>
          </p:cNvSpPr>
          <p:nvPr/>
        </p:nvSpPr>
        <p:spPr bwMode="auto">
          <a:xfrm>
            <a:off x="9695099" y="3158526"/>
            <a:ext cx="0" cy="2286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9" name="Line 153"/>
          <p:cNvSpPr>
            <a:spLocks noChangeShapeType="1"/>
          </p:cNvSpPr>
          <p:nvPr/>
        </p:nvSpPr>
        <p:spPr bwMode="auto">
          <a:xfrm>
            <a:off x="10914299" y="2244126"/>
            <a:ext cx="0" cy="2895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0" name="Line 154"/>
          <p:cNvSpPr>
            <a:spLocks noChangeShapeType="1"/>
          </p:cNvSpPr>
          <p:nvPr/>
        </p:nvSpPr>
        <p:spPr bwMode="auto">
          <a:xfrm>
            <a:off x="8628299" y="5368326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1" name="Line 155"/>
          <p:cNvSpPr>
            <a:spLocks noChangeShapeType="1"/>
          </p:cNvSpPr>
          <p:nvPr/>
        </p:nvSpPr>
        <p:spPr bwMode="auto">
          <a:xfrm>
            <a:off x="9618899" y="2244126"/>
            <a:ext cx="0" cy="44432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2" name="Line 156"/>
          <p:cNvSpPr>
            <a:spLocks noChangeShapeType="1"/>
          </p:cNvSpPr>
          <p:nvPr/>
        </p:nvSpPr>
        <p:spPr bwMode="auto">
          <a:xfrm flipH="1">
            <a:off x="4208699" y="2688932"/>
            <a:ext cx="5410200" cy="3444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3" name="Line 157"/>
          <p:cNvSpPr>
            <a:spLocks noChangeShapeType="1"/>
          </p:cNvSpPr>
          <p:nvPr/>
        </p:nvSpPr>
        <p:spPr bwMode="auto">
          <a:xfrm>
            <a:off x="3980099" y="2167926"/>
            <a:ext cx="0" cy="29192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4" name="Line 159"/>
          <p:cNvSpPr>
            <a:spLocks noChangeShapeType="1"/>
          </p:cNvSpPr>
          <p:nvPr/>
        </p:nvSpPr>
        <p:spPr bwMode="auto">
          <a:xfrm>
            <a:off x="3980099" y="3082326"/>
            <a:ext cx="0" cy="228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5" name="Line 160"/>
          <p:cNvSpPr>
            <a:spLocks noChangeShapeType="1"/>
          </p:cNvSpPr>
          <p:nvPr/>
        </p:nvSpPr>
        <p:spPr bwMode="auto">
          <a:xfrm>
            <a:off x="3980099" y="5330226"/>
            <a:ext cx="2514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6" name="Line 94"/>
          <p:cNvSpPr>
            <a:spLocks noChangeShapeType="1"/>
          </p:cNvSpPr>
          <p:nvPr/>
        </p:nvSpPr>
        <p:spPr bwMode="auto">
          <a:xfrm flipV="1">
            <a:off x="5808899" y="1991396"/>
            <a:ext cx="1676400" cy="2413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" name="isľîdê"/>
          <p:cNvSpPr txBox="1"/>
          <p:nvPr/>
        </p:nvSpPr>
        <p:spPr>
          <a:xfrm>
            <a:off x="6189980" y="6341745"/>
            <a:ext cx="3158490" cy="6229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1440" tIns="45720" rIns="91440" bIns="45720" anchor="t" anchorCtr="0">
            <a:noAutofit/>
          </a:bodyPr>
          <a:p>
            <a:pPr algn="ctr">
              <a:lnSpc>
                <a:spcPct val="120000"/>
              </a:lnSpc>
              <a:buClr>
                <a:srgbClr val="FF0000"/>
              </a:buClr>
            </a:pPr>
            <a:r>
              <a:rPr lang="zh-CN" altLang="en-US" sz="2400" dirty="0"/>
              <a:t>页表被保存在</a:t>
            </a:r>
            <a:r>
              <a:rPr lang="zh-CN" altLang="en-US" sz="2400" dirty="0"/>
              <a:t>内存中</a:t>
            </a:r>
            <a:endParaRPr lang="zh-CN" altLang="en-US" sz="2400" dirty="0"/>
          </a:p>
        </p:txBody>
      </p:sp>
      <p:sp>
        <p:nvSpPr>
          <p:cNvPr id="4" name="isľîdê"/>
          <p:cNvSpPr txBox="1"/>
          <p:nvPr/>
        </p:nvSpPr>
        <p:spPr>
          <a:xfrm>
            <a:off x="78740" y="2760345"/>
            <a:ext cx="3601085" cy="31991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1440" tIns="45720" rIns="91440" bIns="45720" anchor="t" anchorCtr="0">
            <a:noAutofit/>
          </a:bodyPr>
          <a:p>
            <a:pPr>
              <a:lnSpc>
                <a:spcPct val="120000"/>
              </a:lnSpc>
              <a:buClr>
                <a:srgbClr val="0000FF"/>
              </a:buClr>
            </a:pPr>
            <a:r>
              <a:rPr lang="zh-CN" altLang="en-US" sz="2400" dirty="0"/>
              <a:t>每一次存取需要</a:t>
            </a:r>
            <a:r>
              <a:rPr lang="zh-CN" altLang="en-US" sz="2400" dirty="0">
                <a:solidFill>
                  <a:srgbClr val="FF0000"/>
                </a:solidFill>
              </a:rPr>
              <a:t>两次内存访问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20000"/>
              </a:lnSpc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400" dirty="0"/>
              <a:t>第一次是访问页表中取出</a:t>
            </a:r>
            <a:r>
              <a:rPr lang="zh-CN" altLang="en-US" sz="2400" dirty="0"/>
              <a:t>页框号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400" dirty="0"/>
              <a:t>第二次是根据物理地址</a:t>
            </a:r>
            <a:r>
              <a:rPr lang="zh-CN" altLang="en-US" sz="2400" dirty="0"/>
              <a:t>取出相应</a:t>
            </a:r>
            <a:r>
              <a:rPr lang="zh-CN" altLang="en-US" sz="2400" dirty="0"/>
              <a:t>数据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75285" y="947420"/>
            <a:ext cx="11593830" cy="1859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600"/>
              <a:t>有一系统采用页式存储管理，有一作业大小是8KB，页大</a:t>
            </a:r>
            <a:endParaRPr lang="zh-CN" altLang="en-US" sz="3600"/>
          </a:p>
          <a:p>
            <a:r>
              <a:rPr lang="zh-CN" altLang="en-US" sz="3600"/>
              <a:t>小为2KB，依次装入内存的第7、9、A、5块，试将</a:t>
            </a:r>
            <a:r>
              <a:rPr lang="zh-CN" altLang="en-US" sz="3600"/>
              <a:t>逻辑地址0AFEH转换成内存地址。</a:t>
            </a:r>
            <a:endParaRPr lang="zh-CN" altLang="en-US" sz="3600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8677275" y="2476500"/>
          <a:ext cx="2969260" cy="2930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630"/>
                <a:gridCol w="1484630"/>
              </a:tblGrid>
              <a:tr h="5861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页号</a:t>
                      </a:r>
                      <a:endParaRPr lang="zh-CN" altLang="en-US" sz="3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块号</a:t>
                      </a:r>
                      <a:endParaRPr lang="zh-CN" altLang="en-US" sz="3200"/>
                    </a:p>
                  </a:txBody>
                  <a:tcPr anchor="ctr" anchorCtr="0"/>
                </a:tc>
              </a:tr>
              <a:tr h="5861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0</a:t>
                      </a:r>
                      <a:endParaRPr lang="en-US" altLang="zh-CN" sz="3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7</a:t>
                      </a:r>
                      <a:endParaRPr lang="en-US" altLang="zh-CN" sz="3200"/>
                    </a:p>
                  </a:txBody>
                  <a:tcPr anchor="ctr" anchorCtr="0"/>
                </a:tc>
              </a:tr>
              <a:tr h="5861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1</a:t>
                      </a:r>
                      <a:endParaRPr lang="en-US" altLang="zh-CN" sz="3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9</a:t>
                      </a:r>
                      <a:endParaRPr lang="en-US" altLang="zh-CN" sz="3200"/>
                    </a:p>
                  </a:txBody>
                  <a:tcPr anchor="ctr" anchorCtr="0"/>
                </a:tc>
              </a:tr>
              <a:tr h="5861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2</a:t>
                      </a:r>
                      <a:endParaRPr lang="en-US" altLang="zh-CN" sz="3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A</a:t>
                      </a:r>
                      <a:endParaRPr lang="en-US" altLang="zh-CN" sz="3200"/>
                    </a:p>
                  </a:txBody>
                  <a:tcPr anchor="ctr" anchorCtr="0"/>
                </a:tc>
              </a:tr>
              <a:tr h="5861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3</a:t>
                      </a:r>
                      <a:endParaRPr lang="en-US" altLang="zh-CN" sz="3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5</a:t>
                      </a:r>
                      <a:endParaRPr lang="en-US" altLang="zh-CN" sz="32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15975" y="3043555"/>
            <a:ext cx="736028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/>
              <a:t>逻辑地址</a:t>
            </a:r>
            <a:r>
              <a:rPr lang="en-US" altLang="zh-CN" sz="3200"/>
              <a:t>0</a:t>
            </a:r>
            <a:r>
              <a:rPr lang="zh-CN" altLang="en-US" sz="3200"/>
              <a:t>AFEH</a:t>
            </a:r>
            <a:endParaRPr lang="zh-CN" altLang="en-US" sz="3200"/>
          </a:p>
          <a:p>
            <a:r>
              <a:rPr lang="zh-CN" altLang="en-US" sz="3200">
                <a:highlight>
                  <a:srgbClr val="00FF00"/>
                </a:highlight>
              </a:rPr>
              <a:t>0000</a:t>
            </a:r>
            <a:r>
              <a:rPr lang="en-US" altLang="zh-CN" sz="3200">
                <a:highlight>
                  <a:srgbClr val="00FF00"/>
                </a:highlight>
              </a:rPr>
              <a:t> </a:t>
            </a:r>
            <a:r>
              <a:rPr lang="zh-CN" altLang="en-US" sz="3200">
                <a:highlight>
                  <a:srgbClr val="00FF00"/>
                </a:highlight>
              </a:rPr>
              <a:t>1</a:t>
            </a:r>
            <a:r>
              <a:rPr lang="zh-CN" altLang="en-US" sz="3200">
                <a:highlight>
                  <a:srgbClr val="FFFF00"/>
                </a:highlight>
              </a:rPr>
              <a:t>010</a:t>
            </a:r>
            <a:r>
              <a:rPr lang="en-US" altLang="zh-CN" sz="3200">
                <a:highlight>
                  <a:srgbClr val="FFFF00"/>
                </a:highlight>
              </a:rPr>
              <a:t> </a:t>
            </a:r>
            <a:r>
              <a:rPr lang="zh-CN" altLang="en-US" sz="3200">
                <a:highlight>
                  <a:srgbClr val="FFFF00"/>
                </a:highlight>
              </a:rPr>
              <a:t>1111 1110</a:t>
            </a:r>
            <a:endParaRPr lang="zh-CN" altLang="en-US" sz="3200"/>
          </a:p>
          <a:p>
            <a:r>
              <a:rPr lang="zh-CN" altLang="en-US" sz="3200"/>
              <a:t>P=1        d=</a:t>
            </a:r>
            <a:r>
              <a:rPr lang="zh-CN" altLang="en-US" sz="3200">
                <a:sym typeface="+mn-ea"/>
              </a:rPr>
              <a:t>010</a:t>
            </a:r>
            <a:r>
              <a:rPr lang="en-US" altLang="zh-CN" sz="3200">
                <a:sym typeface="+mn-ea"/>
              </a:rPr>
              <a:t> </a:t>
            </a:r>
            <a:r>
              <a:rPr lang="zh-CN" altLang="en-US" sz="3200">
                <a:sym typeface="+mn-ea"/>
              </a:rPr>
              <a:t>1111 1110</a:t>
            </a:r>
            <a:endParaRPr lang="zh-CN" altLang="en-US" sz="3200">
              <a:highlight>
                <a:srgbClr val="FFFF00"/>
              </a:highlight>
              <a:sym typeface="+mn-ea"/>
            </a:endParaRPr>
          </a:p>
          <a:p>
            <a:r>
              <a:rPr lang="zh-CN" altLang="en-US" sz="3200"/>
              <a:t>MR=</a:t>
            </a:r>
            <a:r>
              <a:rPr lang="zh-CN" altLang="en-US" sz="3200">
                <a:highlight>
                  <a:srgbClr val="FF00FF"/>
                </a:highlight>
              </a:rPr>
              <a:t>0100 1</a:t>
            </a:r>
            <a:r>
              <a:rPr lang="zh-CN" altLang="en-US" sz="3200">
                <a:highlight>
                  <a:srgbClr val="FFFF00"/>
                </a:highlight>
                <a:sym typeface="+mn-ea"/>
              </a:rPr>
              <a:t>010</a:t>
            </a:r>
            <a:r>
              <a:rPr lang="en-US" altLang="zh-CN" sz="3200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 sz="3200">
                <a:highlight>
                  <a:srgbClr val="FFFF00"/>
                </a:highlight>
                <a:sym typeface="+mn-ea"/>
              </a:rPr>
              <a:t>1111 1110</a:t>
            </a:r>
            <a:endParaRPr lang="zh-CN" altLang="en-US" sz="3200"/>
          </a:p>
          <a:p>
            <a:r>
              <a:rPr lang="zh-CN" altLang="en-US" sz="3200"/>
              <a:t>   </a:t>
            </a:r>
            <a:r>
              <a:rPr lang="en-US" altLang="zh-CN" sz="3200"/>
              <a:t>  </a:t>
            </a:r>
            <a:r>
              <a:rPr lang="zh-CN" altLang="en-US" sz="3200"/>
              <a:t> =4AFEH</a:t>
            </a:r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75285" y="947420"/>
            <a:ext cx="11593830" cy="1859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600"/>
              <a:t>有一系统采用页式存储管理，有一作业大小是8KB，页大</a:t>
            </a:r>
            <a:endParaRPr lang="zh-CN" altLang="en-US" sz="3600"/>
          </a:p>
          <a:p>
            <a:r>
              <a:rPr lang="zh-CN" altLang="en-US" sz="3600"/>
              <a:t>小为2KB，依次装入内存的第7、9、</a:t>
            </a:r>
            <a:r>
              <a:rPr lang="en-US" altLang="zh-CN" sz="3600"/>
              <a:t>10</a:t>
            </a:r>
            <a:r>
              <a:rPr lang="zh-CN" altLang="en-US" sz="3600"/>
              <a:t>、5块，试将逻辑地址</a:t>
            </a:r>
            <a:r>
              <a:rPr lang="en-US" altLang="zh-CN" sz="3600"/>
              <a:t>3412D</a:t>
            </a:r>
            <a:r>
              <a:rPr lang="zh-CN" altLang="en-US" sz="3600"/>
              <a:t>转换成内存地址。</a:t>
            </a:r>
            <a:endParaRPr lang="zh-CN" altLang="en-US" sz="3600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8677275" y="2476500"/>
          <a:ext cx="2969260" cy="2930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630"/>
                <a:gridCol w="1484630"/>
              </a:tblGrid>
              <a:tr h="5861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页号</a:t>
                      </a:r>
                      <a:endParaRPr lang="zh-CN" altLang="en-US" sz="3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块号</a:t>
                      </a:r>
                      <a:endParaRPr lang="zh-CN" altLang="en-US" sz="3200"/>
                    </a:p>
                  </a:txBody>
                  <a:tcPr anchor="ctr" anchorCtr="0"/>
                </a:tc>
              </a:tr>
              <a:tr h="5861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0</a:t>
                      </a:r>
                      <a:endParaRPr lang="en-US" altLang="zh-CN" sz="3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7</a:t>
                      </a:r>
                      <a:endParaRPr lang="en-US" altLang="zh-CN" sz="3200"/>
                    </a:p>
                  </a:txBody>
                  <a:tcPr anchor="ctr" anchorCtr="0"/>
                </a:tc>
              </a:tr>
              <a:tr h="5861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1</a:t>
                      </a:r>
                      <a:endParaRPr lang="en-US" altLang="zh-CN" sz="3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9</a:t>
                      </a:r>
                      <a:endParaRPr lang="en-US" altLang="zh-CN" sz="3200"/>
                    </a:p>
                  </a:txBody>
                  <a:tcPr anchor="ctr" anchorCtr="0"/>
                </a:tc>
              </a:tr>
              <a:tr h="5861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2</a:t>
                      </a:r>
                      <a:endParaRPr lang="en-US" altLang="zh-CN" sz="3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10</a:t>
                      </a:r>
                      <a:endParaRPr lang="en-US" altLang="zh-CN" sz="3200"/>
                    </a:p>
                  </a:txBody>
                  <a:tcPr anchor="ctr" anchorCtr="0"/>
                </a:tc>
              </a:tr>
              <a:tr h="5861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3</a:t>
                      </a:r>
                      <a:endParaRPr lang="en-US" altLang="zh-CN" sz="3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5</a:t>
                      </a:r>
                      <a:endParaRPr lang="en-US" altLang="zh-CN" sz="3200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0565" y="2934970"/>
            <a:ext cx="6096000" cy="3042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3200"/>
              <a:t>逻辑地址 3412</a:t>
            </a:r>
            <a:endParaRPr lang="zh-CN" altLang="en-US" sz="3200"/>
          </a:p>
          <a:p>
            <a:pPr>
              <a:lnSpc>
                <a:spcPct val="150000"/>
              </a:lnSpc>
            </a:pPr>
            <a:r>
              <a:rPr lang="zh-CN" altLang="en-US" sz="3200"/>
              <a:t>P=3412 </a:t>
            </a:r>
            <a:r>
              <a:rPr lang="en-US" altLang="zh-CN" sz="3200"/>
              <a:t>/</a:t>
            </a:r>
            <a:r>
              <a:rPr lang="zh-CN" altLang="en-US" sz="3200"/>
              <a:t> 2048=1</a:t>
            </a:r>
            <a:endParaRPr lang="zh-CN" altLang="en-US" sz="3200"/>
          </a:p>
          <a:p>
            <a:pPr>
              <a:lnSpc>
                <a:spcPct val="150000"/>
              </a:lnSpc>
            </a:pPr>
            <a:r>
              <a:rPr lang="zh-CN" altLang="en-US" sz="3200"/>
              <a:t>d= 3412 mod 2048 = 1364</a:t>
            </a:r>
            <a:endParaRPr lang="zh-CN" altLang="en-US" sz="3200"/>
          </a:p>
          <a:p>
            <a:pPr>
              <a:lnSpc>
                <a:spcPct val="150000"/>
              </a:lnSpc>
            </a:pPr>
            <a:r>
              <a:rPr lang="zh-CN" altLang="en-US" sz="3200"/>
              <a:t>MR=9*2048+1364=19796</a:t>
            </a:r>
            <a:endParaRPr lang="zh-CN" altLang="en-US" sz="3200"/>
          </a:p>
          <a:p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extLst>
                                      <p:ext uri="{505F2C04-C923-438B-8C0F-E0CD2BADF298}">
                                        <wppc:dynamicDigit xmlns:wppc="http://www.wps.cn/officeDocument/PresentationCustomData" type="0">
                                          <p:anim to="" calcmode="lin" valueType="num">
                                            <p:cBhvr>
                                              <p:cTn id="7" dur="1000" fill="hold"/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num.show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v"/>
                                                </p:val>
                                              </p:tav>
                                            </p:tavLst>
                                          </p:anim>
                                        </wppc:dynamicDigit>
                                      </p:ext>
                                    </p:extLs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具有快表的地址变换机构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87" name="Group 157"/>
          <p:cNvGraphicFramePr>
            <a:graphicFrameLocks noGrp="1"/>
          </p:cNvGraphicFramePr>
          <p:nvPr/>
        </p:nvGraphicFramePr>
        <p:xfrm>
          <a:off x="2672241" y="969188"/>
          <a:ext cx="2991118" cy="1087485"/>
        </p:xfrm>
        <a:graphic>
          <a:graphicData uri="http://schemas.openxmlformats.org/drawingml/2006/table">
            <a:tbl>
              <a:tblPr/>
              <a:tblGrid>
                <a:gridCol w="1578646"/>
                <a:gridCol w="1412472"/>
              </a:tblGrid>
              <a:tr h="553792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页表寄存器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(PTR)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63" marB="46063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53369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页表始址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63" marB="4606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页表长度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63" marB="4606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" name="Oval 17"/>
          <p:cNvSpPr>
            <a:spLocks noChangeArrowheads="1"/>
          </p:cNvSpPr>
          <p:nvPr/>
        </p:nvSpPr>
        <p:spPr bwMode="auto">
          <a:xfrm>
            <a:off x="3605959" y="2300004"/>
            <a:ext cx="457200" cy="4572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  <a:rou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b="1">
                <a:latin typeface="+mn-ea"/>
                <a:ea typeface="+mn-ea"/>
              </a:rPr>
              <a:t>+</a:t>
            </a:r>
            <a:endParaRPr lang="en-US" altLang="zh-CN" b="1">
              <a:latin typeface="+mn-ea"/>
              <a:ea typeface="+mn-ea"/>
            </a:endParaRPr>
          </a:p>
        </p:txBody>
      </p:sp>
      <p:sp>
        <p:nvSpPr>
          <p:cNvPr id="89" name="Rectangle 21"/>
          <p:cNvSpPr>
            <a:spLocks noChangeArrowheads="1"/>
          </p:cNvSpPr>
          <p:nvPr/>
        </p:nvSpPr>
        <p:spPr bwMode="auto">
          <a:xfrm>
            <a:off x="6044359" y="5850369"/>
            <a:ext cx="8382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75000"/>
              <a:buFont typeface="Monotype Sorts" pitchFamily="2" charset="2"/>
              <a:buNone/>
            </a:pPr>
            <a:endParaRPr kumimoji="1" lang="zh-CN" altLang="zh-CN" sz="2000" b="1">
              <a:latin typeface="+mn-ea"/>
              <a:ea typeface="+mn-ea"/>
            </a:endParaRPr>
          </a:p>
        </p:txBody>
      </p:sp>
      <p:grpSp>
        <p:nvGrpSpPr>
          <p:cNvPr id="90" name="Group 146"/>
          <p:cNvGrpSpPr/>
          <p:nvPr/>
        </p:nvGrpSpPr>
        <p:grpSpPr bwMode="auto">
          <a:xfrm>
            <a:off x="4291759" y="2756129"/>
            <a:ext cx="1905000" cy="3581400"/>
            <a:chOff x="912" y="1584"/>
            <a:chExt cx="1200" cy="2256"/>
          </a:xfrm>
          <a:noFill/>
        </p:grpSpPr>
        <p:sp>
          <p:nvSpPr>
            <p:cNvPr id="91" name="Rectangle 18"/>
            <p:cNvSpPr>
              <a:spLocks noChangeArrowheads="1"/>
            </p:cNvSpPr>
            <p:nvPr/>
          </p:nvSpPr>
          <p:spPr bwMode="auto">
            <a:xfrm>
              <a:off x="1440" y="3166"/>
              <a:ext cx="672" cy="33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endParaRPr lang="zh-CN" altLang="zh-CN" sz="2400">
                <a:latin typeface="+mn-ea"/>
                <a:ea typeface="+mn-ea"/>
              </a:endParaRPr>
            </a:p>
          </p:txBody>
        </p:sp>
        <p:sp>
          <p:nvSpPr>
            <p:cNvPr id="92" name="Rectangle 19"/>
            <p:cNvSpPr>
              <a:spLocks noChangeArrowheads="1"/>
            </p:cNvSpPr>
            <p:nvPr/>
          </p:nvSpPr>
          <p:spPr bwMode="auto">
            <a:xfrm>
              <a:off x="912" y="3166"/>
              <a:ext cx="528" cy="33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endParaRPr lang="zh-CN" altLang="zh-CN" sz="2400">
                <a:latin typeface="+mn-ea"/>
                <a:ea typeface="+mn-ea"/>
              </a:endParaRPr>
            </a:p>
          </p:txBody>
        </p:sp>
        <p:sp>
          <p:nvSpPr>
            <p:cNvPr id="93" name="Rectangle 20"/>
            <p:cNvSpPr>
              <a:spLocks noChangeArrowheads="1"/>
            </p:cNvSpPr>
            <p:nvPr/>
          </p:nvSpPr>
          <p:spPr bwMode="auto">
            <a:xfrm>
              <a:off x="1440" y="3500"/>
              <a:ext cx="672" cy="34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r>
                <a:rPr lang="zh-CN" altLang="en-US" sz="2400" dirty="0">
                  <a:latin typeface="+mn-ea"/>
                  <a:ea typeface="+mn-ea"/>
                </a:rPr>
                <a:t>页表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94" name="Rectangle 22"/>
            <p:cNvSpPr>
              <a:spLocks noChangeArrowheads="1"/>
            </p:cNvSpPr>
            <p:nvPr/>
          </p:nvSpPr>
          <p:spPr bwMode="auto">
            <a:xfrm>
              <a:off x="1440" y="2834"/>
              <a:ext cx="672" cy="33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endParaRPr lang="zh-CN" altLang="zh-CN" sz="2400">
                <a:latin typeface="+mn-ea"/>
                <a:ea typeface="+mn-ea"/>
              </a:endParaRPr>
            </a:p>
          </p:txBody>
        </p:sp>
        <p:sp>
          <p:nvSpPr>
            <p:cNvPr id="95" name="Rectangle 24"/>
            <p:cNvSpPr>
              <a:spLocks noChangeArrowheads="1"/>
            </p:cNvSpPr>
            <p:nvPr/>
          </p:nvSpPr>
          <p:spPr bwMode="auto">
            <a:xfrm>
              <a:off x="1440" y="2500"/>
              <a:ext cx="672" cy="33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endParaRPr lang="zh-CN" altLang="zh-CN" sz="2400">
                <a:latin typeface="+mn-ea"/>
                <a:ea typeface="+mn-ea"/>
              </a:endParaRPr>
            </a:p>
          </p:txBody>
        </p:sp>
        <p:sp>
          <p:nvSpPr>
            <p:cNvPr id="96" name="Rectangle 26"/>
            <p:cNvSpPr>
              <a:spLocks noChangeArrowheads="1"/>
            </p:cNvSpPr>
            <p:nvPr/>
          </p:nvSpPr>
          <p:spPr bwMode="auto">
            <a:xfrm>
              <a:off x="1440" y="2166"/>
              <a:ext cx="672" cy="33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+mn-ea"/>
                  <a:ea typeface="+mn-ea"/>
                </a:rPr>
                <a:t>b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97" name="Rectangle 28"/>
            <p:cNvSpPr>
              <a:spLocks noChangeArrowheads="1"/>
            </p:cNvSpPr>
            <p:nvPr/>
          </p:nvSpPr>
          <p:spPr bwMode="auto">
            <a:xfrm>
              <a:off x="1440" y="1824"/>
              <a:ext cx="672" cy="33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endParaRPr lang="zh-CN" altLang="zh-CN" sz="2400">
                <a:latin typeface="+mn-ea"/>
                <a:ea typeface="+mn-ea"/>
              </a:endParaRPr>
            </a:p>
          </p:txBody>
        </p:sp>
        <p:sp>
          <p:nvSpPr>
            <p:cNvPr id="98" name="Rectangle 30"/>
            <p:cNvSpPr>
              <a:spLocks noChangeArrowheads="1"/>
            </p:cNvSpPr>
            <p:nvPr/>
          </p:nvSpPr>
          <p:spPr bwMode="auto">
            <a:xfrm>
              <a:off x="1440" y="1584"/>
              <a:ext cx="672" cy="25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r>
                <a:rPr lang="zh-CN" altLang="en-US" sz="2400" dirty="0">
                  <a:latin typeface="+mn-ea"/>
                  <a:ea typeface="+mn-ea"/>
                </a:rPr>
                <a:t>块号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99" name="Rectangle 31"/>
            <p:cNvSpPr>
              <a:spLocks noChangeArrowheads="1"/>
            </p:cNvSpPr>
            <p:nvPr/>
          </p:nvSpPr>
          <p:spPr bwMode="auto">
            <a:xfrm>
              <a:off x="912" y="1584"/>
              <a:ext cx="528" cy="25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r>
                <a:rPr lang="zh-CN" altLang="en-US" sz="2400" dirty="0">
                  <a:latin typeface="+mn-ea"/>
                  <a:ea typeface="+mn-ea"/>
                </a:rPr>
                <a:t>页号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100" name="Line 32"/>
            <p:cNvSpPr>
              <a:spLocks noChangeShapeType="1"/>
            </p:cNvSpPr>
            <p:nvPr/>
          </p:nvSpPr>
          <p:spPr bwMode="auto">
            <a:xfrm>
              <a:off x="912" y="1834"/>
              <a:ext cx="528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prstDash val="sys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1" name="Line 33"/>
            <p:cNvSpPr>
              <a:spLocks noChangeShapeType="1"/>
            </p:cNvSpPr>
            <p:nvPr/>
          </p:nvSpPr>
          <p:spPr bwMode="auto">
            <a:xfrm flipV="1">
              <a:off x="1440" y="2160"/>
              <a:ext cx="672" cy="6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2" name="Line 34"/>
            <p:cNvSpPr>
              <a:spLocks noChangeShapeType="1"/>
            </p:cNvSpPr>
            <p:nvPr/>
          </p:nvSpPr>
          <p:spPr bwMode="auto">
            <a:xfrm flipV="1">
              <a:off x="1440" y="2496"/>
              <a:ext cx="672" cy="4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3" name="Line 35"/>
            <p:cNvSpPr>
              <a:spLocks noChangeShapeType="1"/>
            </p:cNvSpPr>
            <p:nvPr/>
          </p:nvSpPr>
          <p:spPr bwMode="auto">
            <a:xfrm flipV="1">
              <a:off x="1440" y="2832"/>
              <a:ext cx="672" cy="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4" name="Line 36"/>
            <p:cNvSpPr>
              <a:spLocks noChangeShapeType="1"/>
            </p:cNvSpPr>
            <p:nvPr/>
          </p:nvSpPr>
          <p:spPr bwMode="auto">
            <a:xfrm>
              <a:off x="1440" y="3166"/>
              <a:ext cx="672" cy="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5" name="Line 37"/>
            <p:cNvSpPr>
              <a:spLocks noChangeShapeType="1"/>
            </p:cNvSpPr>
            <p:nvPr/>
          </p:nvSpPr>
          <p:spPr bwMode="auto">
            <a:xfrm>
              <a:off x="1440" y="1584"/>
              <a:ext cx="0" cy="25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6" name="Line 38"/>
            <p:cNvSpPr>
              <a:spLocks noChangeShapeType="1"/>
            </p:cNvSpPr>
            <p:nvPr/>
          </p:nvSpPr>
          <p:spPr bwMode="auto">
            <a:xfrm flipV="1">
              <a:off x="1440" y="1824"/>
              <a:ext cx="672" cy="10"/>
            </a:xfrm>
            <a:prstGeom prst="line">
              <a:avLst/>
            </a:prstGeom>
            <a:grpFill/>
            <a:ln w="25400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7" name="Line 39"/>
            <p:cNvSpPr>
              <a:spLocks noChangeShapeType="1"/>
            </p:cNvSpPr>
            <p:nvPr/>
          </p:nvSpPr>
          <p:spPr bwMode="auto">
            <a:xfrm>
              <a:off x="1440" y="1834"/>
              <a:ext cx="0" cy="1666"/>
            </a:xfrm>
            <a:prstGeom prst="line">
              <a:avLst/>
            </a:prstGeom>
            <a:grpFill/>
            <a:ln w="25400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8" name="Line 40"/>
            <p:cNvSpPr>
              <a:spLocks noChangeShapeType="1"/>
            </p:cNvSpPr>
            <p:nvPr/>
          </p:nvSpPr>
          <p:spPr bwMode="auto">
            <a:xfrm>
              <a:off x="2112" y="1824"/>
              <a:ext cx="0" cy="1666"/>
            </a:xfrm>
            <a:prstGeom prst="line">
              <a:avLst/>
            </a:prstGeom>
            <a:grpFill/>
            <a:ln w="25400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9" name="Line 41"/>
            <p:cNvSpPr>
              <a:spLocks noChangeShapeType="1"/>
            </p:cNvSpPr>
            <p:nvPr/>
          </p:nvSpPr>
          <p:spPr bwMode="auto">
            <a:xfrm>
              <a:off x="1440" y="3500"/>
              <a:ext cx="672" cy="4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</p:grpSp>
      <p:sp>
        <p:nvSpPr>
          <p:cNvPr id="110" name="Line 42"/>
          <p:cNvSpPr>
            <a:spLocks noChangeShapeType="1"/>
          </p:cNvSpPr>
          <p:nvPr/>
        </p:nvSpPr>
        <p:spPr bwMode="auto">
          <a:xfrm>
            <a:off x="3834559" y="3899129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graphicFrame>
        <p:nvGraphicFramePr>
          <p:cNvPr id="111" name="Group 145"/>
          <p:cNvGraphicFramePr>
            <a:graphicFrameLocks noGrp="1"/>
          </p:cNvGraphicFramePr>
          <p:nvPr/>
        </p:nvGraphicFramePr>
        <p:xfrm>
          <a:off x="9473359" y="6111776"/>
          <a:ext cx="2209800" cy="915672"/>
        </p:xfrm>
        <a:graphic>
          <a:graphicData uri="http://schemas.openxmlformats.org/drawingml/2006/table">
            <a:tbl>
              <a:tblPr/>
              <a:tblGrid>
                <a:gridCol w="762000"/>
                <a:gridCol w="1447800"/>
              </a:tblGrid>
              <a:tr h="4572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42913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物理地址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112" name="Group 159"/>
          <p:cNvGraphicFramePr>
            <a:graphicFrameLocks noGrp="1"/>
          </p:cNvGraphicFramePr>
          <p:nvPr/>
        </p:nvGraphicFramePr>
        <p:xfrm>
          <a:off x="8863759" y="1045388"/>
          <a:ext cx="3145665" cy="1066800"/>
        </p:xfrm>
        <a:graphic>
          <a:graphicData uri="http://schemas.openxmlformats.org/drawingml/2006/table">
            <a:tbl>
              <a:tblPr/>
              <a:tblGrid>
                <a:gridCol w="1384420"/>
                <a:gridCol w="1761245"/>
              </a:tblGrid>
              <a:tr h="533400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逻辑地址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5334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页号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页内地址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" name="Oval 68"/>
          <p:cNvSpPr>
            <a:spLocks noChangeArrowheads="1"/>
          </p:cNvSpPr>
          <p:nvPr/>
        </p:nvSpPr>
        <p:spPr bwMode="auto">
          <a:xfrm>
            <a:off x="6349159" y="1578788"/>
            <a:ext cx="457200" cy="4572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  <a:rou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b="1">
                <a:latin typeface="+mn-ea"/>
                <a:ea typeface="+mn-ea"/>
              </a:rPr>
              <a:t>&gt;</a:t>
            </a:r>
            <a:endParaRPr lang="en-US" altLang="zh-CN" b="1">
              <a:latin typeface="+mn-ea"/>
              <a:ea typeface="+mn-ea"/>
            </a:endParaRPr>
          </a:p>
        </p:txBody>
      </p:sp>
      <p:sp>
        <p:nvSpPr>
          <p:cNvPr id="114" name="Text Box 69"/>
          <p:cNvSpPr txBox="1">
            <a:spLocks noChangeArrowheads="1"/>
          </p:cNvSpPr>
          <p:nvPr/>
        </p:nvSpPr>
        <p:spPr bwMode="auto">
          <a:xfrm>
            <a:off x="7263559" y="1578788"/>
            <a:ext cx="14478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越界中断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15" name="Line 70"/>
          <p:cNvSpPr>
            <a:spLocks noChangeShapeType="1"/>
          </p:cNvSpPr>
          <p:nvPr/>
        </p:nvSpPr>
        <p:spPr bwMode="auto">
          <a:xfrm flipV="1">
            <a:off x="6806359" y="1807388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16" name="Oval 71"/>
          <p:cNvSpPr>
            <a:spLocks noChangeArrowheads="1"/>
          </p:cNvSpPr>
          <p:nvPr/>
        </p:nvSpPr>
        <p:spPr bwMode="auto">
          <a:xfrm>
            <a:off x="6501559" y="2645588"/>
            <a:ext cx="152400" cy="152400"/>
          </a:xfrm>
          <a:prstGeom prst="ellipse">
            <a:avLst/>
          </a:prstGeom>
          <a:noFill/>
          <a:ln w="9525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17" name="Line 72"/>
          <p:cNvSpPr>
            <a:spLocks noChangeShapeType="1"/>
          </p:cNvSpPr>
          <p:nvPr/>
        </p:nvSpPr>
        <p:spPr bwMode="auto">
          <a:xfrm flipV="1">
            <a:off x="5663359" y="1807388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18" name="Line 73"/>
          <p:cNvSpPr>
            <a:spLocks noChangeShapeType="1"/>
          </p:cNvSpPr>
          <p:nvPr/>
        </p:nvSpPr>
        <p:spPr bwMode="auto">
          <a:xfrm>
            <a:off x="10768759" y="1983398"/>
            <a:ext cx="0" cy="411549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19" name="Line 75"/>
          <p:cNvSpPr>
            <a:spLocks noChangeShapeType="1"/>
          </p:cNvSpPr>
          <p:nvPr/>
        </p:nvSpPr>
        <p:spPr bwMode="auto">
          <a:xfrm>
            <a:off x="9473359" y="2112188"/>
            <a:ext cx="0" cy="36489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20" name="Line 76"/>
          <p:cNvSpPr>
            <a:spLocks noChangeShapeType="1"/>
          </p:cNvSpPr>
          <p:nvPr/>
        </p:nvSpPr>
        <p:spPr bwMode="auto">
          <a:xfrm flipH="1">
            <a:off x="4063159" y="2477087"/>
            <a:ext cx="5410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21" name="Line 77"/>
          <p:cNvSpPr>
            <a:spLocks noChangeShapeType="1"/>
          </p:cNvSpPr>
          <p:nvPr/>
        </p:nvSpPr>
        <p:spPr bwMode="auto">
          <a:xfrm>
            <a:off x="3834559" y="2035988"/>
            <a:ext cx="0" cy="31124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22" name="Line 78"/>
          <p:cNvSpPr>
            <a:spLocks noChangeShapeType="1"/>
          </p:cNvSpPr>
          <p:nvPr/>
        </p:nvSpPr>
        <p:spPr bwMode="auto">
          <a:xfrm>
            <a:off x="3834559" y="2797987"/>
            <a:ext cx="0" cy="110114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graphicFrame>
        <p:nvGraphicFramePr>
          <p:cNvPr id="123" name="Group 138"/>
          <p:cNvGraphicFramePr>
            <a:graphicFrameLocks noGrp="1"/>
          </p:cNvGraphicFramePr>
          <p:nvPr/>
        </p:nvGraphicFramePr>
        <p:xfrm>
          <a:off x="7873159" y="2756129"/>
          <a:ext cx="1654936" cy="3204852"/>
        </p:xfrm>
        <a:graphic>
          <a:graphicData uri="http://schemas.openxmlformats.org/drawingml/2006/table">
            <a:tbl>
              <a:tblPr/>
              <a:tblGrid>
                <a:gridCol w="827468"/>
                <a:gridCol w="827468"/>
              </a:tblGrid>
              <a:tr h="45257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页号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块号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932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57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p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57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57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57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571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快表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24" name="Rectangle 117"/>
          <p:cNvSpPr>
            <a:spLocks noChangeArrowheads="1"/>
          </p:cNvSpPr>
          <p:nvPr/>
        </p:nvSpPr>
        <p:spPr bwMode="auto">
          <a:xfrm>
            <a:off x="6675423" y="2984729"/>
            <a:ext cx="511936" cy="228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zh-CN" altLang="en-US" sz="2400" b="1" dirty="0">
                <a:latin typeface="+mn-ea"/>
                <a:ea typeface="+mn-ea"/>
              </a:rPr>
              <a:t>快</a:t>
            </a:r>
            <a:endParaRPr lang="zh-CN" altLang="en-US" sz="2400" b="1" dirty="0">
              <a:latin typeface="+mn-ea"/>
              <a:ea typeface="+mn-ea"/>
            </a:endParaRPr>
          </a:p>
          <a:p>
            <a:pPr algn="ctr">
              <a:buFont typeface="Monotype Sorts" pitchFamily="2" charset="2"/>
              <a:buNone/>
            </a:pPr>
            <a:endParaRPr lang="zh-CN" altLang="en-US" sz="2400" b="1" dirty="0">
              <a:latin typeface="+mn-ea"/>
              <a:ea typeface="+mn-ea"/>
            </a:endParaRPr>
          </a:p>
          <a:p>
            <a:pPr algn="ctr">
              <a:buFont typeface="Monotype Sorts" pitchFamily="2" charset="2"/>
              <a:buNone/>
            </a:pPr>
            <a:endParaRPr lang="zh-CN" altLang="en-US" sz="2400" b="1" dirty="0">
              <a:latin typeface="+mn-ea"/>
              <a:ea typeface="+mn-ea"/>
            </a:endParaRPr>
          </a:p>
          <a:p>
            <a:pPr algn="ctr">
              <a:buFont typeface="Monotype Sorts" pitchFamily="2" charset="2"/>
              <a:buNone/>
            </a:pPr>
            <a:r>
              <a:rPr lang="zh-CN" altLang="en-US" sz="2400" b="1" dirty="0">
                <a:latin typeface="+mn-ea"/>
                <a:ea typeface="+mn-ea"/>
              </a:rPr>
              <a:t>表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25" name="Line 118"/>
          <p:cNvSpPr>
            <a:spLocks noChangeShapeType="1"/>
          </p:cNvSpPr>
          <p:nvPr/>
        </p:nvSpPr>
        <p:spPr bwMode="auto">
          <a:xfrm flipV="1">
            <a:off x="7187359" y="3265919"/>
            <a:ext cx="6858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26" name="Line 119"/>
          <p:cNvSpPr>
            <a:spLocks noChangeShapeType="1"/>
          </p:cNvSpPr>
          <p:nvPr/>
        </p:nvSpPr>
        <p:spPr bwMode="auto">
          <a:xfrm flipV="1">
            <a:off x="7187359" y="3723119"/>
            <a:ext cx="6858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27" name="Line 120"/>
          <p:cNvSpPr>
            <a:spLocks noChangeShapeType="1"/>
          </p:cNvSpPr>
          <p:nvPr/>
        </p:nvSpPr>
        <p:spPr bwMode="auto">
          <a:xfrm flipV="1">
            <a:off x="7187359" y="4104119"/>
            <a:ext cx="6858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28" name="Line 121"/>
          <p:cNvSpPr>
            <a:spLocks noChangeShapeType="1"/>
          </p:cNvSpPr>
          <p:nvPr/>
        </p:nvSpPr>
        <p:spPr bwMode="auto">
          <a:xfrm flipV="1">
            <a:off x="7187359" y="4485119"/>
            <a:ext cx="6858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29" name="Line 122"/>
          <p:cNvSpPr>
            <a:spLocks noChangeShapeType="1"/>
          </p:cNvSpPr>
          <p:nvPr/>
        </p:nvSpPr>
        <p:spPr bwMode="auto">
          <a:xfrm>
            <a:off x="7187359" y="486611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30" name="Line 139"/>
          <p:cNvSpPr>
            <a:spLocks noChangeShapeType="1"/>
          </p:cNvSpPr>
          <p:nvPr/>
        </p:nvSpPr>
        <p:spPr bwMode="auto">
          <a:xfrm>
            <a:off x="6196759" y="3975329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31" name="Line 140"/>
          <p:cNvSpPr>
            <a:spLocks noChangeShapeType="1"/>
          </p:cNvSpPr>
          <p:nvPr/>
        </p:nvSpPr>
        <p:spPr bwMode="auto">
          <a:xfrm>
            <a:off x="6501559" y="3975329"/>
            <a:ext cx="0" cy="198565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32" name="Line 141"/>
          <p:cNvSpPr>
            <a:spLocks noChangeShapeType="1"/>
          </p:cNvSpPr>
          <p:nvPr/>
        </p:nvSpPr>
        <p:spPr bwMode="auto">
          <a:xfrm>
            <a:off x="9320959" y="3746729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33" name="Line 143"/>
          <p:cNvSpPr>
            <a:spLocks noChangeShapeType="1"/>
          </p:cNvSpPr>
          <p:nvPr/>
        </p:nvSpPr>
        <p:spPr bwMode="auto">
          <a:xfrm>
            <a:off x="10006759" y="3746729"/>
            <a:ext cx="0" cy="235216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34" name="Line 144"/>
          <p:cNvSpPr>
            <a:spLocks noChangeShapeType="1"/>
          </p:cNvSpPr>
          <p:nvPr/>
        </p:nvSpPr>
        <p:spPr bwMode="auto">
          <a:xfrm flipV="1">
            <a:off x="6501559" y="5935223"/>
            <a:ext cx="3505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35" name="Oval 147"/>
          <p:cNvSpPr>
            <a:spLocks noChangeArrowheads="1"/>
          </p:cNvSpPr>
          <p:nvPr/>
        </p:nvSpPr>
        <p:spPr bwMode="auto">
          <a:xfrm>
            <a:off x="6882559" y="2645588"/>
            <a:ext cx="152400" cy="152400"/>
          </a:xfrm>
          <a:prstGeom prst="ellipse">
            <a:avLst/>
          </a:prstGeom>
          <a:noFill/>
          <a:ln w="9525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36" name="Line 148"/>
          <p:cNvSpPr>
            <a:spLocks noChangeShapeType="1"/>
          </p:cNvSpPr>
          <p:nvPr/>
        </p:nvSpPr>
        <p:spPr bwMode="auto">
          <a:xfrm>
            <a:off x="6958759" y="252752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37" name="Line 151"/>
          <p:cNvSpPr>
            <a:spLocks noChangeShapeType="1"/>
          </p:cNvSpPr>
          <p:nvPr/>
        </p:nvSpPr>
        <p:spPr bwMode="auto">
          <a:xfrm flipH="1" flipV="1">
            <a:off x="6577759" y="2035987"/>
            <a:ext cx="0" cy="44109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53" name="isľîdê"/>
          <p:cNvSpPr txBox="1"/>
          <p:nvPr/>
        </p:nvSpPr>
        <p:spPr>
          <a:xfrm>
            <a:off x="229235" y="2112010"/>
            <a:ext cx="3133090" cy="23380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1440" tIns="45720" rIns="91440" bIns="45720" anchor="t" anchorCtr="0">
            <a:noAutofit/>
          </a:bodyPr>
          <a:p>
            <a:pPr>
              <a:lnSpc>
                <a:spcPct val="120000"/>
              </a:lnSpc>
              <a:buClr>
                <a:srgbClr val="0000FF"/>
              </a:buClr>
            </a:pPr>
            <a:r>
              <a:rPr lang="zh-CN" altLang="en-US" sz="2400" dirty="0"/>
              <a:t>解决两次访问的问题，可采用小而快速的硬件缓冲，这种缓冲称为</a:t>
            </a:r>
            <a:r>
              <a:rPr lang="zh-CN" altLang="en-US" sz="2400" b="1" dirty="0"/>
              <a:t>转换表缓冲器</a:t>
            </a:r>
            <a:r>
              <a:rPr lang="en-US" altLang="zh-CN" sz="2400" b="1" dirty="0"/>
              <a:t>(TLB)</a:t>
            </a:r>
            <a:r>
              <a:rPr lang="zh-CN" altLang="en-US" sz="2400" b="1" dirty="0"/>
              <a:t>或快表</a:t>
            </a:r>
            <a:endParaRPr lang="zh-CN" altLang="en-US" sz="2400" dirty="0"/>
          </a:p>
        </p:txBody>
      </p:sp>
      <p:sp>
        <p:nvSpPr>
          <p:cNvPr id="2" name="isľîdê"/>
          <p:cNvSpPr txBox="1"/>
          <p:nvPr/>
        </p:nvSpPr>
        <p:spPr>
          <a:xfrm>
            <a:off x="229235" y="4561205"/>
            <a:ext cx="3605530" cy="15506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91440" tIns="45720" rIns="91440" bIns="45720" anchor="t" anchorCtr="0">
            <a:noAutofit/>
          </a:bodyPr>
          <a:p>
            <a:pPr indent="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None/>
            </a:pPr>
            <a:r>
              <a:rPr lang="zh-CN" altLang="en-US" sz="2400" dirty="0"/>
              <a:t>查找快表需要的时间要小于访问内存的时间，机制类似于</a:t>
            </a:r>
            <a:r>
              <a:rPr lang="en-US" altLang="zh-CN" sz="2400" dirty="0"/>
              <a:t>Cache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25195" y="1198880"/>
            <a:ext cx="10804525" cy="19107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2800"/>
              <a:t>计算机系统按字节编址，存储器采用分页式存储管理方式，内存被划分为</a:t>
            </a:r>
            <a:r>
              <a:rPr lang="en-US" altLang="zh-CN" sz="2800"/>
              <a:t>64B</a:t>
            </a:r>
            <a:r>
              <a:rPr lang="zh-CN" altLang="en-US" sz="2800"/>
              <a:t>大小的内存块，进程 </a:t>
            </a:r>
            <a:r>
              <a:rPr lang="en-US" altLang="zh-CN" sz="2800"/>
              <a:t>A </a:t>
            </a:r>
            <a:r>
              <a:rPr lang="zh-CN" altLang="en-US" sz="2800"/>
              <a:t>的大小为</a:t>
            </a:r>
            <a:r>
              <a:rPr lang="en-US" altLang="zh-CN" sz="2800"/>
              <a:t>702B</a:t>
            </a:r>
            <a:r>
              <a:rPr lang="zh-CN" altLang="en-US" sz="2800"/>
              <a:t>。进程页表如下表</a:t>
            </a:r>
            <a:r>
              <a:rPr lang="en-US" altLang="zh-CN" sz="2800"/>
              <a:t>( a )</a:t>
            </a:r>
            <a:r>
              <a:rPr lang="zh-CN" altLang="en-US" sz="2800"/>
              <a:t>所示，进程快表如下表（ </a:t>
            </a:r>
            <a:r>
              <a:rPr lang="en-US" altLang="zh-CN" sz="2800"/>
              <a:t>b </a:t>
            </a:r>
            <a:r>
              <a:rPr lang="zh-CN" altLang="en-US" sz="2800"/>
              <a:t>）所示。请分别说明系统遇到八进制逻辑地址</a:t>
            </a:r>
            <a:r>
              <a:rPr lang="en-US" altLang="zh-CN" sz="2800"/>
              <a:t>0205,0645,02311</a:t>
            </a:r>
            <a:r>
              <a:rPr lang="zh-CN" altLang="en-US" sz="2800"/>
              <a:t>时的处理过程。</a:t>
            </a:r>
            <a:endParaRPr lang="zh-CN" altLang="en-US" sz="2800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617345" y="3192145"/>
          <a:ext cx="2639060" cy="2736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765"/>
                <a:gridCol w="659765"/>
                <a:gridCol w="659765"/>
                <a:gridCol w="659765"/>
              </a:tblGrid>
              <a:tr h="584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页号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块号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页号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块号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23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F7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23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F2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F9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23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F3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FA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82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F6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FB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9041130" y="3109595"/>
          <a:ext cx="1625600" cy="2740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/>
                <a:gridCol w="812800"/>
              </a:tblGrid>
              <a:tr h="5480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页号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块号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480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F1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5480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F2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480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F3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480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F6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548890" y="6094095"/>
            <a:ext cx="574675" cy="40513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(a)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738995" y="5928995"/>
            <a:ext cx="492760" cy="40513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(b)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引入快表后的有效访问时间</a:t>
            </a:r>
            <a:r>
              <a:rPr lang="en-US" altLang="zh-CN" sz="2800" b="1" dirty="0">
                <a:solidFill>
                  <a:schemeClr val="bg1"/>
                </a:solidFill>
              </a:rPr>
              <a:t>EAT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58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519356" y="1781155"/>
            <a:ext cx="3489042" cy="678249"/>
            <a:chOff x="7522530" y="2605404"/>
            <a:chExt cx="3489042" cy="678249"/>
          </a:xfrm>
        </p:grpSpPr>
        <p:sp>
          <p:nvSpPr>
            <p:cNvPr id="71" name="í$lîdé"/>
            <p:cNvSpPr txBox="1"/>
            <p:nvPr/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72" name="išḻïďè"/>
            <p:cNvSpPr txBox="1"/>
            <p:nvPr/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isľîdê"/>
          <p:cNvSpPr txBox="1"/>
          <p:nvPr/>
        </p:nvSpPr>
        <p:spPr>
          <a:xfrm>
            <a:off x="1000760" y="1244600"/>
            <a:ext cx="10942320" cy="73723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p>
            <a:pPr marL="342900" lvl="1" indent="-3429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假设访问内存一次需要的时间为</a:t>
            </a:r>
            <a:r>
              <a:rPr lang="en-US" altLang="zh-CN" sz="2400" dirty="0"/>
              <a:t>t</a:t>
            </a:r>
            <a:r>
              <a:rPr lang="zh-CN" altLang="en-US" sz="2400" dirty="0"/>
              <a:t>，则</a:t>
            </a:r>
            <a:r>
              <a:rPr lang="en-US" altLang="zh-CN" sz="2400" dirty="0">
                <a:sym typeface="Symbol" panose="05050102010706020507" pitchFamily="18" charset="2"/>
              </a:rPr>
              <a:t>EAT = t + t = 2t (</a:t>
            </a:r>
            <a:r>
              <a:rPr lang="zh-CN" altLang="en-US" sz="2400" dirty="0">
                <a:sym typeface="Symbol" panose="05050102010706020507" pitchFamily="18" charset="2"/>
              </a:rPr>
              <a:t>基本分页存储系统中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marL="0" lvl="1">
              <a:lnSpc>
                <a:spcPct val="120000"/>
              </a:lnSpc>
            </a:pPr>
            <a:endParaRPr lang="en-US" altLang="zh-CN" sz="2400" dirty="0"/>
          </a:p>
        </p:txBody>
      </p:sp>
      <p:sp>
        <p:nvSpPr>
          <p:cNvPr id="4" name="isľîdê"/>
          <p:cNvSpPr txBox="1"/>
          <p:nvPr/>
        </p:nvSpPr>
        <p:spPr>
          <a:xfrm>
            <a:off x="1001395" y="2211070"/>
            <a:ext cx="10941685" cy="106362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p>
            <a:pPr marL="342900" indent="-342900">
              <a:lnSpc>
                <a:spcPct val="12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命中率</a:t>
            </a:r>
            <a:r>
              <a:rPr lang="en-US" altLang="zh-CN" sz="2400" dirty="0"/>
              <a:t>—</a:t>
            </a:r>
            <a:r>
              <a:rPr lang="zh-CN" altLang="en-US" sz="2400" dirty="0"/>
              <a:t>第一次访问</a:t>
            </a:r>
            <a:r>
              <a:rPr lang="zh-CN" altLang="en-US" sz="2400" dirty="0"/>
              <a:t>内存时间以一定概率被替换成访问快表的时间，这个概率称为命中率，</a:t>
            </a:r>
            <a:r>
              <a:rPr lang="zh-CN" altLang="en-US" sz="2400" dirty="0"/>
              <a:t>命中率与</a:t>
            </a:r>
            <a:r>
              <a:rPr lang="zh-CN" altLang="en-US" sz="2400" dirty="0"/>
              <a:t>快表大小有关</a:t>
            </a: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900430" y="3503930"/>
            <a:ext cx="10840085" cy="13411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Autofit/>
          </a:bodyPr>
          <a:p>
            <a:r>
              <a:rPr lang="zh-CN" altLang="en-US" sz="3200"/>
              <a:t>【举例】假设系统访问快表用时</a:t>
            </a:r>
            <a:r>
              <a:rPr lang="en-US" altLang="zh-CN" sz="3200"/>
              <a:t>2μs</a:t>
            </a:r>
            <a:r>
              <a:rPr lang="zh-CN" altLang="en-US" sz="3200"/>
              <a:t>，访问页表用时</a:t>
            </a:r>
            <a:r>
              <a:rPr lang="en-US" altLang="zh-CN" sz="3200"/>
              <a:t>500μs</a:t>
            </a:r>
            <a:r>
              <a:rPr lang="zh-CN" altLang="en-US" sz="3200"/>
              <a:t>，快表的命中率为</a:t>
            </a:r>
            <a:r>
              <a:rPr lang="en-US" altLang="zh-CN" sz="3200"/>
              <a:t>90%</a:t>
            </a:r>
            <a:r>
              <a:rPr lang="zh-CN" altLang="en-US" sz="3200"/>
              <a:t>，计算该统访问一个逻辑地址的 </a:t>
            </a:r>
            <a:r>
              <a:rPr lang="en-US" altLang="zh-CN" sz="3200"/>
              <a:t>EAT </a:t>
            </a:r>
            <a:r>
              <a:rPr lang="zh-CN" altLang="en-US" sz="3200"/>
              <a:t>。</a:t>
            </a:r>
            <a:endParaRPr lang="zh-CN" altLang="en-US" sz="32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76275" y="981710"/>
            <a:ext cx="10840085" cy="13411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Autofit/>
          </a:bodyPr>
          <a:p>
            <a:r>
              <a:rPr lang="zh-CN" altLang="en-US" sz="3200"/>
              <a:t>【举例】假设系统访问快表用时</a:t>
            </a:r>
            <a:r>
              <a:rPr lang="en-US" altLang="zh-CN" sz="3200"/>
              <a:t>2μs</a:t>
            </a:r>
            <a:r>
              <a:rPr lang="zh-CN" altLang="en-US" sz="3200"/>
              <a:t>，访问页表用时</a:t>
            </a:r>
            <a:r>
              <a:rPr lang="en-US" altLang="zh-CN" sz="3200"/>
              <a:t>500μs</a:t>
            </a:r>
            <a:r>
              <a:rPr lang="zh-CN" altLang="en-US" sz="3200"/>
              <a:t>，快表的命中率为</a:t>
            </a:r>
            <a:r>
              <a:rPr lang="en-US" altLang="zh-CN" sz="3200"/>
              <a:t>90%</a:t>
            </a:r>
            <a:r>
              <a:rPr lang="zh-CN" altLang="en-US" sz="3200"/>
              <a:t>，计算该统访问一个逻辑地址的 </a:t>
            </a:r>
            <a:r>
              <a:rPr lang="en-US" altLang="zh-CN" sz="3200"/>
              <a:t>EAT </a:t>
            </a:r>
            <a:r>
              <a:rPr lang="zh-CN" altLang="en-US" sz="3200"/>
              <a:t>。</a:t>
            </a:r>
            <a:endParaRPr lang="zh-CN" altLang="en-US" sz="3200"/>
          </a:p>
        </p:txBody>
      </p:sp>
      <p:sp>
        <p:nvSpPr>
          <p:cNvPr id="2" name="文本框 1"/>
          <p:cNvSpPr txBox="1"/>
          <p:nvPr/>
        </p:nvSpPr>
        <p:spPr>
          <a:xfrm>
            <a:off x="452120" y="2417445"/>
            <a:ext cx="8030845" cy="3784600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4572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3200"/>
              <a:t> </a:t>
            </a:r>
            <a:r>
              <a:rPr lang="zh-CN" altLang="en-US" sz="3200"/>
              <a:t>若不使用快表，该系统的 </a:t>
            </a:r>
            <a:r>
              <a:rPr lang="en-US" altLang="zh-CN" sz="3200"/>
              <a:t>EAT =1000us</a:t>
            </a:r>
            <a:r>
              <a:rPr lang="zh-CN" altLang="en-US" sz="3200"/>
              <a:t>。</a:t>
            </a:r>
            <a:endParaRPr lang="zh-CN" altLang="en-US" sz="3200"/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200">
                <a:sym typeface="+mn-ea"/>
              </a:rPr>
              <a:t>快表和页表</a:t>
            </a:r>
            <a:r>
              <a:rPr lang="zh-CN" altLang="en-US" sz="3200">
                <a:sym typeface="+mn-ea"/>
              </a:rPr>
              <a:t>串行访问：</a:t>
            </a:r>
            <a:endParaRPr lang="zh-CN" altLang="en-US" sz="3200"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3200">
                <a:sym typeface="+mn-ea"/>
              </a:rPr>
              <a:t>    (2+500)x0.9+(2+500+500)x0.1=552μs</a:t>
            </a:r>
            <a:endParaRPr lang="en-US" altLang="zh-CN" sz="3200"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200">
                <a:sym typeface="+mn-ea"/>
              </a:rPr>
              <a:t>快表和页表并行访问：</a:t>
            </a:r>
            <a:r>
              <a:rPr lang="en-US" altLang="zh-CN" sz="3200">
                <a:sym typeface="+mn-ea"/>
              </a:rPr>
              <a:t>(2+500)x0.9+(500+500)x0.1=551.8us</a:t>
            </a:r>
            <a:endParaRPr lang="zh-CN" altLang="en-US" sz="32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页表结构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0" name="íšḻîḋè"/>
          <p:cNvSpPr/>
          <p:nvPr/>
        </p:nvSpPr>
        <p:spPr>
          <a:xfrm>
            <a:off x="1746844" y="3158391"/>
            <a:ext cx="8388829" cy="93313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对页表所需要的内存空间，采用</a:t>
            </a:r>
            <a:r>
              <a:rPr lang="zh-CN" altLang="en-US" sz="2200" dirty="0">
                <a:solidFill>
                  <a:srgbClr val="FF0000"/>
                </a:solidFill>
              </a:rPr>
              <a:t>离散分配</a:t>
            </a:r>
            <a:r>
              <a:rPr lang="zh-CN" altLang="en-US" sz="2200" dirty="0"/>
              <a:t>方式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部分页表调入内存</a:t>
            </a:r>
            <a:endParaRPr lang="zh-CN" altLang="en-US" sz="2200" dirty="0"/>
          </a:p>
        </p:txBody>
      </p:sp>
      <p:sp>
        <p:nvSpPr>
          <p:cNvPr id="221" name="i$lîďê"/>
          <p:cNvSpPr/>
          <p:nvPr/>
        </p:nvSpPr>
        <p:spPr>
          <a:xfrm>
            <a:off x="1802479" y="2707265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ym typeface="Wingdings" panose="05000000000000000000" pitchFamily="2" charset="2"/>
              </a:rPr>
              <a:t>解决办法：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sp>
        <p:nvSpPr>
          <p:cNvPr id="222" name="î$ļíḋè"/>
          <p:cNvSpPr/>
          <p:nvPr/>
        </p:nvSpPr>
        <p:spPr>
          <a:xfrm>
            <a:off x="1802479" y="4923824"/>
            <a:ext cx="1934634" cy="14054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FF0000"/>
                </a:solidFill>
              </a:rPr>
              <a:t>两级</a:t>
            </a:r>
            <a:r>
              <a:rPr lang="zh-CN" altLang="en-US" sz="2200" dirty="0" smtClean="0">
                <a:solidFill>
                  <a:srgbClr val="FF0000"/>
                </a:solidFill>
              </a:rPr>
              <a:t>页表</a:t>
            </a:r>
            <a:endParaRPr lang="zh-CN" altLang="en-US" sz="2200" dirty="0">
              <a:solidFill>
                <a:srgbClr val="FF0000"/>
              </a:solidFill>
            </a:endParaRPr>
          </a:p>
        </p:txBody>
      </p:sp>
      <p:sp>
        <p:nvSpPr>
          <p:cNvPr id="223" name="ïṧḷïḋè"/>
          <p:cNvSpPr/>
          <p:nvPr/>
        </p:nvSpPr>
        <p:spPr>
          <a:xfrm>
            <a:off x="1802481" y="4422474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页表结构</a:t>
            </a:r>
            <a:endParaRPr lang="en-US" altLang="zh-CN" sz="2400" dirty="0"/>
          </a:p>
        </p:txBody>
      </p:sp>
      <p:sp>
        <p:nvSpPr>
          <p:cNvPr id="225" name="íšḻíḑê"/>
          <p:cNvSpPr/>
          <p:nvPr/>
        </p:nvSpPr>
        <p:spPr>
          <a:xfrm>
            <a:off x="1802480" y="1413072"/>
            <a:ext cx="9730289" cy="939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现代的大多数计算机系统，都支持非常大的逻辑地址空间。在这样的环境下，页表就变得非常大，要占用相当大的内存空间。</a:t>
            </a:r>
            <a:endParaRPr lang="zh-CN" altLang="en-US" sz="2400" dirty="0"/>
          </a:p>
        </p:txBody>
      </p:sp>
      <p:sp>
        <p:nvSpPr>
          <p:cNvPr id="226" name="îSļiḓè"/>
          <p:cNvSpPr/>
          <p:nvPr/>
        </p:nvSpPr>
        <p:spPr>
          <a:xfrm>
            <a:off x="1118977" y="139951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7" name="íṥḻîḓe"/>
          <p:cNvSpPr/>
          <p:nvPr/>
        </p:nvSpPr>
        <p:spPr>
          <a:xfrm>
            <a:off x="1118977" y="437850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8" name="îşļiḓè"/>
          <p:cNvSpPr/>
          <p:nvPr/>
        </p:nvSpPr>
        <p:spPr>
          <a:xfrm>
            <a:off x="1118977" y="2658255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9" name="îṡḷíďe"/>
          <p:cNvSpPr/>
          <p:nvPr/>
        </p:nvSpPr>
        <p:spPr>
          <a:xfrm>
            <a:off x="1309232" y="1595648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30" name="íSlíḋe"/>
          <p:cNvSpPr/>
          <p:nvPr/>
        </p:nvSpPr>
        <p:spPr>
          <a:xfrm>
            <a:off x="1309231" y="2880272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31" name="ïśḷïḓe"/>
          <p:cNvSpPr/>
          <p:nvPr/>
        </p:nvSpPr>
        <p:spPr>
          <a:xfrm>
            <a:off x="1338170" y="4567969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5" name="î$ļíḋè"/>
          <p:cNvSpPr/>
          <p:nvPr/>
        </p:nvSpPr>
        <p:spPr>
          <a:xfrm>
            <a:off x="3914614" y="4923823"/>
            <a:ext cx="2366916" cy="14054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solidFill>
                  <a:srgbClr val="FF0000"/>
                </a:solidFill>
              </a:rPr>
              <a:t>多级页表</a:t>
            </a:r>
            <a:endParaRPr lang="zh-CN" altLang="en-US" sz="2200" dirty="0">
              <a:solidFill>
                <a:srgbClr val="FF0000"/>
              </a:solidFill>
            </a:endParaRPr>
          </a:p>
        </p:txBody>
      </p:sp>
      <p:sp>
        <p:nvSpPr>
          <p:cNvPr id="16" name="î$ļíḋè"/>
          <p:cNvSpPr/>
          <p:nvPr/>
        </p:nvSpPr>
        <p:spPr>
          <a:xfrm>
            <a:off x="6082384" y="4923823"/>
            <a:ext cx="2366916" cy="14054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solidFill>
                  <a:schemeClr val="bg1">
                    <a:lumMod val="75000"/>
                  </a:schemeClr>
                </a:solidFill>
              </a:rPr>
              <a:t>反</a:t>
            </a:r>
            <a:r>
              <a:rPr lang="zh-CN" altLang="en-US" sz="2200" dirty="0">
                <a:solidFill>
                  <a:schemeClr val="bg1">
                    <a:lumMod val="75000"/>
                  </a:schemeClr>
                </a:solidFill>
              </a:rPr>
              <a:t>置页表</a:t>
            </a:r>
            <a:endParaRPr lang="zh-CN" altLang="en-US" sz="2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两级页表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69924" y="1128133"/>
            <a:ext cx="10277467" cy="5860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例子（</a:t>
            </a:r>
            <a:r>
              <a:rPr lang="en-US" altLang="zh-CN" sz="2400" b="1" dirty="0">
                <a:solidFill>
                  <a:srgbClr val="C00000"/>
                </a:solidFill>
              </a:rPr>
              <a:t>32</a:t>
            </a:r>
            <a:r>
              <a:rPr lang="zh-CN" altLang="en-US" sz="2400" b="1" dirty="0">
                <a:solidFill>
                  <a:srgbClr val="C00000"/>
                </a:solidFill>
              </a:rPr>
              <a:t>位逻辑地址空间）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31" name="îśḻiďé"/>
          <p:cNvSpPr/>
          <p:nvPr/>
        </p:nvSpPr>
        <p:spPr bwMode="auto">
          <a:xfrm>
            <a:off x="1022217" y="1840349"/>
            <a:ext cx="846430" cy="8464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32" name="išľiďe"/>
          <p:cNvSpPr/>
          <p:nvPr/>
        </p:nvSpPr>
        <p:spPr bwMode="auto">
          <a:xfrm>
            <a:off x="1022217" y="3037435"/>
            <a:ext cx="847397" cy="84643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34" name="íśľîḋé"/>
          <p:cNvSpPr/>
          <p:nvPr/>
        </p:nvSpPr>
        <p:spPr bwMode="auto">
          <a:xfrm>
            <a:off x="1022217" y="4404525"/>
            <a:ext cx="846430" cy="8473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36" name="ïṡḷidè"/>
          <p:cNvSpPr/>
          <p:nvPr/>
        </p:nvSpPr>
        <p:spPr bwMode="auto">
          <a:xfrm>
            <a:off x="1279797" y="3288555"/>
            <a:ext cx="344710" cy="344189"/>
          </a:xfrm>
          <a:custGeom>
            <a:avLst/>
            <a:gdLst>
              <a:gd name="connsiteX0" fmla="*/ 106370 w 607639"/>
              <a:gd name="connsiteY0" fmla="*/ 436610 h 606722"/>
              <a:gd name="connsiteX1" fmla="*/ 61329 w 607639"/>
              <a:gd name="connsiteY1" fmla="*/ 480515 h 606722"/>
              <a:gd name="connsiteX2" fmla="*/ 126397 w 607639"/>
              <a:gd name="connsiteY2" fmla="*/ 545485 h 606722"/>
              <a:gd name="connsiteX3" fmla="*/ 170369 w 607639"/>
              <a:gd name="connsiteY3" fmla="*/ 500513 h 606722"/>
              <a:gd name="connsiteX4" fmla="*/ 455714 w 607639"/>
              <a:gd name="connsiteY4" fmla="*/ 404481 h 606722"/>
              <a:gd name="connsiteX5" fmla="*/ 531614 w 607639"/>
              <a:gd name="connsiteY5" fmla="*/ 404481 h 606722"/>
              <a:gd name="connsiteX6" fmla="*/ 531703 w 607639"/>
              <a:gd name="connsiteY6" fmla="*/ 404481 h 606722"/>
              <a:gd name="connsiteX7" fmla="*/ 531792 w 607639"/>
              <a:gd name="connsiteY7" fmla="*/ 404481 h 606722"/>
              <a:gd name="connsiteX8" fmla="*/ 548075 w 607639"/>
              <a:gd name="connsiteY8" fmla="*/ 410525 h 606722"/>
              <a:gd name="connsiteX9" fmla="*/ 551456 w 607639"/>
              <a:gd name="connsiteY9" fmla="*/ 413991 h 606722"/>
              <a:gd name="connsiteX10" fmla="*/ 556973 w 607639"/>
              <a:gd name="connsiteY10" fmla="*/ 429012 h 606722"/>
              <a:gd name="connsiteX11" fmla="*/ 556973 w 607639"/>
              <a:gd name="connsiteY11" fmla="*/ 429811 h 606722"/>
              <a:gd name="connsiteX12" fmla="*/ 556973 w 607639"/>
              <a:gd name="connsiteY12" fmla="*/ 505625 h 606722"/>
              <a:gd name="connsiteX13" fmla="*/ 531614 w 607639"/>
              <a:gd name="connsiteY13" fmla="*/ 530867 h 606722"/>
              <a:gd name="connsiteX14" fmla="*/ 506343 w 607639"/>
              <a:gd name="connsiteY14" fmla="*/ 505625 h 606722"/>
              <a:gd name="connsiteX15" fmla="*/ 476001 w 607639"/>
              <a:gd name="connsiteY15" fmla="*/ 546065 h 606722"/>
              <a:gd name="connsiteX16" fmla="*/ 455714 w 607639"/>
              <a:gd name="connsiteY16" fmla="*/ 556197 h 606722"/>
              <a:gd name="connsiteX17" fmla="*/ 440498 w 607639"/>
              <a:gd name="connsiteY17" fmla="*/ 551131 h 606722"/>
              <a:gd name="connsiteX18" fmla="*/ 435515 w 607639"/>
              <a:gd name="connsiteY18" fmla="*/ 515757 h 606722"/>
              <a:gd name="connsiteX19" fmla="*/ 481073 w 607639"/>
              <a:gd name="connsiteY19" fmla="*/ 455053 h 606722"/>
              <a:gd name="connsiteX20" fmla="*/ 455714 w 607639"/>
              <a:gd name="connsiteY20" fmla="*/ 455053 h 606722"/>
              <a:gd name="connsiteX21" fmla="*/ 430443 w 607639"/>
              <a:gd name="connsiteY21" fmla="*/ 429811 h 606722"/>
              <a:gd name="connsiteX22" fmla="*/ 455714 w 607639"/>
              <a:gd name="connsiteY22" fmla="*/ 404481 h 606722"/>
              <a:gd name="connsiteX23" fmla="*/ 157786 w 607639"/>
              <a:gd name="connsiteY23" fmla="*/ 282117 h 606722"/>
              <a:gd name="connsiteX24" fmla="*/ 175710 w 607639"/>
              <a:gd name="connsiteY24" fmla="*/ 289516 h 606722"/>
              <a:gd name="connsiteX25" fmla="*/ 317685 w 607639"/>
              <a:gd name="connsiteY25" fmla="*/ 431277 h 606722"/>
              <a:gd name="connsiteX26" fmla="*/ 317685 w 607639"/>
              <a:gd name="connsiteY26" fmla="*/ 467006 h 606722"/>
              <a:gd name="connsiteX27" fmla="*/ 245229 w 607639"/>
              <a:gd name="connsiteY27" fmla="*/ 539441 h 606722"/>
              <a:gd name="connsiteX28" fmla="*/ 227248 w 607639"/>
              <a:gd name="connsiteY28" fmla="*/ 546818 h 606722"/>
              <a:gd name="connsiteX29" fmla="*/ 209357 w 607639"/>
              <a:gd name="connsiteY29" fmla="*/ 539441 h 606722"/>
              <a:gd name="connsiteX30" fmla="*/ 206241 w 607639"/>
              <a:gd name="connsiteY30" fmla="*/ 536242 h 606722"/>
              <a:gd name="connsiteX31" fmla="*/ 144734 w 607639"/>
              <a:gd name="connsiteY31" fmla="*/ 599079 h 606722"/>
              <a:gd name="connsiteX32" fmla="*/ 126753 w 607639"/>
              <a:gd name="connsiteY32" fmla="*/ 606722 h 606722"/>
              <a:gd name="connsiteX33" fmla="*/ 126575 w 607639"/>
              <a:gd name="connsiteY33" fmla="*/ 606722 h 606722"/>
              <a:gd name="connsiteX34" fmla="*/ 108684 w 607639"/>
              <a:gd name="connsiteY34" fmla="*/ 599256 h 606722"/>
              <a:gd name="connsiteX35" fmla="*/ 7388 w 607639"/>
              <a:gd name="connsiteY35" fmla="*/ 498113 h 606722"/>
              <a:gd name="connsiteX36" fmla="*/ 0 w 607639"/>
              <a:gd name="connsiteY36" fmla="*/ 480160 h 606722"/>
              <a:gd name="connsiteX37" fmla="*/ 7655 w 607639"/>
              <a:gd name="connsiteY37" fmla="*/ 462206 h 606722"/>
              <a:gd name="connsiteX38" fmla="*/ 70587 w 607639"/>
              <a:gd name="connsiteY38" fmla="*/ 400792 h 606722"/>
              <a:gd name="connsiteX39" fmla="*/ 67382 w 607639"/>
              <a:gd name="connsiteY39" fmla="*/ 397681 h 606722"/>
              <a:gd name="connsiteX40" fmla="*/ 59994 w 607639"/>
              <a:gd name="connsiteY40" fmla="*/ 379728 h 606722"/>
              <a:gd name="connsiteX41" fmla="*/ 67382 w 607639"/>
              <a:gd name="connsiteY41" fmla="*/ 361863 h 606722"/>
              <a:gd name="connsiteX42" fmla="*/ 139927 w 607639"/>
              <a:gd name="connsiteY42" fmla="*/ 289516 h 606722"/>
              <a:gd name="connsiteX43" fmla="*/ 157786 w 607639"/>
              <a:gd name="connsiteY43" fmla="*/ 282117 h 606722"/>
              <a:gd name="connsiteX44" fmla="*/ 363724 w 607639"/>
              <a:gd name="connsiteY44" fmla="*/ 101159 h 606722"/>
              <a:gd name="connsiteX45" fmla="*/ 353254 w 607639"/>
              <a:gd name="connsiteY45" fmla="*/ 105492 h 606722"/>
              <a:gd name="connsiteX46" fmla="*/ 320945 w 607639"/>
              <a:gd name="connsiteY46" fmla="*/ 137752 h 606722"/>
              <a:gd name="connsiteX47" fmla="*/ 323793 w 607639"/>
              <a:gd name="connsiteY47" fmla="*/ 139974 h 606722"/>
              <a:gd name="connsiteX48" fmla="*/ 335898 w 607639"/>
              <a:gd name="connsiteY48" fmla="*/ 148417 h 606722"/>
              <a:gd name="connsiteX49" fmla="*/ 341149 w 607639"/>
              <a:gd name="connsiteY49" fmla="*/ 151794 h 606722"/>
              <a:gd name="connsiteX50" fmla="*/ 359930 w 607639"/>
              <a:gd name="connsiteY50" fmla="*/ 162459 h 606722"/>
              <a:gd name="connsiteX51" fmla="*/ 408439 w 607639"/>
              <a:gd name="connsiteY51" fmla="*/ 198897 h 606722"/>
              <a:gd name="connsiteX52" fmla="*/ 444933 w 607639"/>
              <a:gd name="connsiteY52" fmla="*/ 247243 h 606722"/>
              <a:gd name="connsiteX53" fmla="*/ 455614 w 607639"/>
              <a:gd name="connsiteY53" fmla="*/ 266084 h 606722"/>
              <a:gd name="connsiteX54" fmla="*/ 458907 w 607639"/>
              <a:gd name="connsiteY54" fmla="*/ 271239 h 606722"/>
              <a:gd name="connsiteX55" fmla="*/ 467452 w 607639"/>
              <a:gd name="connsiteY55" fmla="*/ 283326 h 606722"/>
              <a:gd name="connsiteX56" fmla="*/ 469677 w 607639"/>
              <a:gd name="connsiteY56" fmla="*/ 286258 h 606722"/>
              <a:gd name="connsiteX57" fmla="*/ 501987 w 607639"/>
              <a:gd name="connsiteY57" fmla="*/ 253998 h 606722"/>
              <a:gd name="connsiteX58" fmla="*/ 501987 w 607639"/>
              <a:gd name="connsiteY58" fmla="*/ 233024 h 606722"/>
              <a:gd name="connsiteX59" fmla="*/ 374260 w 607639"/>
              <a:gd name="connsiteY59" fmla="*/ 105492 h 606722"/>
              <a:gd name="connsiteX60" fmla="*/ 363724 w 607639"/>
              <a:gd name="connsiteY60" fmla="*/ 101159 h 606722"/>
              <a:gd name="connsiteX61" fmla="*/ 177209 w 607639"/>
              <a:gd name="connsiteY61" fmla="*/ 50521 h 606722"/>
              <a:gd name="connsiteX62" fmla="*/ 195096 w 607639"/>
              <a:gd name="connsiteY62" fmla="*/ 57919 h 606722"/>
              <a:gd name="connsiteX63" fmla="*/ 195096 w 607639"/>
              <a:gd name="connsiteY63" fmla="*/ 93644 h 606722"/>
              <a:gd name="connsiteX64" fmla="*/ 137075 w 607639"/>
              <a:gd name="connsiteY64" fmla="*/ 151675 h 606722"/>
              <a:gd name="connsiteX65" fmla="*/ 151936 w 607639"/>
              <a:gd name="connsiteY65" fmla="*/ 151675 h 606722"/>
              <a:gd name="connsiteX66" fmla="*/ 177209 w 607639"/>
              <a:gd name="connsiteY66" fmla="*/ 176914 h 606722"/>
              <a:gd name="connsiteX67" fmla="*/ 151936 w 607639"/>
              <a:gd name="connsiteY67" fmla="*/ 202241 h 606722"/>
              <a:gd name="connsiteX68" fmla="*/ 75939 w 607639"/>
              <a:gd name="connsiteY68" fmla="*/ 202241 h 606722"/>
              <a:gd name="connsiteX69" fmla="*/ 59387 w 607639"/>
              <a:gd name="connsiteY69" fmla="*/ 196020 h 606722"/>
              <a:gd name="connsiteX70" fmla="*/ 55916 w 607639"/>
              <a:gd name="connsiteY70" fmla="*/ 192288 h 606722"/>
              <a:gd name="connsiteX71" fmla="*/ 50755 w 607639"/>
              <a:gd name="connsiteY71" fmla="*/ 178691 h 606722"/>
              <a:gd name="connsiteX72" fmla="*/ 50666 w 607639"/>
              <a:gd name="connsiteY72" fmla="*/ 176736 h 606722"/>
              <a:gd name="connsiteX73" fmla="*/ 50666 w 607639"/>
              <a:gd name="connsiteY73" fmla="*/ 101109 h 606722"/>
              <a:gd name="connsiteX74" fmla="*/ 75939 w 607639"/>
              <a:gd name="connsiteY74" fmla="*/ 75782 h 606722"/>
              <a:gd name="connsiteX75" fmla="*/ 101301 w 607639"/>
              <a:gd name="connsiteY75" fmla="*/ 101109 h 606722"/>
              <a:gd name="connsiteX76" fmla="*/ 101301 w 607639"/>
              <a:gd name="connsiteY76" fmla="*/ 115861 h 606722"/>
              <a:gd name="connsiteX77" fmla="*/ 159322 w 607639"/>
              <a:gd name="connsiteY77" fmla="*/ 57919 h 606722"/>
              <a:gd name="connsiteX78" fmla="*/ 177209 w 607639"/>
              <a:gd name="connsiteY78" fmla="*/ 50521 h 606722"/>
              <a:gd name="connsiteX79" fmla="*/ 480892 w 607639"/>
              <a:gd name="connsiteY79" fmla="*/ 0 h 606722"/>
              <a:gd name="connsiteX80" fmla="*/ 498960 w 607639"/>
              <a:gd name="connsiteY80" fmla="*/ 7376 h 606722"/>
              <a:gd name="connsiteX81" fmla="*/ 600162 w 607639"/>
              <a:gd name="connsiteY81" fmla="*/ 108513 h 606722"/>
              <a:gd name="connsiteX82" fmla="*/ 607639 w 607639"/>
              <a:gd name="connsiteY82" fmla="*/ 126554 h 606722"/>
              <a:gd name="connsiteX83" fmla="*/ 599984 w 607639"/>
              <a:gd name="connsiteY83" fmla="*/ 144507 h 606722"/>
              <a:gd name="connsiteX84" fmla="*/ 541417 w 607639"/>
              <a:gd name="connsiteY84" fmla="*/ 201741 h 606722"/>
              <a:gd name="connsiteX85" fmla="*/ 537768 w 607639"/>
              <a:gd name="connsiteY85" fmla="*/ 289724 h 606722"/>
              <a:gd name="connsiteX86" fmla="*/ 486499 w 607639"/>
              <a:gd name="connsiteY86" fmla="*/ 340915 h 606722"/>
              <a:gd name="connsiteX87" fmla="*/ 484719 w 607639"/>
              <a:gd name="connsiteY87" fmla="*/ 342159 h 606722"/>
              <a:gd name="connsiteX88" fmla="*/ 480002 w 607639"/>
              <a:gd name="connsiteY88" fmla="*/ 345270 h 606722"/>
              <a:gd name="connsiteX89" fmla="*/ 476530 w 607639"/>
              <a:gd name="connsiteY89" fmla="*/ 346869 h 606722"/>
              <a:gd name="connsiteX90" fmla="*/ 471190 w 607639"/>
              <a:gd name="connsiteY90" fmla="*/ 347847 h 606722"/>
              <a:gd name="connsiteX91" fmla="*/ 468609 w 607639"/>
              <a:gd name="connsiteY91" fmla="*/ 348380 h 606722"/>
              <a:gd name="connsiteX92" fmla="*/ 467452 w 607639"/>
              <a:gd name="connsiteY92" fmla="*/ 348114 h 606722"/>
              <a:gd name="connsiteX93" fmla="*/ 462111 w 607639"/>
              <a:gd name="connsiteY93" fmla="*/ 347047 h 606722"/>
              <a:gd name="connsiteX94" fmla="*/ 458373 w 607639"/>
              <a:gd name="connsiteY94" fmla="*/ 345981 h 606722"/>
              <a:gd name="connsiteX95" fmla="*/ 457305 w 607639"/>
              <a:gd name="connsiteY95" fmla="*/ 345714 h 606722"/>
              <a:gd name="connsiteX96" fmla="*/ 428911 w 607639"/>
              <a:gd name="connsiteY96" fmla="*/ 331494 h 606722"/>
              <a:gd name="connsiteX97" fmla="*/ 407282 w 607639"/>
              <a:gd name="connsiteY97" fmla="*/ 335049 h 606722"/>
              <a:gd name="connsiteX98" fmla="*/ 376308 w 607639"/>
              <a:gd name="connsiteY98" fmla="*/ 365888 h 606722"/>
              <a:gd name="connsiteX99" fmla="*/ 344265 w 607639"/>
              <a:gd name="connsiteY99" fmla="*/ 379219 h 606722"/>
              <a:gd name="connsiteX100" fmla="*/ 312133 w 607639"/>
              <a:gd name="connsiteY100" fmla="*/ 365888 h 606722"/>
              <a:gd name="connsiteX101" fmla="*/ 241194 w 607639"/>
              <a:gd name="connsiteY101" fmla="*/ 295057 h 606722"/>
              <a:gd name="connsiteX102" fmla="*/ 241194 w 607639"/>
              <a:gd name="connsiteY102" fmla="*/ 230891 h 606722"/>
              <a:gd name="connsiteX103" fmla="*/ 272079 w 607639"/>
              <a:gd name="connsiteY103" fmla="*/ 200052 h 606722"/>
              <a:gd name="connsiteX104" fmla="*/ 275551 w 607639"/>
              <a:gd name="connsiteY104" fmla="*/ 178456 h 606722"/>
              <a:gd name="connsiteX105" fmla="*/ 261398 w 607639"/>
              <a:gd name="connsiteY105" fmla="*/ 150106 h 606722"/>
              <a:gd name="connsiteX106" fmla="*/ 261131 w 607639"/>
              <a:gd name="connsiteY106" fmla="*/ 149039 h 606722"/>
              <a:gd name="connsiteX107" fmla="*/ 260063 w 607639"/>
              <a:gd name="connsiteY107" fmla="*/ 145307 h 606722"/>
              <a:gd name="connsiteX108" fmla="*/ 258995 w 607639"/>
              <a:gd name="connsiteY108" fmla="*/ 139974 h 606722"/>
              <a:gd name="connsiteX109" fmla="*/ 259262 w 607639"/>
              <a:gd name="connsiteY109" fmla="*/ 136242 h 606722"/>
              <a:gd name="connsiteX110" fmla="*/ 260241 w 607639"/>
              <a:gd name="connsiteY110" fmla="*/ 130909 h 606722"/>
              <a:gd name="connsiteX111" fmla="*/ 261754 w 607639"/>
              <a:gd name="connsiteY111" fmla="*/ 127443 h 606722"/>
              <a:gd name="connsiteX112" fmla="*/ 264959 w 607639"/>
              <a:gd name="connsiteY112" fmla="*/ 122733 h 606722"/>
              <a:gd name="connsiteX113" fmla="*/ 266116 w 607639"/>
              <a:gd name="connsiteY113" fmla="*/ 120955 h 606722"/>
              <a:gd name="connsiteX114" fmla="*/ 317384 w 607639"/>
              <a:gd name="connsiteY114" fmla="*/ 69676 h 606722"/>
              <a:gd name="connsiteX115" fmla="*/ 405591 w 607639"/>
              <a:gd name="connsiteY115" fmla="*/ 66121 h 606722"/>
              <a:gd name="connsiteX116" fmla="*/ 462912 w 607639"/>
              <a:gd name="connsiteY116" fmla="*/ 7554 h 606722"/>
              <a:gd name="connsiteX117" fmla="*/ 480892 w 607639"/>
              <a:gd name="connsiteY117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607639" h="606722">
                <a:moveTo>
                  <a:pt x="106370" y="436610"/>
                </a:moveTo>
                <a:lnTo>
                  <a:pt x="61329" y="480515"/>
                </a:lnTo>
                <a:lnTo>
                  <a:pt x="126397" y="545485"/>
                </a:lnTo>
                <a:lnTo>
                  <a:pt x="170369" y="500513"/>
                </a:lnTo>
                <a:close/>
                <a:moveTo>
                  <a:pt x="455714" y="404481"/>
                </a:moveTo>
                <a:lnTo>
                  <a:pt x="531614" y="404481"/>
                </a:lnTo>
                <a:lnTo>
                  <a:pt x="531703" y="404481"/>
                </a:lnTo>
                <a:lnTo>
                  <a:pt x="531792" y="404481"/>
                </a:lnTo>
                <a:cubicBezTo>
                  <a:pt x="538020" y="404481"/>
                  <a:pt x="543715" y="406792"/>
                  <a:pt x="548075" y="410525"/>
                </a:cubicBezTo>
                <a:cubicBezTo>
                  <a:pt x="549321" y="411591"/>
                  <a:pt x="550388" y="412747"/>
                  <a:pt x="551456" y="413991"/>
                </a:cubicBezTo>
                <a:cubicBezTo>
                  <a:pt x="554748" y="418079"/>
                  <a:pt x="556795" y="423323"/>
                  <a:pt x="556973" y="429012"/>
                </a:cubicBezTo>
                <a:cubicBezTo>
                  <a:pt x="556973" y="429278"/>
                  <a:pt x="556973" y="429545"/>
                  <a:pt x="556973" y="429811"/>
                </a:cubicBezTo>
                <a:lnTo>
                  <a:pt x="556973" y="505625"/>
                </a:lnTo>
                <a:cubicBezTo>
                  <a:pt x="556973" y="519579"/>
                  <a:pt x="545673" y="530867"/>
                  <a:pt x="531614" y="530867"/>
                </a:cubicBezTo>
                <a:cubicBezTo>
                  <a:pt x="517644" y="530867"/>
                  <a:pt x="506343" y="519579"/>
                  <a:pt x="506343" y="505625"/>
                </a:cubicBezTo>
                <a:lnTo>
                  <a:pt x="476001" y="546065"/>
                </a:lnTo>
                <a:cubicBezTo>
                  <a:pt x="471018" y="552731"/>
                  <a:pt x="463366" y="556197"/>
                  <a:pt x="455714" y="556197"/>
                </a:cubicBezTo>
                <a:cubicBezTo>
                  <a:pt x="450375" y="556197"/>
                  <a:pt x="445125" y="554508"/>
                  <a:pt x="440498" y="551131"/>
                </a:cubicBezTo>
                <a:cubicBezTo>
                  <a:pt x="429375" y="542776"/>
                  <a:pt x="427062" y="526867"/>
                  <a:pt x="435515" y="515757"/>
                </a:cubicBezTo>
                <a:lnTo>
                  <a:pt x="481073" y="455053"/>
                </a:lnTo>
                <a:lnTo>
                  <a:pt x="455714" y="455053"/>
                </a:lnTo>
                <a:cubicBezTo>
                  <a:pt x="441744" y="455053"/>
                  <a:pt x="430443" y="443765"/>
                  <a:pt x="430443" y="429811"/>
                </a:cubicBezTo>
                <a:cubicBezTo>
                  <a:pt x="430443" y="415857"/>
                  <a:pt x="441744" y="404481"/>
                  <a:pt x="455714" y="404481"/>
                </a:cubicBezTo>
                <a:close/>
                <a:moveTo>
                  <a:pt x="157786" y="282117"/>
                </a:moveTo>
                <a:cubicBezTo>
                  <a:pt x="164272" y="282117"/>
                  <a:pt x="170770" y="284584"/>
                  <a:pt x="175710" y="289516"/>
                </a:cubicBezTo>
                <a:lnTo>
                  <a:pt x="317685" y="431277"/>
                </a:lnTo>
                <a:cubicBezTo>
                  <a:pt x="327565" y="441142"/>
                  <a:pt x="327565" y="457140"/>
                  <a:pt x="317685" y="467006"/>
                </a:cubicBezTo>
                <a:lnTo>
                  <a:pt x="245229" y="539441"/>
                </a:lnTo>
                <a:cubicBezTo>
                  <a:pt x="240422" y="544152"/>
                  <a:pt x="234013" y="546818"/>
                  <a:pt x="227248" y="546818"/>
                </a:cubicBezTo>
                <a:cubicBezTo>
                  <a:pt x="220572" y="546818"/>
                  <a:pt x="214163" y="544152"/>
                  <a:pt x="209357" y="539441"/>
                </a:cubicBezTo>
                <a:lnTo>
                  <a:pt x="206241" y="536242"/>
                </a:lnTo>
                <a:lnTo>
                  <a:pt x="144734" y="599079"/>
                </a:lnTo>
                <a:cubicBezTo>
                  <a:pt x="140016" y="603967"/>
                  <a:pt x="133518" y="606633"/>
                  <a:pt x="126753" y="606722"/>
                </a:cubicBezTo>
                <a:lnTo>
                  <a:pt x="126575" y="606722"/>
                </a:lnTo>
                <a:cubicBezTo>
                  <a:pt x="119899" y="606722"/>
                  <a:pt x="113491" y="604056"/>
                  <a:pt x="108684" y="599256"/>
                </a:cubicBezTo>
                <a:lnTo>
                  <a:pt x="7388" y="498113"/>
                </a:lnTo>
                <a:cubicBezTo>
                  <a:pt x="2670" y="493403"/>
                  <a:pt x="0" y="486914"/>
                  <a:pt x="0" y="480160"/>
                </a:cubicBezTo>
                <a:cubicBezTo>
                  <a:pt x="89" y="473405"/>
                  <a:pt x="2759" y="466917"/>
                  <a:pt x="7655" y="462206"/>
                </a:cubicBezTo>
                <a:lnTo>
                  <a:pt x="70587" y="400792"/>
                </a:lnTo>
                <a:lnTo>
                  <a:pt x="67382" y="397681"/>
                </a:lnTo>
                <a:cubicBezTo>
                  <a:pt x="62665" y="392882"/>
                  <a:pt x="59994" y="386482"/>
                  <a:pt x="59994" y="379728"/>
                </a:cubicBezTo>
                <a:cubicBezTo>
                  <a:pt x="59994" y="373062"/>
                  <a:pt x="62665" y="366663"/>
                  <a:pt x="67382" y="361863"/>
                </a:cubicBezTo>
                <a:lnTo>
                  <a:pt x="139927" y="289516"/>
                </a:lnTo>
                <a:cubicBezTo>
                  <a:pt x="144823" y="284584"/>
                  <a:pt x="151299" y="282117"/>
                  <a:pt x="157786" y="282117"/>
                </a:cubicBezTo>
                <a:close/>
                <a:moveTo>
                  <a:pt x="363724" y="101159"/>
                </a:moveTo>
                <a:cubicBezTo>
                  <a:pt x="359930" y="101159"/>
                  <a:pt x="356147" y="102604"/>
                  <a:pt x="353254" y="105492"/>
                </a:cubicBezTo>
                <a:lnTo>
                  <a:pt x="320945" y="137752"/>
                </a:lnTo>
                <a:cubicBezTo>
                  <a:pt x="321835" y="138463"/>
                  <a:pt x="322814" y="139174"/>
                  <a:pt x="323793" y="139974"/>
                </a:cubicBezTo>
                <a:cubicBezTo>
                  <a:pt x="327709" y="142818"/>
                  <a:pt x="331715" y="145662"/>
                  <a:pt x="335898" y="148417"/>
                </a:cubicBezTo>
                <a:cubicBezTo>
                  <a:pt x="337678" y="149572"/>
                  <a:pt x="339369" y="150728"/>
                  <a:pt x="341149" y="151794"/>
                </a:cubicBezTo>
                <a:cubicBezTo>
                  <a:pt x="347113" y="155527"/>
                  <a:pt x="353254" y="159082"/>
                  <a:pt x="359930" y="162459"/>
                </a:cubicBezTo>
                <a:cubicBezTo>
                  <a:pt x="376040" y="170724"/>
                  <a:pt x="392863" y="183344"/>
                  <a:pt x="408439" y="198897"/>
                </a:cubicBezTo>
                <a:cubicBezTo>
                  <a:pt x="424016" y="214449"/>
                  <a:pt x="436655" y="231246"/>
                  <a:pt x="444933" y="247243"/>
                </a:cubicBezTo>
                <a:cubicBezTo>
                  <a:pt x="448315" y="253998"/>
                  <a:pt x="451875" y="260130"/>
                  <a:pt x="455614" y="266084"/>
                </a:cubicBezTo>
                <a:cubicBezTo>
                  <a:pt x="456682" y="267862"/>
                  <a:pt x="457839" y="269550"/>
                  <a:pt x="458907" y="271239"/>
                </a:cubicBezTo>
                <a:cubicBezTo>
                  <a:pt x="461666" y="275416"/>
                  <a:pt x="464514" y="279504"/>
                  <a:pt x="467452" y="283326"/>
                </a:cubicBezTo>
                <a:cubicBezTo>
                  <a:pt x="468164" y="284303"/>
                  <a:pt x="468876" y="285281"/>
                  <a:pt x="469677" y="286258"/>
                </a:cubicBezTo>
                <a:lnTo>
                  <a:pt x="501987" y="253998"/>
                </a:lnTo>
                <a:cubicBezTo>
                  <a:pt x="507772" y="248221"/>
                  <a:pt x="507772" y="238800"/>
                  <a:pt x="501987" y="233024"/>
                </a:cubicBezTo>
                <a:lnTo>
                  <a:pt x="374260" y="105492"/>
                </a:lnTo>
                <a:cubicBezTo>
                  <a:pt x="371323" y="102604"/>
                  <a:pt x="367518" y="101159"/>
                  <a:pt x="363724" y="101159"/>
                </a:cubicBezTo>
                <a:close/>
                <a:moveTo>
                  <a:pt x="177209" y="50521"/>
                </a:moveTo>
                <a:cubicBezTo>
                  <a:pt x="183683" y="50521"/>
                  <a:pt x="190157" y="52987"/>
                  <a:pt x="195096" y="57919"/>
                </a:cubicBezTo>
                <a:cubicBezTo>
                  <a:pt x="205063" y="67784"/>
                  <a:pt x="205063" y="83869"/>
                  <a:pt x="195096" y="93644"/>
                </a:cubicBezTo>
                <a:lnTo>
                  <a:pt x="137075" y="151675"/>
                </a:lnTo>
                <a:lnTo>
                  <a:pt x="151936" y="151675"/>
                </a:lnTo>
                <a:cubicBezTo>
                  <a:pt x="165908" y="151675"/>
                  <a:pt x="177209" y="162961"/>
                  <a:pt x="177209" y="176914"/>
                </a:cubicBezTo>
                <a:cubicBezTo>
                  <a:pt x="177209" y="190866"/>
                  <a:pt x="165908" y="202241"/>
                  <a:pt x="151936" y="202241"/>
                </a:cubicBezTo>
                <a:lnTo>
                  <a:pt x="75939" y="202241"/>
                </a:lnTo>
                <a:cubicBezTo>
                  <a:pt x="69621" y="202241"/>
                  <a:pt x="63836" y="199842"/>
                  <a:pt x="59387" y="196020"/>
                </a:cubicBezTo>
                <a:cubicBezTo>
                  <a:pt x="58141" y="194954"/>
                  <a:pt x="56984" y="193710"/>
                  <a:pt x="55916" y="192288"/>
                </a:cubicBezTo>
                <a:cubicBezTo>
                  <a:pt x="52980" y="188466"/>
                  <a:pt x="51111" y="183845"/>
                  <a:pt x="50755" y="178691"/>
                </a:cubicBezTo>
                <a:cubicBezTo>
                  <a:pt x="50666" y="178069"/>
                  <a:pt x="50666" y="177447"/>
                  <a:pt x="50666" y="176736"/>
                </a:cubicBezTo>
                <a:lnTo>
                  <a:pt x="50666" y="101109"/>
                </a:lnTo>
                <a:cubicBezTo>
                  <a:pt x="50666" y="87157"/>
                  <a:pt x="61968" y="75782"/>
                  <a:pt x="75939" y="75782"/>
                </a:cubicBezTo>
                <a:cubicBezTo>
                  <a:pt x="89910" y="75782"/>
                  <a:pt x="101301" y="87157"/>
                  <a:pt x="101301" y="101109"/>
                </a:cubicBezTo>
                <a:lnTo>
                  <a:pt x="101301" y="115861"/>
                </a:lnTo>
                <a:lnTo>
                  <a:pt x="159322" y="57919"/>
                </a:lnTo>
                <a:cubicBezTo>
                  <a:pt x="164261" y="52987"/>
                  <a:pt x="170735" y="50521"/>
                  <a:pt x="177209" y="50521"/>
                </a:cubicBezTo>
                <a:close/>
                <a:moveTo>
                  <a:pt x="480892" y="0"/>
                </a:moveTo>
                <a:cubicBezTo>
                  <a:pt x="487122" y="0"/>
                  <a:pt x="494154" y="2666"/>
                  <a:pt x="498960" y="7376"/>
                </a:cubicBezTo>
                <a:lnTo>
                  <a:pt x="600162" y="108513"/>
                </a:lnTo>
                <a:cubicBezTo>
                  <a:pt x="604969" y="113312"/>
                  <a:pt x="607639" y="119800"/>
                  <a:pt x="607639" y="126554"/>
                </a:cubicBezTo>
                <a:cubicBezTo>
                  <a:pt x="607550" y="133309"/>
                  <a:pt x="604880" y="139708"/>
                  <a:pt x="599984" y="144507"/>
                </a:cubicBezTo>
                <a:lnTo>
                  <a:pt x="541417" y="201741"/>
                </a:lnTo>
                <a:cubicBezTo>
                  <a:pt x="562957" y="227425"/>
                  <a:pt x="561978" y="265640"/>
                  <a:pt x="537768" y="289724"/>
                </a:cubicBezTo>
                <a:lnTo>
                  <a:pt x="486499" y="340915"/>
                </a:lnTo>
                <a:cubicBezTo>
                  <a:pt x="485965" y="341537"/>
                  <a:pt x="485342" y="341715"/>
                  <a:pt x="484719" y="342159"/>
                </a:cubicBezTo>
                <a:cubicBezTo>
                  <a:pt x="483206" y="343403"/>
                  <a:pt x="481693" y="344470"/>
                  <a:pt x="480002" y="345270"/>
                </a:cubicBezTo>
                <a:cubicBezTo>
                  <a:pt x="478845" y="345892"/>
                  <a:pt x="477688" y="346425"/>
                  <a:pt x="476530" y="346869"/>
                </a:cubicBezTo>
                <a:cubicBezTo>
                  <a:pt x="474750" y="347403"/>
                  <a:pt x="472970" y="347669"/>
                  <a:pt x="471190" y="347847"/>
                </a:cubicBezTo>
                <a:cubicBezTo>
                  <a:pt x="470300" y="347936"/>
                  <a:pt x="469499" y="348380"/>
                  <a:pt x="468609" y="348380"/>
                </a:cubicBezTo>
                <a:cubicBezTo>
                  <a:pt x="468253" y="348380"/>
                  <a:pt x="467808" y="348114"/>
                  <a:pt x="467452" y="348114"/>
                </a:cubicBezTo>
                <a:cubicBezTo>
                  <a:pt x="465582" y="348025"/>
                  <a:pt x="463891" y="347580"/>
                  <a:pt x="462111" y="347047"/>
                </a:cubicBezTo>
                <a:cubicBezTo>
                  <a:pt x="460776" y="346692"/>
                  <a:pt x="459530" y="346514"/>
                  <a:pt x="458373" y="345981"/>
                </a:cubicBezTo>
                <a:cubicBezTo>
                  <a:pt x="458017" y="345892"/>
                  <a:pt x="457661" y="345892"/>
                  <a:pt x="457305" y="345714"/>
                </a:cubicBezTo>
                <a:lnTo>
                  <a:pt x="428911" y="331494"/>
                </a:lnTo>
                <a:cubicBezTo>
                  <a:pt x="421702" y="327940"/>
                  <a:pt x="412979" y="329273"/>
                  <a:pt x="407282" y="335049"/>
                </a:cubicBezTo>
                <a:lnTo>
                  <a:pt x="376308" y="365888"/>
                </a:lnTo>
                <a:cubicBezTo>
                  <a:pt x="367763" y="374509"/>
                  <a:pt x="356370" y="379219"/>
                  <a:pt x="344265" y="379219"/>
                </a:cubicBezTo>
                <a:cubicBezTo>
                  <a:pt x="332160" y="379219"/>
                  <a:pt x="320678" y="374509"/>
                  <a:pt x="312133" y="365888"/>
                </a:cubicBezTo>
                <a:lnTo>
                  <a:pt x="241194" y="295057"/>
                </a:lnTo>
                <a:cubicBezTo>
                  <a:pt x="223481" y="277371"/>
                  <a:pt x="223481" y="248576"/>
                  <a:pt x="241194" y="230891"/>
                </a:cubicBezTo>
                <a:lnTo>
                  <a:pt x="272079" y="200052"/>
                </a:lnTo>
                <a:cubicBezTo>
                  <a:pt x="277776" y="194364"/>
                  <a:pt x="279200" y="185655"/>
                  <a:pt x="275551" y="178456"/>
                </a:cubicBezTo>
                <a:lnTo>
                  <a:pt x="261398" y="150106"/>
                </a:lnTo>
                <a:cubicBezTo>
                  <a:pt x="261220" y="149750"/>
                  <a:pt x="261220" y="149395"/>
                  <a:pt x="261131" y="149039"/>
                </a:cubicBezTo>
                <a:cubicBezTo>
                  <a:pt x="260508" y="147884"/>
                  <a:pt x="260330" y="146640"/>
                  <a:pt x="260063" y="145307"/>
                </a:cubicBezTo>
                <a:cubicBezTo>
                  <a:pt x="259529" y="143529"/>
                  <a:pt x="259084" y="141841"/>
                  <a:pt x="258995" y="139974"/>
                </a:cubicBezTo>
                <a:cubicBezTo>
                  <a:pt x="258906" y="138730"/>
                  <a:pt x="259084" y="137486"/>
                  <a:pt x="259262" y="136242"/>
                </a:cubicBezTo>
                <a:cubicBezTo>
                  <a:pt x="259440" y="134375"/>
                  <a:pt x="259707" y="132687"/>
                  <a:pt x="260241" y="130909"/>
                </a:cubicBezTo>
                <a:cubicBezTo>
                  <a:pt x="260686" y="129754"/>
                  <a:pt x="261220" y="128599"/>
                  <a:pt x="261754" y="127443"/>
                </a:cubicBezTo>
                <a:cubicBezTo>
                  <a:pt x="262644" y="125755"/>
                  <a:pt x="263713" y="124155"/>
                  <a:pt x="264959" y="122733"/>
                </a:cubicBezTo>
                <a:cubicBezTo>
                  <a:pt x="265404" y="122111"/>
                  <a:pt x="265582" y="121400"/>
                  <a:pt x="266116" y="120955"/>
                </a:cubicBezTo>
                <a:lnTo>
                  <a:pt x="317384" y="69676"/>
                </a:lnTo>
                <a:cubicBezTo>
                  <a:pt x="341505" y="45592"/>
                  <a:pt x="379868" y="44525"/>
                  <a:pt x="405591" y="66121"/>
                </a:cubicBezTo>
                <a:lnTo>
                  <a:pt x="462912" y="7554"/>
                </a:lnTo>
                <a:cubicBezTo>
                  <a:pt x="467719" y="2755"/>
                  <a:pt x="474127" y="89"/>
                  <a:pt x="4808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38" name="iṡļîḍé"/>
          <p:cNvSpPr/>
          <p:nvPr/>
        </p:nvSpPr>
        <p:spPr bwMode="auto">
          <a:xfrm>
            <a:off x="1279797" y="4656129"/>
            <a:ext cx="344710" cy="344189"/>
          </a:xfrm>
          <a:custGeom>
            <a:avLst/>
            <a:gdLst>
              <a:gd name="connsiteX0" fmla="*/ 257564 w 607639"/>
              <a:gd name="connsiteY0" fmla="*/ 92370 h 606722"/>
              <a:gd name="connsiteX1" fmla="*/ 277411 w 607639"/>
              <a:gd name="connsiteY1" fmla="*/ 112098 h 606722"/>
              <a:gd name="connsiteX2" fmla="*/ 277411 w 607639"/>
              <a:gd name="connsiteY2" fmla="*/ 329729 h 606722"/>
              <a:gd name="connsiteX3" fmla="*/ 495281 w 607639"/>
              <a:gd name="connsiteY3" fmla="*/ 329729 h 606722"/>
              <a:gd name="connsiteX4" fmla="*/ 515128 w 607639"/>
              <a:gd name="connsiteY4" fmla="*/ 349546 h 606722"/>
              <a:gd name="connsiteX5" fmla="*/ 257564 w 607639"/>
              <a:gd name="connsiteY5" fmla="*/ 606722 h 606722"/>
              <a:gd name="connsiteX6" fmla="*/ 0 w 607639"/>
              <a:gd name="connsiteY6" fmla="*/ 349546 h 606722"/>
              <a:gd name="connsiteX7" fmla="*/ 257564 w 607639"/>
              <a:gd name="connsiteY7" fmla="*/ 92370 h 606722"/>
              <a:gd name="connsiteX8" fmla="*/ 350027 w 607639"/>
              <a:gd name="connsiteY8" fmla="*/ 0 h 606722"/>
              <a:gd name="connsiteX9" fmla="*/ 607639 w 607639"/>
              <a:gd name="connsiteY9" fmla="*/ 257220 h 606722"/>
              <a:gd name="connsiteX10" fmla="*/ 587788 w 607639"/>
              <a:gd name="connsiteY10" fmla="*/ 277040 h 606722"/>
              <a:gd name="connsiteX11" fmla="*/ 350027 w 607639"/>
              <a:gd name="connsiteY11" fmla="*/ 277040 h 606722"/>
              <a:gd name="connsiteX12" fmla="*/ 330176 w 607639"/>
              <a:gd name="connsiteY12" fmla="*/ 257220 h 606722"/>
              <a:gd name="connsiteX13" fmla="*/ 330176 w 607639"/>
              <a:gd name="connsiteY13" fmla="*/ 19820 h 606722"/>
              <a:gd name="connsiteX14" fmla="*/ 350027 w 607639"/>
              <a:gd name="connsiteY14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7639" h="606722">
                <a:moveTo>
                  <a:pt x="257564" y="92370"/>
                </a:moveTo>
                <a:cubicBezTo>
                  <a:pt x="268511" y="92370"/>
                  <a:pt x="277411" y="101168"/>
                  <a:pt x="277411" y="112098"/>
                </a:cubicBezTo>
                <a:lnTo>
                  <a:pt x="277411" y="329729"/>
                </a:lnTo>
                <a:lnTo>
                  <a:pt x="495281" y="329729"/>
                </a:lnTo>
                <a:cubicBezTo>
                  <a:pt x="506228" y="329729"/>
                  <a:pt x="515128" y="338616"/>
                  <a:pt x="515128" y="349546"/>
                </a:cubicBezTo>
                <a:cubicBezTo>
                  <a:pt x="515128" y="491286"/>
                  <a:pt x="399607" y="606722"/>
                  <a:pt x="257564" y="606722"/>
                </a:cubicBezTo>
                <a:cubicBezTo>
                  <a:pt x="115521" y="606722"/>
                  <a:pt x="0" y="491286"/>
                  <a:pt x="0" y="349546"/>
                </a:cubicBezTo>
                <a:cubicBezTo>
                  <a:pt x="0" y="207717"/>
                  <a:pt x="115521" y="92370"/>
                  <a:pt x="257564" y="92370"/>
                </a:cubicBezTo>
                <a:close/>
                <a:moveTo>
                  <a:pt x="350027" y="0"/>
                </a:moveTo>
                <a:cubicBezTo>
                  <a:pt x="492007" y="0"/>
                  <a:pt x="607639" y="115367"/>
                  <a:pt x="607639" y="257220"/>
                </a:cubicBezTo>
                <a:cubicBezTo>
                  <a:pt x="607639" y="268152"/>
                  <a:pt x="598737" y="277040"/>
                  <a:pt x="587788" y="277040"/>
                </a:cubicBezTo>
                <a:lnTo>
                  <a:pt x="350027" y="277040"/>
                </a:lnTo>
                <a:cubicBezTo>
                  <a:pt x="339078" y="277040"/>
                  <a:pt x="330176" y="268152"/>
                  <a:pt x="330176" y="257220"/>
                </a:cubicBezTo>
                <a:lnTo>
                  <a:pt x="330176" y="19820"/>
                </a:lnTo>
                <a:cubicBezTo>
                  <a:pt x="330176" y="8888"/>
                  <a:pt x="339078" y="0"/>
                  <a:pt x="3500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39" name="ïslíḓé"/>
          <p:cNvSpPr/>
          <p:nvPr/>
        </p:nvSpPr>
        <p:spPr bwMode="auto">
          <a:xfrm>
            <a:off x="1279797" y="2093733"/>
            <a:ext cx="343455" cy="339662"/>
          </a:xfrm>
          <a:custGeom>
            <a:avLst/>
            <a:gdLst>
              <a:gd name="connsiteX0" fmla="*/ 466437 w 600511"/>
              <a:gd name="connsiteY0" fmla="*/ 421770 h 593879"/>
              <a:gd name="connsiteX1" fmla="*/ 504684 w 600511"/>
              <a:gd name="connsiteY1" fmla="*/ 459981 h 593879"/>
              <a:gd name="connsiteX2" fmla="*/ 466437 w 600511"/>
              <a:gd name="connsiteY2" fmla="*/ 498192 h 593879"/>
              <a:gd name="connsiteX3" fmla="*/ 428190 w 600511"/>
              <a:gd name="connsiteY3" fmla="*/ 459981 h 593879"/>
              <a:gd name="connsiteX4" fmla="*/ 466437 w 600511"/>
              <a:gd name="connsiteY4" fmla="*/ 421770 h 593879"/>
              <a:gd name="connsiteX5" fmla="*/ 453390 w 600511"/>
              <a:gd name="connsiteY5" fmla="*/ 375066 h 593879"/>
              <a:gd name="connsiteX6" fmla="*/ 421127 w 600511"/>
              <a:gd name="connsiteY6" fmla="*/ 386990 h 593879"/>
              <a:gd name="connsiteX7" fmla="*/ 418868 w 600511"/>
              <a:gd name="connsiteY7" fmla="*/ 392146 h 593879"/>
              <a:gd name="connsiteX8" fmla="*/ 424031 w 600511"/>
              <a:gd name="connsiteY8" fmla="*/ 406325 h 593879"/>
              <a:gd name="connsiteX9" fmla="*/ 423385 w 600511"/>
              <a:gd name="connsiteY9" fmla="*/ 411481 h 593879"/>
              <a:gd name="connsiteX10" fmla="*/ 416287 w 600511"/>
              <a:gd name="connsiteY10" fmla="*/ 413737 h 593879"/>
              <a:gd name="connsiteX11" fmla="*/ 402414 w 600511"/>
              <a:gd name="connsiteY11" fmla="*/ 407292 h 593879"/>
              <a:gd name="connsiteX12" fmla="*/ 397252 w 600511"/>
              <a:gd name="connsiteY12" fmla="*/ 409226 h 593879"/>
              <a:gd name="connsiteX13" fmla="*/ 383056 w 600511"/>
              <a:gd name="connsiteY13" fmla="*/ 440485 h 593879"/>
              <a:gd name="connsiteX14" fmla="*/ 384669 w 600511"/>
              <a:gd name="connsiteY14" fmla="*/ 445318 h 593879"/>
              <a:gd name="connsiteX15" fmla="*/ 398542 w 600511"/>
              <a:gd name="connsiteY15" fmla="*/ 451764 h 593879"/>
              <a:gd name="connsiteX16" fmla="*/ 401769 w 600511"/>
              <a:gd name="connsiteY16" fmla="*/ 455953 h 593879"/>
              <a:gd name="connsiteX17" fmla="*/ 398220 w 600511"/>
              <a:gd name="connsiteY17" fmla="*/ 462720 h 593879"/>
              <a:gd name="connsiteX18" fmla="*/ 384024 w 600511"/>
              <a:gd name="connsiteY18" fmla="*/ 467876 h 593879"/>
              <a:gd name="connsiteX19" fmla="*/ 381766 w 600511"/>
              <a:gd name="connsiteY19" fmla="*/ 472710 h 593879"/>
              <a:gd name="connsiteX20" fmla="*/ 393380 w 600511"/>
              <a:gd name="connsiteY20" fmla="*/ 504936 h 593879"/>
              <a:gd name="connsiteX21" fmla="*/ 398542 w 600511"/>
              <a:gd name="connsiteY21" fmla="*/ 507192 h 593879"/>
              <a:gd name="connsiteX22" fmla="*/ 412738 w 600511"/>
              <a:gd name="connsiteY22" fmla="*/ 502036 h 593879"/>
              <a:gd name="connsiteX23" fmla="*/ 417900 w 600511"/>
              <a:gd name="connsiteY23" fmla="*/ 502680 h 593879"/>
              <a:gd name="connsiteX24" fmla="*/ 420159 w 600511"/>
              <a:gd name="connsiteY24" fmla="*/ 510092 h 593879"/>
              <a:gd name="connsiteX25" fmla="*/ 413706 w 600511"/>
              <a:gd name="connsiteY25" fmla="*/ 523949 h 593879"/>
              <a:gd name="connsiteX26" fmla="*/ 415642 w 600511"/>
              <a:gd name="connsiteY26" fmla="*/ 528783 h 593879"/>
              <a:gd name="connsiteX27" fmla="*/ 446937 w 600511"/>
              <a:gd name="connsiteY27" fmla="*/ 543285 h 593879"/>
              <a:gd name="connsiteX28" fmla="*/ 451777 w 600511"/>
              <a:gd name="connsiteY28" fmla="*/ 541351 h 593879"/>
              <a:gd name="connsiteX29" fmla="*/ 458230 w 600511"/>
              <a:gd name="connsiteY29" fmla="*/ 527494 h 593879"/>
              <a:gd name="connsiteX30" fmla="*/ 462424 w 600511"/>
              <a:gd name="connsiteY30" fmla="*/ 524272 h 593879"/>
              <a:gd name="connsiteX31" fmla="*/ 469199 w 600511"/>
              <a:gd name="connsiteY31" fmla="*/ 528139 h 593879"/>
              <a:gd name="connsiteX32" fmla="*/ 474361 w 600511"/>
              <a:gd name="connsiteY32" fmla="*/ 542318 h 593879"/>
              <a:gd name="connsiteX33" fmla="*/ 479201 w 600511"/>
              <a:gd name="connsiteY33" fmla="*/ 544574 h 593879"/>
              <a:gd name="connsiteX34" fmla="*/ 511464 w 600511"/>
              <a:gd name="connsiteY34" fmla="*/ 532650 h 593879"/>
              <a:gd name="connsiteX35" fmla="*/ 513723 w 600511"/>
              <a:gd name="connsiteY35" fmla="*/ 527816 h 593879"/>
              <a:gd name="connsiteX36" fmla="*/ 508560 w 600511"/>
              <a:gd name="connsiteY36" fmla="*/ 513315 h 593879"/>
              <a:gd name="connsiteX37" fmla="*/ 509206 w 600511"/>
              <a:gd name="connsiteY37" fmla="*/ 508159 h 593879"/>
              <a:gd name="connsiteX38" fmla="*/ 516626 w 600511"/>
              <a:gd name="connsiteY38" fmla="*/ 506225 h 593879"/>
              <a:gd name="connsiteX39" fmla="*/ 530500 w 600511"/>
              <a:gd name="connsiteY39" fmla="*/ 512348 h 593879"/>
              <a:gd name="connsiteX40" fmla="*/ 535339 w 600511"/>
              <a:gd name="connsiteY40" fmla="*/ 510737 h 593879"/>
              <a:gd name="connsiteX41" fmla="*/ 549858 w 600511"/>
              <a:gd name="connsiteY41" fmla="*/ 479478 h 593879"/>
              <a:gd name="connsiteX42" fmla="*/ 547922 w 600511"/>
              <a:gd name="connsiteY42" fmla="*/ 474322 h 593879"/>
              <a:gd name="connsiteX43" fmla="*/ 534049 w 600511"/>
              <a:gd name="connsiteY43" fmla="*/ 467876 h 593879"/>
              <a:gd name="connsiteX44" fmla="*/ 531145 w 600511"/>
              <a:gd name="connsiteY44" fmla="*/ 461109 h 593879"/>
              <a:gd name="connsiteX45" fmla="*/ 534694 w 600511"/>
              <a:gd name="connsiteY45" fmla="*/ 457242 h 593879"/>
              <a:gd name="connsiteX46" fmla="*/ 548890 w 600511"/>
              <a:gd name="connsiteY46" fmla="*/ 451764 h 593879"/>
              <a:gd name="connsiteX47" fmla="*/ 551148 w 600511"/>
              <a:gd name="connsiteY47" fmla="*/ 446930 h 593879"/>
              <a:gd name="connsiteX48" fmla="*/ 539211 w 600511"/>
              <a:gd name="connsiteY48" fmla="*/ 414704 h 593879"/>
              <a:gd name="connsiteX49" fmla="*/ 534371 w 600511"/>
              <a:gd name="connsiteY49" fmla="*/ 412448 h 593879"/>
              <a:gd name="connsiteX50" fmla="*/ 520175 w 600511"/>
              <a:gd name="connsiteY50" fmla="*/ 417604 h 593879"/>
              <a:gd name="connsiteX51" fmla="*/ 514691 w 600511"/>
              <a:gd name="connsiteY51" fmla="*/ 416960 h 593879"/>
              <a:gd name="connsiteX52" fmla="*/ 512755 w 600511"/>
              <a:gd name="connsiteY52" fmla="*/ 409548 h 593879"/>
              <a:gd name="connsiteX53" fmla="*/ 518885 w 600511"/>
              <a:gd name="connsiteY53" fmla="*/ 396013 h 593879"/>
              <a:gd name="connsiteX54" fmla="*/ 516949 w 600511"/>
              <a:gd name="connsiteY54" fmla="*/ 390857 h 593879"/>
              <a:gd name="connsiteX55" fmla="*/ 485976 w 600511"/>
              <a:gd name="connsiteY55" fmla="*/ 376355 h 593879"/>
              <a:gd name="connsiteX56" fmla="*/ 480814 w 600511"/>
              <a:gd name="connsiteY56" fmla="*/ 378289 h 593879"/>
              <a:gd name="connsiteX57" fmla="*/ 474361 w 600511"/>
              <a:gd name="connsiteY57" fmla="*/ 392146 h 593879"/>
              <a:gd name="connsiteX58" fmla="*/ 470167 w 600511"/>
              <a:gd name="connsiteY58" fmla="*/ 395368 h 593879"/>
              <a:gd name="connsiteX59" fmla="*/ 463714 w 600511"/>
              <a:gd name="connsiteY59" fmla="*/ 391824 h 593879"/>
              <a:gd name="connsiteX60" fmla="*/ 458230 w 600511"/>
              <a:gd name="connsiteY60" fmla="*/ 377322 h 593879"/>
              <a:gd name="connsiteX61" fmla="*/ 453390 w 600511"/>
              <a:gd name="connsiteY61" fmla="*/ 375066 h 593879"/>
              <a:gd name="connsiteX62" fmla="*/ 0 w 600511"/>
              <a:gd name="connsiteY62" fmla="*/ 372515 h 593879"/>
              <a:gd name="connsiteX63" fmla="*/ 233292 w 600511"/>
              <a:gd name="connsiteY63" fmla="*/ 465626 h 593879"/>
              <a:gd name="connsiteX64" fmla="*/ 305248 w 600511"/>
              <a:gd name="connsiteY64" fmla="*/ 461116 h 593879"/>
              <a:gd name="connsiteX65" fmla="*/ 332998 w 600511"/>
              <a:gd name="connsiteY65" fmla="*/ 549716 h 593879"/>
              <a:gd name="connsiteX66" fmla="*/ 233292 w 600511"/>
              <a:gd name="connsiteY66" fmla="*/ 558737 h 593879"/>
              <a:gd name="connsiteX67" fmla="*/ 0 w 600511"/>
              <a:gd name="connsiteY67" fmla="*/ 465626 h 593879"/>
              <a:gd name="connsiteX68" fmla="*/ 466295 w 600511"/>
              <a:gd name="connsiteY68" fmla="*/ 326083 h 593879"/>
              <a:gd name="connsiteX69" fmla="*/ 600511 w 600511"/>
              <a:gd name="connsiteY69" fmla="*/ 459820 h 593879"/>
              <a:gd name="connsiteX70" fmla="*/ 466295 w 600511"/>
              <a:gd name="connsiteY70" fmla="*/ 593879 h 593879"/>
              <a:gd name="connsiteX71" fmla="*/ 332080 w 600511"/>
              <a:gd name="connsiteY71" fmla="*/ 459820 h 593879"/>
              <a:gd name="connsiteX72" fmla="*/ 466295 w 600511"/>
              <a:gd name="connsiteY72" fmla="*/ 326083 h 593879"/>
              <a:gd name="connsiteX73" fmla="*/ 0 w 600511"/>
              <a:gd name="connsiteY73" fmla="*/ 232654 h 593879"/>
              <a:gd name="connsiteX74" fmla="*/ 233309 w 600511"/>
              <a:gd name="connsiteY74" fmla="*/ 326103 h 593879"/>
              <a:gd name="connsiteX75" fmla="*/ 466296 w 600511"/>
              <a:gd name="connsiteY75" fmla="*/ 232654 h 593879"/>
              <a:gd name="connsiteX76" fmla="*/ 466296 w 600511"/>
              <a:gd name="connsiteY76" fmla="*/ 299035 h 593879"/>
              <a:gd name="connsiteX77" fmla="*/ 312370 w 600511"/>
              <a:gd name="connsiteY77" fmla="*/ 413429 h 593879"/>
              <a:gd name="connsiteX78" fmla="*/ 233309 w 600511"/>
              <a:gd name="connsiteY78" fmla="*/ 419229 h 593879"/>
              <a:gd name="connsiteX79" fmla="*/ 0 w 600511"/>
              <a:gd name="connsiteY79" fmla="*/ 326103 h 593879"/>
              <a:gd name="connsiteX80" fmla="*/ 233309 w 600511"/>
              <a:gd name="connsiteY80" fmla="*/ 23200 h 593879"/>
              <a:gd name="connsiteX81" fmla="*/ 23234 w 600511"/>
              <a:gd name="connsiteY81" fmla="*/ 93123 h 593879"/>
              <a:gd name="connsiteX82" fmla="*/ 233309 w 600511"/>
              <a:gd name="connsiteY82" fmla="*/ 163046 h 593879"/>
              <a:gd name="connsiteX83" fmla="*/ 443062 w 600511"/>
              <a:gd name="connsiteY83" fmla="*/ 93123 h 593879"/>
              <a:gd name="connsiteX84" fmla="*/ 233309 w 600511"/>
              <a:gd name="connsiteY84" fmla="*/ 23200 h 593879"/>
              <a:gd name="connsiteX85" fmla="*/ 233309 w 600511"/>
              <a:gd name="connsiteY85" fmla="*/ 0 h 593879"/>
              <a:gd name="connsiteX86" fmla="*/ 466296 w 600511"/>
              <a:gd name="connsiteY86" fmla="*/ 93123 h 593879"/>
              <a:gd name="connsiteX87" fmla="*/ 466296 w 600511"/>
              <a:gd name="connsiteY87" fmla="*/ 186246 h 593879"/>
              <a:gd name="connsiteX88" fmla="*/ 233309 w 600511"/>
              <a:gd name="connsiteY88" fmla="*/ 279369 h 593879"/>
              <a:gd name="connsiteX89" fmla="*/ 0 w 600511"/>
              <a:gd name="connsiteY89" fmla="*/ 186246 h 593879"/>
              <a:gd name="connsiteX90" fmla="*/ 0 w 600511"/>
              <a:gd name="connsiteY90" fmla="*/ 93123 h 593879"/>
              <a:gd name="connsiteX91" fmla="*/ 233309 w 600511"/>
              <a:gd name="connsiteY91" fmla="*/ 0 h 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00511" h="593879">
                <a:moveTo>
                  <a:pt x="466437" y="421770"/>
                </a:moveTo>
                <a:cubicBezTo>
                  <a:pt x="487560" y="421770"/>
                  <a:pt x="504684" y="438878"/>
                  <a:pt x="504684" y="459981"/>
                </a:cubicBezTo>
                <a:cubicBezTo>
                  <a:pt x="504684" y="481084"/>
                  <a:pt x="487560" y="498192"/>
                  <a:pt x="466437" y="498192"/>
                </a:cubicBezTo>
                <a:cubicBezTo>
                  <a:pt x="445314" y="498192"/>
                  <a:pt x="428190" y="481084"/>
                  <a:pt x="428190" y="459981"/>
                </a:cubicBezTo>
                <a:cubicBezTo>
                  <a:pt x="428190" y="438878"/>
                  <a:pt x="445314" y="421770"/>
                  <a:pt x="466437" y="421770"/>
                </a:cubicBezTo>
                <a:close/>
                <a:moveTo>
                  <a:pt x="453390" y="375066"/>
                </a:moveTo>
                <a:lnTo>
                  <a:pt x="421127" y="386990"/>
                </a:lnTo>
                <a:cubicBezTo>
                  <a:pt x="419191" y="387957"/>
                  <a:pt x="418223" y="389890"/>
                  <a:pt x="418868" y="392146"/>
                </a:cubicBezTo>
                <a:lnTo>
                  <a:pt x="424031" y="406325"/>
                </a:lnTo>
                <a:cubicBezTo>
                  <a:pt x="424998" y="408259"/>
                  <a:pt x="424676" y="410515"/>
                  <a:pt x="423385" y="411481"/>
                </a:cubicBezTo>
                <a:cubicBezTo>
                  <a:pt x="422417" y="412448"/>
                  <a:pt x="418223" y="414382"/>
                  <a:pt x="416287" y="413737"/>
                </a:cubicBezTo>
                <a:lnTo>
                  <a:pt x="402414" y="407292"/>
                </a:lnTo>
                <a:cubicBezTo>
                  <a:pt x="400478" y="406325"/>
                  <a:pt x="398220" y="407292"/>
                  <a:pt x="397252" y="409226"/>
                </a:cubicBezTo>
                <a:lnTo>
                  <a:pt x="383056" y="440485"/>
                </a:lnTo>
                <a:cubicBezTo>
                  <a:pt x="382088" y="442096"/>
                  <a:pt x="383056" y="444674"/>
                  <a:pt x="384669" y="445318"/>
                </a:cubicBezTo>
                <a:lnTo>
                  <a:pt x="398542" y="451764"/>
                </a:lnTo>
                <a:cubicBezTo>
                  <a:pt x="400478" y="452730"/>
                  <a:pt x="402091" y="454664"/>
                  <a:pt x="401769" y="455953"/>
                </a:cubicBezTo>
                <a:cubicBezTo>
                  <a:pt x="401769" y="457564"/>
                  <a:pt x="400156" y="462076"/>
                  <a:pt x="398220" y="462720"/>
                </a:cubicBezTo>
                <a:lnTo>
                  <a:pt x="384024" y="467876"/>
                </a:lnTo>
                <a:cubicBezTo>
                  <a:pt x="382088" y="468521"/>
                  <a:pt x="381120" y="470777"/>
                  <a:pt x="381766" y="472710"/>
                </a:cubicBezTo>
                <a:lnTo>
                  <a:pt x="393380" y="504936"/>
                </a:lnTo>
                <a:cubicBezTo>
                  <a:pt x="394348" y="506870"/>
                  <a:pt x="396607" y="507836"/>
                  <a:pt x="398542" y="507192"/>
                </a:cubicBezTo>
                <a:lnTo>
                  <a:pt x="412738" y="502036"/>
                </a:lnTo>
                <a:cubicBezTo>
                  <a:pt x="414674" y="501391"/>
                  <a:pt x="417255" y="501713"/>
                  <a:pt x="417900" y="502680"/>
                </a:cubicBezTo>
                <a:cubicBezTo>
                  <a:pt x="418868" y="503969"/>
                  <a:pt x="421127" y="508159"/>
                  <a:pt x="420159" y="510092"/>
                </a:cubicBezTo>
                <a:lnTo>
                  <a:pt x="413706" y="523949"/>
                </a:lnTo>
                <a:cubicBezTo>
                  <a:pt x="412738" y="525561"/>
                  <a:pt x="413706" y="527816"/>
                  <a:pt x="415642" y="528783"/>
                </a:cubicBezTo>
                <a:lnTo>
                  <a:pt x="446937" y="543285"/>
                </a:lnTo>
                <a:cubicBezTo>
                  <a:pt x="448873" y="544251"/>
                  <a:pt x="451132" y="543285"/>
                  <a:pt x="451777" y="541351"/>
                </a:cubicBezTo>
                <a:lnTo>
                  <a:pt x="458230" y="527494"/>
                </a:lnTo>
                <a:cubicBezTo>
                  <a:pt x="459198" y="525561"/>
                  <a:pt x="461133" y="524272"/>
                  <a:pt x="462424" y="524272"/>
                </a:cubicBezTo>
                <a:cubicBezTo>
                  <a:pt x="464037" y="524272"/>
                  <a:pt x="468554" y="525883"/>
                  <a:pt x="469199" y="528139"/>
                </a:cubicBezTo>
                <a:lnTo>
                  <a:pt x="474361" y="542318"/>
                </a:lnTo>
                <a:cubicBezTo>
                  <a:pt x="475007" y="544251"/>
                  <a:pt x="477265" y="545218"/>
                  <a:pt x="479201" y="544574"/>
                </a:cubicBezTo>
                <a:lnTo>
                  <a:pt x="511464" y="532650"/>
                </a:lnTo>
                <a:cubicBezTo>
                  <a:pt x="513400" y="532006"/>
                  <a:pt x="514368" y="529750"/>
                  <a:pt x="513723" y="527816"/>
                </a:cubicBezTo>
                <a:lnTo>
                  <a:pt x="508560" y="513315"/>
                </a:lnTo>
                <a:cubicBezTo>
                  <a:pt x="507915" y="511381"/>
                  <a:pt x="508238" y="509125"/>
                  <a:pt x="509206" y="508159"/>
                </a:cubicBezTo>
                <a:cubicBezTo>
                  <a:pt x="510496" y="507192"/>
                  <a:pt x="514691" y="505258"/>
                  <a:pt x="516626" y="506225"/>
                </a:cubicBezTo>
                <a:lnTo>
                  <a:pt x="530500" y="512348"/>
                </a:lnTo>
                <a:cubicBezTo>
                  <a:pt x="532435" y="513315"/>
                  <a:pt x="534694" y="512348"/>
                  <a:pt x="535339" y="510737"/>
                </a:cubicBezTo>
                <a:lnTo>
                  <a:pt x="549858" y="479478"/>
                </a:lnTo>
                <a:cubicBezTo>
                  <a:pt x="550825" y="477544"/>
                  <a:pt x="549858" y="475288"/>
                  <a:pt x="547922" y="474322"/>
                </a:cubicBezTo>
                <a:lnTo>
                  <a:pt x="534049" y="467876"/>
                </a:lnTo>
                <a:cubicBezTo>
                  <a:pt x="532113" y="467232"/>
                  <a:pt x="531145" y="462398"/>
                  <a:pt x="531145" y="461109"/>
                </a:cubicBezTo>
                <a:cubicBezTo>
                  <a:pt x="531145" y="459498"/>
                  <a:pt x="532435" y="457886"/>
                  <a:pt x="534694" y="457242"/>
                </a:cubicBezTo>
                <a:lnTo>
                  <a:pt x="548890" y="451764"/>
                </a:lnTo>
                <a:cubicBezTo>
                  <a:pt x="550825" y="451119"/>
                  <a:pt x="551793" y="448863"/>
                  <a:pt x="551148" y="446930"/>
                </a:cubicBezTo>
                <a:lnTo>
                  <a:pt x="539211" y="414704"/>
                </a:lnTo>
                <a:cubicBezTo>
                  <a:pt x="538565" y="412770"/>
                  <a:pt x="536307" y="411804"/>
                  <a:pt x="534371" y="412448"/>
                </a:cubicBezTo>
                <a:lnTo>
                  <a:pt x="520175" y="417604"/>
                </a:lnTo>
                <a:cubicBezTo>
                  <a:pt x="517917" y="418571"/>
                  <a:pt x="515658" y="418249"/>
                  <a:pt x="514691" y="416960"/>
                </a:cubicBezTo>
                <a:cubicBezTo>
                  <a:pt x="513723" y="415993"/>
                  <a:pt x="511787" y="411481"/>
                  <a:pt x="512755" y="409548"/>
                </a:cubicBezTo>
                <a:lnTo>
                  <a:pt x="518885" y="396013"/>
                </a:lnTo>
                <a:cubicBezTo>
                  <a:pt x="519853" y="394079"/>
                  <a:pt x="518885" y="391824"/>
                  <a:pt x="516949" y="390857"/>
                </a:cubicBezTo>
                <a:lnTo>
                  <a:pt x="485976" y="376355"/>
                </a:lnTo>
                <a:cubicBezTo>
                  <a:pt x="484040" y="375711"/>
                  <a:pt x="481782" y="376355"/>
                  <a:pt x="480814" y="378289"/>
                </a:cubicBezTo>
                <a:lnTo>
                  <a:pt x="474361" y="392146"/>
                </a:lnTo>
                <a:cubicBezTo>
                  <a:pt x="473716" y="394079"/>
                  <a:pt x="471780" y="395691"/>
                  <a:pt x="470167" y="395368"/>
                </a:cubicBezTo>
                <a:cubicBezTo>
                  <a:pt x="468877" y="395368"/>
                  <a:pt x="464360" y="393757"/>
                  <a:pt x="463714" y="391824"/>
                </a:cubicBezTo>
                <a:lnTo>
                  <a:pt x="458230" y="377322"/>
                </a:lnTo>
                <a:cubicBezTo>
                  <a:pt x="457584" y="375389"/>
                  <a:pt x="455326" y="374422"/>
                  <a:pt x="453390" y="375066"/>
                </a:cubicBezTo>
                <a:close/>
                <a:moveTo>
                  <a:pt x="0" y="372515"/>
                </a:moveTo>
                <a:cubicBezTo>
                  <a:pt x="0" y="424064"/>
                  <a:pt x="104223" y="465626"/>
                  <a:pt x="233292" y="465626"/>
                </a:cubicBezTo>
                <a:cubicBezTo>
                  <a:pt x="258461" y="465626"/>
                  <a:pt x="282661" y="464015"/>
                  <a:pt x="305248" y="461116"/>
                </a:cubicBezTo>
                <a:cubicBezTo>
                  <a:pt x="305571" y="493978"/>
                  <a:pt x="315574" y="524264"/>
                  <a:pt x="332998" y="549716"/>
                </a:cubicBezTo>
                <a:cubicBezTo>
                  <a:pt x="302667" y="555515"/>
                  <a:pt x="268786" y="558737"/>
                  <a:pt x="233292" y="558737"/>
                </a:cubicBezTo>
                <a:cubicBezTo>
                  <a:pt x="104546" y="558737"/>
                  <a:pt x="0" y="517175"/>
                  <a:pt x="0" y="465626"/>
                </a:cubicBezTo>
                <a:close/>
                <a:moveTo>
                  <a:pt x="466295" y="326083"/>
                </a:moveTo>
                <a:cubicBezTo>
                  <a:pt x="540501" y="326083"/>
                  <a:pt x="600511" y="386023"/>
                  <a:pt x="600511" y="459820"/>
                </a:cubicBezTo>
                <a:cubicBezTo>
                  <a:pt x="600511" y="533939"/>
                  <a:pt x="540501" y="593879"/>
                  <a:pt x="466295" y="593879"/>
                </a:cubicBezTo>
                <a:cubicBezTo>
                  <a:pt x="392412" y="593879"/>
                  <a:pt x="332080" y="533939"/>
                  <a:pt x="332080" y="459820"/>
                </a:cubicBezTo>
                <a:cubicBezTo>
                  <a:pt x="332080" y="386023"/>
                  <a:pt x="392412" y="326083"/>
                  <a:pt x="466295" y="326083"/>
                </a:cubicBezTo>
                <a:close/>
                <a:moveTo>
                  <a:pt x="0" y="232654"/>
                </a:moveTo>
                <a:cubicBezTo>
                  <a:pt x="0" y="284212"/>
                  <a:pt x="104554" y="326103"/>
                  <a:pt x="233309" y="326103"/>
                </a:cubicBezTo>
                <a:cubicBezTo>
                  <a:pt x="362065" y="326103"/>
                  <a:pt x="466296" y="284212"/>
                  <a:pt x="466296" y="232654"/>
                </a:cubicBezTo>
                <a:lnTo>
                  <a:pt x="466296" y="299035"/>
                </a:lnTo>
                <a:cubicBezTo>
                  <a:pt x="393689" y="299035"/>
                  <a:pt x="332377" y="347370"/>
                  <a:pt x="312370" y="413429"/>
                </a:cubicBezTo>
                <a:cubicBezTo>
                  <a:pt x="287522" y="416973"/>
                  <a:pt x="261061" y="419229"/>
                  <a:pt x="233309" y="419229"/>
                </a:cubicBezTo>
                <a:cubicBezTo>
                  <a:pt x="104231" y="419229"/>
                  <a:pt x="0" y="377338"/>
                  <a:pt x="0" y="326103"/>
                </a:cubicBezTo>
                <a:close/>
                <a:moveTo>
                  <a:pt x="233309" y="23200"/>
                </a:moveTo>
                <a:cubicBezTo>
                  <a:pt x="105199" y="23200"/>
                  <a:pt x="23234" y="64445"/>
                  <a:pt x="23234" y="93123"/>
                </a:cubicBezTo>
                <a:cubicBezTo>
                  <a:pt x="23234" y="121479"/>
                  <a:pt x="105199" y="163046"/>
                  <a:pt x="233309" y="163046"/>
                </a:cubicBezTo>
                <a:cubicBezTo>
                  <a:pt x="361420" y="163046"/>
                  <a:pt x="443062" y="121479"/>
                  <a:pt x="443062" y="93123"/>
                </a:cubicBezTo>
                <a:cubicBezTo>
                  <a:pt x="443062" y="64445"/>
                  <a:pt x="361420" y="23200"/>
                  <a:pt x="233309" y="23200"/>
                </a:cubicBezTo>
                <a:close/>
                <a:moveTo>
                  <a:pt x="233309" y="0"/>
                </a:moveTo>
                <a:cubicBezTo>
                  <a:pt x="362065" y="0"/>
                  <a:pt x="466296" y="41567"/>
                  <a:pt x="466296" y="93123"/>
                </a:cubicBezTo>
                <a:lnTo>
                  <a:pt x="466296" y="186246"/>
                </a:lnTo>
                <a:cubicBezTo>
                  <a:pt x="466296" y="237802"/>
                  <a:pt x="362065" y="279369"/>
                  <a:pt x="233309" y="279369"/>
                </a:cubicBezTo>
                <a:cubicBezTo>
                  <a:pt x="104231" y="279369"/>
                  <a:pt x="0" y="237802"/>
                  <a:pt x="0" y="186246"/>
                </a:cubicBezTo>
                <a:lnTo>
                  <a:pt x="0" y="93123"/>
                </a:lnTo>
                <a:cubicBezTo>
                  <a:pt x="0" y="41567"/>
                  <a:pt x="104554" y="0"/>
                  <a:pt x="2333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40" name="ïṣľîḋê"/>
          <p:cNvSpPr/>
          <p:nvPr/>
        </p:nvSpPr>
        <p:spPr>
          <a:xfrm>
            <a:off x="1647358" y="1688604"/>
            <a:ext cx="9726203" cy="1271414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/>
          </a:bodyPr>
          <a:lstStyle/>
          <a:p>
            <a:pPr lvl="1">
              <a:lnSpc>
                <a:spcPct val="123000"/>
              </a:lnSpc>
            </a:pPr>
            <a:r>
              <a:rPr lang="zh-CN" altLang="en-US" sz="2600" dirty="0">
                <a:sym typeface="Wingdings" panose="05000000000000000000" pitchFamily="2" charset="2"/>
              </a:rPr>
              <a:t>页面大小为</a:t>
            </a:r>
            <a:r>
              <a:rPr lang="en-US" altLang="zh-CN" sz="2600" dirty="0">
                <a:sym typeface="Wingdings" panose="05000000000000000000" pitchFamily="2" charset="2"/>
              </a:rPr>
              <a:t>4KB</a:t>
            </a:r>
            <a:r>
              <a:rPr lang="zh-CN" altLang="en-US" sz="2600" dirty="0">
                <a:sym typeface="Wingdings" panose="05000000000000000000" pitchFamily="2" charset="2"/>
              </a:rPr>
              <a:t>时（</a:t>
            </a:r>
            <a:r>
              <a:rPr lang="en-US" altLang="zh-CN" sz="2600" dirty="0">
                <a:sym typeface="Wingdings" panose="05000000000000000000" pitchFamily="2" charset="2"/>
              </a:rPr>
              <a:t>12</a:t>
            </a:r>
            <a:r>
              <a:rPr lang="zh-CN" altLang="en-US" sz="2600" dirty="0">
                <a:sym typeface="Wingdings" panose="05000000000000000000" pitchFamily="2" charset="2"/>
              </a:rPr>
              <a:t>位），若采用一级页表结构，应具有</a:t>
            </a:r>
            <a:r>
              <a:rPr lang="en-US" altLang="zh-CN" sz="2600" dirty="0">
                <a:sym typeface="Wingdings" panose="05000000000000000000" pitchFamily="2" charset="2"/>
              </a:rPr>
              <a:t>20</a:t>
            </a:r>
            <a:r>
              <a:rPr lang="zh-CN" altLang="en-US" sz="2600" dirty="0">
                <a:sym typeface="Wingdings" panose="05000000000000000000" pitchFamily="2" charset="2"/>
              </a:rPr>
              <a:t>位的页号，即页表项应有</a:t>
            </a:r>
            <a:r>
              <a:rPr lang="en-US" altLang="zh-CN" sz="2600" dirty="0">
                <a:sym typeface="Wingdings" panose="05000000000000000000" pitchFamily="2" charset="2"/>
              </a:rPr>
              <a:t>1M</a:t>
            </a:r>
            <a:r>
              <a:rPr lang="zh-CN" altLang="en-US" sz="2600" dirty="0">
                <a:sym typeface="Wingdings" panose="05000000000000000000" pitchFamily="2" charset="2"/>
              </a:rPr>
              <a:t>个；</a:t>
            </a:r>
            <a:endParaRPr lang="zh-CN" altLang="en-US" sz="2600" dirty="0">
              <a:sym typeface="Wingdings" panose="05000000000000000000" pitchFamily="2" charset="2"/>
            </a:endParaRPr>
          </a:p>
        </p:txBody>
      </p:sp>
      <p:sp>
        <p:nvSpPr>
          <p:cNvPr id="42" name="îṧľïdè"/>
          <p:cNvSpPr/>
          <p:nvPr/>
        </p:nvSpPr>
        <p:spPr>
          <a:xfrm>
            <a:off x="2054747" y="2947340"/>
            <a:ext cx="9152408" cy="1066230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/>
          </a:bodyPr>
          <a:lstStyle/>
          <a:p>
            <a:pPr marL="0" lvl="1">
              <a:lnSpc>
                <a:spcPct val="123000"/>
              </a:lnSpc>
            </a:pPr>
            <a:r>
              <a:rPr lang="zh-CN" altLang="en-US" sz="2600" dirty="0">
                <a:solidFill>
                  <a:srgbClr val="FF0000"/>
                </a:solidFill>
                <a:sym typeface="Wingdings" panose="05000000000000000000" pitchFamily="2" charset="2"/>
              </a:rPr>
              <a:t>在采用两级页表结构时，再对页表进行分页</a:t>
            </a:r>
            <a:r>
              <a:rPr lang="zh-CN" altLang="en-US" sz="2600" dirty="0">
                <a:sym typeface="Wingdings" panose="05000000000000000000" pitchFamily="2" charset="2"/>
              </a:rPr>
              <a:t>，使每页中包含</a:t>
            </a:r>
            <a:r>
              <a:rPr lang="en-US" altLang="zh-CN" sz="2600" dirty="0">
                <a:sym typeface="Wingdings" panose="05000000000000000000" pitchFamily="2" charset="2"/>
              </a:rPr>
              <a:t>2</a:t>
            </a:r>
            <a:r>
              <a:rPr lang="en-US" altLang="zh-CN" sz="2600" baseline="30000" dirty="0">
                <a:sym typeface="Wingdings" panose="05000000000000000000" pitchFamily="2" charset="2"/>
              </a:rPr>
              <a:t>10</a:t>
            </a:r>
            <a:r>
              <a:rPr lang="zh-CN" altLang="en-US" sz="2600" dirty="0">
                <a:sym typeface="Wingdings" panose="05000000000000000000" pitchFamily="2" charset="2"/>
              </a:rPr>
              <a:t>个页表项，最多允许有</a:t>
            </a:r>
            <a:r>
              <a:rPr lang="en-US" altLang="zh-CN" sz="2600" dirty="0">
                <a:sym typeface="Wingdings" panose="05000000000000000000" pitchFamily="2" charset="2"/>
              </a:rPr>
              <a:t>2</a:t>
            </a:r>
            <a:r>
              <a:rPr lang="en-US" altLang="zh-CN" sz="2600" baseline="30000" dirty="0">
                <a:sym typeface="Wingdings" panose="05000000000000000000" pitchFamily="2" charset="2"/>
              </a:rPr>
              <a:t>10</a:t>
            </a:r>
            <a:r>
              <a:rPr lang="zh-CN" altLang="en-US" sz="2600" dirty="0">
                <a:sym typeface="Wingdings" panose="05000000000000000000" pitchFamily="2" charset="2"/>
              </a:rPr>
              <a:t>个页表分页。</a:t>
            </a:r>
            <a:endParaRPr lang="zh-CN" altLang="en-US" sz="2600" dirty="0">
              <a:sym typeface="Wingdings" panose="05000000000000000000" pitchFamily="2" charset="2"/>
            </a:endParaRPr>
          </a:p>
        </p:txBody>
      </p:sp>
      <p:sp>
        <p:nvSpPr>
          <p:cNvPr id="44" name="ïśļíde"/>
          <p:cNvSpPr/>
          <p:nvPr/>
        </p:nvSpPr>
        <p:spPr>
          <a:xfrm>
            <a:off x="1591560" y="4185151"/>
            <a:ext cx="3399113" cy="1767427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/>
          </a:bodyPr>
          <a:lstStyle/>
          <a:p>
            <a:pPr lvl="1">
              <a:lnSpc>
                <a:spcPct val="123000"/>
              </a:lnSpc>
            </a:pPr>
            <a:r>
              <a:rPr lang="zh-CN" altLang="en-US" sz="2600" dirty="0">
                <a:sym typeface="Wingdings" panose="05000000000000000000" pitchFamily="2" charset="2"/>
              </a:rPr>
              <a:t>地址变换机构上，增设一个外层页表</a:t>
            </a:r>
            <a:r>
              <a:rPr lang="zh-CN" altLang="en-US" sz="2600" dirty="0" smtClean="0">
                <a:sym typeface="Wingdings" panose="05000000000000000000" pitchFamily="2" charset="2"/>
              </a:rPr>
              <a:t>寄存器</a:t>
            </a:r>
            <a:endParaRPr lang="zh-CN" altLang="en-US" sz="2600" dirty="0">
              <a:sym typeface="Wingdings" panose="05000000000000000000" pitchFamily="2" charset="2"/>
            </a:endParaRPr>
          </a:p>
        </p:txBody>
      </p:sp>
      <p:grpSp>
        <p:nvGrpSpPr>
          <p:cNvPr id="45" name="组合 3"/>
          <p:cNvGrpSpPr/>
          <p:nvPr/>
        </p:nvGrpSpPr>
        <p:grpSpPr bwMode="auto">
          <a:xfrm>
            <a:off x="5363286" y="4403767"/>
            <a:ext cx="6010275" cy="1452407"/>
            <a:chOff x="1752600" y="4737100"/>
            <a:chExt cx="5867400" cy="1453140"/>
          </a:xfrm>
        </p:grpSpPr>
        <p:sp>
          <p:nvSpPr>
            <p:cNvPr id="46" name="Line 5"/>
            <p:cNvSpPr>
              <a:spLocks noChangeShapeType="1"/>
            </p:cNvSpPr>
            <p:nvPr/>
          </p:nvSpPr>
          <p:spPr bwMode="auto">
            <a:xfrm>
              <a:off x="1981200" y="4737100"/>
              <a:ext cx="0" cy="990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47" name="Line 6"/>
            <p:cNvSpPr>
              <a:spLocks noChangeShapeType="1"/>
            </p:cNvSpPr>
            <p:nvPr/>
          </p:nvSpPr>
          <p:spPr bwMode="auto">
            <a:xfrm>
              <a:off x="1981200" y="5715000"/>
              <a:ext cx="5638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48" name="Line 7"/>
            <p:cNvSpPr>
              <a:spLocks noChangeShapeType="1"/>
            </p:cNvSpPr>
            <p:nvPr/>
          </p:nvSpPr>
          <p:spPr bwMode="auto">
            <a:xfrm>
              <a:off x="3733800" y="4749800"/>
              <a:ext cx="0" cy="990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49" name="Line 8"/>
            <p:cNvSpPr>
              <a:spLocks noChangeShapeType="1"/>
            </p:cNvSpPr>
            <p:nvPr/>
          </p:nvSpPr>
          <p:spPr bwMode="auto">
            <a:xfrm>
              <a:off x="5715000" y="4749800"/>
              <a:ext cx="0" cy="990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50" name="Line 9"/>
            <p:cNvSpPr>
              <a:spLocks noChangeShapeType="1"/>
            </p:cNvSpPr>
            <p:nvPr/>
          </p:nvSpPr>
          <p:spPr bwMode="auto">
            <a:xfrm>
              <a:off x="7620000" y="4749800"/>
              <a:ext cx="0" cy="990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51" name="Line 10"/>
            <p:cNvSpPr>
              <a:spLocks noChangeShapeType="1"/>
            </p:cNvSpPr>
            <p:nvPr/>
          </p:nvSpPr>
          <p:spPr bwMode="auto">
            <a:xfrm>
              <a:off x="1981200" y="5257800"/>
              <a:ext cx="1752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52" name="Line 11"/>
            <p:cNvSpPr>
              <a:spLocks noChangeShapeType="1"/>
            </p:cNvSpPr>
            <p:nvPr/>
          </p:nvSpPr>
          <p:spPr bwMode="auto">
            <a:xfrm>
              <a:off x="3733800" y="5257800"/>
              <a:ext cx="1981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53" name="Line 12"/>
            <p:cNvSpPr>
              <a:spLocks noChangeShapeType="1"/>
            </p:cNvSpPr>
            <p:nvPr/>
          </p:nvSpPr>
          <p:spPr bwMode="auto">
            <a:xfrm>
              <a:off x="5715000" y="5257800"/>
              <a:ext cx="1905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54" name="Text Box 13"/>
            <p:cNvSpPr txBox="1">
              <a:spLocks noChangeArrowheads="1"/>
            </p:cNvSpPr>
            <p:nvPr/>
          </p:nvSpPr>
          <p:spPr bwMode="auto">
            <a:xfrm>
              <a:off x="6096000" y="5257800"/>
              <a:ext cx="11430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d</a:t>
              </a:r>
              <a:endParaRPr lang="en-US" altLang="zh-CN" sz="2400" baseline="-25000" dirty="0">
                <a:latin typeface="+mn-ea"/>
                <a:ea typeface="+mn-ea"/>
              </a:endParaRPr>
            </a:p>
          </p:txBody>
        </p:sp>
        <p:sp>
          <p:nvSpPr>
            <p:cNvPr id="55" name="Text Box 15"/>
            <p:cNvSpPr txBox="1">
              <a:spLocks noChangeArrowheads="1"/>
            </p:cNvSpPr>
            <p:nvPr/>
          </p:nvSpPr>
          <p:spPr bwMode="auto">
            <a:xfrm>
              <a:off x="4114800" y="5283200"/>
              <a:ext cx="11430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2</a:t>
              </a:r>
              <a:endParaRPr lang="en-US" altLang="zh-CN" sz="2400" baseline="-25000" dirty="0">
                <a:latin typeface="+mn-ea"/>
                <a:ea typeface="+mn-ea"/>
              </a:endParaRPr>
            </a:p>
          </p:txBody>
        </p:sp>
        <p:sp>
          <p:nvSpPr>
            <p:cNvPr id="56" name="Text Box 16"/>
            <p:cNvSpPr txBox="1">
              <a:spLocks noChangeArrowheads="1"/>
            </p:cNvSpPr>
            <p:nvPr/>
          </p:nvSpPr>
          <p:spPr bwMode="auto">
            <a:xfrm>
              <a:off x="2286000" y="5257800"/>
              <a:ext cx="11430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1</a:t>
              </a:r>
              <a:endParaRPr lang="en-US" altLang="zh-CN" sz="2400" baseline="-25000" dirty="0">
                <a:latin typeface="+mn-ea"/>
                <a:ea typeface="+mn-ea"/>
              </a:endParaRPr>
            </a:p>
          </p:txBody>
        </p:sp>
        <p:sp>
          <p:nvSpPr>
            <p:cNvPr id="57" name="Text Box 18"/>
            <p:cNvSpPr txBox="1">
              <a:spLocks noChangeArrowheads="1"/>
            </p:cNvSpPr>
            <p:nvPr/>
          </p:nvSpPr>
          <p:spPr bwMode="auto">
            <a:xfrm>
              <a:off x="3745609" y="4800600"/>
              <a:ext cx="19812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外层页内地址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58" name="Text Box 19"/>
            <p:cNvSpPr txBox="1">
              <a:spLocks noChangeArrowheads="1"/>
            </p:cNvSpPr>
            <p:nvPr/>
          </p:nvSpPr>
          <p:spPr bwMode="auto">
            <a:xfrm>
              <a:off x="5867400" y="4800600"/>
              <a:ext cx="16002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页内地址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59" name="Text Box 20"/>
            <p:cNvSpPr txBox="1">
              <a:spLocks noChangeArrowheads="1"/>
            </p:cNvSpPr>
            <p:nvPr/>
          </p:nvSpPr>
          <p:spPr bwMode="auto">
            <a:xfrm>
              <a:off x="2057400" y="4800600"/>
              <a:ext cx="14478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外层页号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60" name="Text Box 21"/>
            <p:cNvSpPr txBox="1">
              <a:spLocks noChangeArrowheads="1"/>
            </p:cNvSpPr>
            <p:nvPr/>
          </p:nvSpPr>
          <p:spPr bwMode="auto">
            <a:xfrm>
              <a:off x="1752600" y="5727700"/>
              <a:ext cx="5334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31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61" name="Text Box 22"/>
            <p:cNvSpPr txBox="1">
              <a:spLocks noChangeArrowheads="1"/>
            </p:cNvSpPr>
            <p:nvPr/>
          </p:nvSpPr>
          <p:spPr bwMode="auto">
            <a:xfrm>
              <a:off x="3200401" y="5715000"/>
              <a:ext cx="533399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22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62" name="Text Box 23"/>
            <p:cNvSpPr txBox="1">
              <a:spLocks noChangeArrowheads="1"/>
            </p:cNvSpPr>
            <p:nvPr/>
          </p:nvSpPr>
          <p:spPr bwMode="auto">
            <a:xfrm>
              <a:off x="3733800" y="5715000"/>
              <a:ext cx="6858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21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63" name="Text Box 24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8382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12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64" name="Text Box 25"/>
            <p:cNvSpPr txBox="1">
              <a:spLocks noChangeArrowheads="1"/>
            </p:cNvSpPr>
            <p:nvPr/>
          </p:nvSpPr>
          <p:spPr bwMode="auto">
            <a:xfrm>
              <a:off x="5562600" y="5715000"/>
              <a:ext cx="8382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11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两级页表结构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50" name="Group 266"/>
          <p:cNvGraphicFramePr>
            <a:graphicFrameLocks noGrp="1"/>
          </p:cNvGraphicFramePr>
          <p:nvPr/>
        </p:nvGraphicFramePr>
        <p:xfrm>
          <a:off x="2157904" y="2225901"/>
          <a:ext cx="1752600" cy="3775075"/>
        </p:xfrm>
        <a:graphic>
          <a:graphicData uri="http://schemas.openxmlformats.org/drawingml/2006/table">
            <a:tbl>
              <a:tblPr/>
              <a:tblGrid>
                <a:gridCol w="533400"/>
                <a:gridCol w="1219200"/>
              </a:tblGrid>
              <a:tr h="51752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35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1078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938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35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1742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外层页表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" name="Group 206"/>
          <p:cNvGraphicFramePr>
            <a:graphicFrameLocks noGrp="1"/>
          </p:cNvGraphicFramePr>
          <p:nvPr/>
        </p:nvGraphicFramePr>
        <p:xfrm>
          <a:off x="7960216" y="601888"/>
          <a:ext cx="2286000" cy="5953140"/>
        </p:xfrm>
        <a:graphic>
          <a:graphicData uri="http://schemas.openxmlformats.org/drawingml/2006/table">
            <a:tbl>
              <a:tblPr/>
              <a:tblGrid>
                <a:gridCol w="1485900"/>
                <a:gridCol w="800100"/>
              </a:tblGrid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98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02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1468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内存空间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2" name="Group 101"/>
          <p:cNvGraphicFramePr>
            <a:graphicFrameLocks noGrp="1"/>
          </p:cNvGraphicFramePr>
          <p:nvPr/>
        </p:nvGraphicFramePr>
        <p:xfrm>
          <a:off x="4830460" y="953613"/>
          <a:ext cx="1828800" cy="1935804"/>
        </p:xfrm>
        <a:graphic>
          <a:graphicData uri="http://schemas.openxmlformats.org/drawingml/2006/table">
            <a:tbl>
              <a:tblPr/>
              <a:tblGrid>
                <a:gridCol w="647700"/>
                <a:gridCol w="1181100"/>
              </a:tblGrid>
              <a:tr h="33585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0# 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06" marB="4600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89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412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89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42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89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1023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Group 207"/>
          <p:cNvGraphicFramePr>
            <a:graphicFrameLocks noGrp="1"/>
          </p:cNvGraphicFramePr>
          <p:nvPr/>
        </p:nvGraphicFramePr>
        <p:xfrm>
          <a:off x="4830460" y="2870553"/>
          <a:ext cx="1828800" cy="1935804"/>
        </p:xfrm>
        <a:graphic>
          <a:graphicData uri="http://schemas.openxmlformats.org/drawingml/2006/table">
            <a:tbl>
              <a:tblPr/>
              <a:tblGrid>
                <a:gridCol w="647700"/>
                <a:gridCol w="1181100"/>
              </a:tblGrid>
              <a:tr h="33585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1#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页表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06" marB="4600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89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114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89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115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89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42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89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1023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4" name="Group 163"/>
          <p:cNvGraphicFramePr>
            <a:graphicFrameLocks noGrp="1"/>
          </p:cNvGraphicFramePr>
          <p:nvPr/>
        </p:nvGraphicFramePr>
        <p:xfrm>
          <a:off x="4830460" y="4800230"/>
          <a:ext cx="1828800" cy="2057772"/>
        </p:xfrm>
        <a:graphic>
          <a:graphicData uri="http://schemas.openxmlformats.org/drawingml/2006/table">
            <a:tbl>
              <a:tblPr/>
              <a:tblGrid>
                <a:gridCol w="647700"/>
                <a:gridCol w="1181100"/>
              </a:tblGrid>
              <a:tr h="42163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n# 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57" marB="4605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20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1468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20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20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732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20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1023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" name="Line 194"/>
          <p:cNvSpPr>
            <a:spLocks noChangeShapeType="1"/>
          </p:cNvSpPr>
          <p:nvPr/>
        </p:nvSpPr>
        <p:spPr bwMode="auto">
          <a:xfrm flipV="1">
            <a:off x="3693017" y="1308452"/>
            <a:ext cx="1793384" cy="11222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56" name="Line 195"/>
          <p:cNvSpPr>
            <a:spLocks noChangeShapeType="1"/>
          </p:cNvSpPr>
          <p:nvPr/>
        </p:nvSpPr>
        <p:spPr bwMode="auto">
          <a:xfrm>
            <a:off x="3693016" y="2964088"/>
            <a:ext cx="1793385" cy="21609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57" name="Line 196"/>
          <p:cNvSpPr>
            <a:spLocks noChangeShapeType="1"/>
          </p:cNvSpPr>
          <p:nvPr/>
        </p:nvSpPr>
        <p:spPr bwMode="auto">
          <a:xfrm flipV="1">
            <a:off x="3616816" y="5177307"/>
            <a:ext cx="1869585" cy="1489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58" name="Line 197"/>
          <p:cNvSpPr>
            <a:spLocks noChangeShapeType="1"/>
          </p:cNvSpPr>
          <p:nvPr/>
        </p:nvSpPr>
        <p:spPr bwMode="auto">
          <a:xfrm flipV="1">
            <a:off x="6591790" y="999398"/>
            <a:ext cx="1368425" cy="485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59" name="Line 198"/>
          <p:cNvSpPr>
            <a:spLocks noChangeShapeType="1"/>
          </p:cNvSpPr>
          <p:nvPr/>
        </p:nvSpPr>
        <p:spPr bwMode="auto">
          <a:xfrm>
            <a:off x="6512416" y="1743424"/>
            <a:ext cx="1447800" cy="4434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0" name="Line 199"/>
          <p:cNvSpPr>
            <a:spLocks noChangeShapeType="1"/>
          </p:cNvSpPr>
          <p:nvPr/>
        </p:nvSpPr>
        <p:spPr bwMode="auto">
          <a:xfrm>
            <a:off x="6552896" y="1962970"/>
            <a:ext cx="1407319" cy="102334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1" name="Line 200"/>
          <p:cNvSpPr>
            <a:spLocks noChangeShapeType="1"/>
          </p:cNvSpPr>
          <p:nvPr/>
        </p:nvSpPr>
        <p:spPr bwMode="auto">
          <a:xfrm>
            <a:off x="6552896" y="3328384"/>
            <a:ext cx="1407319" cy="8701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2" name="Line 201"/>
          <p:cNvSpPr>
            <a:spLocks noChangeShapeType="1"/>
          </p:cNvSpPr>
          <p:nvPr/>
        </p:nvSpPr>
        <p:spPr bwMode="auto">
          <a:xfrm>
            <a:off x="6512416" y="3637824"/>
            <a:ext cx="1447799" cy="93417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3" name="Line 202"/>
          <p:cNvSpPr>
            <a:spLocks noChangeShapeType="1"/>
          </p:cNvSpPr>
          <p:nvPr/>
        </p:nvSpPr>
        <p:spPr bwMode="auto">
          <a:xfrm>
            <a:off x="6552897" y="5326287"/>
            <a:ext cx="1407318" cy="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881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多级页表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1068514" y="1740821"/>
            <a:ext cx="10187621" cy="5163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23000"/>
              </a:lnSpc>
              <a:buNone/>
            </a:pPr>
            <a:r>
              <a:rPr lang="zh-CN" altLang="en-US" sz="2400" dirty="0">
                <a:sym typeface="Wingdings" panose="05000000000000000000" pitchFamily="2" charset="2"/>
              </a:rPr>
              <a:t>如果页面大小为</a:t>
            </a:r>
            <a:r>
              <a:rPr lang="en-US" altLang="zh-CN" sz="2400" dirty="0">
                <a:sym typeface="Wingdings" panose="05000000000000000000" pitchFamily="2" charset="2"/>
              </a:rPr>
              <a:t>4KB</a:t>
            </a:r>
            <a:r>
              <a:rPr lang="zh-CN" altLang="en-US" sz="2400" dirty="0">
                <a:sym typeface="Wingdings" panose="05000000000000000000" pitchFamily="2" charset="2"/>
              </a:rPr>
              <a:t>，那么还剩下</a:t>
            </a:r>
            <a:r>
              <a:rPr lang="en-US" altLang="zh-CN" sz="2400" dirty="0">
                <a:sym typeface="Wingdings" panose="05000000000000000000" pitchFamily="2" charset="2"/>
              </a:rPr>
              <a:t>52</a:t>
            </a:r>
            <a:r>
              <a:rPr lang="zh-CN" altLang="en-US" sz="2400" dirty="0">
                <a:sym typeface="Wingdings" panose="05000000000000000000" pitchFamily="2" charset="2"/>
              </a:rPr>
              <a:t>位，</a:t>
            </a:r>
            <a:r>
              <a:rPr lang="zh-CN" sz="2400" dirty="0">
                <a:sym typeface="Wingdings" panose="05000000000000000000" pitchFamily="2" charset="2"/>
              </a:rPr>
              <a:t>取出</a:t>
            </a:r>
            <a:r>
              <a:rPr lang="en-US" altLang="zh-CN" sz="2400" dirty="0">
                <a:sym typeface="Wingdings" panose="05000000000000000000" pitchFamily="2" charset="2"/>
              </a:rPr>
              <a:t>10</a:t>
            </a:r>
            <a:r>
              <a:rPr lang="zh-CN" altLang="en-US" sz="2400" dirty="0">
                <a:sym typeface="Wingdings" panose="05000000000000000000" pitchFamily="2" charset="2"/>
              </a:rPr>
              <a:t>位进行二级分页，则余下的</a:t>
            </a:r>
            <a:r>
              <a:rPr lang="en-US" altLang="zh-CN" sz="2400" dirty="0">
                <a:sym typeface="Wingdings" panose="05000000000000000000" pitchFamily="2" charset="2"/>
              </a:rPr>
              <a:t>42</a:t>
            </a:r>
            <a:r>
              <a:rPr lang="zh-CN" altLang="en-US" sz="2400" dirty="0">
                <a:sym typeface="Wingdings" panose="05000000000000000000" pitchFamily="2" charset="2"/>
              </a:rPr>
              <a:t>位用于外层页号。此时在外层页表中可能有</a:t>
            </a:r>
            <a:r>
              <a:rPr lang="en-US" altLang="zh-CN" sz="2400" dirty="0">
                <a:sym typeface="Wingdings" panose="05000000000000000000" pitchFamily="2" charset="2"/>
              </a:rPr>
              <a:t>2</a:t>
            </a:r>
            <a:r>
              <a:rPr lang="en-US" altLang="zh-CN" sz="2400" baseline="30000" dirty="0">
                <a:sym typeface="Wingdings" panose="05000000000000000000" pitchFamily="2" charset="2"/>
              </a:rPr>
              <a:t>42</a:t>
            </a:r>
            <a:r>
              <a:rPr lang="en-US" altLang="zh-CN" sz="2400" dirty="0">
                <a:sym typeface="Wingdings" panose="05000000000000000000" pitchFamily="2" charset="2"/>
              </a:rPr>
              <a:t>=4096G</a:t>
            </a:r>
            <a:r>
              <a:rPr lang="zh-CN" altLang="en-US" sz="2400" dirty="0">
                <a:sym typeface="Wingdings" panose="05000000000000000000" pitchFamily="2" charset="2"/>
              </a:rPr>
              <a:t>个页表项，每个页表项占用</a:t>
            </a:r>
            <a:r>
              <a:rPr lang="en-US" altLang="zh-CN" sz="2400" dirty="0">
                <a:sym typeface="Wingdings" panose="05000000000000000000" pitchFamily="2" charset="2"/>
              </a:rPr>
              <a:t>4B</a:t>
            </a:r>
            <a:r>
              <a:rPr lang="zh-CN" altLang="en-US" sz="2400" dirty="0">
                <a:sym typeface="Wingdings" panose="05000000000000000000" pitchFamily="2" charset="2"/>
              </a:rPr>
              <a:t>，要占用</a:t>
            </a:r>
            <a:r>
              <a:rPr lang="en-US" altLang="zh-CN" sz="2400" dirty="0">
                <a:sym typeface="Wingdings" panose="05000000000000000000" pitchFamily="2" charset="2"/>
              </a:rPr>
              <a:t>16384GB</a:t>
            </a:r>
            <a:r>
              <a:rPr lang="zh-CN" altLang="en-US" sz="2400" dirty="0">
                <a:sym typeface="Wingdings" panose="05000000000000000000" pitchFamily="2" charset="2"/>
              </a:rPr>
              <a:t>的</a:t>
            </a:r>
            <a:r>
              <a:rPr lang="zh-CN" altLang="en-US" sz="2400" b="1" dirty="0">
                <a:sym typeface="Wingdings" panose="05000000000000000000" pitchFamily="2" charset="2"/>
              </a:rPr>
              <a:t>连续</a:t>
            </a:r>
            <a:r>
              <a:rPr lang="zh-CN" altLang="en-US" sz="2400" dirty="0">
                <a:sym typeface="Wingdings" panose="05000000000000000000" pitchFamily="2" charset="2"/>
              </a:rPr>
              <a:t>内存空间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6187" y="178167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6187" y="325546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1059712" y="3266121"/>
            <a:ext cx="10196423" cy="5163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23000"/>
              </a:lnSpc>
              <a:buNone/>
            </a:pP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使用多级页表</a:t>
            </a:r>
            <a:endParaRPr lang="zh-CN" altLang="en-US" sz="2400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69924" y="1128133"/>
            <a:ext cx="10277467" cy="5860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对于</a:t>
            </a:r>
            <a:r>
              <a:rPr lang="en-US" altLang="zh-CN" sz="2400" b="1" dirty="0">
                <a:solidFill>
                  <a:srgbClr val="C00000"/>
                </a:solidFill>
              </a:rPr>
              <a:t>64</a:t>
            </a:r>
            <a:r>
              <a:rPr lang="zh-CN" altLang="en-US" sz="2400" b="1" dirty="0">
                <a:solidFill>
                  <a:srgbClr val="C00000"/>
                </a:solidFill>
              </a:rPr>
              <a:t>位的机器，采用两级页表是否仍可使用？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" t="38263" r="458" b="37975"/>
          <a:stretch>
            <a:fillRect/>
          </a:stretch>
        </p:blipFill>
        <p:spPr bwMode="auto">
          <a:xfrm>
            <a:off x="3813197" y="4965070"/>
            <a:ext cx="6481762" cy="109061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" t="35193" r="647" b="35501"/>
          <a:stretch>
            <a:fillRect/>
          </a:stretch>
        </p:blipFill>
        <p:spPr bwMode="auto">
          <a:xfrm>
            <a:off x="3813197" y="3388254"/>
            <a:ext cx="6436621" cy="124814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IMG_20251121_231315_edit_9723007063042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5570" y="187960"/>
            <a:ext cx="9289415" cy="65017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5425" y="1713865"/>
            <a:ext cx="2248535" cy="2205355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noAutofit/>
          </a:bodyPr>
          <a:p>
            <a:r>
              <a:rPr lang="zh-CN" altLang="en-US" sz="3600">
                <a:sym typeface="+mn-ea"/>
              </a:rPr>
              <a:t>顶级页表</a:t>
            </a:r>
            <a:r>
              <a:rPr lang="zh-CN" altLang="en-US" sz="3600">
                <a:sym typeface="+mn-ea"/>
              </a:rPr>
              <a:t>一般</a:t>
            </a:r>
            <a:r>
              <a:rPr lang="zh-CN" altLang="en-US" sz="3600">
                <a:sym typeface="+mn-ea"/>
              </a:rPr>
              <a:t>只有一个页面</a:t>
            </a:r>
            <a:endParaRPr lang="zh-CN" altLang="en-US" sz="3600"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809625" y="1143000"/>
            <a:ext cx="10377805" cy="217233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2800"/>
              <a:t>1</a:t>
            </a:r>
            <a:r>
              <a:rPr lang="zh-CN" altLang="en-US" sz="2800"/>
              <a:t>、采用分页式存储管理方式管理内存。在该系统中逻辑地址空间大小</a:t>
            </a:r>
            <a:r>
              <a:rPr lang="en-US" altLang="zh-CN" sz="2800"/>
              <a:t>256TB,</a:t>
            </a:r>
            <a:r>
              <a:rPr lang="zh-CN" altLang="en-US" sz="2800"/>
              <a:t>页表项大小</a:t>
            </a:r>
            <a:r>
              <a:rPr lang="en-US" altLang="zh-CN" sz="2800"/>
              <a:t>8B</a:t>
            </a:r>
            <a:r>
              <a:rPr lang="zh-CN" altLang="en-US" sz="2800"/>
              <a:t>，页面大小</a:t>
            </a:r>
            <a:r>
              <a:rPr lang="en-US" altLang="zh-CN" sz="2800"/>
              <a:t>4KB</a:t>
            </a:r>
            <a:r>
              <a:rPr lang="zh-CN" altLang="en-US" sz="2800"/>
              <a:t>。请问系统页表组织需要使用（）级页表。 </a:t>
            </a:r>
            <a:endParaRPr lang="zh-CN" altLang="en-US" sz="2800"/>
          </a:p>
          <a:p>
            <a:endParaRPr lang="zh-CN" altLang="en-US" sz="2800"/>
          </a:p>
          <a:p>
            <a:r>
              <a:rPr lang="en-US" altLang="zh-CN" sz="2800"/>
              <a:t>A .2            B.3           C.4            D.5</a:t>
            </a:r>
            <a:endParaRPr lang="en-US" altLang="zh-CN" sz="2800"/>
          </a:p>
        </p:txBody>
      </p:sp>
      <p:sp>
        <p:nvSpPr>
          <p:cNvPr id="2" name="文本框 1"/>
          <p:cNvSpPr txBox="1"/>
          <p:nvPr/>
        </p:nvSpPr>
        <p:spPr>
          <a:xfrm>
            <a:off x="809625" y="3749675"/>
            <a:ext cx="10377805" cy="217233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2800"/>
              <a:t>2</a:t>
            </a:r>
            <a:r>
              <a:rPr lang="zh-CN" altLang="en-US" sz="2800"/>
              <a:t>、采用分页式存储管理方式管理内存。在该系统中逻辑地址空间大小</a:t>
            </a:r>
            <a:r>
              <a:rPr lang="en-US" altLang="zh-CN" sz="2800"/>
              <a:t>2</a:t>
            </a:r>
            <a:r>
              <a:rPr lang="en-US" altLang="zh-CN" sz="2800" baseline="30000"/>
              <a:t>26</a:t>
            </a:r>
            <a:r>
              <a:rPr lang="en-US" altLang="zh-CN" sz="2800"/>
              <a:t>B,</a:t>
            </a:r>
            <a:r>
              <a:rPr lang="zh-CN" altLang="en-US" sz="2800"/>
              <a:t>页表项大小</a:t>
            </a:r>
            <a:r>
              <a:rPr lang="en-US" altLang="zh-CN" sz="2800"/>
              <a:t>2</a:t>
            </a:r>
            <a:r>
              <a:rPr lang="en-US" altLang="zh-CN" sz="2800"/>
              <a:t>B</a:t>
            </a:r>
            <a:r>
              <a:rPr lang="zh-CN" altLang="en-US" sz="2800"/>
              <a:t>，页面大小</a:t>
            </a:r>
            <a:r>
              <a:rPr lang="en-US" altLang="zh-CN" sz="2800"/>
              <a:t>2</a:t>
            </a:r>
            <a:r>
              <a:rPr lang="en-US" altLang="zh-CN" sz="2800" baseline="30000"/>
              <a:t>10</a:t>
            </a:r>
            <a:r>
              <a:rPr lang="en-US" altLang="zh-CN" sz="2800"/>
              <a:t>B</a:t>
            </a:r>
            <a:r>
              <a:rPr lang="zh-CN" altLang="en-US" sz="2800"/>
              <a:t>。请问系统的页表目录至少包含多少个页表项（）。 </a:t>
            </a:r>
            <a:endParaRPr lang="zh-CN" altLang="en-US" sz="2800"/>
          </a:p>
          <a:p>
            <a:endParaRPr lang="zh-CN" altLang="en-US" sz="2800"/>
          </a:p>
          <a:p>
            <a:r>
              <a:rPr lang="en-US" altLang="zh-CN" sz="2800"/>
              <a:t>A .32            B.64           C.128            D.256</a:t>
            </a:r>
            <a:endParaRPr lang="en-US" altLang="zh-CN" sz="28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42765" y="2907030"/>
            <a:ext cx="207772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多级页表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随堂练习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5.1 </a:t>
            </a:r>
            <a:r>
              <a:rPr lang="zh-CN" altLang="en-US" sz="2400" dirty="0">
                <a:latin typeface="+mj-ea"/>
                <a:ea typeface="+mj-ea"/>
              </a:rPr>
              <a:t>存储器的</a:t>
            </a:r>
            <a:r>
              <a:rPr lang="zh-CN" altLang="en-US" sz="2400" dirty="0" smtClean="0">
                <a:latin typeface="+mj-ea"/>
                <a:ea typeface="+mj-ea"/>
              </a:rPr>
              <a:t>层次结构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5.2 </a:t>
            </a:r>
            <a:r>
              <a:rPr lang="zh-CN" altLang="en-US" sz="2400" dirty="0">
                <a:latin typeface="+mj-ea"/>
              </a:rPr>
              <a:t>程序的装入和</a:t>
            </a:r>
            <a:r>
              <a:rPr lang="zh-CN" altLang="en-US" sz="2400" dirty="0" smtClean="0">
                <a:latin typeface="+mj-ea"/>
              </a:rPr>
              <a:t>链接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+mj-ea"/>
              </a:rPr>
              <a:t>5.3 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+mj-ea"/>
              </a:rPr>
              <a:t>对换与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+mj-ea"/>
              </a:rPr>
              <a:t>覆盖</a:t>
            </a:r>
            <a:endParaRPr lang="zh-CN" altLang="en-US" sz="2400" dirty="0" smtClean="0">
              <a:solidFill>
                <a:schemeClr val="bg1">
                  <a:lumMod val="65000"/>
                </a:schemeClr>
              </a:solidFill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5.4 </a:t>
            </a:r>
            <a:r>
              <a:rPr lang="zh-CN" altLang="en-US" sz="2400" dirty="0">
                <a:latin typeface="+mj-ea"/>
              </a:rPr>
              <a:t>连续分配存储管理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5.5 </a:t>
            </a:r>
            <a:r>
              <a:rPr lang="zh-CN" altLang="en-US" sz="2400" dirty="0">
                <a:latin typeface="+mj-ea"/>
              </a:rPr>
              <a:t>分页存储管理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+mj-ea"/>
              </a:rPr>
              <a:t>5.6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分段存储管理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</a:rPr>
              <a:t>方式</a:t>
            </a:r>
            <a:endParaRPr lang="zh-CN" altLang="en-US" sz="2400" b="1" dirty="0">
              <a:solidFill>
                <a:srgbClr val="0000FF"/>
              </a:solidFill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40217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solidFill>
                  <a:schemeClr val="bg1">
                    <a:lumMod val="75000"/>
                  </a:schemeClr>
                </a:solidFill>
                <a:latin typeface="+mj-ea"/>
              </a:rPr>
              <a:t>5.7 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基于</a:t>
            </a:r>
            <a:r>
              <a:rPr lang="en-US" altLang="zh-CN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IA-32/x86-64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架构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  <a:p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j-ea"/>
              </a:rPr>
              <a:t>      的内存管理策略</a:t>
            </a:r>
            <a:endParaRPr lang="zh-CN" altLang="en-US" sz="2400" dirty="0">
              <a:solidFill>
                <a:schemeClr val="bg1">
                  <a:lumMod val="75000"/>
                </a:schemeClr>
              </a:solidFill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5</a:t>
            </a:r>
            <a:r>
              <a:rPr lang="zh-CN" altLang="en-US" sz="3600" dirty="0">
                <a:solidFill>
                  <a:srgbClr val="000000"/>
                </a:solidFill>
              </a:rPr>
              <a:t>章 </a:t>
            </a:r>
            <a:r>
              <a:rPr lang="zh-CN" altLang="en-US" sz="3600" dirty="0" smtClean="0">
                <a:solidFill>
                  <a:srgbClr val="000000"/>
                </a:solidFill>
              </a:rPr>
              <a:t>   存储器管理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" name="右大括号 1"/>
          <p:cNvSpPr/>
          <p:nvPr/>
        </p:nvSpPr>
        <p:spPr>
          <a:xfrm>
            <a:off x="4919345" y="1977390"/>
            <a:ext cx="163830" cy="84709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78450" y="2155825"/>
            <a:ext cx="15881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 smtClean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基本概念</a:t>
            </a:r>
            <a:endParaRPr lang="zh-CN" altLang="en-US" sz="2400" b="1" dirty="0" smtClean="0">
              <a:solidFill>
                <a:schemeClr val="tx1"/>
              </a:solidFill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分段存储管理方式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1" name="内容占位符 2"/>
          <p:cNvSpPr txBox="1"/>
          <p:nvPr/>
        </p:nvSpPr>
        <p:spPr>
          <a:xfrm>
            <a:off x="669925" y="3429000"/>
            <a:ext cx="4677410" cy="29546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buClr>
                <a:srgbClr val="FF0000"/>
              </a:buClr>
              <a:buFont typeface="Wingdings" panose="05000000000000000000" charset="0"/>
              <a:buChar char="l"/>
              <a:defRPr/>
            </a:pPr>
            <a:r>
              <a:rPr lang="zh-CN" altLang="en-US" sz="2400" dirty="0" smtClean="0"/>
              <a:t>  </a:t>
            </a:r>
            <a:r>
              <a:rPr lang="zh-CN" altLang="en-US" sz="2400" dirty="0"/>
              <a:t>程序是</a:t>
            </a:r>
            <a:r>
              <a:rPr lang="zh-CN" altLang="en-US" sz="2400" dirty="0">
                <a:sym typeface="+mn-ea"/>
              </a:rPr>
              <a:t>逻辑单位</a:t>
            </a:r>
            <a:r>
              <a:rPr lang="zh-CN" altLang="en-US" sz="2400" dirty="0"/>
              <a:t>的集合，一个</a:t>
            </a:r>
            <a:r>
              <a:rPr lang="zh-CN" altLang="en-US" sz="2400" dirty="0">
                <a:sym typeface="+mn-ea"/>
              </a:rPr>
              <a:t>逻辑单位可以被定义成一个段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Clr>
                <a:srgbClr val="FF0000"/>
              </a:buClr>
              <a:buFont typeface="Wingdings" panose="05000000000000000000" charset="0"/>
              <a:buChar char="l"/>
              <a:defRPr/>
            </a:pPr>
            <a:r>
              <a:rPr lang="en-US" altLang="zh-CN" sz="2400" dirty="0">
                <a:sym typeface="+mn-ea"/>
              </a:rPr>
              <a:t> </a:t>
            </a:r>
            <a:r>
              <a:rPr lang="zh-CN" altLang="en-US" sz="2400" dirty="0">
                <a:sym typeface="+mn-ea"/>
              </a:rPr>
              <a:t>方便用户（程序员）在编程使用，对用户是不透明的，对</a:t>
            </a:r>
            <a:r>
              <a:rPr lang="en-US" altLang="zh-CN" sz="2400" dirty="0">
                <a:sym typeface="+mn-ea"/>
              </a:rPr>
              <a:t>OS</a:t>
            </a:r>
            <a:r>
              <a:rPr lang="zh-CN" altLang="en-US" sz="2400" dirty="0">
                <a:sym typeface="+mn-ea"/>
              </a:rPr>
              <a:t>透明</a:t>
            </a:r>
            <a:endParaRPr lang="zh-CN" altLang="en-US" sz="2400" dirty="0"/>
          </a:p>
          <a:p>
            <a:pPr>
              <a:lnSpc>
                <a:spcPct val="150000"/>
              </a:lnSpc>
              <a:spcBef>
                <a:spcPts val="3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669925" y="1145540"/>
            <a:ext cx="4033520" cy="21659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/>
              <a:t>分页存储管理方式缺点：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按页长分割，有可能使逻辑完整的信息分到不同的页面，执行速度降低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/>
              <a:t>所以考虑以逻辑单位分配内存。</a:t>
            </a:r>
            <a:endParaRPr lang="zh-CN" altLang="en-US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951345" y="1724660"/>
          <a:ext cx="1750695" cy="194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695"/>
              </a:tblGrid>
              <a:tr h="4870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chemeClr val="accent3"/>
                          </a:solidFill>
                        </a:rPr>
                        <a:t>主程序</a:t>
                      </a:r>
                      <a:r>
                        <a:rPr lang="en-US" altLang="zh-CN">
                          <a:solidFill>
                            <a:schemeClr val="accent3"/>
                          </a:solidFill>
                        </a:rPr>
                        <a:t>main</a:t>
                      </a:r>
                      <a:endParaRPr lang="en-US" altLang="zh-CN">
                        <a:solidFill>
                          <a:schemeClr val="accent3"/>
                        </a:solidFill>
                      </a:endParaRPr>
                    </a:p>
                  </a:txBody>
                  <a:tcPr anchor="ctr" anchorCtr="0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870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函数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870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数组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870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堆栈</a:t>
                      </a:r>
                      <a:endParaRPr lang="zh-CN" altLang="en-US"/>
                    </a:p>
                  </a:txBody>
                  <a:tcPr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9375775" y="1586230"/>
          <a:ext cx="1275715" cy="3685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715"/>
              </a:tblGrid>
              <a:tr h="71945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solidFill>
                          <a:schemeClr val="accent3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solidFill>
                          <a:schemeClr val="accent3"/>
                        </a:solidFill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6C0FD"/>
                    </a:solidFill>
                  </a:tcPr>
                </a:tc>
              </a:tr>
              <a:tr h="22987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solidFill>
                          <a:schemeClr val="accent3"/>
                        </a:solidFill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</a:tr>
              <a:tr h="66929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6ABBF5"/>
                    </a:solidFill>
                  </a:tcPr>
                </a:tc>
              </a:tr>
              <a:tr h="97980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5" name="直接箭头连接符 4"/>
          <p:cNvCxnSpPr/>
          <p:nvPr/>
        </p:nvCxnSpPr>
        <p:spPr>
          <a:xfrm>
            <a:off x="8716010" y="1932940"/>
            <a:ext cx="610870" cy="1016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8733790" y="2476500"/>
            <a:ext cx="631825" cy="156972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8754745" y="2980055"/>
            <a:ext cx="548005" cy="20955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8719185" y="2621280"/>
            <a:ext cx="607695" cy="87503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分段方式的引入的必要性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1" name="íšḻîḋè"/>
          <p:cNvSpPr/>
          <p:nvPr/>
        </p:nvSpPr>
        <p:spPr>
          <a:xfrm>
            <a:off x="1525270" y="3324225"/>
            <a:ext cx="10062845" cy="924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共享是以</a:t>
            </a:r>
            <a:r>
              <a:rPr lang="zh-CN" altLang="en-US" sz="2200" dirty="0">
                <a:solidFill>
                  <a:srgbClr val="FF0000"/>
                </a:solidFill>
              </a:rPr>
              <a:t>信息的逻辑</a:t>
            </a:r>
            <a:r>
              <a:rPr lang="zh-CN" altLang="en-US" sz="2200" dirty="0"/>
              <a:t>单位为基础的。分页系统中的“页”只是存放信息的物理单位，并无完整的意义，不便于实现共享；然而段却是信息的逻辑单位。</a:t>
            </a:r>
            <a:endParaRPr lang="zh-CN" altLang="en-US" sz="2200" dirty="0"/>
          </a:p>
        </p:txBody>
      </p:sp>
      <p:sp>
        <p:nvSpPr>
          <p:cNvPr id="32" name="i$lîďê"/>
          <p:cNvSpPr/>
          <p:nvPr/>
        </p:nvSpPr>
        <p:spPr>
          <a:xfrm>
            <a:off x="1506265" y="2879368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b="1" dirty="0">
                <a:sym typeface="Wingdings" panose="05000000000000000000" pitchFamily="2" charset="2"/>
              </a:rPr>
              <a:t>信息共享</a:t>
            </a:r>
            <a:endParaRPr lang="en-US" altLang="zh-CN" sz="2400" b="1" dirty="0">
              <a:sym typeface="Wingdings" panose="05000000000000000000" pitchFamily="2" charset="2"/>
            </a:endParaRPr>
          </a:p>
        </p:txBody>
      </p:sp>
      <p:sp>
        <p:nvSpPr>
          <p:cNvPr id="34" name="î$ļíḋè"/>
          <p:cNvSpPr/>
          <p:nvPr/>
        </p:nvSpPr>
        <p:spPr>
          <a:xfrm>
            <a:off x="717550" y="4804410"/>
            <a:ext cx="6016625" cy="5632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信息保护同样是对</a:t>
            </a:r>
            <a:r>
              <a:rPr lang="zh-CN" altLang="en-US" sz="2200" dirty="0">
                <a:solidFill>
                  <a:srgbClr val="FF0000"/>
                </a:solidFill>
              </a:rPr>
              <a:t>信息的逻辑</a:t>
            </a:r>
            <a:r>
              <a:rPr lang="zh-CN" altLang="en-US" sz="2200" dirty="0"/>
              <a:t>单位进行保护</a:t>
            </a:r>
            <a:endParaRPr lang="zh-CN" altLang="en-US" sz="2200" dirty="0"/>
          </a:p>
        </p:txBody>
      </p:sp>
      <p:sp>
        <p:nvSpPr>
          <p:cNvPr id="36" name="ïṧḷïḋè"/>
          <p:cNvSpPr/>
          <p:nvPr/>
        </p:nvSpPr>
        <p:spPr>
          <a:xfrm>
            <a:off x="1525317" y="4365742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b="1" dirty="0">
                <a:sym typeface="Wingdings" panose="05000000000000000000" pitchFamily="2" charset="2"/>
              </a:rPr>
              <a:t>信息保护</a:t>
            </a:r>
            <a:endParaRPr lang="en-US" altLang="zh-CN" sz="2400" b="1" dirty="0">
              <a:sym typeface="Wingdings" panose="05000000000000000000" pitchFamily="2" charset="2"/>
            </a:endParaRPr>
          </a:p>
        </p:txBody>
      </p:sp>
      <p:sp>
        <p:nvSpPr>
          <p:cNvPr id="38" name="îs1iďé"/>
          <p:cNvSpPr/>
          <p:nvPr/>
        </p:nvSpPr>
        <p:spPr>
          <a:xfrm>
            <a:off x="1525270" y="1547495"/>
            <a:ext cx="10182225" cy="124269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用户将作业按照逻辑关系划分为若干个段，每个段都是从</a:t>
            </a:r>
            <a:r>
              <a:rPr lang="en-US" altLang="zh-CN" sz="2200" dirty="0"/>
              <a:t>0</a:t>
            </a:r>
            <a:r>
              <a:rPr lang="zh-CN" altLang="en-US" sz="2200" dirty="0"/>
              <a:t>开始编址，并有自己的名字和长度。因此，希望访问的逻辑地址是由段名（段号）和段内偏移量（段内地址）决定的</a:t>
            </a:r>
            <a:endParaRPr lang="zh-CN" altLang="en-US" sz="2200" dirty="0"/>
          </a:p>
        </p:txBody>
      </p:sp>
      <p:sp>
        <p:nvSpPr>
          <p:cNvPr id="39" name="íšḻíḑê"/>
          <p:cNvSpPr/>
          <p:nvPr/>
        </p:nvSpPr>
        <p:spPr>
          <a:xfrm>
            <a:off x="1506266" y="1116856"/>
            <a:ext cx="7264247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b="1" dirty="0">
                <a:sym typeface="Wingdings" panose="05000000000000000000" pitchFamily="2" charset="2"/>
              </a:rPr>
              <a:t>方便编程</a:t>
            </a:r>
            <a:endParaRPr lang="en-US" altLang="zh-CN" sz="2400" b="1" dirty="0">
              <a:sym typeface="Wingdings" panose="05000000000000000000" pitchFamily="2" charset="2"/>
            </a:endParaRPr>
          </a:p>
        </p:txBody>
      </p:sp>
      <p:sp>
        <p:nvSpPr>
          <p:cNvPr id="40" name="íšḻíḑê"/>
          <p:cNvSpPr/>
          <p:nvPr/>
        </p:nvSpPr>
        <p:spPr>
          <a:xfrm>
            <a:off x="7423361" y="4703448"/>
            <a:ext cx="7264247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b="1" dirty="0">
                <a:sym typeface="Wingdings" panose="05000000000000000000" pitchFamily="2" charset="2"/>
              </a:rPr>
              <a:t>动态增长</a:t>
            </a:r>
            <a:endParaRPr lang="en-US" altLang="zh-CN" sz="2400" b="1" dirty="0">
              <a:sym typeface="Wingdings" panose="05000000000000000000" pitchFamily="2" charset="2"/>
            </a:endParaRPr>
          </a:p>
        </p:txBody>
      </p:sp>
      <p:sp>
        <p:nvSpPr>
          <p:cNvPr id="42" name="îSļiḓè"/>
          <p:cNvSpPr/>
          <p:nvPr/>
        </p:nvSpPr>
        <p:spPr>
          <a:xfrm>
            <a:off x="822763" y="110329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44" name="íṥḻîḓe"/>
          <p:cNvSpPr/>
          <p:nvPr/>
        </p:nvSpPr>
        <p:spPr>
          <a:xfrm>
            <a:off x="822128" y="424885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45" name="îşļiḓè"/>
          <p:cNvSpPr/>
          <p:nvPr/>
        </p:nvSpPr>
        <p:spPr>
          <a:xfrm>
            <a:off x="822763" y="277884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46" name="îṡḷíďe"/>
          <p:cNvSpPr/>
          <p:nvPr/>
        </p:nvSpPr>
        <p:spPr>
          <a:xfrm>
            <a:off x="1013018" y="129943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47" name="íSlíḋe"/>
          <p:cNvSpPr/>
          <p:nvPr/>
        </p:nvSpPr>
        <p:spPr>
          <a:xfrm>
            <a:off x="1013017" y="3000859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48" name="ïśḷïḓe"/>
          <p:cNvSpPr/>
          <p:nvPr/>
        </p:nvSpPr>
        <p:spPr>
          <a:xfrm>
            <a:off x="1041321" y="4438310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49" name="îSļiḓè"/>
          <p:cNvSpPr/>
          <p:nvPr/>
        </p:nvSpPr>
        <p:spPr>
          <a:xfrm>
            <a:off x="6739858" y="458685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50" name="îṡḷíďe"/>
          <p:cNvSpPr/>
          <p:nvPr/>
        </p:nvSpPr>
        <p:spPr>
          <a:xfrm>
            <a:off x="6930113" y="478299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51" name="î$ļíḋè"/>
          <p:cNvSpPr/>
          <p:nvPr/>
        </p:nvSpPr>
        <p:spPr>
          <a:xfrm>
            <a:off x="6734175" y="5102225"/>
            <a:ext cx="5320665" cy="1153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在实际应用中，往往有些段（特别是数据段），在使用过程中会不断地增长</a:t>
            </a:r>
            <a:endParaRPr lang="zh-CN" altLang="en-US" sz="2200" dirty="0"/>
          </a:p>
        </p:txBody>
      </p:sp>
      <p:sp>
        <p:nvSpPr>
          <p:cNvPr id="52" name="ïṧḷïḋè"/>
          <p:cNvSpPr/>
          <p:nvPr/>
        </p:nvSpPr>
        <p:spPr>
          <a:xfrm>
            <a:off x="1635617" y="5608726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b="1" dirty="0">
                <a:sym typeface="Wingdings" panose="05000000000000000000" pitchFamily="2" charset="2"/>
              </a:rPr>
              <a:t>动态链接</a:t>
            </a:r>
            <a:endParaRPr lang="zh-CN" altLang="en-US" sz="2400" b="1" dirty="0">
              <a:sym typeface="Wingdings" panose="05000000000000000000" pitchFamily="2" charset="2"/>
            </a:endParaRPr>
          </a:p>
        </p:txBody>
      </p:sp>
      <p:sp>
        <p:nvSpPr>
          <p:cNvPr id="55" name="îşļiḓè"/>
          <p:cNvSpPr/>
          <p:nvPr/>
        </p:nvSpPr>
        <p:spPr>
          <a:xfrm>
            <a:off x="822763" y="544449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56" name="íSlíḋe"/>
          <p:cNvSpPr/>
          <p:nvPr/>
        </p:nvSpPr>
        <p:spPr>
          <a:xfrm>
            <a:off x="1013017" y="5666511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" name="î$ļíḋè"/>
          <p:cNvSpPr/>
          <p:nvPr/>
        </p:nvSpPr>
        <p:spPr>
          <a:xfrm>
            <a:off x="822325" y="6050280"/>
            <a:ext cx="6016625" cy="5632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动态链接是以段为基础的</a:t>
            </a:r>
            <a:endParaRPr lang="zh-CN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分段的基本原理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i$lîďê"/>
          <p:cNvSpPr/>
          <p:nvPr/>
        </p:nvSpPr>
        <p:spPr>
          <a:xfrm>
            <a:off x="1527658" y="1322834"/>
            <a:ext cx="9865780" cy="8100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每个段都有自己的名字，通常用一个段号来代替段名，每个段都从</a:t>
            </a:r>
            <a:r>
              <a:rPr lang="en-US" altLang="zh-CN" sz="2400" dirty="0"/>
              <a:t>0</a:t>
            </a:r>
            <a:r>
              <a:rPr lang="zh-CN" altLang="en-US" sz="2400" dirty="0"/>
              <a:t>开始编址，并存储在一段</a:t>
            </a:r>
            <a:r>
              <a:rPr lang="zh-CN" altLang="en-US" sz="2400" b="1" dirty="0"/>
              <a:t>连续的</a:t>
            </a:r>
            <a:r>
              <a:rPr lang="zh-CN" altLang="en-US" sz="2400" dirty="0"/>
              <a:t>地址空间内，</a:t>
            </a:r>
            <a:r>
              <a:rPr lang="zh-CN" altLang="en-US" sz="2400" dirty="0">
                <a:sym typeface="+mn-ea"/>
              </a:rPr>
              <a:t>各个段可以离散地装入内存中不同的分区中。</a:t>
            </a:r>
            <a:endParaRPr lang="zh-CN" altLang="en-US" sz="2400" dirty="0"/>
          </a:p>
        </p:txBody>
      </p:sp>
      <p:sp>
        <p:nvSpPr>
          <p:cNvPr id="24" name="ïṧḷïḋè"/>
          <p:cNvSpPr/>
          <p:nvPr/>
        </p:nvSpPr>
        <p:spPr>
          <a:xfrm>
            <a:off x="1582905" y="2425517"/>
            <a:ext cx="9865778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段的长度由相应的逻辑信息组的长度决定，因此各段</a:t>
            </a:r>
            <a:r>
              <a:rPr lang="zh-CN" altLang="en-US" sz="2400" b="1" dirty="0"/>
              <a:t>长度不等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28" name="íṥḻîḓe"/>
          <p:cNvSpPr/>
          <p:nvPr/>
        </p:nvSpPr>
        <p:spPr>
          <a:xfrm>
            <a:off x="844156" y="239208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9" name="îşļiḓè"/>
          <p:cNvSpPr/>
          <p:nvPr/>
        </p:nvSpPr>
        <p:spPr>
          <a:xfrm>
            <a:off x="844156" y="1376856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31" name="íSlíḋe"/>
          <p:cNvSpPr/>
          <p:nvPr/>
        </p:nvSpPr>
        <p:spPr>
          <a:xfrm>
            <a:off x="1034410" y="1598873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32" name="ïśḷïḓe"/>
          <p:cNvSpPr/>
          <p:nvPr/>
        </p:nvSpPr>
        <p:spPr>
          <a:xfrm>
            <a:off x="1063349" y="2581547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graphicFrame>
        <p:nvGraphicFramePr>
          <p:cNvPr id="14" name="Group 30"/>
          <p:cNvGraphicFramePr>
            <a:graphicFrameLocks noGrp="1"/>
          </p:cNvGraphicFramePr>
          <p:nvPr/>
        </p:nvGraphicFramePr>
        <p:xfrm>
          <a:off x="1936578" y="3501670"/>
          <a:ext cx="7584835" cy="721730"/>
        </p:xfrm>
        <a:graphic>
          <a:graphicData uri="http://schemas.openxmlformats.org/drawingml/2006/table">
            <a:tbl>
              <a:tblPr/>
              <a:tblGrid>
                <a:gridCol w="1853565"/>
                <a:gridCol w="2691961"/>
                <a:gridCol w="3039309"/>
              </a:tblGrid>
              <a:tr h="71766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3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段号</a:t>
                      </a:r>
                      <a:endParaRPr kumimoji="1" lang="zh-CN" altLang="en-US" sz="3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292" marR="127292" marT="63685" marB="6368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3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段长</a:t>
                      </a:r>
                      <a:endParaRPr kumimoji="1" lang="zh-CN" altLang="en-US" sz="3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292" marR="127292" marT="63685" marB="636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3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基址</a:t>
                      </a:r>
                      <a:endParaRPr kumimoji="1" lang="zh-CN" altLang="en-US" sz="3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292" marR="127292" marT="63685" marB="636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利用段表实现地址映射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1" name="Group 105"/>
          <p:cNvGraphicFramePr>
            <a:graphicFrameLocks noGrp="1"/>
          </p:cNvGraphicFramePr>
          <p:nvPr/>
        </p:nvGraphicFramePr>
        <p:xfrm>
          <a:off x="1183985" y="1073985"/>
          <a:ext cx="2148625" cy="1953408"/>
        </p:xfrm>
        <a:graphic>
          <a:graphicData uri="http://schemas.openxmlformats.org/drawingml/2006/table">
            <a:tbl>
              <a:tblPr/>
              <a:tblGrid>
                <a:gridCol w="678608"/>
                <a:gridCol w="1470017"/>
              </a:tblGrid>
              <a:tr h="69584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6" marB="4605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作业空间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(MAIN)=0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6" marB="4605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3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6" marB="4605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6" marB="460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653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6" marB="4605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  <a:tr h="36653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6" marB="4605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  <p:graphicFrame>
        <p:nvGraphicFramePr>
          <p:cNvPr id="32" name="Group 107"/>
          <p:cNvGraphicFramePr>
            <a:graphicFrameLocks noGrp="1"/>
          </p:cNvGraphicFramePr>
          <p:nvPr/>
        </p:nvGraphicFramePr>
        <p:xfrm>
          <a:off x="1146220" y="3012762"/>
          <a:ext cx="2238777" cy="1190076"/>
        </p:xfrm>
        <a:graphic>
          <a:graphicData uri="http://schemas.openxmlformats.org/drawingml/2006/table">
            <a:tbl>
              <a:tblPr/>
              <a:tblGrid>
                <a:gridCol w="707081"/>
                <a:gridCol w="1531696"/>
              </a:tblGrid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(X)=1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  <p:graphicFrame>
        <p:nvGraphicFramePr>
          <p:cNvPr id="34" name="Group 140"/>
          <p:cNvGraphicFramePr>
            <a:graphicFrameLocks noGrp="1"/>
          </p:cNvGraphicFramePr>
          <p:nvPr/>
        </p:nvGraphicFramePr>
        <p:xfrm>
          <a:off x="1236372" y="4181162"/>
          <a:ext cx="2161325" cy="1190076"/>
        </p:xfrm>
        <a:graphic>
          <a:graphicData uri="http://schemas.openxmlformats.org/drawingml/2006/table">
            <a:tbl>
              <a:tblPr/>
              <a:tblGrid>
                <a:gridCol w="682619"/>
                <a:gridCol w="1478706"/>
              </a:tblGrid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(D)=2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  <p:graphicFrame>
        <p:nvGraphicFramePr>
          <p:cNvPr id="36" name="Group 124"/>
          <p:cNvGraphicFramePr>
            <a:graphicFrameLocks noGrp="1"/>
          </p:cNvGraphicFramePr>
          <p:nvPr/>
        </p:nvGraphicFramePr>
        <p:xfrm>
          <a:off x="1236372" y="5387662"/>
          <a:ext cx="2148625" cy="1190076"/>
        </p:xfrm>
        <a:graphic>
          <a:graphicData uri="http://schemas.openxmlformats.org/drawingml/2006/table">
            <a:tbl>
              <a:tblPr/>
              <a:tblGrid>
                <a:gridCol w="678608"/>
                <a:gridCol w="1470017"/>
              </a:tblGrid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(S)=3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  <p:graphicFrame>
        <p:nvGraphicFramePr>
          <p:cNvPr id="38" name="Group 417"/>
          <p:cNvGraphicFramePr>
            <a:graphicFrameLocks noGrp="1"/>
          </p:cNvGraphicFramePr>
          <p:nvPr/>
        </p:nvGraphicFramePr>
        <p:xfrm>
          <a:off x="4680397" y="2415862"/>
          <a:ext cx="2157413" cy="299085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696913"/>
                <a:gridCol w="696912"/>
                <a:gridCol w="763588"/>
              </a:tblGrid>
              <a:tr h="396875">
                <a:tc gridSpan="3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段表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/>
                </a:tc>
                <a:tc hMerge="1">
                  <a:tcPr/>
                </a:tc>
              </a:tr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段号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段长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基址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80K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Group 392"/>
          <p:cNvGraphicFramePr>
            <a:graphicFrameLocks noGrp="1"/>
          </p:cNvGraphicFramePr>
          <p:nvPr/>
        </p:nvGraphicFramePr>
        <p:xfrm>
          <a:off x="8305263" y="728084"/>
          <a:ext cx="2503868" cy="5891609"/>
        </p:xfrm>
        <a:graphic>
          <a:graphicData uri="http://schemas.openxmlformats.org/drawingml/2006/table">
            <a:tbl>
              <a:tblPr/>
              <a:tblGrid>
                <a:gridCol w="1594129"/>
                <a:gridCol w="909739"/>
              </a:tblGrid>
              <a:tr h="33591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内存空间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7" marB="46037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914">
                <a:tc row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wdUpDiag">
                      <a:fgClr>
                        <a:schemeClr val="accent1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1919">
                <a:tc vMerge="1">
                  <a:tcPr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058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(MAIN)=0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30K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370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wdUpDiag">
                      <a:fgClr>
                        <a:schemeClr val="accent1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547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(X)=1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20K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3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wdUpDiag">
                      <a:fgClr>
                        <a:schemeClr val="accent1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8522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(D)=2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15K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754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wdUpDiag">
                      <a:fgClr>
                        <a:schemeClr val="accent1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8522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(S)=3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10K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" name="Line 393"/>
          <p:cNvSpPr>
            <a:spLocks noChangeShapeType="1"/>
          </p:cNvSpPr>
          <p:nvPr/>
        </p:nvSpPr>
        <p:spPr bwMode="auto">
          <a:xfrm>
            <a:off x="3442617" y="2301562"/>
            <a:ext cx="1905000" cy="914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2" name="Line 394"/>
          <p:cNvSpPr>
            <a:spLocks noChangeShapeType="1"/>
          </p:cNvSpPr>
          <p:nvPr/>
        </p:nvSpPr>
        <p:spPr bwMode="auto">
          <a:xfrm>
            <a:off x="3384997" y="3635062"/>
            <a:ext cx="1981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4" name="Line 395"/>
          <p:cNvSpPr>
            <a:spLocks noChangeShapeType="1"/>
          </p:cNvSpPr>
          <p:nvPr/>
        </p:nvSpPr>
        <p:spPr bwMode="auto">
          <a:xfrm flipV="1">
            <a:off x="3384997" y="4016062"/>
            <a:ext cx="2057400" cy="8382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5" name="Line 396"/>
          <p:cNvSpPr>
            <a:spLocks noChangeShapeType="1"/>
          </p:cNvSpPr>
          <p:nvPr/>
        </p:nvSpPr>
        <p:spPr bwMode="auto">
          <a:xfrm flipV="1">
            <a:off x="3384997" y="4473262"/>
            <a:ext cx="1981200" cy="1524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6" name="Line 397"/>
          <p:cNvSpPr>
            <a:spLocks noChangeShapeType="1"/>
          </p:cNvSpPr>
          <p:nvPr/>
        </p:nvSpPr>
        <p:spPr bwMode="auto">
          <a:xfrm flipV="1">
            <a:off x="6813997" y="1958662"/>
            <a:ext cx="1295400" cy="1447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7" name="Line 398"/>
          <p:cNvSpPr>
            <a:spLocks noChangeShapeType="1"/>
          </p:cNvSpPr>
          <p:nvPr/>
        </p:nvSpPr>
        <p:spPr bwMode="auto">
          <a:xfrm flipV="1">
            <a:off x="6813997" y="3406462"/>
            <a:ext cx="13716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8" name="Line 399"/>
          <p:cNvSpPr>
            <a:spLocks noChangeShapeType="1"/>
          </p:cNvSpPr>
          <p:nvPr/>
        </p:nvSpPr>
        <p:spPr bwMode="auto">
          <a:xfrm>
            <a:off x="6813997" y="4168462"/>
            <a:ext cx="13716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9" name="Line 400"/>
          <p:cNvSpPr>
            <a:spLocks noChangeShapeType="1"/>
          </p:cNvSpPr>
          <p:nvPr/>
        </p:nvSpPr>
        <p:spPr bwMode="auto">
          <a:xfrm>
            <a:off x="6813997" y="4625662"/>
            <a:ext cx="137160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552315" y="1880870"/>
            <a:ext cx="2811145" cy="47561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2500" dirty="0" smtClean="0">
                <a:sym typeface="+mn-ea"/>
              </a:rPr>
              <a:t>段表</a:t>
            </a:r>
            <a:r>
              <a:rPr lang="zh-CN" altLang="en-US" sz="2500" dirty="0">
                <a:sym typeface="+mn-ea"/>
              </a:rPr>
              <a:t>保存在内存中</a:t>
            </a:r>
            <a:endParaRPr lang="zh-CN" altLang="en-US" sz="25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980295" y="1903095"/>
            <a:ext cx="6419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000" b="1" dirty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40K</a:t>
            </a:r>
            <a:endParaRPr kumimoji="1" lang="en-US" altLang="zh-CN" sz="2000" b="1" dirty="0" smtClean="0">
              <a:ln>
                <a:noFill/>
              </a:ln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928225" y="3388995"/>
            <a:ext cx="6419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000" b="1" dirty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80K</a:t>
            </a:r>
            <a:endParaRPr kumimoji="1" lang="en-US" altLang="zh-CN" sz="2000" b="1" dirty="0" smtClean="0">
              <a:ln>
                <a:noFill/>
              </a:ln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94570" y="4531995"/>
            <a:ext cx="812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000" b="1" dirty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120K</a:t>
            </a:r>
            <a:endParaRPr kumimoji="1" lang="en-US" altLang="zh-CN" sz="2000" b="1" dirty="0" smtClean="0">
              <a:ln>
                <a:noFill/>
              </a:ln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928225" y="5674995"/>
            <a:ext cx="812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000" b="1" dirty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150K</a:t>
            </a:r>
            <a:endParaRPr kumimoji="1" lang="en-US" altLang="zh-CN" sz="2000" b="1" dirty="0" smtClean="0">
              <a:ln>
                <a:noFill/>
              </a:ln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3080" y="2232660"/>
            <a:ext cx="307975" cy="36957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noAutofit/>
          </a:bodyPr>
          <a:p>
            <a:r>
              <a:rPr kumimoji="1" lang="en-US" altLang="zh-CN" sz="2000" b="1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0</a:t>
            </a:r>
            <a:endParaRPr kumimoji="1" lang="en-US" altLang="zh-CN" sz="2000" b="1" dirty="0" smtClean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3080" y="3691255"/>
            <a:ext cx="307975" cy="36957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noAutofit/>
          </a:bodyPr>
          <a:p>
            <a:r>
              <a:rPr kumimoji="1" lang="en-US" altLang="zh-CN" sz="2000" b="1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</a:t>
            </a:r>
            <a:endParaRPr kumimoji="1" lang="en-US" altLang="zh-CN" sz="2000" b="1" dirty="0" smtClean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3080" y="4854575"/>
            <a:ext cx="307975" cy="36957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noAutofit/>
          </a:bodyPr>
          <a:p>
            <a:r>
              <a:rPr kumimoji="1" lang="en-US" altLang="zh-CN" sz="2000" b="1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endParaRPr kumimoji="1" lang="en-US" altLang="zh-CN" sz="2000" b="1" dirty="0" smtClean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3080" y="5852160"/>
            <a:ext cx="307975" cy="36957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noAutofit/>
          </a:bodyPr>
          <a:p>
            <a:r>
              <a:rPr kumimoji="1" lang="en-US" altLang="zh-CN" sz="2000" b="1" dirty="0" smtClean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</a:t>
            </a:r>
            <a:endParaRPr kumimoji="1" lang="en-US" altLang="zh-CN" sz="2000" b="1" dirty="0" smtClean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分段系统的地址变换过程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1" name="Group 18"/>
          <p:cNvGraphicFramePr>
            <a:graphicFrameLocks noGrp="1"/>
          </p:cNvGraphicFramePr>
          <p:nvPr/>
        </p:nvGraphicFramePr>
        <p:xfrm>
          <a:off x="1305059" y="1891047"/>
          <a:ext cx="2971800" cy="431800"/>
        </p:xfrm>
        <a:graphic>
          <a:graphicData uri="http://schemas.openxmlformats.org/drawingml/2006/table">
            <a:tbl>
              <a:tblPr/>
              <a:tblGrid>
                <a:gridCol w="1409700"/>
                <a:gridCol w="1562100"/>
              </a:tblGrid>
              <a:tr h="4318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段表始址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段表长度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TL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1990859" y="1357647"/>
            <a:ext cx="16764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+mn-ea"/>
              </a:rPr>
              <a:t>段表寄存器</a:t>
            </a:r>
            <a:endParaRPr lang="zh-CN" altLang="en-US" sz="20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34" name="Oval 20"/>
          <p:cNvSpPr>
            <a:spLocks noChangeArrowheads="1"/>
          </p:cNvSpPr>
          <p:nvPr/>
        </p:nvSpPr>
        <p:spPr bwMode="auto">
          <a:xfrm>
            <a:off x="5038859" y="1891047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&gt;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graphicFrame>
        <p:nvGraphicFramePr>
          <p:cNvPr id="36" name="Group 30"/>
          <p:cNvGraphicFramePr>
            <a:graphicFrameLocks noGrp="1"/>
          </p:cNvGraphicFramePr>
          <p:nvPr/>
        </p:nvGraphicFramePr>
        <p:xfrm>
          <a:off x="7324859" y="1891047"/>
          <a:ext cx="1600200" cy="431800"/>
        </p:xfrm>
        <a:graphic>
          <a:graphicData uri="http://schemas.openxmlformats.org/drawingml/2006/table">
            <a:tbl>
              <a:tblPr/>
              <a:tblGrid>
                <a:gridCol w="593725"/>
                <a:gridCol w="1006475"/>
              </a:tblGrid>
              <a:tr h="4318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" name="Text Box 31"/>
          <p:cNvSpPr txBox="1">
            <a:spLocks noChangeArrowheads="1"/>
          </p:cNvSpPr>
          <p:nvPr/>
        </p:nvSpPr>
        <p:spPr bwMode="auto">
          <a:xfrm>
            <a:off x="8925059" y="1891047"/>
            <a:ext cx="1219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有效地址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39" name="Line 32"/>
          <p:cNvSpPr>
            <a:spLocks noChangeShapeType="1"/>
          </p:cNvSpPr>
          <p:nvPr/>
        </p:nvSpPr>
        <p:spPr bwMode="auto">
          <a:xfrm>
            <a:off x="5496059" y="2119647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" name="Line 33"/>
          <p:cNvSpPr>
            <a:spLocks noChangeShapeType="1"/>
          </p:cNvSpPr>
          <p:nvPr/>
        </p:nvSpPr>
        <p:spPr bwMode="auto">
          <a:xfrm>
            <a:off x="4276859" y="2119647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graphicFrame>
        <p:nvGraphicFramePr>
          <p:cNvPr id="42" name="Group 66"/>
          <p:cNvGraphicFramePr>
            <a:graphicFrameLocks noGrp="1"/>
          </p:cNvGraphicFramePr>
          <p:nvPr/>
        </p:nvGraphicFramePr>
        <p:xfrm>
          <a:off x="4581659" y="3502515"/>
          <a:ext cx="1447800" cy="1587504"/>
        </p:xfrm>
        <a:graphic>
          <a:graphicData uri="http://schemas.openxmlformats.org/drawingml/2006/table">
            <a:tbl>
              <a:tblPr/>
              <a:tblGrid>
                <a:gridCol w="723900"/>
                <a:gridCol w="723900"/>
              </a:tblGrid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500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9200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" name="Text Box 67"/>
          <p:cNvSpPr txBox="1">
            <a:spLocks noChangeArrowheads="1"/>
          </p:cNvSpPr>
          <p:nvPr/>
        </p:nvSpPr>
        <p:spPr bwMode="auto">
          <a:xfrm>
            <a:off x="4200659" y="4721715"/>
            <a:ext cx="381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000"/>
              <a:t>3</a:t>
            </a:r>
            <a:endParaRPr lang="en-US" altLang="zh-CN" sz="2000"/>
          </a:p>
        </p:txBody>
      </p:sp>
      <p:sp>
        <p:nvSpPr>
          <p:cNvPr id="45" name="Text Box 68"/>
          <p:cNvSpPr txBox="1">
            <a:spLocks noChangeArrowheads="1"/>
          </p:cNvSpPr>
          <p:nvPr/>
        </p:nvSpPr>
        <p:spPr bwMode="auto">
          <a:xfrm>
            <a:off x="4200659" y="4340715"/>
            <a:ext cx="381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000"/>
              <a:t>2</a:t>
            </a:r>
            <a:endParaRPr lang="en-US" altLang="zh-CN" sz="2000"/>
          </a:p>
        </p:txBody>
      </p:sp>
      <p:sp>
        <p:nvSpPr>
          <p:cNvPr id="46" name="Text Box 69"/>
          <p:cNvSpPr txBox="1">
            <a:spLocks noChangeArrowheads="1"/>
          </p:cNvSpPr>
          <p:nvPr/>
        </p:nvSpPr>
        <p:spPr bwMode="auto">
          <a:xfrm>
            <a:off x="4200659" y="3883515"/>
            <a:ext cx="381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000"/>
              <a:t>1</a:t>
            </a:r>
            <a:endParaRPr lang="en-US" altLang="zh-CN" sz="2000"/>
          </a:p>
        </p:txBody>
      </p:sp>
      <p:sp>
        <p:nvSpPr>
          <p:cNvPr id="47" name="Text Box 70"/>
          <p:cNvSpPr txBox="1">
            <a:spLocks noChangeArrowheads="1"/>
          </p:cNvSpPr>
          <p:nvPr/>
        </p:nvSpPr>
        <p:spPr bwMode="auto">
          <a:xfrm>
            <a:off x="4200659" y="3502515"/>
            <a:ext cx="381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000"/>
              <a:t>0</a:t>
            </a:r>
            <a:endParaRPr lang="en-US" altLang="zh-CN" sz="2000"/>
          </a:p>
        </p:txBody>
      </p:sp>
      <p:sp>
        <p:nvSpPr>
          <p:cNvPr id="48" name="Line 71"/>
          <p:cNvSpPr>
            <a:spLocks noChangeShapeType="1"/>
          </p:cNvSpPr>
          <p:nvPr/>
        </p:nvSpPr>
        <p:spPr bwMode="auto">
          <a:xfrm>
            <a:off x="4124459" y="350251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9" name="Line 72"/>
          <p:cNvSpPr>
            <a:spLocks noChangeShapeType="1"/>
          </p:cNvSpPr>
          <p:nvPr/>
        </p:nvSpPr>
        <p:spPr bwMode="auto">
          <a:xfrm>
            <a:off x="4581659" y="327391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50" name="Text Box 73"/>
          <p:cNvSpPr txBox="1">
            <a:spLocks noChangeArrowheads="1"/>
          </p:cNvSpPr>
          <p:nvPr/>
        </p:nvSpPr>
        <p:spPr bwMode="auto">
          <a:xfrm>
            <a:off x="4530859" y="3045315"/>
            <a:ext cx="736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段长</a:t>
            </a:r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51" name="Text Box 74"/>
          <p:cNvSpPr txBox="1">
            <a:spLocks noChangeArrowheads="1"/>
          </p:cNvSpPr>
          <p:nvPr/>
        </p:nvSpPr>
        <p:spPr bwMode="auto">
          <a:xfrm>
            <a:off x="5267459" y="3032615"/>
            <a:ext cx="762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基址</a:t>
            </a:r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52" name="Text Box 75"/>
          <p:cNvSpPr txBox="1">
            <a:spLocks noChangeArrowheads="1"/>
          </p:cNvSpPr>
          <p:nvPr/>
        </p:nvSpPr>
        <p:spPr bwMode="auto">
          <a:xfrm>
            <a:off x="3883159" y="3045315"/>
            <a:ext cx="736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段号</a:t>
            </a:r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53" name="Text Box 76"/>
          <p:cNvSpPr txBox="1">
            <a:spLocks noChangeArrowheads="1"/>
          </p:cNvSpPr>
          <p:nvPr/>
        </p:nvSpPr>
        <p:spPr bwMode="auto">
          <a:xfrm>
            <a:off x="7677284" y="3519148"/>
            <a:ext cx="10572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000"/>
              <a:t>8292</a:t>
            </a:r>
            <a:endParaRPr lang="en-US" altLang="zh-CN" sz="2000"/>
          </a:p>
        </p:txBody>
      </p:sp>
      <p:sp>
        <p:nvSpPr>
          <p:cNvPr id="54" name="Text Box 77"/>
          <p:cNvSpPr txBox="1">
            <a:spLocks noChangeArrowheads="1"/>
          </p:cNvSpPr>
          <p:nvPr/>
        </p:nvSpPr>
        <p:spPr bwMode="auto">
          <a:xfrm>
            <a:off x="8279899" y="5996283"/>
            <a:ext cx="12954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物理地址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55" name="Oval 78"/>
          <p:cNvSpPr>
            <a:spLocks noChangeArrowheads="1"/>
          </p:cNvSpPr>
          <p:nvPr/>
        </p:nvSpPr>
        <p:spPr bwMode="auto">
          <a:xfrm>
            <a:off x="8163059" y="2786128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+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56" name="AutoShape 79"/>
          <p:cNvSpPr/>
          <p:nvPr/>
        </p:nvSpPr>
        <p:spPr bwMode="auto">
          <a:xfrm rot="-5472468">
            <a:off x="8391660" y="1927559"/>
            <a:ext cx="74612" cy="989013"/>
          </a:xfrm>
          <a:prstGeom prst="leftBrace">
            <a:avLst>
              <a:gd name="adj1" fmla="val 110462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7" name="AutoShape 80"/>
          <p:cNvSpPr/>
          <p:nvPr/>
        </p:nvSpPr>
        <p:spPr bwMode="auto">
          <a:xfrm rot="-5472468">
            <a:off x="7589972" y="2132347"/>
            <a:ext cx="76200" cy="609600"/>
          </a:xfrm>
          <a:prstGeom prst="leftBrace">
            <a:avLst>
              <a:gd name="adj1" fmla="val 666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8" name="Line 81"/>
          <p:cNvSpPr>
            <a:spLocks noChangeShapeType="1"/>
          </p:cNvSpPr>
          <p:nvPr/>
        </p:nvSpPr>
        <p:spPr bwMode="auto">
          <a:xfrm>
            <a:off x="8391659" y="2500647"/>
            <a:ext cx="0" cy="28548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59" name="Line 82"/>
          <p:cNvSpPr>
            <a:spLocks noChangeShapeType="1"/>
          </p:cNvSpPr>
          <p:nvPr/>
        </p:nvSpPr>
        <p:spPr bwMode="auto">
          <a:xfrm>
            <a:off x="8391659" y="3243328"/>
            <a:ext cx="0" cy="259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0" name="AutoShape 83"/>
          <p:cNvSpPr/>
          <p:nvPr/>
        </p:nvSpPr>
        <p:spPr bwMode="auto">
          <a:xfrm rot="-5472468">
            <a:off x="8309903" y="3673929"/>
            <a:ext cx="84138" cy="688975"/>
          </a:xfrm>
          <a:prstGeom prst="leftBrace">
            <a:avLst>
              <a:gd name="adj1" fmla="val 68239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" name="Oval 84"/>
          <p:cNvSpPr>
            <a:spLocks noChangeArrowheads="1"/>
          </p:cNvSpPr>
          <p:nvPr/>
        </p:nvSpPr>
        <p:spPr bwMode="auto">
          <a:xfrm>
            <a:off x="1990859" y="2653047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+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62" name="Line 85"/>
          <p:cNvSpPr>
            <a:spLocks noChangeShapeType="1"/>
          </p:cNvSpPr>
          <p:nvPr/>
        </p:nvSpPr>
        <p:spPr bwMode="auto">
          <a:xfrm>
            <a:off x="7629659" y="2500647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3" name="Line 86"/>
          <p:cNvSpPr>
            <a:spLocks noChangeShapeType="1"/>
          </p:cNvSpPr>
          <p:nvPr/>
        </p:nvSpPr>
        <p:spPr bwMode="auto">
          <a:xfrm flipH="1">
            <a:off x="2448059" y="2881647"/>
            <a:ext cx="518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4" name="Line 87"/>
          <p:cNvSpPr>
            <a:spLocks noChangeShapeType="1"/>
          </p:cNvSpPr>
          <p:nvPr/>
        </p:nvSpPr>
        <p:spPr bwMode="auto">
          <a:xfrm flipV="1">
            <a:off x="5267459" y="2348247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5" name="Line 88"/>
          <p:cNvSpPr>
            <a:spLocks noChangeShapeType="1"/>
          </p:cNvSpPr>
          <p:nvPr/>
        </p:nvSpPr>
        <p:spPr bwMode="auto">
          <a:xfrm>
            <a:off x="2219459" y="2348247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6" name="Line 89"/>
          <p:cNvSpPr>
            <a:spLocks noChangeShapeType="1"/>
          </p:cNvSpPr>
          <p:nvPr/>
        </p:nvSpPr>
        <p:spPr bwMode="auto">
          <a:xfrm>
            <a:off x="2219325" y="3007360"/>
            <a:ext cx="635" cy="145986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7" name="Line 90"/>
          <p:cNvSpPr>
            <a:spLocks noChangeShapeType="1"/>
          </p:cNvSpPr>
          <p:nvPr/>
        </p:nvSpPr>
        <p:spPr bwMode="auto">
          <a:xfrm>
            <a:off x="2168525" y="4465955"/>
            <a:ext cx="2032635" cy="63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8" name="Line 91"/>
          <p:cNvSpPr>
            <a:spLocks noChangeShapeType="1"/>
          </p:cNvSpPr>
          <p:nvPr/>
        </p:nvSpPr>
        <p:spPr bwMode="auto">
          <a:xfrm>
            <a:off x="6029459" y="4424428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9" name="Line 92"/>
          <p:cNvSpPr>
            <a:spLocks noChangeShapeType="1"/>
          </p:cNvSpPr>
          <p:nvPr/>
        </p:nvSpPr>
        <p:spPr bwMode="auto">
          <a:xfrm flipV="1">
            <a:off x="7172459" y="3014728"/>
            <a:ext cx="0" cy="1409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0" name="Line 93"/>
          <p:cNvSpPr>
            <a:spLocks noChangeShapeType="1"/>
          </p:cNvSpPr>
          <p:nvPr/>
        </p:nvSpPr>
        <p:spPr bwMode="auto">
          <a:xfrm>
            <a:off x="7172459" y="3014728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1" name="Text Box 94"/>
          <p:cNvSpPr txBox="1">
            <a:spLocks noChangeArrowheads="1"/>
          </p:cNvSpPr>
          <p:nvPr/>
        </p:nvSpPr>
        <p:spPr bwMode="auto">
          <a:xfrm>
            <a:off x="6029459" y="1891047"/>
            <a:ext cx="762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越界</a:t>
            </a:r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72" name="Text Box 95"/>
          <p:cNvSpPr txBox="1">
            <a:spLocks noChangeArrowheads="1"/>
          </p:cNvSpPr>
          <p:nvPr/>
        </p:nvSpPr>
        <p:spPr bwMode="auto">
          <a:xfrm>
            <a:off x="8010659" y="1395210"/>
            <a:ext cx="1371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+mn-ea"/>
              </a:rPr>
              <a:t>段内地址</a:t>
            </a: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+mn-ea"/>
              </a:rPr>
              <a:t>d</a:t>
            </a:r>
            <a:endParaRPr lang="en-US" altLang="zh-CN" sz="20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73" name="Text Box 96"/>
          <p:cNvSpPr txBox="1">
            <a:spLocks noChangeArrowheads="1"/>
          </p:cNvSpPr>
          <p:nvPr/>
        </p:nvSpPr>
        <p:spPr bwMode="auto">
          <a:xfrm>
            <a:off x="7096259" y="1421147"/>
            <a:ext cx="9144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段号</a:t>
            </a:r>
            <a:r>
              <a:rPr lang="en-US" altLang="zh-CN" sz="2000">
                <a:latin typeface="+mn-ea"/>
                <a:ea typeface="+mn-ea"/>
              </a:rPr>
              <a:t>S</a:t>
            </a:r>
            <a:endParaRPr lang="en-US" altLang="zh-CN" sz="2000">
              <a:latin typeface="+mn-ea"/>
              <a:ea typeface="+mn-ea"/>
            </a:endParaRPr>
          </a:p>
        </p:txBody>
      </p:sp>
      <p:graphicFrame>
        <p:nvGraphicFramePr>
          <p:cNvPr id="74" name="Group 139"/>
          <p:cNvGraphicFramePr>
            <a:graphicFrameLocks noGrp="1"/>
          </p:cNvGraphicFramePr>
          <p:nvPr/>
        </p:nvGraphicFramePr>
        <p:xfrm>
          <a:off x="8366259" y="4466208"/>
          <a:ext cx="914400" cy="1527180"/>
        </p:xfrm>
        <a:graphic>
          <a:graphicData uri="http://schemas.openxmlformats.org/drawingml/2006/table">
            <a:tbl>
              <a:tblPr/>
              <a:tblGrid>
                <a:gridCol w="914400"/>
              </a:tblGrid>
              <a:tr h="30543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543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543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543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543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" name="Line 141"/>
          <p:cNvSpPr>
            <a:spLocks noChangeShapeType="1"/>
          </p:cNvSpPr>
          <p:nvPr/>
        </p:nvSpPr>
        <p:spPr bwMode="auto">
          <a:xfrm>
            <a:off x="8366259" y="4096419"/>
            <a:ext cx="0" cy="15897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6" name="Line 142"/>
          <p:cNvSpPr>
            <a:spLocks noChangeShapeType="1"/>
          </p:cNvSpPr>
          <p:nvPr/>
        </p:nvSpPr>
        <p:spPr bwMode="auto">
          <a:xfrm flipH="1">
            <a:off x="7696199" y="4242511"/>
            <a:ext cx="69545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7" name="Line 143"/>
          <p:cNvSpPr>
            <a:spLocks noChangeShapeType="1"/>
          </p:cNvSpPr>
          <p:nvPr/>
        </p:nvSpPr>
        <p:spPr bwMode="auto">
          <a:xfrm>
            <a:off x="7705859" y="4255391"/>
            <a:ext cx="0" cy="82041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8" name="Line 144"/>
          <p:cNvSpPr>
            <a:spLocks noChangeShapeType="1"/>
          </p:cNvSpPr>
          <p:nvPr/>
        </p:nvSpPr>
        <p:spPr bwMode="auto">
          <a:xfrm>
            <a:off x="7705859" y="5075808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9" name="Text Box 145"/>
          <p:cNvSpPr txBox="1">
            <a:spLocks noChangeArrowheads="1"/>
          </p:cNvSpPr>
          <p:nvPr/>
        </p:nvSpPr>
        <p:spPr bwMode="auto">
          <a:xfrm>
            <a:off x="7858259" y="4707508"/>
            <a:ext cx="5334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000"/>
              <a:t>8K</a:t>
            </a:r>
            <a:endParaRPr lang="en-US" altLang="zh-CN" sz="2000"/>
          </a:p>
        </p:txBody>
      </p:sp>
      <p:sp>
        <p:nvSpPr>
          <p:cNvPr id="80" name="Text Box 146"/>
          <p:cNvSpPr txBox="1">
            <a:spLocks noChangeArrowheads="1"/>
          </p:cNvSpPr>
          <p:nvPr/>
        </p:nvSpPr>
        <p:spPr bwMode="auto">
          <a:xfrm>
            <a:off x="7591559" y="5152008"/>
            <a:ext cx="838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000" dirty="0"/>
              <a:t>8292</a:t>
            </a:r>
            <a:endParaRPr lang="en-US" altLang="zh-CN" sz="2000" dirty="0"/>
          </a:p>
        </p:txBody>
      </p:sp>
      <p:sp>
        <p:nvSpPr>
          <p:cNvPr id="81" name="Text Box 147"/>
          <p:cNvSpPr txBox="1">
            <a:spLocks noChangeArrowheads="1"/>
          </p:cNvSpPr>
          <p:nvPr/>
        </p:nvSpPr>
        <p:spPr bwMode="auto">
          <a:xfrm>
            <a:off x="7591559" y="5482208"/>
            <a:ext cx="838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000" dirty="0"/>
              <a:t>8692</a:t>
            </a:r>
            <a:endParaRPr lang="en-US" altLang="zh-CN" sz="2000" dirty="0"/>
          </a:p>
        </p:txBody>
      </p:sp>
      <p:sp>
        <p:nvSpPr>
          <p:cNvPr id="83" name="AutoShape 149"/>
          <p:cNvSpPr>
            <a:spLocks noChangeArrowheads="1"/>
          </p:cNvSpPr>
          <p:nvPr/>
        </p:nvSpPr>
        <p:spPr bwMode="auto">
          <a:xfrm>
            <a:off x="5495290" y="963930"/>
            <a:ext cx="3429000" cy="457200"/>
          </a:xfrm>
          <a:prstGeom prst="wedgeEllipseCallout">
            <a:avLst>
              <a:gd name="adj1" fmla="val -23666"/>
              <a:gd name="adj2" fmla="val 155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  <a:defRPr/>
            </a:pPr>
            <a:r>
              <a:rPr lang="zh-CN" altLang="en-US" sz="2000" b="1" dirty="0">
                <a:solidFill>
                  <a:srgbClr val="C00000"/>
                </a:solidFill>
              </a:rPr>
              <a:t>需判断两次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750" y="4947920"/>
            <a:ext cx="2934335" cy="1139825"/>
          </a:xfrm>
          <a:prstGeom prst="rect">
            <a:avLst/>
          </a:prstGeom>
          <a:solidFill>
            <a:schemeClr val="accent3">
              <a:lumMod val="10000"/>
              <a:lumOff val="90000"/>
            </a:schemeClr>
          </a:solidFill>
        </p:spPr>
        <p:txBody>
          <a:bodyPr wrap="square" rtlCol="0" anchor="t">
            <a:noAutofit/>
          </a:bodyPr>
          <a:p>
            <a:r>
              <a:rPr lang="zh-CN" altLang="en-US" sz="2000" dirty="0">
                <a:latin typeface="+mn-ea"/>
                <a:sym typeface="+mn-ea"/>
              </a:rPr>
              <a:t>和分页一样，每次访问两次内存，可以同过设置快表，提高访问速度</a:t>
            </a:r>
            <a:endParaRPr lang="zh-CN" altLang="en-US" sz="2000" dirty="0">
              <a:latin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9725" y="99695"/>
            <a:ext cx="1151191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在一个段式存储管理系统中，其段表见表</a:t>
            </a:r>
            <a:r>
              <a:rPr lang="en-US" altLang="zh-CN" sz="2800"/>
              <a:t>A</a:t>
            </a:r>
            <a:r>
              <a:rPr lang="zh-CN" altLang="en-US" sz="2800"/>
              <a:t>。</a:t>
            </a:r>
            <a:endParaRPr lang="zh-CN" altLang="en-US" sz="2800"/>
          </a:p>
          <a:p>
            <a:r>
              <a:rPr lang="zh-CN" altLang="en-US" sz="2800"/>
              <a:t>试求表</a:t>
            </a:r>
            <a:r>
              <a:rPr lang="en-US" altLang="zh-CN" sz="2800"/>
              <a:t>B</a:t>
            </a:r>
            <a:r>
              <a:rPr lang="zh-CN" altLang="en-US" sz="2800"/>
              <a:t>中的逻辑地址所对应的物理地址。</a:t>
            </a:r>
            <a:endParaRPr lang="zh-CN" altLang="en-US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25" y="1144905"/>
            <a:ext cx="10331450" cy="360299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分页和分段的主要区别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84" name="Group 7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79678" y="1532577"/>
          <a:ext cx="9738575" cy="422427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248556"/>
                <a:gridCol w="3804920"/>
                <a:gridCol w="3685099"/>
              </a:tblGrid>
              <a:tr h="84399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分页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分段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84360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信息单位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段（逻辑上有意义）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/>
                </a:tc>
              </a:tr>
              <a:tr h="8494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信息完整性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离散分配方式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意义相对完整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/>
                </a:tc>
              </a:tr>
              <a:tr h="84360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页</a:t>
                      </a: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段的大小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固定，由系统决定</a:t>
                      </a:r>
                      <a:endParaRPr kumimoji="1" lang="zh-CN" altLang="en-US" sz="2400" u="none" strike="noStrike" cap="none" normalizeH="0" baseline="0" dirty="0" smtClean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对用户透明，对OS不透明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不固定，由程序员决定</a:t>
                      </a:r>
                      <a:endParaRPr kumimoji="1" lang="zh-CN" altLang="en-US" sz="2400" u="none" strike="noStrike" cap="none" normalizeH="0" baseline="0" dirty="0" smtClean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lang="zh-CN" altLang="en-US" sz="240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+mn-ea"/>
                        </a:rPr>
                        <a:t>对用户不透明，对</a:t>
                      </a:r>
                      <a:r>
                        <a:rPr lang="en-US" altLang="zh-CN" sz="240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+mn-ea"/>
                        </a:rPr>
                        <a:t>OS</a:t>
                      </a:r>
                      <a:r>
                        <a:rPr lang="zh-CN" altLang="en-US" sz="240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+mn-ea"/>
                        </a:rPr>
                        <a:t>透明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/>
                </a:tc>
              </a:tr>
              <a:tr h="84360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地址空间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一维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二维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段页式存储管理方式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570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1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571" name="iṡļiḓe"/>
          <p:cNvGrpSpPr/>
          <p:nvPr/>
        </p:nvGrpSpPr>
        <p:grpSpPr>
          <a:xfrm>
            <a:off x="669925" y="975360"/>
            <a:ext cx="5974000" cy="2830897"/>
            <a:chOff x="660400" y="1787149"/>
            <a:chExt cx="5973785" cy="2333265"/>
          </a:xfrm>
        </p:grpSpPr>
        <p:grpSp>
          <p:nvGrpSpPr>
            <p:cNvPr id="1144" name="iSḻíḓè"/>
            <p:cNvGrpSpPr/>
            <p:nvPr/>
          </p:nvGrpSpPr>
          <p:grpSpPr>
            <a:xfrm>
              <a:off x="1296567" y="1835355"/>
              <a:ext cx="5337618" cy="2285059"/>
              <a:chOff x="1296567" y="1835355"/>
              <a:chExt cx="6732073" cy="2285059"/>
            </a:xfrm>
          </p:grpSpPr>
          <p:sp>
            <p:nvSpPr>
              <p:cNvPr id="1148" name="îṧľîḋé"/>
              <p:cNvSpPr txBox="1"/>
              <p:nvPr/>
            </p:nvSpPr>
            <p:spPr>
              <a:xfrm>
                <a:off x="1296567" y="1835355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基本原理：</a:t>
                </a:r>
                <a:endParaRPr lang="zh-CN" altLang="en-US" sz="2400" dirty="0"/>
              </a:p>
            </p:txBody>
          </p:sp>
          <p:sp>
            <p:nvSpPr>
              <p:cNvPr id="1149" name="íşļîḓé"/>
              <p:cNvSpPr/>
              <p:nvPr/>
            </p:nvSpPr>
            <p:spPr bwMode="auto">
              <a:xfrm>
                <a:off x="1379857" y="2128969"/>
                <a:ext cx="6648783" cy="19914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分段和分页原理的结合</a:t>
                </a:r>
                <a:r>
                  <a:rPr lang="zh-CN" altLang="en-US" sz="2400" dirty="0"/>
                  <a:t>，即先将用户程序分成若干段，再把每个段分成若干个页。</a:t>
                </a:r>
                <a:endParaRPr lang="zh-CN" altLang="en-US" sz="2400" dirty="0"/>
              </a:p>
              <a:p>
                <a:pPr marL="0" lvl="1" indent="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None/>
                </a:pPr>
                <a:endParaRPr lang="zh-CN" altLang="en-US" sz="2400" dirty="0"/>
              </a:p>
            </p:txBody>
          </p:sp>
        </p:grpSp>
        <p:grpSp>
          <p:nvGrpSpPr>
            <p:cNvPr id="1145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1146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47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6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72" name="iŝļïḓê"/>
          <p:cNvGrpSpPr/>
          <p:nvPr/>
        </p:nvGrpSpPr>
        <p:grpSpPr>
          <a:xfrm>
            <a:off x="660400" y="3559700"/>
            <a:ext cx="6297847" cy="1984429"/>
            <a:chOff x="660400" y="2092935"/>
            <a:chExt cx="6297847" cy="1984429"/>
          </a:xfrm>
        </p:grpSpPr>
        <p:grpSp>
          <p:nvGrpSpPr>
            <p:cNvPr id="574" name="ïṧļïḓe"/>
            <p:cNvGrpSpPr/>
            <p:nvPr/>
          </p:nvGrpSpPr>
          <p:grpSpPr>
            <a:xfrm>
              <a:off x="1296567" y="2092935"/>
              <a:ext cx="5661680" cy="1984429"/>
              <a:chOff x="1296567" y="2092935"/>
              <a:chExt cx="7140794" cy="1984429"/>
            </a:xfrm>
          </p:grpSpPr>
          <p:sp>
            <p:nvSpPr>
              <p:cNvPr id="1142" name="ïšļíďè"/>
              <p:cNvSpPr txBox="1"/>
              <p:nvPr/>
            </p:nvSpPr>
            <p:spPr>
              <a:xfrm>
                <a:off x="1296567" y="2092935"/>
                <a:ext cx="7140794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>
                    <a:solidFill>
                      <a:srgbClr val="FF0000"/>
                    </a:solidFill>
                  </a:rPr>
                  <a:t>优点：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43" name="íşľíḑè"/>
              <p:cNvSpPr/>
              <p:nvPr/>
            </p:nvSpPr>
            <p:spPr bwMode="auto">
              <a:xfrm>
                <a:off x="1312811" y="2588173"/>
                <a:ext cx="6632637" cy="14891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既有分段系统的便于实现、可共享、易于保护、可动态链接；</a:t>
                </a:r>
                <a:endParaRPr lang="zh-CN" altLang="en-US" sz="2400" dirty="0"/>
              </a:p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又能像分页系统，很好地解决内存的外部碎片问题。</a:t>
                </a:r>
                <a:endParaRPr lang="zh-CN" altLang="en-US" sz="2400" dirty="0"/>
              </a:p>
            </p:txBody>
          </p:sp>
        </p:grpSp>
        <p:grpSp>
          <p:nvGrpSpPr>
            <p:cNvPr id="1139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140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41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作业地址空间和地址结构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8" name="Group 113"/>
          <p:cNvGraphicFramePr>
            <a:graphicFrameLocks noGrp="1"/>
          </p:cNvGraphicFramePr>
          <p:nvPr/>
        </p:nvGraphicFramePr>
        <p:xfrm>
          <a:off x="2267755" y="1944006"/>
          <a:ext cx="7861299" cy="556436"/>
        </p:xfrm>
        <a:graphic>
          <a:graphicData uri="http://schemas.openxmlformats.org/drawingml/2006/table">
            <a:tbl>
              <a:tblPr/>
              <a:tblGrid>
                <a:gridCol w="2620433"/>
                <a:gridCol w="2620433"/>
                <a:gridCol w="2620433"/>
              </a:tblGrid>
              <a:tr h="55643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段号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421" marR="107421" marT="53711" marB="53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段内页号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421" marR="107421" marT="53711" marB="53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页内地址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421" marR="107421" marT="53711" marB="53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009650" y="3564890"/>
            <a:ext cx="997204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>
                <a:sym typeface="+mn-ea"/>
              </a:rPr>
              <a:t>在一个进程中，段表只能有一个，页表可以有多个</a:t>
            </a:r>
            <a:endParaRPr lang="zh-CN" altLang="en-US" sz="320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3200"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>
                <a:sym typeface="+mn-ea"/>
              </a:rPr>
              <a:t>物理地址分配单位是</a:t>
            </a:r>
            <a:r>
              <a:rPr lang="en-US" altLang="zh-CN" sz="3200">
                <a:sym typeface="+mn-ea"/>
              </a:rPr>
              <a:t>——</a:t>
            </a:r>
            <a:r>
              <a:rPr lang="zh-CN" altLang="en-US" sz="3200">
                <a:sym typeface="+mn-ea"/>
              </a:rPr>
              <a:t>页</a:t>
            </a:r>
            <a:endParaRPr lang="zh-CN" altLang="en-US" sz="32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段页式存储管理方式的地址变换过程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6771" y="1090108"/>
            <a:ext cx="10172700" cy="51625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05535" y="6039485"/>
            <a:ext cx="81915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段号</a:t>
            </a:r>
            <a:endParaRPr lang="zh-CN" altLang="en-US"/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1581150" y="5001895"/>
            <a:ext cx="818515" cy="10134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915410" y="6015355"/>
            <a:ext cx="110998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页表始址</a:t>
            </a:r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3279140" y="5027930"/>
            <a:ext cx="1242695" cy="9099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169160" y="6252845"/>
            <a:ext cx="110998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页表大小</a:t>
            </a:r>
            <a:endParaRPr lang="zh-CN" altLang="en-US"/>
          </a:p>
        </p:txBody>
      </p:sp>
      <p:cxnSp>
        <p:nvCxnSpPr>
          <p:cNvPr id="9" name="直接箭头连接符 8"/>
          <p:cNvCxnSpPr>
            <a:stCxn id="8" idx="0"/>
          </p:cNvCxnSpPr>
          <p:nvPr/>
        </p:nvCxnSpPr>
        <p:spPr>
          <a:xfrm flipV="1">
            <a:off x="2724150" y="4897120"/>
            <a:ext cx="59055" cy="13557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649720" y="543560"/>
            <a:ext cx="4898390" cy="460375"/>
          </a:xfrm>
          <a:prstGeom prst="rect">
            <a:avLst/>
          </a:prstGeom>
          <a:solidFill>
            <a:srgbClr val="FF0000"/>
          </a:solidFill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chemeClr val="bg1"/>
                </a:solidFill>
                <a:sym typeface="+mn-ea"/>
              </a:rPr>
              <a:t>思考：地址转换访问了几次内存？</a:t>
            </a:r>
            <a:endParaRPr lang="zh-CN" altLang="en-US" sz="24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34315" y="1392555"/>
            <a:ext cx="118237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800">
                <a:solidFill>
                  <a:srgbClr val="FF0000"/>
                </a:solidFill>
                <a:sym typeface="+mn-ea"/>
              </a:rPr>
              <a:t>思考：</a:t>
            </a:r>
            <a:r>
              <a:rPr lang="zh-CN" altLang="en-US" sz="2800">
                <a:sym typeface="+mn-ea"/>
              </a:rPr>
              <a:t>固定分区、动态分区、分页式、分段式、段页式各会产生什么碎片？</a:t>
            </a:r>
            <a:endParaRPr lang="zh-CN" altLang="en-US" sz="280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90040" y="2848610"/>
            <a:ext cx="7181850" cy="20612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sz="3200">
                <a:sym typeface="+mn-ea"/>
              </a:rPr>
              <a:t>外部碎片：分段式、动态分区</a:t>
            </a:r>
            <a:endParaRPr lang="zh-CN" altLang="en-US" sz="3200">
              <a:sym typeface="+mn-ea"/>
            </a:endParaRPr>
          </a:p>
          <a:p>
            <a:endParaRPr lang="zh-CN" altLang="en-US" sz="3200">
              <a:sym typeface="+mn-ea"/>
            </a:endParaRPr>
          </a:p>
          <a:p>
            <a:r>
              <a:rPr lang="zh-CN" altLang="en-US" sz="3200">
                <a:sym typeface="+mn-ea"/>
              </a:rPr>
              <a:t>内部碎片：固定分区、分页式、段页式</a:t>
            </a:r>
            <a:endParaRPr lang="zh-CN" altLang="en-US" sz="3200"/>
          </a:p>
          <a:p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"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4742091" y="2077986"/>
            <a:ext cx="6536871" cy="2390427"/>
          </a:xfrm>
        </p:spPr>
        <p:txBody>
          <a:bodyPr>
            <a:normAutofit/>
          </a:bodyPr>
          <a:lstStyle/>
          <a:p>
            <a:r>
              <a:rPr lang="zh-CN" altLang="en-US" sz="6600" dirty="0"/>
              <a:t>学 习 进 步 ！</a:t>
            </a:r>
            <a:endParaRPr lang="zh-CN" altLang="en-US" sz="4000" dirty="0"/>
          </a:p>
        </p:txBody>
      </p:sp>
      <p:sp>
        <p:nvSpPr>
          <p:cNvPr id="8" name="任意多边形: 形状 7"/>
          <p:cNvSpPr/>
          <p:nvPr/>
        </p:nvSpPr>
        <p:spPr>
          <a:xfrm>
            <a:off x="669925" y="2344255"/>
            <a:ext cx="552196" cy="3896208"/>
          </a:xfrm>
          <a:custGeom>
            <a:avLst/>
            <a:gdLst>
              <a:gd name="connsiteX0" fmla="*/ 438280 w 513703"/>
              <a:gd name="connsiteY0" fmla="*/ 3473760 h 3624606"/>
              <a:gd name="connsiteX1" fmla="*/ 513703 w 513703"/>
              <a:gd name="connsiteY1" fmla="*/ 3549183 h 3624606"/>
              <a:gd name="connsiteX2" fmla="*/ 438280 w 513703"/>
              <a:gd name="connsiteY2" fmla="*/ 3624606 h 3624606"/>
              <a:gd name="connsiteX3" fmla="*/ 362857 w 513703"/>
              <a:gd name="connsiteY3" fmla="*/ 3549183 h 3624606"/>
              <a:gd name="connsiteX4" fmla="*/ 438280 w 513703"/>
              <a:gd name="connsiteY4" fmla="*/ 3473760 h 3624606"/>
              <a:gd name="connsiteX5" fmla="*/ 75423 w 513703"/>
              <a:gd name="connsiteY5" fmla="*/ 3473760 h 3624606"/>
              <a:gd name="connsiteX6" fmla="*/ 150846 w 513703"/>
              <a:gd name="connsiteY6" fmla="*/ 3549183 h 3624606"/>
              <a:gd name="connsiteX7" fmla="*/ 75423 w 513703"/>
              <a:gd name="connsiteY7" fmla="*/ 3624606 h 3624606"/>
              <a:gd name="connsiteX8" fmla="*/ 0 w 513703"/>
              <a:gd name="connsiteY8" fmla="*/ 3549183 h 3624606"/>
              <a:gd name="connsiteX9" fmla="*/ 75423 w 513703"/>
              <a:gd name="connsiteY9" fmla="*/ 3473760 h 3624606"/>
              <a:gd name="connsiteX10" fmla="*/ 438280 w 513703"/>
              <a:gd name="connsiteY10" fmla="*/ 3126882 h 3624606"/>
              <a:gd name="connsiteX11" fmla="*/ 513703 w 513703"/>
              <a:gd name="connsiteY11" fmla="*/ 3202305 h 3624606"/>
              <a:gd name="connsiteX12" fmla="*/ 438280 w 513703"/>
              <a:gd name="connsiteY12" fmla="*/ 3277728 h 3624606"/>
              <a:gd name="connsiteX13" fmla="*/ 362857 w 513703"/>
              <a:gd name="connsiteY13" fmla="*/ 3202305 h 3624606"/>
              <a:gd name="connsiteX14" fmla="*/ 438280 w 513703"/>
              <a:gd name="connsiteY14" fmla="*/ 3126882 h 3624606"/>
              <a:gd name="connsiteX15" fmla="*/ 75423 w 513703"/>
              <a:gd name="connsiteY15" fmla="*/ 3126882 h 3624606"/>
              <a:gd name="connsiteX16" fmla="*/ 150846 w 513703"/>
              <a:gd name="connsiteY16" fmla="*/ 3202305 h 3624606"/>
              <a:gd name="connsiteX17" fmla="*/ 75423 w 513703"/>
              <a:gd name="connsiteY17" fmla="*/ 3277728 h 3624606"/>
              <a:gd name="connsiteX18" fmla="*/ 0 w 513703"/>
              <a:gd name="connsiteY18" fmla="*/ 3202305 h 3624606"/>
              <a:gd name="connsiteX19" fmla="*/ 75423 w 513703"/>
              <a:gd name="connsiteY19" fmla="*/ 3126882 h 3624606"/>
              <a:gd name="connsiteX20" fmla="*/ 438280 w 513703"/>
              <a:gd name="connsiteY20" fmla="*/ 2780004 h 3624606"/>
              <a:gd name="connsiteX21" fmla="*/ 513703 w 513703"/>
              <a:gd name="connsiteY21" fmla="*/ 2855427 h 3624606"/>
              <a:gd name="connsiteX22" fmla="*/ 438280 w 513703"/>
              <a:gd name="connsiteY22" fmla="*/ 2930850 h 3624606"/>
              <a:gd name="connsiteX23" fmla="*/ 362857 w 513703"/>
              <a:gd name="connsiteY23" fmla="*/ 2855427 h 3624606"/>
              <a:gd name="connsiteX24" fmla="*/ 438280 w 513703"/>
              <a:gd name="connsiteY24" fmla="*/ 2780004 h 3624606"/>
              <a:gd name="connsiteX25" fmla="*/ 75423 w 513703"/>
              <a:gd name="connsiteY25" fmla="*/ 2780004 h 3624606"/>
              <a:gd name="connsiteX26" fmla="*/ 150846 w 513703"/>
              <a:gd name="connsiteY26" fmla="*/ 2855427 h 3624606"/>
              <a:gd name="connsiteX27" fmla="*/ 75423 w 513703"/>
              <a:gd name="connsiteY27" fmla="*/ 2930850 h 3624606"/>
              <a:gd name="connsiteX28" fmla="*/ 0 w 513703"/>
              <a:gd name="connsiteY28" fmla="*/ 2855427 h 3624606"/>
              <a:gd name="connsiteX29" fmla="*/ 75423 w 513703"/>
              <a:gd name="connsiteY29" fmla="*/ 2780004 h 3624606"/>
              <a:gd name="connsiteX30" fmla="*/ 438280 w 513703"/>
              <a:gd name="connsiteY30" fmla="*/ 2433126 h 3624606"/>
              <a:gd name="connsiteX31" fmla="*/ 513703 w 513703"/>
              <a:gd name="connsiteY31" fmla="*/ 2508549 h 3624606"/>
              <a:gd name="connsiteX32" fmla="*/ 438280 w 513703"/>
              <a:gd name="connsiteY32" fmla="*/ 2583972 h 3624606"/>
              <a:gd name="connsiteX33" fmla="*/ 362857 w 513703"/>
              <a:gd name="connsiteY33" fmla="*/ 2508549 h 3624606"/>
              <a:gd name="connsiteX34" fmla="*/ 438280 w 513703"/>
              <a:gd name="connsiteY34" fmla="*/ 2433126 h 3624606"/>
              <a:gd name="connsiteX35" fmla="*/ 75423 w 513703"/>
              <a:gd name="connsiteY35" fmla="*/ 2433126 h 3624606"/>
              <a:gd name="connsiteX36" fmla="*/ 150846 w 513703"/>
              <a:gd name="connsiteY36" fmla="*/ 2508549 h 3624606"/>
              <a:gd name="connsiteX37" fmla="*/ 75423 w 513703"/>
              <a:gd name="connsiteY37" fmla="*/ 2583972 h 3624606"/>
              <a:gd name="connsiteX38" fmla="*/ 0 w 513703"/>
              <a:gd name="connsiteY38" fmla="*/ 2508549 h 3624606"/>
              <a:gd name="connsiteX39" fmla="*/ 75423 w 513703"/>
              <a:gd name="connsiteY39" fmla="*/ 2433126 h 3624606"/>
              <a:gd name="connsiteX40" fmla="*/ 438280 w 513703"/>
              <a:gd name="connsiteY40" fmla="*/ 2086248 h 3624606"/>
              <a:gd name="connsiteX41" fmla="*/ 513703 w 513703"/>
              <a:gd name="connsiteY41" fmla="*/ 2161671 h 3624606"/>
              <a:gd name="connsiteX42" fmla="*/ 438280 w 513703"/>
              <a:gd name="connsiteY42" fmla="*/ 2237094 h 3624606"/>
              <a:gd name="connsiteX43" fmla="*/ 362857 w 513703"/>
              <a:gd name="connsiteY43" fmla="*/ 2161671 h 3624606"/>
              <a:gd name="connsiteX44" fmla="*/ 438280 w 513703"/>
              <a:gd name="connsiteY44" fmla="*/ 2086248 h 3624606"/>
              <a:gd name="connsiteX45" fmla="*/ 75423 w 513703"/>
              <a:gd name="connsiteY45" fmla="*/ 2086248 h 3624606"/>
              <a:gd name="connsiteX46" fmla="*/ 150846 w 513703"/>
              <a:gd name="connsiteY46" fmla="*/ 2161671 h 3624606"/>
              <a:gd name="connsiteX47" fmla="*/ 75423 w 513703"/>
              <a:gd name="connsiteY47" fmla="*/ 2237094 h 3624606"/>
              <a:gd name="connsiteX48" fmla="*/ 0 w 513703"/>
              <a:gd name="connsiteY48" fmla="*/ 2161671 h 3624606"/>
              <a:gd name="connsiteX49" fmla="*/ 75423 w 513703"/>
              <a:gd name="connsiteY49" fmla="*/ 2086248 h 3624606"/>
              <a:gd name="connsiteX50" fmla="*/ 438280 w 513703"/>
              <a:gd name="connsiteY50" fmla="*/ 1734390 h 3624606"/>
              <a:gd name="connsiteX51" fmla="*/ 513703 w 513703"/>
              <a:gd name="connsiteY51" fmla="*/ 1809813 h 3624606"/>
              <a:gd name="connsiteX52" fmla="*/ 513200 w 513703"/>
              <a:gd name="connsiteY52" fmla="*/ 1812303 h 3624606"/>
              <a:gd name="connsiteX53" fmla="*/ 513703 w 513703"/>
              <a:gd name="connsiteY53" fmla="*/ 1814793 h 3624606"/>
              <a:gd name="connsiteX54" fmla="*/ 438280 w 513703"/>
              <a:gd name="connsiteY54" fmla="*/ 1890216 h 3624606"/>
              <a:gd name="connsiteX55" fmla="*/ 362857 w 513703"/>
              <a:gd name="connsiteY55" fmla="*/ 1814793 h 3624606"/>
              <a:gd name="connsiteX56" fmla="*/ 363360 w 513703"/>
              <a:gd name="connsiteY56" fmla="*/ 1812303 h 3624606"/>
              <a:gd name="connsiteX57" fmla="*/ 362857 w 513703"/>
              <a:gd name="connsiteY57" fmla="*/ 1809813 h 3624606"/>
              <a:gd name="connsiteX58" fmla="*/ 438280 w 513703"/>
              <a:gd name="connsiteY58" fmla="*/ 1734390 h 3624606"/>
              <a:gd name="connsiteX59" fmla="*/ 75423 w 513703"/>
              <a:gd name="connsiteY59" fmla="*/ 1734390 h 3624606"/>
              <a:gd name="connsiteX60" fmla="*/ 150846 w 513703"/>
              <a:gd name="connsiteY60" fmla="*/ 1809813 h 3624606"/>
              <a:gd name="connsiteX61" fmla="*/ 150343 w 513703"/>
              <a:gd name="connsiteY61" fmla="*/ 1812303 h 3624606"/>
              <a:gd name="connsiteX62" fmla="*/ 150846 w 513703"/>
              <a:gd name="connsiteY62" fmla="*/ 1814793 h 3624606"/>
              <a:gd name="connsiteX63" fmla="*/ 75423 w 513703"/>
              <a:gd name="connsiteY63" fmla="*/ 1890216 h 3624606"/>
              <a:gd name="connsiteX64" fmla="*/ 0 w 513703"/>
              <a:gd name="connsiteY64" fmla="*/ 1814793 h 3624606"/>
              <a:gd name="connsiteX65" fmla="*/ 503 w 513703"/>
              <a:gd name="connsiteY65" fmla="*/ 1812303 h 3624606"/>
              <a:gd name="connsiteX66" fmla="*/ 0 w 513703"/>
              <a:gd name="connsiteY66" fmla="*/ 1809813 h 3624606"/>
              <a:gd name="connsiteX67" fmla="*/ 75423 w 513703"/>
              <a:gd name="connsiteY67" fmla="*/ 1734390 h 3624606"/>
              <a:gd name="connsiteX68" fmla="*/ 438280 w 513703"/>
              <a:gd name="connsiteY68" fmla="*/ 1387512 h 3624606"/>
              <a:gd name="connsiteX69" fmla="*/ 513703 w 513703"/>
              <a:gd name="connsiteY69" fmla="*/ 1462935 h 3624606"/>
              <a:gd name="connsiteX70" fmla="*/ 438280 w 513703"/>
              <a:gd name="connsiteY70" fmla="*/ 1538358 h 3624606"/>
              <a:gd name="connsiteX71" fmla="*/ 362857 w 513703"/>
              <a:gd name="connsiteY71" fmla="*/ 1462935 h 3624606"/>
              <a:gd name="connsiteX72" fmla="*/ 438280 w 513703"/>
              <a:gd name="connsiteY72" fmla="*/ 1387512 h 3624606"/>
              <a:gd name="connsiteX73" fmla="*/ 75423 w 513703"/>
              <a:gd name="connsiteY73" fmla="*/ 1387512 h 3624606"/>
              <a:gd name="connsiteX74" fmla="*/ 150846 w 513703"/>
              <a:gd name="connsiteY74" fmla="*/ 1462935 h 3624606"/>
              <a:gd name="connsiteX75" fmla="*/ 75423 w 513703"/>
              <a:gd name="connsiteY75" fmla="*/ 1538358 h 3624606"/>
              <a:gd name="connsiteX76" fmla="*/ 0 w 513703"/>
              <a:gd name="connsiteY76" fmla="*/ 1462935 h 3624606"/>
              <a:gd name="connsiteX77" fmla="*/ 75423 w 513703"/>
              <a:gd name="connsiteY77" fmla="*/ 1387512 h 3624606"/>
              <a:gd name="connsiteX78" fmla="*/ 75423 w 513703"/>
              <a:gd name="connsiteY78" fmla="*/ 1040634 h 3624606"/>
              <a:gd name="connsiteX79" fmla="*/ 150846 w 513703"/>
              <a:gd name="connsiteY79" fmla="*/ 1116057 h 3624606"/>
              <a:gd name="connsiteX80" fmla="*/ 75423 w 513703"/>
              <a:gd name="connsiteY80" fmla="*/ 1191480 h 3624606"/>
              <a:gd name="connsiteX81" fmla="*/ 0 w 513703"/>
              <a:gd name="connsiteY81" fmla="*/ 1116057 h 3624606"/>
              <a:gd name="connsiteX82" fmla="*/ 75423 w 513703"/>
              <a:gd name="connsiteY82" fmla="*/ 1040634 h 3624606"/>
              <a:gd name="connsiteX83" fmla="*/ 438280 w 513703"/>
              <a:gd name="connsiteY83" fmla="*/ 1040634 h 3624606"/>
              <a:gd name="connsiteX84" fmla="*/ 513703 w 513703"/>
              <a:gd name="connsiteY84" fmla="*/ 1116057 h 3624606"/>
              <a:gd name="connsiteX85" fmla="*/ 438280 w 513703"/>
              <a:gd name="connsiteY85" fmla="*/ 1191480 h 3624606"/>
              <a:gd name="connsiteX86" fmla="*/ 362857 w 513703"/>
              <a:gd name="connsiteY86" fmla="*/ 1116057 h 3624606"/>
              <a:gd name="connsiteX87" fmla="*/ 438280 w 513703"/>
              <a:gd name="connsiteY87" fmla="*/ 1040634 h 3624606"/>
              <a:gd name="connsiteX88" fmla="*/ 438280 w 513703"/>
              <a:gd name="connsiteY88" fmla="*/ 693756 h 3624606"/>
              <a:gd name="connsiteX89" fmla="*/ 513703 w 513703"/>
              <a:gd name="connsiteY89" fmla="*/ 769179 h 3624606"/>
              <a:gd name="connsiteX90" fmla="*/ 438280 w 513703"/>
              <a:gd name="connsiteY90" fmla="*/ 844602 h 3624606"/>
              <a:gd name="connsiteX91" fmla="*/ 362857 w 513703"/>
              <a:gd name="connsiteY91" fmla="*/ 769179 h 3624606"/>
              <a:gd name="connsiteX92" fmla="*/ 438280 w 513703"/>
              <a:gd name="connsiteY92" fmla="*/ 693756 h 3624606"/>
              <a:gd name="connsiteX93" fmla="*/ 75423 w 513703"/>
              <a:gd name="connsiteY93" fmla="*/ 693756 h 3624606"/>
              <a:gd name="connsiteX94" fmla="*/ 150846 w 513703"/>
              <a:gd name="connsiteY94" fmla="*/ 769179 h 3624606"/>
              <a:gd name="connsiteX95" fmla="*/ 75423 w 513703"/>
              <a:gd name="connsiteY95" fmla="*/ 844602 h 3624606"/>
              <a:gd name="connsiteX96" fmla="*/ 0 w 513703"/>
              <a:gd name="connsiteY96" fmla="*/ 769179 h 3624606"/>
              <a:gd name="connsiteX97" fmla="*/ 75423 w 513703"/>
              <a:gd name="connsiteY97" fmla="*/ 693756 h 3624606"/>
              <a:gd name="connsiteX98" fmla="*/ 75423 w 513703"/>
              <a:gd name="connsiteY98" fmla="*/ 346879 h 3624606"/>
              <a:gd name="connsiteX99" fmla="*/ 150846 w 513703"/>
              <a:gd name="connsiteY99" fmla="*/ 422302 h 3624606"/>
              <a:gd name="connsiteX100" fmla="*/ 75423 w 513703"/>
              <a:gd name="connsiteY100" fmla="*/ 497724 h 3624606"/>
              <a:gd name="connsiteX101" fmla="*/ 0 w 513703"/>
              <a:gd name="connsiteY101" fmla="*/ 422302 h 3624606"/>
              <a:gd name="connsiteX102" fmla="*/ 75423 w 513703"/>
              <a:gd name="connsiteY102" fmla="*/ 346879 h 3624606"/>
              <a:gd name="connsiteX103" fmla="*/ 438280 w 513703"/>
              <a:gd name="connsiteY103" fmla="*/ 346878 h 3624606"/>
              <a:gd name="connsiteX104" fmla="*/ 513703 w 513703"/>
              <a:gd name="connsiteY104" fmla="*/ 422301 h 3624606"/>
              <a:gd name="connsiteX105" fmla="*/ 438280 w 513703"/>
              <a:gd name="connsiteY105" fmla="*/ 497724 h 3624606"/>
              <a:gd name="connsiteX106" fmla="*/ 362857 w 513703"/>
              <a:gd name="connsiteY106" fmla="*/ 422301 h 3624606"/>
              <a:gd name="connsiteX107" fmla="*/ 438280 w 513703"/>
              <a:gd name="connsiteY107" fmla="*/ 346878 h 3624606"/>
              <a:gd name="connsiteX108" fmla="*/ 75423 w 513703"/>
              <a:gd name="connsiteY108" fmla="*/ 1 h 3624606"/>
              <a:gd name="connsiteX109" fmla="*/ 150846 w 513703"/>
              <a:gd name="connsiteY109" fmla="*/ 75424 h 3624606"/>
              <a:gd name="connsiteX110" fmla="*/ 75423 w 513703"/>
              <a:gd name="connsiteY110" fmla="*/ 150847 h 3624606"/>
              <a:gd name="connsiteX111" fmla="*/ 0 w 513703"/>
              <a:gd name="connsiteY111" fmla="*/ 75424 h 3624606"/>
              <a:gd name="connsiteX112" fmla="*/ 75423 w 513703"/>
              <a:gd name="connsiteY112" fmla="*/ 1 h 3624606"/>
              <a:gd name="connsiteX113" fmla="*/ 438280 w 513703"/>
              <a:gd name="connsiteY113" fmla="*/ 0 h 3624606"/>
              <a:gd name="connsiteX114" fmla="*/ 513703 w 513703"/>
              <a:gd name="connsiteY114" fmla="*/ 75424 h 3624606"/>
              <a:gd name="connsiteX115" fmla="*/ 438280 w 513703"/>
              <a:gd name="connsiteY115" fmla="*/ 150847 h 3624606"/>
              <a:gd name="connsiteX116" fmla="*/ 362857 w 513703"/>
              <a:gd name="connsiteY116" fmla="*/ 75424 h 3624606"/>
              <a:gd name="connsiteX117" fmla="*/ 438280 w 513703"/>
              <a:gd name="connsiteY117" fmla="*/ 0 h 362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513703" h="3624606">
                <a:moveTo>
                  <a:pt x="438280" y="3473760"/>
                </a:moveTo>
                <a:cubicBezTo>
                  <a:pt x="479935" y="3473760"/>
                  <a:pt x="513703" y="3507528"/>
                  <a:pt x="513703" y="3549183"/>
                </a:cubicBezTo>
                <a:cubicBezTo>
                  <a:pt x="513703" y="3590838"/>
                  <a:pt x="479935" y="3624606"/>
                  <a:pt x="438280" y="3624606"/>
                </a:cubicBezTo>
                <a:cubicBezTo>
                  <a:pt x="396625" y="3624606"/>
                  <a:pt x="362857" y="3590838"/>
                  <a:pt x="362857" y="3549183"/>
                </a:cubicBezTo>
                <a:cubicBezTo>
                  <a:pt x="362857" y="3507528"/>
                  <a:pt x="396625" y="3473760"/>
                  <a:pt x="438280" y="3473760"/>
                </a:cubicBezTo>
                <a:close/>
                <a:moveTo>
                  <a:pt x="75423" y="3473760"/>
                </a:moveTo>
                <a:cubicBezTo>
                  <a:pt x="117078" y="3473760"/>
                  <a:pt x="150846" y="3507528"/>
                  <a:pt x="150846" y="3549183"/>
                </a:cubicBezTo>
                <a:cubicBezTo>
                  <a:pt x="150846" y="3590838"/>
                  <a:pt x="117078" y="3624606"/>
                  <a:pt x="75423" y="3624606"/>
                </a:cubicBezTo>
                <a:cubicBezTo>
                  <a:pt x="33768" y="3624606"/>
                  <a:pt x="0" y="3590838"/>
                  <a:pt x="0" y="3549183"/>
                </a:cubicBezTo>
                <a:cubicBezTo>
                  <a:pt x="0" y="3507528"/>
                  <a:pt x="33768" y="3473760"/>
                  <a:pt x="75423" y="3473760"/>
                </a:cubicBezTo>
                <a:close/>
                <a:moveTo>
                  <a:pt x="438280" y="3126882"/>
                </a:moveTo>
                <a:cubicBezTo>
                  <a:pt x="479935" y="3126882"/>
                  <a:pt x="513703" y="3160650"/>
                  <a:pt x="513703" y="3202305"/>
                </a:cubicBezTo>
                <a:cubicBezTo>
                  <a:pt x="513703" y="3243960"/>
                  <a:pt x="479935" y="3277728"/>
                  <a:pt x="438280" y="3277728"/>
                </a:cubicBezTo>
                <a:cubicBezTo>
                  <a:pt x="396625" y="3277728"/>
                  <a:pt x="362857" y="3243960"/>
                  <a:pt x="362857" y="3202305"/>
                </a:cubicBezTo>
                <a:cubicBezTo>
                  <a:pt x="362857" y="3160650"/>
                  <a:pt x="396625" y="3126882"/>
                  <a:pt x="438280" y="3126882"/>
                </a:cubicBezTo>
                <a:close/>
                <a:moveTo>
                  <a:pt x="75423" y="3126882"/>
                </a:moveTo>
                <a:cubicBezTo>
                  <a:pt x="117078" y="3126882"/>
                  <a:pt x="150846" y="3160650"/>
                  <a:pt x="150846" y="3202305"/>
                </a:cubicBezTo>
                <a:cubicBezTo>
                  <a:pt x="150846" y="3243960"/>
                  <a:pt x="117078" y="3277728"/>
                  <a:pt x="75423" y="3277728"/>
                </a:cubicBezTo>
                <a:cubicBezTo>
                  <a:pt x="33768" y="3277728"/>
                  <a:pt x="0" y="3243960"/>
                  <a:pt x="0" y="3202305"/>
                </a:cubicBezTo>
                <a:cubicBezTo>
                  <a:pt x="0" y="3160650"/>
                  <a:pt x="33768" y="3126882"/>
                  <a:pt x="75423" y="3126882"/>
                </a:cubicBezTo>
                <a:close/>
                <a:moveTo>
                  <a:pt x="438280" y="2780004"/>
                </a:moveTo>
                <a:cubicBezTo>
                  <a:pt x="479935" y="2780004"/>
                  <a:pt x="513703" y="2813772"/>
                  <a:pt x="513703" y="2855427"/>
                </a:cubicBezTo>
                <a:cubicBezTo>
                  <a:pt x="513703" y="2897082"/>
                  <a:pt x="479935" y="2930850"/>
                  <a:pt x="438280" y="2930850"/>
                </a:cubicBezTo>
                <a:cubicBezTo>
                  <a:pt x="396625" y="2930850"/>
                  <a:pt x="362857" y="2897082"/>
                  <a:pt x="362857" y="2855427"/>
                </a:cubicBezTo>
                <a:cubicBezTo>
                  <a:pt x="362857" y="2813772"/>
                  <a:pt x="396625" y="2780004"/>
                  <a:pt x="438280" y="2780004"/>
                </a:cubicBezTo>
                <a:close/>
                <a:moveTo>
                  <a:pt x="75423" y="2780004"/>
                </a:moveTo>
                <a:cubicBezTo>
                  <a:pt x="117078" y="2780004"/>
                  <a:pt x="150846" y="2813772"/>
                  <a:pt x="150846" y="2855427"/>
                </a:cubicBezTo>
                <a:cubicBezTo>
                  <a:pt x="150846" y="2897082"/>
                  <a:pt x="117078" y="2930850"/>
                  <a:pt x="75423" y="2930850"/>
                </a:cubicBezTo>
                <a:cubicBezTo>
                  <a:pt x="33768" y="2930850"/>
                  <a:pt x="0" y="2897082"/>
                  <a:pt x="0" y="2855427"/>
                </a:cubicBezTo>
                <a:cubicBezTo>
                  <a:pt x="0" y="2813772"/>
                  <a:pt x="33768" y="2780004"/>
                  <a:pt x="75423" y="2780004"/>
                </a:cubicBezTo>
                <a:close/>
                <a:moveTo>
                  <a:pt x="438280" y="2433126"/>
                </a:moveTo>
                <a:cubicBezTo>
                  <a:pt x="479935" y="2433126"/>
                  <a:pt x="513703" y="2466894"/>
                  <a:pt x="513703" y="2508549"/>
                </a:cubicBezTo>
                <a:cubicBezTo>
                  <a:pt x="513703" y="2550204"/>
                  <a:pt x="479935" y="2583972"/>
                  <a:pt x="438280" y="2583972"/>
                </a:cubicBezTo>
                <a:cubicBezTo>
                  <a:pt x="396625" y="2583972"/>
                  <a:pt x="362857" y="2550204"/>
                  <a:pt x="362857" y="2508549"/>
                </a:cubicBezTo>
                <a:cubicBezTo>
                  <a:pt x="362857" y="2466894"/>
                  <a:pt x="396625" y="2433126"/>
                  <a:pt x="438280" y="2433126"/>
                </a:cubicBezTo>
                <a:close/>
                <a:moveTo>
                  <a:pt x="75423" y="2433126"/>
                </a:moveTo>
                <a:cubicBezTo>
                  <a:pt x="117078" y="2433126"/>
                  <a:pt x="150846" y="2466894"/>
                  <a:pt x="150846" y="2508549"/>
                </a:cubicBezTo>
                <a:cubicBezTo>
                  <a:pt x="150846" y="2550204"/>
                  <a:pt x="117078" y="2583972"/>
                  <a:pt x="75423" y="2583972"/>
                </a:cubicBezTo>
                <a:cubicBezTo>
                  <a:pt x="33768" y="2583972"/>
                  <a:pt x="0" y="2550204"/>
                  <a:pt x="0" y="2508549"/>
                </a:cubicBezTo>
                <a:cubicBezTo>
                  <a:pt x="0" y="2466894"/>
                  <a:pt x="33768" y="2433126"/>
                  <a:pt x="75423" y="2433126"/>
                </a:cubicBezTo>
                <a:close/>
                <a:moveTo>
                  <a:pt x="438280" y="2086248"/>
                </a:moveTo>
                <a:cubicBezTo>
                  <a:pt x="479935" y="2086248"/>
                  <a:pt x="513703" y="2120016"/>
                  <a:pt x="513703" y="2161671"/>
                </a:cubicBezTo>
                <a:cubicBezTo>
                  <a:pt x="513703" y="2203326"/>
                  <a:pt x="479935" y="2237094"/>
                  <a:pt x="438280" y="2237094"/>
                </a:cubicBezTo>
                <a:cubicBezTo>
                  <a:pt x="396625" y="2237094"/>
                  <a:pt x="362857" y="2203326"/>
                  <a:pt x="362857" y="2161671"/>
                </a:cubicBezTo>
                <a:cubicBezTo>
                  <a:pt x="362857" y="2120016"/>
                  <a:pt x="396625" y="2086248"/>
                  <a:pt x="438280" y="2086248"/>
                </a:cubicBezTo>
                <a:close/>
                <a:moveTo>
                  <a:pt x="75423" y="2086248"/>
                </a:moveTo>
                <a:cubicBezTo>
                  <a:pt x="117078" y="2086248"/>
                  <a:pt x="150846" y="2120016"/>
                  <a:pt x="150846" y="2161671"/>
                </a:cubicBezTo>
                <a:cubicBezTo>
                  <a:pt x="150846" y="2203326"/>
                  <a:pt x="117078" y="2237094"/>
                  <a:pt x="75423" y="2237094"/>
                </a:cubicBezTo>
                <a:cubicBezTo>
                  <a:pt x="33768" y="2237094"/>
                  <a:pt x="0" y="2203326"/>
                  <a:pt x="0" y="2161671"/>
                </a:cubicBezTo>
                <a:cubicBezTo>
                  <a:pt x="0" y="2120016"/>
                  <a:pt x="33768" y="2086248"/>
                  <a:pt x="75423" y="2086248"/>
                </a:cubicBezTo>
                <a:close/>
                <a:moveTo>
                  <a:pt x="438280" y="1734390"/>
                </a:moveTo>
                <a:cubicBezTo>
                  <a:pt x="479935" y="1734390"/>
                  <a:pt x="513703" y="1768158"/>
                  <a:pt x="513703" y="1809813"/>
                </a:cubicBezTo>
                <a:lnTo>
                  <a:pt x="513200" y="1812303"/>
                </a:lnTo>
                <a:lnTo>
                  <a:pt x="513703" y="1814793"/>
                </a:lnTo>
                <a:cubicBezTo>
                  <a:pt x="513703" y="1856448"/>
                  <a:pt x="479935" y="1890216"/>
                  <a:pt x="438280" y="1890216"/>
                </a:cubicBezTo>
                <a:cubicBezTo>
                  <a:pt x="396625" y="1890216"/>
                  <a:pt x="362857" y="1856448"/>
                  <a:pt x="362857" y="1814793"/>
                </a:cubicBezTo>
                <a:lnTo>
                  <a:pt x="363360" y="1812303"/>
                </a:lnTo>
                <a:lnTo>
                  <a:pt x="362857" y="1809813"/>
                </a:lnTo>
                <a:cubicBezTo>
                  <a:pt x="362857" y="1768158"/>
                  <a:pt x="396625" y="1734390"/>
                  <a:pt x="438280" y="1734390"/>
                </a:cubicBezTo>
                <a:close/>
                <a:moveTo>
                  <a:pt x="75423" y="1734390"/>
                </a:moveTo>
                <a:cubicBezTo>
                  <a:pt x="117078" y="1734390"/>
                  <a:pt x="150846" y="1768158"/>
                  <a:pt x="150846" y="1809813"/>
                </a:cubicBezTo>
                <a:lnTo>
                  <a:pt x="150343" y="1812303"/>
                </a:lnTo>
                <a:lnTo>
                  <a:pt x="150846" y="1814793"/>
                </a:lnTo>
                <a:cubicBezTo>
                  <a:pt x="150846" y="1856448"/>
                  <a:pt x="117078" y="1890216"/>
                  <a:pt x="75423" y="1890216"/>
                </a:cubicBezTo>
                <a:cubicBezTo>
                  <a:pt x="33768" y="1890216"/>
                  <a:pt x="0" y="1856448"/>
                  <a:pt x="0" y="1814793"/>
                </a:cubicBezTo>
                <a:lnTo>
                  <a:pt x="503" y="1812303"/>
                </a:lnTo>
                <a:lnTo>
                  <a:pt x="0" y="1809813"/>
                </a:lnTo>
                <a:cubicBezTo>
                  <a:pt x="0" y="1768158"/>
                  <a:pt x="33768" y="1734390"/>
                  <a:pt x="75423" y="1734390"/>
                </a:cubicBezTo>
                <a:close/>
                <a:moveTo>
                  <a:pt x="438280" y="1387512"/>
                </a:moveTo>
                <a:cubicBezTo>
                  <a:pt x="479935" y="1387512"/>
                  <a:pt x="513703" y="1421280"/>
                  <a:pt x="513703" y="1462935"/>
                </a:cubicBezTo>
                <a:cubicBezTo>
                  <a:pt x="513703" y="1504590"/>
                  <a:pt x="479935" y="1538358"/>
                  <a:pt x="438280" y="1538358"/>
                </a:cubicBezTo>
                <a:cubicBezTo>
                  <a:pt x="396625" y="1538358"/>
                  <a:pt x="362857" y="1504590"/>
                  <a:pt x="362857" y="1462935"/>
                </a:cubicBezTo>
                <a:cubicBezTo>
                  <a:pt x="362857" y="1421280"/>
                  <a:pt x="396625" y="1387512"/>
                  <a:pt x="438280" y="1387512"/>
                </a:cubicBezTo>
                <a:close/>
                <a:moveTo>
                  <a:pt x="75423" y="1387512"/>
                </a:moveTo>
                <a:cubicBezTo>
                  <a:pt x="117078" y="1387512"/>
                  <a:pt x="150846" y="1421280"/>
                  <a:pt x="150846" y="1462935"/>
                </a:cubicBezTo>
                <a:cubicBezTo>
                  <a:pt x="150846" y="1504590"/>
                  <a:pt x="117078" y="1538358"/>
                  <a:pt x="75423" y="1538358"/>
                </a:cubicBezTo>
                <a:cubicBezTo>
                  <a:pt x="33768" y="1538358"/>
                  <a:pt x="0" y="1504590"/>
                  <a:pt x="0" y="1462935"/>
                </a:cubicBezTo>
                <a:cubicBezTo>
                  <a:pt x="0" y="1421280"/>
                  <a:pt x="33768" y="1387512"/>
                  <a:pt x="75423" y="1387512"/>
                </a:cubicBezTo>
                <a:close/>
                <a:moveTo>
                  <a:pt x="75423" y="1040634"/>
                </a:moveTo>
                <a:cubicBezTo>
                  <a:pt x="117078" y="1040634"/>
                  <a:pt x="150846" y="1074403"/>
                  <a:pt x="150846" y="1116057"/>
                </a:cubicBezTo>
                <a:cubicBezTo>
                  <a:pt x="150846" y="1157713"/>
                  <a:pt x="117078" y="1191480"/>
                  <a:pt x="75423" y="1191480"/>
                </a:cubicBezTo>
                <a:cubicBezTo>
                  <a:pt x="33768" y="1191480"/>
                  <a:pt x="0" y="1157713"/>
                  <a:pt x="0" y="1116057"/>
                </a:cubicBezTo>
                <a:cubicBezTo>
                  <a:pt x="0" y="1074403"/>
                  <a:pt x="33768" y="1040634"/>
                  <a:pt x="75423" y="1040634"/>
                </a:cubicBezTo>
                <a:close/>
                <a:moveTo>
                  <a:pt x="438280" y="1040634"/>
                </a:moveTo>
                <a:cubicBezTo>
                  <a:pt x="479935" y="1040634"/>
                  <a:pt x="513703" y="1074402"/>
                  <a:pt x="513703" y="1116057"/>
                </a:cubicBezTo>
                <a:cubicBezTo>
                  <a:pt x="513703" y="1157712"/>
                  <a:pt x="479935" y="1191480"/>
                  <a:pt x="438280" y="1191480"/>
                </a:cubicBezTo>
                <a:cubicBezTo>
                  <a:pt x="396625" y="1191480"/>
                  <a:pt x="362857" y="1157712"/>
                  <a:pt x="362857" y="1116057"/>
                </a:cubicBezTo>
                <a:cubicBezTo>
                  <a:pt x="362857" y="1074402"/>
                  <a:pt x="396625" y="1040634"/>
                  <a:pt x="438280" y="1040634"/>
                </a:cubicBezTo>
                <a:close/>
                <a:moveTo>
                  <a:pt x="438280" y="693756"/>
                </a:moveTo>
                <a:cubicBezTo>
                  <a:pt x="479935" y="693756"/>
                  <a:pt x="513703" y="727524"/>
                  <a:pt x="513703" y="769179"/>
                </a:cubicBezTo>
                <a:cubicBezTo>
                  <a:pt x="513703" y="810834"/>
                  <a:pt x="479935" y="844602"/>
                  <a:pt x="438280" y="844602"/>
                </a:cubicBezTo>
                <a:cubicBezTo>
                  <a:pt x="396625" y="844602"/>
                  <a:pt x="362857" y="810834"/>
                  <a:pt x="362857" y="769179"/>
                </a:cubicBezTo>
                <a:cubicBezTo>
                  <a:pt x="362857" y="727524"/>
                  <a:pt x="396625" y="693756"/>
                  <a:pt x="438280" y="693756"/>
                </a:cubicBezTo>
                <a:close/>
                <a:moveTo>
                  <a:pt x="75423" y="693756"/>
                </a:moveTo>
                <a:cubicBezTo>
                  <a:pt x="117078" y="693756"/>
                  <a:pt x="150846" y="727525"/>
                  <a:pt x="150846" y="769179"/>
                </a:cubicBezTo>
                <a:cubicBezTo>
                  <a:pt x="150846" y="810834"/>
                  <a:pt x="117078" y="844602"/>
                  <a:pt x="75423" y="844602"/>
                </a:cubicBezTo>
                <a:cubicBezTo>
                  <a:pt x="33768" y="844602"/>
                  <a:pt x="0" y="810834"/>
                  <a:pt x="0" y="769179"/>
                </a:cubicBezTo>
                <a:cubicBezTo>
                  <a:pt x="0" y="727525"/>
                  <a:pt x="33768" y="693756"/>
                  <a:pt x="75423" y="693756"/>
                </a:cubicBezTo>
                <a:close/>
                <a:moveTo>
                  <a:pt x="75423" y="346879"/>
                </a:moveTo>
                <a:cubicBezTo>
                  <a:pt x="117078" y="346879"/>
                  <a:pt x="150846" y="380647"/>
                  <a:pt x="150846" y="422302"/>
                </a:cubicBezTo>
                <a:cubicBezTo>
                  <a:pt x="150846" y="463957"/>
                  <a:pt x="117078" y="497724"/>
                  <a:pt x="75423" y="497724"/>
                </a:cubicBezTo>
                <a:cubicBezTo>
                  <a:pt x="33768" y="497724"/>
                  <a:pt x="0" y="463957"/>
                  <a:pt x="0" y="422302"/>
                </a:cubicBezTo>
                <a:cubicBezTo>
                  <a:pt x="0" y="380647"/>
                  <a:pt x="33768" y="346879"/>
                  <a:pt x="75423" y="346879"/>
                </a:cubicBezTo>
                <a:close/>
                <a:moveTo>
                  <a:pt x="438280" y="346878"/>
                </a:moveTo>
                <a:cubicBezTo>
                  <a:pt x="479935" y="346878"/>
                  <a:pt x="513703" y="380646"/>
                  <a:pt x="513703" y="422301"/>
                </a:cubicBezTo>
                <a:cubicBezTo>
                  <a:pt x="513703" y="463956"/>
                  <a:pt x="479935" y="497724"/>
                  <a:pt x="438280" y="497724"/>
                </a:cubicBezTo>
                <a:cubicBezTo>
                  <a:pt x="396625" y="497724"/>
                  <a:pt x="362857" y="463956"/>
                  <a:pt x="362857" y="422301"/>
                </a:cubicBezTo>
                <a:cubicBezTo>
                  <a:pt x="362857" y="380646"/>
                  <a:pt x="396625" y="346878"/>
                  <a:pt x="438280" y="346878"/>
                </a:cubicBezTo>
                <a:close/>
                <a:moveTo>
                  <a:pt x="75423" y="1"/>
                </a:moveTo>
                <a:cubicBezTo>
                  <a:pt x="117078" y="1"/>
                  <a:pt x="150846" y="33769"/>
                  <a:pt x="150846" y="75424"/>
                </a:cubicBezTo>
                <a:cubicBezTo>
                  <a:pt x="150846" y="117079"/>
                  <a:pt x="117078" y="150847"/>
                  <a:pt x="75423" y="150847"/>
                </a:cubicBezTo>
                <a:cubicBezTo>
                  <a:pt x="33768" y="150847"/>
                  <a:pt x="0" y="117079"/>
                  <a:pt x="0" y="75424"/>
                </a:cubicBezTo>
                <a:cubicBezTo>
                  <a:pt x="0" y="33769"/>
                  <a:pt x="33768" y="1"/>
                  <a:pt x="75423" y="1"/>
                </a:cubicBezTo>
                <a:close/>
                <a:moveTo>
                  <a:pt x="438280" y="0"/>
                </a:moveTo>
                <a:cubicBezTo>
                  <a:pt x="479935" y="0"/>
                  <a:pt x="513703" y="33769"/>
                  <a:pt x="513703" y="75424"/>
                </a:cubicBezTo>
                <a:cubicBezTo>
                  <a:pt x="513703" y="117079"/>
                  <a:pt x="479935" y="150847"/>
                  <a:pt x="438280" y="150847"/>
                </a:cubicBezTo>
                <a:cubicBezTo>
                  <a:pt x="396625" y="150847"/>
                  <a:pt x="362857" y="117079"/>
                  <a:pt x="362857" y="75424"/>
                </a:cubicBezTo>
                <a:cubicBezTo>
                  <a:pt x="362857" y="33769"/>
                  <a:pt x="396625" y="0"/>
                  <a:pt x="438280" y="0"/>
                </a:cubicBezTo>
                <a:close/>
              </a:path>
            </a:pathLst>
          </a:custGeom>
          <a:gradFill>
            <a:gsLst>
              <a:gs pos="74000">
                <a:schemeClr val="accent2">
                  <a:alpha val="70000"/>
                </a:schemeClr>
              </a:gs>
              <a:gs pos="0">
                <a:schemeClr val="accent4">
                  <a:alpha val="7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243012" y="602297"/>
            <a:ext cx="4698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经典教材《计算机操作系统》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最新版</a:t>
            </a:r>
            <a:endParaRPr lang="zh-CN" altLang="en-US" sz="2200" b="1" dirty="0">
              <a:solidFill>
                <a:schemeClr val="accent2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475" y="2592475"/>
            <a:ext cx="2508000" cy="355424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6400" y="522760"/>
            <a:ext cx="527050" cy="5270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A6S0wzOvQ8a50SA42PUNRg"/>
</p:tagLst>
</file>

<file path=ppt/tags/tag3.xml><?xml version="1.0" encoding="utf-8"?>
<p:tagLst xmlns:p="http://schemas.openxmlformats.org/presentationml/2006/main">
  <p:tag name="KSO_WM_UNIT_TABLE_BEAUTIFY" val="smartTable{58a06314-7e72-4d48-85a8-7253ed818c17}"/>
</p:tagLst>
</file>

<file path=ppt/tags/tag4.xml><?xml version="1.0" encoding="utf-8"?>
<p:tagLst xmlns:p="http://schemas.openxmlformats.org/presentationml/2006/main">
  <p:tag name="TABLE_ENDDRAG_ORIGIN_RECT" val="337*257"/>
  <p:tag name="TABLE_ENDDRAG_RECT" val="337*159*337*257"/>
</p:tagLst>
</file>

<file path=ppt/tags/tag5.xml><?xml version="1.0" encoding="utf-8"?>
<p:tagLst xmlns:p="http://schemas.openxmlformats.org/presentationml/2006/main">
  <p:tag name="ISLIDE.DIAGRAM" val="272399"/>
</p:tagLst>
</file>

<file path=ppt/tags/tag6.xml><?xml version="1.0" encoding="utf-8"?>
<p:tagLst xmlns:p="http://schemas.openxmlformats.org/presentationml/2006/main">
  <p:tag name="ISLIDE.DIAGRAM" val="217641"/>
  <p:tag name="KSO_WM_DIAGRAM_VIRTUALLY_FRAME" val="{&quot;height&quot;:199.46314960629925,&quot;left&quot;:52.75,&quot;top&quot;:223.1167716535433,&quot;width&quot;:854}"/>
</p:tagLst>
</file>

<file path=ppt/tags/tag7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8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9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0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1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2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3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4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5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6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7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8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9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20.xml><?xml version="1.0" encoding="utf-8"?>
<p:tagLst xmlns:p="http://schemas.openxmlformats.org/presentationml/2006/main">
  <p:tag name="KSO_WM_UNIT_TABLE_BEAUTIFY" val="smartTable{34698344-16bc-4645-a054-ef1ddf63f9cd}"/>
</p:tagLst>
</file>

<file path=ppt/tags/tag21.xml><?xml version="1.0" encoding="utf-8"?>
<p:tagLst xmlns:p="http://schemas.openxmlformats.org/presentationml/2006/main">
  <p:tag name="ISLIDE.DIAGRAM" val="217641"/>
  <p:tag name="KSO_WM_DIAGRAM_VIRTUALLY_FRAME" val="{&quot;height&quot;:322.64889763779536,&quot;left&quot;:34.18,&quot;top&quot;:114.30787401574803,&quot;width&quot;:890.976062992126}"/>
</p:tagLst>
</file>

<file path=ppt/tags/tag22.xml><?xml version="1.0" encoding="utf-8"?>
<p:tagLst xmlns:p="http://schemas.openxmlformats.org/presentationml/2006/main">
  <p:tag name="KSO_WM_DIAGRAM_VIRTUALLY_FRAME" val="{&quot;height&quot;:322.64889763779536,&quot;left&quot;:34.18,&quot;top&quot;:114.30787401574803,&quot;width&quot;:890.976062992126}"/>
</p:tagLst>
</file>

<file path=ppt/tags/tag23.xml><?xml version="1.0" encoding="utf-8"?>
<p:tagLst xmlns:p="http://schemas.openxmlformats.org/presentationml/2006/main">
  <p:tag name="KSO_WM_DIAGRAM_VIRTUALLY_FRAME" val="{&quot;height&quot;:322.64889763779536,&quot;left&quot;:34.18,&quot;top&quot;:114.30787401574803,&quot;width&quot;:890.976062992126}"/>
</p:tagLst>
</file>

<file path=ppt/tags/tag24.xml><?xml version="1.0" encoding="utf-8"?>
<p:tagLst xmlns:p="http://schemas.openxmlformats.org/presentationml/2006/main">
  <p:tag name="KSO_WM_DIAGRAM_VIRTUALLY_FRAME" val="{&quot;height&quot;:322.64889763779536,&quot;left&quot;:34.18,&quot;top&quot;:114.30787401574803,&quot;width&quot;:890.976062992126}"/>
</p:tagLst>
</file>

<file path=ppt/tags/tag25.xml><?xml version="1.0" encoding="utf-8"?>
<p:tagLst xmlns:p="http://schemas.openxmlformats.org/presentationml/2006/main">
  <p:tag name="KSO_WM_DIAGRAM_VIRTUALLY_FRAME" val="{&quot;height&quot;:322.64889763779536,&quot;left&quot;:34.18,&quot;top&quot;:114.30787401574803,&quot;width&quot;:890.976062992126}"/>
</p:tagLst>
</file>

<file path=ppt/tags/tag26.xml><?xml version="1.0" encoding="utf-8"?>
<p:tagLst xmlns:p="http://schemas.openxmlformats.org/presentationml/2006/main">
  <p:tag name="KSO_WM_DIAGRAM_VIRTUALLY_FRAME" val="{&quot;height&quot;:322.64889763779536,&quot;left&quot;:34.18,&quot;top&quot;:114.30787401574803,&quot;width&quot;:890.976062992126}"/>
</p:tagLst>
</file>

<file path=ppt/tags/tag27.xml><?xml version="1.0" encoding="utf-8"?>
<p:tagLst xmlns:p="http://schemas.openxmlformats.org/presentationml/2006/main">
  <p:tag name="KSO_WM_DIAGRAM_VIRTUALLY_FRAME" val="{&quot;height&quot;:322.64889763779536,&quot;left&quot;:34.18,&quot;top&quot;:114.30787401574803,&quot;width&quot;:890.976062992126}"/>
</p:tagLst>
</file>

<file path=ppt/tags/tag28.xml><?xml version="1.0" encoding="utf-8"?>
<p:tagLst xmlns:p="http://schemas.openxmlformats.org/presentationml/2006/main">
  <p:tag name="KSO_WM_DIAGRAM_VIRTUALLY_FRAME" val="{&quot;height&quot;:322.64889763779536,&quot;left&quot;:34.18,&quot;top&quot;:114.30787401574803,&quot;width&quot;:890.976062992126}"/>
</p:tagLst>
</file>

<file path=ppt/tags/tag29.xml><?xml version="1.0" encoding="utf-8"?>
<p:tagLst xmlns:p="http://schemas.openxmlformats.org/presentationml/2006/main">
  <p:tag name="KSO_WM_DIAGRAM_VIRTUALLY_FRAME" val="{&quot;height&quot;:322.64889763779536,&quot;left&quot;:34.18,&quot;top&quot;:114.30787401574803,&quot;width&quot;:890.976062992126}"/>
</p:tagLst>
</file>

<file path=ppt/tags/tag30.xml><?xml version="1.0" encoding="utf-8"?>
<p:tagLst xmlns:p="http://schemas.openxmlformats.org/presentationml/2006/main">
  <p:tag name="KSO_WM_DIAGRAM_VIRTUALLY_FRAME" val="{&quot;height&quot;:322.64889763779536,&quot;left&quot;:34.18,&quot;top&quot;:114.30787401574803,&quot;width&quot;:890.976062992126}"/>
</p:tagLst>
</file>

<file path=ppt/tags/tag31.xml><?xml version="1.0" encoding="utf-8"?>
<p:tagLst xmlns:p="http://schemas.openxmlformats.org/presentationml/2006/main">
  <p:tag name="KSO_WM_DIAGRAM_VIRTUALLY_FRAME" val="{&quot;height&quot;:322.64889763779536,&quot;left&quot;:34.18,&quot;top&quot;:114.30787401574803,&quot;width&quot;:890.976062992126}"/>
</p:tagLst>
</file>

<file path=ppt/tags/tag32.xml><?xml version="1.0" encoding="utf-8"?>
<p:tagLst xmlns:p="http://schemas.openxmlformats.org/presentationml/2006/main">
  <p:tag name="KSO_WM_DIAGRAM_VIRTUALLY_FRAME" val="{&quot;height&quot;:322.64889763779536,&quot;left&quot;:34.18,&quot;top&quot;:114.30787401574803,&quot;width&quot;:890.976062992126}"/>
</p:tagLst>
</file>

<file path=ppt/tags/tag33.xml><?xml version="1.0" encoding="utf-8"?>
<p:tagLst xmlns:p="http://schemas.openxmlformats.org/presentationml/2006/main">
  <p:tag name="KSO_WM_DIAGRAM_VIRTUALLY_FRAME" val="{&quot;height&quot;:322.64889763779536,&quot;left&quot;:34.18,&quot;top&quot;:114.30787401574803,&quot;width&quot;:890.976062992126}"/>
</p:tagLst>
</file>

<file path=ppt/tags/tag34.xml><?xml version="1.0" encoding="utf-8"?>
<p:tagLst xmlns:p="http://schemas.openxmlformats.org/presentationml/2006/main">
  <p:tag name="KSO_WM_DIAGRAM_VIRTUALLY_FRAME" val="{&quot;height&quot;:322.64889763779536,&quot;left&quot;:34.18,&quot;top&quot;:114.30787401574803,&quot;width&quot;:890.976062992126}"/>
</p:tagLst>
</file>

<file path=ppt/tags/tag35.xml><?xml version="1.0" encoding="utf-8"?>
<p:tagLst xmlns:p="http://schemas.openxmlformats.org/presentationml/2006/main">
  <p:tag name="TABLE_ENDDRAG_ORIGIN_RECT" val="454*112"/>
  <p:tag name="TABLE_ENDDRAG_RECT" val="481*366*454*112"/>
</p:tagLst>
</file>

<file path=ppt/tags/tag36.xml><?xml version="1.0" encoding="utf-8"?>
<p:tagLst xmlns:p="http://schemas.openxmlformats.org/presentationml/2006/main">
  <p:tag name="TABLE_ENDDRAG_ORIGIN_RECT" val="436*172"/>
  <p:tag name="TABLE_ENDDRAG_RECT" val="144*195*436*172"/>
</p:tagLst>
</file>

<file path=ppt/tags/tag37.xml><?xml version="1.0" encoding="utf-8"?>
<p:tagLst xmlns:p="http://schemas.openxmlformats.org/presentationml/2006/main">
  <p:tag name="KSO_WM_UNIT_TABLE_BEAUTIFY" val="smartTable{d119d7f3-8e83-41e6-914e-edf994bbd65c}"/>
</p:tagLst>
</file>

<file path=ppt/tags/tag38.xml><?xml version="1.0" encoding="utf-8"?>
<p:tagLst xmlns:p="http://schemas.openxmlformats.org/presentationml/2006/main">
  <p:tag name="TABLE_ENDDRAG_ORIGIN_RECT" val="671*64"/>
  <p:tag name="TABLE_ENDDRAG_RECT" val="136*282*671*64"/>
</p:tagLst>
</file>

<file path=ppt/tags/tag39.xml><?xml version="1.0" encoding="utf-8"?>
<p:tagLst xmlns:p="http://schemas.openxmlformats.org/presentationml/2006/main">
  <p:tag name="TABLE_ENDDRAG_ORIGIN_RECT" val="233*230"/>
  <p:tag name="TABLE_ENDDRAG_RECT" val="144*195*233*230"/>
</p:tagLst>
</file>

<file path=ppt/tags/tag40.xml><?xml version="1.0" encoding="utf-8"?>
<p:tagLst xmlns:p="http://schemas.openxmlformats.org/presentationml/2006/main">
  <p:tag name="TABLE_ENDDRAG_ORIGIN_RECT" val="233*230"/>
  <p:tag name="TABLE_ENDDRAG_RECT" val="144*195*233*230"/>
</p:tagLst>
</file>

<file path=ppt/tags/tag41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731053035598_1_1"/>
  <p:tag name="KSO_WM_DIAGRAM_VIRTUALLY_FRAME" val="{&quot;height&quot;:330.65,&quot;left&quot;:55.95,&quot;top&quot;:231.1,&quot;width&quot;:492.1}"/>
</p:tagLst>
</file>

<file path=ppt/tags/tag42.xml><?xml version="1.0" encoding="utf-8"?>
<p:tagLst xmlns:p="http://schemas.openxmlformats.org/presentationml/2006/main">
  <p:tag name="TABLE_ENDDRAG_ORIGIN_RECT" val="207*215"/>
  <p:tag name="TABLE_ENDDRAG_RECT" val="127*251*207*215"/>
</p:tagLst>
</file>

<file path=ppt/tags/tag43.xml><?xml version="1.0" encoding="utf-8"?>
<p:tagLst xmlns:p="http://schemas.openxmlformats.org/presentationml/2006/main">
  <p:tag name="TABLE_ENDDRAG_ORIGIN_RECT" val="128*215"/>
  <p:tag name="TABLE_ENDDRAG_RECT" val="381*251*128*215"/>
</p:tagLst>
</file>

<file path=ppt/tags/tag44.xml><?xml version="1.0" encoding="utf-8"?>
<p:tagLst xmlns:p="http://schemas.openxmlformats.org/presentationml/2006/main">
  <p:tag name="ISLIDE.DIAGRAM" val="217641"/>
</p:tagLst>
</file>

<file path=ppt/tags/tag45.xml><?xml version="1.0" encoding="utf-8"?>
<p:tagLst xmlns:p="http://schemas.openxmlformats.org/presentationml/2006/main">
  <p:tag name="TABLE_ENDDRAG_ORIGIN_RECT" val="137*153"/>
  <p:tag name="TABLE_ENDDRAG_RECT" val="144*210*137*153"/>
</p:tagLst>
</file>

<file path=ppt/tags/tag46.xml><?xml version="1.0" encoding="utf-8"?>
<p:tagLst xmlns:p="http://schemas.openxmlformats.org/presentationml/2006/main">
  <p:tag name="TABLE_ENDDRAG_ORIGIN_RECT" val="100*261"/>
  <p:tag name="TABLE_ENDDRAG_RECT" val="315*432*100*261"/>
</p:tagLst>
</file>

<file path=ppt/tags/tag47.xml><?xml version="1.0" encoding="utf-8"?>
<p:tagLst xmlns:p="http://schemas.openxmlformats.org/presentationml/2006/main">
  <p:tag name="KSO_WM_UNIT_TABLE_BEAUTIFY" val="smartTable{14fd0115-66f3-4f27-85de-3efc3c4a2e21}"/>
</p:tagLst>
</file>

<file path=ppt/tags/tag48.xml><?xml version="1.0" encoding="utf-8"?>
<p:tagLst xmlns:p="http://schemas.openxmlformats.org/presentationml/2006/main">
  <p:tag name="THINKCELLSHAPEDONOTDELETE" val="thinkcellActiveDocDoNotDelete"/>
</p:tagLst>
</file>

<file path=ppt/tags/tag49.xml><?xml version="1.0" encoding="utf-8"?>
<p:tagLst xmlns:p="http://schemas.openxmlformats.org/presentationml/2006/main">
  <p:tag name="THINKCELLSHAPEDONOTDELETE" val="t1Smkff3fSzGMOuItfjj3Fw"/>
</p:tagLst>
</file>

<file path=ppt/tags/tag50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074baa65-1bcf-453b-aed6-4412331b316e"/>
  <p:tag name="commondata" val="eyJoZGlkIjoiMTI2MzkyNWJjYTkzNDEyZWIzZjgxMDk0NmQwN2JmMzYifQ=="/>
</p:tagLst>
</file>

<file path=ppt/theme/theme1.xml><?xml version="1.0" encoding="utf-8"?>
<a:theme xmlns:a="http://schemas.openxmlformats.org/drawingml/2006/main" name="主题5">
  <a:themeElements>
    <a:clrScheme name="自定义 15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7416B"/>
      </a:accent1>
      <a:accent2>
        <a:srgbClr val="FFC000"/>
      </a:accent2>
      <a:accent3>
        <a:srgbClr val="00002E"/>
      </a:accent3>
      <a:accent4>
        <a:srgbClr val="031684"/>
      </a:accent4>
      <a:accent5>
        <a:srgbClr val="969696"/>
      </a:accent5>
      <a:accent6>
        <a:srgbClr val="B2B2B2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9368</Words>
  <Application>WPS 演示</Application>
  <PresentationFormat>自定义</PresentationFormat>
  <Paragraphs>1695</Paragraphs>
  <Slides>75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75</vt:i4>
      </vt:variant>
    </vt:vector>
  </HeadingPairs>
  <TitlesOfParts>
    <vt:vector size="100" baseType="lpstr">
      <vt:lpstr>Arial</vt:lpstr>
      <vt:lpstr>宋体</vt:lpstr>
      <vt:lpstr>Wingdings</vt:lpstr>
      <vt:lpstr>微软雅黑</vt:lpstr>
      <vt:lpstr>微软雅黑 (正文)</vt:lpstr>
      <vt:lpstr>黑体</vt:lpstr>
      <vt:lpstr>华文楷体</vt:lpstr>
      <vt:lpstr>Monotype Sorts</vt:lpstr>
      <vt:lpstr>Wingdings</vt:lpstr>
      <vt:lpstr>Arial Unicode MS</vt:lpstr>
      <vt:lpstr>Calibri</vt:lpstr>
      <vt:lpstr>Times New Roman</vt:lpstr>
      <vt:lpstr>Wingdings 2</vt:lpstr>
      <vt:lpstr>CXChineseQuote</vt:lpstr>
      <vt:lpstr>Segoe Print</vt:lpstr>
      <vt:lpstr>Symbol</vt:lpstr>
      <vt:lpstr>-apple-system</vt:lpstr>
      <vt:lpstr>微软雅黑 Light</vt:lpstr>
      <vt:lpstr>Monotype Corsiva</vt:lpstr>
      <vt:lpstr>Javanese Text</vt:lpstr>
      <vt:lpstr>Haettenschweiler</vt:lpstr>
      <vt:lpstr>主题5</vt:lpstr>
      <vt:lpstr>TCLayout.ActiveDocument.1</vt:lpstr>
      <vt:lpstr>Equation.3</vt:lpstr>
      <vt:lpstr>TCLayout.ActiveDocument.1</vt:lpstr>
      <vt:lpstr>第5章 存储器管理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学 习 进 步 ！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沉默是金</cp:lastModifiedBy>
  <cp:revision>481</cp:revision>
  <cp:lastPrinted>2019-04-18T16:00:00Z</cp:lastPrinted>
  <dcterms:created xsi:type="dcterms:W3CDTF">2019-04-18T16:00:00Z</dcterms:created>
  <dcterms:modified xsi:type="dcterms:W3CDTF">2026-01-13T09:18:56Z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9C2B60289A0F4F5F8359767AB78A9D1D</vt:lpwstr>
  </property>
  <property fmtid="{D5CDD505-2E9C-101B-9397-08002B2CF9AE}" pid="4" name="KSOProductBuildVer">
    <vt:lpwstr>2052-12.1.0.23125</vt:lpwstr>
  </property>
</Properties>
</file>