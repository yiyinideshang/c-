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sldIdLst>
    <p:sldId id="311" r:id="rId3"/>
    <p:sldId id="312" r:id="rId4"/>
    <p:sldId id="501" r:id="rId5"/>
    <p:sldId id="315" r:id="rId6"/>
    <p:sldId id="296" r:id="rId7"/>
    <p:sldId id="417" r:id="rId8"/>
    <p:sldId id="521" r:id="rId9"/>
    <p:sldId id="510" r:id="rId10"/>
    <p:sldId id="418" r:id="rId11"/>
    <p:sldId id="297" r:id="rId12"/>
    <p:sldId id="362" r:id="rId13"/>
    <p:sldId id="363" r:id="rId14"/>
    <p:sldId id="364" r:id="rId15"/>
    <p:sldId id="369" r:id="rId16"/>
    <p:sldId id="365" r:id="rId17"/>
    <p:sldId id="516" r:id="rId18"/>
    <p:sldId id="505" r:id="rId19"/>
    <p:sldId id="511" r:id="rId20"/>
    <p:sldId id="520" r:id="rId21"/>
    <p:sldId id="512" r:id="rId22"/>
    <p:sldId id="513" r:id="rId23"/>
    <p:sldId id="514" r:id="rId24"/>
    <p:sldId id="515" r:id="rId25"/>
    <p:sldId id="372" r:id="rId26"/>
    <p:sldId id="508" r:id="rId27"/>
    <p:sldId id="509" r:id="rId28"/>
    <p:sldId id="374" r:id="rId29"/>
    <p:sldId id="502" r:id="rId31"/>
    <p:sldId id="519" r:id="rId32"/>
    <p:sldId id="535" r:id="rId33"/>
    <p:sldId id="424" r:id="rId34"/>
    <p:sldId id="375" r:id="rId35"/>
    <p:sldId id="534" r:id="rId36"/>
    <p:sldId id="380" r:id="rId37"/>
    <p:sldId id="381" r:id="rId38"/>
    <p:sldId id="518" r:id="rId39"/>
    <p:sldId id="522" r:id="rId40"/>
    <p:sldId id="383" r:id="rId41"/>
    <p:sldId id="523" r:id="rId42"/>
    <p:sldId id="384" r:id="rId43"/>
    <p:sldId id="385" r:id="rId44"/>
    <p:sldId id="386" r:id="rId45"/>
    <p:sldId id="387" r:id="rId46"/>
    <p:sldId id="524" r:id="rId47"/>
    <p:sldId id="388" r:id="rId48"/>
    <p:sldId id="390" r:id="rId49"/>
    <p:sldId id="527" r:id="rId50"/>
    <p:sldId id="394" r:id="rId51"/>
    <p:sldId id="305" r:id="rId52"/>
    <p:sldId id="531" r:id="rId53"/>
    <p:sldId id="532" r:id="rId54"/>
    <p:sldId id="533" r:id="rId55"/>
    <p:sldId id="526" r:id="rId56"/>
    <p:sldId id="396" r:id="rId57"/>
    <p:sldId id="397" r:id="rId58"/>
    <p:sldId id="398" r:id="rId59"/>
    <p:sldId id="525" r:id="rId60"/>
    <p:sldId id="399" r:id="rId61"/>
    <p:sldId id="301" r:id="rId62"/>
    <p:sldId id="303" r:id="rId63"/>
    <p:sldId id="400" r:id="rId64"/>
    <p:sldId id="503" r:id="rId65"/>
    <p:sldId id="335" r:id="rId66"/>
    <p:sldId id="317" r:id="rId67"/>
    <p:sldId id="402" r:id="rId68"/>
    <p:sldId id="320" r:id="rId69"/>
    <p:sldId id="261" r:id="rId70"/>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7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00005C"/>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82" autoAdjust="0"/>
  </p:normalViewPr>
  <p:slideViewPr>
    <p:cSldViewPr snapToGrid="0" showGuides="1">
      <p:cViewPr varScale="1">
        <p:scale>
          <a:sx n="114" d="100"/>
          <a:sy n="114" d="100"/>
        </p:scale>
        <p:origin x="-420" y="-108"/>
      </p:cViewPr>
      <p:guideLst>
        <p:guide orient="horz" pos="2076"/>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gs" Target="tags/tag61.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在类</a:t>
            </a:r>
            <a:r>
              <a:rPr lang="en-US" altLang="zh-CN"/>
              <a:t>UNIX</a:t>
            </a:r>
            <a:r>
              <a:rPr lang="zh-CN" altLang="en-US"/>
              <a:t>操作系统中，子进程是通过父进程创建的。子进程的结束和父进程的运行是一个异步过程</a:t>
            </a:r>
            <a:r>
              <a:rPr lang="en-US" altLang="zh-CN"/>
              <a:t>,</a:t>
            </a:r>
            <a:r>
              <a:rPr lang="zh-CN" altLang="en-US"/>
              <a:t>即父进程永远无法预测子进程</a:t>
            </a:r>
            <a:r>
              <a:rPr lang="en-US" altLang="zh-CN"/>
              <a:t> </a:t>
            </a:r>
            <a:r>
              <a:rPr lang="zh-CN" altLang="en-US"/>
              <a:t>到底什么时候结束。</a:t>
            </a:r>
            <a:endParaRPr lang="zh-CN" altLang="en-US"/>
          </a:p>
          <a:p>
            <a:r>
              <a:rPr lang="en-US" altLang="zh-CN"/>
              <a:t>1</a:t>
            </a:r>
            <a:r>
              <a:rPr lang="zh-CN" altLang="en-US"/>
              <a:t>、僵尸进程是当子进程比父进程先结束，而父进程又没有回收子进程，子进程占用资源没有释放，此时子进程将成为一个僵尸进程。</a:t>
            </a:r>
            <a:endParaRPr lang="zh-CN" altLang="en-US"/>
          </a:p>
          <a:p>
            <a:r>
              <a:rPr lang="en-US" altLang="zh-CN"/>
              <a:t>2</a:t>
            </a:r>
            <a:r>
              <a:rPr lang="zh-CN" altLang="en-US"/>
              <a:t>、当一个父进程终止，它的一个或多个子进程却还在运行，那么那些子进程将成为孤儿进程。为避免孤儿进程退出时无法释放所占用的资源而僵死，进程号为</a:t>
            </a:r>
            <a:r>
              <a:rPr lang="en-US" altLang="zh-CN"/>
              <a:t>1</a:t>
            </a:r>
            <a:r>
              <a:rPr lang="zh-CN" altLang="en-US"/>
              <a:t>的</a:t>
            </a:r>
            <a:r>
              <a:rPr lang="en-US" altLang="zh-CN"/>
              <a:t>init</a:t>
            </a:r>
            <a:r>
              <a:rPr lang="zh-CN" altLang="en-US"/>
              <a:t>进程将会接受这些孤儿进程，这一过程也被称为</a:t>
            </a:r>
            <a:r>
              <a:rPr lang="en-US" altLang="zh-CN"/>
              <a:t>“</a:t>
            </a:r>
            <a:r>
              <a:rPr lang="zh-CN" altLang="en-US"/>
              <a:t>收养</a:t>
            </a:r>
            <a:r>
              <a:rPr lang="en-US" altLang="zh-CN"/>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zh-CN" altLang="en-US"/>
              <a:t>、活动就绪</a:t>
            </a:r>
            <a:r>
              <a:rPr lang="en-US" altLang="zh-CN"/>
              <a:t>-&gt;</a:t>
            </a:r>
            <a:r>
              <a:rPr lang="zh-CN" altLang="en-US"/>
              <a:t>静止就绪，当进程处于未被挂起的就绪状态时，称为活动就绪状态；</a:t>
            </a:r>
            <a:r>
              <a:rPr lang="en-US" altLang="zh-CN"/>
              <a:t> </a:t>
            </a:r>
            <a:endParaRPr lang="en-US" altLang="zh-CN"/>
          </a:p>
          <a:p>
            <a:r>
              <a:rPr lang="zh-CN" altLang="en-US"/>
              <a:t>当挂起时，变为静止就绪状态，处于静止就绪状态的进程不接受调度。</a:t>
            </a:r>
            <a:endParaRPr lang="zh-CN" altLang="en-US"/>
          </a:p>
          <a:p>
            <a:r>
              <a:rPr lang="en-US" altLang="zh-CN"/>
              <a:t>2</a:t>
            </a:r>
            <a:r>
              <a:rPr lang="zh-CN" altLang="en-US"/>
              <a:t>、活动阻塞</a:t>
            </a:r>
            <a:r>
              <a:rPr lang="en-US" altLang="zh-CN"/>
              <a:t>-&gt;</a:t>
            </a:r>
            <a:r>
              <a:rPr lang="zh-CN" altLang="en-US"/>
              <a:t>静止阻塞，当进程处于未被挂起的阻塞状态时，称为活动阻塞状态；</a:t>
            </a:r>
            <a:endParaRPr lang="zh-CN" altLang="en-US"/>
          </a:p>
          <a:p>
            <a:r>
              <a:rPr lang="en-US" altLang="zh-CN"/>
              <a:t> </a:t>
            </a:r>
            <a:r>
              <a:rPr lang="zh-CN" altLang="en-US"/>
              <a:t>当挂起时，变为静止阻塞状态，处于该状态的进程在其所期待的事件发生后，将从静止阻塞变为静止就绪。</a:t>
            </a:r>
            <a:endParaRPr lang="zh-CN" altLang="en-US"/>
          </a:p>
          <a:p>
            <a:r>
              <a:rPr lang="en-US" altLang="zh-CN"/>
              <a:t>3</a:t>
            </a:r>
            <a:r>
              <a:rPr lang="zh-CN" altLang="en-US"/>
              <a:t>、静止就绪</a:t>
            </a:r>
            <a:r>
              <a:rPr lang="en-US" altLang="zh-CN"/>
              <a:t>-&gt;</a:t>
            </a:r>
            <a:r>
              <a:rPr lang="zh-CN" altLang="en-US"/>
              <a:t>活动就绪，使用激活原语激活。</a:t>
            </a:r>
            <a:endParaRPr lang="zh-CN" altLang="en-US"/>
          </a:p>
          <a:p>
            <a:r>
              <a:rPr lang="en-US" altLang="zh-CN"/>
              <a:t>4</a:t>
            </a:r>
            <a:r>
              <a:rPr lang="zh-CN" altLang="en-US"/>
              <a:t>、静止阻塞</a:t>
            </a:r>
            <a:r>
              <a:rPr lang="en-US" altLang="zh-CN"/>
              <a:t>-&gt;</a:t>
            </a:r>
            <a:r>
              <a:rPr lang="zh-CN" altLang="en-US"/>
              <a:t>活动阻塞，使用激活原语激活。</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创建：</a:t>
            </a:r>
            <a:r>
              <a:rPr lang="en-US" altLang="zh-CN"/>
              <a:t>Create</a:t>
            </a:r>
            <a:endParaRPr lang="en-US" altLang="zh-CN"/>
          </a:p>
          <a:p>
            <a:r>
              <a:rPr lang="zh-CN" altLang="en-US"/>
              <a:t>终止：</a:t>
            </a:r>
            <a:r>
              <a:rPr lang="en-US" altLang="zh-CN"/>
              <a:t>Kill</a:t>
            </a:r>
            <a:r>
              <a:rPr lang="zh-CN" altLang="en-US"/>
              <a:t>、</a:t>
            </a:r>
            <a:r>
              <a:rPr lang="en-US" altLang="zh-CN"/>
              <a:t>Abort</a:t>
            </a:r>
            <a:r>
              <a:rPr lang="zh-CN" altLang="en-US"/>
              <a:t>、</a:t>
            </a:r>
            <a:r>
              <a:rPr lang="en-US" altLang="zh-CN"/>
              <a:t>Exit</a:t>
            </a:r>
            <a:endParaRPr lang="en-US" altLang="zh-CN"/>
          </a:p>
          <a:p>
            <a:r>
              <a:rPr lang="zh-CN" altLang="en-US"/>
              <a:t>阻塞：</a:t>
            </a:r>
            <a:r>
              <a:rPr lang="en-US" altLang="zh-CN"/>
              <a:t>block</a:t>
            </a:r>
            <a:endParaRPr lang="en-US" altLang="zh-CN"/>
          </a:p>
          <a:p>
            <a:r>
              <a:rPr lang="zh-CN" altLang="en-US"/>
              <a:t>唤醒：</a:t>
            </a:r>
            <a:r>
              <a:rPr lang="en-US" altLang="zh-CN"/>
              <a:t>wakeup</a:t>
            </a:r>
            <a:endParaRPr lang="en-US" altLang="zh-CN"/>
          </a:p>
          <a:p>
            <a:r>
              <a:rPr lang="zh-CN" altLang="en-US"/>
              <a:t>挂起：</a:t>
            </a:r>
            <a:r>
              <a:rPr lang="en-US" altLang="zh-CN"/>
              <a:t>suspend</a:t>
            </a:r>
            <a:endParaRPr lang="en-US" altLang="zh-CN"/>
          </a:p>
          <a:p>
            <a:r>
              <a:rPr lang="zh-CN" altLang="en-US"/>
              <a:t>激活：</a:t>
            </a:r>
            <a:r>
              <a:rPr lang="en-US" altLang="zh-CN"/>
              <a:t>active</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父、子、祖先的</a:t>
            </a:r>
            <a:r>
              <a:rPr lang="zh-CN" altLang="en-US"/>
              <a:t>理解</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常见的异常事件包括越界错误、保护错、指令非法、特权指令错、运行超时、等待超时、算术运</a:t>
            </a:r>
            <a:endParaRPr lang="zh-CN" altLang="en-US"/>
          </a:p>
          <a:p>
            <a:r>
              <a:rPr lang="zh-CN" altLang="en-US"/>
              <a:t>算错、</a:t>
            </a:r>
            <a:r>
              <a:rPr lang="en-US" altLang="zh-CN"/>
              <a:t>I/O</a:t>
            </a:r>
            <a:r>
              <a:rPr lang="zh-CN" altLang="en-US"/>
              <a:t>故障等。</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1.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5" Type="http://schemas.openxmlformats.org/officeDocument/2006/relationships/slideLayout" Target="../slideLayouts/slideLayout3.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9" Type="http://schemas.openxmlformats.org/officeDocument/2006/relationships/notesSlide" Target="../notesSlides/notesSlide3.xml"/><Relationship Id="rId28" Type="http://schemas.openxmlformats.org/officeDocument/2006/relationships/slideLayout" Target="../slideLayouts/slideLayout3.xml"/><Relationship Id="rId27" Type="http://schemas.openxmlformats.org/officeDocument/2006/relationships/tags" Target="../tags/tag46.xml"/><Relationship Id="rId26" Type="http://schemas.openxmlformats.org/officeDocument/2006/relationships/tags" Target="../tags/tag45.xml"/><Relationship Id="rId25" Type="http://schemas.openxmlformats.org/officeDocument/2006/relationships/tags" Target="../tags/tag44.xml"/><Relationship Id="rId24" Type="http://schemas.openxmlformats.org/officeDocument/2006/relationships/tags" Target="../tags/tag43.xml"/><Relationship Id="rId23" Type="http://schemas.openxmlformats.org/officeDocument/2006/relationships/tags" Target="../tags/tag42.xml"/><Relationship Id="rId22" Type="http://schemas.openxmlformats.org/officeDocument/2006/relationships/tags" Target="../tags/tag41.xml"/><Relationship Id="rId21" Type="http://schemas.openxmlformats.org/officeDocument/2006/relationships/tags" Target="../tags/tag40.xml"/><Relationship Id="rId20" Type="http://schemas.openxmlformats.org/officeDocument/2006/relationships/tags" Target="../tags/tag39.xml"/><Relationship Id="rId2" Type="http://schemas.openxmlformats.org/officeDocument/2006/relationships/tags" Target="../tags/tag21.xml"/><Relationship Id="rId19" Type="http://schemas.openxmlformats.org/officeDocument/2006/relationships/tags" Target="../tags/tag38.xml"/><Relationship Id="rId18" Type="http://schemas.openxmlformats.org/officeDocument/2006/relationships/tags" Target="../tags/tag37.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4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0" Type="http://schemas.openxmlformats.org/officeDocument/2006/relationships/slideLayout" Target="../slideLayouts/slideLayout3.xml"/><Relationship Id="rId1" Type="http://schemas.openxmlformats.org/officeDocument/2006/relationships/tags" Target="../tags/tag4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7.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jpeg"/><Relationship Id="rId1" Type="http://schemas.openxmlformats.org/officeDocument/2006/relationships/tags" Target="../tags/tag5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7.jpeg"/><Relationship Id="rId3" Type="http://schemas.openxmlformats.org/officeDocument/2006/relationships/image" Target="../media/image24.jpeg"/><Relationship Id="rId2" Type="http://schemas.openxmlformats.org/officeDocument/2006/relationships/image" Target="../media/image26.jpeg"/><Relationship Id="rId1" Type="http://schemas.openxmlformats.org/officeDocument/2006/relationships/tags" Target="../tags/tag5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tags" Target="../tags/tag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t>第</a:t>
            </a:r>
            <a:r>
              <a:rPr lang="en-US" altLang="zh-CN" sz="4800" dirty="0"/>
              <a:t>2</a:t>
            </a:r>
            <a:r>
              <a:rPr lang="zh-CN" altLang="en-US" sz="4800" dirty="0"/>
              <a:t>章</a:t>
            </a:r>
            <a:br>
              <a:rPr lang="zh-CN" altLang="en-US" sz="4800" dirty="0"/>
            </a:br>
            <a:r>
              <a:rPr lang="zh-CN" altLang="en-US" sz="4800" dirty="0"/>
              <a:t>进程的描述与控制</a:t>
            </a:r>
            <a:endParaRPr lang="zh-CN" altLang="en-US" sz="2000" b="0" dirty="0"/>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1" name="矩形 10"/>
          <p:cNvSpPr/>
          <p:nvPr/>
        </p:nvSpPr>
        <p:spPr>
          <a:xfrm>
            <a:off x="1243012" y="589418"/>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主讲教师：解春燕</a:t>
            </a:r>
            <a:endParaRPr lang="zh-CN" altLang="en-US" b="1" dirty="0">
              <a:solidFill>
                <a:schemeClr val="tx1"/>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684121" y="5993053"/>
            <a:ext cx="2074491" cy="431799"/>
          </a:xfrm>
          <a:prstGeom prst="rect">
            <a:avLst/>
          </a:prstGeom>
        </p:spPr>
      </p:pic>
      <p:pic>
        <p:nvPicPr>
          <p:cNvPr id="14" name="图片 13"/>
          <p:cNvPicPr>
            <a:picLocks noChangeAspect="1"/>
          </p:cNvPicPr>
          <p:nvPr/>
        </p:nvPicPr>
        <p:blipFill>
          <a:blip r:embed="rId4"/>
          <a:stretch>
            <a:fillRect/>
          </a:stretch>
        </p:blipFill>
        <p:spPr>
          <a:xfrm>
            <a:off x="7055100" y="844791"/>
            <a:ext cx="3007096" cy="426154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13965" cy="52197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2</a:t>
            </a:r>
            <a:r>
              <a:rPr lang="zh-CN" altLang="en-US" sz="2800" b="1" dirty="0">
                <a:solidFill>
                  <a:schemeClr val="bg1"/>
                </a:solidFill>
              </a:rPr>
              <a:t>章知识导图</a:t>
            </a:r>
            <a:endParaRPr lang="zh-CN" altLang="en-US" sz="2800" b="1" dirty="0">
              <a:solidFill>
                <a:schemeClr val="bg1"/>
              </a:solidFill>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11" name="表格 10"/>
          <p:cNvGraphicFramePr/>
          <p:nvPr>
            <p:custDataLst>
              <p:tags r:id="rId2"/>
            </p:custDataLst>
          </p:nvPr>
        </p:nvGraphicFramePr>
        <p:xfrm>
          <a:off x="508000" y="1658960"/>
          <a:ext cx="3973848" cy="4754718"/>
        </p:xfrm>
        <a:graphic>
          <a:graphicData uri="http://schemas.openxmlformats.org/drawingml/2006/table">
            <a:tbl>
              <a:tblPr firstRow="1" bandRow="1">
                <a:tableStyleId>{72833802-FEF1-4C79-8D5D-14CF1EAF98D9}</a:tableStyleId>
              </a:tblPr>
              <a:tblGrid>
                <a:gridCol w="1162676"/>
                <a:gridCol w="2811172"/>
              </a:tblGrid>
              <a:tr h="479689">
                <a:tc>
                  <a:txBody>
                    <a:bodyPr/>
                    <a:lstStyle/>
                    <a:p>
                      <a:pPr indent="0" algn="ctr">
                        <a:lnSpc>
                          <a:spcPct val="100000"/>
                        </a:lnSpc>
                        <a:buNone/>
                      </a:pPr>
                      <a:r>
                        <a:rPr lang="en-US" sz="1600" b="0" kern="1200" dirty="0">
                          <a:solidFill>
                            <a:schemeClr val="tx1"/>
                          </a:solidFill>
                          <a:latin typeface="+mn-ea"/>
                          <a:ea typeface="+mn-ea"/>
                          <a:cs typeface="+mn-cs"/>
                        </a:rPr>
                        <a:t>第1章</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c>
                  <a:txBody>
                    <a:bodyPr/>
                    <a:lstStyle/>
                    <a:p>
                      <a:pPr indent="0" algn="l">
                        <a:lnSpc>
                          <a:spcPct val="100000"/>
                        </a:lnSpc>
                        <a:buNone/>
                      </a:pPr>
                      <a:r>
                        <a:rPr lang="en-US" sz="1600" b="0" kern="1200" dirty="0" err="1">
                          <a:solidFill>
                            <a:schemeClr val="tx1"/>
                          </a:solidFill>
                          <a:latin typeface="+mn-ea"/>
                          <a:ea typeface="+mn-ea"/>
                          <a:cs typeface="+mn-cs"/>
                        </a:rPr>
                        <a:t>操作系统引论</a:t>
                      </a:r>
                      <a:endParaRPr lang="en-US" altLang="en-US" sz="1600" b="0" kern="1200" dirty="0">
                        <a:solidFill>
                          <a:schemeClr val="tx1"/>
                        </a:solidFill>
                        <a:latin typeface="+mn-ea"/>
                        <a:ea typeface="+mn-ea"/>
                        <a:cs typeface="+mn-cs"/>
                      </a:endParaRPr>
                    </a:p>
                  </a:txBody>
                  <a:tcPr marL="51435" marR="51435" marT="0" marB="0" anchor="ctr">
                    <a:solidFill>
                      <a:schemeClr val="bg1"/>
                    </a:solidFill>
                  </a:tcPr>
                </a:tc>
              </a:tr>
              <a:tr h="379534">
                <a:tc>
                  <a:txBody>
                    <a:bodyPr/>
                    <a:lstStyle/>
                    <a:p>
                      <a:pPr indent="0" algn="ctr">
                        <a:lnSpc>
                          <a:spcPct val="100000"/>
                        </a:lnSpc>
                        <a:buNone/>
                      </a:pPr>
                      <a:r>
                        <a:rPr lang="en-US" sz="1600" b="1" kern="1200" dirty="0">
                          <a:solidFill>
                            <a:schemeClr val="bg1"/>
                          </a:solidFill>
                          <a:latin typeface="+mn-ea"/>
                          <a:ea typeface="+mn-ea"/>
                          <a:cs typeface="+mn-cs"/>
                        </a:rPr>
                        <a:t>第2章</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c>
                  <a:txBody>
                    <a:bodyPr/>
                    <a:lstStyle/>
                    <a:p>
                      <a:pPr indent="0" algn="l">
                        <a:lnSpc>
                          <a:spcPct val="100000"/>
                        </a:lnSpc>
                        <a:buNone/>
                      </a:pPr>
                      <a:r>
                        <a:rPr lang="en-US" sz="1600" b="1" kern="1200" dirty="0" err="1">
                          <a:solidFill>
                            <a:schemeClr val="bg1"/>
                          </a:solidFill>
                          <a:latin typeface="+mn-ea"/>
                          <a:ea typeface="+mn-ea"/>
                          <a:cs typeface="+mn-cs"/>
                        </a:rPr>
                        <a:t>进程的描述与控制</a:t>
                      </a:r>
                      <a:endParaRPr lang="en-US" altLang="en-US" sz="1600" b="1" kern="1200" dirty="0">
                        <a:solidFill>
                          <a:schemeClr val="bg1"/>
                        </a:solidFill>
                        <a:latin typeface="+mn-ea"/>
                        <a:ea typeface="+mn-ea"/>
                        <a:cs typeface="+mn-cs"/>
                      </a:endParaRPr>
                    </a:p>
                  </a:txBody>
                  <a:tcPr marL="51435" marR="51435" marT="0" marB="0" anchor="ctr">
                    <a:solidFill>
                      <a:schemeClr val="accent2"/>
                    </a:solidFill>
                  </a:tcPr>
                </a:tc>
              </a:tr>
              <a:tr h="379534">
                <a:tc>
                  <a:txBody>
                    <a:bodyPr/>
                    <a:lstStyle/>
                    <a:p>
                      <a:pPr indent="0" algn="ctr">
                        <a:lnSpc>
                          <a:spcPct val="100000"/>
                        </a:lnSpc>
                        <a:buNone/>
                      </a:pPr>
                      <a:r>
                        <a:rPr lang="en-US" sz="1600">
                          <a:latin typeface="+mn-ea"/>
                          <a:ea typeface="+mn-ea"/>
                        </a:rPr>
                        <a:t>第3章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处理机调度与死锁</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第4章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进程同步</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第5章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第6章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虚拟存储器</a:t>
                      </a:r>
                      <a:endParaRPr lang="en-US" altLang="en-US" sz="1600" b="0" dirty="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第7章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输入/输出系统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第8章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文件管理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第9章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磁盘存储器管理</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第10章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多处理机操作系统</a:t>
                      </a:r>
                      <a:endParaRPr lang="en-US" altLang="en-US" sz="1600" b="0">
                        <a:solidFill>
                          <a:srgbClr val="000000"/>
                        </a:solidFill>
                        <a:latin typeface="+mn-ea"/>
                        <a:ea typeface="+mn-ea"/>
                        <a:cs typeface="华文楷体" panose="02010600040101010101" charset="-122"/>
                      </a:endParaRPr>
                    </a:p>
                  </a:txBody>
                  <a:tcPr marL="51435" marR="51435" marT="0" marB="0" anchor="ctr"/>
                </a:tc>
              </a:tr>
              <a:tr h="379534">
                <a:tc>
                  <a:txBody>
                    <a:bodyPr/>
                    <a:lstStyle/>
                    <a:p>
                      <a:pPr indent="0" algn="ctr">
                        <a:lnSpc>
                          <a:spcPct val="100000"/>
                        </a:lnSpc>
                        <a:buNone/>
                      </a:pPr>
                      <a:r>
                        <a:rPr lang="en-US" sz="1600">
                          <a:latin typeface="+mn-ea"/>
                          <a:ea typeface="+mn-ea"/>
                        </a:rPr>
                        <a:t>第11章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a:latin typeface="+mn-ea"/>
                          <a:ea typeface="+mn-ea"/>
                        </a:rPr>
                        <a:t>虚拟化和云计算</a:t>
                      </a:r>
                      <a:endParaRPr lang="en-US" altLang="en-US" sz="1600" b="0">
                        <a:solidFill>
                          <a:srgbClr val="000000"/>
                        </a:solidFill>
                        <a:latin typeface="+mn-ea"/>
                        <a:ea typeface="+mn-ea"/>
                        <a:cs typeface="华文楷体" panose="02010600040101010101" charset="-122"/>
                      </a:endParaRPr>
                    </a:p>
                  </a:txBody>
                  <a:tcPr marL="51435" marR="51435" marT="0" marB="0" anchor="ctr"/>
                </a:tc>
              </a:tr>
              <a:tr h="479689">
                <a:tc>
                  <a:txBody>
                    <a:bodyPr/>
                    <a:lstStyle/>
                    <a:p>
                      <a:pPr indent="0" algn="ctr">
                        <a:lnSpc>
                          <a:spcPct val="100000"/>
                        </a:lnSpc>
                        <a:buNone/>
                      </a:pPr>
                      <a:r>
                        <a:rPr lang="en-US" sz="1600">
                          <a:latin typeface="+mn-ea"/>
                          <a:ea typeface="+mn-ea"/>
                        </a:rPr>
                        <a:t>第12章</a:t>
                      </a:r>
                      <a:endParaRPr lang="en-US" altLang="en-US" sz="1600" b="0">
                        <a:solidFill>
                          <a:srgbClr val="000000"/>
                        </a:solidFill>
                        <a:latin typeface="+mn-ea"/>
                        <a:ea typeface="+mn-ea"/>
                        <a:cs typeface="华文楷体" panose="02010600040101010101" charset="-122"/>
                      </a:endParaRPr>
                    </a:p>
                  </a:txBody>
                  <a:tcPr marL="51435" marR="51435" marT="0" marB="0" anchor="ctr"/>
                </a:tc>
                <a:tc>
                  <a:txBody>
                    <a:bodyPr/>
                    <a:lstStyle/>
                    <a:p>
                      <a:pPr indent="0" algn="l">
                        <a:lnSpc>
                          <a:spcPct val="100000"/>
                        </a:lnSpc>
                        <a:buNone/>
                      </a:pPr>
                      <a:r>
                        <a:rPr lang="en-US" sz="1600" dirty="0" err="1">
                          <a:latin typeface="+mn-ea"/>
                          <a:ea typeface="+mn-ea"/>
                        </a:rPr>
                        <a:t>保护和安全</a:t>
                      </a:r>
                      <a:endParaRPr lang="en-US" altLang="en-US" sz="1600" b="0" dirty="0">
                        <a:solidFill>
                          <a:srgbClr val="000000"/>
                        </a:solidFill>
                        <a:latin typeface="+mn-ea"/>
                        <a:ea typeface="+mn-ea"/>
                        <a:cs typeface="华文楷体" panose="02010600040101010101" charset="-122"/>
                      </a:endParaRPr>
                    </a:p>
                  </a:txBody>
                  <a:tcPr marL="51435" marR="51435" marT="0" marB="0" anchor="ctr"/>
                </a:tc>
              </a:tr>
            </a:tbl>
          </a:graphicData>
        </a:graphic>
      </p:graphicFrame>
      <p:sp>
        <p:nvSpPr>
          <p:cNvPr id="3" name="矩形 2"/>
          <p:cNvSpPr/>
          <p:nvPr/>
        </p:nvSpPr>
        <p:spPr>
          <a:xfrm>
            <a:off x="4678680" y="935990"/>
            <a:ext cx="6746240" cy="5286375"/>
          </a:xfrm>
          <a:prstGeom prst="rect">
            <a:avLst/>
          </a:prstGeom>
        </p:spPr>
        <p:txBody>
          <a:bodyPr wrap="none">
            <a:noAutofit/>
          </a:bodyPr>
          <a:p>
            <a:pPr marL="342900" indent="-342900" algn="l">
              <a:lnSpc>
                <a:spcPct val="150000"/>
              </a:lnSpc>
              <a:buFont typeface="Arial" panose="020B0604020202020204" pitchFamily="34" charset="0"/>
              <a:buChar char="•"/>
            </a:pPr>
            <a:r>
              <a:rPr lang="en-US" altLang="zh-CN" sz="2000" dirty="0">
                <a:solidFill>
                  <a:srgbClr val="000000"/>
                </a:solidFill>
              </a:rPr>
              <a:t>2</a:t>
            </a:r>
            <a:r>
              <a:rPr lang="zh-CN" altLang="en-US" sz="2000" dirty="0">
                <a:solidFill>
                  <a:srgbClr val="000000"/>
                </a:solidFill>
              </a:rPr>
              <a:t>、</a:t>
            </a:r>
            <a:r>
              <a:rPr lang="en-US" altLang="zh-CN" sz="2000" dirty="0">
                <a:solidFill>
                  <a:srgbClr val="000000"/>
                </a:solidFill>
              </a:rPr>
              <a:t>3</a:t>
            </a:r>
            <a:r>
              <a:rPr lang="zh-CN" altLang="en-US" sz="2000" dirty="0">
                <a:solidFill>
                  <a:srgbClr val="000000"/>
                </a:solidFill>
              </a:rPr>
              <a:t>、</a:t>
            </a:r>
            <a:r>
              <a:rPr lang="en-US" altLang="zh-CN" sz="2000" dirty="0">
                <a:solidFill>
                  <a:srgbClr val="000000"/>
                </a:solidFill>
              </a:rPr>
              <a:t>4</a:t>
            </a:r>
            <a:r>
              <a:rPr lang="zh-CN" altLang="en-US" sz="2000" dirty="0">
                <a:solidFill>
                  <a:srgbClr val="000000"/>
                </a:solidFill>
              </a:rPr>
              <a:t>章属于处理器管理功能</a:t>
            </a:r>
            <a:endParaRPr lang="zh-CN" altLang="en-US" sz="2000" dirty="0">
              <a:solidFill>
                <a:srgbClr val="000000"/>
              </a:solidFill>
            </a:endParaRPr>
          </a:p>
          <a:p>
            <a:pPr marL="342900" indent="-342900" algn="l">
              <a:lnSpc>
                <a:spcPct val="150000"/>
              </a:lnSpc>
              <a:buFont typeface="Arial" panose="020B0604020202020204" pitchFamily="34" charset="0"/>
              <a:buChar char="•"/>
            </a:pPr>
            <a:endParaRPr lang="zh-CN" altLang="en-US" sz="2000" dirty="0">
              <a:solidFill>
                <a:srgbClr val="000000"/>
              </a:solidFill>
            </a:endParaRPr>
          </a:p>
          <a:p>
            <a:pPr marL="342900" indent="-342900" algn="l">
              <a:lnSpc>
                <a:spcPct val="150000"/>
              </a:lnSpc>
              <a:buFont typeface="Arial" panose="020B0604020202020204" pitchFamily="34" charset="0"/>
              <a:buChar char="•"/>
            </a:pPr>
            <a:r>
              <a:rPr lang="zh-CN" altLang="en-US" sz="2000" dirty="0">
                <a:solidFill>
                  <a:srgbClr val="000000"/>
                </a:solidFill>
              </a:rPr>
              <a:t>第</a:t>
            </a:r>
            <a:r>
              <a:rPr lang="en-US" altLang="zh-CN" sz="2000" dirty="0">
                <a:solidFill>
                  <a:srgbClr val="000000"/>
                </a:solidFill>
              </a:rPr>
              <a:t>2</a:t>
            </a:r>
            <a:r>
              <a:rPr lang="zh-CN" altLang="en-US" sz="2000" dirty="0">
                <a:solidFill>
                  <a:srgbClr val="000000"/>
                </a:solidFill>
              </a:rPr>
              <a:t>章一般</a:t>
            </a:r>
            <a:r>
              <a:rPr lang="zh-CN" altLang="en-US" sz="2000" dirty="0">
                <a:solidFill>
                  <a:srgbClr val="000000"/>
                </a:solidFill>
                <a:sym typeface="+mn-ea"/>
              </a:rPr>
              <a:t>考</a:t>
            </a:r>
            <a:r>
              <a:rPr lang="en-US" altLang="zh-CN" sz="2000" dirty="0">
                <a:solidFill>
                  <a:srgbClr val="000000"/>
                </a:solidFill>
              </a:rPr>
              <a:t>1</a:t>
            </a:r>
            <a:r>
              <a:rPr lang="zh-CN" altLang="en-US" sz="2000" dirty="0">
                <a:solidFill>
                  <a:srgbClr val="000000"/>
                </a:solidFill>
              </a:rPr>
              <a:t>道</a:t>
            </a:r>
            <a:r>
              <a:rPr lang="zh-CN" altLang="en-US" sz="2000" dirty="0">
                <a:solidFill>
                  <a:srgbClr val="000000"/>
                </a:solidFill>
                <a:sym typeface="+mn-ea"/>
              </a:rPr>
              <a:t>概念</a:t>
            </a:r>
            <a:r>
              <a:rPr lang="zh-CN" altLang="en-US" sz="2000" dirty="0">
                <a:solidFill>
                  <a:srgbClr val="000000"/>
                </a:solidFill>
              </a:rPr>
              <a:t>选择题，</a:t>
            </a:r>
            <a:endParaRPr lang="zh-CN" altLang="en-US" sz="2000" dirty="0">
              <a:solidFill>
                <a:srgbClr val="000000"/>
              </a:solidFill>
            </a:endParaRPr>
          </a:p>
          <a:p>
            <a:pPr indent="0" algn="l">
              <a:lnSpc>
                <a:spcPct val="150000"/>
              </a:lnSpc>
              <a:buFont typeface="Wingdings" panose="05000000000000000000" charset="0"/>
              <a:buNone/>
            </a:pPr>
            <a:r>
              <a:rPr lang="zh-CN" altLang="en-US" sz="2000" dirty="0">
                <a:solidFill>
                  <a:srgbClr val="000000"/>
                </a:solidFill>
              </a:rPr>
              <a:t>与其他章节内容结合，可能会出</a:t>
            </a:r>
            <a:r>
              <a:rPr lang="en-US" altLang="zh-CN" sz="2000" dirty="0">
                <a:solidFill>
                  <a:srgbClr val="000000"/>
                </a:solidFill>
              </a:rPr>
              <a:t>2</a:t>
            </a:r>
            <a:r>
              <a:rPr lang="zh-CN" altLang="en-US" sz="2000" dirty="0">
                <a:solidFill>
                  <a:srgbClr val="000000"/>
                </a:solidFill>
              </a:rPr>
              <a:t>道选择题。</a:t>
            </a:r>
            <a:endParaRPr lang="zh-CN" altLang="en-US" sz="2000" dirty="0">
              <a:solidFill>
                <a:srgbClr val="000000"/>
              </a:solidFill>
            </a:endParaRPr>
          </a:p>
          <a:p>
            <a:pPr indent="0" algn="l">
              <a:lnSpc>
                <a:spcPct val="150000"/>
              </a:lnSpc>
              <a:buFont typeface="Wingdings" panose="05000000000000000000" charset="0"/>
              <a:buNone/>
            </a:pPr>
            <a:endParaRPr lang="zh-CN" altLang="en-US" sz="2000" dirty="0">
              <a:solidFill>
                <a:srgbClr val="000000"/>
              </a:solidFill>
            </a:endParaRPr>
          </a:p>
          <a:p>
            <a:pPr marL="342900" indent="-342900" algn="l">
              <a:lnSpc>
                <a:spcPct val="150000"/>
              </a:lnSpc>
              <a:buFont typeface="Arial" panose="020B0604020202020204" pitchFamily="34" charset="0"/>
              <a:buChar char="•"/>
            </a:pPr>
            <a:r>
              <a:rPr lang="zh-CN" altLang="en-US" sz="2000" dirty="0">
                <a:solidFill>
                  <a:srgbClr val="000000"/>
                </a:solidFill>
              </a:rPr>
              <a:t>第</a:t>
            </a:r>
            <a:r>
              <a:rPr lang="en-US" altLang="zh-CN" sz="2000" dirty="0">
                <a:solidFill>
                  <a:srgbClr val="000000"/>
                </a:solidFill>
              </a:rPr>
              <a:t>3</a:t>
            </a:r>
            <a:r>
              <a:rPr lang="zh-CN" altLang="en-US" sz="2000" dirty="0">
                <a:solidFill>
                  <a:srgbClr val="000000"/>
                </a:solidFill>
              </a:rPr>
              <a:t>章考查调度相关的概念和</a:t>
            </a:r>
            <a:r>
              <a:rPr lang="zh-CN" altLang="en-US" sz="2000" dirty="0">
                <a:solidFill>
                  <a:srgbClr val="000000"/>
                </a:solidFill>
              </a:rPr>
              <a:t>算法计算，一般</a:t>
            </a:r>
            <a:r>
              <a:rPr lang="en-US" altLang="zh-CN" sz="2000" dirty="0">
                <a:solidFill>
                  <a:srgbClr val="000000"/>
                </a:solidFill>
              </a:rPr>
              <a:t>1</a:t>
            </a:r>
            <a:r>
              <a:rPr lang="zh-CN" altLang="en-US" sz="2000" dirty="0">
                <a:solidFill>
                  <a:srgbClr val="000000"/>
                </a:solidFill>
              </a:rPr>
              <a:t>道选择题。</a:t>
            </a:r>
            <a:endParaRPr lang="zh-CN" altLang="en-US" sz="2000" dirty="0">
              <a:solidFill>
                <a:srgbClr val="000000"/>
              </a:solidFill>
            </a:endParaRPr>
          </a:p>
          <a:p>
            <a:pPr indent="0" algn="l">
              <a:lnSpc>
                <a:spcPct val="150000"/>
              </a:lnSpc>
              <a:buFont typeface="Arial" panose="020B0604020202020204" pitchFamily="34" charset="0"/>
              <a:buNone/>
            </a:pPr>
            <a:r>
              <a:rPr lang="zh-CN" altLang="en-US" dirty="0">
                <a:solidFill>
                  <a:srgbClr val="FF0000"/>
                </a:solidFill>
              </a:rPr>
              <a:t>2016年考过一次综合题。</a:t>
            </a:r>
            <a:endParaRPr lang="zh-CN" altLang="en-US" dirty="0">
              <a:solidFill>
                <a:srgbClr val="FF0000"/>
              </a:solidFill>
            </a:endParaRPr>
          </a:p>
          <a:p>
            <a:pPr indent="0" algn="l">
              <a:lnSpc>
                <a:spcPct val="150000"/>
              </a:lnSpc>
              <a:buFont typeface="Arial" panose="020B0604020202020204" pitchFamily="34" charset="0"/>
              <a:buNone/>
            </a:pPr>
            <a:r>
              <a:rPr lang="zh-CN" altLang="en-US" sz="2000" dirty="0">
                <a:solidFill>
                  <a:srgbClr val="000000"/>
                </a:solidFill>
              </a:rPr>
              <a:t>死锁平均每年</a:t>
            </a:r>
            <a:r>
              <a:rPr lang="en-US" altLang="zh-CN" sz="2000" dirty="0">
                <a:solidFill>
                  <a:srgbClr val="000000"/>
                </a:solidFill>
              </a:rPr>
              <a:t>1</a:t>
            </a:r>
            <a:r>
              <a:rPr lang="zh-CN" altLang="en-US" sz="2000" dirty="0">
                <a:solidFill>
                  <a:srgbClr val="000000"/>
                </a:solidFill>
              </a:rPr>
              <a:t>道选择题</a:t>
            </a:r>
            <a:endParaRPr lang="zh-CN" altLang="en-US" sz="2000" dirty="0">
              <a:solidFill>
                <a:srgbClr val="000000"/>
              </a:solidFill>
            </a:endParaRPr>
          </a:p>
          <a:p>
            <a:pPr indent="0" algn="l">
              <a:lnSpc>
                <a:spcPct val="150000"/>
              </a:lnSpc>
              <a:buFont typeface="Arial" panose="020B0604020202020204" pitchFamily="34" charset="0"/>
              <a:buNone/>
            </a:pPr>
            <a:endParaRPr lang="zh-CN" altLang="en-US" sz="2000" dirty="0">
              <a:solidFill>
                <a:srgbClr val="000000"/>
              </a:solidFill>
            </a:endParaRPr>
          </a:p>
          <a:p>
            <a:pPr marL="342900" indent="-342900" algn="l">
              <a:lnSpc>
                <a:spcPct val="150000"/>
              </a:lnSpc>
              <a:buFont typeface="Arial" panose="020B0604020202020204" pitchFamily="34" charset="0"/>
              <a:buChar char="•"/>
            </a:pPr>
            <a:r>
              <a:rPr lang="zh-CN" altLang="en-US" sz="2000" dirty="0">
                <a:solidFill>
                  <a:srgbClr val="000000"/>
                </a:solidFill>
              </a:rPr>
              <a:t>第</a:t>
            </a:r>
            <a:r>
              <a:rPr lang="en-US" altLang="zh-CN" sz="2000" dirty="0">
                <a:solidFill>
                  <a:srgbClr val="000000"/>
                </a:solidFill>
              </a:rPr>
              <a:t>4</a:t>
            </a:r>
            <a:r>
              <a:rPr lang="zh-CN" altLang="en-US" sz="2000" dirty="0">
                <a:solidFill>
                  <a:srgbClr val="000000"/>
                </a:solidFill>
              </a:rPr>
              <a:t>章十分重要</a:t>
            </a:r>
            <a:endParaRPr lang="zh-CN" altLang="en-US" sz="2000" dirty="0">
              <a:solidFill>
                <a:srgbClr val="000000"/>
              </a:solidFill>
            </a:endParaRPr>
          </a:p>
          <a:p>
            <a:pPr indent="0" algn="l">
              <a:lnSpc>
                <a:spcPct val="150000"/>
              </a:lnSpc>
              <a:buFont typeface="Arial" panose="020B0604020202020204" pitchFamily="34" charset="0"/>
              <a:buNone/>
            </a:pPr>
            <a:r>
              <a:rPr lang="zh-CN" altLang="en-US" sz="2000" dirty="0">
                <a:solidFill>
                  <a:srgbClr val="000000"/>
                </a:solidFill>
              </a:rPr>
              <a:t>几乎每年都会考</a:t>
            </a:r>
            <a:r>
              <a:rPr lang="en-US" altLang="zh-CN" sz="2000" dirty="0">
                <a:solidFill>
                  <a:srgbClr val="000000"/>
                </a:solidFill>
              </a:rPr>
              <a:t>1</a:t>
            </a:r>
            <a:r>
              <a:rPr lang="zh-CN" altLang="en-US" sz="2000" dirty="0">
                <a:solidFill>
                  <a:srgbClr val="000000"/>
                </a:solidFill>
              </a:rPr>
              <a:t>道7分左右的综合应用题。</a:t>
            </a:r>
            <a:endParaRPr lang="zh-CN" altLang="en-US" sz="2000" dirty="0">
              <a:solidFill>
                <a:srgbClr val="000000"/>
              </a:solidFill>
            </a:endParaRPr>
          </a:p>
          <a:p>
            <a:pPr indent="0" algn="l">
              <a:lnSpc>
                <a:spcPct val="150000"/>
              </a:lnSpc>
              <a:buFont typeface="Arial" panose="020B0604020202020204" pitchFamily="34" charset="0"/>
              <a:buNone/>
            </a:pPr>
            <a:r>
              <a:rPr lang="zh-CN" altLang="en-US" sz="2000" dirty="0">
                <a:solidFill>
                  <a:srgbClr val="000000"/>
                </a:solidFill>
              </a:rPr>
              <a:t>客观题形式考</a:t>
            </a:r>
            <a:r>
              <a:rPr lang="zh-CN" altLang="en-US" sz="2000" dirty="0">
                <a:solidFill>
                  <a:srgbClr val="000000"/>
                </a:solidFill>
                <a:sym typeface="+mn-ea"/>
              </a:rPr>
              <a:t>查</a:t>
            </a:r>
            <a:r>
              <a:rPr lang="zh-CN" altLang="en-US" sz="2000" dirty="0">
                <a:solidFill>
                  <a:srgbClr val="000000"/>
                </a:solidFill>
              </a:rPr>
              <a:t>临界资源与临界区、同步与互斥等基本概念</a:t>
            </a:r>
            <a:endParaRPr lang="zh-CN" altLang="en-US" sz="2000" dirty="0">
              <a:solidFill>
                <a:srgbClr val="000000"/>
              </a:solidFill>
            </a:endParaRPr>
          </a:p>
          <a:p>
            <a:pPr marL="342900" indent="-342900" algn="l">
              <a:buFont typeface="Wingdings" panose="05000000000000000000" charset="0"/>
              <a:buChar char="l"/>
            </a:pPr>
            <a:endParaRPr lang="en-US" altLang="zh-CN" sz="2000" dirty="0">
              <a:solidFill>
                <a:srgbClr val="0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13965" cy="52197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2</a:t>
            </a:r>
            <a:r>
              <a:rPr lang="zh-CN" altLang="en-US" sz="2800" b="1" dirty="0">
                <a:solidFill>
                  <a:schemeClr val="bg1"/>
                </a:solidFill>
              </a:rPr>
              <a:t>章知识导图</a:t>
            </a:r>
            <a:endParaRPr lang="zh-CN" altLang="en-US" sz="2800" b="1" dirty="0">
              <a:solidFill>
                <a:schemeClr val="bg1"/>
              </a:solidFill>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4" name="图片 3" descr="第2章 知识导图"/>
          <p:cNvPicPr>
            <a:picLocks noChangeAspect="1"/>
          </p:cNvPicPr>
          <p:nvPr/>
        </p:nvPicPr>
        <p:blipFill>
          <a:blip r:embed="rId2"/>
          <a:stretch>
            <a:fillRect/>
          </a:stretch>
        </p:blipFill>
        <p:spPr>
          <a:xfrm>
            <a:off x="2038350" y="779780"/>
            <a:ext cx="8432800" cy="602043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solidFill>
                  <a:srgbClr val="0000FF"/>
                </a:solidFill>
                <a:latin typeface="+mj-ea"/>
                <a:ea typeface="+mj-ea"/>
              </a:rPr>
              <a:t>2.1 </a:t>
            </a:r>
            <a:r>
              <a:rPr lang="zh-CN" altLang="en-US" sz="2400" dirty="0">
                <a:solidFill>
                  <a:srgbClr val="0000FF"/>
                </a:solidFill>
                <a:latin typeface="+mj-ea"/>
                <a:ea typeface="+mj-ea"/>
              </a:rPr>
              <a:t>前趋图和程序执行</a:t>
            </a:r>
            <a:endParaRPr lang="zh-CN" altLang="en-US" sz="2400" dirty="0">
              <a:solidFill>
                <a:srgbClr val="0000FF"/>
              </a:solidFill>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ea"/>
                <a:ea typeface="+mj-ea"/>
                <a:sym typeface="+mn-ea"/>
              </a:rPr>
              <a:t>程序执行</a:t>
            </a:r>
            <a:endParaRPr lang="zh-CN" alt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ea"/>
              <a:ea typeface="+mj-ea"/>
              <a:sym typeface="+mn-ea"/>
            </a:endParaRPr>
          </a:p>
        </p:txBody>
      </p:sp>
      <p:sp>
        <p:nvSpPr>
          <p:cNvPr id="10" name="文本框 9"/>
          <p:cNvSpPr txBox="1"/>
          <p:nvPr/>
        </p:nvSpPr>
        <p:spPr>
          <a:xfrm>
            <a:off x="1281320" y="1049219"/>
            <a:ext cx="10284981" cy="2830195"/>
          </a:xfrm>
          <a:prstGeom prst="rect">
            <a:avLst/>
          </a:prstGeom>
          <a:noFill/>
        </p:spPr>
        <p:txBody>
          <a:bodyPr wrap="square" rtlCol="0">
            <a:spAutoFit/>
          </a:bodyPr>
          <a:lstStyle/>
          <a:p>
            <a:pPr>
              <a:lnSpc>
                <a:spcPct val="150000"/>
              </a:lnSpc>
            </a:pPr>
            <a:r>
              <a:rPr lang="en-US" altLang="zh-CN" sz="2400" dirty="0"/>
              <a:t>1.</a:t>
            </a:r>
            <a:r>
              <a:rPr lang="zh-CN" altLang="en-US" sz="2400" dirty="0"/>
              <a:t>程序顺序执行</a:t>
            </a:r>
            <a:endParaRPr lang="en-US" altLang="zh-CN" sz="2400" dirty="0"/>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一个较大的程序通常都由若干个程序段组成</a:t>
            </a:r>
            <a:endParaRPr lang="zh-CN" altLang="en-US"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zh-CN" altLang="en-US" sz="2200" dirty="0">
                <a:latin typeface="+mn-ea"/>
              </a:rPr>
              <a:t>程序在执行时，必须按照某种先后次序逐个执行，仅当前一操作执行完后，才能执行后继操作。</a:t>
            </a:r>
            <a:endParaRPr lang="zh-CN" altLang="en-US" sz="2200" dirty="0">
              <a:latin typeface="+mn-ea"/>
            </a:endParaRPr>
          </a:p>
          <a:p>
            <a:pPr algn="just">
              <a:lnSpc>
                <a:spcPct val="150000"/>
              </a:lnSpc>
              <a:spcAft>
                <a:spcPts val="600"/>
              </a:spcAft>
            </a:pPr>
            <a:endParaRPr lang="zh-CN" altLang="en-US" sz="2200" dirty="0">
              <a:latin typeface="+mn-ea"/>
            </a:endParaRPr>
          </a:p>
        </p:txBody>
      </p:sp>
      <p:pic>
        <p:nvPicPr>
          <p:cNvPr id="2" name="图片 1"/>
          <p:cNvPicPr>
            <a:picLocks noChangeAspect="1"/>
          </p:cNvPicPr>
          <p:nvPr/>
        </p:nvPicPr>
        <p:blipFill>
          <a:blip r:embed="rId1"/>
          <a:stretch>
            <a:fillRect/>
          </a:stretch>
        </p:blipFill>
        <p:spPr>
          <a:xfrm>
            <a:off x="1397000" y="3275330"/>
            <a:ext cx="7695565" cy="335724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a:solidFill>
                  <a:schemeClr val="bg1"/>
                </a:solidFill>
              </a:rPr>
              <a:t>前驱图</a:t>
            </a:r>
            <a:endParaRPr lang="zh-CN" altLang="en-US" sz="2800" b="1" dirty="0">
              <a:solidFill>
                <a:schemeClr val="bg1"/>
              </a:solidFill>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4411" y="1084491"/>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291171" y="1161648"/>
            <a:ext cx="527050" cy="527050"/>
          </a:xfrm>
          <a:prstGeom prst="rect">
            <a:avLst/>
          </a:prstGeom>
          <a:ln>
            <a:noFill/>
          </a:ln>
          <a:effectLst>
            <a:softEdge rad="0"/>
          </a:effectLst>
        </p:spPr>
      </p:pic>
      <p:sp>
        <p:nvSpPr>
          <p:cNvPr id="10" name="文本框 9"/>
          <p:cNvSpPr txBox="1"/>
          <p:nvPr/>
        </p:nvSpPr>
        <p:spPr>
          <a:xfrm>
            <a:off x="1416050" y="993775"/>
            <a:ext cx="4679950" cy="2907665"/>
          </a:xfrm>
          <a:prstGeom prst="rect">
            <a:avLst/>
          </a:prstGeom>
          <a:noFill/>
        </p:spPr>
        <p:txBody>
          <a:bodyPr wrap="square" rtlCol="0">
            <a:spAutoFit/>
          </a:bodyPr>
          <a:lstStyle/>
          <a:p>
            <a:pPr>
              <a:lnSpc>
                <a:spcPct val="150000"/>
              </a:lnSpc>
            </a:pPr>
            <a:r>
              <a:rPr lang="zh-CN" altLang="en-US" sz="2400" dirty="0">
                <a:solidFill>
                  <a:srgbClr val="FF0000"/>
                </a:solidFill>
                <a:latin typeface="+mn-ea"/>
              </a:rPr>
              <a:t>前趋图</a:t>
            </a:r>
            <a:endParaRPr lang="zh-CN" altLang="en-US" sz="2400" dirty="0">
              <a:solidFill>
                <a:srgbClr val="FF0000"/>
              </a:solidFill>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有向无循环图</a:t>
            </a:r>
            <a:endParaRPr lang="zh-CN" altLang="en-US" sz="2200" dirty="0">
              <a:latin typeface="+mn-ea"/>
            </a:endParaRPr>
          </a:p>
          <a:p>
            <a:pPr indent="0">
              <a:lnSpc>
                <a:spcPct val="150000"/>
              </a:lnSpc>
              <a:spcAft>
                <a:spcPts val="600"/>
              </a:spcAft>
              <a:buClr>
                <a:srgbClr val="FF0000"/>
              </a:buClr>
              <a:buFont typeface="Wingdings" panose="05000000000000000000" pitchFamily="2" charset="2"/>
              <a:buNone/>
            </a:pPr>
            <a:r>
              <a:rPr lang="zh-CN" altLang="en-US" sz="2200" dirty="0">
                <a:latin typeface="+mn-ea"/>
              </a:rPr>
              <a:t>用于描述执行的先后顺序</a:t>
            </a:r>
            <a:endParaRPr lang="zh-CN" altLang="en-US" sz="2200" dirty="0">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结点表示程序段</a:t>
            </a:r>
            <a:endParaRPr lang="zh-CN" altLang="en-US" sz="2200" dirty="0">
              <a:latin typeface="+mn-ea"/>
            </a:endParaRPr>
          </a:p>
          <a:p>
            <a:pPr marL="342900" indent="-342900">
              <a:lnSpc>
                <a:spcPct val="150000"/>
              </a:lnSpc>
              <a:spcAft>
                <a:spcPts val="600"/>
              </a:spcAft>
              <a:buClr>
                <a:srgbClr val="FF0000"/>
              </a:buClr>
              <a:buFont typeface="Wingdings" panose="05000000000000000000" pitchFamily="2" charset="2"/>
              <a:buChar char="Ø"/>
            </a:pPr>
            <a:r>
              <a:rPr lang="zh-CN" altLang="en-US" sz="2200" dirty="0">
                <a:latin typeface="+mn-ea"/>
              </a:rPr>
              <a:t>有向边表示前趋关系</a:t>
            </a:r>
            <a:endParaRPr lang="zh-CN" altLang="en-US" sz="2200" dirty="0">
              <a:latin typeface="+mn-ea"/>
            </a:endParaRPr>
          </a:p>
        </p:txBody>
      </p:sp>
      <p:grpSp>
        <p:nvGrpSpPr>
          <p:cNvPr id="11" name="组合 17"/>
          <p:cNvGrpSpPr/>
          <p:nvPr/>
        </p:nvGrpSpPr>
        <p:grpSpPr bwMode="auto">
          <a:xfrm rot="0">
            <a:off x="6249988" y="1273360"/>
            <a:ext cx="5715000" cy="2137410"/>
            <a:chOff x="2176450" y="4119578"/>
            <a:chExt cx="5715000" cy="2852110"/>
          </a:xfrm>
        </p:grpSpPr>
        <p:grpSp>
          <p:nvGrpSpPr>
            <p:cNvPr id="14" name="Group 21"/>
            <p:cNvGrpSpPr/>
            <p:nvPr/>
          </p:nvGrpSpPr>
          <p:grpSpPr bwMode="auto">
            <a:xfrm>
              <a:off x="2176450" y="4119578"/>
              <a:ext cx="5715000" cy="533400"/>
              <a:chOff x="720" y="2640"/>
              <a:chExt cx="3600" cy="336"/>
            </a:xfrm>
          </p:grpSpPr>
          <p:sp>
            <p:nvSpPr>
              <p:cNvPr id="19" name="Oval 6"/>
              <p:cNvSpPr>
                <a:spLocks noChangeArrowheads="1"/>
              </p:cNvSpPr>
              <p:nvPr/>
            </p:nvSpPr>
            <p:spPr bwMode="auto">
              <a:xfrm>
                <a:off x="72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1</a:t>
                </a:r>
                <a:endParaRPr lang="en-US" altLang="zh-CN" sz="1800" baseline="-25000">
                  <a:latin typeface="Arial" panose="020B0604020202020204" pitchFamily="34" charset="0"/>
                </a:endParaRPr>
              </a:p>
            </p:txBody>
          </p:sp>
          <p:sp>
            <p:nvSpPr>
              <p:cNvPr id="21" name="Oval 7"/>
              <p:cNvSpPr>
                <a:spLocks noChangeArrowheads="1"/>
              </p:cNvSpPr>
              <p:nvPr/>
            </p:nvSpPr>
            <p:spPr bwMode="auto">
              <a:xfrm>
                <a:off x="139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1</a:t>
                </a:r>
                <a:endParaRPr lang="en-US" altLang="zh-CN" sz="1800" baseline="-25000">
                  <a:latin typeface="Arial" panose="020B0604020202020204" pitchFamily="34" charset="0"/>
                </a:endParaRPr>
              </a:p>
            </p:txBody>
          </p:sp>
          <p:sp>
            <p:nvSpPr>
              <p:cNvPr id="22" name="Oval 8"/>
              <p:cNvSpPr>
                <a:spLocks noChangeArrowheads="1"/>
              </p:cNvSpPr>
              <p:nvPr/>
            </p:nvSpPr>
            <p:spPr bwMode="auto">
              <a:xfrm>
                <a:off x="2016"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1</a:t>
                </a:r>
                <a:endParaRPr lang="en-US" altLang="zh-CN" sz="1800" baseline="-25000">
                  <a:latin typeface="Arial" panose="020B0604020202020204" pitchFamily="34" charset="0"/>
                </a:endParaRPr>
              </a:p>
            </p:txBody>
          </p:sp>
          <p:sp>
            <p:nvSpPr>
              <p:cNvPr id="23" name="Oval 10"/>
              <p:cNvSpPr>
                <a:spLocks noChangeArrowheads="1"/>
              </p:cNvSpPr>
              <p:nvPr/>
            </p:nvSpPr>
            <p:spPr bwMode="auto">
              <a:xfrm>
                <a:off x="2640"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2</a:t>
                </a:r>
                <a:endParaRPr lang="en-US" altLang="zh-CN" sz="1800" baseline="-25000">
                  <a:latin typeface="Arial" panose="020B0604020202020204" pitchFamily="34" charset="0"/>
                </a:endParaRPr>
              </a:p>
            </p:txBody>
          </p:sp>
          <p:sp>
            <p:nvSpPr>
              <p:cNvPr id="24" name="Oval 11"/>
              <p:cNvSpPr>
                <a:spLocks noChangeArrowheads="1"/>
              </p:cNvSpPr>
              <p:nvPr/>
            </p:nvSpPr>
            <p:spPr bwMode="auto">
              <a:xfrm>
                <a:off x="3312"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2</a:t>
                </a:r>
                <a:endParaRPr lang="en-US" altLang="zh-CN" sz="1800" baseline="-25000">
                  <a:latin typeface="Arial" panose="020B0604020202020204" pitchFamily="34" charset="0"/>
                </a:endParaRPr>
              </a:p>
            </p:txBody>
          </p:sp>
          <p:sp>
            <p:nvSpPr>
              <p:cNvPr id="25" name="Oval 12"/>
              <p:cNvSpPr>
                <a:spLocks noChangeArrowheads="1"/>
              </p:cNvSpPr>
              <p:nvPr/>
            </p:nvSpPr>
            <p:spPr bwMode="auto">
              <a:xfrm>
                <a:off x="3984" y="264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2</a:t>
                </a:r>
                <a:endParaRPr lang="en-US" altLang="zh-CN" sz="1800" baseline="-25000">
                  <a:latin typeface="Arial" panose="020B0604020202020204" pitchFamily="34" charset="0"/>
                </a:endParaRPr>
              </a:p>
            </p:txBody>
          </p:sp>
          <p:cxnSp>
            <p:nvCxnSpPr>
              <p:cNvPr id="26" name="AutoShape 13"/>
              <p:cNvCxnSpPr>
                <a:cxnSpLocks noChangeShapeType="1"/>
                <a:stCxn id="19" idx="6"/>
                <a:endCxn id="21" idx="2"/>
              </p:cNvCxnSpPr>
              <p:nvPr/>
            </p:nvCxnSpPr>
            <p:spPr bwMode="auto">
              <a:xfrm>
                <a:off x="106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7" name="AutoShape 14"/>
              <p:cNvCxnSpPr>
                <a:cxnSpLocks noChangeShapeType="1"/>
                <a:stCxn id="21" idx="6"/>
                <a:endCxn id="22" idx="2"/>
              </p:cNvCxnSpPr>
              <p:nvPr/>
            </p:nvCxnSpPr>
            <p:spPr bwMode="auto">
              <a:xfrm>
                <a:off x="1737"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8" name="AutoShape 16"/>
              <p:cNvCxnSpPr>
                <a:cxnSpLocks noChangeShapeType="1"/>
                <a:stCxn id="23" idx="6"/>
                <a:endCxn id="24" idx="2"/>
              </p:cNvCxnSpPr>
              <p:nvPr/>
            </p:nvCxnSpPr>
            <p:spPr bwMode="auto">
              <a:xfrm>
                <a:off x="2985"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9" name="AutoShape 17"/>
              <p:cNvCxnSpPr>
                <a:cxnSpLocks noChangeShapeType="1"/>
                <a:stCxn id="22" idx="6"/>
                <a:endCxn id="23" idx="2"/>
              </p:cNvCxnSpPr>
              <p:nvPr/>
            </p:nvCxnSpPr>
            <p:spPr bwMode="auto">
              <a:xfrm>
                <a:off x="2361" y="280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0" name="AutoShape 20"/>
              <p:cNvCxnSpPr>
                <a:cxnSpLocks noChangeShapeType="1"/>
                <a:stCxn id="24" idx="6"/>
                <a:endCxn id="25" idx="2"/>
              </p:cNvCxnSpPr>
              <p:nvPr/>
            </p:nvCxnSpPr>
            <p:spPr bwMode="auto">
              <a:xfrm>
                <a:off x="3657" y="280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17" name="Text Box 22"/>
            <p:cNvSpPr txBox="1">
              <a:spLocks noChangeArrowheads="1"/>
            </p:cNvSpPr>
            <p:nvPr/>
          </p:nvSpPr>
          <p:spPr bwMode="auto">
            <a:xfrm>
              <a:off x="2859889" y="4863250"/>
              <a:ext cx="4419600" cy="49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1800" dirty="0">
                  <a:latin typeface="+mn-ea"/>
                  <a:ea typeface="+mn-ea"/>
                </a:rPr>
                <a:t>程序顺序执行时的前趋图</a:t>
              </a:r>
              <a:endParaRPr lang="zh-CN" altLang="en-US" sz="1800" dirty="0">
                <a:latin typeface="+mn-ea"/>
                <a:ea typeface="+mn-ea"/>
              </a:endParaRPr>
            </a:p>
          </p:txBody>
        </p:sp>
        <p:sp>
          <p:nvSpPr>
            <p:cNvPr id="18" name="Text Box 24"/>
            <p:cNvSpPr txBox="1">
              <a:spLocks noChangeArrowheads="1"/>
            </p:cNvSpPr>
            <p:nvPr/>
          </p:nvSpPr>
          <p:spPr bwMode="auto">
            <a:xfrm>
              <a:off x="3605200" y="5405824"/>
              <a:ext cx="3926840" cy="1565864"/>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no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l" eaLnBrk="1" hangingPunct="1">
                <a:spcBef>
                  <a:spcPct val="50000"/>
                </a:spcBef>
                <a:buClrTx/>
                <a:buSzTx/>
                <a:buFont typeface="Monotype Sorts" pitchFamily="2" charset="2"/>
                <a:buNone/>
              </a:pPr>
              <a:r>
                <a:rPr lang="zh-CN" altLang="en-US" sz="1800" dirty="0">
                  <a:latin typeface="+mn-ea"/>
                  <a:ea typeface="+mn-ea"/>
                </a:rPr>
                <a:t>前趋关系：</a:t>
              </a:r>
              <a:endParaRPr lang="zh-CN" altLang="en-US" sz="1800" dirty="0">
                <a:latin typeface="+mn-ea"/>
                <a:ea typeface="+mn-ea"/>
              </a:endParaRPr>
            </a:p>
            <a:p>
              <a:pPr algn="l" eaLnBrk="1" hangingPunct="1">
                <a:spcBef>
                  <a:spcPct val="50000"/>
                </a:spcBef>
                <a:buClrTx/>
                <a:buSzTx/>
                <a:buFont typeface="Monotype Sorts" pitchFamily="2" charset="2"/>
                <a:buNone/>
              </a:pPr>
              <a:r>
                <a:rPr lang="zh-CN" altLang="en-US" sz="1800" dirty="0" err="1">
                  <a:latin typeface="+mn-ea"/>
                  <a:ea typeface="+mn-ea"/>
                  <a:sym typeface="Wingdings" panose="05000000000000000000" pitchFamily="2" charset="2"/>
                </a:rPr>
                <a:t>（</a:t>
              </a:r>
              <a:r>
                <a:rPr lang="en-US" altLang="zh-CN" sz="1800" dirty="0" err="1">
                  <a:latin typeface="+mn-ea"/>
                  <a:ea typeface="+mn-ea"/>
                  <a:sym typeface="+mn-ea"/>
                </a:rPr>
                <a:t>I</a:t>
              </a:r>
              <a:r>
                <a:rPr lang="en-US" altLang="zh-CN" sz="1800" baseline="-25000" dirty="0" err="1">
                  <a:latin typeface="+mn-ea"/>
                  <a:ea typeface="+mn-ea"/>
                  <a:sym typeface="+mn-ea"/>
                </a:rPr>
                <a:t>i</a:t>
              </a:r>
              <a:r>
                <a:rPr lang="zh-CN" altLang="en-US" sz="1800" baseline="-25000" dirty="0" err="1">
                  <a:latin typeface="+mn-ea"/>
                  <a:ea typeface="+mn-ea"/>
                  <a:sym typeface="+mn-ea"/>
                </a:rPr>
                <a:t>，</a:t>
              </a: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r>
                <a:rPr lang="zh-CN" altLang="en-US" sz="1800" dirty="0" err="1">
                  <a:latin typeface="+mn-ea"/>
                  <a:ea typeface="+mn-ea"/>
                  <a:sym typeface="Wingdings" panose="05000000000000000000" pitchFamily="2" charset="2"/>
                </a:rPr>
                <a:t>）</a:t>
              </a:r>
              <a:r>
                <a:rPr lang="en-US" altLang="zh-CN" sz="1800" dirty="0" err="1">
                  <a:latin typeface="+mn-ea"/>
                  <a:ea typeface="+mn-ea"/>
                  <a:sym typeface="Wingdings" panose="05000000000000000000" pitchFamily="2" charset="2"/>
                </a:rPr>
                <a:t></a:t>
              </a:r>
              <a:r>
                <a:rPr lang="zh-CN" altLang="en-US" sz="1800" dirty="0" err="1">
                  <a:latin typeface="+mn-ea"/>
                  <a:ea typeface="+mn-ea"/>
                  <a:sym typeface="Wingdings" panose="05000000000000000000" pitchFamily="2" charset="2"/>
                </a:rPr>
                <a:t>或</a:t>
              </a:r>
              <a:r>
                <a:rPr lang="en-US" altLang="zh-CN" sz="1800" dirty="0" err="1">
                  <a:latin typeface="+mn-ea"/>
                  <a:ea typeface="+mn-ea"/>
                </a:rPr>
                <a:t>I</a:t>
              </a:r>
              <a:r>
                <a:rPr lang="en-US" altLang="zh-CN" sz="1800" baseline="-25000" dirty="0" err="1">
                  <a:latin typeface="+mn-ea"/>
                  <a:ea typeface="+mn-ea"/>
                </a:rPr>
                <a:t>i</a:t>
              </a: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endParaRPr lang="en-US" altLang="zh-CN" sz="1800" dirty="0" err="1">
                <a:latin typeface="+mn-ea"/>
                <a:ea typeface="+mn-ea"/>
                <a:sym typeface="Wingdings" panose="05000000000000000000" pitchFamily="2" charset="2"/>
              </a:endParaRPr>
            </a:p>
            <a:p>
              <a:pPr algn="l" eaLnBrk="1" hangingPunct="1">
                <a:spcBef>
                  <a:spcPct val="50000"/>
                </a:spcBef>
                <a:buClrTx/>
                <a:buSzTx/>
                <a:buFont typeface="Monotype Sorts" pitchFamily="2" charset="2"/>
                <a:buNone/>
              </a:pP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r>
                <a:rPr lang="en-US" altLang="zh-CN" sz="1800" dirty="0" err="1">
                  <a:latin typeface="+mn-ea"/>
                  <a:ea typeface="+mn-ea"/>
                  <a:sym typeface="Wingdings" panose="05000000000000000000" pitchFamily="2" charset="2"/>
                </a:rPr>
                <a:t>P</a:t>
              </a:r>
              <a:r>
                <a:rPr lang="en-US" altLang="zh-CN" sz="1800" baseline="-25000" dirty="0" err="1">
                  <a:latin typeface="+mn-ea"/>
                  <a:ea typeface="+mn-ea"/>
                  <a:sym typeface="Wingdings" panose="05000000000000000000" pitchFamily="2" charset="2"/>
                </a:rPr>
                <a:t>i</a:t>
              </a:r>
              <a:r>
                <a:rPr lang="zh-CN" altLang="en-US" sz="1800" dirty="0" err="1">
                  <a:latin typeface="+mn-ea"/>
                  <a:ea typeface="+mn-ea"/>
                  <a:sym typeface="Wingdings" panose="05000000000000000000" pitchFamily="2" charset="2"/>
                </a:rPr>
                <a:t>或（</a:t>
              </a:r>
              <a:r>
                <a:rPr lang="en-US" altLang="zh-CN" sz="1800" dirty="0" err="1">
                  <a:latin typeface="+mn-ea"/>
                  <a:ea typeface="+mn-ea"/>
                  <a:sym typeface="Wingdings" panose="05000000000000000000" pitchFamily="2" charset="2"/>
                </a:rPr>
                <a:t>C</a:t>
              </a:r>
              <a:r>
                <a:rPr lang="en-US" altLang="zh-CN" sz="1800" baseline="-25000" dirty="0" err="1">
                  <a:latin typeface="+mn-ea"/>
                  <a:ea typeface="+mn-ea"/>
                  <a:sym typeface="Wingdings" panose="05000000000000000000" pitchFamily="2" charset="2"/>
                </a:rPr>
                <a:t>i</a:t>
              </a:r>
              <a:r>
                <a:rPr lang="zh-CN" altLang="en-US" sz="1800" baseline="-25000" dirty="0" err="1">
                  <a:latin typeface="+mn-ea"/>
                  <a:ea typeface="+mn-ea"/>
                  <a:sym typeface="+mn-ea"/>
                </a:rPr>
                <a:t>，</a:t>
              </a:r>
              <a:r>
                <a:rPr lang="en-US" altLang="zh-CN" sz="1800" dirty="0" err="1">
                  <a:latin typeface="+mn-ea"/>
                  <a:ea typeface="+mn-ea"/>
                  <a:sym typeface="Wingdings" panose="05000000000000000000" pitchFamily="2" charset="2"/>
                </a:rPr>
                <a:t>P</a:t>
              </a:r>
              <a:r>
                <a:rPr lang="en-US" altLang="zh-CN" sz="1800" baseline="-25000" dirty="0" err="1">
                  <a:latin typeface="+mn-ea"/>
                  <a:ea typeface="+mn-ea"/>
                  <a:sym typeface="Wingdings" panose="05000000000000000000" pitchFamily="2" charset="2"/>
                </a:rPr>
                <a:t>i</a:t>
              </a:r>
              <a:r>
                <a:rPr lang="zh-CN" altLang="en-US" sz="1800" dirty="0" err="1">
                  <a:latin typeface="+mn-ea"/>
                  <a:ea typeface="+mn-ea"/>
                  <a:sym typeface="Wingdings" panose="05000000000000000000" pitchFamily="2" charset="2"/>
                </a:rPr>
                <a:t>）</a:t>
              </a:r>
              <a:r>
                <a:rPr lang="en-US" altLang="zh-CN" sz="1800" dirty="0" err="1">
                  <a:latin typeface="+mn-ea"/>
                  <a:ea typeface="+mn-ea"/>
                  <a:sym typeface="Wingdings" panose="05000000000000000000" pitchFamily="2" charset="2"/>
                </a:rPr>
                <a:t></a:t>
              </a:r>
              <a:endParaRPr lang="zh-CN" altLang="en-US" sz="1800" dirty="0" err="1">
                <a:latin typeface="+mn-ea"/>
                <a:ea typeface="+mn-ea"/>
                <a:sym typeface="Wingdings" panose="05000000000000000000" pitchFamily="2" charset="2"/>
              </a:endParaRPr>
            </a:p>
          </p:txBody>
        </p:sp>
      </p:grpSp>
      <p:pic>
        <p:nvPicPr>
          <p:cNvPr id="2" name="图片 1"/>
          <p:cNvPicPr>
            <a:picLocks noChangeAspect="1"/>
          </p:cNvPicPr>
          <p:nvPr/>
        </p:nvPicPr>
        <p:blipFill>
          <a:blip r:embed="rId2"/>
          <a:stretch>
            <a:fillRect/>
          </a:stretch>
        </p:blipFill>
        <p:spPr>
          <a:xfrm>
            <a:off x="4022725" y="3842385"/>
            <a:ext cx="5554345" cy="235331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1149350" y="288857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64" name="内容占位符 2"/>
          <p:cNvSpPr txBox="1"/>
          <p:nvPr/>
        </p:nvSpPr>
        <p:spPr>
          <a:xfrm>
            <a:off x="1243330" y="2159000"/>
            <a:ext cx="2983865" cy="2898775"/>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pitchFamily="2" charset="2"/>
              <a:buNone/>
            </a:pPr>
            <a:r>
              <a:rPr lang="zh-CN" altLang="en-US" sz="2800" dirty="0">
                <a:latin typeface="+mn-ea"/>
              </a:rPr>
              <a:t>例：程序段如下：</a:t>
            </a:r>
            <a:endParaRPr lang="zh-CN" altLang="en-US" sz="2800" dirty="0">
              <a:latin typeface="+mn-ea"/>
            </a:endParaRPr>
          </a:p>
          <a:p>
            <a:pPr>
              <a:buFont typeface="Monotype Sorts" pitchFamily="2" charset="2"/>
              <a:buNone/>
            </a:pPr>
            <a:r>
              <a:rPr lang="en-US" altLang="zh-CN" sz="2800" dirty="0">
                <a:latin typeface="+mn-ea"/>
              </a:rPr>
              <a:t>S</a:t>
            </a:r>
            <a:r>
              <a:rPr lang="en-US" altLang="zh-CN" sz="2800" baseline="-25000" dirty="0">
                <a:latin typeface="+mn-ea"/>
              </a:rPr>
              <a:t>1</a:t>
            </a:r>
            <a:r>
              <a:rPr lang="en-US" altLang="zh-CN" sz="2800" dirty="0">
                <a:latin typeface="+mn-ea"/>
              </a:rPr>
              <a:t>:	a:=x+2</a:t>
            </a:r>
            <a:endParaRPr lang="en-US" altLang="zh-CN" sz="2800" dirty="0">
              <a:latin typeface="+mn-ea"/>
            </a:endParaRPr>
          </a:p>
          <a:p>
            <a:pPr>
              <a:buFont typeface="Monotype Sorts" pitchFamily="2" charset="2"/>
              <a:buNone/>
            </a:pPr>
            <a:r>
              <a:rPr lang="en-US" altLang="zh-CN" sz="2800" dirty="0">
                <a:latin typeface="+mn-ea"/>
              </a:rPr>
              <a:t>S</a:t>
            </a:r>
            <a:r>
              <a:rPr lang="en-US" altLang="zh-CN" sz="2800" baseline="-25000" dirty="0">
                <a:latin typeface="+mn-ea"/>
              </a:rPr>
              <a:t>2</a:t>
            </a:r>
            <a:r>
              <a:rPr lang="en-US" altLang="zh-CN" sz="2800" dirty="0">
                <a:latin typeface="+mn-ea"/>
              </a:rPr>
              <a:t>:	b:=y+4</a:t>
            </a:r>
            <a:endParaRPr lang="en-US" altLang="zh-CN" sz="2800" dirty="0">
              <a:latin typeface="+mn-ea"/>
            </a:endParaRPr>
          </a:p>
          <a:p>
            <a:pPr>
              <a:buFont typeface="Monotype Sorts" pitchFamily="2" charset="2"/>
              <a:buNone/>
            </a:pPr>
            <a:r>
              <a:rPr lang="en-US" altLang="zh-CN" sz="2800" dirty="0">
                <a:latin typeface="+mn-ea"/>
              </a:rPr>
              <a:t>S</a:t>
            </a:r>
            <a:r>
              <a:rPr lang="en-US" altLang="zh-CN" sz="2800" baseline="-25000" dirty="0">
                <a:latin typeface="+mn-ea"/>
              </a:rPr>
              <a:t>3</a:t>
            </a:r>
            <a:r>
              <a:rPr lang="en-US" altLang="zh-CN" sz="2800" dirty="0">
                <a:latin typeface="+mn-ea"/>
              </a:rPr>
              <a:t>:	c:=a+b</a:t>
            </a:r>
            <a:endParaRPr lang="en-US" altLang="zh-CN" sz="2800" dirty="0">
              <a:latin typeface="+mn-ea"/>
            </a:endParaRPr>
          </a:p>
          <a:p>
            <a:pPr>
              <a:buFont typeface="Monotype Sorts" pitchFamily="2" charset="2"/>
              <a:buNone/>
            </a:pPr>
            <a:r>
              <a:rPr lang="en-US" altLang="zh-CN" sz="2800" dirty="0">
                <a:latin typeface="+mn-ea"/>
              </a:rPr>
              <a:t>S</a:t>
            </a:r>
            <a:r>
              <a:rPr lang="en-US" altLang="zh-CN" sz="2800" baseline="-25000" dirty="0">
                <a:latin typeface="+mn-ea"/>
              </a:rPr>
              <a:t>4</a:t>
            </a:r>
            <a:r>
              <a:rPr lang="en-US" altLang="zh-CN" sz="2800" dirty="0">
                <a:latin typeface="+mn-ea"/>
              </a:rPr>
              <a:t>:	d:=c+b</a:t>
            </a:r>
            <a:endParaRPr lang="en-US" altLang="zh-CN" sz="2800" dirty="0">
              <a:latin typeface="+mn-ea"/>
            </a:endParaRPr>
          </a:p>
        </p:txBody>
      </p:sp>
      <p:grpSp>
        <p:nvGrpSpPr>
          <p:cNvPr id="65" name="Group 39"/>
          <p:cNvGrpSpPr/>
          <p:nvPr/>
        </p:nvGrpSpPr>
        <p:grpSpPr bwMode="auto">
          <a:xfrm>
            <a:off x="4413250" y="2350770"/>
            <a:ext cx="4789170" cy="2380615"/>
            <a:chOff x="2304" y="1392"/>
            <a:chExt cx="2453" cy="1152"/>
          </a:xfrm>
          <a:solidFill>
            <a:srgbClr val="0000FF"/>
          </a:solidFill>
        </p:grpSpPr>
        <p:sp>
          <p:nvSpPr>
            <p:cNvPr id="66" name="Oval 15"/>
            <p:cNvSpPr>
              <a:spLocks noChangeArrowheads="1"/>
            </p:cNvSpPr>
            <p:nvPr/>
          </p:nvSpPr>
          <p:spPr bwMode="auto">
            <a:xfrm>
              <a:off x="2304" y="1392"/>
              <a:ext cx="336" cy="336"/>
            </a:xfrm>
            <a:prstGeom prst="ellipse">
              <a:avLst/>
            </a:prstGeom>
            <a:grpFill/>
            <a:ln w="28575">
              <a:solidFill>
                <a:schemeClr val="bg1">
                  <a:lumMod val="75000"/>
                </a:schemeClr>
              </a:solidFill>
              <a:round/>
            </a:ln>
            <a:effectLst/>
          </p:spPr>
          <p:txBody>
            <a:bodyPr wrap="none" lIns="92075" tIns="46038" rIns="92075" bIns="46038" anchor="ctr"/>
            <a:lstStyle/>
            <a:p>
              <a:pPr algn="ctr" eaLnBrk="1" hangingPunct="1">
                <a:buFont typeface="Monotype Sorts" pitchFamily="2" charset="2"/>
                <a:buNone/>
                <a:defRPr/>
              </a:pPr>
              <a:r>
                <a:rPr lang="en-US" altLang="zh-CN" dirty="0">
                  <a:solidFill>
                    <a:schemeClr val="bg1"/>
                  </a:solidFill>
                  <a:latin typeface="+mn-ea"/>
                </a:rPr>
                <a:t>S</a:t>
              </a:r>
              <a:r>
                <a:rPr lang="en-US" altLang="zh-CN" baseline="-25000" dirty="0">
                  <a:solidFill>
                    <a:schemeClr val="bg1"/>
                  </a:solidFill>
                  <a:latin typeface="+mn-ea"/>
                </a:rPr>
                <a:t>1</a:t>
              </a:r>
              <a:endParaRPr lang="en-US" altLang="zh-CN" baseline="-25000" dirty="0">
                <a:solidFill>
                  <a:schemeClr val="bg1"/>
                </a:solidFill>
                <a:latin typeface="+mn-ea"/>
              </a:endParaRPr>
            </a:p>
          </p:txBody>
        </p:sp>
        <p:sp>
          <p:nvSpPr>
            <p:cNvPr id="67" name="Oval 22"/>
            <p:cNvSpPr>
              <a:spLocks noChangeArrowheads="1"/>
            </p:cNvSpPr>
            <p:nvPr/>
          </p:nvSpPr>
          <p:spPr bwMode="auto">
            <a:xfrm>
              <a:off x="2304" y="2208"/>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2</a:t>
              </a:r>
              <a:endParaRPr lang="en-US" altLang="zh-CN" sz="1800" baseline="-25000">
                <a:solidFill>
                  <a:schemeClr val="bg1"/>
                </a:solidFill>
                <a:latin typeface="+mn-ea"/>
                <a:ea typeface="+mn-ea"/>
              </a:endParaRPr>
            </a:p>
          </p:txBody>
        </p:sp>
        <p:sp>
          <p:nvSpPr>
            <p:cNvPr id="68" name="Oval 23"/>
            <p:cNvSpPr>
              <a:spLocks noChangeArrowheads="1"/>
            </p:cNvSpPr>
            <p:nvPr/>
          </p:nvSpPr>
          <p:spPr bwMode="auto">
            <a:xfrm>
              <a:off x="3024"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3</a:t>
              </a:r>
              <a:endParaRPr lang="en-US" altLang="zh-CN" sz="1800" baseline="-25000">
                <a:solidFill>
                  <a:schemeClr val="bg1"/>
                </a:solidFill>
                <a:latin typeface="+mn-ea"/>
                <a:ea typeface="+mn-ea"/>
              </a:endParaRPr>
            </a:p>
          </p:txBody>
        </p:sp>
        <p:sp>
          <p:nvSpPr>
            <p:cNvPr id="69" name="Oval 24"/>
            <p:cNvSpPr>
              <a:spLocks noChangeArrowheads="1"/>
            </p:cNvSpPr>
            <p:nvPr/>
          </p:nvSpPr>
          <p:spPr bwMode="auto">
            <a:xfrm>
              <a:off x="3792" y="1824"/>
              <a:ext cx="336" cy="336"/>
            </a:xfrm>
            <a:prstGeom prst="ellipse">
              <a:avLst/>
            </a:prstGeom>
            <a:grp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chemeClr val="bg1"/>
                  </a:solidFill>
                  <a:latin typeface="+mn-ea"/>
                  <a:ea typeface="+mn-ea"/>
                </a:rPr>
                <a:t>S</a:t>
              </a:r>
              <a:r>
                <a:rPr lang="en-US" altLang="zh-CN" sz="1800" baseline="-25000">
                  <a:solidFill>
                    <a:schemeClr val="bg1"/>
                  </a:solidFill>
                  <a:latin typeface="+mn-ea"/>
                  <a:ea typeface="+mn-ea"/>
                </a:rPr>
                <a:t>4</a:t>
              </a:r>
              <a:endParaRPr lang="en-US" altLang="zh-CN" sz="1800" baseline="-25000">
                <a:solidFill>
                  <a:schemeClr val="bg1"/>
                </a:solidFill>
                <a:latin typeface="+mn-ea"/>
                <a:ea typeface="+mn-ea"/>
              </a:endParaRPr>
            </a:p>
          </p:txBody>
        </p:sp>
        <p:cxnSp>
          <p:nvCxnSpPr>
            <p:cNvPr id="70" name="AutoShape 26"/>
            <p:cNvCxnSpPr>
              <a:cxnSpLocks noChangeShapeType="1"/>
              <a:stCxn id="67" idx="6"/>
              <a:endCxn id="68" idx="3"/>
            </p:cNvCxnSpPr>
            <p:nvPr/>
          </p:nvCxnSpPr>
          <p:spPr bwMode="auto">
            <a:xfrm flipV="1">
              <a:off x="2649" y="2120"/>
              <a:ext cx="424" cy="256"/>
            </a:xfrm>
            <a:prstGeom prst="straightConnector1">
              <a:avLst/>
            </a:prstGeom>
            <a:grpFill/>
            <a:ln w="28575">
              <a:solidFill>
                <a:schemeClr val="folHlink"/>
              </a:solidFill>
              <a:round/>
              <a:tailEnd type="triangle" w="med" len="med"/>
            </a:ln>
          </p:spPr>
        </p:cxnSp>
        <p:cxnSp>
          <p:nvCxnSpPr>
            <p:cNvPr id="71" name="AutoShape 27"/>
            <p:cNvCxnSpPr>
              <a:cxnSpLocks noChangeShapeType="1"/>
              <a:stCxn id="68" idx="6"/>
              <a:endCxn id="69" idx="2"/>
            </p:cNvCxnSpPr>
            <p:nvPr/>
          </p:nvCxnSpPr>
          <p:spPr bwMode="auto">
            <a:xfrm>
              <a:off x="3369" y="1992"/>
              <a:ext cx="414" cy="0"/>
            </a:xfrm>
            <a:prstGeom prst="straightConnector1">
              <a:avLst/>
            </a:prstGeom>
            <a:grpFill/>
            <a:ln w="28575">
              <a:solidFill>
                <a:schemeClr val="folHlink"/>
              </a:solidFill>
              <a:round/>
              <a:tailEnd type="triangle" w="med" len="med"/>
            </a:ln>
          </p:spPr>
        </p:cxnSp>
        <p:cxnSp>
          <p:nvCxnSpPr>
            <p:cNvPr id="72" name="AutoShape 32"/>
            <p:cNvCxnSpPr>
              <a:cxnSpLocks noChangeShapeType="1"/>
              <a:stCxn id="66" idx="5"/>
              <a:endCxn id="68" idx="1"/>
            </p:cNvCxnSpPr>
            <p:nvPr/>
          </p:nvCxnSpPr>
          <p:spPr bwMode="auto">
            <a:xfrm>
              <a:off x="2591" y="1688"/>
              <a:ext cx="482" cy="176"/>
            </a:xfrm>
            <a:prstGeom prst="straightConnector1">
              <a:avLst/>
            </a:prstGeom>
            <a:grpFill/>
            <a:ln w="28575">
              <a:solidFill>
                <a:schemeClr val="folHlink"/>
              </a:solidFill>
              <a:round/>
              <a:tailEnd type="triangle" w="med" len="med"/>
            </a:ln>
          </p:spPr>
        </p:cxnSp>
        <p:cxnSp>
          <p:nvCxnSpPr>
            <p:cNvPr id="73" name="AutoShape 35"/>
            <p:cNvCxnSpPr>
              <a:cxnSpLocks noChangeShapeType="1"/>
            </p:cNvCxnSpPr>
            <p:nvPr/>
          </p:nvCxnSpPr>
          <p:spPr bwMode="auto">
            <a:xfrm flipV="1">
              <a:off x="4128" y="1957"/>
              <a:ext cx="629" cy="11"/>
            </a:xfrm>
            <a:prstGeom prst="straightConnector1">
              <a:avLst/>
            </a:prstGeom>
            <a:grpFill/>
            <a:ln w="28575">
              <a:solidFill>
                <a:schemeClr val="folHlink"/>
              </a:solidFill>
              <a:round/>
              <a:tailEnd type="triangle" w="med" len="med"/>
            </a:ln>
          </p:spPr>
        </p:cxnSp>
      </p:gr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171" y="992079"/>
            <a:ext cx="527050" cy="527050"/>
          </a:xfrm>
          <a:prstGeom prst="rect">
            <a:avLst/>
          </a:prstGeom>
          <a:ln>
            <a:noFill/>
          </a:ln>
          <a:effectLst>
            <a:softEdge rad="0"/>
          </a:effectLst>
        </p:spPr>
      </p:pic>
      <p:sp>
        <p:nvSpPr>
          <p:cNvPr id="2" name="矩形 1"/>
          <p:cNvSpPr/>
          <p:nvPr/>
        </p:nvSpPr>
        <p:spPr>
          <a:xfrm>
            <a:off x="669925" y="78668"/>
            <a:ext cx="7026275" cy="521970"/>
          </a:xfrm>
          <a:prstGeom prst="rect">
            <a:avLst/>
          </a:prstGeom>
        </p:spPr>
        <p:txBody>
          <a:bodyPr wrap="square">
            <a:spAutoFit/>
          </a:bodyPr>
          <a:p>
            <a:r>
              <a:rPr lang="zh-CN" altLang="en-US" sz="2800" b="1">
                <a:solidFill>
                  <a:schemeClr val="bg1"/>
                </a:solidFill>
              </a:rPr>
              <a:t>并发前驱图</a:t>
            </a:r>
            <a:endParaRPr lang="zh-CN" altLang="en-US" sz="2800" b="1"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65200" y="838835"/>
            <a:ext cx="10415270" cy="2654935"/>
          </a:xfrm>
          <a:prstGeom prst="rect">
            <a:avLst/>
          </a:prstGeom>
        </p:spPr>
        <p:txBody>
          <a:bodyPr>
            <a:noAutofit/>
          </a:bodyPr>
          <a:p>
            <a:pPr marL="0" indent="0" algn="just" defTabSz="266700">
              <a:lnSpc>
                <a:spcPct val="150000"/>
              </a:lnSpc>
              <a:spcBef>
                <a:spcPct val="0"/>
              </a:spcBef>
              <a:spcAft>
                <a:spcPct val="0"/>
              </a:spcAft>
              <a:buFont typeface="Times New Roman" panose="02020603050405020304"/>
              <a:buNone/>
            </a:pPr>
            <a:r>
              <a:rPr lang="zh-CN" altLang="en-US" sz="3200">
                <a:latin typeface="宋体" panose="02010600030101010101" pitchFamily="2" charset="-122"/>
                <a:ea typeface="宋体" panose="02010600030101010101" pitchFamily="2" charset="-122"/>
              </a:rPr>
              <a:t>画出下面</a:t>
            </a:r>
            <a:r>
              <a:rPr lang="en-US" altLang="zh-CN" sz="3200">
                <a:latin typeface="Times New Roman" panose="02020603050405020304"/>
                <a:ea typeface="Times New Roman" panose="02020603050405020304"/>
              </a:rPr>
              <a:t>4</a:t>
            </a:r>
            <a:r>
              <a:rPr lang="zh-CN" altLang="en-US" sz="3200">
                <a:latin typeface="宋体" panose="02010600030101010101" pitchFamily="2" charset="-122"/>
                <a:ea typeface="宋体" panose="02010600030101010101" pitchFamily="2" charset="-122"/>
              </a:rPr>
              <a:t>条语句所对应的前驱图。</a:t>
            </a:r>
            <a:endParaRPr lang="zh-CN" altLang="en-US" sz="32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3200">
                <a:latin typeface="Times New Roman" panose="02020603050405020304"/>
                <a:ea typeface="Times New Roman" panose="02020603050405020304"/>
              </a:rPr>
              <a:t>P</a:t>
            </a:r>
            <a:r>
              <a:rPr lang="en-US" altLang="zh-CN" sz="3200" baseline="-25000">
                <a:latin typeface="Times New Roman" panose="02020603050405020304"/>
                <a:ea typeface="Times New Roman" panose="02020603050405020304"/>
              </a:rPr>
              <a:t>1</a:t>
            </a:r>
            <a:r>
              <a:rPr lang="zh-CN" altLang="en-US" sz="3200">
                <a:latin typeface="宋体" panose="02010600030101010101" pitchFamily="2" charset="-122"/>
                <a:ea typeface="宋体" panose="02010600030101010101" pitchFamily="2" charset="-122"/>
              </a:rPr>
              <a:t>：</a:t>
            </a:r>
            <a:r>
              <a:rPr lang="en-US" altLang="zh-CN" sz="3200" i="1">
                <a:latin typeface="Times New Roman" panose="02020603050405020304"/>
                <a:ea typeface="Times New Roman" panose="02020603050405020304"/>
              </a:rPr>
              <a:t>a=x</a:t>
            </a:r>
            <a:r>
              <a:rPr lang="en-US" altLang="zh-CN" sz="3200">
                <a:latin typeface="Times New Roman" panose="02020603050405020304"/>
                <a:ea typeface="Times New Roman" panose="02020603050405020304"/>
              </a:rPr>
              <a:t>+2</a:t>
            </a:r>
            <a:r>
              <a:rPr lang="en-US" altLang="zh-CN" sz="3200" i="1">
                <a:latin typeface="Times New Roman" panose="02020603050405020304"/>
                <a:ea typeface="Times New Roman" panose="02020603050405020304"/>
              </a:rPr>
              <a:t>y</a:t>
            </a:r>
            <a:r>
              <a:rPr lang="zh-CN" altLang="en-US" sz="3200">
                <a:latin typeface="Times New Roman" panose="02020603050405020304"/>
                <a:ea typeface="宋体" panose="02010600030101010101" pitchFamily="2" charset="-122"/>
              </a:rPr>
              <a:t>； </a:t>
            </a:r>
            <a:r>
              <a:rPr lang="en-US" altLang="zh-CN" sz="3200">
                <a:latin typeface="Times New Roman" panose="02020603050405020304"/>
                <a:ea typeface="宋体" panose="02010600030101010101" pitchFamily="2" charset="-122"/>
              </a:rPr>
              <a:t>    </a:t>
            </a:r>
            <a:r>
              <a:rPr lang="en-US" altLang="zh-CN" sz="3200">
                <a:latin typeface="Times New Roman" panose="02020603050405020304"/>
                <a:ea typeface="Times New Roman" panose="02020603050405020304"/>
              </a:rPr>
              <a:t>P</a:t>
            </a:r>
            <a:r>
              <a:rPr lang="en-US" altLang="zh-CN" sz="3200" baseline="-25000">
                <a:latin typeface="Times New Roman" panose="02020603050405020304"/>
                <a:ea typeface="Times New Roman" panose="02020603050405020304"/>
              </a:rPr>
              <a:t>2</a:t>
            </a:r>
            <a:r>
              <a:rPr lang="zh-CN" altLang="en-US" sz="3200">
                <a:latin typeface="宋体" panose="02010600030101010101" pitchFamily="2" charset="-122"/>
                <a:ea typeface="宋体" panose="02010600030101010101" pitchFamily="2" charset="-122"/>
              </a:rPr>
              <a:t>：</a:t>
            </a:r>
            <a:r>
              <a:rPr lang="en-US" altLang="zh-CN" sz="3200" i="1">
                <a:latin typeface="Times New Roman" panose="02020603050405020304"/>
                <a:ea typeface="Times New Roman" panose="02020603050405020304"/>
              </a:rPr>
              <a:t>b=a</a:t>
            </a:r>
            <a:r>
              <a:rPr lang="en-US" altLang="zh-CN" sz="3200">
                <a:latin typeface="Times New Roman" panose="02020603050405020304"/>
                <a:ea typeface="Times New Roman" panose="02020603050405020304"/>
              </a:rPr>
              <a:t>+6</a:t>
            </a:r>
            <a:r>
              <a:rPr lang="zh-CN" altLang="en-US" sz="3200">
                <a:latin typeface="Times New Roman" panose="02020603050405020304"/>
                <a:ea typeface="宋体" panose="02010600030101010101" pitchFamily="2" charset="-122"/>
              </a:rPr>
              <a:t>； </a:t>
            </a:r>
            <a:r>
              <a:rPr lang="en-US" altLang="zh-CN" sz="3200">
                <a:latin typeface="Times New Roman" panose="02020603050405020304"/>
                <a:ea typeface="宋体" panose="02010600030101010101" pitchFamily="2" charset="-122"/>
              </a:rPr>
              <a:t>   </a:t>
            </a:r>
            <a:endParaRPr lang="en-US" altLang="zh-CN" sz="3200">
              <a:latin typeface="Times New Roman" panose="02020603050405020304"/>
              <a:ea typeface="宋体" panose="02010600030101010101" pitchFamily="2" charset="-122"/>
            </a:endParaRPr>
          </a:p>
          <a:p>
            <a:pPr marL="0" indent="266700" algn="just" defTabSz="266700">
              <a:lnSpc>
                <a:spcPct val="150000"/>
              </a:lnSpc>
              <a:spcBef>
                <a:spcPct val="0"/>
              </a:spcBef>
              <a:spcAft>
                <a:spcPct val="0"/>
              </a:spcAft>
            </a:pPr>
            <a:r>
              <a:rPr lang="en-US" altLang="zh-CN" sz="3200">
                <a:latin typeface="Times New Roman" panose="02020603050405020304"/>
                <a:ea typeface="Times New Roman" panose="02020603050405020304"/>
              </a:rPr>
              <a:t>P</a:t>
            </a:r>
            <a:r>
              <a:rPr lang="en-US" altLang="zh-CN" sz="3200" baseline="-25000">
                <a:latin typeface="Times New Roman" panose="02020603050405020304"/>
                <a:ea typeface="Times New Roman" panose="02020603050405020304"/>
              </a:rPr>
              <a:t>3</a:t>
            </a:r>
            <a:r>
              <a:rPr lang="zh-CN" altLang="en-US" sz="3200">
                <a:latin typeface="宋体" panose="02010600030101010101" pitchFamily="2" charset="-122"/>
                <a:ea typeface="宋体" panose="02010600030101010101" pitchFamily="2" charset="-122"/>
              </a:rPr>
              <a:t>：</a:t>
            </a:r>
            <a:r>
              <a:rPr lang="en-US" altLang="zh-CN" sz="3200" i="1">
                <a:latin typeface="Times New Roman" panose="02020603050405020304"/>
                <a:ea typeface="Times New Roman" panose="02020603050405020304"/>
              </a:rPr>
              <a:t>c=</a:t>
            </a:r>
            <a:r>
              <a:rPr lang="en-US" altLang="zh-CN" sz="3200">
                <a:latin typeface="Times New Roman" panose="02020603050405020304"/>
                <a:ea typeface="Times New Roman" panose="02020603050405020304"/>
              </a:rPr>
              <a:t>4</a:t>
            </a:r>
            <a:r>
              <a:rPr lang="en-US" altLang="zh-CN" sz="3200" i="1">
                <a:latin typeface="Times New Roman" panose="02020603050405020304"/>
                <a:ea typeface="Times New Roman" panose="02020603050405020304"/>
              </a:rPr>
              <a:t>a</a:t>
            </a:r>
            <a:r>
              <a:rPr lang="en-US" altLang="zh-CN" sz="3200">
                <a:latin typeface="宋体" panose="02010600030101010101" pitchFamily="2" charset="-122"/>
                <a:ea typeface="宋体" panose="02010600030101010101" pitchFamily="2" charset="-122"/>
              </a:rPr>
              <a:t>-</a:t>
            </a:r>
            <a:r>
              <a:rPr lang="en-US" altLang="zh-CN" sz="3200">
                <a:latin typeface="Times New Roman" panose="02020603050405020304"/>
                <a:ea typeface="Times New Roman" panose="02020603050405020304"/>
              </a:rPr>
              <a:t>9</a:t>
            </a:r>
            <a:r>
              <a:rPr lang="zh-CN" altLang="en-US" sz="3200">
                <a:latin typeface="Times New Roman" panose="02020603050405020304"/>
                <a:ea typeface="宋体" panose="02010600030101010101" pitchFamily="2" charset="-122"/>
              </a:rPr>
              <a:t>； </a:t>
            </a:r>
            <a:r>
              <a:rPr lang="en-US" altLang="zh-CN" sz="3200">
                <a:latin typeface="Times New Roman" panose="02020603050405020304"/>
                <a:ea typeface="宋体" panose="02010600030101010101" pitchFamily="2" charset="-122"/>
              </a:rPr>
              <a:t>    </a:t>
            </a:r>
            <a:r>
              <a:rPr lang="en-US" altLang="zh-CN" sz="3200">
                <a:latin typeface="Times New Roman" panose="02020603050405020304"/>
                <a:ea typeface="Times New Roman" panose="02020603050405020304"/>
              </a:rPr>
              <a:t>P</a:t>
            </a:r>
            <a:r>
              <a:rPr lang="en-US" altLang="zh-CN" sz="3200" baseline="-25000">
                <a:latin typeface="Times New Roman" panose="02020603050405020304"/>
                <a:ea typeface="Times New Roman" panose="02020603050405020304"/>
              </a:rPr>
              <a:t>4</a:t>
            </a:r>
            <a:r>
              <a:rPr lang="zh-CN" altLang="en-US" sz="3200">
                <a:latin typeface="宋体" panose="02010600030101010101" pitchFamily="2" charset="-122"/>
                <a:ea typeface="宋体" panose="02010600030101010101" pitchFamily="2" charset="-122"/>
              </a:rPr>
              <a:t>：</a:t>
            </a:r>
            <a:r>
              <a:rPr lang="en-US" altLang="zh-CN" sz="3200" i="1">
                <a:latin typeface="Times New Roman" panose="02020603050405020304"/>
                <a:ea typeface="Times New Roman" panose="02020603050405020304"/>
              </a:rPr>
              <a:t>d</a:t>
            </a:r>
            <a:r>
              <a:rPr lang="en-US" altLang="zh-CN" sz="3200">
                <a:latin typeface="Times New Roman" panose="02020603050405020304"/>
                <a:ea typeface="Times New Roman" panose="02020603050405020304"/>
              </a:rPr>
              <a:t>=2</a:t>
            </a:r>
            <a:r>
              <a:rPr lang="en-US" altLang="zh-CN" sz="3200" i="1">
                <a:latin typeface="Times New Roman" panose="02020603050405020304"/>
                <a:ea typeface="Times New Roman" panose="02020603050405020304"/>
              </a:rPr>
              <a:t>b</a:t>
            </a:r>
            <a:r>
              <a:rPr lang="en-US" altLang="zh-CN" sz="3200">
                <a:latin typeface="Times New Roman" panose="02020603050405020304"/>
                <a:ea typeface="Times New Roman" panose="02020603050405020304"/>
              </a:rPr>
              <a:t>+5</a:t>
            </a:r>
            <a:r>
              <a:rPr lang="en-US" altLang="zh-CN" sz="3200" i="1">
                <a:latin typeface="Times New Roman" panose="02020603050405020304"/>
                <a:ea typeface="Times New Roman" panose="02020603050405020304"/>
              </a:rPr>
              <a:t>c</a:t>
            </a:r>
            <a:r>
              <a:rPr lang="zh-CN" altLang="en-US" sz="3200">
                <a:latin typeface="Times New Roman" panose="02020603050405020304"/>
                <a:ea typeface="宋体" panose="02010600030101010101" pitchFamily="2" charset="-122"/>
              </a:rPr>
              <a:t>；</a:t>
            </a:r>
            <a:endParaRPr lang="zh-CN" altLang="en-US" sz="3200">
              <a:latin typeface="Times New Roman" panose="02020603050405020304"/>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05965" y="1062990"/>
            <a:ext cx="8848725" cy="2896870"/>
          </a:xfrm>
          <a:prstGeom prst="rect">
            <a:avLst/>
          </a:prstGeom>
        </p:spPr>
      </p:pic>
      <p:sp>
        <p:nvSpPr>
          <p:cNvPr id="3" name="矩形 2"/>
          <p:cNvSpPr/>
          <p:nvPr/>
        </p:nvSpPr>
        <p:spPr>
          <a:xfrm>
            <a:off x="669925" y="78668"/>
            <a:ext cx="7026275" cy="521970"/>
          </a:xfrm>
          <a:prstGeom prst="rect">
            <a:avLst/>
          </a:prstGeom>
        </p:spPr>
        <p:txBody>
          <a:bodyPr wrap="square">
            <a:spAutoFit/>
          </a:bodyPr>
          <a:p>
            <a:r>
              <a:rPr lang="zh-CN" altLang="en-US" sz="2800" b="1">
                <a:solidFill>
                  <a:schemeClr val="bg1"/>
                </a:solidFill>
              </a:rPr>
              <a:t>前驱图表示方法</a:t>
            </a:r>
            <a:endParaRPr lang="zh-CN" altLang="en-US" sz="2800" b="1" dirty="0">
              <a:solidFill>
                <a:schemeClr val="bg1"/>
              </a:solidFill>
            </a:endParaRPr>
          </a:p>
        </p:txBody>
      </p:sp>
      <p:pic>
        <p:nvPicPr>
          <p:cNvPr id="4" name="图片 3"/>
          <p:cNvPicPr>
            <a:picLocks noChangeAspect="1"/>
          </p:cNvPicPr>
          <p:nvPr/>
        </p:nvPicPr>
        <p:blipFill>
          <a:blip r:embed="rId2"/>
          <a:stretch>
            <a:fillRect/>
          </a:stretch>
        </p:blipFill>
        <p:spPr>
          <a:xfrm>
            <a:off x="669925" y="4029710"/>
            <a:ext cx="10560685" cy="2174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49383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框 14"/>
          <p:cNvSpPr txBox="1"/>
          <p:nvPr/>
        </p:nvSpPr>
        <p:spPr>
          <a:xfrm>
            <a:off x="1357630" y="941705"/>
            <a:ext cx="9109710" cy="1198880"/>
          </a:xfrm>
          <a:prstGeom prst="rect">
            <a:avLst/>
          </a:prstGeom>
          <a:noFill/>
        </p:spPr>
        <p:txBody>
          <a:bodyPr wrap="square" rtlCol="0">
            <a:spAutoFit/>
          </a:bodyPr>
          <a:lstStyle/>
          <a:p>
            <a:pPr>
              <a:lnSpc>
                <a:spcPct val="150000"/>
              </a:lnSpc>
            </a:pPr>
            <a:r>
              <a:rPr lang="zh-CN" altLang="en-US" sz="2400" dirty="0"/>
              <a:t>程序并发执行</a:t>
            </a:r>
            <a:endParaRPr lang="zh-CN" altLang="en-US" sz="2400" dirty="0"/>
          </a:p>
          <a:p>
            <a:pPr marL="342900" indent="-342900" algn="just">
              <a:lnSpc>
                <a:spcPct val="150000"/>
              </a:lnSpc>
              <a:spcAft>
                <a:spcPts val="600"/>
              </a:spcAft>
              <a:buClr>
                <a:srgbClr val="FF0000"/>
              </a:buClr>
              <a:buFont typeface="Wingdings" panose="05000000000000000000" pitchFamily="2" charset="2"/>
              <a:buChar char="Ø"/>
            </a:pPr>
            <a:r>
              <a:rPr lang="zh-CN" altLang="en-US" sz="2400" dirty="0">
                <a:latin typeface="+mn-ea"/>
              </a:rPr>
              <a:t>采用多道程序技术，将多个程序同时装入内存，使之并发运行。</a:t>
            </a:r>
            <a:endParaRPr lang="zh-CN" altLang="en-US" sz="2400" dirty="0">
              <a:latin typeface="+mn-ea"/>
            </a:endParaRPr>
          </a:p>
        </p:txBody>
      </p:sp>
      <p:grpSp>
        <p:nvGrpSpPr>
          <p:cNvPr id="17" name="Group 49"/>
          <p:cNvGrpSpPr/>
          <p:nvPr/>
        </p:nvGrpSpPr>
        <p:grpSpPr bwMode="auto">
          <a:xfrm>
            <a:off x="2694940" y="2692400"/>
            <a:ext cx="6843395" cy="2415540"/>
            <a:chOff x="336" y="1632"/>
            <a:chExt cx="3927" cy="1584"/>
          </a:xfrm>
        </p:grpSpPr>
        <p:sp>
          <p:nvSpPr>
            <p:cNvPr id="18" name="Oval 6"/>
            <p:cNvSpPr>
              <a:spLocks noChangeArrowheads="1"/>
            </p:cNvSpPr>
            <p:nvPr/>
          </p:nvSpPr>
          <p:spPr bwMode="auto">
            <a:xfrm>
              <a:off x="1728"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solidFill>
                    <a:srgbClr val="FF0066"/>
                  </a:solidFill>
                  <a:latin typeface="Arial" panose="020B0604020202020204" pitchFamily="34" charset="0"/>
                </a:rPr>
                <a:t>P</a:t>
              </a:r>
              <a:r>
                <a:rPr lang="en-US" altLang="zh-CN" sz="1800" baseline="-25000" dirty="0">
                  <a:solidFill>
                    <a:srgbClr val="FF0066"/>
                  </a:solidFill>
                  <a:latin typeface="Arial" panose="020B0604020202020204" pitchFamily="34" charset="0"/>
                </a:rPr>
                <a:t>1</a:t>
              </a:r>
              <a:endParaRPr lang="en-US" altLang="zh-CN" sz="1800" baseline="-25000" dirty="0">
                <a:solidFill>
                  <a:srgbClr val="FF0066"/>
                </a:solidFill>
                <a:latin typeface="Arial" panose="020B0604020202020204" pitchFamily="34" charset="0"/>
              </a:endParaRPr>
            </a:p>
          </p:txBody>
        </p:sp>
        <p:sp>
          <p:nvSpPr>
            <p:cNvPr id="19" name="Oval 7"/>
            <p:cNvSpPr>
              <a:spLocks noChangeArrowheads="1"/>
            </p:cNvSpPr>
            <p:nvPr/>
          </p:nvSpPr>
          <p:spPr bwMode="auto">
            <a:xfrm>
              <a:off x="2352"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2</a:t>
              </a:r>
              <a:endParaRPr lang="en-US" altLang="zh-CN" sz="1800" baseline="-25000">
                <a:latin typeface="Arial" panose="020B0604020202020204" pitchFamily="34" charset="0"/>
              </a:endParaRPr>
            </a:p>
          </p:txBody>
        </p:sp>
        <p:sp>
          <p:nvSpPr>
            <p:cNvPr id="21" name="Oval 8"/>
            <p:cNvSpPr>
              <a:spLocks noChangeArrowheads="1"/>
            </p:cNvSpPr>
            <p:nvPr/>
          </p:nvSpPr>
          <p:spPr bwMode="auto">
            <a:xfrm>
              <a:off x="2976"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3</a:t>
              </a:r>
              <a:endParaRPr lang="en-US" altLang="zh-CN" sz="1800" baseline="-25000">
                <a:latin typeface="Arial" panose="020B0604020202020204" pitchFamily="34" charset="0"/>
              </a:endParaRPr>
            </a:p>
          </p:txBody>
        </p:sp>
        <p:sp>
          <p:nvSpPr>
            <p:cNvPr id="22" name="Oval 9"/>
            <p:cNvSpPr>
              <a:spLocks noChangeArrowheads="1"/>
            </p:cNvSpPr>
            <p:nvPr/>
          </p:nvSpPr>
          <p:spPr bwMode="auto">
            <a:xfrm>
              <a:off x="3600" y="2880"/>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P</a:t>
              </a:r>
              <a:r>
                <a:rPr lang="en-US" altLang="zh-CN" sz="1800" baseline="-25000">
                  <a:latin typeface="Arial" panose="020B0604020202020204" pitchFamily="34" charset="0"/>
                </a:rPr>
                <a:t>4</a:t>
              </a:r>
              <a:endParaRPr lang="en-US" altLang="zh-CN" sz="1800" baseline="-25000">
                <a:latin typeface="Arial" panose="020B0604020202020204" pitchFamily="34" charset="0"/>
              </a:endParaRPr>
            </a:p>
          </p:txBody>
        </p:sp>
        <p:cxnSp>
          <p:nvCxnSpPr>
            <p:cNvPr id="23" name="AutoShape 12"/>
            <p:cNvCxnSpPr>
              <a:cxnSpLocks noChangeShapeType="1"/>
              <a:stCxn id="18" idx="6"/>
              <a:endCxn id="19" idx="2"/>
            </p:cNvCxnSpPr>
            <p:nvPr/>
          </p:nvCxnSpPr>
          <p:spPr bwMode="auto">
            <a:xfrm>
              <a:off x="2073"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4" name="AutoShape 13"/>
            <p:cNvCxnSpPr>
              <a:cxnSpLocks noChangeShapeType="1"/>
              <a:stCxn id="19" idx="6"/>
              <a:endCxn id="21" idx="2"/>
            </p:cNvCxnSpPr>
            <p:nvPr/>
          </p:nvCxnSpPr>
          <p:spPr bwMode="auto">
            <a:xfrm>
              <a:off x="2697"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5" name="AutoShape 14"/>
            <p:cNvCxnSpPr>
              <a:cxnSpLocks noChangeShapeType="1"/>
              <a:stCxn id="22" idx="6"/>
            </p:cNvCxnSpPr>
            <p:nvPr/>
          </p:nvCxnSpPr>
          <p:spPr bwMode="auto">
            <a:xfrm>
              <a:off x="3945" y="3048"/>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26" name="AutoShape 15"/>
            <p:cNvCxnSpPr>
              <a:cxnSpLocks noChangeShapeType="1"/>
              <a:stCxn id="21" idx="6"/>
              <a:endCxn id="22" idx="2"/>
            </p:cNvCxnSpPr>
            <p:nvPr/>
          </p:nvCxnSpPr>
          <p:spPr bwMode="auto">
            <a:xfrm>
              <a:off x="3321" y="3048"/>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27" name="Oval 19"/>
            <p:cNvSpPr>
              <a:spLocks noChangeArrowheads="1"/>
            </p:cNvSpPr>
            <p:nvPr/>
          </p:nvSpPr>
          <p:spPr bwMode="auto">
            <a:xfrm>
              <a:off x="33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1</a:t>
              </a:r>
              <a:endParaRPr lang="en-US" altLang="zh-CN" sz="1800" baseline="-25000">
                <a:latin typeface="Arial" panose="020B0604020202020204" pitchFamily="34" charset="0"/>
              </a:endParaRPr>
            </a:p>
          </p:txBody>
        </p:sp>
        <p:sp>
          <p:nvSpPr>
            <p:cNvPr id="28" name="Oval 20"/>
            <p:cNvSpPr>
              <a:spLocks noChangeArrowheads="1"/>
            </p:cNvSpPr>
            <p:nvPr/>
          </p:nvSpPr>
          <p:spPr bwMode="auto">
            <a:xfrm>
              <a:off x="1056"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2</a:t>
              </a:r>
              <a:endParaRPr lang="en-US" altLang="zh-CN" sz="1800" baseline="-25000">
                <a:latin typeface="Arial" panose="020B0604020202020204" pitchFamily="34" charset="0"/>
              </a:endParaRPr>
            </a:p>
          </p:txBody>
        </p:sp>
        <p:sp>
          <p:nvSpPr>
            <p:cNvPr id="29" name="Oval 21"/>
            <p:cNvSpPr>
              <a:spLocks noChangeArrowheads="1"/>
            </p:cNvSpPr>
            <p:nvPr/>
          </p:nvSpPr>
          <p:spPr bwMode="auto">
            <a:xfrm>
              <a:off x="1728"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20204" pitchFamily="34" charset="0"/>
                </a:rPr>
                <a:t>I</a:t>
              </a:r>
              <a:r>
                <a:rPr lang="en-US" altLang="zh-CN" sz="1800" baseline="-25000">
                  <a:solidFill>
                    <a:srgbClr val="FF0066"/>
                  </a:solidFill>
                  <a:latin typeface="Arial" panose="020B0604020202020204" pitchFamily="34" charset="0"/>
                </a:rPr>
                <a:t>3</a:t>
              </a:r>
              <a:endParaRPr lang="en-US" altLang="zh-CN" sz="1800" baseline="-25000">
                <a:solidFill>
                  <a:srgbClr val="FF0066"/>
                </a:solidFill>
                <a:latin typeface="Arial" panose="020B0604020202020204" pitchFamily="34" charset="0"/>
              </a:endParaRPr>
            </a:p>
          </p:txBody>
        </p:sp>
        <p:sp>
          <p:nvSpPr>
            <p:cNvPr id="30" name="Oval 22"/>
            <p:cNvSpPr>
              <a:spLocks noChangeArrowheads="1"/>
            </p:cNvSpPr>
            <p:nvPr/>
          </p:nvSpPr>
          <p:spPr bwMode="auto">
            <a:xfrm>
              <a:off x="2352" y="1632"/>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r>
                <a:rPr lang="en-US" altLang="zh-CN" sz="1800" baseline="-25000">
                  <a:latin typeface="Arial" panose="020B0604020202020204" pitchFamily="34" charset="0"/>
                </a:rPr>
                <a:t>4</a:t>
              </a:r>
              <a:endParaRPr lang="en-US" altLang="zh-CN" sz="1800" baseline="-25000">
                <a:latin typeface="Arial" panose="020B0604020202020204" pitchFamily="34" charset="0"/>
              </a:endParaRPr>
            </a:p>
          </p:txBody>
        </p:sp>
        <p:cxnSp>
          <p:nvCxnSpPr>
            <p:cNvPr id="31" name="AutoShape 25"/>
            <p:cNvCxnSpPr>
              <a:cxnSpLocks noChangeShapeType="1"/>
              <a:stCxn id="27" idx="6"/>
              <a:endCxn id="28" idx="2"/>
            </p:cNvCxnSpPr>
            <p:nvPr/>
          </p:nvCxnSpPr>
          <p:spPr bwMode="auto">
            <a:xfrm>
              <a:off x="681" y="1800"/>
              <a:ext cx="366"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2" name="AutoShape 26"/>
            <p:cNvCxnSpPr>
              <a:cxnSpLocks noChangeShapeType="1"/>
              <a:stCxn id="28" idx="6"/>
              <a:endCxn id="29" idx="2"/>
            </p:cNvCxnSpPr>
            <p:nvPr/>
          </p:nvCxnSpPr>
          <p:spPr bwMode="auto">
            <a:xfrm>
              <a:off x="1401"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3" name="AutoShape 27"/>
            <p:cNvCxnSpPr>
              <a:cxnSpLocks noChangeShapeType="1"/>
              <a:stCxn id="30" idx="6"/>
            </p:cNvCxnSpPr>
            <p:nvPr/>
          </p:nvCxnSpPr>
          <p:spPr bwMode="auto">
            <a:xfrm>
              <a:off x="2697" y="1800"/>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34" name="AutoShape 28"/>
            <p:cNvCxnSpPr>
              <a:cxnSpLocks noChangeShapeType="1"/>
              <a:stCxn id="29" idx="6"/>
              <a:endCxn id="30" idx="2"/>
            </p:cNvCxnSpPr>
            <p:nvPr/>
          </p:nvCxnSpPr>
          <p:spPr bwMode="auto">
            <a:xfrm>
              <a:off x="2073" y="1800"/>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sp>
          <p:nvSpPr>
            <p:cNvPr id="35" name="Oval 30"/>
            <p:cNvSpPr>
              <a:spLocks noChangeArrowheads="1"/>
            </p:cNvSpPr>
            <p:nvPr/>
          </p:nvSpPr>
          <p:spPr bwMode="auto">
            <a:xfrm>
              <a:off x="105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1</a:t>
              </a:r>
              <a:endParaRPr lang="en-US" altLang="zh-CN" sz="1800" baseline="-25000">
                <a:latin typeface="Arial" panose="020B0604020202020204" pitchFamily="34" charset="0"/>
              </a:endParaRPr>
            </a:p>
          </p:txBody>
        </p:sp>
        <p:sp>
          <p:nvSpPr>
            <p:cNvPr id="36" name="Oval 31"/>
            <p:cNvSpPr>
              <a:spLocks noChangeArrowheads="1"/>
            </p:cNvSpPr>
            <p:nvPr/>
          </p:nvSpPr>
          <p:spPr bwMode="auto">
            <a:xfrm>
              <a:off x="1728"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solidFill>
                    <a:srgbClr val="FF0066"/>
                  </a:solidFill>
                  <a:latin typeface="Arial" panose="020B0604020202020204" pitchFamily="34" charset="0"/>
                </a:rPr>
                <a:t>C</a:t>
              </a:r>
              <a:r>
                <a:rPr lang="en-US" altLang="zh-CN" sz="1800" baseline="-25000">
                  <a:solidFill>
                    <a:srgbClr val="FF0066"/>
                  </a:solidFill>
                  <a:latin typeface="Arial" panose="020B0604020202020204" pitchFamily="34" charset="0"/>
                </a:rPr>
                <a:t>2</a:t>
              </a:r>
              <a:endParaRPr lang="en-US" altLang="zh-CN" sz="1800" baseline="-25000">
                <a:solidFill>
                  <a:srgbClr val="FF0066"/>
                </a:solidFill>
                <a:latin typeface="Arial" panose="020B0604020202020204" pitchFamily="34" charset="0"/>
              </a:endParaRPr>
            </a:p>
          </p:txBody>
        </p:sp>
        <p:sp>
          <p:nvSpPr>
            <p:cNvPr id="37" name="Oval 32"/>
            <p:cNvSpPr>
              <a:spLocks noChangeArrowheads="1"/>
            </p:cNvSpPr>
            <p:nvPr/>
          </p:nvSpPr>
          <p:spPr bwMode="auto">
            <a:xfrm>
              <a:off x="2352"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3</a:t>
              </a:r>
              <a:endParaRPr lang="en-US" altLang="zh-CN" sz="1800" baseline="-25000">
                <a:latin typeface="Arial" panose="020B0604020202020204" pitchFamily="34" charset="0"/>
              </a:endParaRPr>
            </a:p>
          </p:txBody>
        </p:sp>
        <p:sp>
          <p:nvSpPr>
            <p:cNvPr id="38" name="Oval 33"/>
            <p:cNvSpPr>
              <a:spLocks noChangeArrowheads="1"/>
            </p:cNvSpPr>
            <p:nvPr/>
          </p:nvSpPr>
          <p:spPr bwMode="auto">
            <a:xfrm>
              <a:off x="2976" y="2256"/>
              <a:ext cx="336" cy="336"/>
            </a:xfrm>
            <a:prstGeom prst="ellipse">
              <a:avLst/>
            </a:prstGeom>
            <a:solidFill>
              <a:srgbClr val="FFC000"/>
            </a:solidFill>
            <a:ln w="28575">
              <a:solidFill>
                <a:schemeClr val="folHlink"/>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r>
                <a:rPr lang="en-US" altLang="zh-CN" sz="1800" baseline="-25000">
                  <a:latin typeface="Arial" panose="020B0604020202020204" pitchFamily="34" charset="0"/>
                </a:rPr>
                <a:t>4</a:t>
              </a:r>
              <a:endParaRPr lang="en-US" altLang="zh-CN" sz="1800" baseline="-25000">
                <a:latin typeface="Arial" panose="020B0604020202020204" pitchFamily="34" charset="0"/>
              </a:endParaRPr>
            </a:p>
          </p:txBody>
        </p:sp>
        <p:cxnSp>
          <p:nvCxnSpPr>
            <p:cNvPr id="39" name="AutoShape 36"/>
            <p:cNvCxnSpPr>
              <a:cxnSpLocks noChangeShapeType="1"/>
              <a:stCxn id="35" idx="6"/>
              <a:endCxn id="36" idx="2"/>
            </p:cNvCxnSpPr>
            <p:nvPr/>
          </p:nvCxnSpPr>
          <p:spPr bwMode="auto">
            <a:xfrm>
              <a:off x="140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1" name="AutoShape 37"/>
            <p:cNvCxnSpPr>
              <a:cxnSpLocks noChangeShapeType="1"/>
              <a:stCxn id="36" idx="6"/>
              <a:endCxn id="37" idx="2"/>
            </p:cNvCxnSpPr>
            <p:nvPr/>
          </p:nvCxnSpPr>
          <p:spPr bwMode="auto">
            <a:xfrm>
              <a:off x="2073"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2" name="AutoShape 38"/>
            <p:cNvCxnSpPr>
              <a:cxnSpLocks noChangeShapeType="1"/>
              <a:stCxn id="38" idx="6"/>
            </p:cNvCxnSpPr>
            <p:nvPr/>
          </p:nvCxnSpPr>
          <p:spPr bwMode="auto">
            <a:xfrm>
              <a:off x="3321" y="2424"/>
              <a:ext cx="318"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3" name="AutoShape 39"/>
            <p:cNvCxnSpPr>
              <a:cxnSpLocks noChangeShapeType="1"/>
              <a:stCxn id="37" idx="6"/>
              <a:endCxn id="38" idx="2"/>
            </p:cNvCxnSpPr>
            <p:nvPr/>
          </p:nvCxnSpPr>
          <p:spPr bwMode="auto">
            <a:xfrm>
              <a:off x="2697" y="2424"/>
              <a:ext cx="270" cy="0"/>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4" name="AutoShape 41"/>
            <p:cNvCxnSpPr>
              <a:cxnSpLocks noChangeShapeType="1"/>
              <a:stCxn id="27" idx="5"/>
              <a:endCxn id="35" idx="1"/>
            </p:cNvCxnSpPr>
            <p:nvPr/>
          </p:nvCxnSpPr>
          <p:spPr bwMode="auto">
            <a:xfrm>
              <a:off x="623" y="1928"/>
              <a:ext cx="482"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5" name="AutoShape 42"/>
            <p:cNvCxnSpPr>
              <a:cxnSpLocks noChangeShapeType="1"/>
              <a:stCxn id="35" idx="5"/>
              <a:endCxn id="18" idx="1"/>
            </p:cNvCxnSpPr>
            <p:nvPr/>
          </p:nvCxnSpPr>
          <p:spPr bwMode="auto">
            <a:xfrm>
              <a:off x="1343" y="2552"/>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6" name="AutoShape 43"/>
            <p:cNvCxnSpPr>
              <a:cxnSpLocks noChangeShapeType="1"/>
              <a:stCxn id="28" idx="5"/>
              <a:endCxn id="36" idx="1"/>
            </p:cNvCxnSpPr>
            <p:nvPr/>
          </p:nvCxnSpPr>
          <p:spPr bwMode="auto">
            <a:xfrm>
              <a:off x="1343" y="1928"/>
              <a:ext cx="434"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7" name="AutoShape 44"/>
            <p:cNvCxnSpPr>
              <a:cxnSpLocks noChangeShapeType="1"/>
              <a:stCxn id="36" idx="5"/>
              <a:endCxn id="19" idx="1"/>
            </p:cNvCxnSpPr>
            <p:nvPr/>
          </p:nvCxnSpPr>
          <p:spPr bwMode="auto">
            <a:xfrm>
              <a:off x="2015"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8" name="AutoShape 45"/>
            <p:cNvCxnSpPr>
              <a:cxnSpLocks noChangeShapeType="1"/>
              <a:stCxn id="29" idx="5"/>
              <a:endCxn id="37" idx="1"/>
            </p:cNvCxnSpPr>
            <p:nvPr/>
          </p:nvCxnSpPr>
          <p:spPr bwMode="auto">
            <a:xfrm>
              <a:off x="2015"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59" name="AutoShape 46"/>
            <p:cNvCxnSpPr>
              <a:cxnSpLocks noChangeShapeType="1"/>
              <a:stCxn id="37" idx="5"/>
              <a:endCxn id="21" idx="1"/>
            </p:cNvCxnSpPr>
            <p:nvPr/>
          </p:nvCxnSpPr>
          <p:spPr bwMode="auto">
            <a:xfrm>
              <a:off x="2639"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0" name="AutoShape 47"/>
            <p:cNvCxnSpPr>
              <a:cxnSpLocks noChangeShapeType="1"/>
              <a:stCxn id="30" idx="5"/>
              <a:endCxn id="38" idx="1"/>
            </p:cNvCxnSpPr>
            <p:nvPr/>
          </p:nvCxnSpPr>
          <p:spPr bwMode="auto">
            <a:xfrm>
              <a:off x="2639" y="1928"/>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cxnSp>
          <p:nvCxnSpPr>
            <p:cNvPr id="61" name="AutoShape 48"/>
            <p:cNvCxnSpPr>
              <a:cxnSpLocks noChangeShapeType="1"/>
              <a:stCxn id="38" idx="5"/>
              <a:endCxn id="22" idx="1"/>
            </p:cNvCxnSpPr>
            <p:nvPr/>
          </p:nvCxnSpPr>
          <p:spPr bwMode="auto">
            <a:xfrm>
              <a:off x="3263" y="2552"/>
              <a:ext cx="386" cy="368"/>
            </a:xfrm>
            <a:prstGeom prst="straightConnector1">
              <a:avLst/>
            </a:prstGeom>
            <a:noFill/>
            <a:ln w="28575">
              <a:solidFill>
                <a:schemeClr val="folHlink"/>
              </a:solidFill>
              <a:round/>
              <a:tailEnd type="triangle" w="med" len="med"/>
            </a:ln>
            <a:extLst>
              <a:ext uri="{909E8E84-426E-40DD-AFC4-6F175D3DCCD1}">
                <a14:hiddenFill xmlns:a14="http://schemas.microsoft.com/office/drawing/2010/main">
                  <a:noFill/>
                </a14:hiddenFill>
              </a:ext>
            </a:extLst>
          </p:spPr>
        </p:cxnSp>
      </p:grpSp>
      <p:sp>
        <p:nvSpPr>
          <p:cNvPr id="62" name="Text Box 17"/>
          <p:cNvSpPr txBox="1">
            <a:spLocks noChangeArrowheads="1"/>
          </p:cNvSpPr>
          <p:nvPr/>
        </p:nvSpPr>
        <p:spPr bwMode="auto">
          <a:xfrm>
            <a:off x="3963794" y="5517159"/>
            <a:ext cx="4419600"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50000"/>
              </a:spcBef>
              <a:buClrTx/>
              <a:buSzTx/>
              <a:buFont typeface="Monotype Sorts" pitchFamily="2" charset="2"/>
              <a:buNone/>
            </a:pPr>
            <a:r>
              <a:rPr lang="zh-CN" altLang="en-US" sz="2000" dirty="0">
                <a:latin typeface="+mn-ea"/>
                <a:ea typeface="+mn-ea"/>
              </a:rPr>
              <a:t>程序并发执行时的前趋图</a:t>
            </a:r>
            <a:endParaRPr lang="zh-CN" altLang="en-US" sz="2000" dirty="0">
              <a:latin typeface="+mn-ea"/>
              <a:ea typeface="+mn-ea"/>
            </a:endParaRPr>
          </a:p>
        </p:txBody>
      </p:sp>
      <p:pic>
        <p:nvPicPr>
          <p:cNvPr id="74" name="图片 7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16171" y="992079"/>
            <a:ext cx="527050" cy="527050"/>
          </a:xfrm>
          <a:prstGeom prst="rect">
            <a:avLst/>
          </a:prstGeom>
          <a:ln>
            <a:noFill/>
          </a:ln>
          <a:effectLst>
            <a:softEdge rad="0"/>
          </a:effectLst>
        </p:spPr>
      </p:pic>
      <p:sp>
        <p:nvSpPr>
          <p:cNvPr id="2" name="矩形 1"/>
          <p:cNvSpPr/>
          <p:nvPr/>
        </p:nvSpPr>
        <p:spPr>
          <a:xfrm>
            <a:off x="669925" y="78668"/>
            <a:ext cx="7026275" cy="521970"/>
          </a:xfrm>
          <a:prstGeom prst="rect">
            <a:avLst/>
          </a:prstGeom>
        </p:spPr>
        <p:txBody>
          <a:bodyPr wrap="square">
            <a:spAutoFit/>
          </a:bodyPr>
          <a:p>
            <a:r>
              <a:rPr lang="zh-CN" altLang="en-US" sz="2800" b="1">
                <a:solidFill>
                  <a:schemeClr val="bg1"/>
                </a:solidFill>
              </a:rPr>
              <a:t>并发前驱图</a:t>
            </a:r>
            <a:endParaRPr lang="zh-CN" altLang="en-US" sz="2800" b="1" dirty="0">
              <a:solidFill>
                <a:schemeClr val="bg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txBox="1"/>
          <p:nvPr/>
        </p:nvSpPr>
        <p:spPr>
          <a:xfrm>
            <a:off x="669925" y="5306656"/>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Signature</a:t>
            </a:r>
            <a:endParaRPr lang="en-US" altLang="zh-CN" dirty="0"/>
          </a:p>
        </p:txBody>
      </p:sp>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程序并发执行的特征</a:t>
            </a:r>
            <a:endParaRPr lang="zh-CN" altLang="en-US" sz="2800" b="1" dirty="0">
              <a:solidFill>
                <a:schemeClr val="bg1"/>
              </a:solidFill>
            </a:endParaRPr>
          </a:p>
        </p:txBody>
      </p:sp>
      <p:sp>
        <p:nvSpPr>
          <p:cNvPr id="40" name="ïşľîďè"/>
          <p:cNvSpPr/>
          <p:nvPr/>
        </p:nvSpPr>
        <p:spPr>
          <a:xfrm>
            <a:off x="1588" y="1143000"/>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4014295" y="114300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4138583" y="1349738"/>
            <a:ext cx="7381905" cy="1648925"/>
            <a:chOff x="4136995" y="1337038"/>
            <a:chExt cx="7381905"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4" name="ïSḻiḍé"/>
            <p:cNvSpPr txBox="1"/>
            <p:nvPr/>
          </p:nvSpPr>
          <p:spPr>
            <a:xfrm>
              <a:off x="4882719" y="1337038"/>
              <a:ext cx="6636181"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000" dirty="0">
                  <a:solidFill>
                    <a:srgbClr val="0000FF"/>
                  </a:solidFill>
                  <a:latin typeface="+mj-ea"/>
                  <a:ea typeface="+mj-ea"/>
                </a:rPr>
                <a:t>间断性</a:t>
              </a:r>
              <a:endParaRPr lang="zh-CN" altLang="en-US" sz="2000" dirty="0">
                <a:solidFill>
                  <a:srgbClr val="0000FF"/>
                </a:solidFill>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并发程序需要共享资源，形成相互制约关系。</a:t>
              </a:r>
              <a:endParaRPr lang="zh-CN" altLang="en-US" sz="20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000" dirty="0">
                  <a:latin typeface="+mj-ea"/>
                  <a:ea typeface="+mj-ea"/>
                </a:rPr>
                <a:t>相互制约导致</a:t>
              </a:r>
              <a:r>
                <a:rPr lang="en-US" altLang="zh-CN" sz="2000" dirty="0">
                  <a:latin typeface="+mj-ea"/>
                  <a:ea typeface="+mj-ea"/>
                </a:rPr>
                <a:t>“</a:t>
              </a:r>
              <a:r>
                <a:rPr lang="zh-CN" altLang="en-US" sz="2000" dirty="0">
                  <a:latin typeface="+mj-ea"/>
                  <a:ea typeface="+mj-ea"/>
                </a:rPr>
                <a:t>执行</a:t>
              </a:r>
              <a:r>
                <a:rPr lang="en-US" altLang="zh-CN" sz="2000" dirty="0">
                  <a:latin typeface="+mj-ea"/>
                  <a:ea typeface="+mj-ea"/>
                </a:rPr>
                <a:t>——</a:t>
              </a:r>
              <a:r>
                <a:rPr lang="zh-CN" altLang="en-US" sz="2000" dirty="0">
                  <a:latin typeface="+mj-ea"/>
                  <a:ea typeface="+mj-ea"/>
                </a:rPr>
                <a:t>暂停</a:t>
              </a:r>
              <a:r>
                <a:rPr lang="en-US" altLang="zh-CN" sz="2000" dirty="0">
                  <a:latin typeface="+mj-ea"/>
                  <a:ea typeface="+mj-ea"/>
                </a:rPr>
                <a:t>——</a:t>
              </a:r>
              <a:r>
                <a:rPr lang="zh-CN" altLang="en-US" sz="2000" dirty="0">
                  <a:latin typeface="+mj-ea"/>
                  <a:ea typeface="+mj-ea"/>
                </a:rPr>
                <a:t>执行</a:t>
              </a:r>
              <a:r>
                <a:rPr lang="en-US" altLang="zh-CN" sz="2000" dirty="0">
                  <a:latin typeface="+mj-ea"/>
                  <a:ea typeface="+mj-ea"/>
                </a:rPr>
                <a:t>”</a:t>
              </a:r>
              <a:r>
                <a:rPr lang="zh-CN" altLang="en-US" sz="2000" dirty="0">
                  <a:latin typeface="+mj-ea"/>
                  <a:ea typeface="+mj-ea"/>
                </a:rPr>
                <a:t>间断性活动。</a:t>
              </a:r>
              <a:endParaRPr lang="zh-CN" altLang="en-US" sz="2000" dirty="0">
                <a:latin typeface="+mj-ea"/>
                <a:ea typeface="+mj-ea"/>
              </a:endParaRPr>
            </a:p>
          </p:txBody>
        </p:sp>
      </p:grpSp>
      <p:grpSp>
        <p:nvGrpSpPr>
          <p:cNvPr id="45" name="išḷîḓé"/>
          <p:cNvGrpSpPr/>
          <p:nvPr/>
        </p:nvGrpSpPr>
        <p:grpSpPr>
          <a:xfrm>
            <a:off x="4138583" y="3294934"/>
            <a:ext cx="7381904" cy="801176"/>
            <a:chOff x="4136995" y="3233565"/>
            <a:chExt cx="7381904"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7" name="îŝľîḓè"/>
            <p:cNvSpPr txBox="1"/>
            <p:nvPr/>
          </p:nvSpPr>
          <p:spPr>
            <a:xfrm>
              <a:off x="4882718" y="3233565"/>
              <a:ext cx="6636181"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000" dirty="0">
                  <a:solidFill>
                    <a:srgbClr val="0000FF"/>
                  </a:solidFill>
                </a:rPr>
                <a:t>失去封闭性</a:t>
              </a:r>
              <a:endParaRPr lang="zh-CN" altLang="en-US" sz="20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000" dirty="0"/>
                <a:t>多个程序共享全机资源。</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执行状态受外界因素影响。</a:t>
              </a:r>
              <a:endParaRPr lang="zh-CN" altLang="en-US" sz="2000" dirty="0"/>
            </a:p>
          </p:txBody>
        </p:sp>
      </p:grpSp>
      <p:grpSp>
        <p:nvGrpSpPr>
          <p:cNvPr id="48" name="ïSlíḍê"/>
          <p:cNvGrpSpPr/>
          <p:nvPr/>
        </p:nvGrpSpPr>
        <p:grpSpPr>
          <a:xfrm>
            <a:off x="4138583" y="4380642"/>
            <a:ext cx="7381903" cy="1311067"/>
            <a:chOff x="4136995" y="4714289"/>
            <a:chExt cx="7381903"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50" name="íṧļîḋê"/>
            <p:cNvSpPr txBox="1"/>
            <p:nvPr/>
          </p:nvSpPr>
          <p:spPr>
            <a:xfrm>
              <a:off x="4882718" y="4714289"/>
              <a:ext cx="6636180"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endParaRPr lang="zh-CN" altLang="en-US" sz="2000" dirty="0"/>
            </a:p>
            <a:p>
              <a:pPr>
                <a:lnSpc>
                  <a:spcPct val="130000"/>
                </a:lnSpc>
              </a:pPr>
              <a:r>
                <a:rPr lang="zh-CN" altLang="en-US" sz="2000" dirty="0">
                  <a:solidFill>
                    <a:srgbClr val="0000FF"/>
                  </a:solidFill>
                </a:rPr>
                <a:t>不可再现性</a:t>
              </a:r>
              <a:endParaRPr lang="zh-CN" altLang="en-US" sz="20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000" dirty="0"/>
                <a:t>程序经过多次执行后，虽然其执行时的环境和初始条件都相同，但得到的结果却各不相同。</a:t>
              </a:r>
              <a:endParaRPr lang="zh-CN" altLang="en-US" sz="20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不可再现性的例子</a:t>
            </a:r>
            <a:endParaRPr lang="zh-CN" altLang="en-US" sz="2800" b="1" dirty="0">
              <a:solidFill>
                <a:schemeClr val="bg1"/>
              </a:solidFill>
            </a:endParaRPr>
          </a:p>
        </p:txBody>
      </p:sp>
      <p:sp>
        <p:nvSpPr>
          <p:cNvPr id="29" name="TextBox 4"/>
          <p:cNvSpPr txBox="1"/>
          <p:nvPr/>
        </p:nvSpPr>
        <p:spPr>
          <a:xfrm>
            <a:off x="773649" y="1116776"/>
            <a:ext cx="1643063" cy="2239844"/>
          </a:xfrm>
          <a:prstGeom prst="rect">
            <a:avLst/>
          </a:prstGeom>
          <a:noFill/>
        </p:spPr>
        <p:txBody>
          <a:bodyPr wrap="square">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A</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N:=N+1;</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zh-CN" altLang="en-US" sz="2400" b="1" dirty="0">
              <a:solidFill>
                <a:schemeClr val="accent1">
                  <a:lumMod val="60000"/>
                  <a:lumOff val="40000"/>
                </a:schemeClr>
              </a:solidFill>
            </a:endParaRPr>
          </a:p>
        </p:txBody>
      </p:sp>
      <p:sp>
        <p:nvSpPr>
          <p:cNvPr id="30" name="TextBox 5"/>
          <p:cNvSpPr txBox="1"/>
          <p:nvPr/>
        </p:nvSpPr>
        <p:spPr>
          <a:xfrm>
            <a:off x="773648" y="3583309"/>
            <a:ext cx="1643063" cy="2239844"/>
          </a:xfrm>
          <a:prstGeom prst="rect">
            <a:avLst/>
          </a:prstGeom>
          <a:noFill/>
        </p:spPr>
        <p:txBody>
          <a:bodyPr>
            <a:spAutoFit/>
          </a:bodyPr>
          <a:lstStyle/>
          <a:p>
            <a:pPr eaLnBrk="1" hangingPunct="1">
              <a:lnSpc>
                <a:spcPct val="150000"/>
              </a:lnSpc>
              <a:defRPr/>
            </a:pPr>
            <a:r>
              <a:rPr lang="zh-CN" altLang="en-US" sz="2400" b="1" dirty="0">
                <a:solidFill>
                  <a:srgbClr val="FF0000"/>
                </a:solidFill>
              </a:rPr>
              <a:t>程序</a:t>
            </a:r>
            <a:r>
              <a:rPr lang="en-US" altLang="zh-CN" sz="2400" b="1" dirty="0">
                <a:solidFill>
                  <a:srgbClr val="FF0000"/>
                </a:solidFill>
              </a:rPr>
              <a:t>B</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print(N);</a:t>
            </a:r>
            <a:endParaRPr lang="en-US" altLang="zh-CN" sz="2400" b="1" dirty="0">
              <a:solidFill>
                <a:schemeClr val="accent1">
                  <a:lumMod val="60000"/>
                  <a:lumOff val="40000"/>
                </a:schemeClr>
              </a:solidFill>
            </a:endParaRPr>
          </a:p>
          <a:p>
            <a:pPr eaLnBrk="1" hangingPunct="1">
              <a:lnSpc>
                <a:spcPct val="150000"/>
              </a:lnSpc>
              <a:defRPr/>
            </a:pPr>
            <a:r>
              <a:rPr lang="en-US" altLang="zh-CN" sz="2400" b="1" dirty="0">
                <a:solidFill>
                  <a:schemeClr val="accent1">
                    <a:lumMod val="60000"/>
                    <a:lumOff val="40000"/>
                  </a:schemeClr>
                </a:solidFill>
              </a:rPr>
              <a:t>N:=0;</a:t>
            </a:r>
            <a:endParaRPr lang="en-US" altLang="zh-CN" sz="2400" b="1" dirty="0">
              <a:solidFill>
                <a:schemeClr val="accent1">
                  <a:lumMod val="60000"/>
                  <a:lumOff val="40000"/>
                </a:schemeClr>
              </a:solidFill>
            </a:endParaRPr>
          </a:p>
        </p:txBody>
      </p:sp>
      <p:sp>
        <p:nvSpPr>
          <p:cNvPr id="32" name="文本框 31"/>
          <p:cNvSpPr txBox="1"/>
          <p:nvPr/>
        </p:nvSpPr>
        <p:spPr>
          <a:xfrm>
            <a:off x="2704565" y="1194578"/>
            <a:ext cx="9156878" cy="4647426"/>
          </a:xfrm>
          <a:prstGeom prst="rect">
            <a:avLst/>
          </a:prstGeom>
          <a:noFill/>
        </p:spPr>
        <p:txBody>
          <a:bodyPr wrap="square" rtlCol="0">
            <a:spAutoFit/>
          </a:bodyPr>
          <a:lstStyle/>
          <a:p>
            <a:pPr>
              <a:lnSpc>
                <a:spcPct val="150000"/>
              </a:lnSpc>
            </a:pPr>
            <a:r>
              <a:rPr lang="zh-CN" altLang="en-US" sz="2400" dirty="0"/>
              <a:t>循环程序</a:t>
            </a:r>
            <a:r>
              <a:rPr lang="en-US" altLang="zh-CN" sz="2400" dirty="0"/>
              <a:t>A</a:t>
            </a:r>
            <a:r>
              <a:rPr lang="zh-CN" altLang="en-US" sz="2400" dirty="0"/>
              <a:t>和</a:t>
            </a:r>
            <a:r>
              <a:rPr lang="en-US" altLang="zh-CN" sz="2400" dirty="0"/>
              <a:t>B</a:t>
            </a:r>
            <a:r>
              <a:rPr lang="zh-CN" altLang="en-US" sz="2400" dirty="0"/>
              <a:t>共享一个变量</a:t>
            </a:r>
            <a:r>
              <a:rPr lang="en-US" altLang="zh-CN" sz="2400" dirty="0"/>
              <a:t>N</a:t>
            </a:r>
            <a:r>
              <a:rPr lang="zh-CN" altLang="en-US" sz="2400" dirty="0"/>
              <a:t>，他们以不同的速度运行。</a:t>
            </a:r>
            <a:r>
              <a:rPr lang="en-US" altLang="zh-CN" sz="2400" dirty="0"/>
              <a:t>(</a:t>
            </a:r>
            <a:r>
              <a:rPr lang="zh-CN" altLang="en-US" sz="2400" dirty="0"/>
              <a:t>假定某时刻变量</a:t>
            </a:r>
            <a:r>
              <a:rPr lang="en-US" altLang="zh-CN" sz="2400" dirty="0"/>
              <a:t>N</a:t>
            </a:r>
            <a:r>
              <a:rPr lang="zh-CN" altLang="en-US" sz="2400" dirty="0"/>
              <a:t>的值为</a:t>
            </a:r>
            <a:r>
              <a:rPr lang="en-US" altLang="zh-CN" sz="2400" dirty="0"/>
              <a:t>n</a:t>
            </a:r>
            <a:r>
              <a:rPr lang="zh-CN" altLang="en-US" sz="2400" dirty="0"/>
              <a:t>）。</a:t>
            </a:r>
            <a:endParaRPr lang="en-US" altLang="zh-CN" sz="2400" dirty="0"/>
          </a:p>
          <a:p>
            <a:pPr>
              <a:lnSpc>
                <a:spcPct val="150000"/>
              </a:lnSpc>
            </a:pPr>
            <a:endParaRPr lang="zh-CN" altLang="en-US" sz="2400" dirty="0"/>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之前，此时得到的</a:t>
            </a:r>
            <a:r>
              <a:rPr lang="en-US" altLang="zh-CN" sz="2200" dirty="0">
                <a:latin typeface="+mn-ea"/>
              </a:rPr>
              <a:t>N</a:t>
            </a:r>
            <a:r>
              <a:rPr lang="zh-CN" altLang="en-US" sz="2200" dirty="0">
                <a:latin typeface="+mn-ea"/>
              </a:rPr>
              <a:t>值分别为</a:t>
            </a:r>
            <a:r>
              <a:rPr lang="en-US" altLang="zh-CN" sz="2200" dirty="0">
                <a:latin typeface="+mn-ea"/>
              </a:rPr>
              <a:t>n+1,n+1,0</a:t>
            </a:r>
            <a:endParaRPr lang="en-US" altLang="zh-CN"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之后，此时得到的</a:t>
            </a:r>
            <a:r>
              <a:rPr lang="en-US" altLang="zh-CN" sz="2200" dirty="0">
                <a:latin typeface="+mn-ea"/>
              </a:rPr>
              <a:t>N</a:t>
            </a:r>
            <a:r>
              <a:rPr lang="zh-CN" altLang="en-US" sz="2200" dirty="0">
                <a:latin typeface="+mn-ea"/>
              </a:rPr>
              <a:t>值分别为</a:t>
            </a:r>
            <a:r>
              <a:rPr lang="en-US" altLang="zh-CN" sz="2200" dirty="0">
                <a:latin typeface="+mn-ea"/>
              </a:rPr>
              <a:t>n, 0 , 1</a:t>
            </a:r>
            <a:endParaRPr lang="en-US" altLang="zh-CN" sz="2200" dirty="0">
              <a:latin typeface="+mn-ea"/>
            </a:endParaRPr>
          </a:p>
          <a:p>
            <a:pPr marL="342900" indent="-342900" algn="just">
              <a:lnSpc>
                <a:spcPct val="150000"/>
              </a:lnSpc>
              <a:spcAft>
                <a:spcPts val="600"/>
              </a:spcAft>
              <a:buClr>
                <a:srgbClr val="FF0000"/>
              </a:buClr>
              <a:buFont typeface="Wingdings" panose="05000000000000000000" pitchFamily="2" charset="2"/>
              <a:buChar char="Ø"/>
            </a:pPr>
            <a:r>
              <a:rPr lang="en-US" altLang="zh-CN" sz="2200" dirty="0">
                <a:latin typeface="+mn-ea"/>
              </a:rPr>
              <a:t>N:=N+1  </a:t>
            </a:r>
            <a:r>
              <a:rPr lang="zh-CN" altLang="en-US" sz="2200" dirty="0">
                <a:latin typeface="+mn-ea"/>
              </a:rPr>
              <a:t>在</a:t>
            </a:r>
            <a:r>
              <a:rPr lang="en-US" altLang="zh-CN" sz="2200" dirty="0">
                <a:latin typeface="+mn-ea"/>
              </a:rPr>
              <a:t>print(N)</a:t>
            </a:r>
            <a:r>
              <a:rPr lang="zh-CN" altLang="en-US" sz="2200" dirty="0">
                <a:latin typeface="+mn-ea"/>
              </a:rPr>
              <a:t>和</a:t>
            </a:r>
            <a:r>
              <a:rPr lang="en-US" altLang="zh-CN" sz="2200" dirty="0">
                <a:latin typeface="+mn-ea"/>
              </a:rPr>
              <a:t>N:=0</a:t>
            </a:r>
            <a:r>
              <a:rPr lang="zh-CN" altLang="en-US" sz="2200" dirty="0">
                <a:latin typeface="+mn-ea"/>
              </a:rPr>
              <a:t>之间，此时得到的</a:t>
            </a:r>
            <a:r>
              <a:rPr lang="en-US" altLang="zh-CN" sz="2200" dirty="0">
                <a:latin typeface="+mn-ea"/>
              </a:rPr>
              <a:t>N</a:t>
            </a:r>
            <a:r>
              <a:rPr lang="zh-CN" altLang="en-US" sz="2200" dirty="0">
                <a:latin typeface="+mn-ea"/>
              </a:rPr>
              <a:t>值分别为</a:t>
            </a:r>
            <a:r>
              <a:rPr lang="en-US" altLang="zh-CN" sz="2200" dirty="0">
                <a:latin typeface="+mn-ea"/>
              </a:rPr>
              <a:t>n,n+1,0</a:t>
            </a:r>
            <a:endParaRPr lang="en-US" altLang="zh-CN" sz="2200" dirty="0">
              <a:latin typeface="+mn-ea"/>
            </a:endParaRPr>
          </a:p>
          <a:p>
            <a:pPr algn="just">
              <a:lnSpc>
                <a:spcPct val="150000"/>
              </a:lnSpc>
              <a:spcAft>
                <a:spcPts val="600"/>
              </a:spcAft>
              <a:buClr>
                <a:srgbClr val="FF0000"/>
              </a:buClr>
            </a:pPr>
            <a:endParaRPr lang="en-US" altLang="zh-CN" sz="2200" dirty="0">
              <a:latin typeface="+mn-ea"/>
            </a:endParaRPr>
          </a:p>
          <a:p>
            <a:pPr algn="just">
              <a:lnSpc>
                <a:spcPct val="150000"/>
              </a:lnSpc>
              <a:spcAft>
                <a:spcPts val="600"/>
              </a:spcAft>
            </a:pPr>
            <a:r>
              <a:rPr lang="zh-CN" altLang="en-US" sz="2400" dirty="0">
                <a:solidFill>
                  <a:srgbClr val="FF0000"/>
                </a:solidFill>
                <a:latin typeface="+mn-ea"/>
              </a:rPr>
              <a:t>结论：失去了可再现性。</a:t>
            </a:r>
            <a:endParaRPr lang="zh-CN" altLang="en-US" sz="2200" dirty="0">
              <a:latin typeface="+mn-ea"/>
            </a:endParaRPr>
          </a:p>
        </p:txBody>
      </p:sp>
      <p:cxnSp>
        <p:nvCxnSpPr>
          <p:cNvPr id="3" name="直接连接符 2"/>
          <p:cNvCxnSpPr/>
          <p:nvPr/>
        </p:nvCxnSpPr>
        <p:spPr>
          <a:xfrm>
            <a:off x="2807594" y="2648469"/>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704565" y="5005303"/>
            <a:ext cx="8757634"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solidFill>
                  <a:srgbClr val="0000FF"/>
                </a:solidFill>
                <a:latin typeface="+mj-ea"/>
              </a:rPr>
              <a:t>2.2 </a:t>
            </a:r>
            <a:r>
              <a:rPr lang="zh-CN" altLang="en-US" sz="2400" dirty="0">
                <a:solidFill>
                  <a:srgbClr val="0000FF"/>
                </a:solidFill>
                <a:latin typeface="+mj-ea"/>
              </a:rPr>
              <a:t>进程的描述</a:t>
            </a:r>
            <a:endParaRPr lang="zh-CN" altLang="en-US" sz="2400" dirty="0">
              <a:solidFill>
                <a:srgbClr val="0000FF"/>
              </a:solidFill>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进程例子： </a:t>
            </a:r>
            <a:r>
              <a:rPr lang="en-US" altLang="zh-CN" sz="2800" b="1" dirty="0">
                <a:solidFill>
                  <a:schemeClr val="bg1"/>
                </a:solidFill>
              </a:rPr>
              <a:t>Windows 11</a:t>
            </a:r>
            <a:endParaRPr lang="zh-CN" altLang="en-US" sz="2800" b="1" dirty="0">
              <a:solidFill>
                <a:schemeClr val="bg1"/>
              </a:solidFill>
            </a:endParaRPr>
          </a:p>
        </p:txBody>
      </p:sp>
      <p:graphicFrame>
        <p:nvGraphicFramePr>
          <p:cNvPr id="16387" name="Object 2"/>
          <p:cNvGraphicFramePr>
            <a:graphicFrameLocks noGrp="1" noChangeAspect="1"/>
          </p:cNvGraphicFramePr>
          <p:nvPr>
            <p:ph idx="1"/>
          </p:nvPr>
        </p:nvGraphicFramePr>
        <p:xfrm>
          <a:off x="3282315" y="1348105"/>
          <a:ext cx="5628005" cy="4440555"/>
        </p:xfrm>
        <a:graphic>
          <a:graphicData uri="http://schemas.openxmlformats.org/presentationml/2006/ole">
            <mc:AlternateContent xmlns:mc="http://schemas.openxmlformats.org/markup-compatibility/2006">
              <mc:Choice xmlns:v="urn:schemas-microsoft-com:vml" Requires="v">
                <p:oleObj spid="_x0000_s16391" name="位图图像" r:id="rId1" imgW="3848100" imgH="4048125" progId="Paint.Picture">
                  <p:embed/>
                </p:oleObj>
              </mc:Choice>
              <mc:Fallback>
                <p:oleObj name="位图图像" r:id="rId1" imgW="3848100" imgH="404812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315" y="1348105"/>
                        <a:ext cx="5628005" cy="44405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3"/>
          <a:stretch>
            <a:fillRect/>
          </a:stretch>
        </p:blipFill>
        <p:spPr>
          <a:xfrm>
            <a:off x="2457450" y="956945"/>
            <a:ext cx="6906260" cy="52247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chemeClr val="bg1"/>
                </a:solidFill>
              </a:rPr>
              <a:t>进程的定义和特征</a:t>
            </a:r>
            <a:endParaRPr lang="zh-CN" altLang="en-US" sz="2800" b="1" dirty="0">
              <a:solidFill>
                <a:schemeClr val="bg1"/>
              </a:solidFill>
            </a:endParaRPr>
          </a:p>
        </p:txBody>
      </p:sp>
      <p:sp>
        <p:nvSpPr>
          <p:cNvPr id="29" name="íšḻîḋè"/>
          <p:cNvSpPr/>
          <p:nvPr/>
        </p:nvSpPr>
        <p:spPr>
          <a:xfrm>
            <a:off x="417830" y="1242695"/>
            <a:ext cx="10659745" cy="78994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600" dirty="0">
                <a:solidFill>
                  <a:schemeClr val="accent4">
                    <a:lumMod val="40000"/>
                    <a:lumOff val="60000"/>
                  </a:schemeClr>
                </a:solidFill>
              </a:rPr>
              <a:t>进程是程序的执行过程，是系统进行</a:t>
            </a:r>
            <a:r>
              <a:rPr lang="zh-CN" altLang="en-US" sz="2600" b="1" dirty="0">
                <a:solidFill>
                  <a:srgbClr val="FF0000"/>
                </a:solidFill>
              </a:rPr>
              <a:t>资源分配</a:t>
            </a:r>
            <a:r>
              <a:rPr lang="zh-CN" altLang="en-US" sz="2600" dirty="0">
                <a:solidFill>
                  <a:schemeClr val="accent4">
                    <a:lumMod val="40000"/>
                    <a:lumOff val="60000"/>
                  </a:schemeClr>
                </a:solidFill>
              </a:rPr>
              <a:t>和</a:t>
            </a:r>
            <a:r>
              <a:rPr lang="zh-CN" altLang="en-US" sz="2600" b="1" dirty="0">
                <a:solidFill>
                  <a:srgbClr val="FF0000"/>
                </a:solidFill>
              </a:rPr>
              <a:t>调度</a:t>
            </a:r>
            <a:r>
              <a:rPr lang="zh-CN" altLang="en-US" sz="2600" dirty="0">
                <a:solidFill>
                  <a:schemeClr val="accent4">
                    <a:lumMod val="40000"/>
                    <a:lumOff val="60000"/>
                  </a:schemeClr>
                </a:solidFill>
              </a:rPr>
              <a:t>的一个独立单位。</a:t>
            </a:r>
            <a:endParaRPr lang="zh-CN" altLang="en-US" sz="2600" dirty="0">
              <a:solidFill>
                <a:schemeClr val="accent4">
                  <a:lumMod val="40000"/>
                  <a:lumOff val="60000"/>
                </a:schemeClr>
              </a:solidFill>
            </a:endParaRPr>
          </a:p>
        </p:txBody>
      </p:sp>
      <p:grpSp>
        <p:nvGrpSpPr>
          <p:cNvPr id="6" name="21090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03655" y="1903730"/>
            <a:ext cx="9620885" cy="3250565"/>
            <a:chOff x="669926" y="1922779"/>
            <a:chExt cx="10848974" cy="3664978"/>
          </a:xfrm>
        </p:grpSpPr>
        <p:cxnSp>
          <p:nvCxnSpPr>
            <p:cNvPr id="7" name="直接连接符 6"/>
            <p:cNvCxnSpPr/>
            <p:nvPr/>
          </p:nvCxnSpPr>
          <p:spPr>
            <a:xfrm flipV="1">
              <a:off x="6099535" y="2407919"/>
              <a:ext cx="0" cy="76130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95108" y="3664801"/>
              <a:ext cx="724059"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449958" y="2339556"/>
              <a:ext cx="912050" cy="97482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4764529" y="2318437"/>
              <a:ext cx="984583" cy="9959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4854098" y="3664801"/>
              <a:ext cx="749865"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796612" y="4015224"/>
              <a:ext cx="952500" cy="9568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092466" y="4160374"/>
              <a:ext cx="7069" cy="70084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449958" y="4015224"/>
              <a:ext cx="951085" cy="95108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îśḷîde"/>
            <p:cNvSpPr/>
            <p:nvPr/>
          </p:nvSpPr>
          <p:spPr bwMode="auto">
            <a:xfrm>
              <a:off x="5661932" y="4251476"/>
              <a:ext cx="873791" cy="664534"/>
            </a:xfrm>
            <a:custGeom>
              <a:avLst/>
              <a:gdLst>
                <a:gd name="T0" fmla="*/ 647 w 647"/>
                <a:gd name="T1" fmla="*/ 413 h 492"/>
                <a:gd name="T2" fmla="*/ 647 w 647"/>
                <a:gd name="T3" fmla="*/ 413 h 492"/>
                <a:gd name="T4" fmla="*/ 0 w 647"/>
                <a:gd name="T5" fmla="*/ 415 h 492"/>
                <a:gd name="T6" fmla="*/ 153 w 647"/>
                <a:gd name="T7" fmla="*/ 1 h 492"/>
                <a:gd name="T8" fmla="*/ 492 w 647"/>
                <a:gd name="T9" fmla="*/ 0 h 492"/>
                <a:gd name="T10" fmla="*/ 492 w 647"/>
                <a:gd name="T11" fmla="*/ 0 h 492"/>
                <a:gd name="T12" fmla="*/ 647 w 647"/>
                <a:gd name="T13" fmla="*/ 413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647" y="413"/>
                  </a:moveTo>
                  <a:cubicBezTo>
                    <a:pt x="647" y="413"/>
                    <a:pt x="647" y="413"/>
                    <a:pt x="647" y="413"/>
                  </a:cubicBezTo>
                  <a:cubicBezTo>
                    <a:pt x="439" y="491"/>
                    <a:pt x="209" y="492"/>
                    <a:pt x="0" y="415"/>
                  </a:cubicBezTo>
                  <a:cubicBezTo>
                    <a:pt x="153" y="1"/>
                    <a:pt x="153" y="1"/>
                    <a:pt x="153" y="1"/>
                  </a:cubicBezTo>
                  <a:cubicBezTo>
                    <a:pt x="263" y="41"/>
                    <a:pt x="383" y="41"/>
                    <a:pt x="492" y="0"/>
                  </a:cubicBezTo>
                  <a:cubicBezTo>
                    <a:pt x="492" y="0"/>
                    <a:pt x="492" y="0"/>
                    <a:pt x="492" y="0"/>
                  </a:cubicBezTo>
                  <a:cubicBezTo>
                    <a:pt x="647" y="413"/>
                    <a:pt x="647" y="413"/>
                    <a:pt x="647" y="413"/>
                  </a:cubicBezTo>
                </a:path>
              </a:pathLst>
            </a:custGeom>
            <a:solidFill>
              <a:schemeClr val="bg1">
                <a:lumMod val="95000"/>
              </a:schemeClr>
            </a:solidFill>
            <a:ln>
              <a:noFill/>
            </a:ln>
          </p:spPr>
          <p:txBody>
            <a:bodyPr vert="horz" wrap="square" lIns="91440" tIns="45720" rIns="91440" bIns="45720" numCol="1" anchor="t" anchorCtr="0" compatLnSpc="1">
              <a:normAutofit/>
            </a:bodyPr>
            <a:p>
              <a:endParaRPr lang="en-US"/>
            </a:p>
          </p:txBody>
        </p:sp>
        <p:sp>
          <p:nvSpPr>
            <p:cNvPr id="16" name="îṣľiďe"/>
            <p:cNvSpPr/>
            <p:nvPr/>
          </p:nvSpPr>
          <p:spPr bwMode="auto">
            <a:xfrm>
              <a:off x="6507445" y="4046460"/>
              <a:ext cx="1303618" cy="1303617"/>
            </a:xfrm>
            <a:custGeom>
              <a:avLst/>
              <a:gdLst>
                <a:gd name="T0" fmla="*/ 277 w 966"/>
                <a:gd name="T1" fmla="*/ 966 h 966"/>
                <a:gd name="T2" fmla="*/ 0 w 966"/>
                <a:gd name="T3" fmla="*/ 362 h 966"/>
                <a:gd name="T4" fmla="*/ 360 w 966"/>
                <a:gd name="T5" fmla="*/ 0 h 966"/>
                <a:gd name="T6" fmla="*/ 966 w 966"/>
                <a:gd name="T7" fmla="*/ 275 h 966"/>
                <a:gd name="T8" fmla="*/ 277 w 966"/>
                <a:gd name="T9" fmla="*/ 966 h 966"/>
              </a:gdLst>
              <a:ahLst/>
              <a:cxnLst>
                <a:cxn ang="0">
                  <a:pos x="T0" y="T1"/>
                </a:cxn>
                <a:cxn ang="0">
                  <a:pos x="T2" y="T3"/>
                </a:cxn>
                <a:cxn ang="0">
                  <a:pos x="T4" y="T5"/>
                </a:cxn>
                <a:cxn ang="0">
                  <a:pos x="T6" y="T7"/>
                </a:cxn>
                <a:cxn ang="0">
                  <a:pos x="T8" y="T9"/>
                </a:cxn>
              </a:cxnLst>
              <a:rect l="0" t="0" r="r" b="b"/>
              <a:pathLst>
                <a:path w="966" h="966">
                  <a:moveTo>
                    <a:pt x="277" y="966"/>
                  </a:moveTo>
                  <a:cubicBezTo>
                    <a:pt x="0" y="362"/>
                    <a:pt x="0" y="362"/>
                    <a:pt x="0" y="362"/>
                  </a:cubicBezTo>
                  <a:cubicBezTo>
                    <a:pt x="160" y="289"/>
                    <a:pt x="287" y="160"/>
                    <a:pt x="360" y="0"/>
                  </a:cubicBezTo>
                  <a:cubicBezTo>
                    <a:pt x="966" y="275"/>
                    <a:pt x="966" y="275"/>
                    <a:pt x="966" y="275"/>
                  </a:cubicBezTo>
                  <a:cubicBezTo>
                    <a:pt x="827" y="581"/>
                    <a:pt x="582" y="826"/>
                    <a:pt x="277" y="966"/>
                  </a:cubicBezTo>
                </a:path>
              </a:pathLst>
            </a:custGeom>
            <a:solidFill>
              <a:schemeClr val="bg1">
                <a:lumMod val="65000"/>
              </a:schemeClr>
            </a:solidFill>
            <a:ln>
              <a:noFill/>
            </a:ln>
          </p:spPr>
          <p:txBody>
            <a:bodyPr vert="horz" wrap="square" lIns="91440" tIns="45720" rIns="91440" bIns="45720" numCol="1" anchor="t" anchorCtr="0" compatLnSpc="1">
              <a:normAutofit/>
            </a:bodyPr>
            <a:p>
              <a:endParaRPr lang="en-US"/>
            </a:p>
          </p:txBody>
        </p:sp>
        <p:sp>
          <p:nvSpPr>
            <p:cNvPr id="17" name="ïṡľîḋe"/>
            <p:cNvSpPr/>
            <p:nvPr/>
          </p:nvSpPr>
          <p:spPr bwMode="auto">
            <a:xfrm>
              <a:off x="4386593" y="4052116"/>
              <a:ext cx="1302204" cy="1302204"/>
            </a:xfrm>
            <a:custGeom>
              <a:avLst/>
              <a:gdLst>
                <a:gd name="T0" fmla="*/ 691 w 966"/>
                <a:gd name="T1" fmla="*/ 965 h 965"/>
                <a:gd name="T2" fmla="*/ 0 w 966"/>
                <a:gd name="T3" fmla="*/ 277 h 965"/>
                <a:gd name="T4" fmla="*/ 604 w 966"/>
                <a:gd name="T5" fmla="*/ 0 h 965"/>
                <a:gd name="T6" fmla="*/ 966 w 966"/>
                <a:gd name="T7" fmla="*/ 360 h 965"/>
                <a:gd name="T8" fmla="*/ 691 w 966"/>
                <a:gd name="T9" fmla="*/ 965 h 965"/>
              </a:gdLst>
              <a:ahLst/>
              <a:cxnLst>
                <a:cxn ang="0">
                  <a:pos x="T0" y="T1"/>
                </a:cxn>
                <a:cxn ang="0">
                  <a:pos x="T2" y="T3"/>
                </a:cxn>
                <a:cxn ang="0">
                  <a:pos x="T4" y="T5"/>
                </a:cxn>
                <a:cxn ang="0">
                  <a:pos x="T6" y="T7"/>
                </a:cxn>
                <a:cxn ang="0">
                  <a:pos x="T8" y="T9"/>
                </a:cxn>
              </a:cxnLst>
              <a:rect l="0" t="0" r="r" b="b"/>
              <a:pathLst>
                <a:path w="966" h="965">
                  <a:moveTo>
                    <a:pt x="691" y="965"/>
                  </a:moveTo>
                  <a:cubicBezTo>
                    <a:pt x="385" y="826"/>
                    <a:pt x="140" y="582"/>
                    <a:pt x="0" y="277"/>
                  </a:cubicBezTo>
                  <a:cubicBezTo>
                    <a:pt x="604" y="0"/>
                    <a:pt x="604" y="0"/>
                    <a:pt x="604" y="0"/>
                  </a:cubicBezTo>
                  <a:cubicBezTo>
                    <a:pt x="677" y="159"/>
                    <a:pt x="805" y="287"/>
                    <a:pt x="966" y="360"/>
                  </a:cubicBezTo>
                  <a:cubicBezTo>
                    <a:pt x="691" y="965"/>
                    <a:pt x="691" y="965"/>
                    <a:pt x="691" y="965"/>
                  </a:cubicBezTo>
                </a:path>
              </a:pathLst>
            </a:custGeom>
            <a:solidFill>
              <a:schemeClr val="accent1"/>
            </a:solidFill>
            <a:ln>
              <a:noFill/>
            </a:ln>
          </p:spPr>
          <p:txBody>
            <a:bodyPr vert="horz" wrap="square" lIns="91440" tIns="45720" rIns="91440" bIns="45720" numCol="1" anchor="t" anchorCtr="0" compatLnSpc="1">
              <a:normAutofit/>
            </a:bodyPr>
            <a:p>
              <a:endParaRPr lang="en-US"/>
            </a:p>
          </p:txBody>
        </p:sp>
        <p:sp>
          <p:nvSpPr>
            <p:cNvPr id="43" name="ïšľiḓé"/>
            <p:cNvSpPr/>
            <p:nvPr/>
          </p:nvSpPr>
          <p:spPr bwMode="auto">
            <a:xfrm>
              <a:off x="6708220" y="3198119"/>
              <a:ext cx="664534" cy="875206"/>
            </a:xfrm>
            <a:custGeom>
              <a:avLst/>
              <a:gdLst>
                <a:gd name="T0" fmla="*/ 415 w 493"/>
                <a:gd name="T1" fmla="*/ 649 h 649"/>
                <a:gd name="T2" fmla="*/ 2 w 493"/>
                <a:gd name="T3" fmla="*/ 495 h 649"/>
                <a:gd name="T4" fmla="*/ 1 w 493"/>
                <a:gd name="T5" fmla="*/ 156 h 649"/>
                <a:gd name="T6" fmla="*/ 0 w 493"/>
                <a:gd name="T7" fmla="*/ 155 h 649"/>
                <a:gd name="T8" fmla="*/ 413 w 493"/>
                <a:gd name="T9" fmla="*/ 0 h 649"/>
                <a:gd name="T10" fmla="*/ 414 w 493"/>
                <a:gd name="T11" fmla="*/ 1 h 649"/>
                <a:gd name="T12" fmla="*/ 415 w 493"/>
                <a:gd name="T13" fmla="*/ 649 h 649"/>
              </a:gdLst>
              <a:ahLst/>
              <a:cxnLst>
                <a:cxn ang="0">
                  <a:pos x="T0" y="T1"/>
                </a:cxn>
                <a:cxn ang="0">
                  <a:pos x="T2" y="T3"/>
                </a:cxn>
                <a:cxn ang="0">
                  <a:pos x="T4" y="T5"/>
                </a:cxn>
                <a:cxn ang="0">
                  <a:pos x="T6" y="T7"/>
                </a:cxn>
                <a:cxn ang="0">
                  <a:pos x="T8" y="T9"/>
                </a:cxn>
                <a:cxn ang="0">
                  <a:pos x="T10" y="T11"/>
                </a:cxn>
                <a:cxn ang="0">
                  <a:pos x="T12" y="T13"/>
                </a:cxn>
              </a:cxnLst>
              <a:rect l="0" t="0" r="r" b="b"/>
              <a:pathLst>
                <a:path w="493" h="649">
                  <a:moveTo>
                    <a:pt x="415" y="649"/>
                  </a:moveTo>
                  <a:cubicBezTo>
                    <a:pt x="2" y="495"/>
                    <a:pt x="2" y="495"/>
                    <a:pt x="2" y="495"/>
                  </a:cubicBezTo>
                  <a:cubicBezTo>
                    <a:pt x="42" y="386"/>
                    <a:pt x="42" y="266"/>
                    <a:pt x="1" y="156"/>
                  </a:cubicBezTo>
                  <a:cubicBezTo>
                    <a:pt x="0" y="155"/>
                    <a:pt x="0" y="155"/>
                    <a:pt x="0" y="155"/>
                  </a:cubicBezTo>
                  <a:cubicBezTo>
                    <a:pt x="413" y="0"/>
                    <a:pt x="413" y="0"/>
                    <a:pt x="413" y="0"/>
                  </a:cubicBezTo>
                  <a:cubicBezTo>
                    <a:pt x="414" y="1"/>
                    <a:pt x="414" y="1"/>
                    <a:pt x="414" y="1"/>
                  </a:cubicBezTo>
                  <a:cubicBezTo>
                    <a:pt x="492" y="210"/>
                    <a:pt x="493" y="440"/>
                    <a:pt x="415" y="649"/>
                  </a:cubicBezTo>
                </a:path>
              </a:pathLst>
            </a:custGeom>
            <a:solidFill>
              <a:schemeClr val="bg1">
                <a:lumMod val="95000"/>
              </a:schemeClr>
            </a:solidFill>
            <a:ln>
              <a:noFill/>
            </a:ln>
          </p:spPr>
          <p:txBody>
            <a:bodyPr vert="horz" wrap="square" lIns="91440" tIns="45720" rIns="91440" bIns="45720" numCol="1" anchor="t" anchorCtr="0" compatLnSpc="1">
              <a:normAutofit/>
            </a:bodyPr>
            <a:p>
              <a:endParaRPr lang="en-US"/>
            </a:p>
          </p:txBody>
        </p:sp>
        <p:sp>
          <p:nvSpPr>
            <p:cNvPr id="44" name="iṩḷide"/>
            <p:cNvSpPr/>
            <p:nvPr/>
          </p:nvSpPr>
          <p:spPr bwMode="auto">
            <a:xfrm>
              <a:off x="4820660" y="3206603"/>
              <a:ext cx="663120" cy="872378"/>
            </a:xfrm>
            <a:custGeom>
              <a:avLst/>
              <a:gdLst>
                <a:gd name="T0" fmla="*/ 492 w 492"/>
                <a:gd name="T1" fmla="*/ 492 h 647"/>
                <a:gd name="T2" fmla="*/ 79 w 492"/>
                <a:gd name="T3" fmla="*/ 647 h 647"/>
                <a:gd name="T4" fmla="*/ 78 w 492"/>
                <a:gd name="T5" fmla="*/ 646 h 647"/>
                <a:gd name="T6" fmla="*/ 77 w 492"/>
                <a:gd name="T7" fmla="*/ 0 h 647"/>
                <a:gd name="T8" fmla="*/ 491 w 492"/>
                <a:gd name="T9" fmla="*/ 153 h 647"/>
                <a:gd name="T10" fmla="*/ 491 w 492"/>
                <a:gd name="T11" fmla="*/ 491 h 647"/>
                <a:gd name="T12" fmla="*/ 492 w 492"/>
                <a:gd name="T13" fmla="*/ 492 h 647"/>
              </a:gdLst>
              <a:ahLst/>
              <a:cxnLst>
                <a:cxn ang="0">
                  <a:pos x="T0" y="T1"/>
                </a:cxn>
                <a:cxn ang="0">
                  <a:pos x="T2" y="T3"/>
                </a:cxn>
                <a:cxn ang="0">
                  <a:pos x="T4" y="T5"/>
                </a:cxn>
                <a:cxn ang="0">
                  <a:pos x="T6" y="T7"/>
                </a:cxn>
                <a:cxn ang="0">
                  <a:pos x="T8" y="T9"/>
                </a:cxn>
                <a:cxn ang="0">
                  <a:pos x="T10" y="T11"/>
                </a:cxn>
                <a:cxn ang="0">
                  <a:pos x="T12" y="T13"/>
                </a:cxn>
              </a:cxnLst>
              <a:rect l="0" t="0" r="r" b="b"/>
              <a:pathLst>
                <a:path w="492" h="647">
                  <a:moveTo>
                    <a:pt x="492" y="492"/>
                  </a:moveTo>
                  <a:cubicBezTo>
                    <a:pt x="79" y="647"/>
                    <a:pt x="79" y="647"/>
                    <a:pt x="79" y="647"/>
                  </a:cubicBezTo>
                  <a:cubicBezTo>
                    <a:pt x="78" y="646"/>
                    <a:pt x="78" y="646"/>
                    <a:pt x="78" y="646"/>
                  </a:cubicBezTo>
                  <a:cubicBezTo>
                    <a:pt x="0" y="438"/>
                    <a:pt x="0" y="208"/>
                    <a:pt x="77" y="0"/>
                  </a:cubicBezTo>
                  <a:cubicBezTo>
                    <a:pt x="491" y="153"/>
                    <a:pt x="491" y="153"/>
                    <a:pt x="491" y="153"/>
                  </a:cubicBezTo>
                  <a:cubicBezTo>
                    <a:pt x="450" y="262"/>
                    <a:pt x="451" y="382"/>
                    <a:pt x="491" y="491"/>
                  </a:cubicBezTo>
                  <a:cubicBezTo>
                    <a:pt x="492" y="492"/>
                    <a:pt x="492" y="492"/>
                    <a:pt x="492" y="492"/>
                  </a:cubicBezTo>
                </a:path>
              </a:pathLst>
            </a:custGeom>
            <a:solidFill>
              <a:schemeClr val="bg1">
                <a:lumMod val="95000"/>
              </a:schemeClr>
            </a:solidFill>
            <a:ln>
              <a:noFill/>
            </a:ln>
          </p:spPr>
          <p:txBody>
            <a:bodyPr vert="horz" wrap="square" lIns="91440" tIns="45720" rIns="91440" bIns="45720" numCol="1" anchor="t" anchorCtr="0" compatLnSpc="1">
              <a:normAutofit/>
            </a:bodyPr>
            <a:p>
              <a:endParaRPr lang="en-US"/>
            </a:p>
          </p:txBody>
        </p:sp>
        <p:sp>
          <p:nvSpPr>
            <p:cNvPr id="45" name="iṩľïďé"/>
            <p:cNvSpPr/>
            <p:nvPr/>
          </p:nvSpPr>
          <p:spPr bwMode="auto">
            <a:xfrm>
              <a:off x="6503203" y="1922780"/>
              <a:ext cx="1302204" cy="1302204"/>
            </a:xfrm>
            <a:custGeom>
              <a:avLst/>
              <a:gdLst>
                <a:gd name="T0" fmla="*/ 362 w 966"/>
                <a:gd name="T1" fmla="*/ 965 h 965"/>
                <a:gd name="T2" fmla="*/ 0 w 966"/>
                <a:gd name="T3" fmla="*/ 606 h 965"/>
                <a:gd name="T4" fmla="*/ 274 w 966"/>
                <a:gd name="T5" fmla="*/ 0 h 965"/>
                <a:gd name="T6" fmla="*/ 966 w 966"/>
                <a:gd name="T7" fmla="*/ 687 h 965"/>
                <a:gd name="T8" fmla="*/ 362 w 966"/>
                <a:gd name="T9" fmla="*/ 965 h 965"/>
              </a:gdLst>
              <a:ahLst/>
              <a:cxnLst>
                <a:cxn ang="0">
                  <a:pos x="T0" y="T1"/>
                </a:cxn>
                <a:cxn ang="0">
                  <a:pos x="T2" y="T3"/>
                </a:cxn>
                <a:cxn ang="0">
                  <a:pos x="T4" y="T5"/>
                </a:cxn>
                <a:cxn ang="0">
                  <a:pos x="T6" y="T7"/>
                </a:cxn>
                <a:cxn ang="0">
                  <a:pos x="T8" y="T9"/>
                </a:cxn>
              </a:cxnLst>
              <a:rect l="0" t="0" r="r" b="b"/>
              <a:pathLst>
                <a:path w="966" h="965">
                  <a:moveTo>
                    <a:pt x="362" y="965"/>
                  </a:moveTo>
                  <a:cubicBezTo>
                    <a:pt x="289" y="806"/>
                    <a:pt x="160" y="678"/>
                    <a:pt x="0" y="606"/>
                  </a:cubicBezTo>
                  <a:cubicBezTo>
                    <a:pt x="274" y="0"/>
                    <a:pt x="274" y="0"/>
                    <a:pt x="274" y="0"/>
                  </a:cubicBezTo>
                  <a:cubicBezTo>
                    <a:pt x="580" y="138"/>
                    <a:pt x="826" y="383"/>
                    <a:pt x="966" y="687"/>
                  </a:cubicBezTo>
                  <a:cubicBezTo>
                    <a:pt x="362" y="965"/>
                    <a:pt x="362" y="965"/>
                    <a:pt x="362" y="965"/>
                  </a:cubicBezTo>
                </a:path>
              </a:pathLst>
            </a:custGeom>
            <a:solidFill>
              <a:schemeClr val="accent1"/>
            </a:solidFill>
            <a:ln>
              <a:noFill/>
            </a:ln>
          </p:spPr>
          <p:txBody>
            <a:bodyPr vert="horz" wrap="square" lIns="91440" tIns="45720" rIns="91440" bIns="45720" numCol="1" anchor="t" anchorCtr="0" compatLnSpc="1">
              <a:normAutofit/>
            </a:bodyPr>
            <a:p>
              <a:endParaRPr lang="en-US"/>
            </a:p>
          </p:txBody>
        </p:sp>
        <p:sp>
          <p:nvSpPr>
            <p:cNvPr id="46" name="îṣ1îḓê"/>
            <p:cNvSpPr/>
            <p:nvPr/>
          </p:nvSpPr>
          <p:spPr bwMode="auto">
            <a:xfrm>
              <a:off x="4380937" y="1928436"/>
              <a:ext cx="1302204" cy="1303617"/>
            </a:xfrm>
            <a:custGeom>
              <a:avLst/>
              <a:gdLst>
                <a:gd name="T0" fmla="*/ 606 w 965"/>
                <a:gd name="T1" fmla="*/ 966 h 966"/>
                <a:gd name="T2" fmla="*/ 0 w 965"/>
                <a:gd name="T3" fmla="*/ 692 h 966"/>
                <a:gd name="T4" fmla="*/ 688 w 965"/>
                <a:gd name="T5" fmla="*/ 0 h 966"/>
                <a:gd name="T6" fmla="*/ 965 w 965"/>
                <a:gd name="T7" fmla="*/ 604 h 966"/>
                <a:gd name="T8" fmla="*/ 606 w 965"/>
                <a:gd name="T9" fmla="*/ 966 h 966"/>
              </a:gdLst>
              <a:ahLst/>
              <a:cxnLst>
                <a:cxn ang="0">
                  <a:pos x="T0" y="T1"/>
                </a:cxn>
                <a:cxn ang="0">
                  <a:pos x="T2" y="T3"/>
                </a:cxn>
                <a:cxn ang="0">
                  <a:pos x="T4" y="T5"/>
                </a:cxn>
                <a:cxn ang="0">
                  <a:pos x="T6" y="T7"/>
                </a:cxn>
                <a:cxn ang="0">
                  <a:pos x="T8" y="T9"/>
                </a:cxn>
              </a:cxnLst>
              <a:rect l="0" t="0" r="r" b="b"/>
              <a:pathLst>
                <a:path w="965" h="966">
                  <a:moveTo>
                    <a:pt x="606" y="966"/>
                  </a:moveTo>
                  <a:cubicBezTo>
                    <a:pt x="0" y="692"/>
                    <a:pt x="0" y="692"/>
                    <a:pt x="0" y="692"/>
                  </a:cubicBezTo>
                  <a:cubicBezTo>
                    <a:pt x="139" y="386"/>
                    <a:pt x="383" y="140"/>
                    <a:pt x="688" y="0"/>
                  </a:cubicBezTo>
                  <a:cubicBezTo>
                    <a:pt x="965" y="604"/>
                    <a:pt x="965" y="604"/>
                    <a:pt x="965" y="604"/>
                  </a:cubicBezTo>
                  <a:cubicBezTo>
                    <a:pt x="806" y="677"/>
                    <a:pt x="678" y="806"/>
                    <a:pt x="606" y="966"/>
                  </a:cubicBezTo>
                </a:path>
              </a:pathLst>
            </a:custGeom>
            <a:solidFill>
              <a:schemeClr val="bg1">
                <a:lumMod val="65000"/>
              </a:schemeClr>
            </a:solidFill>
            <a:ln>
              <a:noFill/>
            </a:ln>
          </p:spPr>
          <p:txBody>
            <a:bodyPr vert="horz" wrap="square" lIns="91440" tIns="45720" rIns="91440" bIns="45720" numCol="1" anchor="t" anchorCtr="0" compatLnSpc="1">
              <a:normAutofit/>
            </a:bodyPr>
            <a:p>
              <a:endParaRPr lang="en-US"/>
            </a:p>
          </p:txBody>
        </p:sp>
        <p:sp>
          <p:nvSpPr>
            <p:cNvPr id="47" name="íṩḷïḍè"/>
            <p:cNvSpPr/>
            <p:nvPr/>
          </p:nvSpPr>
          <p:spPr bwMode="auto">
            <a:xfrm>
              <a:off x="5656277" y="2362503"/>
              <a:ext cx="872378" cy="664534"/>
            </a:xfrm>
            <a:custGeom>
              <a:avLst/>
              <a:gdLst>
                <a:gd name="T0" fmla="*/ 494 w 647"/>
                <a:gd name="T1" fmla="*/ 491 h 492"/>
                <a:gd name="T2" fmla="*/ 156 w 647"/>
                <a:gd name="T3" fmla="*/ 492 h 492"/>
                <a:gd name="T4" fmla="*/ 155 w 647"/>
                <a:gd name="T5" fmla="*/ 492 h 492"/>
                <a:gd name="T6" fmla="*/ 0 w 647"/>
                <a:gd name="T7" fmla="*/ 79 h 492"/>
                <a:gd name="T8" fmla="*/ 1 w 647"/>
                <a:gd name="T9" fmla="*/ 79 h 492"/>
                <a:gd name="T10" fmla="*/ 647 w 647"/>
                <a:gd name="T11" fmla="*/ 77 h 492"/>
                <a:gd name="T12" fmla="*/ 494 w 647"/>
                <a:gd name="T13" fmla="*/ 491 h 492"/>
              </a:gdLst>
              <a:ahLst/>
              <a:cxnLst>
                <a:cxn ang="0">
                  <a:pos x="T0" y="T1"/>
                </a:cxn>
                <a:cxn ang="0">
                  <a:pos x="T2" y="T3"/>
                </a:cxn>
                <a:cxn ang="0">
                  <a:pos x="T4" y="T5"/>
                </a:cxn>
                <a:cxn ang="0">
                  <a:pos x="T6" y="T7"/>
                </a:cxn>
                <a:cxn ang="0">
                  <a:pos x="T8" y="T9"/>
                </a:cxn>
                <a:cxn ang="0">
                  <a:pos x="T10" y="T11"/>
                </a:cxn>
                <a:cxn ang="0">
                  <a:pos x="T12" y="T13"/>
                </a:cxn>
              </a:cxnLst>
              <a:rect l="0" t="0" r="r" b="b"/>
              <a:pathLst>
                <a:path w="647" h="492">
                  <a:moveTo>
                    <a:pt x="494" y="491"/>
                  </a:moveTo>
                  <a:cubicBezTo>
                    <a:pt x="385" y="450"/>
                    <a:pt x="265" y="451"/>
                    <a:pt x="156" y="492"/>
                  </a:cubicBezTo>
                  <a:cubicBezTo>
                    <a:pt x="155" y="492"/>
                    <a:pt x="155" y="492"/>
                    <a:pt x="155" y="492"/>
                  </a:cubicBezTo>
                  <a:cubicBezTo>
                    <a:pt x="0" y="79"/>
                    <a:pt x="0" y="79"/>
                    <a:pt x="0" y="79"/>
                  </a:cubicBezTo>
                  <a:cubicBezTo>
                    <a:pt x="1" y="79"/>
                    <a:pt x="1" y="79"/>
                    <a:pt x="1" y="79"/>
                  </a:cubicBezTo>
                  <a:cubicBezTo>
                    <a:pt x="209" y="1"/>
                    <a:pt x="439" y="0"/>
                    <a:pt x="647" y="77"/>
                  </a:cubicBezTo>
                  <a:cubicBezTo>
                    <a:pt x="494" y="491"/>
                    <a:pt x="494" y="491"/>
                    <a:pt x="494" y="491"/>
                  </a:cubicBezTo>
                </a:path>
              </a:pathLst>
            </a:custGeom>
            <a:solidFill>
              <a:schemeClr val="bg1">
                <a:lumMod val="95000"/>
              </a:schemeClr>
            </a:solidFill>
            <a:ln>
              <a:noFill/>
            </a:ln>
          </p:spPr>
          <p:txBody>
            <a:bodyPr vert="horz" wrap="square" lIns="91440" tIns="45720" rIns="91440" bIns="45720" numCol="1" anchor="t" anchorCtr="0" compatLnSpc="1">
              <a:normAutofit/>
            </a:bodyPr>
            <a:p>
              <a:endParaRPr lang="en-US"/>
            </a:p>
          </p:txBody>
        </p:sp>
        <p:sp>
          <p:nvSpPr>
            <p:cNvPr id="48" name="îṩ1íďè"/>
            <p:cNvSpPr/>
            <p:nvPr/>
          </p:nvSpPr>
          <p:spPr>
            <a:xfrm>
              <a:off x="5604272" y="3169258"/>
              <a:ext cx="1229469" cy="990883"/>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lnSpcReduction="20000"/>
            </a:bodyPr>
            <a:p>
              <a:pPr algn="ctr"/>
              <a:r>
                <a:rPr lang="en-US" sz="2000" b="1" i="1" dirty="0">
                  <a:solidFill>
                    <a:schemeClr val="tx1"/>
                  </a:solidFill>
                </a:rPr>
                <a:t>Text</a:t>
              </a:r>
              <a:endParaRPr lang="en-US" sz="2000" b="1" i="1" dirty="0">
                <a:solidFill>
                  <a:schemeClr val="tx1"/>
                </a:solidFill>
              </a:endParaRPr>
            </a:p>
          </p:txBody>
        </p:sp>
        <p:sp>
          <p:nvSpPr>
            <p:cNvPr id="49" name="íśļiḑé"/>
            <p:cNvSpPr/>
            <p:nvPr/>
          </p:nvSpPr>
          <p:spPr bwMode="auto">
            <a:xfrm>
              <a:off x="4848405" y="2410352"/>
              <a:ext cx="367268" cy="339784"/>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ln>
          </p:spPr>
          <p:txBody>
            <a:bodyPr wrap="square" lIns="91440" tIns="45720" rIns="91440" bIns="45720" anchor="ctr">
              <a:normAutofit fontScale="70000"/>
            </a:bodyPr>
            <a:p>
              <a:pPr algn="ctr"/>
            </a:p>
          </p:txBody>
        </p:sp>
        <p:sp>
          <p:nvSpPr>
            <p:cNvPr id="50" name="íṡļíďé"/>
            <p:cNvSpPr/>
            <p:nvPr/>
          </p:nvSpPr>
          <p:spPr bwMode="auto">
            <a:xfrm>
              <a:off x="6981915" y="2425226"/>
              <a:ext cx="344780" cy="297312"/>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wrap="square" lIns="91440" tIns="45720" rIns="91440" bIns="45720" anchor="ctr">
              <a:normAutofit fontScale="55000" lnSpcReduction="10000"/>
            </a:bodyPr>
            <a:p>
              <a:pPr algn="ctr"/>
            </a:p>
          </p:txBody>
        </p:sp>
        <p:sp>
          <p:nvSpPr>
            <p:cNvPr id="51" name="îSľîďé"/>
            <p:cNvSpPr/>
            <p:nvPr/>
          </p:nvSpPr>
          <p:spPr bwMode="auto">
            <a:xfrm>
              <a:off x="4842970" y="4558830"/>
              <a:ext cx="389450" cy="288776"/>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chemeClr val="bg1"/>
            </a:solidFill>
            <a:ln w="9525">
              <a:noFill/>
              <a:round/>
            </a:ln>
          </p:spPr>
          <p:txBody>
            <a:bodyPr wrap="square" lIns="91440" tIns="45720" rIns="91440" bIns="45720" anchor="ctr">
              <a:normAutofit fontScale="55000" lnSpcReduction="20000"/>
            </a:bodyPr>
            <a:p>
              <a:pPr algn="ctr"/>
            </a:p>
          </p:txBody>
        </p:sp>
        <p:sp>
          <p:nvSpPr>
            <p:cNvPr id="52" name="iślîḓe"/>
            <p:cNvSpPr/>
            <p:nvPr/>
          </p:nvSpPr>
          <p:spPr bwMode="auto">
            <a:xfrm>
              <a:off x="6975620" y="4538370"/>
              <a:ext cx="367268" cy="319796"/>
            </a:xfrm>
            <a:custGeom>
              <a:avLst/>
              <a:gdLst/>
              <a:ahLst/>
              <a:cxnLst>
                <a:cxn ang="0">
                  <a:pos x="68" y="18"/>
                </a:cxn>
                <a:cxn ang="0">
                  <a:pos x="68" y="50"/>
                </a:cxn>
                <a:cxn ang="0">
                  <a:pos x="59" y="59"/>
                </a:cxn>
                <a:cxn ang="0">
                  <a:pos x="9" y="59"/>
                </a:cxn>
                <a:cxn ang="0">
                  <a:pos x="0" y="50"/>
                </a:cxn>
                <a:cxn ang="0">
                  <a:pos x="0" y="18"/>
                </a:cxn>
                <a:cxn ang="0">
                  <a:pos x="9" y="9"/>
                </a:cxn>
                <a:cxn ang="0">
                  <a:pos x="17" y="9"/>
                </a:cxn>
                <a:cxn ang="0">
                  <a:pos x="19" y="4"/>
                </a:cxn>
                <a:cxn ang="0">
                  <a:pos x="25" y="0"/>
                </a:cxn>
                <a:cxn ang="0">
                  <a:pos x="43" y="0"/>
                </a:cxn>
                <a:cxn ang="0">
                  <a:pos x="49" y="4"/>
                </a:cxn>
                <a:cxn ang="0">
                  <a:pos x="51" y="9"/>
                </a:cxn>
                <a:cxn ang="0">
                  <a:pos x="59" y="9"/>
                </a:cxn>
                <a:cxn ang="0">
                  <a:pos x="68" y="18"/>
                </a:cxn>
                <a:cxn ang="0">
                  <a:pos x="50" y="34"/>
                </a:cxn>
                <a:cxn ang="0">
                  <a:pos x="34" y="18"/>
                </a:cxn>
                <a:cxn ang="0">
                  <a:pos x="18" y="34"/>
                </a:cxn>
                <a:cxn ang="0">
                  <a:pos x="34" y="50"/>
                </a:cxn>
                <a:cxn ang="0">
                  <a:pos x="50" y="34"/>
                </a:cxn>
                <a:cxn ang="0">
                  <a:pos x="44" y="34"/>
                </a:cxn>
                <a:cxn ang="0">
                  <a:pos x="34" y="44"/>
                </a:cxn>
                <a:cxn ang="0">
                  <a:pos x="24" y="34"/>
                </a:cxn>
                <a:cxn ang="0">
                  <a:pos x="34" y="24"/>
                </a:cxn>
                <a:cxn ang="0">
                  <a:pos x="44" y="34"/>
                </a:cxn>
              </a:cxnLst>
              <a:rect l="0" t="0" r="r" b="b"/>
              <a:pathLst>
                <a:path w="68" h="59">
                  <a:moveTo>
                    <a:pt x="68" y="18"/>
                  </a:moveTo>
                  <a:cubicBezTo>
                    <a:pt x="68" y="50"/>
                    <a:pt x="68" y="50"/>
                    <a:pt x="68" y="50"/>
                  </a:cubicBezTo>
                  <a:cubicBezTo>
                    <a:pt x="68" y="55"/>
                    <a:pt x="64" y="59"/>
                    <a:pt x="59" y="59"/>
                  </a:cubicBezTo>
                  <a:cubicBezTo>
                    <a:pt x="9" y="59"/>
                    <a:pt x="9" y="59"/>
                    <a:pt x="9" y="59"/>
                  </a:cubicBezTo>
                  <a:cubicBezTo>
                    <a:pt x="4" y="59"/>
                    <a:pt x="0" y="55"/>
                    <a:pt x="0" y="50"/>
                  </a:cubicBezTo>
                  <a:cubicBezTo>
                    <a:pt x="0" y="18"/>
                    <a:pt x="0" y="18"/>
                    <a:pt x="0" y="18"/>
                  </a:cubicBezTo>
                  <a:cubicBezTo>
                    <a:pt x="0" y="13"/>
                    <a:pt x="4" y="9"/>
                    <a:pt x="9" y="9"/>
                  </a:cubicBezTo>
                  <a:cubicBezTo>
                    <a:pt x="17" y="9"/>
                    <a:pt x="17" y="9"/>
                    <a:pt x="17" y="9"/>
                  </a:cubicBezTo>
                  <a:cubicBezTo>
                    <a:pt x="19" y="4"/>
                    <a:pt x="19" y="4"/>
                    <a:pt x="19" y="4"/>
                  </a:cubicBezTo>
                  <a:cubicBezTo>
                    <a:pt x="20" y="2"/>
                    <a:pt x="22" y="0"/>
                    <a:pt x="25" y="0"/>
                  </a:cubicBezTo>
                  <a:cubicBezTo>
                    <a:pt x="43" y="0"/>
                    <a:pt x="43" y="0"/>
                    <a:pt x="43" y="0"/>
                  </a:cubicBezTo>
                  <a:cubicBezTo>
                    <a:pt x="46" y="0"/>
                    <a:pt x="48" y="2"/>
                    <a:pt x="49" y="4"/>
                  </a:cubicBezTo>
                  <a:cubicBezTo>
                    <a:pt x="51" y="9"/>
                    <a:pt x="51" y="9"/>
                    <a:pt x="51" y="9"/>
                  </a:cubicBezTo>
                  <a:cubicBezTo>
                    <a:pt x="59" y="9"/>
                    <a:pt x="59" y="9"/>
                    <a:pt x="59" y="9"/>
                  </a:cubicBezTo>
                  <a:cubicBezTo>
                    <a:pt x="64" y="9"/>
                    <a:pt x="68" y="13"/>
                    <a:pt x="68" y="18"/>
                  </a:cubicBezTo>
                  <a:close/>
                  <a:moveTo>
                    <a:pt x="50" y="34"/>
                  </a:moveTo>
                  <a:cubicBezTo>
                    <a:pt x="50" y="25"/>
                    <a:pt x="43" y="18"/>
                    <a:pt x="34" y="18"/>
                  </a:cubicBezTo>
                  <a:cubicBezTo>
                    <a:pt x="25" y="18"/>
                    <a:pt x="18" y="25"/>
                    <a:pt x="18" y="34"/>
                  </a:cubicBezTo>
                  <a:cubicBezTo>
                    <a:pt x="18" y="43"/>
                    <a:pt x="25" y="50"/>
                    <a:pt x="34" y="50"/>
                  </a:cubicBezTo>
                  <a:cubicBezTo>
                    <a:pt x="43" y="50"/>
                    <a:pt x="50" y="43"/>
                    <a:pt x="50" y="34"/>
                  </a:cubicBezTo>
                  <a:close/>
                  <a:moveTo>
                    <a:pt x="44" y="34"/>
                  </a:moveTo>
                  <a:cubicBezTo>
                    <a:pt x="44" y="40"/>
                    <a:pt x="40" y="44"/>
                    <a:pt x="34" y="44"/>
                  </a:cubicBezTo>
                  <a:cubicBezTo>
                    <a:pt x="28" y="44"/>
                    <a:pt x="24" y="40"/>
                    <a:pt x="24" y="34"/>
                  </a:cubicBezTo>
                  <a:cubicBezTo>
                    <a:pt x="24" y="28"/>
                    <a:pt x="28" y="24"/>
                    <a:pt x="34" y="24"/>
                  </a:cubicBezTo>
                  <a:cubicBezTo>
                    <a:pt x="40" y="24"/>
                    <a:pt x="44" y="28"/>
                    <a:pt x="44" y="34"/>
                  </a:cubicBezTo>
                  <a:close/>
                </a:path>
              </a:pathLst>
            </a:custGeom>
            <a:solidFill>
              <a:schemeClr val="bg1"/>
            </a:solidFill>
            <a:ln w="9525">
              <a:noFill/>
              <a:round/>
            </a:ln>
          </p:spPr>
          <p:txBody>
            <a:bodyPr wrap="square" lIns="91440" tIns="45720" rIns="91440" bIns="45720" anchor="ctr">
              <a:normAutofit fontScale="62500"/>
            </a:bodyPr>
            <a:p>
              <a:pPr algn="ctr"/>
            </a:p>
          </p:txBody>
        </p:sp>
        <p:sp>
          <p:nvSpPr>
            <p:cNvPr id="66" name="iṧļiḑé"/>
            <p:cNvSpPr/>
            <p:nvPr/>
          </p:nvSpPr>
          <p:spPr>
            <a:xfrm>
              <a:off x="669926" y="1928435"/>
              <a:ext cx="3711012" cy="1340509"/>
            </a:xfrm>
            <a:prstGeom prst="rect">
              <a:avLst/>
            </a:prstGeom>
          </p:spPr>
          <p:txBody>
            <a:bodyPr wrap="square" lIns="91440" tIns="45720" rIns="91440" bIns="45720" anchor="ctr">
              <a:normAutofit/>
            </a:bodyPr>
            <a:p>
              <a:pPr algn="r">
                <a:lnSpc>
                  <a:spcPct val="120000"/>
                </a:lnSpc>
              </a:pPr>
              <a:r>
                <a:rPr lang="zh-CN" altLang="en-US" sz="2400" b="1" dirty="0"/>
                <a:t>进程是程序的一个实例，是程序的一次执行。</a:t>
              </a:r>
              <a:endParaRPr lang="zh-CN" altLang="en-US" sz="2400" b="1" dirty="0"/>
            </a:p>
          </p:txBody>
        </p:sp>
        <p:sp>
          <p:nvSpPr>
            <p:cNvPr id="64" name="ísļiḋè"/>
            <p:cNvSpPr/>
            <p:nvPr/>
          </p:nvSpPr>
          <p:spPr>
            <a:xfrm>
              <a:off x="675582" y="4247248"/>
              <a:ext cx="3711012" cy="1340509"/>
            </a:xfrm>
            <a:prstGeom prst="rect">
              <a:avLst/>
            </a:prstGeom>
          </p:spPr>
          <p:txBody>
            <a:bodyPr wrap="square" lIns="91440" tIns="45720" rIns="91440" bIns="45720" anchor="ctr">
              <a:normAutofit/>
            </a:bodyPr>
            <a:p>
              <a:pPr algn="r">
                <a:lnSpc>
                  <a:spcPct val="120000"/>
                </a:lnSpc>
              </a:pPr>
              <a:r>
                <a:rPr lang="zh-CN" altLang="en-US" sz="2400" b="1" dirty="0"/>
                <a:t>程序是进程的代码部分。</a:t>
              </a:r>
              <a:endParaRPr lang="zh-CN" altLang="en-US" sz="2400" b="1" dirty="0"/>
            </a:p>
          </p:txBody>
        </p:sp>
        <p:cxnSp>
          <p:nvCxnSpPr>
            <p:cNvPr id="55" name="直接连接符 54"/>
            <p:cNvCxnSpPr/>
            <p:nvPr/>
          </p:nvCxnSpPr>
          <p:spPr>
            <a:xfrm>
              <a:off x="673100" y="3636429"/>
              <a:ext cx="40005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2" name="iŝļíḍe"/>
            <p:cNvSpPr/>
            <p:nvPr/>
          </p:nvSpPr>
          <p:spPr>
            <a:xfrm>
              <a:off x="7918519" y="1922779"/>
              <a:ext cx="2461853" cy="1340509"/>
            </a:xfrm>
            <a:prstGeom prst="rect">
              <a:avLst/>
            </a:prstGeom>
          </p:spPr>
          <p:txBody>
            <a:bodyPr wrap="square" lIns="91440" tIns="45720" rIns="91440" bIns="45720" anchor="ctr">
              <a:noAutofit/>
            </a:bodyPr>
            <a:p>
              <a:pPr>
                <a:lnSpc>
                  <a:spcPct val="120000"/>
                </a:lnSpc>
              </a:pPr>
              <a:r>
                <a:rPr lang="zh-CN" altLang="en-US" sz="2400" b="1" dirty="0">
                  <a:solidFill>
                    <a:srgbClr val="FF0000"/>
                  </a:solidFill>
                </a:rPr>
                <a:t>进程是活动的，程序是静态的。</a:t>
              </a:r>
              <a:endParaRPr lang="zh-CN" altLang="en-US" sz="2400" b="1" dirty="0">
                <a:solidFill>
                  <a:srgbClr val="FF0000"/>
                </a:solidFill>
              </a:endParaRPr>
            </a:p>
          </p:txBody>
        </p:sp>
        <p:sp>
          <p:nvSpPr>
            <p:cNvPr id="60" name="ïṥľïḑé"/>
            <p:cNvSpPr/>
            <p:nvPr/>
          </p:nvSpPr>
          <p:spPr>
            <a:xfrm>
              <a:off x="7924175" y="4243005"/>
              <a:ext cx="2461853" cy="1340509"/>
            </a:xfrm>
            <a:prstGeom prst="rect">
              <a:avLst/>
            </a:prstGeom>
          </p:spPr>
          <p:txBody>
            <a:bodyPr wrap="square" lIns="91440" tIns="45720" rIns="91440" bIns="45720" anchor="ctr">
              <a:noAutofit/>
            </a:bodyPr>
            <a:p>
              <a:pPr>
                <a:lnSpc>
                  <a:spcPct val="120000"/>
                </a:lnSpc>
              </a:pPr>
              <a:r>
                <a:rPr lang="zh-CN" altLang="en-US" sz="2400" b="1" dirty="0"/>
                <a:t>进程在内存中，程序在外存中。</a:t>
              </a:r>
              <a:endParaRPr lang="zh-CN" altLang="en-US" sz="2400" b="1" dirty="0"/>
            </a:p>
          </p:txBody>
        </p:sp>
        <p:cxnSp>
          <p:nvCxnSpPr>
            <p:cNvPr id="58" name="直接连接符 57"/>
            <p:cNvCxnSpPr/>
            <p:nvPr/>
          </p:nvCxnSpPr>
          <p:spPr>
            <a:xfrm>
              <a:off x="7556500" y="3636429"/>
              <a:ext cx="3962400"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673735" y="5518785"/>
            <a:ext cx="8885555" cy="460375"/>
          </a:xfrm>
          <a:prstGeom prst="rect">
            <a:avLst/>
          </a:prstGeom>
          <a:solidFill>
            <a:schemeClr val="accent1">
              <a:lumMod val="20000"/>
              <a:lumOff val="80000"/>
            </a:schemeClr>
          </a:solidFill>
        </p:spPr>
        <p:txBody>
          <a:bodyPr wrap="square" rtlCol="0" anchor="t">
            <a:spAutoFit/>
          </a:bodyPr>
          <a:p>
            <a:r>
              <a:rPr lang="zh-CN" altLang="en-US" sz="2400"/>
              <a:t>一个计算机系统中，进程的最大数目主要受到</a:t>
            </a:r>
            <a:r>
              <a:rPr lang="zh-CN" altLang="en-US" sz="2400">
                <a:sym typeface="+mn-ea"/>
              </a:rPr>
              <a:t>内存大小</a:t>
            </a:r>
            <a:r>
              <a:rPr lang="zh-CN" altLang="en-US" sz="2400"/>
              <a:t>限制。</a:t>
            </a:r>
            <a:endParaRPr lang="en-US" altLang="zh-CN" sz="240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进程的特征</a:t>
            </a:r>
            <a:endParaRPr lang="zh-CN" altLang="en-US" sz="2800" b="1" dirty="0">
              <a:solidFill>
                <a:schemeClr val="bg1"/>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94008" y="1426959"/>
            <a:ext cx="11261085" cy="4430595"/>
            <a:chOff x="438850" y="1182261"/>
            <a:chExt cx="11261085" cy="4430595"/>
          </a:xfrm>
        </p:grpSpPr>
        <p:sp>
          <p:nvSpPr>
            <p:cNvPr id="30" name="ïsḷîḋê"/>
            <p:cNvSpPr/>
            <p:nvPr>
              <p:custDataLst>
                <p:tags r:id="rId2"/>
              </p:custDataLst>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2" name="ïṩḻíḑe"/>
            <p:cNvSpPr/>
            <p:nvPr>
              <p:custDataLst>
                <p:tags r:id="rId3"/>
              </p:custDataLst>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3" name="is1íḑe"/>
            <p:cNvSpPr/>
            <p:nvPr>
              <p:custDataLst>
                <p:tags r:id="rId4"/>
              </p:custDataLst>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4" name="íṡ1ïḋé"/>
            <p:cNvSpPr/>
            <p:nvPr>
              <p:custDataLst>
                <p:tags r:id="rId5"/>
              </p:custDataLst>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5" name="îṡlíḓè"/>
            <p:cNvSpPr/>
            <p:nvPr>
              <p:custDataLst>
                <p:tags r:id="rId6"/>
              </p:custDataLst>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36" name="ï$1iḍe"/>
            <p:cNvSpPr txBox="1"/>
            <p:nvPr/>
          </p:nvSpPr>
          <p:spPr>
            <a:xfrm>
              <a:off x="438850" y="1198862"/>
              <a:ext cx="3462555" cy="392512"/>
            </a:xfrm>
            <a:prstGeom prst="rect">
              <a:avLst/>
            </a:prstGeom>
            <a:noFill/>
            <a:ln>
              <a:noFill/>
            </a:ln>
          </p:spPr>
          <p:txBody>
            <a:bodyPr wrap="square" lIns="91440" tIns="45720" rIns="91440" bIns="45720" anchor="t" anchorCtr="0">
              <a:noAutofit/>
            </a:bodyPr>
            <a:lstStyle/>
            <a:p>
              <a:pPr algn="ctr"/>
              <a:r>
                <a:rPr lang="zh-CN" altLang="en-US" sz="2200" b="1" dirty="0">
                  <a:solidFill>
                    <a:srgbClr val="FF0000"/>
                  </a:solidFill>
                </a:rPr>
                <a:t>动态性</a:t>
              </a:r>
              <a:r>
                <a:rPr lang="zh-CN" altLang="en-US" sz="2200" b="1" dirty="0"/>
                <a:t>（最基本的特征）</a:t>
              </a:r>
              <a:endParaRPr lang="zh-CN" altLang="en-US" sz="2200" b="1" dirty="0"/>
            </a:p>
            <a:p>
              <a:pPr algn="ctr"/>
              <a:r>
                <a:rPr lang="en-US" altLang="zh-CN" sz="2200" b="1" dirty="0"/>
                <a:t>(Concurrence)</a:t>
              </a:r>
              <a:endParaRPr lang="en-US" altLang="zh-CN" sz="2200" b="1" dirty="0"/>
            </a:p>
          </p:txBody>
        </p:sp>
        <p:sp>
          <p:nvSpPr>
            <p:cNvPr id="37" name="isľîdê"/>
            <p:cNvSpPr txBox="1"/>
            <p:nvPr>
              <p:custDataLst>
                <p:tags r:id="rId7"/>
              </p:custDataLst>
            </p:nvPr>
          </p:nvSpPr>
          <p:spPr>
            <a:xfrm>
              <a:off x="673099" y="4123968"/>
              <a:ext cx="2598408" cy="1461716"/>
            </a:xfrm>
            <a:prstGeom prst="rect">
              <a:avLst/>
            </a:prstGeom>
            <a:noFill/>
            <a:ln>
              <a:noFill/>
            </a:ln>
          </p:spPr>
          <p:txBody>
            <a:bodyPr wrap="square" lIns="91440" tIns="45720" rIns="91440" bIns="45720" anchor="t" anchorCtr="0">
              <a:noAutofit/>
            </a:bodyPr>
            <a:lstStyle/>
            <a:p>
              <a:pPr marL="342900" indent="-342900" algn="l">
                <a:lnSpc>
                  <a:spcPct val="120000"/>
                </a:lnSpc>
                <a:buClr>
                  <a:srgbClr val="FF0000"/>
                </a:buClr>
                <a:buFont typeface="Wingdings" panose="05000000000000000000" pitchFamily="2" charset="2"/>
                <a:buChar char="Ø"/>
              </a:pPr>
              <a:r>
                <a:rPr lang="zh-CN" altLang="en-US" sz="2200" dirty="0"/>
                <a:t>一次执行过程，有生命期</a:t>
              </a:r>
              <a:endParaRPr lang="zh-CN" altLang="en-US" sz="2200" dirty="0"/>
            </a:p>
            <a:p>
              <a:pPr marL="342900" indent="-342900" algn="l">
                <a:lnSpc>
                  <a:spcPct val="120000"/>
                </a:lnSpc>
                <a:buClr>
                  <a:srgbClr val="FF0000"/>
                </a:buClr>
                <a:buFont typeface="Wingdings" panose="05000000000000000000" pitchFamily="2" charset="2"/>
                <a:buChar char="Ø"/>
              </a:pPr>
              <a:r>
                <a:rPr lang="zh-CN" altLang="en-US" sz="2200" dirty="0"/>
                <a:t>程序是静态的</a:t>
              </a:r>
              <a:endParaRPr lang="zh-CN" altLang="en-US" sz="2200" dirty="0"/>
            </a:p>
          </p:txBody>
        </p:sp>
        <p:sp>
          <p:nvSpPr>
            <p:cNvPr id="38" name="íṩ1ïḑe"/>
            <p:cNvSpPr txBox="1"/>
            <p:nvPr/>
          </p:nvSpPr>
          <p:spPr>
            <a:xfrm>
              <a:off x="4201688" y="1182261"/>
              <a:ext cx="1746263" cy="392512"/>
            </a:xfrm>
            <a:prstGeom prst="rect">
              <a:avLst/>
            </a:prstGeom>
            <a:noFill/>
            <a:ln>
              <a:noFill/>
            </a:ln>
          </p:spPr>
          <p:txBody>
            <a:bodyPr wrap="square" lIns="91440" tIns="45720" rIns="91440" bIns="45720" anchor="t" anchorCtr="0">
              <a:noAutofit/>
            </a:bodyPr>
            <a:lstStyle/>
            <a:p>
              <a:pPr>
                <a:lnSpc>
                  <a:spcPct val="110000"/>
                </a:lnSpc>
              </a:pPr>
              <a:r>
                <a:rPr lang="zh-CN" altLang="en-US" sz="2400" b="1" dirty="0">
                  <a:solidFill>
                    <a:srgbClr val="FF0000"/>
                  </a:solidFill>
                </a:rPr>
                <a:t>并发性</a:t>
              </a:r>
              <a:endParaRPr lang="zh-CN" altLang="en-US" sz="2400" b="1" dirty="0">
                <a:solidFill>
                  <a:srgbClr val="FF0000"/>
                </a:solidFill>
              </a:endParaRPr>
            </a:p>
          </p:txBody>
        </p:sp>
        <p:sp>
          <p:nvSpPr>
            <p:cNvPr id="39" name="ïsḻiďê"/>
            <p:cNvSpPr txBox="1"/>
            <p:nvPr/>
          </p:nvSpPr>
          <p:spPr>
            <a:xfrm>
              <a:off x="6128736" y="1198862"/>
              <a:ext cx="2356280"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独立性</a:t>
              </a:r>
              <a:endParaRPr lang="zh-CN" altLang="en-US" sz="2400" b="1" dirty="0">
                <a:solidFill>
                  <a:srgbClr val="0000FF"/>
                </a:solidFill>
              </a:endParaRPr>
            </a:p>
          </p:txBody>
        </p:sp>
        <p:sp>
          <p:nvSpPr>
            <p:cNvPr id="41" name="isḷiḋé"/>
            <p:cNvSpPr txBox="1"/>
            <p:nvPr/>
          </p:nvSpPr>
          <p:spPr>
            <a:xfrm>
              <a:off x="8612913" y="1194957"/>
              <a:ext cx="3087022" cy="392512"/>
            </a:xfrm>
            <a:prstGeom prst="rect">
              <a:avLst/>
            </a:prstGeom>
            <a:noFill/>
            <a:ln>
              <a:noFill/>
            </a:ln>
          </p:spPr>
          <p:txBody>
            <a:bodyPr wrap="square" lIns="91440" tIns="45720" rIns="91440" bIns="45720" anchor="t" anchorCtr="0">
              <a:noAutofit/>
            </a:bodyPr>
            <a:lstStyle/>
            <a:p>
              <a:pPr algn="ctr"/>
              <a:r>
                <a:rPr lang="zh-CN" altLang="en-US" sz="2400" b="1" dirty="0">
                  <a:solidFill>
                    <a:srgbClr val="0000FF"/>
                  </a:solidFill>
                </a:rPr>
                <a:t>异步性</a:t>
              </a:r>
              <a:endParaRPr lang="zh-CN" altLang="en-US" sz="2400" b="1" dirty="0">
                <a:solidFill>
                  <a:srgbClr val="0000FF"/>
                </a:solidFill>
              </a:endParaRPr>
            </a:p>
          </p:txBody>
        </p:sp>
        <p:sp>
          <p:nvSpPr>
            <p:cNvPr id="42" name="îṣḻidé"/>
            <p:cNvSpPr txBox="1"/>
            <p:nvPr>
              <p:custDataLst>
                <p:tags r:id="rId8"/>
              </p:custDataLst>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01</a:t>
              </a:r>
              <a:endParaRPr lang="zh-CN" altLang="en-US" sz="3200" b="1" i="1" dirty="0">
                <a:solidFill>
                  <a:schemeClr val="bg1"/>
                </a:solidFill>
              </a:endParaRPr>
            </a:p>
          </p:txBody>
        </p:sp>
        <p:sp>
          <p:nvSpPr>
            <p:cNvPr id="43" name="ïŝ1ïḋè"/>
            <p:cNvSpPr txBox="1"/>
            <p:nvPr>
              <p:custDataLst>
                <p:tags r:id="rId9"/>
              </p:custDataLst>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02</a:t>
              </a:r>
              <a:endParaRPr lang="zh-CN" altLang="en-US" sz="3200" b="1" i="1" dirty="0">
                <a:solidFill>
                  <a:schemeClr val="bg1"/>
                </a:solidFill>
              </a:endParaRPr>
            </a:p>
          </p:txBody>
        </p:sp>
        <p:sp>
          <p:nvSpPr>
            <p:cNvPr id="44" name="í$lîdé"/>
            <p:cNvSpPr txBox="1"/>
            <p:nvPr>
              <p:custDataLst>
                <p:tags r:id="rId10"/>
              </p:custDataLst>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03</a:t>
              </a:r>
              <a:endParaRPr lang="zh-CN" altLang="en-US" sz="3200" b="1" i="1" dirty="0">
                <a:solidFill>
                  <a:schemeClr val="bg1"/>
                </a:solidFill>
              </a:endParaRPr>
            </a:p>
          </p:txBody>
        </p:sp>
        <p:sp>
          <p:nvSpPr>
            <p:cNvPr id="45" name="išḻïďè"/>
            <p:cNvSpPr txBox="1"/>
            <p:nvPr>
              <p:custDataLst>
                <p:tags r:id="rId11"/>
              </p:custDataLst>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04</a:t>
              </a:r>
              <a:endParaRPr lang="zh-CN" altLang="en-US" sz="3200" b="1" i="1" dirty="0">
                <a:solidFill>
                  <a:schemeClr val="bg1"/>
                </a:solidFill>
              </a:endParaRPr>
            </a:p>
          </p:txBody>
        </p:sp>
        <p:sp>
          <p:nvSpPr>
            <p:cNvPr id="46" name="isľîdê"/>
            <p:cNvSpPr txBox="1"/>
            <p:nvPr>
              <p:custDataLst>
                <p:tags r:id="rId12"/>
              </p:custDataLst>
            </p:nvPr>
          </p:nvSpPr>
          <p:spPr>
            <a:xfrm>
              <a:off x="3458154" y="4151140"/>
              <a:ext cx="2270544" cy="92313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一段时间内同时运行</a:t>
              </a:r>
              <a:endParaRPr lang="zh-CN" altLang="en-US" sz="2200" dirty="0"/>
            </a:p>
          </p:txBody>
        </p:sp>
        <p:sp>
          <p:nvSpPr>
            <p:cNvPr id="47" name="isľîdê"/>
            <p:cNvSpPr txBox="1"/>
            <p:nvPr>
              <p:custDataLst>
                <p:tags r:id="rId13"/>
              </p:custDataLst>
            </p:nvPr>
          </p:nvSpPr>
          <p:spPr>
            <a:xfrm>
              <a:off x="5728698" y="4151140"/>
              <a:ext cx="3376955"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进程实体是一个能</a:t>
              </a:r>
              <a:r>
                <a:rPr lang="zh-CN" altLang="en-US" sz="2200" b="1" dirty="0"/>
                <a:t>独立</a:t>
              </a:r>
              <a:r>
                <a:rPr lang="zh-CN" altLang="en-US" sz="2200" dirty="0"/>
                <a:t>运行的基本单位</a:t>
              </a:r>
              <a:endParaRPr lang="zh-CN" altLang="en-US" sz="2200" dirty="0"/>
            </a:p>
            <a:p>
              <a:pPr marL="342900" indent="-342900">
                <a:lnSpc>
                  <a:spcPct val="120000"/>
                </a:lnSpc>
                <a:buClr>
                  <a:srgbClr val="0000FF"/>
                </a:buClr>
                <a:buFont typeface="Wingdings" panose="05000000000000000000" pitchFamily="2" charset="2"/>
                <a:buChar char="Ø"/>
              </a:pPr>
              <a:r>
                <a:rPr lang="zh-CN" altLang="en-US" sz="2200" dirty="0"/>
                <a:t>是系统中</a:t>
              </a:r>
              <a:r>
                <a:rPr lang="zh-CN" altLang="en-US" sz="2200" b="1" dirty="0"/>
                <a:t>独立</a:t>
              </a:r>
              <a:r>
                <a:rPr lang="zh-CN" altLang="en-US" sz="2200" dirty="0"/>
                <a:t>获得资源和</a:t>
              </a:r>
              <a:r>
                <a:rPr lang="zh-CN" altLang="en-US" sz="2200" b="1" dirty="0"/>
                <a:t>独立</a:t>
              </a:r>
              <a:r>
                <a:rPr lang="zh-CN" altLang="en-US" sz="2200" dirty="0"/>
                <a:t>调度的基本单位</a:t>
              </a:r>
              <a:endParaRPr lang="zh-CN" altLang="en-US" sz="2200" dirty="0"/>
            </a:p>
          </p:txBody>
        </p:sp>
        <p:sp>
          <p:nvSpPr>
            <p:cNvPr id="48" name="isľîdê"/>
            <p:cNvSpPr txBox="1"/>
            <p:nvPr>
              <p:custDataLst>
                <p:tags r:id="rId14"/>
              </p:custDataLst>
            </p:nvPr>
          </p:nvSpPr>
          <p:spPr>
            <a:xfrm>
              <a:off x="9105653" y="4151140"/>
              <a:ext cx="2565780"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按各自独立的、不可预知的速度向前推进</a:t>
              </a:r>
              <a:endParaRPr lang="zh-CN" altLang="en-US" sz="220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î$ļíḋè"/>
          <p:cNvSpPr/>
          <p:nvPr/>
        </p:nvSpPr>
        <p:spPr>
          <a:xfrm>
            <a:off x="1330325" y="1253490"/>
            <a:ext cx="10389235" cy="1346200"/>
          </a:xfrm>
          <a:prstGeom prst="rect">
            <a:avLst/>
          </a:prstGeom>
          <a:noFill/>
          <a:ln>
            <a:noFill/>
          </a:ln>
        </p:spPr>
        <p:txBody>
          <a:bodyPr wrap="square" lIns="91440" tIns="45720" rIns="91440" bIns="45720" anchor="t" anchorCtr="0">
            <a:noAutofit/>
          </a:bodyPr>
          <a:p>
            <a:pPr marL="342900" indent="-342900">
              <a:lnSpc>
                <a:spcPct val="120000"/>
              </a:lnSpc>
              <a:buClr>
                <a:srgbClr val="FF0000"/>
              </a:buClr>
              <a:buFont typeface="Wingdings" panose="05000000000000000000" pitchFamily="2" charset="2"/>
              <a:buChar char="Ø"/>
            </a:pPr>
            <a:r>
              <a:rPr lang="zh-CN" altLang="en-US" sz="2800" dirty="0"/>
              <a:t>专门的数据结构，与进程一</a:t>
            </a:r>
            <a:r>
              <a:rPr lang="en-US" altLang="zh-CN" sz="2800" dirty="0"/>
              <a:t> </a:t>
            </a:r>
            <a:r>
              <a:rPr lang="zh-CN" altLang="en-US" sz="2800" dirty="0"/>
              <a:t>一对应。</a:t>
            </a:r>
            <a:endParaRPr lang="zh-CN" altLang="en-US" sz="2800" dirty="0"/>
          </a:p>
          <a:p>
            <a:pPr marL="342900" indent="-342900">
              <a:lnSpc>
                <a:spcPct val="120000"/>
              </a:lnSpc>
              <a:buClr>
                <a:srgbClr val="FF0000"/>
              </a:buClr>
              <a:buFont typeface="Wingdings" panose="05000000000000000000" pitchFamily="2" charset="2"/>
              <a:buChar char="Ø"/>
            </a:pPr>
            <a:r>
              <a:rPr lang="zh-CN" altLang="en-US" sz="2800" dirty="0"/>
              <a:t>包含了进程的各种运行状态信息</a:t>
            </a:r>
            <a:endParaRPr lang="zh-CN" altLang="en-US" sz="2800" dirty="0"/>
          </a:p>
          <a:p>
            <a:pPr marL="342900" indent="-342900">
              <a:lnSpc>
                <a:spcPct val="120000"/>
              </a:lnSpc>
              <a:buClr>
                <a:srgbClr val="FF0000"/>
              </a:buClr>
              <a:buFont typeface="Wingdings" panose="05000000000000000000" pitchFamily="2" charset="2"/>
              <a:buChar char="Ø"/>
            </a:pPr>
            <a:r>
              <a:rPr lang="en-US" sz="2800" dirty="0">
                <a:sym typeface="+mn-ea"/>
              </a:rPr>
              <a:t>PCB</a:t>
            </a:r>
            <a:r>
              <a:rPr lang="zh-CN" altLang="en-US" sz="2800" dirty="0">
                <a:sym typeface="+mn-ea"/>
              </a:rPr>
              <a:t>会随着进程的创建而产生，调度而执行，撤销而灭亡</a:t>
            </a:r>
            <a:endParaRPr lang="zh-CN" altLang="en-US" sz="2800" dirty="0"/>
          </a:p>
          <a:p>
            <a:pPr indent="0">
              <a:lnSpc>
                <a:spcPct val="120000"/>
              </a:lnSpc>
              <a:buClr>
                <a:srgbClr val="FF0000"/>
              </a:buClr>
              <a:buFont typeface="Wingdings" panose="05000000000000000000" pitchFamily="2" charset="2"/>
              <a:buNone/>
            </a:pPr>
            <a:endParaRPr lang="zh-CN" altLang="en-US" sz="2800" dirty="0"/>
          </a:p>
          <a:p>
            <a:pPr marL="342900" indent="-342900">
              <a:lnSpc>
                <a:spcPct val="120000"/>
              </a:lnSpc>
              <a:buClr>
                <a:srgbClr val="FF0000"/>
              </a:buClr>
              <a:buFont typeface="Wingdings" panose="05000000000000000000" pitchFamily="2" charset="2"/>
              <a:buChar char="Ø"/>
            </a:pPr>
            <a:endParaRPr lang="zh-CN" altLang="en-US" sz="2800" dirty="0"/>
          </a:p>
        </p:txBody>
      </p:sp>
      <p:sp>
        <p:nvSpPr>
          <p:cNvPr id="33" name="ïṧḷïḋè"/>
          <p:cNvSpPr/>
          <p:nvPr/>
        </p:nvSpPr>
        <p:spPr>
          <a:xfrm>
            <a:off x="669290" y="140970"/>
            <a:ext cx="7715885" cy="415290"/>
          </a:xfrm>
          <a:prstGeom prst="rect">
            <a:avLst/>
          </a:prstGeom>
          <a:noFill/>
          <a:ln>
            <a:noFill/>
          </a:ln>
        </p:spPr>
        <p:txBody>
          <a:bodyPr wrap="square" lIns="91440" tIns="45720" rIns="91440" bIns="45720" anchor="ctr" anchorCtr="0">
            <a:noAutofit/>
          </a:bodyPr>
          <a:p>
            <a:pPr algn="l">
              <a:buClrTx/>
              <a:buSzTx/>
              <a:buFontTx/>
            </a:pPr>
            <a:r>
              <a:rPr lang="zh-CN" altLang="en-US" sz="2800" b="1" dirty="0">
                <a:solidFill>
                  <a:schemeClr val="bg1"/>
                </a:solidFill>
              </a:rPr>
              <a:t>进程</a:t>
            </a:r>
            <a:r>
              <a:rPr lang="zh-CN" altLang="en-US" sz="2800" b="1" dirty="0">
                <a:solidFill>
                  <a:schemeClr val="bg1"/>
                </a:solidFill>
              </a:rPr>
              <a:t>控制块(process control block, PCB) </a:t>
            </a:r>
            <a:endParaRPr lang="zh-CN" altLang="en-US" sz="2800" b="1" dirty="0">
              <a:solidFill>
                <a:schemeClr val="bg1"/>
              </a:solidFill>
            </a:endParaRPr>
          </a:p>
        </p:txBody>
      </p:sp>
      <p:sp>
        <p:nvSpPr>
          <p:cNvPr id="3" name="文本框 2"/>
          <p:cNvSpPr txBox="1"/>
          <p:nvPr/>
        </p:nvSpPr>
        <p:spPr>
          <a:xfrm>
            <a:off x="1521460" y="3649980"/>
            <a:ext cx="8528050" cy="1076325"/>
          </a:xfrm>
          <a:prstGeom prst="rect">
            <a:avLst/>
          </a:prstGeom>
          <a:noFill/>
        </p:spPr>
        <p:txBody>
          <a:bodyPr wrap="square" rtlCol="0">
            <a:spAutoFit/>
          </a:bodyPr>
          <a:p>
            <a:r>
              <a:rPr lang="zh-CN" altLang="en-US" sz="3200" dirty="0">
                <a:solidFill>
                  <a:srgbClr val="FF0000"/>
                </a:solidFill>
                <a:highlight>
                  <a:srgbClr val="FFFF00"/>
                </a:highlight>
                <a:sym typeface="+mn-ea"/>
              </a:rPr>
              <a:t>进程</a:t>
            </a:r>
            <a:r>
              <a:rPr lang="en-US" altLang="zh-CN" sz="3200" dirty="0">
                <a:solidFill>
                  <a:srgbClr val="FF0000"/>
                </a:solidFill>
                <a:highlight>
                  <a:srgbClr val="FFFF00"/>
                </a:highlight>
                <a:sym typeface="+mn-ea"/>
              </a:rPr>
              <a:t>=</a:t>
            </a:r>
            <a:r>
              <a:rPr lang="zh-CN" altLang="en-US" sz="3200" dirty="0">
                <a:solidFill>
                  <a:srgbClr val="FF0000"/>
                </a:solidFill>
                <a:highlight>
                  <a:srgbClr val="FFFF00"/>
                </a:highlight>
                <a:sym typeface="+mn-ea"/>
              </a:rPr>
              <a:t>程序块</a:t>
            </a:r>
            <a:r>
              <a:rPr lang="en-US" altLang="zh-CN" sz="3200" dirty="0">
                <a:solidFill>
                  <a:srgbClr val="FF0000"/>
                </a:solidFill>
                <a:highlight>
                  <a:srgbClr val="FFFF00"/>
                </a:highlight>
                <a:sym typeface="+mn-ea"/>
              </a:rPr>
              <a:t>+数据块+PCB+</a:t>
            </a:r>
            <a:r>
              <a:rPr lang="en-US" altLang="zh-CN" sz="3200" dirty="0">
                <a:solidFill>
                  <a:schemeClr val="bg1">
                    <a:lumMod val="50000"/>
                  </a:schemeClr>
                </a:solidFill>
                <a:highlight>
                  <a:srgbClr val="FFFF00"/>
                </a:highlight>
                <a:sym typeface="+mn-ea"/>
              </a:rPr>
              <a:t>堆栈</a:t>
            </a:r>
            <a:endParaRPr lang="zh-CN" altLang="en-US" sz="3200" dirty="0">
              <a:solidFill>
                <a:srgbClr val="FF0000"/>
              </a:solidFill>
              <a:highlight>
                <a:srgbClr val="FFFF00"/>
              </a:highlight>
              <a:sym typeface="+mn-ea"/>
            </a:endParaRPr>
          </a:p>
          <a:p>
            <a:r>
              <a:rPr lang="zh-CN" altLang="en-US" sz="3200" dirty="0">
                <a:solidFill>
                  <a:srgbClr val="FF0000"/>
                </a:solidFill>
                <a:sym typeface="+mn-ea"/>
              </a:rPr>
              <a:t>（课后习题</a:t>
            </a:r>
            <a:r>
              <a:rPr lang="en-US" altLang="zh-CN" sz="3200" dirty="0">
                <a:solidFill>
                  <a:srgbClr val="FF0000"/>
                </a:solidFill>
                <a:sym typeface="+mn-ea"/>
              </a:rPr>
              <a:t>5</a:t>
            </a:r>
            <a:r>
              <a:rPr lang="zh-CN" altLang="en-US" sz="3200" dirty="0">
                <a:solidFill>
                  <a:srgbClr val="FF0000"/>
                </a:solidFill>
                <a:sym typeface="+mn-ea"/>
              </a:rPr>
              <a:t>）</a:t>
            </a:r>
            <a:endParaRPr lang="zh-CN" altLang="en-US" sz="3200" dirty="0">
              <a:solidFill>
                <a:srgbClr val="FF0000"/>
              </a:solidFill>
              <a:sym typeface="+mn-ea"/>
            </a:endParaRPr>
          </a:p>
        </p:txBody>
      </p:sp>
      <p:pic>
        <p:nvPicPr>
          <p:cNvPr id="2" name="图片 1"/>
          <p:cNvPicPr>
            <a:picLocks noChangeAspect="1"/>
          </p:cNvPicPr>
          <p:nvPr/>
        </p:nvPicPr>
        <p:blipFill>
          <a:blip r:embed="rId1"/>
          <a:stretch>
            <a:fillRect/>
          </a:stretch>
        </p:blipFill>
        <p:spPr>
          <a:xfrm>
            <a:off x="143510" y="1045845"/>
            <a:ext cx="11789410" cy="44634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197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a:t>
            </a:r>
            <a:endParaRPr lang="zh-CN" altLang="en-US" sz="2800" b="1" dirty="0">
              <a:solidFill>
                <a:schemeClr val="bg1"/>
              </a:solidFill>
            </a:endParaRPr>
          </a:p>
        </p:txBody>
      </p:sp>
      <p:sp>
        <p:nvSpPr>
          <p:cNvPr id="29" name="íSľïdé"/>
          <p:cNvSpPr/>
          <p:nvPr/>
        </p:nvSpPr>
        <p:spPr>
          <a:xfrm>
            <a:off x="400565" y="1525924"/>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30" name="ïŝļíḓê"/>
          <p:cNvSpPr/>
          <p:nvPr/>
        </p:nvSpPr>
        <p:spPr bwMode="auto">
          <a:xfrm>
            <a:off x="5536365" y="128845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2" name="内容占位符 2"/>
          <p:cNvSpPr txBox="1"/>
          <p:nvPr/>
        </p:nvSpPr>
        <p:spPr>
          <a:xfrm>
            <a:off x="1127607" y="1525947"/>
            <a:ext cx="3419720"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是进程的一部分，是操作系统中最重要的</a:t>
            </a:r>
            <a:r>
              <a:rPr lang="zh-CN" altLang="en-US" sz="2400" dirty="0">
                <a:solidFill>
                  <a:srgbClr val="FF0000"/>
                </a:solidFill>
              </a:rPr>
              <a:t>记录型数据结构，</a:t>
            </a:r>
            <a:r>
              <a:rPr lang="zh-CN" altLang="en-US" sz="2400" dirty="0"/>
              <a:t>是进程存在的</a:t>
            </a:r>
            <a:r>
              <a:rPr lang="zh-CN" altLang="en-US" sz="2400" dirty="0">
                <a:solidFill>
                  <a:srgbClr val="FF0000"/>
                </a:solidFill>
              </a:rPr>
              <a:t>唯一标志</a:t>
            </a:r>
            <a:r>
              <a:rPr lang="zh-CN" altLang="en-US" sz="2400" dirty="0"/>
              <a:t>，</a:t>
            </a:r>
            <a:r>
              <a:rPr lang="zh-CN" altLang="en-US" sz="2400" b="1" dirty="0"/>
              <a:t>常驻内存</a:t>
            </a:r>
            <a:r>
              <a:rPr lang="zh-CN" altLang="en-US" sz="2400" dirty="0"/>
              <a:t>。</a:t>
            </a:r>
            <a:endParaRPr lang="zh-CN" altLang="en-US" sz="2400" dirty="0"/>
          </a:p>
          <a:p>
            <a:pPr marL="0" indent="0">
              <a:lnSpc>
                <a:spcPct val="132000"/>
              </a:lnSpc>
              <a:spcBef>
                <a:spcPts val="580"/>
              </a:spcBef>
              <a:buNone/>
              <a:defRPr/>
            </a:pPr>
            <a:endParaRPr lang="zh-CN" altLang="en-US" sz="2400" dirty="0"/>
          </a:p>
          <a:p>
            <a:pPr marL="0" indent="0">
              <a:lnSpc>
                <a:spcPct val="132000"/>
              </a:lnSpc>
              <a:spcBef>
                <a:spcPts val="580"/>
              </a:spcBef>
              <a:buNone/>
              <a:defRPr/>
            </a:pPr>
            <a:endParaRPr lang="en-US" altLang="zh-CN" sz="2400" b="1" dirty="0"/>
          </a:p>
        </p:txBody>
      </p:sp>
      <p:grpSp>
        <p:nvGrpSpPr>
          <p:cNvPr id="19" name="iSḻíḓè"/>
          <p:cNvGrpSpPr/>
          <p:nvPr/>
        </p:nvGrpSpPr>
        <p:grpSpPr>
          <a:xfrm rot="0">
            <a:off x="6276340" y="1452880"/>
            <a:ext cx="6005830" cy="2326005"/>
            <a:chOff x="1312811" y="1293168"/>
            <a:chExt cx="7574760" cy="2325795"/>
          </a:xfrm>
        </p:grpSpPr>
        <p:sp>
          <p:nvSpPr>
            <p:cNvPr id="24" name="îṧľîḋé"/>
            <p:cNvSpPr txBox="1"/>
            <p:nvPr/>
          </p:nvSpPr>
          <p:spPr>
            <a:xfrm>
              <a:off x="1312811" y="1293168"/>
              <a:ext cx="6293556"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的信息</a:t>
              </a:r>
              <a:r>
                <a:rPr lang="en-US" altLang="zh-CN" sz="2800" b="1" dirty="0">
                  <a:solidFill>
                    <a:schemeClr val="accent4">
                      <a:lumMod val="60000"/>
                      <a:lumOff val="40000"/>
                    </a:schemeClr>
                  </a:solidFill>
                  <a:sym typeface="+mn-ea"/>
                </a:rPr>
                <a:t>(</a:t>
              </a:r>
              <a:r>
                <a:rPr lang="zh-CN" altLang="en-US" sz="2800" b="1" dirty="0">
                  <a:solidFill>
                    <a:schemeClr val="accent4">
                      <a:lumMod val="60000"/>
                      <a:lumOff val="40000"/>
                    </a:schemeClr>
                  </a:solidFill>
                  <a:sym typeface="+mn-ea"/>
                </a:rPr>
                <a:t>课本</a:t>
              </a:r>
              <a:r>
                <a:rPr lang="en-US" altLang="zh-CN" sz="2800" b="1" dirty="0">
                  <a:solidFill>
                    <a:schemeClr val="accent4">
                      <a:lumMod val="60000"/>
                      <a:lumOff val="40000"/>
                    </a:schemeClr>
                  </a:solidFill>
                  <a:sym typeface="+mn-ea"/>
                </a:rPr>
                <a:t>49</a:t>
              </a:r>
              <a:r>
                <a:rPr lang="zh-CN" altLang="en-US" sz="2800" b="1" dirty="0">
                  <a:solidFill>
                    <a:schemeClr val="accent4">
                      <a:lumMod val="60000"/>
                      <a:lumOff val="40000"/>
                    </a:schemeClr>
                  </a:solidFill>
                  <a:sym typeface="+mn-ea"/>
                </a:rPr>
                <a:t>页</a:t>
              </a:r>
              <a:r>
                <a:rPr lang="en-US" altLang="zh-CN" sz="2800" b="1" dirty="0">
                  <a:solidFill>
                    <a:schemeClr val="accent4">
                      <a:lumMod val="60000"/>
                      <a:lumOff val="40000"/>
                    </a:schemeClr>
                  </a:solidFill>
                  <a:sym typeface="+mn-ea"/>
                </a:rPr>
                <a:t>)</a:t>
              </a:r>
              <a:endParaRPr lang="en-US" altLang="zh-CN" sz="2800" b="1" dirty="0">
                <a:solidFill>
                  <a:schemeClr val="accent4">
                    <a:lumMod val="60000"/>
                    <a:lumOff val="40000"/>
                  </a:schemeClr>
                </a:solidFill>
                <a:sym typeface="+mn-ea"/>
              </a:endParaRPr>
            </a:p>
          </p:txBody>
        </p:sp>
        <p:sp>
          <p:nvSpPr>
            <p:cNvPr id="25" name="íşļîḓé"/>
            <p:cNvSpPr/>
            <p:nvPr/>
          </p:nvSpPr>
          <p:spPr bwMode="auto">
            <a:xfrm>
              <a:off x="1312811" y="1736891"/>
              <a:ext cx="7574760" cy="1882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进程标识符（外部和内部标识符）</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处理机状态：被中断的信息存放在</a:t>
              </a:r>
              <a:r>
                <a:rPr lang="en-US" altLang="zh-CN" sz="2200" dirty="0"/>
                <a:t>PCB</a:t>
              </a:r>
              <a:r>
                <a:rPr lang="zh-CN" altLang="en-US" sz="2200" dirty="0"/>
                <a:t>中</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进程调度信息</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进程控制信息</a:t>
              </a:r>
              <a:endParaRPr lang="zh-CN" altLang="en-US" sz="22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74015" y="949960"/>
            <a:ext cx="11127740" cy="3471545"/>
          </a:xfrm>
          <a:prstGeom prst="rect">
            <a:avLst/>
          </a:prstGeom>
        </p:spPr>
        <p:txBody>
          <a:bodyPr wrap="square">
            <a:noAutofit/>
          </a:bodyPr>
          <a:p>
            <a:pPr marL="0" indent="0">
              <a:spcBef>
                <a:spcPts val="100"/>
              </a:spcBef>
              <a:spcAft>
                <a:spcPts val="100"/>
              </a:spcAft>
            </a:pPr>
            <a:r>
              <a:rPr lang="zh-CN" altLang="en-US" sz="2400" b="0" i="0">
                <a:solidFill>
                  <a:srgbClr val="000000"/>
                </a:solidFill>
                <a:latin typeface="黑体" panose="02010609060101010101" charset="-122"/>
                <a:ea typeface="黑体" panose="02010609060101010101" charset="-122"/>
                <a:cs typeface="黑体" panose="02010609060101010101" charset="-122"/>
              </a:rPr>
              <a:t>一个进程实体由</a:t>
            </a:r>
            <a:r>
              <a:rPr lang="en-US" altLang="zh-CN" sz="2400" b="0" i="0">
                <a:solidFill>
                  <a:srgbClr val="000000"/>
                </a:solidFill>
                <a:latin typeface="黑体" panose="02010609060101010101" charset="-122"/>
                <a:ea typeface="黑体" panose="02010609060101010101" charset="-122"/>
                <a:cs typeface="黑体" panose="02010609060101010101" charset="-122"/>
              </a:rPr>
              <a:t>PCB</a:t>
            </a:r>
            <a:r>
              <a:rPr lang="zh-CN" altLang="en-US" sz="2400" b="0" i="0">
                <a:solidFill>
                  <a:srgbClr val="000000"/>
                </a:solidFill>
                <a:latin typeface="黑体" panose="02010609060101010101" charset="-122"/>
                <a:ea typeface="黑体" panose="02010609060101010101" charset="-122"/>
                <a:cs typeface="黑体" panose="02010609060101010101" charset="-122"/>
              </a:rPr>
              <a:t>、共享正文段、数据堆段和数据栈段组成，请指出下列</a:t>
            </a:r>
            <a:r>
              <a:rPr lang="en-US" altLang="zh-CN" sz="2400" b="0" i="0">
                <a:solidFill>
                  <a:srgbClr val="000000"/>
                </a:solidFill>
                <a:latin typeface="黑体" panose="02010609060101010101" charset="-122"/>
                <a:ea typeface="黑体" panose="02010609060101010101" charset="-122"/>
                <a:cs typeface="黑体" panose="02010609060101010101" charset="-122"/>
              </a:rPr>
              <a:t>C</a:t>
            </a:r>
            <a:r>
              <a:rPr lang="zh-CN" altLang="en-US" sz="2400" b="0" i="0">
                <a:solidFill>
                  <a:srgbClr val="000000"/>
                </a:solidFill>
                <a:latin typeface="黑体" panose="02010609060101010101" charset="-122"/>
                <a:ea typeface="黑体" panose="02010609060101010101" charset="-122"/>
                <a:cs typeface="黑体" panose="02010609060101010101" charset="-122"/>
              </a:rPr>
              <a:t>语言程序中的内容及相关数据结构各位于哪一段中。</a:t>
            </a:r>
            <a:endParaRPr lang="zh-CN" altLang="en-US"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I.</a:t>
            </a:r>
            <a:r>
              <a:rPr lang="zh-CN" altLang="en-US" sz="2400" b="0" i="0">
                <a:solidFill>
                  <a:srgbClr val="000000"/>
                </a:solidFill>
                <a:latin typeface="黑体" panose="02010609060101010101" charset="-122"/>
                <a:ea typeface="黑体" panose="02010609060101010101" charset="-122"/>
                <a:cs typeface="黑体" panose="02010609060101010101" charset="-122"/>
              </a:rPr>
              <a:t>全局赋值变量</a:t>
            </a:r>
            <a:r>
              <a:rPr lang="en-US" altLang="zh-CN" sz="2400" b="0" i="0">
                <a:solidFill>
                  <a:srgbClr val="000000"/>
                </a:solidFill>
                <a:latin typeface="黑体" panose="02010609060101010101" charset="-122"/>
                <a:ea typeface="黑体" panose="02010609060101010101" charset="-122"/>
                <a:cs typeface="黑体" panose="02010609060101010101" charset="-122"/>
              </a:rPr>
              <a:t>()</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II. </a:t>
            </a:r>
            <a:r>
              <a:rPr lang="zh-CN" altLang="en-US" sz="2400" b="0" i="0">
                <a:solidFill>
                  <a:srgbClr val="000000"/>
                </a:solidFill>
                <a:latin typeface="黑体" panose="02010609060101010101" charset="-122"/>
                <a:ea typeface="黑体" panose="02010609060101010101" charset="-122"/>
                <a:cs typeface="黑体" panose="02010609060101010101" charset="-122"/>
              </a:rPr>
              <a:t>未赋值的局部变量</a:t>
            </a:r>
            <a:r>
              <a:rPr lang="en-US" altLang="zh-CN" sz="2400" b="0" i="0">
                <a:solidFill>
                  <a:srgbClr val="000000"/>
                </a:solidFill>
                <a:latin typeface="黑体" panose="02010609060101010101" charset="-122"/>
                <a:ea typeface="黑体" panose="02010609060101010101" charset="-122"/>
                <a:cs typeface="黑体" panose="02010609060101010101" charset="-122"/>
              </a:rPr>
              <a:t>()</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Ⅲ.</a:t>
            </a:r>
            <a:r>
              <a:rPr lang="zh-CN" altLang="en-US" sz="2400" b="0" i="0">
                <a:solidFill>
                  <a:srgbClr val="000000"/>
                </a:solidFill>
                <a:latin typeface="黑体" panose="02010609060101010101" charset="-122"/>
                <a:ea typeface="黑体" panose="02010609060101010101" charset="-122"/>
                <a:cs typeface="黑体" panose="02010609060101010101" charset="-122"/>
              </a:rPr>
              <a:t>函数调用实参传递值</a:t>
            </a:r>
            <a:r>
              <a:rPr lang="en-US" altLang="zh-CN" sz="2400" b="0" i="0">
                <a:solidFill>
                  <a:srgbClr val="000000"/>
                </a:solidFill>
                <a:latin typeface="黑体" panose="02010609060101010101" charset="-122"/>
                <a:ea typeface="黑体" panose="02010609060101010101" charset="-122"/>
                <a:cs typeface="黑体" panose="02010609060101010101" charset="-122"/>
              </a:rPr>
              <a:t>()</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IV.</a:t>
            </a:r>
            <a:r>
              <a:rPr lang="zh-CN" altLang="en-US" sz="2400" b="0" i="0">
                <a:solidFill>
                  <a:srgbClr val="000000"/>
                </a:solidFill>
                <a:latin typeface="黑体" panose="02010609060101010101" charset="-122"/>
                <a:ea typeface="黑体" panose="02010609060101010101" charset="-122"/>
                <a:cs typeface="黑体" panose="02010609060101010101" charset="-122"/>
              </a:rPr>
              <a:t>用</a:t>
            </a:r>
            <a:r>
              <a:rPr lang="en-US" altLang="zh-CN" sz="2400" b="0" i="0">
                <a:solidFill>
                  <a:srgbClr val="000000"/>
                </a:solidFill>
                <a:latin typeface="黑体" panose="02010609060101010101" charset="-122"/>
                <a:ea typeface="黑体" panose="02010609060101010101" charset="-122"/>
                <a:cs typeface="黑体" panose="02010609060101010101" charset="-122"/>
              </a:rPr>
              <a:t>malloc()</a:t>
            </a:r>
            <a:r>
              <a:rPr lang="zh-CN" altLang="en-US" sz="2400" b="0" i="0">
                <a:solidFill>
                  <a:srgbClr val="000000"/>
                </a:solidFill>
                <a:latin typeface="黑体" panose="02010609060101010101" charset="-122"/>
                <a:ea typeface="黑体" panose="02010609060101010101" charset="-122"/>
                <a:cs typeface="黑体" panose="02010609060101010101" charset="-122"/>
              </a:rPr>
              <a:t>要求动态分配的存储区</a:t>
            </a:r>
            <a:r>
              <a:rPr lang="en-US" altLang="zh-CN" sz="2400" b="0" i="0">
                <a:solidFill>
                  <a:srgbClr val="000000"/>
                </a:solidFill>
                <a:latin typeface="黑体" panose="02010609060101010101" charset="-122"/>
                <a:ea typeface="黑体" panose="02010609060101010101" charset="-122"/>
                <a:cs typeface="黑体" panose="02010609060101010101" charset="-122"/>
              </a:rPr>
              <a:t>() </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V.</a:t>
            </a:r>
            <a:r>
              <a:rPr lang="zh-CN" altLang="en-US" sz="2400" b="0" i="0">
                <a:solidFill>
                  <a:srgbClr val="000000"/>
                </a:solidFill>
                <a:latin typeface="黑体" panose="02010609060101010101" charset="-122"/>
                <a:ea typeface="黑体" panose="02010609060101010101" charset="-122"/>
                <a:cs typeface="黑体" panose="02010609060101010101" charset="-122"/>
              </a:rPr>
              <a:t>常量值</a:t>
            </a:r>
            <a:r>
              <a:rPr lang="en-US" altLang="zh-CN" sz="2400" b="0" i="0">
                <a:solidFill>
                  <a:srgbClr val="000000"/>
                </a:solidFill>
                <a:latin typeface="黑体" panose="02010609060101010101" charset="-122"/>
                <a:ea typeface="黑体" panose="02010609060101010101" charset="-122"/>
                <a:cs typeface="黑体" panose="02010609060101010101" charset="-122"/>
              </a:rPr>
              <a:t>(</a:t>
            </a:r>
            <a:r>
              <a:rPr lang="zh-CN" altLang="en-US" sz="2400" b="0" i="0">
                <a:solidFill>
                  <a:srgbClr val="000000"/>
                </a:solidFill>
                <a:latin typeface="黑体" panose="02010609060101010101" charset="-122"/>
                <a:ea typeface="黑体" panose="02010609060101010101" charset="-122"/>
                <a:cs typeface="黑体" panose="02010609060101010101" charset="-122"/>
              </a:rPr>
              <a:t>如</a:t>
            </a:r>
            <a:r>
              <a:rPr lang="en-US" altLang="zh-CN" sz="2400" b="0" i="0">
                <a:solidFill>
                  <a:srgbClr val="000000"/>
                </a:solidFill>
                <a:latin typeface="黑体" panose="02010609060101010101" charset="-122"/>
                <a:ea typeface="黑体" panose="02010609060101010101" charset="-122"/>
                <a:cs typeface="黑体" panose="02010609060101010101" charset="-122"/>
              </a:rPr>
              <a:t>1995</a:t>
            </a:r>
            <a:r>
              <a:rPr lang="zh-CN" altLang="en-US" sz="2400" b="0" i="0">
                <a:solidFill>
                  <a:srgbClr val="000000"/>
                </a:solidFill>
                <a:latin typeface="黑体" panose="02010609060101010101" charset="-122"/>
                <a:ea typeface="黑体" panose="02010609060101010101" charset="-122"/>
                <a:cs typeface="黑体" panose="02010609060101010101" charset="-122"/>
              </a:rPr>
              <a:t>、</a:t>
            </a:r>
            <a:r>
              <a:rPr lang="en-US" altLang="zh-CN" sz="2400" b="0" i="0">
                <a:solidFill>
                  <a:srgbClr val="000000"/>
                </a:solidFill>
                <a:latin typeface="黑体" panose="02010609060101010101" charset="-122"/>
                <a:ea typeface="黑体" panose="02010609060101010101" charset="-122"/>
                <a:cs typeface="黑体" panose="02010609060101010101" charset="-122"/>
              </a:rPr>
              <a:t>"string")( ) </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​VI.</a:t>
            </a:r>
            <a:r>
              <a:rPr lang="zh-CN" altLang="en-US" sz="2400" b="0" i="0">
                <a:solidFill>
                  <a:srgbClr val="000000"/>
                </a:solidFill>
                <a:latin typeface="黑体" panose="02010609060101010101" charset="-122"/>
                <a:ea typeface="黑体" panose="02010609060101010101" charset="-122"/>
                <a:cs typeface="黑体" panose="02010609060101010101" charset="-122"/>
              </a:rPr>
              <a:t>进程的优先级</a:t>
            </a:r>
            <a:r>
              <a:rPr lang="en-US" altLang="zh-CN" sz="2400" b="0" i="0">
                <a:solidFill>
                  <a:srgbClr val="000000"/>
                </a:solidFill>
                <a:latin typeface="黑体" panose="02010609060101010101" charset="-122"/>
                <a:ea typeface="黑体" panose="02010609060101010101" charset="-122"/>
                <a:cs typeface="黑体" panose="02010609060101010101" charset="-122"/>
              </a:rPr>
              <a:t>()</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endParaRPr lang="en-US" altLang="zh-CN" sz="2400" b="0" i="0">
              <a:solidFill>
                <a:srgbClr val="000000"/>
              </a:solidFill>
              <a:latin typeface="黑体" panose="02010609060101010101" charset="-122"/>
              <a:ea typeface="黑体" panose="02010609060101010101" charset="-122"/>
              <a:cs typeface="黑体" panose="02010609060101010101" charset="-122"/>
            </a:endParaRPr>
          </a:p>
          <a:p>
            <a:pPr marL="0" indent="0">
              <a:spcBef>
                <a:spcPts val="100"/>
              </a:spcBef>
              <a:spcAft>
                <a:spcPts val="100"/>
              </a:spcAft>
            </a:pPr>
            <a:r>
              <a:rPr lang="en-US" altLang="zh-CN" sz="2400" b="0" i="0">
                <a:solidFill>
                  <a:srgbClr val="000000"/>
                </a:solidFill>
                <a:latin typeface="黑体" panose="02010609060101010101" charset="-122"/>
                <a:ea typeface="黑体" panose="02010609060101010101" charset="-122"/>
                <a:cs typeface="黑体" panose="02010609060101010101" charset="-122"/>
              </a:rPr>
              <a:t>A.PCB	B.</a:t>
            </a:r>
            <a:r>
              <a:rPr lang="zh-CN" altLang="en-US" sz="2400" b="0" i="0">
                <a:solidFill>
                  <a:srgbClr val="000000"/>
                </a:solidFill>
                <a:latin typeface="黑体" panose="02010609060101010101" charset="-122"/>
                <a:ea typeface="黑体" panose="02010609060101010101" charset="-122"/>
                <a:cs typeface="黑体" panose="02010609060101010101" charset="-122"/>
              </a:rPr>
              <a:t>正文段</a:t>
            </a:r>
            <a:r>
              <a:rPr lang="en-US" altLang="zh-CN" sz="2400" b="0" i="0">
                <a:solidFill>
                  <a:srgbClr val="000000"/>
                </a:solidFill>
                <a:latin typeface="黑体" panose="02010609060101010101" charset="-122"/>
                <a:ea typeface="黑体" panose="02010609060101010101" charset="-122"/>
                <a:cs typeface="黑体" panose="02010609060101010101" charset="-122"/>
              </a:rPr>
              <a:t>	C.</a:t>
            </a:r>
            <a:r>
              <a:rPr lang="zh-CN" altLang="en-US" sz="2400" b="0" i="0">
                <a:solidFill>
                  <a:srgbClr val="000000"/>
                </a:solidFill>
                <a:latin typeface="黑体" panose="02010609060101010101" charset="-122"/>
                <a:ea typeface="黑体" panose="02010609060101010101" charset="-122"/>
                <a:cs typeface="黑体" panose="02010609060101010101" charset="-122"/>
              </a:rPr>
              <a:t>堆段</a:t>
            </a:r>
            <a:r>
              <a:rPr lang="en-US" altLang="zh-CN" sz="2400" b="0" i="0">
                <a:solidFill>
                  <a:srgbClr val="000000"/>
                </a:solidFill>
                <a:latin typeface="黑体" panose="02010609060101010101" charset="-122"/>
                <a:ea typeface="黑体" panose="02010609060101010101" charset="-122"/>
                <a:cs typeface="黑体" panose="02010609060101010101" charset="-122"/>
              </a:rPr>
              <a:t>	D.</a:t>
            </a:r>
            <a:r>
              <a:rPr lang="zh-CN" altLang="en-US" sz="2400" b="0" i="0">
                <a:solidFill>
                  <a:srgbClr val="000000"/>
                </a:solidFill>
                <a:latin typeface="黑体" panose="02010609060101010101" charset="-122"/>
                <a:ea typeface="黑体" panose="02010609060101010101" charset="-122"/>
                <a:cs typeface="黑体" panose="02010609060101010101" charset="-122"/>
              </a:rPr>
              <a:t>栈段</a:t>
            </a:r>
            <a:r>
              <a:rPr lang="en-US" altLang="zh-CN" sz="2400" b="0" i="0">
                <a:solidFill>
                  <a:srgbClr val="000000"/>
                </a:solidFill>
                <a:latin typeface="黑体" panose="02010609060101010101" charset="-122"/>
                <a:ea typeface="黑体" panose="02010609060101010101" charset="-122"/>
                <a:cs typeface="黑体" panose="02010609060101010101" charset="-122"/>
              </a:rPr>
              <a:t>	</a:t>
            </a:r>
            <a:endParaRPr lang="en-US" altLang="zh-CN" sz="2400" b="0" i="0">
              <a:solidFill>
                <a:srgbClr val="000000"/>
              </a:solidFill>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6752590" y="1974850"/>
            <a:ext cx="4930140" cy="3369945"/>
          </a:xfrm>
          <a:prstGeom prst="rect">
            <a:avLst/>
          </a:prstGeom>
          <a:solidFill>
            <a:schemeClr val="accent1">
              <a:lumMod val="20000"/>
              <a:lumOff val="80000"/>
            </a:schemeClr>
          </a:solidFill>
        </p:spPr>
        <p:txBody>
          <a:bodyPr wrap="square" rtlCol="0" anchor="t">
            <a:noAutofit/>
          </a:bodyPr>
          <a:p>
            <a:pPr marL="342900" indent="-342900">
              <a:lnSpc>
                <a:spcPct val="150000"/>
              </a:lnSpc>
              <a:buFont typeface="Arial" panose="020B0604020202020204" pitchFamily="34" charset="0"/>
              <a:buChar char="•"/>
            </a:pPr>
            <a:r>
              <a:rPr lang="zh-CN" altLang="en-US" sz="2400"/>
              <a:t>二进制代码和常量存放在正文段</a:t>
            </a:r>
            <a:endParaRPr lang="zh-CN" altLang="en-US" sz="2400"/>
          </a:p>
          <a:p>
            <a:pPr marL="342900" indent="-342900">
              <a:lnSpc>
                <a:spcPct val="150000"/>
              </a:lnSpc>
              <a:buFont typeface="Arial" panose="020B0604020202020204" pitchFamily="34" charset="0"/>
              <a:buChar char="•"/>
            </a:pPr>
            <a:r>
              <a:rPr lang="zh-CN" altLang="en-US" sz="2400"/>
              <a:t>动态分配的存储区在堆段</a:t>
            </a:r>
            <a:endParaRPr lang="zh-CN" altLang="en-US" sz="2400"/>
          </a:p>
          <a:p>
            <a:pPr marL="342900" indent="-342900">
              <a:lnSpc>
                <a:spcPct val="150000"/>
              </a:lnSpc>
              <a:buFont typeface="Arial" panose="020B0604020202020204" pitchFamily="34" charset="0"/>
              <a:buChar char="•"/>
            </a:pPr>
            <a:r>
              <a:rPr lang="zh-CN" altLang="en-US" sz="2400"/>
              <a:t>临时使用的变量在栈段。</a:t>
            </a:r>
            <a:endParaRPr lang="zh-CN" altLang="en-US" sz="2400"/>
          </a:p>
        </p:txBody>
      </p:sp>
      <p:sp>
        <p:nvSpPr>
          <p:cNvPr id="3" name="文本框 2"/>
          <p:cNvSpPr txBox="1"/>
          <p:nvPr/>
        </p:nvSpPr>
        <p:spPr>
          <a:xfrm>
            <a:off x="6752590" y="4318635"/>
            <a:ext cx="4658995" cy="460375"/>
          </a:xfrm>
          <a:prstGeom prst="rect">
            <a:avLst/>
          </a:prstGeom>
          <a:noFill/>
        </p:spPr>
        <p:txBody>
          <a:bodyPr wrap="square" rtlCol="0" anchor="t">
            <a:spAutoFit/>
          </a:bodyPr>
          <a:p>
            <a:r>
              <a:rPr lang="zh-CN" altLang="en-US" sz="2400">
                <a:solidFill>
                  <a:srgbClr val="FF0000"/>
                </a:solidFill>
              </a:rPr>
              <a:t>正确答案：</a:t>
            </a:r>
            <a:r>
              <a:rPr lang="en-US" altLang="zh-CN" sz="2400">
                <a:solidFill>
                  <a:srgbClr val="FF0000"/>
                </a:solidFill>
              </a:rPr>
              <a:t>B</a:t>
            </a:r>
            <a:r>
              <a:rPr lang="zh-CN" altLang="en-US" sz="2400">
                <a:solidFill>
                  <a:srgbClr val="FF0000"/>
                </a:solidFill>
              </a:rPr>
              <a:t>、</a:t>
            </a:r>
            <a:r>
              <a:rPr lang="en-US" altLang="zh-CN" sz="2400">
                <a:solidFill>
                  <a:srgbClr val="FF0000"/>
                </a:solidFill>
              </a:rPr>
              <a:t>D</a:t>
            </a:r>
            <a:r>
              <a:rPr lang="zh-CN" altLang="en-US" sz="2400">
                <a:solidFill>
                  <a:srgbClr val="FF0000"/>
                </a:solidFill>
              </a:rPr>
              <a:t>、</a:t>
            </a:r>
            <a:r>
              <a:rPr lang="en-US" altLang="zh-CN" sz="2400">
                <a:solidFill>
                  <a:srgbClr val="FF0000"/>
                </a:solidFill>
              </a:rPr>
              <a:t>D</a:t>
            </a:r>
            <a:r>
              <a:rPr lang="zh-CN" altLang="en-US" sz="2400">
                <a:solidFill>
                  <a:srgbClr val="FF0000"/>
                </a:solidFill>
              </a:rPr>
              <a:t>、</a:t>
            </a:r>
            <a:r>
              <a:rPr lang="en-US" altLang="zh-CN" sz="2400">
                <a:solidFill>
                  <a:srgbClr val="FF0000"/>
                </a:solidFill>
              </a:rPr>
              <a:t>C</a:t>
            </a:r>
            <a:r>
              <a:rPr lang="zh-CN" altLang="en-US" sz="2400">
                <a:solidFill>
                  <a:srgbClr val="FF0000"/>
                </a:solidFill>
              </a:rPr>
              <a:t>、</a:t>
            </a:r>
            <a:r>
              <a:rPr lang="en-US" altLang="zh-CN" sz="2400">
                <a:solidFill>
                  <a:srgbClr val="FF0000"/>
                </a:solidFill>
              </a:rPr>
              <a:t>B</a:t>
            </a:r>
            <a:r>
              <a:rPr lang="zh-CN" altLang="en-US" sz="2400">
                <a:solidFill>
                  <a:srgbClr val="FF0000"/>
                </a:solidFill>
              </a:rPr>
              <a:t>、</a:t>
            </a:r>
            <a:r>
              <a:rPr lang="en-US" altLang="zh-CN" sz="2400">
                <a:solidFill>
                  <a:srgbClr val="FF0000"/>
                </a:solidFill>
              </a:rPr>
              <a:t>A</a:t>
            </a:r>
            <a:endParaRPr lang="en-US" altLang="zh-CN"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91548"/>
            <a:ext cx="7026275" cy="521970"/>
          </a:xfrm>
          <a:prstGeom prst="rect">
            <a:avLst/>
          </a:prstGeom>
        </p:spPr>
        <p:txBody>
          <a:bodyPr wrap="square">
            <a:spAutoFit/>
          </a:bodyPr>
          <a:lstStyle/>
          <a:p>
            <a:r>
              <a:rPr lang="zh-CN" altLang="en-US" sz="2800" b="1" dirty="0">
                <a:solidFill>
                  <a:schemeClr val="bg1"/>
                </a:solidFill>
              </a:rPr>
              <a:t>进程控制块</a:t>
            </a:r>
            <a:r>
              <a:rPr lang="en-US" altLang="zh-CN" sz="2800" b="1" dirty="0">
                <a:solidFill>
                  <a:schemeClr val="bg1"/>
                </a:solidFill>
              </a:rPr>
              <a:t>PCB</a:t>
            </a:r>
            <a:endParaRPr lang="zh-CN" altLang="en-US" sz="2800" b="1" dirty="0">
              <a:solidFill>
                <a:schemeClr val="bg1"/>
              </a:solidFill>
            </a:endParaRPr>
          </a:p>
        </p:txBody>
      </p:sp>
      <p:grpSp>
        <p:nvGrpSpPr>
          <p:cNvPr id="11" name="iŝļïḓê"/>
          <p:cNvGrpSpPr/>
          <p:nvPr/>
        </p:nvGrpSpPr>
        <p:grpSpPr>
          <a:xfrm>
            <a:off x="5912226" y="1946994"/>
            <a:ext cx="5638979" cy="1896005"/>
            <a:chOff x="660400" y="1935907"/>
            <a:chExt cx="5638979" cy="1896005"/>
          </a:xfrm>
        </p:grpSpPr>
        <p:grpSp>
          <p:nvGrpSpPr>
            <p:cNvPr id="13" name="ïṧļïḓe"/>
            <p:cNvGrpSpPr/>
            <p:nvPr/>
          </p:nvGrpSpPr>
          <p:grpSpPr>
            <a:xfrm>
              <a:off x="1309446" y="1935907"/>
              <a:ext cx="4989933" cy="1896005"/>
              <a:chOff x="1312811" y="1935907"/>
              <a:chExt cx="6293555" cy="1896005"/>
            </a:xfrm>
          </p:grpSpPr>
          <p:sp>
            <p:nvSpPr>
              <p:cNvPr id="17" name="ïšļíďè"/>
              <p:cNvSpPr txBox="1"/>
              <p:nvPr/>
            </p:nvSpPr>
            <p:spPr>
              <a:xfrm>
                <a:off x="1312811" y="193590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2800" dirty="0">
                    <a:solidFill>
                      <a:srgbClr val="0000FF"/>
                    </a:solidFill>
                  </a:rPr>
                  <a:t>PCB</a:t>
                </a:r>
                <a:r>
                  <a:rPr lang="zh-CN" altLang="en-US" sz="2800" dirty="0">
                    <a:solidFill>
                      <a:srgbClr val="0000FF"/>
                    </a:solidFill>
                  </a:rPr>
                  <a:t>的组织方式（</a:t>
                </a:r>
                <a:r>
                  <a:rPr lang="en-US" altLang="zh-CN" sz="2800" dirty="0">
                    <a:solidFill>
                      <a:srgbClr val="0000FF"/>
                    </a:solidFill>
                  </a:rPr>
                  <a:t>49</a:t>
                </a:r>
                <a:r>
                  <a:rPr lang="zh-CN" altLang="en-US" sz="2800" dirty="0">
                    <a:solidFill>
                      <a:srgbClr val="0000FF"/>
                    </a:solidFill>
                  </a:rPr>
                  <a:t>页）</a:t>
                </a:r>
                <a:endParaRPr lang="zh-CN" altLang="en-US" sz="2800" dirty="0">
                  <a:solidFill>
                    <a:srgbClr val="0000FF"/>
                  </a:solidFill>
                </a:endParaRPr>
              </a:p>
            </p:txBody>
          </p:sp>
          <p:sp>
            <p:nvSpPr>
              <p:cNvPr id="18" name="íşľíḑè"/>
              <p:cNvSpPr/>
              <p:nvPr/>
            </p:nvSpPr>
            <p:spPr bwMode="auto">
              <a:xfrm>
                <a:off x="1312811" y="2330593"/>
                <a:ext cx="6293555" cy="150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50000"/>
                  </a:lnSpc>
                  <a:buFont typeface="Wingdings" panose="05000000000000000000" pitchFamily="2" charset="2"/>
                  <a:buChar char="Ø"/>
                </a:pPr>
                <a:r>
                  <a:rPr lang="zh-CN" altLang="en-US" sz="2200" dirty="0"/>
                  <a:t>线性方式</a:t>
                </a:r>
                <a:endParaRPr lang="zh-CN" altLang="en-US" sz="2200" dirty="0"/>
              </a:p>
              <a:p>
                <a:pPr marL="342900" lvl="1" indent="-342900">
                  <a:lnSpc>
                    <a:spcPct val="150000"/>
                  </a:lnSpc>
                  <a:buFont typeface="Wingdings" panose="05000000000000000000" pitchFamily="2" charset="2"/>
                  <a:buChar char="Ø"/>
                </a:pPr>
                <a:r>
                  <a:rPr lang="zh-CN" altLang="en-US" sz="2200" dirty="0"/>
                  <a:t>链接方式</a:t>
                </a:r>
                <a:endParaRPr lang="zh-CN" altLang="en-US" sz="2200" dirty="0"/>
              </a:p>
              <a:p>
                <a:pPr marL="342900" lvl="1" indent="-342900">
                  <a:lnSpc>
                    <a:spcPct val="150000"/>
                  </a:lnSpc>
                  <a:buFont typeface="Wingdings" panose="05000000000000000000" pitchFamily="2" charset="2"/>
                  <a:buChar char="Ø"/>
                </a:pPr>
                <a:r>
                  <a:rPr lang="zh-CN" altLang="en-US" sz="2200" dirty="0"/>
                  <a:t>索引方式</a:t>
                </a:r>
                <a:endParaRPr lang="zh-CN" altLang="en-US" sz="2200" dirty="0"/>
              </a:p>
            </p:txBody>
          </p:sp>
        </p:grpSp>
        <p:grpSp>
          <p:nvGrpSpPr>
            <p:cNvPr id="14" name="ïŝľídè"/>
            <p:cNvGrpSpPr/>
            <p:nvPr/>
          </p:nvGrpSpPr>
          <p:grpSpPr>
            <a:xfrm>
              <a:off x="660400" y="2096245"/>
              <a:ext cx="497734" cy="497734"/>
              <a:chOff x="660400" y="2096245"/>
              <a:chExt cx="497734" cy="497734"/>
            </a:xfrm>
          </p:grpSpPr>
          <p:sp>
            <p:nvSpPr>
              <p:cNvPr id="15" name="ïṡľïde"/>
              <p:cNvSpPr/>
              <p:nvPr/>
            </p:nvSpPr>
            <p:spPr>
              <a:xfrm>
                <a:off x="660400" y="2096245"/>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6" name="ïšliḍe"/>
              <p:cNvSpPr/>
              <p:nvPr/>
            </p:nvSpPr>
            <p:spPr>
              <a:xfrm>
                <a:off x="779848" y="2227680"/>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
        <p:nvSpPr>
          <p:cNvPr id="33" name="内容占位符 2"/>
          <p:cNvSpPr txBox="1"/>
          <p:nvPr/>
        </p:nvSpPr>
        <p:spPr>
          <a:xfrm>
            <a:off x="461010" y="1390650"/>
            <a:ext cx="4927600" cy="375348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PCB</a:t>
            </a:r>
            <a:r>
              <a:rPr lang="zh-CN" altLang="en-US" sz="2400" dirty="0"/>
              <a:t>的</a:t>
            </a:r>
            <a:r>
              <a:rPr lang="zh-CN" altLang="en-US" sz="2400" dirty="0">
                <a:solidFill>
                  <a:srgbClr val="0000FF"/>
                </a:solidFill>
              </a:rPr>
              <a:t>作用：（课本</a:t>
            </a:r>
            <a:r>
              <a:rPr lang="en-US" altLang="zh-CN" sz="2400" dirty="0">
                <a:solidFill>
                  <a:srgbClr val="0000FF"/>
                </a:solidFill>
              </a:rPr>
              <a:t>48</a:t>
            </a:r>
            <a:r>
              <a:rPr lang="zh-CN" altLang="en-US" sz="2400" dirty="0">
                <a:solidFill>
                  <a:srgbClr val="0000FF"/>
                </a:solidFill>
              </a:rPr>
              <a:t>页）</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作为独立运行基本单位的标志；</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能实现间断性运行方式；</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提供进程管理所需要的信息；</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提供进程调度所需要的信息；</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实现与其他进程的同步与通信。</a:t>
            </a:r>
            <a:endParaRPr lang="zh-CN" altLang="en-US" sz="2400" dirty="0">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线性组织方式</a:t>
            </a:r>
            <a:endParaRPr lang="zh-CN" altLang="en-US" sz="2800" b="1" dirty="0">
              <a:solidFill>
                <a:schemeClr val="bg1"/>
              </a:solidFill>
            </a:endParaRPr>
          </a:p>
        </p:txBody>
      </p:sp>
      <p:graphicFrame>
        <p:nvGraphicFramePr>
          <p:cNvPr id="4" name="Group 75"/>
          <p:cNvGraphicFramePr>
            <a:graphicFrameLocks noGrp="1"/>
          </p:cNvGraphicFramePr>
          <p:nvPr/>
        </p:nvGraphicFramePr>
        <p:xfrm>
          <a:off x="4619693" y="1625981"/>
          <a:ext cx="2824296" cy="4235937"/>
        </p:xfrm>
        <a:graphic>
          <a:graphicData uri="http://schemas.openxmlformats.org/drawingml/2006/table">
            <a:tbl>
              <a:tblPr/>
              <a:tblGrid>
                <a:gridCol w="2824296"/>
              </a:tblGrid>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endPar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PCB 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PCB 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1734681">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314">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a:t>
                      </a:r>
                      <a:r>
                        <a:rPr kumimoji="1" lang="en-US" altLang="zh-CN" sz="2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45634" marR="145634" marT="54622" marB="546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链接组织方式</a:t>
            </a:r>
            <a:endParaRPr lang="zh-CN" altLang="en-US" sz="2800" b="1" dirty="0">
              <a:solidFill>
                <a:schemeClr val="bg1"/>
              </a:solidFill>
            </a:endParaRPr>
          </a:p>
        </p:txBody>
      </p:sp>
      <p:sp>
        <p:nvSpPr>
          <p:cNvPr id="4" name="Rectangle 5"/>
          <p:cNvSpPr>
            <a:spLocks noChangeArrowheads="1"/>
          </p:cNvSpPr>
          <p:nvPr/>
        </p:nvSpPr>
        <p:spPr bwMode="auto">
          <a:xfrm>
            <a:off x="2640170" y="25556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endParaRPr lang="zh-CN" altLang="en-US" sz="2400">
              <a:latin typeface="+mn-ea"/>
              <a:ea typeface="+mn-ea"/>
            </a:endParaRPr>
          </a:p>
        </p:txBody>
      </p:sp>
      <p:sp>
        <p:nvSpPr>
          <p:cNvPr id="5" name="Rectangle 6"/>
          <p:cNvSpPr>
            <a:spLocks noChangeArrowheads="1"/>
          </p:cNvSpPr>
          <p:nvPr/>
        </p:nvSpPr>
        <p:spPr bwMode="auto">
          <a:xfrm>
            <a:off x="2640170" y="32986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就绪队列指针</a:t>
            </a:r>
            <a:endParaRPr lang="zh-CN" altLang="en-US" sz="2400">
              <a:latin typeface="+mn-ea"/>
              <a:ea typeface="+mn-ea"/>
            </a:endParaRPr>
          </a:p>
        </p:txBody>
      </p:sp>
      <p:sp>
        <p:nvSpPr>
          <p:cNvPr id="6" name="Rectangle 7"/>
          <p:cNvSpPr>
            <a:spLocks noChangeArrowheads="1"/>
          </p:cNvSpPr>
          <p:nvPr/>
        </p:nvSpPr>
        <p:spPr bwMode="auto">
          <a:xfrm>
            <a:off x="2640170" y="404155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阻塞队列指针</a:t>
            </a:r>
            <a:endParaRPr lang="zh-CN" altLang="en-US" sz="2400" dirty="0">
              <a:latin typeface="+mn-ea"/>
              <a:ea typeface="+mn-ea"/>
            </a:endParaRPr>
          </a:p>
        </p:txBody>
      </p:sp>
      <p:sp>
        <p:nvSpPr>
          <p:cNvPr id="7" name="Rectangle 8"/>
          <p:cNvSpPr>
            <a:spLocks noChangeArrowheads="1"/>
          </p:cNvSpPr>
          <p:nvPr/>
        </p:nvSpPr>
        <p:spPr bwMode="auto">
          <a:xfrm>
            <a:off x="2640170" y="4784502"/>
            <a:ext cx="2076718" cy="45720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latin typeface="+mn-ea"/>
                <a:ea typeface="+mn-ea"/>
              </a:rPr>
              <a:t>空闲队列指针</a:t>
            </a:r>
            <a:endParaRPr lang="zh-CN" altLang="en-US" sz="2400" dirty="0">
              <a:latin typeface="+mn-ea"/>
              <a:ea typeface="+mn-ea"/>
            </a:endParaRPr>
          </a:p>
        </p:txBody>
      </p:sp>
      <p:graphicFrame>
        <p:nvGraphicFramePr>
          <p:cNvPr id="8" name="Group 84"/>
          <p:cNvGraphicFramePr>
            <a:graphicFrameLocks noGrp="1"/>
          </p:cNvGraphicFramePr>
          <p:nvPr>
            <p:custDataLst>
              <p:tags r:id="rId1"/>
            </p:custDataLst>
          </p:nvPr>
        </p:nvGraphicFramePr>
        <p:xfrm>
          <a:off x="7383888" y="1717452"/>
          <a:ext cx="1524000" cy="3433780"/>
        </p:xfrm>
        <a:graphic>
          <a:graphicData uri="http://schemas.openxmlformats.org/drawingml/2006/table">
            <a:tbl>
              <a:tblPr/>
              <a:tblGrid>
                <a:gridCol w="1042988"/>
                <a:gridCol w="481012"/>
              </a:tblGrid>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2</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3</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4</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5</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6</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7</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8</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9</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343376">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Perpetua" panose="02020502060401020303" pitchFamily="18" charset="0"/>
                          <a:ea typeface="宋体" panose="02010600030101010101" pitchFamily="2"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Perpetua" panose="02020502060401020303" pitchFamily="18" charset="0"/>
                          <a:ea typeface="宋体" panose="02010600030101010101" pitchFamily="2"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Perpetua" panose="02020502060401020303" pitchFamily="18" charset="0"/>
                          <a:ea typeface="宋体" panose="02010600030101010101" pitchFamily="2" charset="-122"/>
                        </a:defRPr>
                      </a:lvl4pPr>
                      <a:lvl5pPr marL="2057400" indent="-228600" eaLnBrk="0" hangingPunct="0">
                        <a:spcBef>
                          <a:spcPts val="375"/>
                        </a:spcBef>
                        <a:buClr>
                          <a:srgbClr val="A28E6A"/>
                        </a:buClr>
                        <a:defRPr>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defRPr>
                          <a:solidFill>
                            <a:schemeClr val="tx1"/>
                          </a:solidFill>
                          <a:latin typeface="Perpetua" panose="02020502060401020303"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9" marB="345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accent1">
                        <a:lumMod val="40000"/>
                        <a:lumOff val="60000"/>
                      </a:schemeClr>
                    </a:solidFill>
                  </a:tcPr>
                </a:tc>
              </a:tr>
            </a:tbl>
          </a:graphicData>
        </a:graphic>
      </p:graphicFrame>
      <p:sp>
        <p:nvSpPr>
          <p:cNvPr id="9" name="Line 55"/>
          <p:cNvSpPr>
            <a:spLocks noChangeShapeType="1"/>
          </p:cNvSpPr>
          <p:nvPr/>
        </p:nvSpPr>
        <p:spPr bwMode="auto">
          <a:xfrm>
            <a:off x="4716886" y="2841402"/>
            <a:ext cx="2705101" cy="45720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0" name="Line 56"/>
          <p:cNvSpPr>
            <a:spLocks noChangeShapeType="1"/>
          </p:cNvSpPr>
          <p:nvPr/>
        </p:nvSpPr>
        <p:spPr bwMode="auto">
          <a:xfrm flipV="1">
            <a:off x="4716886" y="1927002"/>
            <a:ext cx="2667001" cy="16573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1" name="Line 57"/>
          <p:cNvSpPr>
            <a:spLocks noChangeShapeType="1"/>
          </p:cNvSpPr>
          <p:nvPr/>
        </p:nvSpPr>
        <p:spPr bwMode="auto">
          <a:xfrm flipV="1">
            <a:off x="4716887" y="2327052"/>
            <a:ext cx="2667001" cy="20002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2" name="Line 58"/>
          <p:cNvSpPr>
            <a:spLocks noChangeShapeType="1"/>
          </p:cNvSpPr>
          <p:nvPr/>
        </p:nvSpPr>
        <p:spPr bwMode="auto">
          <a:xfrm flipV="1">
            <a:off x="4716888" y="3641502"/>
            <a:ext cx="2667000" cy="138741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3" name="Line 60"/>
          <p:cNvSpPr>
            <a:spLocks noChangeShapeType="1"/>
          </p:cNvSpPr>
          <p:nvPr/>
        </p:nvSpPr>
        <p:spPr bwMode="auto">
          <a:xfrm>
            <a:off x="8907888" y="19270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4" name="Line 61"/>
          <p:cNvSpPr>
            <a:spLocks noChangeShapeType="1"/>
          </p:cNvSpPr>
          <p:nvPr/>
        </p:nvSpPr>
        <p:spPr bwMode="auto">
          <a:xfrm>
            <a:off x="9365088" y="1927002"/>
            <a:ext cx="0" cy="9144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5" name="Line 62"/>
          <p:cNvSpPr>
            <a:spLocks noChangeShapeType="1"/>
          </p:cNvSpPr>
          <p:nvPr/>
        </p:nvSpPr>
        <p:spPr bwMode="auto">
          <a:xfrm flipH="1">
            <a:off x="8907888" y="28414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16" name="Group 69"/>
          <p:cNvGrpSpPr/>
          <p:nvPr/>
        </p:nvGrpSpPr>
        <p:grpSpPr bwMode="auto">
          <a:xfrm>
            <a:off x="8907888" y="2212752"/>
            <a:ext cx="304800" cy="400050"/>
            <a:chOff x="4800" y="1296"/>
            <a:chExt cx="192" cy="336"/>
          </a:xfrm>
        </p:grpSpPr>
        <p:sp>
          <p:nvSpPr>
            <p:cNvPr id="17" name="Line 63"/>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8" name="Line 64"/>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19" name="Line 65"/>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21" name="Line 66"/>
          <p:cNvSpPr>
            <a:spLocks noChangeShapeType="1"/>
          </p:cNvSpPr>
          <p:nvPr/>
        </p:nvSpPr>
        <p:spPr bwMode="auto">
          <a:xfrm>
            <a:off x="8907888" y="2955702"/>
            <a:ext cx="4572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2" name="Line 67"/>
          <p:cNvSpPr>
            <a:spLocks noChangeShapeType="1"/>
          </p:cNvSpPr>
          <p:nvPr/>
        </p:nvSpPr>
        <p:spPr bwMode="auto">
          <a:xfrm>
            <a:off x="9365088" y="2955702"/>
            <a:ext cx="0" cy="137160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3" name="Line 68"/>
          <p:cNvSpPr>
            <a:spLocks noChangeShapeType="1"/>
          </p:cNvSpPr>
          <p:nvPr/>
        </p:nvSpPr>
        <p:spPr bwMode="auto">
          <a:xfrm flipH="1">
            <a:off x="8907888" y="4327302"/>
            <a:ext cx="457200"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nvGrpSpPr>
          <p:cNvPr id="24" name="Group 70"/>
          <p:cNvGrpSpPr/>
          <p:nvPr/>
        </p:nvGrpSpPr>
        <p:grpSpPr bwMode="auto">
          <a:xfrm>
            <a:off x="8907888" y="3527202"/>
            <a:ext cx="304800" cy="400050"/>
            <a:chOff x="4800" y="1296"/>
            <a:chExt cx="192" cy="336"/>
          </a:xfrm>
        </p:grpSpPr>
        <p:sp>
          <p:nvSpPr>
            <p:cNvPr id="25" name="Line 71"/>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7" name="Line 72"/>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8" name="Line 73"/>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grpSp>
        <p:nvGrpSpPr>
          <p:cNvPr id="29" name="Group 74"/>
          <p:cNvGrpSpPr/>
          <p:nvPr/>
        </p:nvGrpSpPr>
        <p:grpSpPr bwMode="auto">
          <a:xfrm>
            <a:off x="8907888" y="4041552"/>
            <a:ext cx="304800" cy="571500"/>
            <a:chOff x="4800" y="1296"/>
            <a:chExt cx="192" cy="336"/>
          </a:xfrm>
        </p:grpSpPr>
        <p:sp>
          <p:nvSpPr>
            <p:cNvPr id="30" name="Line 75"/>
            <p:cNvSpPr>
              <a:spLocks noChangeShapeType="1"/>
            </p:cNvSpPr>
            <p:nvPr/>
          </p:nvSpPr>
          <p:spPr bwMode="auto">
            <a:xfrm>
              <a:off x="4800" y="1296"/>
              <a:ext cx="192"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1" name="Line 76"/>
            <p:cNvSpPr>
              <a:spLocks noChangeShapeType="1"/>
            </p:cNvSpPr>
            <p:nvPr/>
          </p:nvSpPr>
          <p:spPr bwMode="auto">
            <a:xfrm>
              <a:off x="4992" y="1296"/>
              <a:ext cx="0" cy="336"/>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2" name="Line 77"/>
            <p:cNvSpPr>
              <a:spLocks noChangeShapeType="1"/>
            </p:cNvSpPr>
            <p:nvPr/>
          </p:nvSpPr>
          <p:spPr bwMode="auto">
            <a:xfrm flipH="1">
              <a:off x="4800" y="1632"/>
              <a:ext cx="192" cy="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grpSp>
      <p:sp>
        <p:nvSpPr>
          <p:cNvPr id="33" name="Line 79"/>
          <p:cNvSpPr>
            <a:spLocks noChangeShapeType="1"/>
          </p:cNvSpPr>
          <p:nvPr/>
        </p:nvSpPr>
        <p:spPr bwMode="auto">
          <a:xfrm>
            <a:off x="8907888" y="4727352"/>
            <a:ext cx="304800" cy="0"/>
          </a:xfrm>
          <a:prstGeom prst="line">
            <a:avLst/>
          </a:prstGeom>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34" name="Line 80"/>
          <p:cNvSpPr>
            <a:spLocks noChangeShapeType="1"/>
          </p:cNvSpPr>
          <p:nvPr/>
        </p:nvSpPr>
        <p:spPr bwMode="auto">
          <a:xfrm>
            <a:off x="9212688" y="4727352"/>
            <a:ext cx="0" cy="400050"/>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nchor="ctr"/>
          <a:lstStyle/>
          <a:p>
            <a:pPr eaLnBrk="1" hangingPunct="1">
              <a:defRPr/>
            </a:pPr>
            <a:endParaRPr lang="zh-CN" altLang="en-US" sz="2400">
              <a:latin typeface="+mn-ea"/>
            </a:endParaRPr>
          </a:p>
        </p:txBody>
      </p:sp>
      <p:sp>
        <p:nvSpPr>
          <p:cNvPr id="2" name="文本框 1"/>
          <p:cNvSpPr txBox="1"/>
          <p:nvPr/>
        </p:nvSpPr>
        <p:spPr>
          <a:xfrm>
            <a:off x="407035" y="1148080"/>
            <a:ext cx="5605145" cy="953135"/>
          </a:xfrm>
          <a:prstGeom prst="rect">
            <a:avLst/>
          </a:prstGeom>
          <a:noFill/>
        </p:spPr>
        <p:txBody>
          <a:bodyPr wrap="square" rtlCol="0" anchor="t">
            <a:spAutoFit/>
          </a:bodyPr>
          <a:p>
            <a:r>
              <a:rPr lang="zh-CN" altLang="en-US" sz="2800" dirty="0">
                <a:solidFill>
                  <a:schemeClr val="tx1"/>
                </a:solidFill>
                <a:sym typeface="+mn-ea"/>
              </a:rPr>
              <a:t>把具有同一状态的</a:t>
            </a:r>
            <a:r>
              <a:rPr lang="en-US" altLang="zh-CN" sz="2800" dirty="0">
                <a:solidFill>
                  <a:schemeClr val="tx1"/>
                </a:solidFill>
                <a:sym typeface="+mn-ea"/>
              </a:rPr>
              <a:t>PCB</a:t>
            </a:r>
            <a:r>
              <a:rPr lang="zh-CN" altLang="en-US" sz="2800" dirty="0">
                <a:solidFill>
                  <a:schemeClr val="tx1"/>
                </a:solidFill>
                <a:sym typeface="+mn-ea"/>
              </a:rPr>
              <a:t>用其中一个链接字链接成一个队列</a:t>
            </a:r>
            <a:endParaRPr lang="zh-CN" altLang="en-US" sz="2800" dirty="0">
              <a:solidFill>
                <a:schemeClr val="tx1"/>
              </a:solidFill>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65790"/>
            <a:ext cx="7026275" cy="523220"/>
          </a:xfrm>
          <a:prstGeom prst="rect">
            <a:avLst/>
          </a:prstGeom>
        </p:spPr>
        <p:txBody>
          <a:bodyPr wrap="square">
            <a:spAutoFit/>
          </a:bodyPr>
          <a:lstStyle/>
          <a:p>
            <a:r>
              <a:rPr lang="en-US" altLang="zh-CN" sz="2800" b="1" dirty="0">
                <a:solidFill>
                  <a:schemeClr val="bg1"/>
                </a:solidFill>
              </a:rPr>
              <a:t>PCB</a:t>
            </a:r>
            <a:r>
              <a:rPr lang="zh-CN" altLang="en-US" sz="2800" b="1" dirty="0">
                <a:solidFill>
                  <a:schemeClr val="bg1"/>
                </a:solidFill>
              </a:rPr>
              <a:t>索引组织方式</a:t>
            </a:r>
            <a:endParaRPr lang="zh-CN" altLang="en-US" sz="2800" b="1" dirty="0">
              <a:solidFill>
                <a:schemeClr val="bg1"/>
              </a:solidFill>
            </a:endParaRPr>
          </a:p>
        </p:txBody>
      </p:sp>
      <p:sp>
        <p:nvSpPr>
          <p:cNvPr id="35" name="Rectangle 5"/>
          <p:cNvSpPr>
            <a:spLocks noChangeArrowheads="1"/>
          </p:cNvSpPr>
          <p:nvPr/>
        </p:nvSpPr>
        <p:spPr bwMode="auto">
          <a:xfrm>
            <a:off x="2021983" y="17305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latin typeface="+mn-ea"/>
                <a:ea typeface="+mn-ea"/>
              </a:rPr>
              <a:t>执行指针</a:t>
            </a:r>
            <a:endParaRPr lang="zh-CN" altLang="en-US" sz="2400">
              <a:latin typeface="+mn-ea"/>
              <a:ea typeface="+mn-ea"/>
            </a:endParaRPr>
          </a:p>
        </p:txBody>
      </p:sp>
      <p:sp>
        <p:nvSpPr>
          <p:cNvPr id="36" name="Rectangle 6"/>
          <p:cNvSpPr>
            <a:spLocks noChangeArrowheads="1"/>
          </p:cNvSpPr>
          <p:nvPr/>
        </p:nvSpPr>
        <p:spPr bwMode="auto">
          <a:xfrm>
            <a:off x="2021983" y="258775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a:solidFill>
                  <a:srgbClr val="FF0000"/>
                </a:solidFill>
                <a:latin typeface="+mn-ea"/>
                <a:ea typeface="+mn-ea"/>
              </a:rPr>
              <a:t>就绪</a:t>
            </a:r>
            <a:r>
              <a:rPr lang="zh-CN" altLang="en-US" sz="2400">
                <a:latin typeface="+mn-ea"/>
                <a:ea typeface="+mn-ea"/>
              </a:rPr>
              <a:t>表指针</a:t>
            </a:r>
            <a:endParaRPr lang="zh-CN" altLang="en-US" sz="2400">
              <a:latin typeface="+mn-ea"/>
              <a:ea typeface="+mn-ea"/>
            </a:endParaRPr>
          </a:p>
        </p:txBody>
      </p:sp>
      <p:sp>
        <p:nvSpPr>
          <p:cNvPr id="37" name="Rectangle 7"/>
          <p:cNvSpPr>
            <a:spLocks noChangeArrowheads="1"/>
          </p:cNvSpPr>
          <p:nvPr/>
        </p:nvSpPr>
        <p:spPr bwMode="auto">
          <a:xfrm>
            <a:off x="2021983" y="3445000"/>
            <a:ext cx="1881389" cy="514350"/>
          </a:xfrm>
          <a:prstGeom prst="rect">
            <a:avLst/>
          </a:prstGeom>
          <a:solidFill>
            <a:schemeClr val="accent1">
              <a:lumMod val="40000"/>
              <a:lumOff val="60000"/>
            </a:schemeClr>
          </a:solidFill>
          <a:ln w="9525">
            <a:solidFill>
              <a:schemeClr val="accent1">
                <a:lumMod val="60000"/>
                <a:lumOff val="40000"/>
              </a:schemeClr>
            </a:solidFill>
            <a:miter lim="800000"/>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defRPr/>
            </a:pPr>
            <a:r>
              <a:rPr lang="zh-CN" altLang="en-US" sz="2400" dirty="0">
                <a:solidFill>
                  <a:srgbClr val="0000FF"/>
                </a:solidFill>
                <a:latin typeface="+mn-ea"/>
                <a:ea typeface="+mn-ea"/>
              </a:rPr>
              <a:t>阻塞</a:t>
            </a:r>
            <a:r>
              <a:rPr lang="zh-CN" altLang="en-US" sz="2400" dirty="0">
                <a:latin typeface="+mn-ea"/>
                <a:ea typeface="+mn-ea"/>
              </a:rPr>
              <a:t>表指针</a:t>
            </a:r>
            <a:endParaRPr lang="zh-CN" altLang="en-US" sz="2400" dirty="0">
              <a:latin typeface="+mn-ea"/>
              <a:ea typeface="+mn-ea"/>
            </a:endParaRPr>
          </a:p>
        </p:txBody>
      </p:sp>
      <p:graphicFrame>
        <p:nvGraphicFramePr>
          <p:cNvPr id="38" name="Group 75"/>
          <p:cNvGraphicFramePr>
            <a:graphicFrameLocks noGrp="1"/>
          </p:cNvGraphicFramePr>
          <p:nvPr/>
        </p:nvGraphicFramePr>
        <p:xfrm>
          <a:off x="8399171" y="1681258"/>
          <a:ext cx="1066800" cy="3979576"/>
        </p:xfrm>
        <a:graphic>
          <a:graphicData uri="http://schemas.openxmlformats.org/drawingml/2006/table">
            <a:tbl>
              <a:tblPr/>
              <a:tblGrid>
                <a:gridCol w="1066800"/>
              </a:tblGrid>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1</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2</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3</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4</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5</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6</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PCB 7</a:t>
                      </a:r>
                      <a:endPar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49744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800" b="0" i="0" u="none" strike="noStrike" cap="none" normalizeH="0" baseline="0" dirty="0">
                        <a:ln>
                          <a:noFill/>
                        </a:ln>
                        <a:solidFill>
                          <a:schemeClr val="bg2"/>
                        </a:solidFill>
                        <a:effectLst/>
                        <a:latin typeface="Times New Roman" panose="02020603050405020304" pitchFamily="18" charset="0"/>
                        <a:ea typeface="宋体" panose="02010600030101010101" pitchFamily="2" charset="-122"/>
                      </a:endParaRPr>
                    </a:p>
                  </a:txBody>
                  <a:tcPr marL="92075" marR="92075" marT="34531" marB="3453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1">
                        <a:lumMod val="40000"/>
                        <a:lumOff val="60000"/>
                      </a:schemeClr>
                    </a:solidFill>
                  </a:tcPr>
                </a:tc>
              </a:tr>
            </a:tbl>
          </a:graphicData>
        </a:graphic>
      </p:graphicFrame>
      <p:sp>
        <p:nvSpPr>
          <p:cNvPr id="39" name="Line 47"/>
          <p:cNvSpPr>
            <a:spLocks noChangeShapeType="1"/>
          </p:cNvSpPr>
          <p:nvPr/>
        </p:nvSpPr>
        <p:spPr bwMode="auto">
          <a:xfrm flipV="1">
            <a:off x="3903372" y="1863313"/>
            <a:ext cx="4495800" cy="947"/>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0" name="Line 48"/>
          <p:cNvSpPr>
            <a:spLocks noChangeShapeType="1"/>
          </p:cNvSpPr>
          <p:nvPr/>
        </p:nvSpPr>
        <p:spPr bwMode="auto">
          <a:xfrm flipV="1">
            <a:off x="3827145" y="2245360"/>
            <a:ext cx="1200150" cy="570865"/>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1" name="Line 49"/>
          <p:cNvSpPr>
            <a:spLocks noChangeShapeType="1"/>
          </p:cNvSpPr>
          <p:nvPr/>
        </p:nvSpPr>
        <p:spPr bwMode="auto">
          <a:xfrm>
            <a:off x="3827145" y="3673475"/>
            <a:ext cx="1199515" cy="347345"/>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graphicFrame>
        <p:nvGraphicFramePr>
          <p:cNvPr id="42" name="Group 95"/>
          <p:cNvGraphicFramePr>
            <a:graphicFrameLocks noGrp="1"/>
          </p:cNvGraphicFramePr>
          <p:nvPr/>
        </p:nvGraphicFramePr>
        <p:xfrm>
          <a:off x="5053349" y="2344159"/>
          <a:ext cx="1708595" cy="1205329"/>
        </p:xfrm>
        <a:graphic>
          <a:graphicData uri="http://schemas.openxmlformats.org/drawingml/2006/table">
            <a:tbl>
              <a:tblPr/>
              <a:tblGrid>
                <a:gridCol w="1708595"/>
              </a:tblGrid>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3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8099">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3" name="Group 96"/>
          <p:cNvGraphicFramePr>
            <a:graphicFrameLocks noGrp="1"/>
          </p:cNvGraphicFramePr>
          <p:nvPr/>
        </p:nvGraphicFramePr>
        <p:xfrm>
          <a:off x="5027054" y="4152814"/>
          <a:ext cx="1689278" cy="1398933"/>
        </p:xfrm>
        <a:graphic>
          <a:graphicData uri="http://schemas.openxmlformats.org/drawingml/2006/table">
            <a:tbl>
              <a:tblPr/>
              <a:tblGrid>
                <a:gridCol w="1689278"/>
              </a:tblGrid>
              <a:tr h="374913">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805">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pPr>
                      <a:endParaRPr kumimoji="1" lang="zh-CN"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2075" marR="92075" marT="34525" marB="345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 name="Text Box 108"/>
          <p:cNvSpPr txBox="1">
            <a:spLocks noChangeArrowheads="1"/>
          </p:cNvSpPr>
          <p:nvPr/>
        </p:nvSpPr>
        <p:spPr bwMode="auto">
          <a:xfrm>
            <a:off x="5027054" y="1925045"/>
            <a:ext cx="178050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400" dirty="0">
                <a:solidFill>
                  <a:srgbClr val="FF0000"/>
                </a:solidFill>
                <a:latin typeface="+mn-ea"/>
                <a:ea typeface="+mn-ea"/>
              </a:rPr>
              <a:t>就绪</a:t>
            </a:r>
            <a:r>
              <a:rPr lang="zh-CN" altLang="en-US" sz="2400" dirty="0">
                <a:latin typeface="+mn-ea"/>
                <a:ea typeface="+mn-ea"/>
              </a:rPr>
              <a:t>索引表</a:t>
            </a:r>
            <a:endParaRPr lang="zh-CN" altLang="en-US" sz="2400" dirty="0">
              <a:latin typeface="+mn-ea"/>
              <a:ea typeface="+mn-ea"/>
            </a:endParaRPr>
          </a:p>
        </p:txBody>
      </p:sp>
      <p:sp>
        <p:nvSpPr>
          <p:cNvPr id="45" name="Text Box 109"/>
          <p:cNvSpPr txBox="1">
            <a:spLocks noChangeArrowheads="1"/>
          </p:cNvSpPr>
          <p:nvPr/>
        </p:nvSpPr>
        <p:spPr bwMode="auto">
          <a:xfrm>
            <a:off x="4931535" y="3671046"/>
            <a:ext cx="200481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50000"/>
              </a:spcBef>
              <a:buClrTx/>
              <a:buSzTx/>
              <a:buFont typeface="Monotype Sorts" pitchFamily="2" charset="2"/>
              <a:buNone/>
            </a:pPr>
            <a:r>
              <a:rPr lang="zh-CN" altLang="en-US" sz="2400" dirty="0">
                <a:solidFill>
                  <a:srgbClr val="0000FF"/>
                </a:solidFill>
                <a:latin typeface="+mn-ea"/>
                <a:ea typeface="+mn-ea"/>
              </a:rPr>
              <a:t>阻塞</a:t>
            </a:r>
            <a:r>
              <a:rPr lang="zh-CN" altLang="en-US" sz="2400" dirty="0">
                <a:latin typeface="+mn-ea"/>
                <a:ea typeface="+mn-ea"/>
              </a:rPr>
              <a:t>索引表</a:t>
            </a:r>
            <a:endParaRPr lang="zh-CN" altLang="en-US" sz="2400" dirty="0">
              <a:latin typeface="+mn-ea"/>
              <a:ea typeface="+mn-ea"/>
            </a:endParaRPr>
          </a:p>
        </p:txBody>
      </p:sp>
      <p:sp>
        <p:nvSpPr>
          <p:cNvPr id="46" name="Line 110"/>
          <p:cNvSpPr>
            <a:spLocks noChangeShapeType="1"/>
          </p:cNvSpPr>
          <p:nvPr/>
        </p:nvSpPr>
        <p:spPr bwMode="auto">
          <a:xfrm>
            <a:off x="6489879" y="2447166"/>
            <a:ext cx="1909291" cy="49296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7" name="Line 111"/>
          <p:cNvSpPr>
            <a:spLocks noChangeShapeType="1"/>
          </p:cNvSpPr>
          <p:nvPr/>
        </p:nvSpPr>
        <p:spPr bwMode="auto">
          <a:xfrm>
            <a:off x="6463584" y="2763329"/>
            <a:ext cx="1935587" cy="602608"/>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8" name="Line 112"/>
          <p:cNvSpPr>
            <a:spLocks noChangeShapeType="1"/>
          </p:cNvSpPr>
          <p:nvPr/>
        </p:nvSpPr>
        <p:spPr bwMode="auto">
          <a:xfrm flipV="1">
            <a:off x="6527976" y="2507330"/>
            <a:ext cx="1825582" cy="621222"/>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49" name="Line 113"/>
          <p:cNvSpPr>
            <a:spLocks noChangeShapeType="1"/>
          </p:cNvSpPr>
          <p:nvPr/>
        </p:nvSpPr>
        <p:spPr bwMode="auto">
          <a:xfrm>
            <a:off x="6716331" y="4404184"/>
            <a:ext cx="1606639" cy="54409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0" name="Line 114"/>
          <p:cNvSpPr>
            <a:spLocks noChangeShapeType="1"/>
          </p:cNvSpPr>
          <p:nvPr/>
        </p:nvSpPr>
        <p:spPr bwMode="auto">
          <a:xfrm flipV="1">
            <a:off x="6640130" y="4454073"/>
            <a:ext cx="1667816" cy="277976"/>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51" name="Line 115"/>
          <p:cNvSpPr>
            <a:spLocks noChangeShapeType="1"/>
          </p:cNvSpPr>
          <p:nvPr/>
        </p:nvSpPr>
        <p:spPr bwMode="auto">
          <a:xfrm flipV="1">
            <a:off x="6716330" y="3851409"/>
            <a:ext cx="1739453" cy="1136639"/>
          </a:xfrm>
          <a:prstGeom prst="line">
            <a:avLst/>
          </a:prstGeom>
          <a:ln>
            <a:tailEnd type="triangle" w="med" len="med"/>
          </a:ln>
        </p:spPr>
        <p:style>
          <a:lnRef idx="1">
            <a:schemeClr val="accent1"/>
          </a:lnRef>
          <a:fillRef idx="0">
            <a:schemeClr val="accent1"/>
          </a:fillRef>
          <a:effectRef idx="0">
            <a:schemeClr val="accent1"/>
          </a:effectRef>
          <a:fontRef idx="minor">
            <a:schemeClr val="tx1"/>
          </a:fontRef>
        </p:style>
        <p:txBody>
          <a:bodyPr lIns="92075" tIns="46038" rIns="92075" bIns="46038"/>
          <a:lstStyle/>
          <a:p>
            <a:pPr eaLnBrk="1" hangingPunct="1">
              <a:defRPr/>
            </a:pPr>
            <a:endParaRPr lang="zh-CN" altLang="en-US" sz="2400">
              <a:latin typeface="+mn-ea"/>
            </a:endParaRPr>
          </a:p>
        </p:txBody>
      </p:sp>
      <p:sp>
        <p:nvSpPr>
          <p:cNvPr id="2" name="文本框 1"/>
          <p:cNvSpPr txBox="1"/>
          <p:nvPr/>
        </p:nvSpPr>
        <p:spPr>
          <a:xfrm>
            <a:off x="407035" y="1014095"/>
            <a:ext cx="11389995" cy="521970"/>
          </a:xfrm>
          <a:prstGeom prst="rect">
            <a:avLst/>
          </a:prstGeom>
          <a:noFill/>
        </p:spPr>
        <p:txBody>
          <a:bodyPr wrap="square" rtlCol="0" anchor="t">
            <a:spAutoFit/>
          </a:bodyPr>
          <a:p>
            <a:r>
              <a:rPr lang="zh-CN" altLang="en-US" sz="2800" dirty="0">
                <a:solidFill>
                  <a:schemeClr val="tx1"/>
                </a:solidFill>
                <a:sym typeface="+mn-ea"/>
              </a:rPr>
              <a:t>根据所有进程的状态建立几张索引表，</a:t>
            </a:r>
            <a:r>
              <a:rPr lang="zh-CN" altLang="en-US" sz="2800" dirty="0">
                <a:solidFill>
                  <a:schemeClr val="tx1"/>
                </a:solidFill>
                <a:sym typeface="+mn-ea"/>
              </a:rPr>
              <a:t>分别记录各个</a:t>
            </a:r>
            <a:r>
              <a:rPr lang="en-US" altLang="zh-CN" sz="2800" dirty="0">
                <a:solidFill>
                  <a:schemeClr val="tx1"/>
                </a:solidFill>
                <a:sym typeface="+mn-ea"/>
              </a:rPr>
              <a:t>PCB</a:t>
            </a:r>
            <a:r>
              <a:rPr lang="zh-CN" altLang="en-US" sz="2800" dirty="0">
                <a:solidFill>
                  <a:schemeClr val="tx1"/>
                </a:solidFill>
                <a:sym typeface="+mn-ea"/>
              </a:rPr>
              <a:t>在</a:t>
            </a:r>
            <a:r>
              <a:rPr lang="zh-CN" altLang="en-US" sz="2800" dirty="0">
                <a:solidFill>
                  <a:schemeClr val="tx1"/>
                </a:solidFill>
                <a:sym typeface="+mn-ea"/>
              </a:rPr>
              <a:t>内存的地址</a:t>
            </a:r>
            <a:endParaRPr lang="zh-CN" altLang="en-US" sz="2800" dirty="0">
              <a:solidFill>
                <a:schemeClr val="tx1"/>
              </a:solidFill>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进程的状态及转换</a:t>
            </a:r>
            <a:endParaRPr lang="zh-CN" altLang="en-US" sz="2800" b="1" dirty="0">
              <a:solidFill>
                <a:schemeClr val="bg1"/>
              </a:solidFill>
            </a:endParaRPr>
          </a:p>
        </p:txBody>
      </p:sp>
      <p:sp>
        <p:nvSpPr>
          <p:cNvPr id="4" name="文本框 3"/>
          <p:cNvSpPr txBox="1"/>
          <p:nvPr/>
        </p:nvSpPr>
        <p:spPr>
          <a:xfrm>
            <a:off x="824865" y="1003935"/>
            <a:ext cx="10692130" cy="1574165"/>
          </a:xfrm>
          <a:prstGeom prst="rect">
            <a:avLst/>
          </a:prstGeom>
          <a:noFill/>
        </p:spPr>
        <p:txBody>
          <a:bodyPr wrap="square" rtlCol="0">
            <a:spAutoFit/>
          </a:bodyPr>
          <a:lstStyle/>
          <a:p>
            <a:pPr>
              <a:lnSpc>
                <a:spcPct val="120000"/>
              </a:lnSpc>
              <a:spcBef>
                <a:spcPts val="300"/>
              </a:spcBef>
              <a:spcAft>
                <a:spcPts val="300"/>
              </a:spcAft>
            </a:pPr>
            <a:r>
              <a:rPr lang="zh-CN" altLang="en-US" sz="2400" dirty="0">
                <a:solidFill>
                  <a:srgbClr val="C00000"/>
                </a:solidFill>
              </a:rPr>
              <a:t>就绪状态（</a:t>
            </a:r>
            <a:r>
              <a:rPr lang="en-US" altLang="zh-CN" sz="2400" dirty="0">
                <a:solidFill>
                  <a:srgbClr val="C00000"/>
                </a:solidFill>
              </a:rPr>
              <a:t>ready)</a:t>
            </a:r>
            <a:endParaRPr lang="zh-CN" altLang="en-US" sz="2400" dirty="0"/>
          </a:p>
          <a:p>
            <a:pPr marL="342900" indent="-342900" algn="just">
              <a:lnSpc>
                <a:spcPct val="120000"/>
              </a:lnSpc>
              <a:spcBef>
                <a:spcPts val="300"/>
              </a:spcBef>
              <a:spcAft>
                <a:spcPts val="300"/>
              </a:spcAft>
              <a:buClr>
                <a:srgbClr val="FF0000"/>
              </a:buClr>
              <a:buFont typeface="Wingdings" panose="05000000000000000000" pitchFamily="2" charset="2"/>
              <a:buChar char="Ø"/>
            </a:pPr>
            <a:r>
              <a:rPr lang="zh-CN" altLang="en-US" sz="2400" dirty="0">
                <a:latin typeface="+mn-ea"/>
              </a:rPr>
              <a:t>进程已获得</a:t>
            </a:r>
            <a:r>
              <a:rPr lang="zh-CN" altLang="en-US" sz="2400" dirty="0">
                <a:solidFill>
                  <a:srgbClr val="FF0000"/>
                </a:solidFill>
                <a:latin typeface="+mn-ea"/>
              </a:rPr>
              <a:t>除</a:t>
            </a:r>
            <a:r>
              <a:rPr lang="en-US" altLang="zh-CN" sz="2400" dirty="0">
                <a:solidFill>
                  <a:srgbClr val="FF0000"/>
                </a:solidFill>
                <a:latin typeface="+mn-ea"/>
              </a:rPr>
              <a:t>CPU</a:t>
            </a:r>
            <a:r>
              <a:rPr lang="zh-CN" altLang="en-US" sz="2400" dirty="0">
                <a:latin typeface="+mn-ea"/>
              </a:rPr>
              <a:t>之外的所有必需资源，一旦获得</a:t>
            </a:r>
            <a:r>
              <a:rPr lang="en-US" altLang="zh-CN" sz="2400" dirty="0">
                <a:latin typeface="+mn-ea"/>
              </a:rPr>
              <a:t>CPU</a:t>
            </a:r>
            <a:r>
              <a:rPr lang="zh-CN" altLang="en-US" sz="2400" dirty="0">
                <a:latin typeface="+mn-ea"/>
              </a:rPr>
              <a:t>控制权，立即运行</a:t>
            </a:r>
            <a:endParaRPr lang="zh-CN" altLang="en-US" sz="2400" dirty="0">
              <a:latin typeface="+mn-ea"/>
            </a:endParaRPr>
          </a:p>
          <a:p>
            <a:pPr algn="just">
              <a:lnSpc>
                <a:spcPct val="120000"/>
              </a:lnSpc>
              <a:spcBef>
                <a:spcPts val="300"/>
              </a:spcBef>
              <a:spcAft>
                <a:spcPts val="300"/>
              </a:spcAft>
            </a:pPr>
            <a:endParaRPr lang="zh-CN" altLang="en-US" sz="2400" dirty="0">
              <a:latin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2875" y="1061855"/>
            <a:ext cx="527050" cy="527050"/>
          </a:xfrm>
          <a:prstGeom prst="rect">
            <a:avLst/>
          </a:prstGeom>
          <a:ln>
            <a:noFill/>
          </a:ln>
          <a:effectLst>
            <a:softEdge rad="0"/>
          </a:effectLst>
        </p:spPr>
      </p:pic>
      <p:grpSp>
        <p:nvGrpSpPr>
          <p:cNvPr id="26" name="组合 32"/>
          <p:cNvGrpSpPr/>
          <p:nvPr/>
        </p:nvGrpSpPr>
        <p:grpSpPr bwMode="auto">
          <a:xfrm>
            <a:off x="3098165" y="2571750"/>
            <a:ext cx="6179820" cy="3403566"/>
            <a:chOff x="1643042" y="3074590"/>
            <a:chExt cx="5786477" cy="3414893"/>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endParaRPr lang="zh-CN" altLang="en-US" sz="2400">
                <a:solidFill>
                  <a:schemeClr val="bg1"/>
                </a:solidFill>
              </a:endParaRP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endParaRPr lang="zh-CN" altLang="en-US" sz="2400" dirty="0">
                <a:solidFill>
                  <a:schemeClr val="bg1"/>
                </a:solidFill>
              </a:endParaRP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503600">
              <a:off x="1974688" y="4192174"/>
              <a:ext cx="148644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nvSpPr>
          <p:spPr bwMode="auto">
            <a:xfrm>
              <a:off x="3286022" y="5643535"/>
              <a:ext cx="1785094"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nvSpPr>
          <p:spPr bwMode="auto">
            <a:xfrm rot="3184969">
              <a:off x="3436927" y="4669465"/>
              <a:ext cx="163247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nvSpPr>
          <p:spPr bwMode="auto">
            <a:xfrm rot="3166281">
              <a:off x="4378494" y="4148212"/>
              <a:ext cx="1557168"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nvSpPr>
          <p:spPr bwMode="auto">
            <a:xfrm>
              <a:off x="5874084" y="5656776"/>
              <a:ext cx="857256" cy="83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92" y="3074590"/>
              <a:ext cx="958058"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进程的状态及转换</a:t>
            </a:r>
            <a:endParaRPr lang="zh-CN" altLang="en-US" sz="2800" b="1" dirty="0">
              <a:solidFill>
                <a:schemeClr val="bg1"/>
              </a:solidFill>
            </a:endParaRPr>
          </a:p>
        </p:txBody>
      </p:sp>
      <p:sp>
        <p:nvSpPr>
          <p:cNvPr id="4" name="文本框 3"/>
          <p:cNvSpPr txBox="1"/>
          <p:nvPr/>
        </p:nvSpPr>
        <p:spPr>
          <a:xfrm>
            <a:off x="824865" y="1003935"/>
            <a:ext cx="10692130" cy="2614295"/>
          </a:xfrm>
          <a:prstGeom prst="rect">
            <a:avLst/>
          </a:prstGeom>
          <a:noFill/>
        </p:spPr>
        <p:txBody>
          <a:bodyPr wrap="square" rtlCol="0">
            <a:spAutoFit/>
          </a:bodyPr>
          <a:lstStyle/>
          <a:p>
            <a:pPr algn="just">
              <a:lnSpc>
                <a:spcPct val="120000"/>
              </a:lnSpc>
              <a:spcBef>
                <a:spcPts val="300"/>
              </a:spcBef>
              <a:spcAft>
                <a:spcPts val="300"/>
              </a:spcAft>
            </a:pPr>
            <a:r>
              <a:rPr lang="zh-CN" altLang="en-US" sz="2400" dirty="0">
                <a:solidFill>
                  <a:srgbClr val="C00000"/>
                </a:solidFill>
                <a:latin typeface="+mn-ea"/>
                <a:sym typeface="+mn-ea"/>
              </a:rPr>
              <a:t>执行状态</a:t>
            </a:r>
            <a:r>
              <a:rPr lang="en-US" altLang="zh-CN" sz="2400" dirty="0">
                <a:solidFill>
                  <a:srgbClr val="C00000"/>
                </a:solidFill>
                <a:latin typeface="+mn-ea"/>
                <a:sym typeface="+mn-ea"/>
              </a:rPr>
              <a:t>(running)</a:t>
            </a:r>
            <a:r>
              <a:rPr lang="zh-CN" altLang="en-US" sz="2400" dirty="0">
                <a:latin typeface="+mn-ea"/>
                <a:sym typeface="+mn-ea"/>
              </a:rPr>
              <a:t>：已获得</a:t>
            </a:r>
            <a:r>
              <a:rPr lang="en-US" altLang="zh-CN" sz="2400" dirty="0">
                <a:latin typeface="+mn-ea"/>
                <a:sym typeface="+mn-ea"/>
              </a:rPr>
              <a:t>CPU</a:t>
            </a:r>
            <a:r>
              <a:rPr lang="zh-CN" altLang="en-US" sz="2400" dirty="0">
                <a:latin typeface="+mn-ea"/>
                <a:sym typeface="+mn-ea"/>
              </a:rPr>
              <a:t>，正在执行的状态</a:t>
            </a:r>
            <a:endParaRPr lang="zh-CN" altLang="en-US" sz="24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400" dirty="0">
                <a:latin typeface="+mn-ea"/>
                <a:sym typeface="+mn-ea"/>
              </a:rPr>
              <a:t>单处理机：一个进程处于执行状态</a:t>
            </a:r>
            <a:endParaRPr lang="zh-CN" altLang="en-US" sz="24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400" dirty="0">
                <a:latin typeface="+mn-ea"/>
                <a:sym typeface="+mn-ea"/>
              </a:rPr>
              <a:t>多处理机：多个进程处于执行状态</a:t>
            </a:r>
            <a:endParaRPr lang="en-US" altLang="zh-CN" sz="2400" dirty="0">
              <a:latin typeface="+mn-ea"/>
            </a:endParaRPr>
          </a:p>
          <a:p>
            <a:pPr>
              <a:lnSpc>
                <a:spcPct val="120000"/>
              </a:lnSpc>
              <a:spcBef>
                <a:spcPts val="300"/>
              </a:spcBef>
              <a:spcAft>
                <a:spcPts val="300"/>
              </a:spcAft>
            </a:pPr>
            <a:endParaRPr lang="zh-CN" altLang="en-US" sz="2400" dirty="0">
              <a:latin typeface="+mn-ea"/>
            </a:endParaRPr>
          </a:p>
          <a:p>
            <a:pPr algn="just">
              <a:lnSpc>
                <a:spcPct val="120000"/>
              </a:lnSpc>
              <a:spcBef>
                <a:spcPts val="300"/>
              </a:spcBef>
              <a:spcAft>
                <a:spcPts val="300"/>
              </a:spcAft>
            </a:pPr>
            <a:endParaRPr lang="zh-CN" altLang="en-US" sz="2400" dirty="0">
              <a:latin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2875" y="1061855"/>
            <a:ext cx="527050" cy="527050"/>
          </a:xfrm>
          <a:prstGeom prst="rect">
            <a:avLst/>
          </a:prstGeom>
          <a:ln>
            <a:noFill/>
          </a:ln>
          <a:effectLst>
            <a:softEdge rad="0"/>
          </a:effectLst>
        </p:spPr>
      </p:pic>
      <p:grpSp>
        <p:nvGrpSpPr>
          <p:cNvPr id="26" name="组合 32"/>
          <p:cNvGrpSpPr/>
          <p:nvPr/>
        </p:nvGrpSpPr>
        <p:grpSpPr bwMode="auto">
          <a:xfrm>
            <a:off x="3098165" y="2769870"/>
            <a:ext cx="6179820" cy="3403566"/>
            <a:chOff x="1643042" y="3074590"/>
            <a:chExt cx="5786477" cy="3414893"/>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endParaRPr lang="zh-CN" altLang="en-US" sz="2400">
                <a:solidFill>
                  <a:schemeClr val="bg1"/>
                </a:solidFill>
              </a:endParaRP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endParaRPr lang="zh-CN" altLang="en-US" sz="2400" dirty="0">
                <a:solidFill>
                  <a:schemeClr val="bg1"/>
                </a:solidFill>
              </a:endParaRP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503600">
              <a:off x="1974688" y="4192174"/>
              <a:ext cx="148644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nvSpPr>
          <p:spPr bwMode="auto">
            <a:xfrm>
              <a:off x="3286022" y="5643535"/>
              <a:ext cx="1785094"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nvSpPr>
          <p:spPr bwMode="auto">
            <a:xfrm rot="3184969">
              <a:off x="3436927" y="4669465"/>
              <a:ext cx="163247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nvSpPr>
          <p:spPr bwMode="auto">
            <a:xfrm rot="3166281">
              <a:off x="4378494" y="4148212"/>
              <a:ext cx="1557168"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nvSpPr>
          <p:spPr bwMode="auto">
            <a:xfrm>
              <a:off x="5874084" y="5656776"/>
              <a:ext cx="857256" cy="83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92" y="3074590"/>
              <a:ext cx="958058"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进程的状态及转换</a:t>
            </a:r>
            <a:endParaRPr lang="zh-CN" altLang="en-US" sz="2800" b="1" dirty="0">
              <a:solidFill>
                <a:schemeClr val="bg1"/>
              </a:solidFill>
            </a:endParaRPr>
          </a:p>
        </p:txBody>
      </p:sp>
      <p:sp>
        <p:nvSpPr>
          <p:cNvPr id="4" name="文本框 3"/>
          <p:cNvSpPr txBox="1"/>
          <p:nvPr/>
        </p:nvSpPr>
        <p:spPr>
          <a:xfrm>
            <a:off x="824865" y="760095"/>
            <a:ext cx="11123295" cy="3317240"/>
          </a:xfrm>
          <a:prstGeom prst="rect">
            <a:avLst/>
          </a:prstGeom>
          <a:noFill/>
        </p:spPr>
        <p:txBody>
          <a:bodyPr wrap="square" rtlCol="0">
            <a:spAutoFit/>
          </a:bodyPr>
          <a:lstStyle/>
          <a:p>
            <a:pPr>
              <a:lnSpc>
                <a:spcPct val="120000"/>
              </a:lnSpc>
              <a:spcBef>
                <a:spcPts val="300"/>
              </a:spcBef>
              <a:spcAft>
                <a:spcPts val="300"/>
              </a:spcAft>
              <a:buClr>
                <a:srgbClr val="FF0000"/>
              </a:buClr>
            </a:pPr>
            <a:r>
              <a:rPr lang="zh-CN" altLang="en-US" sz="2200" dirty="0">
                <a:solidFill>
                  <a:srgbClr val="C00000"/>
                </a:solidFill>
                <a:latin typeface="+mn-ea"/>
                <a:sym typeface="+mn-ea"/>
              </a:rPr>
              <a:t>阻塞状态（</a:t>
            </a:r>
            <a:r>
              <a:rPr lang="en-US" altLang="zh-CN" sz="2200" dirty="0">
                <a:solidFill>
                  <a:srgbClr val="C00000"/>
                </a:solidFill>
                <a:latin typeface="+mn-ea"/>
                <a:sym typeface="+mn-ea"/>
              </a:rPr>
              <a:t>Block</a:t>
            </a:r>
            <a:r>
              <a:rPr lang="zh-CN" altLang="en-US" sz="2200" dirty="0">
                <a:solidFill>
                  <a:srgbClr val="C00000"/>
                </a:solidFill>
                <a:latin typeface="+mn-ea"/>
                <a:sym typeface="+mn-ea"/>
              </a:rPr>
              <a:t>）</a:t>
            </a:r>
            <a:endParaRPr lang="zh-CN" altLang="en-US" sz="2200" dirty="0">
              <a:solidFill>
                <a:srgbClr val="C00000"/>
              </a:solidFill>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sym typeface="+mn-ea"/>
              </a:rPr>
              <a:t>正在执行的进程由于发生某事件而暂时无法继续执行</a:t>
            </a:r>
            <a:r>
              <a:rPr lang="zh-CN" altLang="en-US" sz="2200" b="1" dirty="0">
                <a:solidFill>
                  <a:srgbClr val="FF0000"/>
                </a:solidFill>
                <a:latin typeface="+mn-ea"/>
                <a:sym typeface="+mn-ea"/>
              </a:rPr>
              <a:t>主动</a:t>
            </a:r>
            <a:r>
              <a:rPr lang="zh-CN" altLang="en-US" sz="2200" dirty="0">
                <a:latin typeface="+mn-ea"/>
                <a:sym typeface="+mn-ea"/>
              </a:rPr>
              <a:t>进入的状态</a:t>
            </a:r>
            <a:endParaRPr lang="zh-CN" altLang="en-US" sz="2200" dirty="0">
              <a:latin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sym typeface="+mn-ea"/>
              </a:rPr>
              <a:t>典型事件：</a:t>
            </a:r>
            <a:r>
              <a:rPr lang="zh-CN" altLang="en-US" sz="2200" dirty="0">
                <a:sym typeface="+mn-ea"/>
              </a:rPr>
              <a:t>向系统请求共享资源失败；等待某种操作的完成；新数据尚未到达；等待新任务的到达。</a:t>
            </a:r>
            <a:endParaRPr lang="zh-CN" altLang="en-US" sz="2200" dirty="0">
              <a:sym typeface="+mn-ea"/>
            </a:endParaRPr>
          </a:p>
          <a:p>
            <a:pPr marL="342900" indent="-342900">
              <a:lnSpc>
                <a:spcPct val="120000"/>
              </a:lnSpc>
              <a:spcBef>
                <a:spcPts val="300"/>
              </a:spcBef>
              <a:spcAft>
                <a:spcPts val="300"/>
              </a:spcAft>
              <a:buClr>
                <a:srgbClr val="FF0000"/>
              </a:buClr>
              <a:buFont typeface="Wingdings" panose="05000000000000000000" pitchFamily="2" charset="2"/>
              <a:buChar char="Ø"/>
            </a:pPr>
            <a:r>
              <a:rPr lang="zh-CN" altLang="en-US" sz="2200" dirty="0">
                <a:latin typeface="+mn-ea"/>
              </a:rPr>
              <a:t>处于阻塞状态的进程也会排成一个队列，可能还会根据不同的阻塞原因排成多个队列</a:t>
            </a:r>
            <a:endParaRPr lang="zh-CN" altLang="en-US" sz="2200" dirty="0">
              <a:latin typeface="+mn-ea"/>
            </a:endParaRPr>
          </a:p>
          <a:p>
            <a:pPr>
              <a:lnSpc>
                <a:spcPct val="120000"/>
              </a:lnSpc>
              <a:spcBef>
                <a:spcPts val="300"/>
              </a:spcBef>
              <a:spcAft>
                <a:spcPts val="300"/>
              </a:spcAft>
            </a:pPr>
            <a:endParaRPr lang="zh-CN" altLang="en-US" sz="2200" dirty="0">
              <a:latin typeface="+mn-ea"/>
            </a:endParaRPr>
          </a:p>
          <a:p>
            <a:pPr algn="just">
              <a:lnSpc>
                <a:spcPct val="120000"/>
              </a:lnSpc>
              <a:spcBef>
                <a:spcPts val="300"/>
              </a:spcBef>
              <a:spcAft>
                <a:spcPts val="300"/>
              </a:spcAft>
            </a:pPr>
            <a:endParaRPr lang="zh-CN" altLang="en-US" sz="2200" dirty="0">
              <a:latin typeface="+mn-ea"/>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2875" y="1061855"/>
            <a:ext cx="527050" cy="527050"/>
          </a:xfrm>
          <a:prstGeom prst="rect">
            <a:avLst/>
          </a:prstGeom>
          <a:ln>
            <a:noFill/>
          </a:ln>
          <a:effectLst>
            <a:softEdge rad="0"/>
          </a:effectLst>
        </p:spPr>
      </p:pic>
      <p:grpSp>
        <p:nvGrpSpPr>
          <p:cNvPr id="26" name="组合 32"/>
          <p:cNvGrpSpPr/>
          <p:nvPr/>
        </p:nvGrpSpPr>
        <p:grpSpPr bwMode="auto">
          <a:xfrm>
            <a:off x="3098165" y="3082290"/>
            <a:ext cx="6179820" cy="3403566"/>
            <a:chOff x="1643042" y="3074590"/>
            <a:chExt cx="5786477" cy="3414893"/>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endParaRPr lang="zh-CN" altLang="en-US" sz="2400">
                <a:solidFill>
                  <a:schemeClr val="bg1"/>
                </a:solidFill>
              </a:endParaRP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endParaRPr lang="zh-CN" altLang="en-US" sz="2400" dirty="0">
                <a:solidFill>
                  <a:schemeClr val="bg1"/>
                </a:solidFill>
              </a:endParaRP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503600">
              <a:off x="1974688" y="4192174"/>
              <a:ext cx="148644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nvSpPr>
          <p:spPr bwMode="auto">
            <a:xfrm>
              <a:off x="3286022" y="5643535"/>
              <a:ext cx="1785094"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nvSpPr>
          <p:spPr bwMode="auto">
            <a:xfrm rot="3184969">
              <a:off x="3436927" y="4669465"/>
              <a:ext cx="1632476"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nvSpPr>
          <p:spPr bwMode="auto">
            <a:xfrm rot="3166281">
              <a:off x="4378494" y="4148212"/>
              <a:ext cx="1557168" cy="43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nvSpPr>
          <p:spPr bwMode="auto">
            <a:xfrm>
              <a:off x="5874084" y="5656776"/>
              <a:ext cx="857256" cy="83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92" y="3074590"/>
              <a:ext cx="958058" cy="46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创建状态和终止状态</a:t>
            </a:r>
            <a:endParaRPr lang="zh-CN" altLang="en-US" sz="2800" b="1" dirty="0">
              <a:solidFill>
                <a:schemeClr val="bg1"/>
              </a:solidFill>
            </a:endParaRPr>
          </a:p>
        </p:txBody>
      </p:sp>
      <p:sp>
        <p:nvSpPr>
          <p:cNvPr id="24" name="内容占位符 2"/>
          <p:cNvSpPr txBox="1"/>
          <p:nvPr/>
        </p:nvSpPr>
        <p:spPr>
          <a:xfrm>
            <a:off x="1708458" y="1340724"/>
            <a:ext cx="9587368" cy="11167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0000FF"/>
                </a:solidFill>
              </a:rPr>
              <a:t>创建状态</a:t>
            </a:r>
            <a:endParaRPr lang="zh-CN" altLang="en-US" sz="2400" dirty="0">
              <a:solidFill>
                <a:srgbClr val="0000FF"/>
              </a:solidFill>
            </a:endParaRPr>
          </a:p>
          <a:p>
            <a:pPr lvl="1">
              <a:lnSpc>
                <a:spcPct val="132000"/>
              </a:lnSpc>
              <a:buClr>
                <a:srgbClr val="0000FF"/>
              </a:buClr>
              <a:buFont typeface="Wingdings" panose="05000000000000000000" pitchFamily="2" charset="2"/>
              <a:buChar char="Ø"/>
            </a:pPr>
            <a:r>
              <a:rPr lang="zh-CN" altLang="en-US" sz="2200" dirty="0"/>
              <a:t>申请一个空白</a:t>
            </a:r>
            <a:r>
              <a:rPr lang="en-US" altLang="zh-CN" sz="2200" dirty="0"/>
              <a:t>PCB</a:t>
            </a:r>
            <a:r>
              <a:rPr lang="zh-CN" altLang="en-US" sz="2200" dirty="0"/>
              <a:t>；填写</a:t>
            </a:r>
            <a:r>
              <a:rPr lang="en-US" altLang="zh-CN" sz="2200" dirty="0"/>
              <a:t>PCB</a:t>
            </a:r>
            <a:r>
              <a:rPr lang="zh-CN" altLang="en-US" sz="2200" dirty="0"/>
              <a:t>；分配资源；设置就绪状态插入就绪队列</a:t>
            </a:r>
            <a:endParaRPr lang="zh-CN" altLang="en-US" sz="2200" dirty="0"/>
          </a:p>
        </p:txBody>
      </p:sp>
      <p:sp>
        <p:nvSpPr>
          <p:cNvPr id="25" name="内容占位符 2"/>
          <p:cNvSpPr txBox="1"/>
          <p:nvPr/>
        </p:nvSpPr>
        <p:spPr>
          <a:xfrm>
            <a:off x="1708150" y="2827020"/>
            <a:ext cx="3251200" cy="1323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0000FF"/>
                </a:solidFill>
              </a:rPr>
              <a:t>终止状态</a:t>
            </a:r>
            <a:endParaRPr lang="en-US" altLang="zh-CN" sz="2400" dirty="0">
              <a:solidFill>
                <a:srgbClr val="0000FF"/>
              </a:solidFill>
            </a:endParaRPr>
          </a:p>
          <a:p>
            <a:pPr>
              <a:buFont typeface="Wingdings" panose="05000000000000000000" pitchFamily="2" charset="2"/>
              <a:buChar char="Ø"/>
            </a:pPr>
            <a:r>
              <a:rPr lang="zh-CN" altLang="en-US" sz="2400" dirty="0"/>
              <a:t>等待</a:t>
            </a:r>
            <a:r>
              <a:rPr lang="en-US" altLang="zh-CN" sz="2400" dirty="0"/>
              <a:t>OS</a:t>
            </a:r>
            <a:r>
              <a:rPr lang="zh-CN" altLang="en-US" sz="2400" dirty="0"/>
              <a:t>善后；</a:t>
            </a:r>
            <a:endParaRPr lang="en-US" altLang="zh-CN" sz="2400" dirty="0"/>
          </a:p>
          <a:p>
            <a:pPr>
              <a:buFont typeface="Wingdings" panose="05000000000000000000" pitchFamily="2" charset="2"/>
              <a:buChar char="Ø"/>
            </a:pPr>
            <a:r>
              <a:rPr lang="zh-CN" altLang="en-US" sz="2400" dirty="0"/>
              <a:t>收回</a:t>
            </a:r>
            <a:r>
              <a:rPr lang="en-US" altLang="zh-CN" sz="2400" dirty="0"/>
              <a:t>PCB</a:t>
            </a:r>
            <a:endParaRPr lang="zh-CN" altLang="en-US" sz="2400" dirty="0"/>
          </a:p>
          <a:p>
            <a:pPr lvl="1">
              <a:buFont typeface="Wingdings" panose="05000000000000000000" pitchFamily="2" charset="2"/>
              <a:buChar char="Ø"/>
            </a:pPr>
            <a:r>
              <a:rPr lang="zh-CN" altLang="en-US" sz="2130" dirty="0">
                <a:sym typeface="+mn-ea"/>
              </a:rPr>
              <a:t>僵尸进程；</a:t>
            </a:r>
            <a:endParaRPr lang="zh-CN" altLang="en-US" sz="2130" dirty="0">
              <a:sym typeface="+mn-ea"/>
            </a:endParaRPr>
          </a:p>
          <a:p>
            <a:pPr lvl="1">
              <a:buFont typeface="Wingdings" panose="05000000000000000000" pitchFamily="2" charset="2"/>
              <a:buChar char="Ø"/>
            </a:pPr>
            <a:r>
              <a:rPr lang="zh-CN" altLang="en-US" sz="2130" dirty="0">
                <a:sym typeface="+mn-ea"/>
              </a:rPr>
              <a:t>孤儿进程</a:t>
            </a:r>
            <a:endParaRPr lang="en-US" altLang="zh-CN" sz="2130" dirty="0"/>
          </a:p>
          <a:p>
            <a:pPr>
              <a:buFont typeface="Wingdings" panose="05000000000000000000" pitchFamily="2" charset="2"/>
              <a:buChar char="Ø"/>
            </a:pPr>
            <a:endParaRPr lang="zh-CN" altLang="en-US" sz="2400" dirty="0"/>
          </a:p>
        </p:txBody>
      </p:sp>
      <p:grpSp>
        <p:nvGrpSpPr>
          <p:cNvPr id="26" name="组合 32"/>
          <p:cNvGrpSpPr/>
          <p:nvPr/>
        </p:nvGrpSpPr>
        <p:grpSpPr bwMode="auto">
          <a:xfrm>
            <a:off x="5129710" y="2826805"/>
            <a:ext cx="6656971" cy="2688136"/>
            <a:chOff x="1643042" y="3074590"/>
            <a:chExt cx="5786477" cy="3117609"/>
          </a:xfrm>
        </p:grpSpPr>
        <p:sp>
          <p:nvSpPr>
            <p:cNvPr id="27" name="Oval 6"/>
            <p:cNvSpPr>
              <a:spLocks noChangeArrowheads="1"/>
            </p:cNvSpPr>
            <p:nvPr/>
          </p:nvSpPr>
          <p:spPr bwMode="auto">
            <a:xfrm>
              <a:off x="3428249" y="3286124"/>
              <a:ext cx="786561" cy="719691"/>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a:solidFill>
                    <a:schemeClr val="bg1"/>
                  </a:solidFill>
                </a:rPr>
                <a:t>就绪</a:t>
              </a:r>
              <a:endParaRPr lang="zh-CN" altLang="en-US" sz="2400">
                <a:solidFill>
                  <a:schemeClr val="bg1"/>
                </a:solidFill>
              </a:endParaRPr>
            </a:p>
          </p:txBody>
        </p:sp>
        <p:sp>
          <p:nvSpPr>
            <p:cNvPr id="28" name="Oval 6"/>
            <p:cNvSpPr>
              <a:spLocks noChangeArrowheads="1"/>
            </p:cNvSpPr>
            <p:nvPr/>
          </p:nvSpPr>
          <p:spPr bwMode="auto">
            <a:xfrm>
              <a:off x="1643042" y="3286124"/>
              <a:ext cx="786560" cy="715234"/>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nvSpPr>
          <p:spPr bwMode="auto">
            <a:xfrm>
              <a:off x="5001369" y="5213470"/>
              <a:ext cx="784890" cy="78653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nvSpPr>
          <p:spPr bwMode="auto">
            <a:xfrm>
              <a:off x="1928608" y="5213470"/>
              <a:ext cx="769861"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阻塞</a:t>
              </a:r>
              <a:endParaRPr lang="zh-CN" altLang="en-US" sz="2400" dirty="0">
                <a:solidFill>
                  <a:schemeClr val="bg1"/>
                </a:solidFill>
              </a:endParaRPr>
            </a:p>
          </p:txBody>
        </p:sp>
        <p:sp>
          <p:nvSpPr>
            <p:cNvPr id="31" name="Line 9"/>
            <p:cNvSpPr>
              <a:spLocks noChangeShapeType="1"/>
            </p:cNvSpPr>
            <p:nvPr/>
          </p:nvSpPr>
          <p:spPr bwMode="auto">
            <a:xfrm flipH="1" flipV="1">
              <a:off x="4214810" y="3786190"/>
              <a:ext cx="1214444" cy="142876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nvSpPr>
          <p:spPr bwMode="auto">
            <a:xfrm>
              <a:off x="4000497" y="4000503"/>
              <a:ext cx="1071012" cy="131808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nvSpPr>
          <p:spPr bwMode="auto">
            <a:xfrm flipV="1">
              <a:off x="2485266" y="3857628"/>
              <a:ext cx="1015164" cy="135355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nvSpPr>
          <p:spPr bwMode="auto">
            <a:xfrm flipH="1" flipV="1">
              <a:off x="2698469" y="5558620"/>
              <a:ext cx="2302899" cy="9815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nvSpPr>
          <p:spPr bwMode="auto">
            <a:xfrm rot="18983600">
              <a:off x="2163233" y="4220524"/>
              <a:ext cx="1098184"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nvSpPr>
          <p:spPr bwMode="auto">
            <a:xfrm>
              <a:off x="3286116" y="5643578"/>
              <a:ext cx="121444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nvSpPr>
          <p:spPr bwMode="auto">
            <a:xfrm rot="2764970">
              <a:off x="3436927" y="4682466"/>
              <a:ext cx="1632476" cy="40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nvSpPr>
          <p:spPr bwMode="auto">
            <a:xfrm rot="2446282">
              <a:off x="4360697" y="4046014"/>
              <a:ext cx="1276793"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nvSpPr>
          <p:spPr bwMode="auto">
            <a:xfrm>
              <a:off x="5874084" y="5656776"/>
              <a:ext cx="857256"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nvCxnSpPr>
          <p:spPr>
            <a:xfrm flipV="1">
              <a:off x="5786259" y="5571089"/>
              <a:ext cx="856700" cy="35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nvSpPr>
          <p:spPr bwMode="auto">
            <a:xfrm>
              <a:off x="6642959" y="5213470"/>
              <a:ext cx="786560" cy="715236"/>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nvCxnSpPr>
          <p:spPr>
            <a:xfrm>
              <a:off x="2429602" y="3642627"/>
              <a:ext cx="998647" cy="222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nvSpPr>
          <p:spPr bwMode="auto">
            <a:xfrm>
              <a:off x="2560834" y="3074590"/>
              <a:ext cx="714380" cy="535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03605" y="1399675"/>
            <a:ext cx="527050" cy="527050"/>
          </a:xfrm>
          <a:prstGeom prst="rect">
            <a:avLst/>
          </a:prstGeom>
          <a:ln>
            <a:noFill/>
          </a:ln>
          <a:effectLst>
            <a:softEdge rad="0"/>
          </a:effectLst>
        </p:spPr>
      </p:pic>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0735" y="2916055"/>
            <a:ext cx="527050" cy="527050"/>
          </a:xfrm>
          <a:prstGeom prst="rect">
            <a:avLst/>
          </a:prstGeom>
          <a:ln>
            <a:noFill/>
          </a:ln>
          <a:effectLst>
            <a:softEdge rad="0"/>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130"/>
            <a:ext cx="7026275" cy="516890"/>
          </a:xfrm>
          <a:prstGeom prst="rect">
            <a:avLst/>
          </a:prstGeom>
        </p:spPr>
        <p:txBody>
          <a:bodyPr wrap="square">
            <a:noAutofit/>
          </a:bodyPr>
          <a:lstStyle/>
          <a:p>
            <a:r>
              <a:rPr lang="zh-CN" altLang="en-US" sz="2800" b="1" dirty="0">
                <a:solidFill>
                  <a:schemeClr val="bg1"/>
                </a:solidFill>
              </a:rPr>
              <a:t>创建状态和终止状态</a:t>
            </a:r>
            <a:endParaRPr lang="zh-CN" altLang="en-US" sz="2800" b="1" dirty="0">
              <a:solidFill>
                <a:schemeClr val="bg1"/>
              </a:solidFill>
            </a:endParaRPr>
          </a:p>
        </p:txBody>
      </p:sp>
      <p:pic>
        <p:nvPicPr>
          <p:cNvPr id="2" name="图片 1"/>
          <p:cNvPicPr>
            <a:picLocks noChangeAspect="1"/>
          </p:cNvPicPr>
          <p:nvPr/>
        </p:nvPicPr>
        <p:blipFill>
          <a:blip r:embed="rId1"/>
          <a:stretch>
            <a:fillRect/>
          </a:stretch>
        </p:blipFill>
        <p:spPr>
          <a:xfrm>
            <a:off x="1115060" y="1151890"/>
            <a:ext cx="10842625" cy="4278630"/>
          </a:xfrm>
          <a:prstGeom prst="rect">
            <a:avLst/>
          </a:prstGeom>
        </p:spPr>
      </p:pic>
      <p:sp>
        <p:nvSpPr>
          <p:cNvPr id="24" name="内容占位符 2"/>
          <p:cNvSpPr txBox="1"/>
          <p:nvPr/>
        </p:nvSpPr>
        <p:spPr>
          <a:xfrm>
            <a:off x="1881178" y="5430759"/>
            <a:ext cx="9587368" cy="11167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0000FF"/>
                </a:solidFill>
              </a:rPr>
              <a:t>课后习题</a:t>
            </a:r>
            <a:r>
              <a:rPr lang="en-US" altLang="zh-CN" sz="2400" dirty="0">
                <a:solidFill>
                  <a:srgbClr val="0000FF"/>
                </a:solidFill>
              </a:rPr>
              <a:t>3+</a:t>
            </a:r>
            <a:r>
              <a:rPr lang="zh-CN" altLang="en-US" sz="2400" dirty="0">
                <a:solidFill>
                  <a:srgbClr val="FF0000"/>
                </a:solidFill>
              </a:rPr>
              <a:t>随堂练习</a:t>
            </a:r>
            <a:endParaRPr lang="en-US" altLang="zh-CN" sz="2400" dirty="0">
              <a:solidFill>
                <a:srgbClr val="FF0000"/>
              </a:solidFill>
            </a:endParaRPr>
          </a:p>
          <a:p>
            <a:pPr marL="0" indent="0">
              <a:lnSpc>
                <a:spcPct val="132000"/>
              </a:lnSpc>
              <a:buNone/>
            </a:pPr>
            <a:endParaRPr lang="en-US" altLang="zh-CN" sz="2400"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矩形 19"/>
          <p:cNvSpPr/>
          <p:nvPr/>
        </p:nvSpPr>
        <p:spPr>
          <a:xfrm>
            <a:off x="669925" y="77470"/>
            <a:ext cx="7026275" cy="516890"/>
          </a:xfrm>
          <a:prstGeom prst="rect">
            <a:avLst/>
          </a:prstGeom>
        </p:spPr>
        <p:txBody>
          <a:bodyPr wrap="square">
            <a:noAutofit/>
          </a:bodyPr>
          <a:p>
            <a:r>
              <a:rPr lang="zh-CN" altLang="en-US" sz="2800" b="1" dirty="0">
                <a:solidFill>
                  <a:schemeClr val="bg1"/>
                </a:solidFill>
              </a:rPr>
              <a:t>综合思考</a:t>
            </a:r>
            <a:endParaRPr lang="zh-CN" altLang="en-US" sz="2800" b="1" dirty="0">
              <a:solidFill>
                <a:schemeClr val="bg1"/>
              </a:solidFill>
            </a:endParaRPr>
          </a:p>
        </p:txBody>
      </p:sp>
      <p:sp>
        <p:nvSpPr>
          <p:cNvPr id="24" name="内容占位符 2"/>
          <p:cNvSpPr txBox="1"/>
          <p:nvPr/>
        </p:nvSpPr>
        <p:spPr>
          <a:xfrm>
            <a:off x="512445" y="979170"/>
            <a:ext cx="11066780" cy="19348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en-US" altLang="zh-CN" sz="2400" dirty="0">
                <a:solidFill>
                  <a:srgbClr val="FF0000"/>
                </a:solidFill>
              </a:rPr>
              <a:t>1)</a:t>
            </a:r>
            <a:r>
              <a:rPr lang="zh-CN" altLang="en-US" sz="2400" dirty="0">
                <a:solidFill>
                  <a:srgbClr val="FF0000"/>
                </a:solidFill>
              </a:rPr>
              <a:t>若系统中没有运行进程，是否一定没有就绪进程</a:t>
            </a:r>
            <a:r>
              <a:rPr lang="en-US" altLang="zh-CN" sz="2400" dirty="0">
                <a:solidFill>
                  <a:srgbClr val="FF0000"/>
                </a:solidFill>
              </a:rPr>
              <a:t>?</a:t>
            </a:r>
            <a:endParaRPr lang="en-US" altLang="zh-CN" sz="2400" dirty="0">
              <a:solidFill>
                <a:srgbClr val="FF0000"/>
              </a:solidFill>
            </a:endParaRPr>
          </a:p>
          <a:p>
            <a:pPr marL="0" indent="0">
              <a:lnSpc>
                <a:spcPct val="132000"/>
              </a:lnSpc>
              <a:buNone/>
            </a:pPr>
            <a:r>
              <a:rPr lang="en-US" altLang="zh-CN" sz="2400" dirty="0">
                <a:solidFill>
                  <a:srgbClr val="FF0000"/>
                </a:solidFill>
              </a:rPr>
              <a:t>2)</a:t>
            </a:r>
            <a:r>
              <a:rPr lang="zh-CN" altLang="en-US" sz="2400" dirty="0">
                <a:solidFill>
                  <a:srgbClr val="FF0000"/>
                </a:solidFill>
              </a:rPr>
              <a:t>若系统中既没有运行进程，又没有就绪进程，系统中是否就没有进程</a:t>
            </a:r>
            <a:r>
              <a:rPr lang="en-US" altLang="zh-CN" sz="2400" dirty="0">
                <a:solidFill>
                  <a:srgbClr val="FF0000"/>
                </a:solidFill>
              </a:rPr>
              <a:t>?</a:t>
            </a:r>
            <a:endParaRPr lang="en-US" altLang="zh-CN" sz="2400" dirty="0">
              <a:solidFill>
                <a:srgbClr val="FF0000"/>
              </a:solidFill>
            </a:endParaRPr>
          </a:p>
          <a:p>
            <a:pPr marL="0" indent="0">
              <a:lnSpc>
                <a:spcPct val="132000"/>
              </a:lnSpc>
              <a:buNone/>
            </a:pPr>
            <a:r>
              <a:rPr lang="en-US" altLang="zh-CN" sz="2400" dirty="0">
                <a:solidFill>
                  <a:srgbClr val="FF0000"/>
                </a:solidFill>
              </a:rPr>
              <a:t>3)</a:t>
            </a:r>
            <a:r>
              <a:rPr lang="zh-CN" altLang="en-US" sz="2400" dirty="0">
                <a:solidFill>
                  <a:srgbClr val="FF0000"/>
                </a:solidFill>
              </a:rPr>
              <a:t>在采用优先级进程调度时，运行进程是否一定是系统中优先级最高的进程</a:t>
            </a:r>
            <a:r>
              <a:rPr lang="en-US" altLang="zh-CN" sz="2400" dirty="0">
                <a:solidFill>
                  <a:srgbClr val="FF0000"/>
                </a:solidFill>
              </a:rPr>
              <a:t>?</a:t>
            </a:r>
            <a:endParaRPr lang="en-US" altLang="zh-CN" sz="2400" dirty="0">
              <a:solidFill>
                <a:srgbClr val="FF0000"/>
              </a:solidFill>
            </a:endParaRPr>
          </a:p>
        </p:txBody>
      </p:sp>
      <p:sp>
        <p:nvSpPr>
          <p:cNvPr id="2" name="文本框 1"/>
          <p:cNvSpPr txBox="1"/>
          <p:nvPr>
            <p:custDataLst>
              <p:tags r:id="rId1"/>
            </p:custDataLst>
          </p:nvPr>
        </p:nvSpPr>
        <p:spPr>
          <a:xfrm>
            <a:off x="358775" y="3106420"/>
            <a:ext cx="11419840" cy="829945"/>
          </a:xfrm>
          <a:prstGeom prst="rect">
            <a:avLst/>
          </a:prstGeom>
          <a:noFill/>
        </p:spPr>
        <p:txBody>
          <a:bodyPr wrap="square" rtlCol="0" anchor="t">
            <a:spAutoFit/>
          </a:bodyPr>
          <a:p>
            <a:r>
              <a:rPr lang="en-US" altLang="zh-CN" sz="2400"/>
              <a:t>1</a:t>
            </a:r>
            <a:r>
              <a:rPr lang="zh-CN" altLang="en-US" sz="2400"/>
              <a:t>、是。若系统中未运行进程，则系统很快会选择一个就绪进程运行。只有就绪队列中无进程时，</a:t>
            </a:r>
            <a:r>
              <a:rPr lang="en-US" altLang="zh-CN" sz="2400"/>
              <a:t>CPU</a:t>
            </a:r>
            <a:r>
              <a:rPr lang="zh-CN" altLang="en-US" sz="2400"/>
              <a:t>才可能处于空闲状态。</a:t>
            </a:r>
            <a:endParaRPr lang="zh-CN" altLang="en-US" sz="2400"/>
          </a:p>
        </p:txBody>
      </p:sp>
      <p:sp>
        <p:nvSpPr>
          <p:cNvPr id="3" name="文本框 2"/>
          <p:cNvSpPr txBox="1"/>
          <p:nvPr/>
        </p:nvSpPr>
        <p:spPr>
          <a:xfrm>
            <a:off x="373380" y="4375785"/>
            <a:ext cx="10950575" cy="460375"/>
          </a:xfrm>
          <a:prstGeom prst="rect">
            <a:avLst/>
          </a:prstGeom>
          <a:noFill/>
        </p:spPr>
        <p:txBody>
          <a:bodyPr wrap="square" rtlCol="0" anchor="t">
            <a:spAutoFit/>
          </a:bodyPr>
          <a:p>
            <a:r>
              <a:rPr lang="en-US" altLang="zh-CN" sz="2400"/>
              <a:t>2</a:t>
            </a:r>
            <a:r>
              <a:rPr lang="zh-CN" altLang="en-US" sz="2400"/>
              <a:t>、不一定。因为系统中的所有进程可能都处于阻塞态</a:t>
            </a:r>
            <a:endParaRPr lang="zh-CN" altLang="en-US" sz="2400"/>
          </a:p>
        </p:txBody>
      </p:sp>
      <p:sp>
        <p:nvSpPr>
          <p:cNvPr id="4" name="文本框 3"/>
          <p:cNvSpPr txBox="1"/>
          <p:nvPr/>
        </p:nvSpPr>
        <p:spPr>
          <a:xfrm>
            <a:off x="358775" y="5179695"/>
            <a:ext cx="11021060" cy="829945"/>
          </a:xfrm>
          <a:prstGeom prst="rect">
            <a:avLst/>
          </a:prstGeom>
          <a:noFill/>
        </p:spPr>
        <p:txBody>
          <a:bodyPr wrap="square" rtlCol="0" anchor="t">
            <a:spAutoFit/>
          </a:bodyPr>
          <a:p>
            <a:r>
              <a:rPr lang="en-US" altLang="zh-CN" sz="2400"/>
              <a:t>3</a:t>
            </a:r>
            <a:r>
              <a:rPr lang="zh-CN" altLang="en-US" sz="2400"/>
              <a:t>、不一定。因为高优先级的进程有可能正处在</a:t>
            </a:r>
            <a:r>
              <a:rPr lang="zh-CN" altLang="en-US" sz="2400"/>
              <a:t>阻塞队列中，进程调度会从就绪队列中选择一个进程占用</a:t>
            </a:r>
            <a:r>
              <a:rPr lang="en-US" altLang="zh-CN" sz="2400"/>
              <a:t>CPU</a:t>
            </a:r>
            <a:r>
              <a:rPr lang="zh-CN" altLang="en-US" sz="2400"/>
              <a:t>，这个被选中的进程可能优先级较低。</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75565" y="2319020"/>
            <a:ext cx="6530975" cy="3290570"/>
          </a:xfrm>
          <a:prstGeom prst="rect">
            <a:avLst/>
          </a:prstGeom>
        </p:spPr>
      </p:pic>
      <p:sp>
        <p:nvSpPr>
          <p:cNvPr id="3" name="文本框 2"/>
          <p:cNvSpPr txBox="1"/>
          <p:nvPr/>
        </p:nvSpPr>
        <p:spPr>
          <a:xfrm>
            <a:off x="417830" y="1056005"/>
            <a:ext cx="11236325" cy="953135"/>
          </a:xfrm>
          <a:prstGeom prst="rect">
            <a:avLst/>
          </a:prstGeom>
          <a:noFill/>
        </p:spPr>
        <p:txBody>
          <a:bodyPr wrap="square" rtlCol="0" anchor="t">
            <a:spAutoFit/>
          </a:bodyPr>
          <a:p>
            <a:r>
              <a:rPr lang="zh-CN" altLang="en-US" sz="2800"/>
              <a:t>某分时系统中的过程可能出现如下图所示的状态变化，说明引起</a:t>
            </a:r>
            <a:r>
              <a:rPr lang="en-US" altLang="zh-CN" sz="2800"/>
              <a:t>6</a:t>
            </a:r>
            <a:r>
              <a:rPr lang="zh-CN" altLang="en-US" sz="2800"/>
              <a:t>个状态变化</a:t>
            </a:r>
            <a:r>
              <a:rPr lang="zh-CN" altLang="en-US" sz="2800"/>
              <a:t>的原因</a:t>
            </a:r>
            <a:endParaRPr lang="zh-CN" altLang="en-US" sz="2800"/>
          </a:p>
        </p:txBody>
      </p:sp>
      <p:pic>
        <p:nvPicPr>
          <p:cNvPr id="4" name="图片 3"/>
          <p:cNvPicPr>
            <a:picLocks noChangeAspect="1"/>
          </p:cNvPicPr>
          <p:nvPr/>
        </p:nvPicPr>
        <p:blipFill>
          <a:blip r:embed="rId2"/>
          <a:stretch>
            <a:fillRect/>
          </a:stretch>
        </p:blipFill>
        <p:spPr>
          <a:xfrm>
            <a:off x="6767830" y="2456180"/>
            <a:ext cx="5359400" cy="2647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81000" y="1193800"/>
            <a:ext cx="5409565" cy="4197350"/>
          </a:xfrm>
          <a:prstGeom prst="rect">
            <a:avLst/>
          </a:prstGeom>
        </p:spPr>
      </p:pic>
      <p:sp>
        <p:nvSpPr>
          <p:cNvPr id="20" name="矩形 19"/>
          <p:cNvSpPr/>
          <p:nvPr/>
        </p:nvSpPr>
        <p:spPr>
          <a:xfrm>
            <a:off x="669925" y="-24363"/>
            <a:ext cx="7026275" cy="521970"/>
          </a:xfrm>
          <a:prstGeom prst="rect">
            <a:avLst/>
          </a:prstGeom>
        </p:spPr>
        <p:txBody>
          <a:bodyPr wrap="square">
            <a:spAutoFit/>
          </a:bodyPr>
          <a:p>
            <a:r>
              <a:rPr lang="zh-CN" altLang="en-US" sz="2800" b="1" dirty="0">
                <a:solidFill>
                  <a:schemeClr val="bg1"/>
                </a:solidFill>
              </a:rPr>
              <a:t>挂起状态</a:t>
            </a:r>
            <a:endParaRPr lang="zh-CN" altLang="en-US" sz="2800" b="1" dirty="0">
              <a:solidFill>
                <a:schemeClr val="bg1"/>
              </a:solidFill>
            </a:endParaRPr>
          </a:p>
        </p:txBody>
      </p:sp>
      <p:sp>
        <p:nvSpPr>
          <p:cNvPr id="24" name="内容占位符 2"/>
          <p:cNvSpPr txBox="1"/>
          <p:nvPr/>
        </p:nvSpPr>
        <p:spPr>
          <a:xfrm>
            <a:off x="7101205" y="1139825"/>
            <a:ext cx="4194175" cy="1317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0000FF"/>
                </a:solidFill>
              </a:rPr>
              <a:t>课本</a:t>
            </a:r>
            <a:r>
              <a:rPr lang="en-US" altLang="zh-CN" sz="2400" dirty="0">
                <a:solidFill>
                  <a:srgbClr val="0000FF"/>
                </a:solidFill>
              </a:rPr>
              <a:t>46</a:t>
            </a:r>
            <a:r>
              <a:rPr lang="zh-CN" altLang="en-US" sz="2400" dirty="0">
                <a:solidFill>
                  <a:srgbClr val="0000FF"/>
                </a:solidFill>
              </a:rPr>
              <a:t>页，课后习题</a:t>
            </a:r>
            <a:r>
              <a:rPr lang="en-US" altLang="zh-CN" sz="2400" dirty="0">
                <a:solidFill>
                  <a:srgbClr val="0000FF"/>
                </a:solidFill>
              </a:rPr>
              <a:t>4</a:t>
            </a:r>
            <a:endParaRPr lang="en-US" altLang="zh-CN" sz="2400" dirty="0">
              <a:solidFill>
                <a:srgbClr val="0000FF"/>
              </a:solidFill>
            </a:endParaRPr>
          </a:p>
        </p:txBody>
      </p:sp>
      <p:sp>
        <p:nvSpPr>
          <p:cNvPr id="3" name="文本框 2"/>
          <p:cNvSpPr txBox="1"/>
          <p:nvPr/>
        </p:nvSpPr>
        <p:spPr>
          <a:xfrm>
            <a:off x="5839460" y="2829560"/>
            <a:ext cx="6308090" cy="645160"/>
          </a:xfrm>
          <a:prstGeom prst="rect">
            <a:avLst/>
          </a:prstGeom>
          <a:noFill/>
        </p:spPr>
        <p:txBody>
          <a:bodyPr wrap="square" rtlCol="0">
            <a:spAutoFit/>
          </a:bodyPr>
          <a:p>
            <a:r>
              <a:rPr lang="zh-CN" altLang="en-US" sz="3600">
                <a:solidFill>
                  <a:srgbClr val="FF0000"/>
                </a:solidFill>
              </a:rPr>
              <a:t>挂起</a:t>
            </a:r>
            <a:r>
              <a:rPr lang="zh-CN" altLang="en-US" sz="3600">
                <a:solidFill>
                  <a:schemeClr val="tx1"/>
                </a:solidFill>
              </a:rPr>
              <a:t>会将进程从</a:t>
            </a:r>
            <a:r>
              <a:rPr lang="zh-CN" altLang="en-US" sz="3600">
                <a:solidFill>
                  <a:srgbClr val="FF0000"/>
                </a:solidFill>
              </a:rPr>
              <a:t>内存调到外存</a:t>
            </a:r>
            <a:endParaRPr lang="zh-CN" altLang="en-US" sz="360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3220"/>
          </a:xfrm>
          <a:prstGeom prst="rect">
            <a:avLst/>
          </a:prstGeom>
        </p:spPr>
        <p:txBody>
          <a:bodyPr wrap="square">
            <a:spAutoFit/>
          </a:bodyPr>
          <a:lstStyle/>
          <a:p>
            <a:r>
              <a:rPr lang="zh-CN" altLang="en-US" sz="2800" b="1" dirty="0">
                <a:solidFill>
                  <a:schemeClr val="bg1"/>
                </a:solidFill>
              </a:rPr>
              <a:t>引入挂起状态的状态转换</a:t>
            </a:r>
            <a:endParaRPr lang="zh-CN" altLang="en-US" sz="2800" b="1" dirty="0">
              <a:solidFill>
                <a:schemeClr val="bg1"/>
              </a:solidFill>
            </a:endParaRPr>
          </a:p>
        </p:txBody>
      </p:sp>
      <p:sp>
        <p:nvSpPr>
          <p:cNvPr id="8" name="Line 9"/>
          <p:cNvSpPr>
            <a:spLocks noChangeShapeType="1"/>
          </p:cNvSpPr>
          <p:nvPr>
            <p:custDataLst>
              <p:tags r:id="rId1"/>
            </p:custDataLst>
          </p:nvPr>
        </p:nvSpPr>
        <p:spPr bwMode="auto">
          <a:xfrm rot="3840000" flipV="1">
            <a:off x="5972810" y="800100"/>
            <a:ext cx="982980" cy="194754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p>
            <a:endParaRPr lang="zh-CN" altLang="en-US" sz="2400"/>
          </a:p>
        </p:txBody>
      </p:sp>
      <p:grpSp>
        <p:nvGrpSpPr>
          <p:cNvPr id="51" name="组合 50"/>
          <p:cNvGrpSpPr/>
          <p:nvPr/>
        </p:nvGrpSpPr>
        <p:grpSpPr>
          <a:xfrm>
            <a:off x="1536065" y="1261110"/>
            <a:ext cx="9325610" cy="5279390"/>
            <a:chOff x="2419" y="1986"/>
            <a:chExt cx="14686" cy="8314"/>
          </a:xfrm>
        </p:grpSpPr>
        <p:sp>
          <p:nvSpPr>
            <p:cNvPr id="27" name="Oval 6"/>
            <p:cNvSpPr>
              <a:spLocks noChangeArrowheads="1"/>
            </p:cNvSpPr>
            <p:nvPr>
              <p:custDataLst>
                <p:tags r:id="rId2"/>
              </p:custDataLst>
            </p:nvPr>
          </p:nvSpPr>
          <p:spPr bwMode="auto">
            <a:xfrm>
              <a:off x="6447" y="2111"/>
              <a:ext cx="1846" cy="1707"/>
            </a:xfrm>
            <a:prstGeom prst="ellipse">
              <a:avLst/>
            </a:prstGeom>
            <a:solidFill>
              <a:srgbClr val="07DB4E"/>
            </a:solidFill>
            <a:ln w="19050">
              <a:solidFill>
                <a:srgbClr val="04862F"/>
              </a:solidFill>
              <a:round/>
            </a:ln>
          </p:spPr>
          <p:txBody>
            <a:bodyPr lIns="0" tIns="0" rIns="0" bIns="0" anchor="ctr"/>
            <a:lstStyle/>
            <a:p>
              <a:pPr algn="ctr" eaLnBrk="1" hangingPunct="1">
                <a:spcBef>
                  <a:spcPts val="775"/>
                </a:spcBef>
                <a:defRPr/>
              </a:pPr>
              <a:r>
                <a:rPr lang="zh-CN" altLang="en-US" sz="2000">
                  <a:solidFill>
                    <a:schemeClr val="bg1"/>
                  </a:solidFill>
                </a:rPr>
                <a:t>活动</a:t>
              </a:r>
              <a:endParaRPr lang="zh-CN" altLang="en-US" sz="2000">
                <a:solidFill>
                  <a:schemeClr val="bg1"/>
                </a:solidFill>
              </a:endParaRPr>
            </a:p>
            <a:p>
              <a:pPr algn="ctr" eaLnBrk="1" hangingPunct="1">
                <a:spcBef>
                  <a:spcPts val="775"/>
                </a:spcBef>
                <a:defRPr/>
              </a:pPr>
              <a:r>
                <a:rPr lang="zh-CN" altLang="en-US" sz="2000">
                  <a:solidFill>
                    <a:schemeClr val="bg1"/>
                  </a:solidFill>
                </a:rPr>
                <a:t>就绪</a:t>
              </a:r>
              <a:endParaRPr lang="zh-CN" altLang="en-US" sz="2000">
                <a:solidFill>
                  <a:schemeClr val="bg1"/>
                </a:solidFill>
              </a:endParaRPr>
            </a:p>
          </p:txBody>
        </p:sp>
        <p:sp>
          <p:nvSpPr>
            <p:cNvPr id="28" name="Oval 6"/>
            <p:cNvSpPr>
              <a:spLocks noChangeArrowheads="1"/>
            </p:cNvSpPr>
            <p:nvPr>
              <p:custDataLst>
                <p:tags r:id="rId3"/>
              </p:custDataLst>
            </p:nvPr>
          </p:nvSpPr>
          <p:spPr bwMode="auto">
            <a:xfrm>
              <a:off x="2419" y="2402"/>
              <a:ext cx="1775" cy="140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创建</a:t>
              </a:r>
              <a:endParaRPr lang="zh-CN" altLang="en-US" sz="2400" dirty="0">
                <a:solidFill>
                  <a:schemeClr val="bg1"/>
                </a:solidFill>
              </a:endParaRPr>
            </a:p>
          </p:txBody>
        </p:sp>
        <p:sp>
          <p:nvSpPr>
            <p:cNvPr id="29" name="Oval 7"/>
            <p:cNvSpPr>
              <a:spLocks noChangeArrowheads="1"/>
            </p:cNvSpPr>
            <p:nvPr>
              <p:custDataLst>
                <p:tags r:id="rId4"/>
              </p:custDataLst>
            </p:nvPr>
          </p:nvSpPr>
          <p:spPr bwMode="auto">
            <a:xfrm>
              <a:off x="9998" y="6195"/>
              <a:ext cx="1771" cy="1548"/>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执行</a:t>
              </a:r>
              <a:endParaRPr lang="zh-CN" altLang="en-US" sz="2400" dirty="0">
                <a:solidFill>
                  <a:schemeClr val="bg1"/>
                </a:solidFill>
              </a:endParaRPr>
            </a:p>
          </p:txBody>
        </p:sp>
        <p:sp>
          <p:nvSpPr>
            <p:cNvPr id="30" name="Oval 8"/>
            <p:cNvSpPr>
              <a:spLocks noChangeArrowheads="1"/>
            </p:cNvSpPr>
            <p:nvPr>
              <p:custDataLst>
                <p:tags r:id="rId5"/>
              </p:custDataLst>
            </p:nvPr>
          </p:nvSpPr>
          <p:spPr bwMode="auto">
            <a:xfrm>
              <a:off x="3063" y="6195"/>
              <a:ext cx="1737" cy="1407"/>
            </a:xfrm>
            <a:prstGeom prst="ellipse">
              <a:avLst/>
            </a:prstGeom>
            <a:solidFill>
              <a:srgbClr val="07DB4E"/>
            </a:solidFill>
            <a:ln w="19050">
              <a:solidFill>
                <a:srgbClr val="04862F"/>
              </a:solidFill>
              <a:round/>
            </a:ln>
          </p:spPr>
          <p:txBody>
            <a:bodyPr lIns="0" tIns="0" rIns="0" bIns="0" anchor="ctr"/>
            <a:lstStyle/>
            <a:p>
              <a:pPr algn="ctr" eaLnBrk="1" hangingPunct="1">
                <a:spcBef>
                  <a:spcPts val="775"/>
                </a:spcBef>
                <a:defRPr/>
              </a:pPr>
              <a:r>
                <a:rPr lang="zh-CN" altLang="en-US" sz="2000" dirty="0">
                  <a:solidFill>
                    <a:schemeClr val="bg1"/>
                  </a:solidFill>
                </a:rPr>
                <a:t>活动</a:t>
              </a:r>
              <a:endParaRPr lang="zh-CN" altLang="en-US" sz="2000" dirty="0">
                <a:solidFill>
                  <a:schemeClr val="bg1"/>
                </a:solidFill>
              </a:endParaRPr>
            </a:p>
            <a:p>
              <a:pPr algn="ctr" eaLnBrk="1" hangingPunct="1">
                <a:spcBef>
                  <a:spcPts val="775"/>
                </a:spcBef>
                <a:defRPr/>
              </a:pPr>
              <a:r>
                <a:rPr lang="zh-CN" altLang="en-US" sz="2000" dirty="0">
                  <a:solidFill>
                    <a:schemeClr val="bg1"/>
                  </a:solidFill>
                </a:rPr>
                <a:t>阻塞</a:t>
              </a:r>
              <a:endParaRPr lang="zh-CN" altLang="en-US" sz="2000" dirty="0">
                <a:solidFill>
                  <a:schemeClr val="bg1"/>
                </a:solidFill>
              </a:endParaRPr>
            </a:p>
          </p:txBody>
        </p:sp>
        <p:sp>
          <p:nvSpPr>
            <p:cNvPr id="31" name="Line 9"/>
            <p:cNvSpPr>
              <a:spLocks noChangeShapeType="1"/>
            </p:cNvSpPr>
            <p:nvPr>
              <p:custDataLst>
                <p:tags r:id="rId6"/>
              </p:custDataLst>
            </p:nvPr>
          </p:nvSpPr>
          <p:spPr bwMode="auto">
            <a:xfrm flipH="1" flipV="1">
              <a:off x="8223" y="3386"/>
              <a:ext cx="2741" cy="281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2" name="Line 10"/>
            <p:cNvSpPr>
              <a:spLocks noChangeShapeType="1"/>
            </p:cNvSpPr>
            <p:nvPr>
              <p:custDataLst>
                <p:tags r:id="rId7"/>
              </p:custDataLst>
            </p:nvPr>
          </p:nvSpPr>
          <p:spPr bwMode="auto">
            <a:xfrm>
              <a:off x="7739" y="3808"/>
              <a:ext cx="2417" cy="259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3" name="Line 11"/>
            <p:cNvSpPr>
              <a:spLocks noChangeShapeType="1"/>
            </p:cNvSpPr>
            <p:nvPr>
              <p:custDataLst>
                <p:tags r:id="rId8"/>
              </p:custDataLst>
            </p:nvPr>
          </p:nvSpPr>
          <p:spPr bwMode="auto">
            <a:xfrm flipV="1">
              <a:off x="4320" y="3527"/>
              <a:ext cx="2291" cy="266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4" name="Line 12"/>
            <p:cNvSpPr>
              <a:spLocks noChangeShapeType="1"/>
            </p:cNvSpPr>
            <p:nvPr>
              <p:custDataLst>
                <p:tags r:id="rId9"/>
              </p:custDataLst>
            </p:nvPr>
          </p:nvSpPr>
          <p:spPr bwMode="auto">
            <a:xfrm flipH="1" flipV="1">
              <a:off x="4801" y="6874"/>
              <a:ext cx="5197" cy="19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35" name="TextBox 11"/>
            <p:cNvSpPr txBox="1">
              <a:spLocks noChangeArrowheads="1"/>
            </p:cNvSpPr>
            <p:nvPr>
              <p:custDataLst>
                <p:tags r:id="rId10"/>
              </p:custDataLst>
            </p:nvPr>
          </p:nvSpPr>
          <p:spPr bwMode="auto">
            <a:xfrm rot="18503600">
              <a:off x="3564" y="4162"/>
              <a:ext cx="2925"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完成</a:t>
              </a:r>
              <a:endParaRPr lang="zh-CN" altLang="en-US" sz="2400" dirty="0">
                <a:latin typeface="+mn-ea"/>
                <a:ea typeface="+mn-ea"/>
              </a:endParaRPr>
            </a:p>
          </p:txBody>
        </p:sp>
        <p:sp>
          <p:nvSpPr>
            <p:cNvPr id="36" name="TextBox 12"/>
            <p:cNvSpPr txBox="1">
              <a:spLocks noChangeArrowheads="1"/>
            </p:cNvSpPr>
            <p:nvPr>
              <p:custDataLst>
                <p:tags r:id="rId11"/>
              </p:custDataLst>
            </p:nvPr>
          </p:nvSpPr>
          <p:spPr bwMode="auto">
            <a:xfrm>
              <a:off x="6127" y="7041"/>
              <a:ext cx="4029"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en-US" altLang="zh-CN" sz="2400" dirty="0">
                  <a:latin typeface="+mn-ea"/>
                  <a:ea typeface="+mn-ea"/>
                </a:rPr>
                <a:t>I/O</a:t>
              </a:r>
              <a:r>
                <a:rPr lang="zh-CN" altLang="en-US" sz="2400" dirty="0">
                  <a:latin typeface="+mn-ea"/>
                  <a:ea typeface="+mn-ea"/>
                </a:rPr>
                <a:t>请求</a:t>
              </a:r>
              <a:endParaRPr lang="zh-CN" altLang="en-US" sz="2400" dirty="0">
                <a:latin typeface="+mn-ea"/>
                <a:ea typeface="+mn-ea"/>
              </a:endParaRPr>
            </a:p>
          </p:txBody>
        </p:sp>
        <p:sp>
          <p:nvSpPr>
            <p:cNvPr id="37" name="TextBox 13"/>
            <p:cNvSpPr txBox="1">
              <a:spLocks noChangeArrowheads="1"/>
            </p:cNvSpPr>
            <p:nvPr>
              <p:custDataLst>
                <p:tags r:id="rId12"/>
              </p:custDataLst>
            </p:nvPr>
          </p:nvSpPr>
          <p:spPr bwMode="auto">
            <a:xfrm rot="2824969">
              <a:off x="7028" y="4945"/>
              <a:ext cx="3212"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进程调度</a:t>
              </a:r>
              <a:endParaRPr lang="zh-CN" altLang="en-US" sz="2400" dirty="0">
                <a:latin typeface="+mn-ea"/>
                <a:ea typeface="+mn-ea"/>
              </a:endParaRPr>
            </a:p>
          </p:txBody>
        </p:sp>
        <p:sp>
          <p:nvSpPr>
            <p:cNvPr id="38" name="TextBox 14"/>
            <p:cNvSpPr txBox="1">
              <a:spLocks noChangeArrowheads="1"/>
            </p:cNvSpPr>
            <p:nvPr>
              <p:custDataLst>
                <p:tags r:id="rId13"/>
              </p:custDataLst>
            </p:nvPr>
          </p:nvSpPr>
          <p:spPr bwMode="auto">
            <a:xfrm rot="2686281">
              <a:off x="8522" y="4190"/>
              <a:ext cx="3064"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时间片完</a:t>
              </a:r>
              <a:endParaRPr lang="zh-CN" altLang="en-US" sz="2400">
                <a:latin typeface="+mn-ea"/>
                <a:ea typeface="+mn-ea"/>
              </a:endParaRPr>
            </a:p>
          </p:txBody>
        </p:sp>
        <p:sp>
          <p:nvSpPr>
            <p:cNvPr id="39" name="TextBox 16"/>
            <p:cNvSpPr txBox="1">
              <a:spLocks noChangeArrowheads="1"/>
            </p:cNvSpPr>
            <p:nvPr>
              <p:custDataLst>
                <p:tags r:id="rId14"/>
              </p:custDataLst>
            </p:nvPr>
          </p:nvSpPr>
          <p:spPr bwMode="auto">
            <a:xfrm>
              <a:off x="11968" y="7067"/>
              <a:ext cx="1935"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cxnSp>
          <p:nvCxnSpPr>
            <p:cNvPr id="40" name="直接箭头连接符 39"/>
            <p:cNvCxnSpPr>
              <a:stCxn id="29" idx="6"/>
              <a:endCxn id="41" idx="2"/>
            </p:cNvCxnSpPr>
            <p:nvPr>
              <p:custDataLst>
                <p:tags r:id="rId15"/>
              </p:custDataLst>
            </p:nvPr>
          </p:nvCxnSpPr>
          <p:spPr>
            <a:xfrm flipV="1">
              <a:off x="11769" y="6898"/>
              <a:ext cx="1933" cy="7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1" name="Oval 6"/>
            <p:cNvSpPr>
              <a:spLocks noChangeArrowheads="1"/>
            </p:cNvSpPr>
            <p:nvPr>
              <p:custDataLst>
                <p:tags r:id="rId16"/>
              </p:custDataLst>
            </p:nvPr>
          </p:nvSpPr>
          <p:spPr bwMode="auto">
            <a:xfrm>
              <a:off x="13703" y="6195"/>
              <a:ext cx="1775" cy="1407"/>
            </a:xfrm>
            <a:prstGeom prst="ellipse">
              <a:avLst/>
            </a:prstGeom>
            <a:solidFill>
              <a:srgbClr val="06D24C"/>
            </a:solidFill>
            <a:ln w="19050">
              <a:solidFill>
                <a:srgbClr val="04862F"/>
              </a:solidFill>
              <a:round/>
            </a:ln>
          </p:spPr>
          <p:txBody>
            <a:bodyPr lIns="0" tIns="0" rIns="0" bIns="0" anchor="ctr"/>
            <a:lstStyle/>
            <a:p>
              <a:pPr algn="ctr" eaLnBrk="1" hangingPunct="1">
                <a:spcBef>
                  <a:spcPts val="775"/>
                </a:spcBef>
                <a:defRPr/>
              </a:pPr>
              <a:r>
                <a:rPr lang="zh-CN" altLang="en-US" sz="2400" dirty="0">
                  <a:solidFill>
                    <a:schemeClr val="bg1"/>
                  </a:solidFill>
                </a:rPr>
                <a:t>终止</a:t>
              </a:r>
              <a:endParaRPr lang="zh-CN" altLang="en-US" sz="2400" dirty="0">
                <a:solidFill>
                  <a:schemeClr val="bg1"/>
                </a:solidFill>
              </a:endParaRPr>
            </a:p>
          </p:txBody>
        </p:sp>
        <p:cxnSp>
          <p:nvCxnSpPr>
            <p:cNvPr id="42" name="直接箭头连接符 41"/>
            <p:cNvCxnSpPr>
              <a:stCxn id="28" idx="6"/>
              <a:endCxn id="27" idx="2"/>
            </p:cNvCxnSpPr>
            <p:nvPr>
              <p:custDataLst>
                <p:tags r:id="rId17"/>
              </p:custDataLst>
            </p:nvPr>
          </p:nvCxnSpPr>
          <p:spPr>
            <a:xfrm flipV="1">
              <a:off x="4194" y="2965"/>
              <a:ext cx="2253" cy="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TextBox 25"/>
            <p:cNvSpPr txBox="1">
              <a:spLocks noChangeArrowheads="1"/>
            </p:cNvSpPr>
            <p:nvPr>
              <p:custDataLst>
                <p:tags r:id="rId18"/>
              </p:custDataLst>
            </p:nvPr>
          </p:nvSpPr>
          <p:spPr bwMode="auto">
            <a:xfrm>
              <a:off x="4490" y="1986"/>
              <a:ext cx="2162"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a:latin typeface="+mn-ea"/>
                  <a:ea typeface="+mn-ea"/>
                </a:rPr>
                <a:t>许可</a:t>
              </a:r>
              <a:endParaRPr lang="zh-CN" altLang="en-US" sz="2400">
                <a:latin typeface="+mn-ea"/>
                <a:ea typeface="+mn-ea"/>
              </a:endParaRPr>
            </a:p>
          </p:txBody>
        </p:sp>
        <p:sp>
          <p:nvSpPr>
            <p:cNvPr id="2" name="Line 9"/>
            <p:cNvSpPr>
              <a:spLocks noChangeShapeType="1"/>
            </p:cNvSpPr>
            <p:nvPr>
              <p:custDataLst>
                <p:tags r:id="rId19"/>
              </p:custDataLst>
            </p:nvPr>
          </p:nvSpPr>
          <p:spPr bwMode="auto">
            <a:xfrm flipV="1">
              <a:off x="10963" y="3739"/>
              <a:ext cx="1720" cy="245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p>
              <a:endParaRPr lang="zh-CN" altLang="en-US" sz="2400"/>
            </a:p>
          </p:txBody>
        </p:sp>
        <p:sp>
          <p:nvSpPr>
            <p:cNvPr id="6" name="Oval 6"/>
            <p:cNvSpPr>
              <a:spLocks noChangeArrowheads="1"/>
            </p:cNvSpPr>
            <p:nvPr>
              <p:custDataLst>
                <p:tags r:id="rId20"/>
              </p:custDataLst>
            </p:nvPr>
          </p:nvSpPr>
          <p:spPr bwMode="auto">
            <a:xfrm>
              <a:off x="12100" y="2133"/>
              <a:ext cx="1798" cy="1590"/>
            </a:xfrm>
            <a:prstGeom prst="ellipse">
              <a:avLst/>
            </a:prstGeom>
            <a:solidFill>
              <a:schemeClr val="accent2"/>
            </a:solidFill>
            <a:ln w="19050">
              <a:solidFill>
                <a:srgbClr val="04862F"/>
              </a:solidFill>
              <a:round/>
            </a:ln>
          </p:spPr>
          <p:txBody>
            <a:bodyPr lIns="0" tIns="0" rIns="0" bIns="0" anchor="ctr"/>
            <a:p>
              <a:pPr algn="ctr" eaLnBrk="1" hangingPunct="1">
                <a:spcBef>
                  <a:spcPts val="775"/>
                </a:spcBef>
                <a:defRPr/>
              </a:pPr>
              <a:r>
                <a:rPr lang="zh-CN" altLang="en-US" sz="2000">
                  <a:solidFill>
                    <a:schemeClr val="bg1"/>
                  </a:solidFill>
                </a:rPr>
                <a:t>静止</a:t>
              </a:r>
              <a:endParaRPr lang="zh-CN" altLang="en-US" sz="2000">
                <a:solidFill>
                  <a:schemeClr val="bg1"/>
                </a:solidFill>
              </a:endParaRPr>
            </a:p>
            <a:p>
              <a:pPr algn="ctr" eaLnBrk="1" hangingPunct="1">
                <a:spcBef>
                  <a:spcPts val="775"/>
                </a:spcBef>
                <a:defRPr/>
              </a:pPr>
              <a:r>
                <a:rPr lang="zh-CN" altLang="en-US" sz="2000">
                  <a:solidFill>
                    <a:schemeClr val="bg1"/>
                  </a:solidFill>
                </a:rPr>
                <a:t>就绪</a:t>
              </a:r>
              <a:endParaRPr lang="zh-CN" altLang="en-US" sz="2000">
                <a:solidFill>
                  <a:schemeClr val="bg1"/>
                </a:solidFill>
              </a:endParaRPr>
            </a:p>
          </p:txBody>
        </p:sp>
        <p:sp>
          <p:nvSpPr>
            <p:cNvPr id="7" name="TextBox 16"/>
            <p:cNvSpPr txBox="1">
              <a:spLocks noChangeArrowheads="1"/>
            </p:cNvSpPr>
            <p:nvPr>
              <p:custDataLst>
                <p:tags r:id="rId21"/>
              </p:custDataLst>
            </p:nvPr>
          </p:nvSpPr>
          <p:spPr bwMode="auto">
            <a:xfrm rot="18540000">
              <a:off x="11505" y="4472"/>
              <a:ext cx="1935"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挂起</a:t>
              </a:r>
              <a:endParaRPr lang="zh-CN" altLang="en-US" sz="2400" dirty="0">
                <a:latin typeface="+mn-ea"/>
                <a:ea typeface="+mn-ea"/>
              </a:endParaRPr>
            </a:p>
          </p:txBody>
        </p:sp>
        <p:sp>
          <p:nvSpPr>
            <p:cNvPr id="9" name="TextBox 16"/>
            <p:cNvSpPr txBox="1">
              <a:spLocks noChangeArrowheads="1"/>
            </p:cNvSpPr>
            <p:nvPr>
              <p:custDataLst>
                <p:tags r:id="rId22"/>
              </p:custDataLst>
            </p:nvPr>
          </p:nvSpPr>
          <p:spPr bwMode="auto">
            <a:xfrm>
              <a:off x="9677" y="2059"/>
              <a:ext cx="2423"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挂起</a:t>
              </a:r>
              <a:endParaRPr lang="zh-CN" altLang="en-US" sz="2400" dirty="0">
                <a:latin typeface="+mn-ea"/>
                <a:ea typeface="+mn-ea"/>
              </a:endParaRPr>
            </a:p>
          </p:txBody>
        </p:sp>
        <p:cxnSp>
          <p:nvCxnSpPr>
            <p:cNvPr id="22" name="直接箭头连接符 21"/>
            <p:cNvCxnSpPr/>
            <p:nvPr/>
          </p:nvCxnSpPr>
          <p:spPr>
            <a:xfrm flipH="1" flipV="1">
              <a:off x="8467" y="3074"/>
              <a:ext cx="3595" cy="5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TextBox 16"/>
            <p:cNvSpPr txBox="1">
              <a:spLocks noChangeArrowheads="1"/>
            </p:cNvSpPr>
            <p:nvPr>
              <p:custDataLst>
                <p:tags r:id="rId23"/>
              </p:custDataLst>
            </p:nvPr>
          </p:nvSpPr>
          <p:spPr bwMode="auto">
            <a:xfrm>
              <a:off x="9877" y="3026"/>
              <a:ext cx="2423"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激活</a:t>
              </a:r>
              <a:endParaRPr lang="zh-CN" altLang="en-US" sz="2400" dirty="0">
                <a:latin typeface="+mn-ea"/>
                <a:ea typeface="+mn-ea"/>
              </a:endParaRPr>
            </a:p>
          </p:txBody>
        </p:sp>
        <p:sp>
          <p:nvSpPr>
            <p:cNvPr id="44" name="Oval 6"/>
            <p:cNvSpPr>
              <a:spLocks noChangeArrowheads="1"/>
            </p:cNvSpPr>
            <p:nvPr>
              <p:custDataLst>
                <p:tags r:id="rId24"/>
              </p:custDataLst>
            </p:nvPr>
          </p:nvSpPr>
          <p:spPr bwMode="auto">
            <a:xfrm>
              <a:off x="5689" y="8500"/>
              <a:ext cx="1798" cy="1590"/>
            </a:xfrm>
            <a:prstGeom prst="ellipse">
              <a:avLst/>
            </a:prstGeom>
            <a:solidFill>
              <a:schemeClr val="accent2"/>
            </a:solidFill>
            <a:ln w="19050">
              <a:solidFill>
                <a:srgbClr val="04862F"/>
              </a:solidFill>
              <a:round/>
            </a:ln>
          </p:spPr>
          <p:txBody>
            <a:bodyPr lIns="0" tIns="0" rIns="0" bIns="0" anchor="ctr"/>
            <a:p>
              <a:pPr algn="ctr" eaLnBrk="1" hangingPunct="1">
                <a:spcBef>
                  <a:spcPts val="775"/>
                </a:spcBef>
                <a:defRPr/>
              </a:pPr>
              <a:r>
                <a:rPr lang="zh-CN" altLang="en-US" sz="2000">
                  <a:solidFill>
                    <a:schemeClr val="bg1"/>
                  </a:solidFill>
                </a:rPr>
                <a:t>静止</a:t>
              </a:r>
              <a:endParaRPr lang="zh-CN" altLang="en-US" sz="2000">
                <a:solidFill>
                  <a:schemeClr val="bg1"/>
                </a:solidFill>
              </a:endParaRPr>
            </a:p>
            <a:p>
              <a:pPr algn="ctr" eaLnBrk="1" hangingPunct="1">
                <a:spcBef>
                  <a:spcPts val="775"/>
                </a:spcBef>
                <a:defRPr/>
              </a:pPr>
              <a:r>
                <a:rPr lang="zh-CN" altLang="en-US" sz="2000">
                  <a:solidFill>
                    <a:schemeClr val="bg1"/>
                  </a:solidFill>
                </a:rPr>
                <a:t>阻塞</a:t>
              </a:r>
              <a:endParaRPr lang="zh-CN" altLang="en-US" sz="2000">
                <a:solidFill>
                  <a:schemeClr val="bg1"/>
                </a:solidFill>
              </a:endParaRPr>
            </a:p>
          </p:txBody>
        </p:sp>
        <p:cxnSp>
          <p:nvCxnSpPr>
            <p:cNvPr id="45" name="直接箭头连接符 44"/>
            <p:cNvCxnSpPr>
              <a:stCxn id="30" idx="5"/>
            </p:cNvCxnSpPr>
            <p:nvPr/>
          </p:nvCxnSpPr>
          <p:spPr>
            <a:xfrm>
              <a:off x="4546" y="7396"/>
              <a:ext cx="1563" cy="131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44" idx="2"/>
              <a:endCxn id="30" idx="4"/>
            </p:cNvCxnSpPr>
            <p:nvPr/>
          </p:nvCxnSpPr>
          <p:spPr>
            <a:xfrm flipH="1" flipV="1">
              <a:off x="3932" y="7602"/>
              <a:ext cx="1757" cy="169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7" name="TextBox 16"/>
            <p:cNvSpPr txBox="1">
              <a:spLocks noChangeArrowheads="1"/>
            </p:cNvSpPr>
            <p:nvPr>
              <p:custDataLst>
                <p:tags r:id="rId25"/>
              </p:custDataLst>
            </p:nvPr>
          </p:nvSpPr>
          <p:spPr bwMode="auto">
            <a:xfrm rot="2280000">
              <a:off x="4908" y="7812"/>
              <a:ext cx="2423"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挂起</a:t>
              </a:r>
              <a:endParaRPr lang="zh-CN" altLang="en-US" sz="2400" dirty="0">
                <a:latin typeface="+mn-ea"/>
                <a:ea typeface="+mn-ea"/>
              </a:endParaRPr>
            </a:p>
          </p:txBody>
        </p:sp>
        <p:sp>
          <p:nvSpPr>
            <p:cNvPr id="48" name="TextBox 16"/>
            <p:cNvSpPr txBox="1">
              <a:spLocks noChangeArrowheads="1"/>
            </p:cNvSpPr>
            <p:nvPr>
              <p:custDataLst>
                <p:tags r:id="rId26"/>
              </p:custDataLst>
            </p:nvPr>
          </p:nvSpPr>
          <p:spPr bwMode="auto">
            <a:xfrm rot="2880000">
              <a:off x="3769" y="8727"/>
              <a:ext cx="2423"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激活</a:t>
              </a:r>
              <a:endParaRPr lang="zh-CN" altLang="en-US" sz="2400" dirty="0">
                <a:latin typeface="+mn-ea"/>
                <a:ea typeface="+mn-ea"/>
              </a:endParaRPr>
            </a:p>
          </p:txBody>
        </p:sp>
        <p:cxnSp>
          <p:nvCxnSpPr>
            <p:cNvPr id="49" name="曲线连接符 48"/>
            <p:cNvCxnSpPr>
              <a:endCxn id="6" idx="6"/>
            </p:cNvCxnSpPr>
            <p:nvPr/>
          </p:nvCxnSpPr>
          <p:spPr>
            <a:xfrm rot="16200000">
              <a:off x="7500" y="3044"/>
              <a:ext cx="6513" cy="6281"/>
            </a:xfrm>
            <a:prstGeom prst="curvedConnector4">
              <a:avLst>
                <a:gd name="adj1" fmla="val 1719"/>
                <a:gd name="adj2" fmla="val 141139"/>
              </a:avLst>
            </a:prstGeom>
            <a:ln>
              <a:tailEnd type="arrow"/>
            </a:ln>
          </p:spPr>
          <p:style>
            <a:lnRef idx="2">
              <a:schemeClr val="accent1"/>
            </a:lnRef>
            <a:fillRef idx="0">
              <a:srgbClr val="FFFFFF"/>
            </a:fillRef>
            <a:effectRef idx="0">
              <a:srgbClr val="FFFFFF"/>
            </a:effectRef>
            <a:fontRef idx="minor">
              <a:schemeClr val="tx1"/>
            </a:fontRef>
          </p:style>
        </p:cxnSp>
        <p:sp>
          <p:nvSpPr>
            <p:cNvPr id="50" name="TextBox 16"/>
            <p:cNvSpPr txBox="1">
              <a:spLocks noChangeArrowheads="1"/>
            </p:cNvSpPr>
            <p:nvPr>
              <p:custDataLst>
                <p:tags r:id="rId27"/>
              </p:custDataLst>
            </p:nvPr>
          </p:nvSpPr>
          <p:spPr bwMode="auto">
            <a:xfrm>
              <a:off x="15171" y="8380"/>
              <a:ext cx="1935"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eaLnBrk="1" hangingPunct="1">
                <a:spcBef>
                  <a:spcPct val="0"/>
                </a:spcBef>
                <a:buClrTx/>
                <a:buSzTx/>
                <a:buFontTx/>
                <a:buNone/>
              </a:pPr>
              <a:r>
                <a:rPr lang="zh-CN" altLang="en-US" sz="2400" dirty="0">
                  <a:latin typeface="+mn-ea"/>
                  <a:ea typeface="+mn-ea"/>
                </a:rPr>
                <a:t>释放</a:t>
              </a:r>
              <a:endParaRPr lang="zh-CN" altLang="en-US" sz="2400" dirty="0">
                <a:latin typeface="+mn-ea"/>
                <a:ea typeface="+mn-ea"/>
              </a:endParaRPr>
            </a:p>
          </p:txBody>
        </p:sp>
      </p:grpSp>
      <p:sp>
        <p:nvSpPr>
          <p:cNvPr id="3" name="文本框 2"/>
          <p:cNvSpPr txBox="1"/>
          <p:nvPr/>
        </p:nvSpPr>
        <p:spPr>
          <a:xfrm>
            <a:off x="5664200" y="17145"/>
            <a:ext cx="6308090" cy="1198880"/>
          </a:xfrm>
          <a:prstGeom prst="rect">
            <a:avLst/>
          </a:prstGeom>
          <a:solidFill>
            <a:schemeClr val="accent1">
              <a:lumMod val="20000"/>
              <a:lumOff val="80000"/>
            </a:schemeClr>
          </a:solidFill>
        </p:spPr>
        <p:txBody>
          <a:bodyPr wrap="square" rtlCol="0">
            <a:spAutoFit/>
          </a:bodyPr>
          <a:p>
            <a:r>
              <a:rPr lang="zh-CN" altLang="en-US" sz="3600">
                <a:solidFill>
                  <a:srgbClr val="FF0000"/>
                </a:solidFill>
              </a:rPr>
              <a:t>活动状态表示</a:t>
            </a:r>
            <a:r>
              <a:rPr lang="zh-CN" altLang="en-US" sz="3600">
                <a:solidFill>
                  <a:srgbClr val="FF0000"/>
                </a:solidFill>
              </a:rPr>
              <a:t>进程还在内存</a:t>
            </a:r>
            <a:endParaRPr lang="zh-CN" altLang="en-US" sz="3600">
              <a:solidFill>
                <a:srgbClr val="FF0000"/>
              </a:solidFill>
            </a:endParaRPr>
          </a:p>
          <a:p>
            <a:r>
              <a:rPr lang="zh-CN" altLang="en-US" sz="3600">
                <a:solidFill>
                  <a:srgbClr val="FF0000"/>
                </a:solidFill>
              </a:rPr>
              <a:t>静止状态表示进程</a:t>
            </a:r>
            <a:r>
              <a:rPr lang="zh-CN" altLang="en-US" sz="3600">
                <a:solidFill>
                  <a:srgbClr val="FF0000"/>
                </a:solidFill>
              </a:rPr>
              <a:t>被调到外存</a:t>
            </a:r>
            <a:endParaRPr lang="zh-CN" altLang="en-US" sz="36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24363"/>
            <a:ext cx="7026275" cy="521970"/>
          </a:xfrm>
          <a:prstGeom prst="rect">
            <a:avLst/>
          </a:prstGeom>
        </p:spPr>
        <p:txBody>
          <a:bodyPr wrap="square">
            <a:spAutoFit/>
          </a:bodyPr>
          <a:lstStyle/>
          <a:p>
            <a:r>
              <a:rPr lang="zh-CN" altLang="en-US" sz="2800" b="1" dirty="0">
                <a:solidFill>
                  <a:schemeClr val="bg1"/>
                </a:solidFill>
              </a:rPr>
              <a:t>状态的转换之人的</a:t>
            </a:r>
            <a:r>
              <a:rPr lang="zh-CN" altLang="en-US" sz="2800" b="1" dirty="0">
                <a:solidFill>
                  <a:schemeClr val="bg1"/>
                </a:solidFill>
              </a:rPr>
              <a:t>一生</a:t>
            </a:r>
            <a:endParaRPr lang="zh-CN" altLang="en-US" sz="2800" b="1" dirty="0">
              <a:solidFill>
                <a:schemeClr val="bg1"/>
              </a:solidFill>
            </a:endParaRPr>
          </a:p>
        </p:txBody>
      </p:sp>
      <p:sp>
        <p:nvSpPr>
          <p:cNvPr id="4" name="文本框 3"/>
          <p:cNvSpPr txBox="1"/>
          <p:nvPr/>
        </p:nvSpPr>
        <p:spPr>
          <a:xfrm>
            <a:off x="205740" y="1202690"/>
            <a:ext cx="11539220" cy="5023485"/>
          </a:xfrm>
          <a:prstGeom prst="rect">
            <a:avLst/>
          </a:prstGeom>
          <a:noFill/>
        </p:spPr>
        <p:txBody>
          <a:bodyPr wrap="square" rtlCol="0" anchor="t">
            <a:noAutofit/>
          </a:bodyPr>
          <a:p>
            <a:r>
              <a:rPr lang="en-US" altLang="zh-CN" sz="2400"/>
              <a:t>      </a:t>
            </a:r>
            <a:r>
              <a:rPr lang="zh-CN" altLang="en-US" sz="2400"/>
              <a:t>首先，人的生命历程一定是一个动态的、过程性的概念，要研究人的生命历程，先要介绍经历这个历程的主体是什么。主体当然是人，相当于经历进程的主体是进程映像，人有自己的身份，相当于进程映像里有</a:t>
            </a:r>
            <a:r>
              <a:rPr lang="en-US" altLang="zh-CN" sz="2400"/>
              <a:t>PCB</a:t>
            </a:r>
            <a:r>
              <a:rPr lang="zh-CN" altLang="en-US" sz="2400"/>
              <a:t>；人生历程会经历好几种状态：</a:t>
            </a:r>
            <a:endParaRPr lang="zh-CN" altLang="en-US" sz="2400"/>
          </a:p>
          <a:p>
            <a:r>
              <a:rPr lang="zh-CN" altLang="en-US" sz="2400"/>
              <a:t>出生的时候、弥留的时候、充满斗志的时候、发奋图强的时候及失落的时候，相当于进程有创建、撤销、就绪、运行、阻塞等状态，这几种状态会发生改变。</a:t>
            </a:r>
            <a:endParaRPr lang="zh-CN" altLang="en-US" sz="2400"/>
          </a:p>
          <a:p>
            <a:endParaRPr lang="zh-CN" altLang="en-US" sz="2400"/>
          </a:p>
          <a:p>
            <a:r>
              <a:rPr lang="en-US" altLang="zh-CN" sz="2400"/>
              <a:t>      </a:t>
            </a:r>
            <a:r>
              <a:rPr lang="zh-CN" altLang="en-US" sz="2400"/>
              <a:t>人会充满斗志而转向发奋图强，发奋图强获得进步之后又会充满斗志预备下一次发奋图强，或者发奋图强后遇到阻碍会进入失落状态，然后在别人的开导之下又重新充满斗志。类比进程，会由就绪态转向运行态，运行态转向就绪态</a:t>
            </a:r>
            <a:r>
              <a:rPr lang="en-US" altLang="zh-CN" sz="2400"/>
              <a:t>,</a:t>
            </a:r>
            <a:r>
              <a:rPr lang="zh-CN" altLang="en-US" sz="2400"/>
              <a:t>或者运行态转向阻塞态</a:t>
            </a:r>
            <a:r>
              <a:rPr lang="en-US" altLang="zh-CN" sz="2400"/>
              <a:t>,</a:t>
            </a:r>
            <a:r>
              <a:rPr lang="zh-CN" altLang="en-US" sz="2400"/>
              <a:t>然后在别的进程帮助下返回就绪态。</a:t>
            </a:r>
            <a:endParaRPr lang="zh-CN" altLang="en-US" sz="2400"/>
          </a:p>
          <a:p>
            <a:endParaRPr lang="zh-CN" altLang="en-US" sz="2400"/>
          </a:p>
          <a:p>
            <a:r>
              <a:rPr lang="en-US" altLang="zh-CN" sz="2400"/>
              <a:t>   </a:t>
            </a:r>
            <a:r>
              <a:rPr lang="zh-CN" altLang="en-US" sz="2400"/>
              <a:t>当然中间某个阶段可能会出现严重身体健康问题，需要住院，恢复健康或有后遗症，可以比作挂起</a:t>
            </a:r>
            <a:r>
              <a:rPr lang="zh-CN" altLang="en-US" sz="2400"/>
              <a:t>状态。</a:t>
            </a:r>
            <a:endParaRPr lang="zh-CN" alt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solidFill>
                  <a:srgbClr val="0000FF"/>
                </a:solidFill>
                <a:latin typeface="+mj-ea"/>
              </a:rPr>
              <a:t>2.3 </a:t>
            </a:r>
            <a:r>
              <a:rPr lang="zh-CN" altLang="en-US" sz="2400" dirty="0">
                <a:solidFill>
                  <a:srgbClr val="0000FF"/>
                </a:solidFill>
                <a:latin typeface="+mj-ea"/>
              </a:rPr>
              <a:t>进程控制</a:t>
            </a:r>
            <a:endParaRPr lang="zh-CN" altLang="en-US" sz="2400" dirty="0">
              <a:solidFill>
                <a:srgbClr val="0000FF"/>
              </a:solidFill>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进程控制</a:t>
            </a:r>
            <a:endParaRPr lang="zh-CN" altLang="en-US" sz="2800" b="1" dirty="0">
              <a:solidFill>
                <a:schemeClr val="bg1"/>
              </a:solidFill>
            </a:endParaRPr>
          </a:p>
        </p:txBody>
      </p:sp>
      <p:sp>
        <p:nvSpPr>
          <p:cNvPr id="26" name="内容占位符 2"/>
          <p:cNvSpPr txBox="1"/>
          <p:nvPr/>
        </p:nvSpPr>
        <p:spPr>
          <a:xfrm>
            <a:off x="361950" y="1130300"/>
            <a:ext cx="10634345" cy="15989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Clr>
                <a:srgbClr val="FF0000"/>
              </a:buClr>
              <a:buFont typeface="Wingdings" panose="05000000000000000000" pitchFamily="2" charset="2"/>
              <a:buChar char="n"/>
            </a:pPr>
            <a:r>
              <a:rPr lang="zh-CN" altLang="en-US" sz="2800" dirty="0">
                <a:sym typeface="+mn-ea"/>
              </a:rPr>
              <a:t>进程控制就是对系统中的所有</a:t>
            </a:r>
            <a:r>
              <a:rPr lang="zh-CN" altLang="en-US" sz="2800" dirty="0"/>
              <a:t>进程进行有效管理</a:t>
            </a:r>
            <a:endParaRPr lang="zh-CN" altLang="en-US" sz="2800" dirty="0"/>
          </a:p>
          <a:p>
            <a:pPr>
              <a:lnSpc>
                <a:spcPct val="150000"/>
              </a:lnSpc>
              <a:spcBef>
                <a:spcPts val="0"/>
              </a:spcBef>
              <a:buClr>
                <a:srgbClr val="FF0000"/>
              </a:buClr>
              <a:buFont typeface="Wingdings" panose="05000000000000000000" pitchFamily="2" charset="2"/>
              <a:buChar char="n"/>
            </a:pPr>
            <a:r>
              <a:rPr lang="zh-CN" altLang="en-US" sz="2800" dirty="0"/>
              <a:t>一般由</a:t>
            </a:r>
            <a:r>
              <a:rPr lang="en-US" altLang="zh-CN" sz="2800" dirty="0"/>
              <a:t>OS</a:t>
            </a:r>
            <a:r>
              <a:rPr lang="zh-CN" altLang="en-US" sz="2800" dirty="0"/>
              <a:t>内核中的原语实现</a:t>
            </a:r>
            <a:endParaRPr lang="en-US" altLang="zh-CN" sz="2800" dirty="0"/>
          </a:p>
          <a:p>
            <a:pPr>
              <a:lnSpc>
                <a:spcPct val="150000"/>
              </a:lnSpc>
              <a:spcBef>
                <a:spcPts val="0"/>
              </a:spcBef>
              <a:buClr>
                <a:srgbClr val="FF0000"/>
              </a:buClr>
              <a:buFont typeface="Wingdings" panose="05000000000000000000" pitchFamily="2" charset="2"/>
              <a:buChar char="n"/>
            </a:pPr>
            <a:r>
              <a:rPr lang="zh-CN" altLang="en-US" sz="2800" dirty="0">
                <a:solidFill>
                  <a:srgbClr val="FF0000"/>
                </a:solidFill>
              </a:rPr>
              <a:t>管理</a:t>
            </a:r>
            <a:r>
              <a:rPr lang="zh-CN" altLang="en-US" sz="2800" dirty="0">
                <a:solidFill>
                  <a:srgbClr val="FF0000"/>
                </a:solidFill>
              </a:rPr>
              <a:t>功能包括：</a:t>
            </a:r>
            <a:endParaRPr lang="zh-CN" altLang="en-US" sz="2800" dirty="0">
              <a:solidFill>
                <a:srgbClr val="FF0000"/>
              </a:solidFill>
            </a:endParaRPr>
          </a:p>
        </p:txBody>
      </p:sp>
      <p:grpSp>
        <p:nvGrpSpPr>
          <p:cNvPr id="29"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801891" y="3114239"/>
            <a:ext cx="10845800" cy="2533182"/>
            <a:chOff x="673100" y="1929384"/>
            <a:chExt cx="10845800" cy="2533182"/>
          </a:xfrm>
        </p:grpSpPr>
        <p:sp>
          <p:nvSpPr>
            <p:cNvPr id="3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5"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43" name="ï$1iḍe"/>
            <p:cNvSpPr txBox="1"/>
            <p:nvPr/>
          </p:nvSpPr>
          <p:spPr>
            <a:xfrm>
              <a:off x="67310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进程创建</a:t>
              </a:r>
              <a:endParaRPr lang="zh-CN" altLang="en-US" sz="2400" dirty="0"/>
            </a:p>
          </p:txBody>
        </p:sp>
        <p:sp>
          <p:nvSpPr>
            <p:cNvPr id="45" name="íṩ1ïḑe"/>
            <p:cNvSpPr txBox="1"/>
            <p:nvPr/>
          </p:nvSpPr>
          <p:spPr>
            <a:xfrm>
              <a:off x="350294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进程终止</a:t>
              </a:r>
              <a:endParaRPr lang="zh-CN" altLang="en-US" sz="2400" dirty="0"/>
            </a:p>
          </p:txBody>
        </p:sp>
        <p:sp>
          <p:nvSpPr>
            <p:cNvPr id="46" name="ïsḻiďê"/>
            <p:cNvSpPr txBox="1"/>
            <p:nvPr/>
          </p:nvSpPr>
          <p:spPr>
            <a:xfrm>
              <a:off x="633278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进程阻塞与唤醒</a:t>
              </a:r>
              <a:endParaRPr lang="zh-CN" altLang="en-US" sz="2400" dirty="0"/>
            </a:p>
          </p:txBody>
        </p:sp>
        <p:sp>
          <p:nvSpPr>
            <p:cNvPr id="47" name="isḷiḋé"/>
            <p:cNvSpPr txBox="1"/>
            <p:nvPr/>
          </p:nvSpPr>
          <p:spPr>
            <a:xfrm>
              <a:off x="9162620" y="4070054"/>
              <a:ext cx="2356280" cy="392512"/>
            </a:xfrm>
            <a:prstGeom prst="rect">
              <a:avLst/>
            </a:prstGeom>
            <a:noFill/>
            <a:ln>
              <a:noFill/>
            </a:ln>
          </p:spPr>
          <p:txBody>
            <a:bodyPr wrap="square" lIns="91440" tIns="45720" rIns="91440" bIns="45720" anchor="t" anchorCtr="0">
              <a:noAutofit/>
            </a:bodyPr>
            <a:lstStyle/>
            <a:p>
              <a:pPr algn="ctr"/>
              <a:r>
                <a:rPr lang="zh-CN" altLang="en-US" sz="2400" dirty="0"/>
                <a:t>进程挂起与激活</a:t>
              </a:r>
              <a:endParaRPr lang="zh-CN" altLang="en-US" sz="2400" dirty="0"/>
            </a:p>
          </p:txBody>
        </p:sp>
        <p:sp>
          <p:nvSpPr>
            <p:cNvPr id="4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4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0"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51"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进程创建（</a:t>
            </a:r>
            <a:r>
              <a:rPr lang="en-US" altLang="zh-CN" sz="2800" b="1" dirty="0">
                <a:solidFill>
                  <a:schemeClr val="bg1"/>
                </a:solidFill>
              </a:rPr>
              <a:t>Create</a:t>
            </a:r>
            <a:r>
              <a:rPr lang="zh-CN" altLang="en-US" sz="2800" b="1" dirty="0">
                <a:solidFill>
                  <a:schemeClr val="bg1"/>
                </a:solidFill>
              </a:rPr>
              <a:t>）</a:t>
            </a:r>
            <a:endParaRPr lang="zh-CN" altLang="en-US" sz="2800" b="1" dirty="0">
              <a:solidFill>
                <a:schemeClr val="bg1"/>
              </a:solidFill>
            </a:endParaRPr>
          </a:p>
        </p:txBody>
      </p:sp>
      <p:sp>
        <p:nvSpPr>
          <p:cNvPr id="26" name="内容占位符 2"/>
          <p:cNvSpPr txBox="1"/>
          <p:nvPr/>
        </p:nvSpPr>
        <p:spPr>
          <a:xfrm>
            <a:off x="162560" y="944880"/>
            <a:ext cx="6740525" cy="53549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Wingdings" panose="05000000000000000000" pitchFamily="2" charset="2"/>
              <a:buChar char="n"/>
            </a:pPr>
            <a:r>
              <a:rPr lang="zh-CN" altLang="en-US" sz="2800" dirty="0"/>
              <a:t>进程图</a:t>
            </a:r>
            <a:endParaRPr lang="zh-CN" altLang="en-US" sz="2800" dirty="0"/>
          </a:p>
          <a:p>
            <a:pPr lvl="1" indent="-467995">
              <a:lnSpc>
                <a:spcPct val="150000"/>
              </a:lnSpc>
              <a:spcBef>
                <a:spcPts val="0"/>
              </a:spcBef>
              <a:buClr>
                <a:srgbClr val="FF0000"/>
              </a:buClr>
              <a:buFont typeface="Wingdings" panose="05000000000000000000" pitchFamily="2" charset="2"/>
              <a:buChar char="Ø"/>
            </a:pPr>
            <a:r>
              <a:rPr lang="zh-CN" altLang="en-US" sz="2800" dirty="0"/>
              <a:t>描述进程家族关系的有向树</a:t>
            </a:r>
            <a:endParaRPr lang="zh-CN" altLang="en-US" sz="2800" dirty="0"/>
          </a:p>
          <a:p>
            <a:pPr lvl="1" indent="-467995">
              <a:lnSpc>
                <a:spcPct val="150000"/>
              </a:lnSpc>
              <a:spcBef>
                <a:spcPts val="0"/>
              </a:spcBef>
              <a:buClr>
                <a:srgbClr val="FF0000"/>
              </a:buClr>
              <a:buFont typeface="Wingdings" panose="05000000000000000000" pitchFamily="2" charset="2"/>
              <a:buChar char="Ø"/>
            </a:pPr>
            <a:r>
              <a:rPr lang="zh-CN" altLang="en-US" sz="2800" dirty="0"/>
              <a:t>子进程可以继承父进程的资源</a:t>
            </a:r>
            <a:endParaRPr lang="zh-CN" altLang="en-US" sz="2800" dirty="0"/>
          </a:p>
          <a:p>
            <a:pPr lvl="1" indent="-467995">
              <a:lnSpc>
                <a:spcPct val="150000"/>
              </a:lnSpc>
              <a:spcBef>
                <a:spcPts val="0"/>
              </a:spcBef>
              <a:buClr>
                <a:srgbClr val="FF0000"/>
              </a:buClr>
              <a:buFont typeface="Wingdings" panose="05000000000000000000" pitchFamily="2" charset="2"/>
              <a:buChar char="Ø"/>
            </a:pPr>
            <a:r>
              <a:rPr lang="zh-CN" altLang="en-US" sz="2800" dirty="0"/>
              <a:t>子进程被撤销时，应将从父进程获得的资源归还父进程</a:t>
            </a:r>
            <a:endParaRPr lang="zh-CN" altLang="en-US" sz="2800" dirty="0"/>
          </a:p>
          <a:p>
            <a:pPr lvl="1" indent="-467995">
              <a:lnSpc>
                <a:spcPct val="150000"/>
              </a:lnSpc>
              <a:spcBef>
                <a:spcPts val="0"/>
              </a:spcBef>
              <a:buClr>
                <a:srgbClr val="FF0000"/>
              </a:buClr>
              <a:buFont typeface="Wingdings" panose="05000000000000000000" pitchFamily="2" charset="2"/>
              <a:buChar char="Ø"/>
            </a:pPr>
            <a:r>
              <a:rPr lang="zh-CN" altLang="en-US" sz="2800" dirty="0"/>
              <a:t>父进程被撤销时，</a:t>
            </a:r>
            <a:r>
              <a:rPr lang="zh-CN" altLang="en-US" sz="2800" dirty="0"/>
              <a:t>应同时撤销所有子进程</a:t>
            </a:r>
            <a:endParaRPr lang="zh-CN" altLang="en-US" sz="2800" dirty="0"/>
          </a:p>
          <a:p>
            <a:pPr lvl="1" indent="-467995">
              <a:lnSpc>
                <a:spcPct val="150000"/>
              </a:lnSpc>
              <a:spcBef>
                <a:spcPts val="0"/>
              </a:spcBef>
              <a:buClr>
                <a:srgbClr val="FF0000"/>
              </a:buClr>
              <a:buFont typeface="Wingdings" panose="05000000000000000000" pitchFamily="2" charset="2"/>
              <a:buChar char="Ø"/>
            </a:pPr>
            <a:endParaRPr lang="zh-CN" altLang="en-US" sz="2800" dirty="0"/>
          </a:p>
          <a:p>
            <a:pPr marL="217805" lvl="1" indent="0">
              <a:lnSpc>
                <a:spcPct val="150000"/>
              </a:lnSpc>
              <a:spcBef>
                <a:spcPts val="0"/>
              </a:spcBef>
              <a:buClr>
                <a:srgbClr val="FF0000"/>
              </a:buClr>
              <a:buNone/>
            </a:pPr>
            <a:endParaRPr lang="zh-CN" sz="2800" dirty="0">
              <a:solidFill>
                <a:srgbClr val="FF0000"/>
              </a:solidFill>
            </a:endParaRPr>
          </a:p>
        </p:txBody>
      </p:sp>
      <p:grpSp>
        <p:nvGrpSpPr>
          <p:cNvPr id="29" name="Group 6"/>
          <p:cNvGrpSpPr/>
          <p:nvPr/>
        </p:nvGrpSpPr>
        <p:grpSpPr bwMode="auto">
          <a:xfrm>
            <a:off x="7065010" y="807720"/>
            <a:ext cx="4936490" cy="3247390"/>
            <a:chOff x="2400" y="816"/>
            <a:chExt cx="2736" cy="2064"/>
          </a:xfrm>
        </p:grpSpPr>
        <p:sp>
          <p:nvSpPr>
            <p:cNvPr id="32" name="Oval 7"/>
            <p:cNvSpPr>
              <a:spLocks noChangeArrowheads="1"/>
            </p:cNvSpPr>
            <p:nvPr/>
          </p:nvSpPr>
          <p:spPr bwMode="auto">
            <a:xfrm>
              <a:off x="3600" y="816"/>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A</a:t>
              </a:r>
              <a:endParaRPr lang="en-US" altLang="zh-CN" sz="1800">
                <a:latin typeface="Arial" panose="020B0604020202020204" pitchFamily="34" charset="0"/>
              </a:endParaRPr>
            </a:p>
          </p:txBody>
        </p:sp>
        <p:sp>
          <p:nvSpPr>
            <p:cNvPr id="35" name="Oval 8"/>
            <p:cNvSpPr>
              <a:spLocks noChangeArrowheads="1"/>
            </p:cNvSpPr>
            <p:nvPr/>
          </p:nvSpPr>
          <p:spPr bwMode="auto">
            <a:xfrm>
              <a:off x="292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B</a:t>
              </a:r>
              <a:endParaRPr lang="en-US" altLang="zh-CN" sz="1800">
                <a:latin typeface="Arial" panose="020B0604020202020204" pitchFamily="34" charset="0"/>
              </a:endParaRPr>
            </a:p>
          </p:txBody>
        </p:sp>
        <p:sp>
          <p:nvSpPr>
            <p:cNvPr id="40" name="Oval 9"/>
            <p:cNvSpPr>
              <a:spLocks noChangeArrowheads="1"/>
            </p:cNvSpPr>
            <p:nvPr/>
          </p:nvSpPr>
          <p:spPr bwMode="auto">
            <a:xfrm>
              <a:off x="4368" y="124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C</a:t>
              </a:r>
              <a:endParaRPr lang="en-US" altLang="zh-CN" sz="1800">
                <a:latin typeface="Arial" panose="020B0604020202020204" pitchFamily="34" charset="0"/>
              </a:endParaRPr>
            </a:p>
          </p:txBody>
        </p:sp>
        <p:sp>
          <p:nvSpPr>
            <p:cNvPr id="41" name="Oval 10"/>
            <p:cNvSpPr>
              <a:spLocks noChangeArrowheads="1"/>
            </p:cNvSpPr>
            <p:nvPr/>
          </p:nvSpPr>
          <p:spPr bwMode="auto">
            <a:xfrm>
              <a:off x="259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D</a:t>
              </a:r>
              <a:endParaRPr lang="en-US" altLang="zh-CN" sz="1800">
                <a:latin typeface="Arial" panose="020B0604020202020204" pitchFamily="34" charset="0"/>
              </a:endParaRPr>
            </a:p>
          </p:txBody>
        </p:sp>
        <p:sp>
          <p:nvSpPr>
            <p:cNvPr id="42" name="Oval 11"/>
            <p:cNvSpPr>
              <a:spLocks noChangeArrowheads="1"/>
            </p:cNvSpPr>
            <p:nvPr/>
          </p:nvSpPr>
          <p:spPr bwMode="auto">
            <a:xfrm>
              <a:off x="3312"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E</a:t>
              </a:r>
              <a:endParaRPr lang="en-US" altLang="zh-CN" sz="1800">
                <a:latin typeface="Arial" panose="020B0604020202020204" pitchFamily="34" charset="0"/>
              </a:endParaRPr>
            </a:p>
          </p:txBody>
        </p:sp>
        <p:sp>
          <p:nvSpPr>
            <p:cNvPr id="43" name="Oval 12"/>
            <p:cNvSpPr>
              <a:spLocks noChangeArrowheads="1"/>
            </p:cNvSpPr>
            <p:nvPr/>
          </p:nvSpPr>
          <p:spPr bwMode="auto">
            <a:xfrm>
              <a:off x="388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F</a:t>
              </a:r>
              <a:endParaRPr lang="en-US" altLang="zh-CN" sz="1800">
                <a:latin typeface="Arial" panose="020B0604020202020204" pitchFamily="34" charset="0"/>
              </a:endParaRPr>
            </a:p>
          </p:txBody>
        </p:sp>
        <p:sp>
          <p:nvSpPr>
            <p:cNvPr id="44" name="Oval 13"/>
            <p:cNvSpPr>
              <a:spLocks noChangeArrowheads="1"/>
            </p:cNvSpPr>
            <p:nvPr/>
          </p:nvSpPr>
          <p:spPr bwMode="auto">
            <a:xfrm>
              <a:off x="436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20204" pitchFamily="34" charset="0"/>
                </a:rPr>
                <a:t>G</a:t>
              </a:r>
              <a:endParaRPr lang="en-US" altLang="zh-CN" sz="1800" dirty="0">
                <a:latin typeface="Arial" panose="020B0604020202020204" pitchFamily="34" charset="0"/>
              </a:endParaRPr>
            </a:p>
          </p:txBody>
        </p:sp>
        <p:sp>
          <p:nvSpPr>
            <p:cNvPr id="45" name="Oval 14"/>
            <p:cNvSpPr>
              <a:spLocks noChangeArrowheads="1"/>
            </p:cNvSpPr>
            <p:nvPr/>
          </p:nvSpPr>
          <p:spPr bwMode="auto">
            <a:xfrm>
              <a:off x="4848" y="1968"/>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dirty="0">
                  <a:latin typeface="Arial" panose="020B0604020202020204" pitchFamily="34" charset="0"/>
                </a:rPr>
                <a:t>H</a:t>
              </a:r>
              <a:endParaRPr lang="en-US" altLang="zh-CN" sz="1800" dirty="0">
                <a:latin typeface="Arial" panose="020B0604020202020204" pitchFamily="34" charset="0"/>
              </a:endParaRPr>
            </a:p>
          </p:txBody>
        </p:sp>
        <p:sp>
          <p:nvSpPr>
            <p:cNvPr id="46" name="Oval 15"/>
            <p:cNvSpPr>
              <a:spLocks noChangeArrowheads="1"/>
            </p:cNvSpPr>
            <p:nvPr/>
          </p:nvSpPr>
          <p:spPr bwMode="auto">
            <a:xfrm>
              <a:off x="4176"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L</a:t>
              </a:r>
              <a:endParaRPr lang="en-US" altLang="zh-CN" sz="1800">
                <a:latin typeface="Arial" panose="020B0604020202020204" pitchFamily="34" charset="0"/>
              </a:endParaRPr>
            </a:p>
          </p:txBody>
        </p:sp>
        <p:sp>
          <p:nvSpPr>
            <p:cNvPr id="47" name="Oval 16"/>
            <p:cNvSpPr>
              <a:spLocks noChangeArrowheads="1"/>
            </p:cNvSpPr>
            <p:nvPr/>
          </p:nvSpPr>
          <p:spPr bwMode="auto">
            <a:xfrm>
              <a:off x="4608" y="2544"/>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M</a:t>
              </a:r>
              <a:endParaRPr lang="en-US" altLang="zh-CN" sz="1800">
                <a:latin typeface="Arial" panose="020B0604020202020204" pitchFamily="34" charset="0"/>
              </a:endParaRPr>
            </a:p>
          </p:txBody>
        </p:sp>
        <p:sp>
          <p:nvSpPr>
            <p:cNvPr id="48" name="Oval 17"/>
            <p:cNvSpPr>
              <a:spLocks noChangeArrowheads="1"/>
            </p:cNvSpPr>
            <p:nvPr/>
          </p:nvSpPr>
          <p:spPr bwMode="auto">
            <a:xfrm>
              <a:off x="240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I</a:t>
              </a:r>
              <a:endParaRPr lang="en-US" altLang="zh-CN" sz="1800">
                <a:latin typeface="Arial" panose="020B0604020202020204" pitchFamily="34" charset="0"/>
              </a:endParaRPr>
            </a:p>
          </p:txBody>
        </p:sp>
        <p:sp>
          <p:nvSpPr>
            <p:cNvPr id="49" name="Oval 18"/>
            <p:cNvSpPr>
              <a:spLocks noChangeArrowheads="1"/>
            </p:cNvSpPr>
            <p:nvPr/>
          </p:nvSpPr>
          <p:spPr bwMode="auto">
            <a:xfrm>
              <a:off x="2880"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J</a:t>
              </a:r>
              <a:endParaRPr lang="en-US" altLang="zh-CN" sz="1800">
                <a:latin typeface="Arial" panose="020B0604020202020204" pitchFamily="34" charset="0"/>
              </a:endParaRPr>
            </a:p>
          </p:txBody>
        </p:sp>
        <p:sp>
          <p:nvSpPr>
            <p:cNvPr id="50" name="Oval 19"/>
            <p:cNvSpPr>
              <a:spLocks noChangeArrowheads="1"/>
            </p:cNvSpPr>
            <p:nvPr/>
          </p:nvSpPr>
          <p:spPr bwMode="auto">
            <a:xfrm>
              <a:off x="3552" y="2592"/>
              <a:ext cx="288" cy="288"/>
            </a:xfrm>
            <a:prstGeom prst="ellipse">
              <a:avLst/>
            </a:prstGeom>
            <a:solidFill>
              <a:srgbClr val="FFFF00"/>
            </a:solidFill>
            <a:ln w="9525">
              <a:solidFill>
                <a:srgbClr val="27FFB7"/>
              </a:solidFill>
              <a:round/>
            </a:ln>
          </p:spPr>
          <p:txBody>
            <a:bodyPr wrap="none" lIns="92075" tIns="46038" rIns="92075" bIns="46038"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ea typeface="宋体" panose="02010600030101010101" pitchFamily="2" charset="-122"/>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ea typeface="宋体" panose="02010600030101010101" pitchFamily="2" charset="-122"/>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ea typeface="宋体" panose="02010600030101010101" pitchFamily="2" charset="-122"/>
                </a:defRPr>
              </a:lvl4pPr>
              <a:lvl5pPr marL="2057400" indent="-228600">
                <a:spcBef>
                  <a:spcPts val="375"/>
                </a:spcBef>
                <a:buClr>
                  <a:srgbClr val="A28E6A"/>
                </a:buClr>
                <a:buChar char="o"/>
                <a:defRPr sz="2000">
                  <a:solidFill>
                    <a:schemeClr val="tx1"/>
                  </a:solidFill>
                  <a:latin typeface="Perpetua" panose="02020502060401020303" pitchFamily="18" charset="0"/>
                  <a:ea typeface="宋体" panose="02010600030101010101" pitchFamily="2" charset="-122"/>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ea typeface="宋体" panose="02010600030101010101" pitchFamily="2" charset="-122"/>
                </a:defRPr>
              </a:lvl9pPr>
            </a:lstStyle>
            <a:p>
              <a:pPr algn="ctr" eaLnBrk="1" hangingPunct="1">
                <a:spcBef>
                  <a:spcPct val="0"/>
                </a:spcBef>
                <a:buClrTx/>
                <a:buSzTx/>
                <a:buFont typeface="Monotype Sorts" pitchFamily="2" charset="2"/>
                <a:buNone/>
              </a:pPr>
              <a:r>
                <a:rPr lang="en-US" altLang="zh-CN" sz="1800">
                  <a:latin typeface="Arial" panose="020B0604020202020204" pitchFamily="34" charset="0"/>
                </a:rPr>
                <a:t>K</a:t>
              </a:r>
              <a:endParaRPr lang="en-US" altLang="zh-CN" sz="1800">
                <a:latin typeface="Arial" panose="020B0604020202020204" pitchFamily="34" charset="0"/>
              </a:endParaRPr>
            </a:p>
          </p:txBody>
        </p:sp>
        <p:cxnSp>
          <p:nvCxnSpPr>
            <p:cNvPr id="51" name="AutoShape 20"/>
            <p:cNvCxnSpPr>
              <a:cxnSpLocks noChangeShapeType="1"/>
              <a:stCxn id="32" idx="3"/>
              <a:endCxn id="35" idx="7"/>
            </p:cNvCxnSpPr>
            <p:nvPr/>
          </p:nvCxnSpPr>
          <p:spPr bwMode="auto">
            <a:xfrm flipH="1">
              <a:off x="3174" y="1062"/>
              <a:ext cx="468"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2" name="AutoShape 21"/>
            <p:cNvCxnSpPr>
              <a:cxnSpLocks noChangeShapeType="1"/>
              <a:stCxn id="32" idx="5"/>
              <a:endCxn id="40" idx="1"/>
            </p:cNvCxnSpPr>
            <p:nvPr/>
          </p:nvCxnSpPr>
          <p:spPr bwMode="auto">
            <a:xfrm>
              <a:off x="3846" y="1062"/>
              <a:ext cx="564" cy="22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3" name="AutoShape 22"/>
            <p:cNvCxnSpPr>
              <a:cxnSpLocks noChangeShapeType="1"/>
              <a:stCxn id="35" idx="3"/>
              <a:endCxn id="41" idx="0"/>
            </p:cNvCxnSpPr>
            <p:nvPr/>
          </p:nvCxnSpPr>
          <p:spPr bwMode="auto">
            <a:xfrm flipH="1">
              <a:off x="2736" y="1494"/>
              <a:ext cx="234"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4" name="AutoShape 23"/>
            <p:cNvCxnSpPr>
              <a:cxnSpLocks noChangeShapeType="1"/>
              <a:stCxn id="42" idx="0"/>
              <a:endCxn id="35" idx="5"/>
            </p:cNvCxnSpPr>
            <p:nvPr/>
          </p:nvCxnSpPr>
          <p:spPr bwMode="auto">
            <a:xfrm flipH="1" flipV="1">
              <a:off x="3174" y="1494"/>
              <a:ext cx="282"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5" name="AutoShape 24"/>
            <p:cNvCxnSpPr>
              <a:cxnSpLocks noChangeShapeType="1"/>
              <a:stCxn id="40" idx="3"/>
              <a:endCxn id="43" idx="0"/>
            </p:cNvCxnSpPr>
            <p:nvPr/>
          </p:nvCxnSpPr>
          <p:spPr bwMode="auto">
            <a:xfrm flipH="1">
              <a:off x="4032"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6" name="AutoShape 25"/>
            <p:cNvCxnSpPr>
              <a:cxnSpLocks noChangeShapeType="1"/>
              <a:stCxn id="40" idx="4"/>
              <a:endCxn id="44" idx="0"/>
            </p:cNvCxnSpPr>
            <p:nvPr/>
          </p:nvCxnSpPr>
          <p:spPr bwMode="auto">
            <a:xfrm>
              <a:off x="4512" y="1536"/>
              <a:ext cx="0" cy="432"/>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7" name="AutoShape 26"/>
            <p:cNvCxnSpPr>
              <a:cxnSpLocks noChangeShapeType="1"/>
              <a:stCxn id="40" idx="5"/>
              <a:endCxn id="45" idx="0"/>
            </p:cNvCxnSpPr>
            <p:nvPr/>
          </p:nvCxnSpPr>
          <p:spPr bwMode="auto">
            <a:xfrm>
              <a:off x="4614" y="1494"/>
              <a:ext cx="378" cy="474"/>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8" name="AutoShape 27"/>
            <p:cNvCxnSpPr>
              <a:cxnSpLocks noChangeShapeType="1"/>
              <a:stCxn id="41" idx="3"/>
              <a:endCxn id="48" idx="0"/>
            </p:cNvCxnSpPr>
            <p:nvPr/>
          </p:nvCxnSpPr>
          <p:spPr bwMode="auto">
            <a:xfrm flipH="1">
              <a:off x="2544" y="2214"/>
              <a:ext cx="90"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59" name="AutoShape 28"/>
            <p:cNvCxnSpPr>
              <a:cxnSpLocks noChangeShapeType="1"/>
              <a:stCxn id="41" idx="5"/>
              <a:endCxn id="49" idx="0"/>
            </p:cNvCxnSpPr>
            <p:nvPr/>
          </p:nvCxnSpPr>
          <p:spPr bwMode="auto">
            <a:xfrm>
              <a:off x="2838" y="2214"/>
              <a:ext cx="186"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0" name="AutoShape 29"/>
            <p:cNvCxnSpPr>
              <a:cxnSpLocks noChangeShapeType="1"/>
              <a:stCxn id="42" idx="5"/>
              <a:endCxn id="50" idx="0"/>
            </p:cNvCxnSpPr>
            <p:nvPr/>
          </p:nvCxnSpPr>
          <p:spPr bwMode="auto">
            <a:xfrm>
              <a:off x="3558" y="2214"/>
              <a:ext cx="138" cy="378"/>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1" name="AutoShape 30"/>
            <p:cNvCxnSpPr>
              <a:cxnSpLocks noChangeShapeType="1"/>
              <a:stCxn id="44" idx="3"/>
              <a:endCxn id="46" idx="0"/>
            </p:cNvCxnSpPr>
            <p:nvPr/>
          </p:nvCxnSpPr>
          <p:spPr bwMode="auto">
            <a:xfrm flipH="1">
              <a:off x="4320" y="2214"/>
              <a:ext cx="90"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cxnSp>
          <p:nvCxnSpPr>
            <p:cNvPr id="62" name="AutoShape 31"/>
            <p:cNvCxnSpPr>
              <a:cxnSpLocks noChangeShapeType="1"/>
              <a:stCxn id="44" idx="5"/>
              <a:endCxn id="47" idx="0"/>
            </p:cNvCxnSpPr>
            <p:nvPr/>
          </p:nvCxnSpPr>
          <p:spPr bwMode="auto">
            <a:xfrm>
              <a:off x="4614" y="2214"/>
              <a:ext cx="138" cy="330"/>
            </a:xfrm>
            <a:prstGeom prst="straightConnector1">
              <a:avLst/>
            </a:prstGeom>
            <a:noFill/>
            <a:ln w="28575">
              <a:solidFill>
                <a:srgbClr val="27FFB7"/>
              </a:solidFill>
              <a:round/>
            </a:ln>
            <a:extLst>
              <a:ext uri="{909E8E84-426E-40DD-AFC4-6F175D3DCCD1}">
                <a14:hiddenFill xmlns:a14="http://schemas.microsoft.com/office/drawing/2010/main">
                  <a:noFill/>
                </a14:hiddenFill>
              </a:ext>
            </a:extLst>
          </p:spPr>
        </p:cxn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进程创建（</a:t>
            </a:r>
            <a:r>
              <a:rPr lang="en-US" altLang="zh-CN" sz="2800" b="1" dirty="0">
                <a:solidFill>
                  <a:schemeClr val="bg1"/>
                </a:solidFill>
              </a:rPr>
              <a:t>Create</a:t>
            </a:r>
            <a:r>
              <a:rPr lang="zh-CN" altLang="en-US" sz="2800" b="1" dirty="0">
                <a:solidFill>
                  <a:schemeClr val="bg1"/>
                </a:solidFill>
              </a:rPr>
              <a:t>）</a:t>
            </a:r>
            <a:endParaRPr lang="zh-CN" altLang="en-US" sz="2800" b="1" dirty="0">
              <a:solidFill>
                <a:schemeClr val="bg1"/>
              </a:solidFill>
            </a:endParaRPr>
          </a:p>
        </p:txBody>
      </p:sp>
      <p:sp>
        <p:nvSpPr>
          <p:cNvPr id="26" name="内容占位符 2"/>
          <p:cNvSpPr txBox="1"/>
          <p:nvPr/>
        </p:nvSpPr>
        <p:spPr>
          <a:xfrm>
            <a:off x="669925" y="1402715"/>
            <a:ext cx="9909175" cy="21609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Wingdings" panose="05000000000000000000" pitchFamily="2" charset="2"/>
              <a:buChar char="n"/>
            </a:pPr>
            <a:r>
              <a:rPr lang="zh-CN" altLang="en-US" sz="3200" dirty="0"/>
              <a:t>引起进程创建的事件</a:t>
            </a:r>
            <a:r>
              <a:rPr lang="zh-CN" altLang="en-US" sz="3200" dirty="0">
                <a:solidFill>
                  <a:srgbClr val="FF0000"/>
                </a:solidFill>
                <a:sym typeface="+mn-ea"/>
              </a:rPr>
              <a:t>（</a:t>
            </a:r>
            <a:r>
              <a:rPr lang="zh-CN" altLang="en-US" sz="3200" dirty="0">
                <a:solidFill>
                  <a:schemeClr val="accent4">
                    <a:lumMod val="60000"/>
                    <a:lumOff val="40000"/>
                  </a:schemeClr>
                </a:solidFill>
                <a:sym typeface="+mn-ea"/>
              </a:rPr>
              <a:t>课后习题</a:t>
            </a:r>
            <a:r>
              <a:rPr lang="en-US" altLang="zh-CN" sz="3200" dirty="0">
                <a:solidFill>
                  <a:schemeClr val="accent4">
                    <a:lumMod val="60000"/>
                    <a:lumOff val="40000"/>
                  </a:schemeClr>
                </a:solidFill>
                <a:sym typeface="+mn-ea"/>
              </a:rPr>
              <a:t>7</a:t>
            </a:r>
            <a:r>
              <a:rPr lang="zh-CN" altLang="en-US" sz="3200" dirty="0">
                <a:solidFill>
                  <a:srgbClr val="FF0000"/>
                </a:solidFill>
                <a:sym typeface="+mn-ea"/>
              </a:rPr>
              <a:t>）</a:t>
            </a:r>
            <a:endParaRPr lang="zh-CN" altLang="en-US" sz="3200" dirty="0"/>
          </a:p>
          <a:p>
            <a:pPr lvl="1" indent="-467995">
              <a:lnSpc>
                <a:spcPct val="150000"/>
              </a:lnSpc>
              <a:spcBef>
                <a:spcPts val="0"/>
              </a:spcBef>
              <a:buClr>
                <a:srgbClr val="FF0000"/>
              </a:buClr>
              <a:buFont typeface="Wingdings" panose="05000000000000000000" pitchFamily="2" charset="2"/>
              <a:buChar char="Ø"/>
            </a:pPr>
            <a:r>
              <a:rPr lang="zh-CN" altLang="en-US" sz="3200" dirty="0"/>
              <a:t>用户登录、作业调度、提供服务、应用请求</a:t>
            </a:r>
            <a:endParaRPr lang="zh-CN" altLang="en-US" sz="3200" dirty="0"/>
          </a:p>
          <a:p>
            <a:pPr indent="-467995">
              <a:lnSpc>
                <a:spcPct val="150000"/>
              </a:lnSpc>
              <a:spcBef>
                <a:spcPts val="0"/>
              </a:spcBef>
              <a:buClr>
                <a:srgbClr val="FF0000"/>
              </a:buClr>
              <a:buFont typeface="Wingdings" panose="05000000000000000000" pitchFamily="2" charset="2"/>
              <a:buChar char="n"/>
            </a:pPr>
            <a:r>
              <a:rPr lang="zh-CN" altLang="en-US" sz="3200" dirty="0">
                <a:solidFill>
                  <a:srgbClr val="FF0000"/>
                </a:solidFill>
              </a:rPr>
              <a:t>进程创建过程：（</a:t>
            </a:r>
            <a:r>
              <a:rPr lang="zh-CN" altLang="en-US" sz="3200" dirty="0">
                <a:solidFill>
                  <a:schemeClr val="accent4">
                    <a:lumMod val="60000"/>
                    <a:lumOff val="40000"/>
                  </a:schemeClr>
                </a:solidFill>
              </a:rPr>
              <a:t>课后习题</a:t>
            </a:r>
            <a:r>
              <a:rPr lang="en-US" altLang="zh-CN" sz="3200" dirty="0">
                <a:solidFill>
                  <a:schemeClr val="accent4">
                    <a:lumMod val="60000"/>
                    <a:lumOff val="40000"/>
                  </a:schemeClr>
                </a:solidFill>
              </a:rPr>
              <a:t>8</a:t>
            </a:r>
            <a:r>
              <a:rPr lang="zh-CN" altLang="en-US" sz="3200" dirty="0">
                <a:solidFill>
                  <a:srgbClr val="FF0000"/>
                </a:solidFill>
              </a:rPr>
              <a:t>）</a:t>
            </a:r>
            <a:endParaRPr lang="zh-CN" altLang="en-US" sz="3200" dirty="0">
              <a:solidFill>
                <a:srgbClr val="FF0000"/>
              </a:solidFill>
            </a:endParaRPr>
          </a:p>
        </p:txBody>
      </p:sp>
      <p:sp>
        <p:nvSpPr>
          <p:cNvPr id="63" name="内容占位符 2"/>
          <p:cNvSpPr txBox="1"/>
          <p:nvPr/>
        </p:nvSpPr>
        <p:spPr>
          <a:xfrm>
            <a:off x="713754" y="4107504"/>
            <a:ext cx="2792468" cy="769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a:pPr>
            <a:r>
              <a:rPr lang="zh-CN" altLang="en-US" sz="2400" dirty="0"/>
              <a:t>申请空白</a:t>
            </a:r>
            <a:r>
              <a:rPr lang="en-US" altLang="zh-CN" sz="2400" dirty="0"/>
              <a:t>PCB</a:t>
            </a:r>
            <a:r>
              <a:rPr lang="zh-CN" altLang="en-US" sz="2400" dirty="0"/>
              <a:t>；</a:t>
            </a:r>
            <a:endParaRPr lang="zh-CN" altLang="en-US" sz="2400" dirty="0"/>
          </a:p>
        </p:txBody>
      </p:sp>
      <p:sp>
        <p:nvSpPr>
          <p:cNvPr id="64" name="内容占位符 2"/>
          <p:cNvSpPr txBox="1"/>
          <p:nvPr/>
        </p:nvSpPr>
        <p:spPr>
          <a:xfrm>
            <a:off x="3804373" y="4107808"/>
            <a:ext cx="2746256" cy="75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2"/>
            </a:pPr>
            <a:r>
              <a:rPr lang="zh-CN" altLang="en-US" sz="2400" dirty="0"/>
              <a:t>分配所需资源；</a:t>
            </a:r>
            <a:endParaRPr lang="zh-CN" altLang="en-US" sz="2400" dirty="0"/>
          </a:p>
        </p:txBody>
      </p:sp>
      <p:sp>
        <p:nvSpPr>
          <p:cNvPr id="65" name="内容占位符 2"/>
          <p:cNvSpPr txBox="1"/>
          <p:nvPr/>
        </p:nvSpPr>
        <p:spPr>
          <a:xfrm>
            <a:off x="6550439" y="4107504"/>
            <a:ext cx="2528994" cy="8740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3"/>
            </a:pPr>
            <a:r>
              <a:rPr lang="zh-CN" altLang="en-US" sz="2400" dirty="0"/>
              <a:t>初始化</a:t>
            </a:r>
            <a:r>
              <a:rPr lang="en-US" altLang="zh-CN" sz="2400" dirty="0"/>
              <a:t>PCB</a:t>
            </a:r>
            <a:r>
              <a:rPr lang="zh-CN" altLang="en-US" sz="2400" dirty="0"/>
              <a:t>；</a:t>
            </a:r>
            <a:endParaRPr lang="zh-CN" altLang="en-US" sz="2400" dirty="0"/>
          </a:p>
        </p:txBody>
      </p:sp>
      <p:sp>
        <p:nvSpPr>
          <p:cNvPr id="66" name="内容占位符 2"/>
          <p:cNvSpPr txBox="1"/>
          <p:nvPr/>
        </p:nvSpPr>
        <p:spPr>
          <a:xfrm>
            <a:off x="9191966" y="4120204"/>
            <a:ext cx="2646904" cy="7566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67995">
              <a:lnSpc>
                <a:spcPct val="150000"/>
              </a:lnSpc>
              <a:spcBef>
                <a:spcPts val="0"/>
              </a:spcBef>
              <a:buClr>
                <a:srgbClr val="FF0000"/>
              </a:buClr>
              <a:buFont typeface="+mj-ea"/>
              <a:buAutoNum type="circleNumDbPlain" startAt="4"/>
            </a:pPr>
            <a:r>
              <a:rPr lang="zh-CN" altLang="en-US" sz="2400" dirty="0"/>
              <a:t>插入就绪队列。</a:t>
            </a:r>
            <a:endParaRPr lang="zh-CN" altLang="en-US" sz="2400" dirty="0"/>
          </a:p>
        </p:txBody>
      </p:sp>
      <p:sp>
        <p:nvSpPr>
          <p:cNvPr id="2" name="圆角矩形标注 1"/>
          <p:cNvSpPr/>
          <p:nvPr/>
        </p:nvSpPr>
        <p:spPr>
          <a:xfrm>
            <a:off x="3329305" y="4877435"/>
            <a:ext cx="2931795" cy="984250"/>
          </a:xfrm>
          <a:prstGeom prst="wedgeRoundRectCallout">
            <a:avLst>
              <a:gd name="adj1" fmla="val 49733"/>
              <a:gd name="adj2" fmla="val -452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sym typeface="+mn-ea"/>
              </a:rPr>
              <a:t>包括内存空间、文件句柄、</a:t>
            </a:r>
            <a:r>
              <a:rPr lang="en-US" altLang="zh-CN" sz="2400">
                <a:sym typeface="+mn-ea"/>
              </a:rPr>
              <a:t>I/O</a:t>
            </a:r>
            <a:r>
              <a:rPr lang="zh-CN" altLang="en-US" sz="2400">
                <a:sym typeface="+mn-ea"/>
              </a:rPr>
              <a:t>设备等</a:t>
            </a:r>
            <a:endParaRPr lang="zh-CN" altLang="en-US" sz="2400"/>
          </a:p>
        </p:txBody>
      </p:sp>
      <p:sp>
        <p:nvSpPr>
          <p:cNvPr id="4" name="圆角矩形标注 3"/>
          <p:cNvSpPr/>
          <p:nvPr/>
        </p:nvSpPr>
        <p:spPr>
          <a:xfrm>
            <a:off x="6754495" y="4864735"/>
            <a:ext cx="2931795" cy="1374775"/>
          </a:xfrm>
          <a:prstGeom prst="wedgeRoundRectCallout">
            <a:avLst>
              <a:gd name="adj1" fmla="val 49733"/>
              <a:gd name="adj2" fmla="val -452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a:sym typeface="+mn-ea"/>
              </a:rPr>
              <a:t>如进程</a:t>
            </a:r>
            <a:r>
              <a:rPr lang="en-US" altLang="zh-CN" sz="2400">
                <a:sym typeface="+mn-ea"/>
              </a:rPr>
              <a:t>ID</a:t>
            </a:r>
            <a:r>
              <a:rPr lang="zh-CN" altLang="en-US" sz="2400">
                <a:sym typeface="+mn-ea"/>
              </a:rPr>
              <a:t>、状态（如就绪、运行、等待等）、优先等</a:t>
            </a:r>
            <a:endParaRPr lang="zh-CN"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进程终止</a:t>
            </a:r>
            <a:endParaRPr lang="zh-CN" altLang="en-US" sz="2800" b="1" dirty="0">
              <a:solidFill>
                <a:schemeClr val="bg1"/>
              </a:solidFill>
            </a:endParaRPr>
          </a:p>
        </p:txBody>
      </p:sp>
      <p:sp>
        <p:nvSpPr>
          <p:cNvPr id="26" name="内容占位符 2"/>
          <p:cNvSpPr txBox="1"/>
          <p:nvPr/>
        </p:nvSpPr>
        <p:spPr>
          <a:xfrm>
            <a:off x="6558280" y="2025650"/>
            <a:ext cx="2494915" cy="709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rgbClr val="FF0000"/>
              </a:buClr>
              <a:buNone/>
            </a:pPr>
            <a:r>
              <a:rPr lang="zh-CN" altLang="en-US" sz="3200" dirty="0"/>
              <a:t>（</a:t>
            </a:r>
            <a:r>
              <a:rPr lang="zh-CN" altLang="en-US" sz="3200" dirty="0">
                <a:solidFill>
                  <a:schemeClr val="accent4">
                    <a:lumMod val="60000"/>
                    <a:lumOff val="40000"/>
                  </a:schemeClr>
                </a:solidFill>
              </a:rPr>
              <a:t>课后习题</a:t>
            </a:r>
            <a:r>
              <a:rPr lang="en-US" altLang="zh-CN" sz="3200" dirty="0">
                <a:solidFill>
                  <a:schemeClr val="accent4">
                    <a:lumMod val="60000"/>
                    <a:lumOff val="40000"/>
                  </a:schemeClr>
                </a:solidFill>
              </a:rPr>
              <a:t>9</a:t>
            </a:r>
            <a:r>
              <a:rPr lang="zh-CN" altLang="en-US" sz="3200" dirty="0"/>
              <a:t>）</a:t>
            </a:r>
            <a:endParaRPr lang="en-US" altLang="zh-CN" sz="3200" dirty="0"/>
          </a:p>
          <a:p>
            <a:pPr marL="0" lvl="1" indent="0">
              <a:lnSpc>
                <a:spcPct val="150000"/>
              </a:lnSpc>
              <a:spcBef>
                <a:spcPts val="0"/>
              </a:spcBef>
              <a:buClr>
                <a:srgbClr val="FF0000"/>
              </a:buClr>
              <a:buNone/>
            </a:pPr>
            <a:endParaRPr lang="zh-CN" altLang="en-US" sz="3200" dirty="0">
              <a:solidFill>
                <a:srgbClr val="FF0000"/>
              </a:solidFill>
            </a:endParaRPr>
          </a:p>
        </p:txBody>
      </p:sp>
      <p:pic>
        <p:nvPicPr>
          <p:cNvPr id="2" name="图片 1"/>
          <p:cNvPicPr>
            <a:picLocks noChangeAspect="1"/>
          </p:cNvPicPr>
          <p:nvPr/>
        </p:nvPicPr>
        <p:blipFill>
          <a:blip r:embed="rId1"/>
          <a:stretch>
            <a:fillRect/>
          </a:stretch>
        </p:blipFill>
        <p:spPr>
          <a:xfrm>
            <a:off x="436880" y="1289050"/>
            <a:ext cx="5593715" cy="42799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进程终止</a:t>
            </a:r>
            <a:endParaRPr lang="zh-CN" altLang="en-US" sz="2800" b="1" dirty="0">
              <a:solidFill>
                <a:schemeClr val="bg1"/>
              </a:solidFill>
            </a:endParaRPr>
          </a:p>
        </p:txBody>
      </p:sp>
      <p:sp>
        <p:nvSpPr>
          <p:cNvPr id="26" name="内容占位符 2"/>
          <p:cNvSpPr txBox="1"/>
          <p:nvPr/>
        </p:nvSpPr>
        <p:spPr>
          <a:xfrm>
            <a:off x="669925" y="1186180"/>
            <a:ext cx="5425440" cy="6572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0"/>
              </a:spcBef>
              <a:buClr>
                <a:srgbClr val="FF0000"/>
              </a:buClr>
              <a:buNone/>
            </a:pPr>
            <a:r>
              <a:rPr lang="zh-CN" altLang="en-US" sz="2200" dirty="0">
                <a:solidFill>
                  <a:srgbClr val="FF0000"/>
                </a:solidFill>
              </a:rPr>
              <a:t>进程的终止过程：（</a:t>
            </a:r>
            <a:r>
              <a:rPr lang="zh-CN" altLang="en-US" sz="2200" dirty="0">
                <a:solidFill>
                  <a:schemeClr val="accent4">
                    <a:lumMod val="60000"/>
                    <a:lumOff val="40000"/>
                  </a:schemeClr>
                </a:solidFill>
              </a:rPr>
              <a:t>课后习题</a:t>
            </a:r>
            <a:r>
              <a:rPr lang="en-US" altLang="zh-CN" sz="2200" dirty="0">
                <a:solidFill>
                  <a:schemeClr val="accent4">
                    <a:lumMod val="60000"/>
                    <a:lumOff val="40000"/>
                  </a:schemeClr>
                </a:solidFill>
              </a:rPr>
              <a:t>10</a:t>
            </a:r>
            <a:r>
              <a:rPr lang="zh-CN" altLang="en-US" sz="2200" dirty="0">
                <a:solidFill>
                  <a:srgbClr val="FF0000"/>
                </a:solidFill>
              </a:rPr>
              <a:t>）</a:t>
            </a:r>
            <a:endParaRPr lang="zh-CN" altLang="en-US" sz="2200" dirty="0">
              <a:solidFill>
                <a:srgbClr val="FF0000"/>
              </a:solidFill>
            </a:endParaRPr>
          </a:p>
        </p:txBody>
      </p:sp>
      <p:sp>
        <p:nvSpPr>
          <p:cNvPr id="29" name="îşļïďè"/>
          <p:cNvSpPr/>
          <p:nvPr/>
        </p:nvSpPr>
        <p:spPr>
          <a:xfrm>
            <a:off x="669926" y="5624259"/>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5</a:t>
            </a:r>
            <a:endParaRPr lang="en-US" altLang="zh-CN" sz="2400" dirty="0">
              <a:solidFill>
                <a:schemeClr val="bg1"/>
              </a:solidFill>
              <a:latin typeface="+mj-lt"/>
            </a:endParaRPr>
          </a:p>
        </p:txBody>
      </p:sp>
      <p:sp>
        <p:nvSpPr>
          <p:cNvPr id="32" name="îšḷîḑé"/>
          <p:cNvSpPr txBox="1"/>
          <p:nvPr/>
        </p:nvSpPr>
        <p:spPr>
          <a:xfrm>
            <a:off x="1294274" y="5737594"/>
            <a:ext cx="6033805" cy="430545"/>
          </a:xfrm>
          <a:prstGeom prst="rect">
            <a:avLst/>
          </a:prstGeom>
          <a:noFill/>
        </p:spPr>
        <p:txBody>
          <a:bodyPr wrap="square" lIns="91440" tIns="45720" rIns="91440" bIns="45720" anchor="b" anchorCtr="0">
            <a:noAutofit/>
          </a:bodyPr>
          <a:lstStyle/>
          <a:p>
            <a:r>
              <a:rPr lang="zh-CN" altLang="en-US" sz="2000" dirty="0"/>
              <a:t>将被终止进程（</a:t>
            </a:r>
            <a:r>
              <a:rPr lang="en-US" altLang="zh-CN" sz="2000" dirty="0"/>
              <a:t>PCB</a:t>
            </a:r>
            <a:r>
              <a:rPr lang="zh-CN" altLang="en-US" sz="2000" dirty="0"/>
              <a:t>）从所在队列中移去。</a:t>
            </a:r>
            <a:endParaRPr lang="zh-CN" altLang="en-US" sz="2000" dirty="0"/>
          </a:p>
        </p:txBody>
      </p:sp>
      <p:sp>
        <p:nvSpPr>
          <p:cNvPr id="35" name="işlíḋé"/>
          <p:cNvSpPr/>
          <p:nvPr/>
        </p:nvSpPr>
        <p:spPr>
          <a:xfrm>
            <a:off x="675365" y="4931301"/>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4</a:t>
            </a:r>
            <a:endParaRPr lang="en-US" altLang="zh-CN" sz="2400" dirty="0">
              <a:solidFill>
                <a:schemeClr val="bg1"/>
              </a:solidFill>
              <a:latin typeface="+mj-lt"/>
            </a:endParaRPr>
          </a:p>
        </p:txBody>
      </p:sp>
      <p:sp>
        <p:nvSpPr>
          <p:cNvPr id="40" name="iṥlïḋè"/>
          <p:cNvSpPr txBox="1"/>
          <p:nvPr/>
        </p:nvSpPr>
        <p:spPr>
          <a:xfrm>
            <a:off x="1294274" y="4929680"/>
            <a:ext cx="9948982" cy="518082"/>
          </a:xfrm>
          <a:prstGeom prst="rect">
            <a:avLst/>
          </a:prstGeom>
          <a:noFill/>
        </p:spPr>
        <p:txBody>
          <a:bodyPr wrap="square" lIns="91440" tIns="45720" rIns="91440" bIns="45720" anchor="b" anchorCtr="0">
            <a:noAutofit/>
          </a:bodyPr>
          <a:lstStyle/>
          <a:p>
            <a:pPr>
              <a:lnSpc>
                <a:spcPct val="132000"/>
              </a:lnSpc>
            </a:pPr>
            <a:r>
              <a:rPr lang="zh-CN" altLang="en-US" sz="2000" dirty="0"/>
              <a:t>将该进程所拥有的全部资源，或者归还给其父进程或系统；</a:t>
            </a:r>
            <a:endParaRPr lang="zh-CN" altLang="en-US" sz="2000" dirty="0"/>
          </a:p>
        </p:txBody>
      </p:sp>
      <p:sp>
        <p:nvSpPr>
          <p:cNvPr id="41" name="i$1îḑe"/>
          <p:cNvSpPr/>
          <p:nvPr/>
        </p:nvSpPr>
        <p:spPr>
          <a:xfrm>
            <a:off x="634768" y="4204957"/>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3</a:t>
            </a:r>
            <a:endParaRPr lang="en-US" altLang="zh-CN" sz="2400" dirty="0">
              <a:solidFill>
                <a:schemeClr val="bg1"/>
              </a:solidFill>
              <a:latin typeface="+mj-lt"/>
            </a:endParaRPr>
          </a:p>
        </p:txBody>
      </p:sp>
      <p:sp>
        <p:nvSpPr>
          <p:cNvPr id="42" name="í$1îḍe"/>
          <p:cNvSpPr txBox="1"/>
          <p:nvPr/>
        </p:nvSpPr>
        <p:spPr>
          <a:xfrm>
            <a:off x="1253677" y="4227490"/>
            <a:ext cx="10296193" cy="545577"/>
          </a:xfrm>
          <a:prstGeom prst="rect">
            <a:avLst/>
          </a:prstGeom>
          <a:noFill/>
        </p:spPr>
        <p:txBody>
          <a:bodyPr wrap="square" lIns="91440" tIns="45720" rIns="91440" bIns="45720" anchor="b" anchorCtr="0">
            <a:noAutofit/>
          </a:bodyPr>
          <a:lstStyle/>
          <a:p>
            <a:pPr>
              <a:lnSpc>
                <a:spcPct val="132000"/>
              </a:lnSpc>
            </a:pPr>
            <a:r>
              <a:rPr lang="zh-CN" altLang="en-US" sz="2000" dirty="0"/>
              <a:t>若该进程还有子孙进程，还应将其所有子进程予以终止；</a:t>
            </a:r>
            <a:endParaRPr lang="zh-CN" altLang="en-US" sz="2000" dirty="0"/>
          </a:p>
        </p:txBody>
      </p:sp>
      <p:sp>
        <p:nvSpPr>
          <p:cNvPr id="43" name="ïSļïḓè"/>
          <p:cNvSpPr/>
          <p:nvPr/>
        </p:nvSpPr>
        <p:spPr>
          <a:xfrm>
            <a:off x="659046" y="331045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2</a:t>
            </a:r>
            <a:endParaRPr lang="en-US" altLang="zh-CN" sz="2400" dirty="0">
              <a:solidFill>
                <a:schemeClr val="bg1"/>
              </a:solidFill>
              <a:latin typeface="+mj-lt"/>
            </a:endParaRPr>
          </a:p>
        </p:txBody>
      </p:sp>
      <p:sp>
        <p:nvSpPr>
          <p:cNvPr id="44" name="iŝļíďè"/>
          <p:cNvSpPr txBox="1"/>
          <p:nvPr/>
        </p:nvSpPr>
        <p:spPr>
          <a:xfrm>
            <a:off x="1259117" y="3224561"/>
            <a:ext cx="10315031" cy="859268"/>
          </a:xfrm>
          <a:prstGeom prst="rect">
            <a:avLst/>
          </a:prstGeom>
          <a:noFill/>
        </p:spPr>
        <p:txBody>
          <a:bodyPr wrap="square" lIns="91440" tIns="45720" rIns="91440" bIns="45720" anchor="b" anchorCtr="0">
            <a:noAutofit/>
          </a:bodyPr>
          <a:lstStyle/>
          <a:p>
            <a:pPr>
              <a:lnSpc>
                <a:spcPct val="132000"/>
              </a:lnSpc>
            </a:pPr>
            <a:r>
              <a:rPr lang="zh-CN" altLang="en-US" sz="2000" dirty="0"/>
              <a:t>若被终止进程正处于执行状态，应立即终止该进程的执行，并设置调度标志为真，用于指示该进程被终止后应重新其他进程调度；（</a:t>
            </a:r>
            <a:r>
              <a:rPr lang="zh-CN" altLang="en-US" sz="2000" dirty="0">
                <a:solidFill>
                  <a:schemeClr val="accent4">
                    <a:lumMod val="60000"/>
                    <a:lumOff val="40000"/>
                  </a:schemeClr>
                </a:solidFill>
              </a:rPr>
              <a:t>思考：就绪和阻塞态进程终止该如何呢？</a:t>
            </a:r>
            <a:r>
              <a:rPr lang="zh-CN" altLang="en-US" sz="2000" dirty="0"/>
              <a:t>）</a:t>
            </a:r>
            <a:endParaRPr lang="zh-CN" altLang="en-US" sz="2000" dirty="0"/>
          </a:p>
        </p:txBody>
      </p:sp>
      <p:sp>
        <p:nvSpPr>
          <p:cNvPr id="45" name="ïśľiďe"/>
          <p:cNvSpPr/>
          <p:nvPr/>
        </p:nvSpPr>
        <p:spPr>
          <a:xfrm>
            <a:off x="664485" y="2503532"/>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mj-lt"/>
              </a:rPr>
              <a:t>1</a:t>
            </a:r>
            <a:endParaRPr lang="en-US" altLang="zh-CN" sz="2400" dirty="0">
              <a:solidFill>
                <a:schemeClr val="bg1"/>
              </a:solidFill>
              <a:latin typeface="+mj-lt"/>
            </a:endParaRPr>
          </a:p>
        </p:txBody>
      </p:sp>
      <p:sp>
        <p:nvSpPr>
          <p:cNvPr id="46" name="îṡ1ide"/>
          <p:cNvSpPr txBox="1"/>
          <p:nvPr/>
        </p:nvSpPr>
        <p:spPr>
          <a:xfrm>
            <a:off x="1269996" y="2334511"/>
            <a:ext cx="10315031" cy="566652"/>
          </a:xfrm>
          <a:prstGeom prst="rect">
            <a:avLst/>
          </a:prstGeom>
          <a:noFill/>
        </p:spPr>
        <p:txBody>
          <a:bodyPr wrap="square" lIns="91440" tIns="45720" rIns="91440" bIns="45720" anchor="b" anchorCtr="0">
            <a:noAutofit/>
          </a:bodyPr>
          <a:lstStyle/>
          <a:p>
            <a:pPr>
              <a:lnSpc>
                <a:spcPct val="132000"/>
              </a:lnSpc>
            </a:pPr>
            <a:r>
              <a:rPr lang="zh-CN" altLang="en-US" sz="2000" dirty="0"/>
              <a:t>根据被终止进程的标识符，从</a:t>
            </a:r>
            <a:r>
              <a:rPr lang="en-US" altLang="zh-CN" sz="2000" dirty="0"/>
              <a:t>PCB</a:t>
            </a:r>
            <a:r>
              <a:rPr lang="zh-CN" altLang="en-US" sz="2000" dirty="0"/>
              <a:t>集合中检索出该进程的</a:t>
            </a:r>
            <a:r>
              <a:rPr lang="en-US" altLang="zh-CN" sz="2000" dirty="0"/>
              <a:t>PCB</a:t>
            </a:r>
            <a:r>
              <a:rPr lang="zh-CN" altLang="en-US" sz="2000" dirty="0"/>
              <a:t>，从中读出该进程的状态；</a:t>
            </a:r>
            <a:endParaRPr lang="zh-CN" altLang="en-US" sz="2000" dirty="0"/>
          </a:p>
        </p:txBody>
      </p:sp>
      <p:cxnSp>
        <p:nvCxnSpPr>
          <p:cNvPr id="47" name="直接连接符 46"/>
          <p:cNvCxnSpPr/>
          <p:nvPr/>
        </p:nvCxnSpPr>
        <p:spPr>
          <a:xfrm>
            <a:off x="1385906" y="3013395"/>
            <a:ext cx="985735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1294274" y="4183635"/>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1253677" y="4850214"/>
            <a:ext cx="998957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1294274" y="5533798"/>
            <a:ext cx="994898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pPr algn="l">
              <a:buClrTx/>
              <a:buSzTx/>
              <a:buFontTx/>
            </a:pPr>
            <a:r>
              <a:rPr lang="zh-CN" altLang="en-US" sz="2800" b="1" dirty="0">
                <a:solidFill>
                  <a:schemeClr val="bg1"/>
                </a:solidFill>
              </a:rPr>
              <a:t>进程的阻塞</a:t>
            </a:r>
            <a:r>
              <a:rPr lang="zh-CN" altLang="en-US" sz="2800" b="1" dirty="0">
                <a:solidFill>
                  <a:schemeClr val="bg1"/>
                </a:solidFill>
                <a:sym typeface="+mn-ea"/>
              </a:rPr>
              <a:t>Block()</a:t>
            </a:r>
            <a:r>
              <a:rPr lang="zh-CN" altLang="en-US" sz="2800" b="1" dirty="0">
                <a:solidFill>
                  <a:schemeClr val="bg1"/>
                </a:solidFill>
              </a:rPr>
              <a:t>与唤醒</a:t>
            </a:r>
            <a:r>
              <a:rPr lang="zh-CN" altLang="en-US" sz="2800" b="1" dirty="0">
                <a:solidFill>
                  <a:schemeClr val="bg1"/>
                </a:solidFill>
                <a:sym typeface="+mn-ea"/>
              </a:rPr>
              <a:t>Wakeup()</a:t>
            </a:r>
            <a:endParaRPr lang="zh-CN" altLang="en-US" sz="2800" b="1" dirty="0">
              <a:solidFill>
                <a:schemeClr val="bg1"/>
              </a:solidFill>
            </a:endParaRPr>
          </a:p>
        </p:txBody>
      </p:sp>
      <p:sp>
        <p:nvSpPr>
          <p:cNvPr id="220" name="íšḻîḋè"/>
          <p:cNvSpPr/>
          <p:nvPr/>
        </p:nvSpPr>
        <p:spPr>
          <a:xfrm>
            <a:off x="2036929" y="3105252"/>
            <a:ext cx="8702159" cy="847084"/>
          </a:xfrm>
          <a:prstGeom prst="rect">
            <a:avLst/>
          </a:prstGeom>
          <a:noFill/>
          <a:ln>
            <a:noFill/>
          </a:ln>
        </p:spPr>
        <p:txBody>
          <a:bodyPr wrap="square" lIns="91440" tIns="45720" rIns="91440" bIns="45720" anchor="t" anchorCtr="0">
            <a:normAutofit/>
          </a:bodyPr>
          <a:lstStyle/>
          <a:p>
            <a:pPr indent="0">
              <a:lnSpc>
                <a:spcPct val="120000"/>
              </a:lnSpc>
              <a:buClr>
                <a:srgbClr val="FF0000"/>
              </a:buClr>
              <a:buFont typeface="Wingdings" panose="05000000000000000000" pitchFamily="2" charset="2"/>
              <a:buNone/>
            </a:pPr>
            <a:endParaRPr lang="zh-CN" altLang="en-US" sz="2200" dirty="0"/>
          </a:p>
        </p:txBody>
      </p:sp>
      <p:sp>
        <p:nvSpPr>
          <p:cNvPr id="221" name="i$lîďê"/>
          <p:cNvSpPr/>
          <p:nvPr/>
        </p:nvSpPr>
        <p:spPr>
          <a:xfrm>
            <a:off x="2036930" y="2664804"/>
            <a:ext cx="3696051" cy="392877"/>
          </a:xfrm>
          <a:prstGeom prst="rect">
            <a:avLst/>
          </a:prstGeom>
          <a:noFill/>
          <a:ln>
            <a:noFill/>
          </a:ln>
        </p:spPr>
        <p:txBody>
          <a:bodyPr wrap="square" lIns="91440" tIns="45720" rIns="91440" bIns="45720" anchor="ctr" anchorCtr="0">
            <a:noAutofit/>
          </a:bodyPr>
          <a:lstStyle/>
          <a:p>
            <a:r>
              <a:rPr lang="zh-CN" altLang="en-US" sz="2400" dirty="0"/>
              <a:t>进程阻塞过程</a:t>
            </a:r>
            <a:endParaRPr lang="zh-CN" altLang="en-US" sz="2400" dirty="0"/>
          </a:p>
        </p:txBody>
      </p:sp>
      <p:sp>
        <p:nvSpPr>
          <p:cNvPr id="222" name="î$ļíḋè"/>
          <p:cNvSpPr/>
          <p:nvPr/>
        </p:nvSpPr>
        <p:spPr>
          <a:xfrm>
            <a:off x="2664797" y="4632485"/>
            <a:ext cx="8864594" cy="1490478"/>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具体过程：从阻塞队列中移出；状态由阻塞改为就绪；将</a:t>
            </a:r>
            <a:r>
              <a:rPr lang="en-US" altLang="zh-CN" sz="2200" dirty="0"/>
              <a:t>PCB</a:t>
            </a:r>
            <a:r>
              <a:rPr lang="zh-CN" altLang="en-US" sz="2200" dirty="0"/>
              <a:t>插入就绪队列。</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solidFill>
                  <a:srgbClr val="FF0000"/>
                </a:solidFill>
              </a:rPr>
              <a:t>必须成对使用</a:t>
            </a:r>
            <a:r>
              <a:rPr lang="en-US" altLang="zh-CN" sz="2200" dirty="0">
                <a:solidFill>
                  <a:srgbClr val="FF0000"/>
                </a:solidFill>
              </a:rPr>
              <a:t>Block</a:t>
            </a:r>
            <a:r>
              <a:rPr lang="zh-CN" altLang="en-US" sz="2200" dirty="0">
                <a:solidFill>
                  <a:srgbClr val="FF0000"/>
                </a:solidFill>
              </a:rPr>
              <a:t>和</a:t>
            </a:r>
            <a:r>
              <a:rPr lang="en-US" altLang="zh-CN" sz="2200" dirty="0">
                <a:solidFill>
                  <a:srgbClr val="FF0000"/>
                </a:solidFill>
              </a:rPr>
              <a:t>Wakeup</a:t>
            </a:r>
            <a:r>
              <a:rPr lang="zh-CN" altLang="en-US" sz="2200" dirty="0">
                <a:solidFill>
                  <a:srgbClr val="FF0000"/>
                </a:solidFill>
              </a:rPr>
              <a:t>原语。</a:t>
            </a:r>
            <a:endParaRPr lang="zh-CN" altLang="en-US" sz="2200" dirty="0">
              <a:solidFill>
                <a:srgbClr val="FF0000"/>
              </a:solidFill>
            </a:endParaRPr>
          </a:p>
        </p:txBody>
      </p:sp>
      <p:sp>
        <p:nvSpPr>
          <p:cNvPr id="223" name="ïṧḷïḋè"/>
          <p:cNvSpPr/>
          <p:nvPr/>
        </p:nvSpPr>
        <p:spPr>
          <a:xfrm>
            <a:off x="2720434" y="4242508"/>
            <a:ext cx="3696051" cy="415102"/>
          </a:xfrm>
          <a:prstGeom prst="rect">
            <a:avLst/>
          </a:prstGeom>
          <a:noFill/>
          <a:ln>
            <a:noFill/>
          </a:ln>
        </p:spPr>
        <p:txBody>
          <a:bodyPr wrap="square" lIns="91440" tIns="45720" rIns="91440" bIns="45720" anchor="ctr" anchorCtr="0">
            <a:noAutofit/>
          </a:bodyPr>
          <a:lstStyle/>
          <a:p>
            <a:r>
              <a:rPr lang="zh-CN" altLang="en-US" sz="2400" dirty="0"/>
              <a:t>进程唤醒过程</a:t>
            </a:r>
            <a:endParaRPr lang="zh-CN" altLang="en-US" sz="2400" dirty="0"/>
          </a:p>
        </p:txBody>
      </p:sp>
      <p:sp>
        <p:nvSpPr>
          <p:cNvPr id="224" name="îs1iďé"/>
          <p:cNvSpPr/>
          <p:nvPr/>
        </p:nvSpPr>
        <p:spPr>
          <a:xfrm>
            <a:off x="1353427" y="1652505"/>
            <a:ext cx="9924065" cy="981528"/>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向系统请求共享资源失败；等待某种操作的完成；新数据尚未到达；等待新任务的到达。（</a:t>
            </a:r>
            <a:r>
              <a:rPr lang="zh-CN" altLang="en-US" sz="2200" dirty="0">
                <a:solidFill>
                  <a:schemeClr val="accent4">
                    <a:lumMod val="60000"/>
                    <a:lumOff val="40000"/>
                  </a:schemeClr>
                </a:solidFill>
              </a:rPr>
              <a:t>课后习题</a:t>
            </a:r>
            <a:r>
              <a:rPr lang="en-US" altLang="zh-CN" sz="2200" dirty="0">
                <a:solidFill>
                  <a:schemeClr val="accent4">
                    <a:lumMod val="60000"/>
                    <a:lumOff val="40000"/>
                  </a:schemeClr>
                </a:solidFill>
              </a:rPr>
              <a:t>11</a:t>
            </a:r>
            <a:r>
              <a:rPr lang="zh-CN" altLang="en-US" sz="2200" dirty="0"/>
              <a:t>）</a:t>
            </a:r>
            <a:endParaRPr lang="zh-CN" altLang="en-US" sz="2200" dirty="0"/>
          </a:p>
        </p:txBody>
      </p:sp>
      <p:sp>
        <p:nvSpPr>
          <p:cNvPr id="225" name="íšḻíḑê"/>
          <p:cNvSpPr/>
          <p:nvPr/>
        </p:nvSpPr>
        <p:spPr>
          <a:xfrm>
            <a:off x="1353428" y="1171562"/>
            <a:ext cx="4070285" cy="405747"/>
          </a:xfrm>
          <a:prstGeom prst="rect">
            <a:avLst/>
          </a:prstGeom>
          <a:noFill/>
          <a:ln>
            <a:noFill/>
          </a:ln>
        </p:spPr>
        <p:txBody>
          <a:bodyPr wrap="square" lIns="91440" tIns="45720" rIns="91440" bIns="45720" anchor="ctr" anchorCtr="0">
            <a:noAutofit/>
          </a:bodyPr>
          <a:lstStyle/>
          <a:p>
            <a:r>
              <a:rPr lang="zh-CN" altLang="en-US" sz="2400" dirty="0"/>
              <a:t>引起进程阻塞和唤醒的事件</a:t>
            </a:r>
            <a:endParaRPr lang="zh-CN" altLang="en-US" sz="2400" dirty="0"/>
          </a:p>
        </p:txBody>
      </p:sp>
      <p:sp>
        <p:nvSpPr>
          <p:cNvPr id="226" name="îSļiḓè"/>
          <p:cNvSpPr/>
          <p:nvPr/>
        </p:nvSpPr>
        <p:spPr>
          <a:xfrm>
            <a:off x="669925" y="115800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2036930" y="415990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353428" y="265443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860180" y="1354138"/>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543682" y="287644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2256123" y="4349366"/>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18" name="íšḻîḋè"/>
          <p:cNvSpPr/>
          <p:nvPr/>
        </p:nvSpPr>
        <p:spPr>
          <a:xfrm>
            <a:off x="2037304" y="3115801"/>
            <a:ext cx="8702159"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进程的阻塞是进程自身的一种主动行为。</a:t>
            </a:r>
            <a:endParaRPr lang="zh-CN" altLang="en-US" sz="2200" dirty="0"/>
          </a:p>
        </p:txBody>
      </p:sp>
      <p:sp>
        <p:nvSpPr>
          <p:cNvPr id="19" name="íšḻîḋè"/>
          <p:cNvSpPr/>
          <p:nvPr/>
        </p:nvSpPr>
        <p:spPr>
          <a:xfrm>
            <a:off x="2036929" y="3540333"/>
            <a:ext cx="8977147" cy="562877"/>
          </a:xfrm>
          <a:prstGeom prst="rect">
            <a:avLst/>
          </a:prstGeom>
          <a:noFill/>
          <a:ln>
            <a:noFill/>
          </a:ln>
        </p:spPr>
        <p:txBody>
          <a:bodyPr wrap="square" lIns="91440" tIns="45720" rIns="91440" bIns="45720" anchor="t" anchorCtr="0">
            <a:normAutofit/>
          </a:bodyPr>
          <a:lstStyle/>
          <a:p>
            <a:pPr marL="342900" indent="-342900">
              <a:lnSpc>
                <a:spcPct val="120000"/>
              </a:lnSpc>
              <a:buClr>
                <a:srgbClr val="FF0000"/>
              </a:buClr>
              <a:buFont typeface="Wingdings" panose="05000000000000000000" pitchFamily="2" charset="2"/>
              <a:buChar char="Ø"/>
            </a:pPr>
            <a:r>
              <a:rPr lang="zh-CN" altLang="en-US" sz="2200" dirty="0"/>
              <a:t>具体过程：停止执行；状态由执行改为阻塞；将</a:t>
            </a:r>
            <a:r>
              <a:rPr lang="en-US" altLang="zh-CN" sz="2200" dirty="0"/>
              <a:t>PCB</a:t>
            </a:r>
            <a:r>
              <a:rPr lang="zh-CN" altLang="en-US" sz="2200" dirty="0"/>
              <a:t>插入阻塞队列。</a:t>
            </a:r>
            <a:endParaRPr lang="zh-CN" alt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进程的挂起与激活</a:t>
            </a:r>
            <a:endParaRPr lang="zh-CN" altLang="en-US" sz="2800" b="1" dirty="0">
              <a:solidFill>
                <a:schemeClr val="bg1"/>
              </a:solidFill>
            </a:endParaRPr>
          </a:p>
        </p:txBody>
      </p:sp>
      <p:sp>
        <p:nvSpPr>
          <p:cNvPr id="17" name="îṧľîdé"/>
          <p:cNvSpPr/>
          <p:nvPr/>
        </p:nvSpPr>
        <p:spPr>
          <a:xfrm>
            <a:off x="4330967" y="1869534"/>
            <a:ext cx="3550903" cy="2457767"/>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21" name="内容占位符 2"/>
          <p:cNvSpPr txBox="1"/>
          <p:nvPr/>
        </p:nvSpPr>
        <p:spPr>
          <a:xfrm>
            <a:off x="520065" y="1459865"/>
            <a:ext cx="4540885" cy="42957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挂起</a:t>
            </a:r>
            <a:endParaRPr lang="zh-CN" altLang="en-US" sz="28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en-US" altLang="zh-CN" sz="2800" dirty="0">
                <a:solidFill>
                  <a:srgbClr val="FF0000"/>
                </a:solidFill>
              </a:rPr>
              <a:t>Suspend()</a:t>
            </a:r>
            <a:r>
              <a:rPr lang="zh-CN" altLang="en-US" sz="2800" dirty="0">
                <a:solidFill>
                  <a:srgbClr val="FF0000"/>
                </a:solidFill>
              </a:rPr>
              <a:t>原语</a:t>
            </a:r>
            <a:endParaRPr lang="zh-CN" altLang="en-US" sz="28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活动就绪</a:t>
            </a:r>
            <a:r>
              <a:rPr lang="en-US" altLang="zh-CN" sz="2800" dirty="0">
                <a:solidFill>
                  <a:schemeClr val="tx1">
                    <a:lumMod val="65000"/>
                    <a:lumOff val="35000"/>
                  </a:schemeClr>
                </a:solidFill>
              </a:rPr>
              <a:t>—&gt;</a:t>
            </a:r>
            <a:r>
              <a:rPr lang="zh-CN" altLang="en-US" sz="2800" dirty="0">
                <a:solidFill>
                  <a:schemeClr val="tx1">
                    <a:lumMod val="65000"/>
                    <a:lumOff val="35000"/>
                  </a:schemeClr>
                </a:solidFill>
              </a:rPr>
              <a:t>静止就绪</a:t>
            </a:r>
            <a:endParaRPr lang="zh-CN" altLang="en-US" sz="28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rPr>
              <a:t>活动阻塞</a:t>
            </a:r>
            <a:r>
              <a:rPr lang="en-US" altLang="zh-CN" sz="2800" dirty="0">
                <a:solidFill>
                  <a:schemeClr val="tx1">
                    <a:lumMod val="65000"/>
                    <a:lumOff val="35000"/>
                  </a:schemeClr>
                </a:solidFill>
              </a:rPr>
              <a:t>—&gt;</a:t>
            </a:r>
            <a:r>
              <a:rPr lang="zh-CN" altLang="en-US" sz="2800" dirty="0">
                <a:solidFill>
                  <a:schemeClr val="tx1">
                    <a:lumMod val="65000"/>
                    <a:lumOff val="35000"/>
                  </a:schemeClr>
                </a:solidFill>
              </a:rPr>
              <a:t>静止阻塞</a:t>
            </a:r>
            <a:endParaRPr lang="zh-CN" altLang="en-US" sz="2800" dirty="0">
              <a:solidFill>
                <a:schemeClr val="tx1">
                  <a:lumMod val="65000"/>
                  <a:lumOff val="35000"/>
                </a:schemeClr>
              </a:solidFill>
            </a:endParaRPr>
          </a:p>
          <a:p>
            <a:pPr marL="0" lvl="1" indent="0">
              <a:lnSpc>
                <a:spcPct val="150000"/>
              </a:lnSpc>
              <a:spcBef>
                <a:spcPts val="300"/>
              </a:spcBef>
              <a:buClr>
                <a:srgbClr val="E71101"/>
              </a:buClr>
              <a:buSzPct val="60000"/>
              <a:buFont typeface="Wingdings" panose="05000000000000000000" pitchFamily="2" charset="2"/>
              <a:buNone/>
              <a:defRPr/>
            </a:pPr>
            <a:endParaRPr lang="zh-CN" altLang="en-US" sz="2800" dirty="0">
              <a:solidFill>
                <a:schemeClr val="tx1">
                  <a:lumMod val="65000"/>
                  <a:lumOff val="35000"/>
                </a:schemeClr>
              </a:solidFill>
            </a:endParaRPr>
          </a:p>
        </p:txBody>
      </p:sp>
      <p:sp>
        <p:nvSpPr>
          <p:cNvPr id="22" name="内容占位符 2"/>
          <p:cNvSpPr txBox="1"/>
          <p:nvPr/>
        </p:nvSpPr>
        <p:spPr>
          <a:xfrm>
            <a:off x="7696835" y="1400810"/>
            <a:ext cx="3971290" cy="44735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800" dirty="0"/>
              <a:t>进程的</a:t>
            </a:r>
            <a:r>
              <a:rPr lang="zh-CN" altLang="en-US" sz="2800" dirty="0">
                <a:solidFill>
                  <a:srgbClr val="FF0000"/>
                </a:solidFill>
              </a:rPr>
              <a:t>激活</a:t>
            </a:r>
            <a:r>
              <a:rPr lang="zh-CN" altLang="en-US" sz="2800" dirty="0"/>
              <a:t>过程</a:t>
            </a:r>
            <a:endParaRPr lang="zh-CN" altLang="en-US" sz="2800" dirty="0"/>
          </a:p>
          <a:p>
            <a:pPr marL="0" lvl="1" indent="-342900">
              <a:lnSpc>
                <a:spcPct val="150000"/>
              </a:lnSpc>
              <a:spcBef>
                <a:spcPts val="370"/>
              </a:spcBef>
              <a:buClr>
                <a:srgbClr val="E71101"/>
              </a:buClr>
              <a:buSzPct val="60000"/>
              <a:buFont typeface="Wingdings" panose="05000000000000000000" pitchFamily="2" charset="2"/>
              <a:buChar char="n"/>
              <a:defRPr/>
            </a:pPr>
            <a:r>
              <a:rPr lang="en-US" altLang="zh-CN" sz="2800" dirty="0">
                <a:solidFill>
                  <a:srgbClr val="FF0000"/>
                </a:solidFill>
              </a:rPr>
              <a:t>Active()</a:t>
            </a:r>
            <a:r>
              <a:rPr lang="zh-CN" altLang="en-US" sz="2800" dirty="0">
                <a:solidFill>
                  <a:srgbClr val="FF0000"/>
                </a:solidFill>
              </a:rPr>
              <a:t>原语</a:t>
            </a:r>
            <a:endParaRPr lang="zh-CN" altLang="en-US" sz="2800" dirty="0">
              <a:solidFill>
                <a:srgbClr val="FF0000"/>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sym typeface="+mn-ea"/>
              </a:rPr>
              <a:t>静止就绪</a:t>
            </a:r>
            <a:r>
              <a:rPr lang="en-US" altLang="zh-CN" sz="2800" dirty="0">
                <a:solidFill>
                  <a:schemeClr val="tx1">
                    <a:lumMod val="65000"/>
                    <a:lumOff val="35000"/>
                  </a:schemeClr>
                </a:solidFill>
                <a:sym typeface="+mn-ea"/>
              </a:rPr>
              <a:t>—&gt;</a:t>
            </a:r>
            <a:r>
              <a:rPr lang="zh-CN" altLang="en-US" sz="2800" dirty="0">
                <a:solidFill>
                  <a:schemeClr val="tx1">
                    <a:lumMod val="65000"/>
                    <a:lumOff val="35000"/>
                  </a:schemeClr>
                </a:solidFill>
                <a:sym typeface="+mn-ea"/>
              </a:rPr>
              <a:t>活动就绪</a:t>
            </a:r>
            <a:endParaRPr lang="zh-CN" altLang="en-US" sz="2800" dirty="0">
              <a:solidFill>
                <a:schemeClr val="tx1">
                  <a:lumMod val="65000"/>
                  <a:lumOff val="35000"/>
                </a:schemeClr>
              </a:solidFill>
            </a:endParaRPr>
          </a:p>
          <a:p>
            <a:pPr marL="342900" lvl="1" indent="-342900">
              <a:lnSpc>
                <a:spcPct val="150000"/>
              </a:lnSpc>
              <a:spcBef>
                <a:spcPts val="300"/>
              </a:spcBef>
              <a:buClr>
                <a:srgbClr val="E71101"/>
              </a:buClr>
              <a:buSzPct val="60000"/>
              <a:buFont typeface="Wingdings" panose="05000000000000000000" pitchFamily="2" charset="2"/>
              <a:buChar char="n"/>
              <a:defRPr/>
            </a:pPr>
            <a:r>
              <a:rPr lang="zh-CN" altLang="en-US" sz="2800" dirty="0">
                <a:solidFill>
                  <a:schemeClr val="tx1">
                    <a:lumMod val="65000"/>
                    <a:lumOff val="35000"/>
                  </a:schemeClr>
                </a:solidFill>
                <a:sym typeface="+mn-ea"/>
              </a:rPr>
              <a:t>静止阻塞</a:t>
            </a:r>
            <a:r>
              <a:rPr lang="en-US" altLang="zh-CN" sz="2800" dirty="0">
                <a:solidFill>
                  <a:schemeClr val="tx1">
                    <a:lumMod val="65000"/>
                    <a:lumOff val="35000"/>
                  </a:schemeClr>
                </a:solidFill>
                <a:sym typeface="+mn-ea"/>
              </a:rPr>
              <a:t>—&gt;</a:t>
            </a:r>
            <a:r>
              <a:rPr lang="zh-CN" altLang="en-US" sz="2800" dirty="0">
                <a:solidFill>
                  <a:schemeClr val="tx1">
                    <a:lumMod val="65000"/>
                    <a:lumOff val="35000"/>
                  </a:schemeClr>
                </a:solidFill>
                <a:sym typeface="+mn-ea"/>
              </a:rPr>
              <a:t>活动阻塞</a:t>
            </a:r>
            <a:endParaRPr lang="zh-CN" altLang="en-US" sz="2800" dirty="0">
              <a:solidFill>
                <a:schemeClr val="tx1">
                  <a:lumMod val="65000"/>
                  <a:lumOff val="35000"/>
                </a:schemeClr>
              </a:solidFill>
            </a:endParaRPr>
          </a:p>
          <a:p>
            <a:pPr marL="0" lvl="1" indent="-342900">
              <a:lnSpc>
                <a:spcPct val="150000"/>
              </a:lnSpc>
              <a:spcBef>
                <a:spcPts val="370"/>
              </a:spcBef>
              <a:buClr>
                <a:srgbClr val="E71101"/>
              </a:buClr>
              <a:buSzPct val="60000"/>
              <a:buFont typeface="Wingdings" panose="05000000000000000000" pitchFamily="2" charset="2"/>
              <a:buChar char="n"/>
              <a:defRPr/>
            </a:pPr>
            <a:endParaRPr lang="zh-CN" altLang="en-US" sz="2800" dirty="0">
              <a:solidFill>
                <a:schemeClr val="tx1">
                  <a:lumMod val="65000"/>
                  <a:lumOff val="35000"/>
                </a:schemeClr>
              </a:solidFill>
            </a:endParaRPr>
          </a:p>
        </p:txBody>
      </p:sp>
      <p:sp>
        <p:nvSpPr>
          <p:cNvPr id="23" name="íSľïdé"/>
          <p:cNvSpPr/>
          <p:nvPr/>
        </p:nvSpPr>
        <p:spPr>
          <a:xfrm>
            <a:off x="5228307" y="230439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24" name="ïŝļíḓê"/>
          <p:cNvSpPr/>
          <p:nvPr/>
        </p:nvSpPr>
        <p:spPr bwMode="auto">
          <a:xfrm>
            <a:off x="6310831" y="325296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solidFill>
                  <a:srgbClr val="0000FF"/>
                </a:solidFill>
                <a:latin typeface="+mj-ea"/>
              </a:rPr>
              <a:t>2.4 </a:t>
            </a:r>
            <a:r>
              <a:rPr lang="zh-CN" altLang="en-US" sz="2400" dirty="0">
                <a:solidFill>
                  <a:srgbClr val="0000FF"/>
                </a:solidFill>
                <a:latin typeface="+mj-ea"/>
              </a:rPr>
              <a:t>进程通信</a:t>
            </a:r>
            <a:endParaRPr lang="zh-CN" altLang="en-US" sz="2400" dirty="0">
              <a:solidFill>
                <a:srgbClr val="0000FF"/>
              </a:solidFill>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进程通信概念</a:t>
            </a:r>
            <a:endParaRPr lang="zh-CN" altLang="en-US" sz="2800" b="1" dirty="0">
              <a:solidFill>
                <a:schemeClr val="bg1"/>
              </a:solidFill>
            </a:endParaRPr>
          </a:p>
        </p:txBody>
      </p:sp>
      <p:sp>
        <p:nvSpPr>
          <p:cNvPr id="26" name="íšḻîḋè"/>
          <p:cNvSpPr/>
          <p:nvPr>
            <p:custDataLst>
              <p:tags r:id="rId1"/>
            </p:custDataLst>
          </p:nvPr>
        </p:nvSpPr>
        <p:spPr>
          <a:xfrm>
            <a:off x="1955800" y="3145790"/>
            <a:ext cx="6929755" cy="109347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效率低</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通信对用户不透明，所有操作旭程序员操作</a:t>
            </a:r>
            <a:r>
              <a:rPr lang="zh-CN" altLang="en-US" sz="2400" dirty="0"/>
              <a:t>完成</a:t>
            </a:r>
            <a:endParaRPr lang="zh-CN" altLang="en-US" sz="2400" dirty="0"/>
          </a:p>
        </p:txBody>
      </p:sp>
      <p:sp>
        <p:nvSpPr>
          <p:cNvPr id="29" name="i$lîďê"/>
          <p:cNvSpPr/>
          <p:nvPr>
            <p:custDataLst>
              <p:tags r:id="rId2"/>
            </p:custDataLst>
          </p:nvPr>
        </p:nvSpPr>
        <p:spPr>
          <a:xfrm>
            <a:off x="1955800" y="2350770"/>
            <a:ext cx="8340090" cy="795020"/>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低级进程通信 </a:t>
            </a:r>
            <a:r>
              <a:rPr lang="zh-CN" altLang="en-US" sz="2400" dirty="0"/>
              <a:t>：进程间仅交换一些状态和</a:t>
            </a:r>
            <a:r>
              <a:rPr lang="zh-CN" altLang="en-US" sz="2400" b="1" dirty="0"/>
              <a:t>少量</a:t>
            </a:r>
            <a:r>
              <a:rPr lang="zh-CN" altLang="en-US" sz="2400" dirty="0"/>
              <a:t>数据。</a:t>
            </a:r>
            <a:r>
              <a:rPr lang="zh-CN" altLang="en-US" sz="2400" dirty="0"/>
              <a:t>如：进程的同步和互斥，信号量</a:t>
            </a:r>
            <a:r>
              <a:rPr lang="zh-CN" altLang="en-US" sz="2400" dirty="0"/>
              <a:t>机制</a:t>
            </a:r>
            <a:endParaRPr lang="zh-CN" altLang="en-US" sz="2400" dirty="0"/>
          </a:p>
        </p:txBody>
      </p:sp>
      <p:sp>
        <p:nvSpPr>
          <p:cNvPr id="32" name="î$ļíḋè"/>
          <p:cNvSpPr/>
          <p:nvPr>
            <p:custDataLst>
              <p:tags r:id="rId3"/>
            </p:custDataLst>
          </p:nvPr>
        </p:nvSpPr>
        <p:spPr>
          <a:xfrm>
            <a:off x="1696085" y="4894580"/>
            <a:ext cx="7305040" cy="96901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对用户透明，可以使用</a:t>
            </a:r>
            <a:r>
              <a:rPr lang="en-US" altLang="zh-CN" sz="2400" dirty="0"/>
              <a:t>os</a:t>
            </a:r>
            <a:r>
              <a:rPr lang="zh-CN" altLang="en-US" sz="2400" dirty="0"/>
              <a:t>提供的一组通信</a:t>
            </a:r>
            <a:r>
              <a:rPr lang="zh-CN" altLang="en-US" sz="2400" dirty="0"/>
              <a:t>命令</a:t>
            </a:r>
            <a:endParaRPr lang="zh-CN" altLang="en-US" sz="2400" dirty="0"/>
          </a:p>
          <a:p>
            <a:pPr marL="342900" indent="-342900">
              <a:lnSpc>
                <a:spcPct val="120000"/>
              </a:lnSpc>
              <a:buClr>
                <a:srgbClr val="FF0000"/>
              </a:buClr>
              <a:buFont typeface="Wingdings" panose="05000000000000000000" pitchFamily="2" charset="2"/>
              <a:buChar char="Ø"/>
            </a:pPr>
            <a:r>
              <a:rPr lang="zh-CN" altLang="en-US" sz="2400" dirty="0"/>
              <a:t>使用方便，减少了编程的</a:t>
            </a:r>
            <a:r>
              <a:rPr lang="zh-CN" altLang="en-US" sz="2400" dirty="0"/>
              <a:t>复杂性</a:t>
            </a:r>
            <a:endParaRPr lang="zh-CN" altLang="en-US" sz="2400" dirty="0"/>
          </a:p>
          <a:p>
            <a:pPr marL="342900" indent="-342900">
              <a:lnSpc>
                <a:spcPct val="120000"/>
              </a:lnSpc>
              <a:buClr>
                <a:srgbClr val="FF0000"/>
              </a:buClr>
              <a:buFont typeface="Wingdings" panose="05000000000000000000" pitchFamily="2" charset="2"/>
              <a:buChar char="Ø"/>
            </a:pPr>
            <a:endParaRPr lang="zh-CN" altLang="en-US" sz="2400" dirty="0"/>
          </a:p>
        </p:txBody>
      </p:sp>
      <p:sp>
        <p:nvSpPr>
          <p:cNvPr id="35" name="ïṧḷïḋè"/>
          <p:cNvSpPr/>
          <p:nvPr>
            <p:custDataLst>
              <p:tags r:id="rId4"/>
            </p:custDataLst>
          </p:nvPr>
        </p:nvSpPr>
        <p:spPr>
          <a:xfrm>
            <a:off x="7989675" y="5554868"/>
            <a:ext cx="3696051" cy="415102"/>
          </a:xfrm>
          <a:prstGeom prst="rect">
            <a:avLst/>
          </a:prstGeom>
          <a:noFill/>
          <a:ln>
            <a:noFill/>
          </a:ln>
        </p:spPr>
        <p:txBody>
          <a:bodyPr wrap="square" lIns="91440" tIns="45720" rIns="91440" bIns="45720" anchor="ctr" anchorCtr="0">
            <a:noAutofit/>
          </a:bodyPr>
          <a:lstStyle/>
          <a:p>
            <a:r>
              <a:rPr lang="zh-CN" altLang="en-US" sz="2400" dirty="0">
                <a:solidFill>
                  <a:schemeClr val="accent3">
                    <a:lumMod val="50000"/>
                    <a:lumOff val="50000"/>
                  </a:schemeClr>
                </a:solidFill>
              </a:rPr>
              <a:t>课后习题</a:t>
            </a:r>
            <a:r>
              <a:rPr lang="en-US" altLang="zh-CN" sz="2400" dirty="0">
                <a:solidFill>
                  <a:schemeClr val="accent3">
                    <a:lumMod val="50000"/>
                    <a:lumOff val="50000"/>
                  </a:schemeClr>
                </a:solidFill>
              </a:rPr>
              <a:t>12</a:t>
            </a:r>
            <a:endParaRPr lang="en-US" altLang="zh-CN" sz="2400" dirty="0">
              <a:solidFill>
                <a:schemeClr val="accent3">
                  <a:lumMod val="50000"/>
                  <a:lumOff val="50000"/>
                </a:schemeClr>
              </a:solidFill>
            </a:endParaRPr>
          </a:p>
        </p:txBody>
      </p:sp>
      <p:sp>
        <p:nvSpPr>
          <p:cNvPr id="41" name="íšḻíḑê"/>
          <p:cNvSpPr/>
          <p:nvPr/>
        </p:nvSpPr>
        <p:spPr>
          <a:xfrm>
            <a:off x="1608894" y="1531919"/>
            <a:ext cx="5177869" cy="405747"/>
          </a:xfrm>
          <a:prstGeom prst="rect">
            <a:avLst/>
          </a:prstGeom>
          <a:noFill/>
          <a:ln>
            <a:noFill/>
          </a:ln>
        </p:spPr>
        <p:txBody>
          <a:bodyPr wrap="square" lIns="91440" tIns="45720" rIns="91440" bIns="45720" anchor="ctr" anchorCtr="0">
            <a:noAutofit/>
          </a:bodyPr>
          <a:lstStyle/>
          <a:p>
            <a:r>
              <a:rPr lang="zh-CN" altLang="en-US" sz="2400" dirty="0"/>
              <a:t>进程通信是指进程之间的信息交换</a:t>
            </a:r>
            <a:endParaRPr lang="zh-CN" altLang="en-US" sz="2400" dirty="0"/>
          </a:p>
        </p:txBody>
      </p:sp>
      <p:sp>
        <p:nvSpPr>
          <p:cNvPr id="42" name="îSļiḓè"/>
          <p:cNvSpPr/>
          <p:nvPr/>
        </p:nvSpPr>
        <p:spPr>
          <a:xfrm>
            <a:off x="925392" y="141238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3" name="íṥḻîḓe"/>
          <p:cNvSpPr/>
          <p:nvPr>
            <p:custDataLst>
              <p:tags r:id="rId5"/>
            </p:custDataLst>
          </p:nvPr>
        </p:nvSpPr>
        <p:spPr>
          <a:xfrm>
            <a:off x="1012686" y="42994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4" name="îşļiḓè"/>
          <p:cNvSpPr/>
          <p:nvPr>
            <p:custDataLst>
              <p:tags r:id="rId6"/>
            </p:custDataLst>
          </p:nvPr>
        </p:nvSpPr>
        <p:spPr>
          <a:xfrm>
            <a:off x="950009" y="238490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45" name="îṡḷíďe"/>
          <p:cNvSpPr/>
          <p:nvPr/>
        </p:nvSpPr>
        <p:spPr>
          <a:xfrm>
            <a:off x="1115647" y="1608526"/>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6" name="íSlíḋe"/>
          <p:cNvSpPr/>
          <p:nvPr>
            <p:custDataLst>
              <p:tags r:id="rId7"/>
            </p:custDataLst>
          </p:nvPr>
        </p:nvSpPr>
        <p:spPr>
          <a:xfrm>
            <a:off x="1140263" y="260692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47" name="ïśḷïḓe"/>
          <p:cNvSpPr/>
          <p:nvPr>
            <p:custDataLst>
              <p:tags r:id="rId8"/>
            </p:custDataLst>
          </p:nvPr>
        </p:nvSpPr>
        <p:spPr>
          <a:xfrm>
            <a:off x="1231879" y="448888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 name="ïṧḷïḋè"/>
          <p:cNvSpPr/>
          <p:nvPr>
            <p:custDataLst>
              <p:tags r:id="rId9"/>
            </p:custDataLst>
          </p:nvPr>
        </p:nvSpPr>
        <p:spPr>
          <a:xfrm>
            <a:off x="1823085" y="4509135"/>
            <a:ext cx="6625590" cy="415290"/>
          </a:xfrm>
          <a:prstGeom prst="rect">
            <a:avLst/>
          </a:prstGeom>
          <a:noFill/>
          <a:ln>
            <a:noFill/>
          </a:ln>
        </p:spPr>
        <p:txBody>
          <a:bodyPr wrap="square" lIns="91440" tIns="45720" rIns="91440" bIns="45720" anchor="ctr" anchorCtr="0">
            <a:noAutofit/>
          </a:bodyPr>
          <a:p>
            <a:r>
              <a:rPr lang="zh-CN" altLang="en-US" sz="2400" dirty="0">
                <a:solidFill>
                  <a:srgbClr val="FF0000"/>
                </a:solidFill>
              </a:rPr>
              <a:t>高级进程通信：</a:t>
            </a:r>
            <a:r>
              <a:rPr lang="zh-CN" altLang="en-US" sz="2400" dirty="0">
                <a:sym typeface="+mn-ea"/>
              </a:rPr>
              <a:t>高效地传送大量数据</a:t>
            </a:r>
            <a:endParaRPr lang="zh-CN" altLang="en-US" sz="2400"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进程通信的类型</a:t>
            </a:r>
            <a:r>
              <a:rPr lang="en-US" altLang="zh-CN" sz="2800" b="1" dirty="0">
                <a:solidFill>
                  <a:schemeClr val="bg1"/>
                </a:solidFill>
              </a:rPr>
              <a:t>(1)</a:t>
            </a:r>
            <a:endParaRPr lang="zh-CN" altLang="en-US" sz="2800" b="1" dirty="0">
              <a:solidFill>
                <a:schemeClr val="bg1"/>
              </a:solidFill>
            </a:endParaRPr>
          </a:p>
        </p:txBody>
      </p:sp>
      <p:pic>
        <p:nvPicPr>
          <p:cNvPr id="2" name="图片 1"/>
          <p:cNvPicPr>
            <a:picLocks noChangeAspect="1"/>
          </p:cNvPicPr>
          <p:nvPr/>
        </p:nvPicPr>
        <p:blipFill>
          <a:blip r:embed="rId1"/>
          <a:srcRect t="23968"/>
          <a:stretch>
            <a:fillRect/>
          </a:stretch>
        </p:blipFill>
        <p:spPr>
          <a:xfrm>
            <a:off x="428625" y="1824355"/>
            <a:ext cx="7951470" cy="2981325"/>
          </a:xfrm>
          <a:prstGeom prst="rect">
            <a:avLst/>
          </a:prstGeom>
        </p:spPr>
      </p:pic>
      <p:sp>
        <p:nvSpPr>
          <p:cNvPr id="3" name="ïṧḷïḋè"/>
          <p:cNvSpPr/>
          <p:nvPr>
            <p:custDataLst>
              <p:tags r:id="rId2"/>
            </p:custDataLst>
          </p:nvPr>
        </p:nvSpPr>
        <p:spPr>
          <a:xfrm>
            <a:off x="3464030" y="4946538"/>
            <a:ext cx="3696051" cy="415102"/>
          </a:xfrm>
          <a:prstGeom prst="rect">
            <a:avLst/>
          </a:prstGeom>
          <a:noFill/>
          <a:ln>
            <a:noFill/>
          </a:ln>
        </p:spPr>
        <p:txBody>
          <a:bodyPr wrap="square" lIns="91440" tIns="45720" rIns="91440" bIns="45720" anchor="ctr" anchorCtr="0">
            <a:noAutofit/>
          </a:bodyPr>
          <a:p>
            <a:r>
              <a:rPr lang="zh-CN" altLang="en-US" sz="3200" dirty="0">
                <a:solidFill>
                  <a:schemeClr val="accent3">
                    <a:lumMod val="50000"/>
                    <a:lumOff val="50000"/>
                  </a:schemeClr>
                </a:solidFill>
              </a:rPr>
              <a:t>课后习题</a:t>
            </a:r>
            <a:r>
              <a:rPr lang="en-US" altLang="zh-CN" sz="3200" dirty="0">
                <a:solidFill>
                  <a:schemeClr val="accent3">
                    <a:lumMod val="50000"/>
                    <a:lumOff val="50000"/>
                  </a:schemeClr>
                </a:solidFill>
              </a:rPr>
              <a:t>13-</a:t>
            </a:r>
            <a:r>
              <a:rPr lang="en-US" altLang="zh-CN" sz="3200" dirty="0">
                <a:solidFill>
                  <a:schemeClr val="accent3">
                    <a:lumMod val="50000"/>
                    <a:lumOff val="50000"/>
                  </a:schemeClr>
                </a:solidFill>
              </a:rPr>
              <a:t>15</a:t>
            </a:r>
            <a:endParaRPr lang="en-US" altLang="zh-CN" sz="3200" dirty="0">
              <a:solidFill>
                <a:schemeClr val="accent3">
                  <a:lumMod val="50000"/>
                  <a:lumOff val="50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进程通信的类型</a:t>
            </a:r>
            <a:r>
              <a:rPr lang="en-US" altLang="zh-CN" sz="2800" b="1" dirty="0">
                <a:solidFill>
                  <a:schemeClr val="bg1"/>
                </a:solidFill>
              </a:rPr>
              <a:t>(1)</a:t>
            </a:r>
            <a:endParaRPr lang="zh-CN" altLang="en-US" sz="2800" b="1" dirty="0">
              <a:solidFill>
                <a:schemeClr val="bg1"/>
              </a:solidFill>
            </a:endParaRPr>
          </a:p>
        </p:txBody>
      </p:sp>
      <p:grpSp>
        <p:nvGrpSpPr>
          <p:cNvPr id="29" name="iṡļiḓe"/>
          <p:cNvGrpSpPr/>
          <p:nvPr/>
        </p:nvGrpSpPr>
        <p:grpSpPr>
          <a:xfrm>
            <a:off x="636905" y="1183795"/>
            <a:ext cx="10041255" cy="2347717"/>
            <a:chOff x="660400" y="1774273"/>
            <a:chExt cx="10041255" cy="2347717"/>
          </a:xfrm>
        </p:grpSpPr>
        <p:grpSp>
          <p:nvGrpSpPr>
            <p:cNvPr id="46" name="iSḻíḓè"/>
            <p:cNvGrpSpPr/>
            <p:nvPr/>
          </p:nvGrpSpPr>
          <p:grpSpPr>
            <a:xfrm>
              <a:off x="669925" y="1835355"/>
              <a:ext cx="10031730" cy="2286635"/>
              <a:chOff x="506214" y="1835355"/>
              <a:chExt cx="12652525" cy="2286635"/>
            </a:xfrm>
          </p:grpSpPr>
          <p:sp>
            <p:nvSpPr>
              <p:cNvPr id="50"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共享存储器系统</a:t>
                </a:r>
                <a:endParaRPr lang="zh-CN" altLang="en-US" sz="2800" dirty="0"/>
              </a:p>
            </p:txBody>
          </p:sp>
          <p:sp>
            <p:nvSpPr>
              <p:cNvPr id="51" name="íşļîḓé"/>
              <p:cNvSpPr/>
              <p:nvPr/>
            </p:nvSpPr>
            <p:spPr bwMode="auto">
              <a:xfrm>
                <a:off x="506214" y="2279220"/>
                <a:ext cx="12652525" cy="1842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800" dirty="0"/>
                  <a:t>基于共享数据结构的通信方式（效率低）：如全局</a:t>
                </a:r>
                <a:r>
                  <a:rPr lang="zh-CN" altLang="en-US" sz="2800" dirty="0"/>
                  <a:t>变量</a:t>
                </a:r>
                <a:endParaRPr lang="zh-CN" altLang="en-US" sz="28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800" dirty="0"/>
                  <a:t>基于共享存储区的通信方式（高级）</a:t>
                </a:r>
                <a:endParaRPr lang="zh-CN" altLang="en-US" sz="2800" dirty="0"/>
              </a:p>
            </p:txBody>
          </p:sp>
        </p:grpSp>
        <p:grpSp>
          <p:nvGrpSpPr>
            <p:cNvPr id="47" name="ïS1íḋé"/>
            <p:cNvGrpSpPr/>
            <p:nvPr/>
          </p:nvGrpSpPr>
          <p:grpSpPr>
            <a:xfrm>
              <a:off x="660400" y="1774273"/>
              <a:ext cx="497734" cy="497734"/>
              <a:chOff x="660400" y="1774273"/>
              <a:chExt cx="497734" cy="497734"/>
            </a:xfrm>
          </p:grpSpPr>
          <p:sp>
            <p:nvSpPr>
              <p:cNvPr id="48"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dirty="0">
                  <a:solidFill>
                    <a:schemeClr val="bg1"/>
                  </a:solidFill>
                </a:endParaRPr>
              </a:p>
            </p:txBody>
          </p:sp>
          <p:sp>
            <p:nvSpPr>
              <p:cNvPr id="49"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900" b="1" dirty="0">
                  <a:solidFill>
                    <a:schemeClr val="bg1"/>
                  </a:solidFill>
                </a:endParaRPr>
              </a:p>
            </p:txBody>
          </p:sp>
        </p:grpSp>
      </p:grpSp>
      <p:sp>
        <p:nvSpPr>
          <p:cNvPr id="2" name="文本框 1"/>
          <p:cNvSpPr txBox="1"/>
          <p:nvPr/>
        </p:nvSpPr>
        <p:spPr>
          <a:xfrm>
            <a:off x="567055" y="3125470"/>
            <a:ext cx="10923270" cy="1592580"/>
          </a:xfrm>
          <a:prstGeom prst="rect">
            <a:avLst/>
          </a:prstGeom>
          <a:solidFill>
            <a:schemeClr val="accent1">
              <a:lumMod val="20000"/>
              <a:lumOff val="80000"/>
            </a:schemeClr>
          </a:solidFill>
        </p:spPr>
        <p:txBody>
          <a:bodyPr wrap="square" rtlCol="0" anchor="t">
            <a:noAutofit/>
          </a:bodyPr>
          <a:p>
            <a:r>
              <a:rPr lang="zh-CN" altLang="en-US" sz="2800"/>
              <a:t>简单的理解就是：甲和乙中间有一个大布袋，甲和乙交换物品是通过大布袋进行的。甲把物品放在大布袋里，乙拿走，但乙不能直接到甲的手中拿东西，甲也不能直接到乙的手中拿东西。</a:t>
            </a:r>
            <a:endParaRPr lang="zh-CN" altLang="en-US" sz="2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消息传递通信的实现方式</a:t>
            </a:r>
            <a:endParaRPr lang="zh-CN" altLang="en-US" sz="2800" b="1" dirty="0">
              <a:solidFill>
                <a:schemeClr val="bg1"/>
              </a:solidFill>
            </a:endParaRPr>
          </a:p>
        </p:txBody>
      </p:sp>
      <p:grpSp>
        <p:nvGrpSpPr>
          <p:cNvPr id="2" name="iṡļiḓe"/>
          <p:cNvGrpSpPr/>
          <p:nvPr/>
        </p:nvGrpSpPr>
        <p:grpSpPr>
          <a:xfrm>
            <a:off x="348615" y="1088390"/>
            <a:ext cx="11674400" cy="4342245"/>
            <a:chOff x="660400" y="1774273"/>
            <a:chExt cx="7332229" cy="4342789"/>
          </a:xfrm>
        </p:grpSpPr>
        <p:grpSp>
          <p:nvGrpSpPr>
            <p:cNvPr id="3" name="iSḻíḓè"/>
            <p:cNvGrpSpPr/>
            <p:nvPr/>
          </p:nvGrpSpPr>
          <p:grpSpPr>
            <a:xfrm>
              <a:off x="669925" y="1835355"/>
              <a:ext cx="7322704" cy="4281707"/>
              <a:chOff x="506214" y="1835355"/>
              <a:chExt cx="9235764" cy="4281707"/>
            </a:xfrm>
          </p:grpSpPr>
          <p:sp>
            <p:nvSpPr>
              <p:cNvPr id="4" name="îṧľîḋé"/>
              <p:cNvSpPr txBox="1"/>
              <p:nvPr/>
            </p:nvSpPr>
            <p:spPr>
              <a:xfrm>
                <a:off x="1296567" y="1835355"/>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消息传递系统</a:t>
                </a:r>
                <a:endParaRPr lang="zh-CN" altLang="en-US" sz="2800" dirty="0"/>
              </a:p>
            </p:txBody>
          </p:sp>
          <p:sp>
            <p:nvSpPr>
              <p:cNvPr id="5" name="íşļîḓé"/>
              <p:cNvSpPr/>
              <p:nvPr/>
            </p:nvSpPr>
            <p:spPr bwMode="auto">
              <a:xfrm>
                <a:off x="506214" y="2279276"/>
                <a:ext cx="9235764" cy="383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800" b="1" dirty="0"/>
                  <a:t>直接通信方式</a:t>
                </a:r>
                <a:r>
                  <a:rPr lang="zh-CN" altLang="en-US" sz="2800" dirty="0"/>
                  <a:t>：发送进程直接把消息发送给接收进程，并将它挂在接收进程的消息缓冲队列上，接收进程从消息缓冲队列中取得消息。</a:t>
                </a:r>
                <a:endParaRPr lang="zh-CN" altLang="en-US" sz="2800" dirty="0"/>
              </a:p>
              <a:p>
                <a:pPr marL="0" lvl="1" indent="0">
                  <a:lnSpc>
                    <a:spcPct val="132000"/>
                  </a:lnSpc>
                  <a:buClr>
                    <a:schemeClr val="accent4">
                      <a:lumMod val="40000"/>
                      <a:lumOff val="60000"/>
                    </a:schemeClr>
                  </a:buClr>
                  <a:buFont typeface="Wingdings" panose="05000000000000000000" pitchFamily="2" charset="2"/>
                  <a:buNone/>
                </a:pPr>
                <a:r>
                  <a:rPr lang="en-US" altLang="zh-CN" sz="2800" dirty="0"/>
                  <a:t>   </a:t>
                </a:r>
                <a:r>
                  <a:rPr lang="zh-CN" altLang="en-US" sz="2800" dirty="0"/>
                  <a:t>如：网络</a:t>
                </a:r>
                <a:r>
                  <a:rPr lang="zh-CN" altLang="en-US" sz="2800" dirty="0"/>
                  <a:t>报文</a:t>
                </a:r>
                <a:endParaRPr lang="zh-CN" altLang="en-US" sz="28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800" b="1" dirty="0"/>
                  <a:t>间接通信方式</a:t>
                </a:r>
                <a:r>
                  <a:rPr lang="zh-CN" altLang="en-US" sz="2800" dirty="0"/>
                  <a:t>：发送进程消息发送到某个中间实体，接收进程从中间实体取得消息，中间实体一般称为</a:t>
                </a:r>
                <a:r>
                  <a:rPr lang="zh-CN" altLang="en-US" sz="2800" dirty="0">
                    <a:solidFill>
                      <a:srgbClr val="FF0000"/>
                    </a:solidFill>
                  </a:rPr>
                  <a:t>信箱</a:t>
                </a:r>
                <a:r>
                  <a:rPr lang="zh-CN" altLang="en-US" sz="2800" dirty="0"/>
                  <a:t>，广泛应用于网络中。</a:t>
                </a:r>
                <a:endParaRPr lang="zh-CN" altLang="en-US" sz="2800" dirty="0"/>
              </a:p>
            </p:txBody>
          </p:sp>
        </p:grpSp>
        <p:grpSp>
          <p:nvGrpSpPr>
            <p:cNvPr id="6" name="ïS1íḋé"/>
            <p:cNvGrpSpPr/>
            <p:nvPr/>
          </p:nvGrpSpPr>
          <p:grpSpPr>
            <a:xfrm>
              <a:off x="660400" y="1774273"/>
              <a:ext cx="497734" cy="497734"/>
              <a:chOff x="660400" y="1774273"/>
              <a:chExt cx="497734" cy="497734"/>
            </a:xfrm>
          </p:grpSpPr>
          <p:sp>
            <p:nvSpPr>
              <p:cNvPr id="7" name="islîḋe"/>
              <p:cNvSpPr/>
              <p:nvPr/>
            </p:nvSpPr>
            <p:spPr>
              <a:xfrm>
                <a:off x="660400" y="1774273"/>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800" dirty="0">
                  <a:solidFill>
                    <a:schemeClr val="bg1"/>
                  </a:solidFill>
                </a:endParaRPr>
              </a:p>
            </p:txBody>
          </p:sp>
          <p:sp>
            <p:nvSpPr>
              <p:cNvPr id="8" name="îŝlîďe"/>
              <p:cNvSpPr/>
              <p:nvPr/>
            </p:nvSpPr>
            <p:spPr>
              <a:xfrm>
                <a:off x="779848" y="1905708"/>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800" b="1" dirty="0">
                  <a:solidFill>
                    <a:schemeClr val="bg1"/>
                  </a:solidFill>
                </a:endParaRPr>
              </a:p>
            </p:txBody>
          </p:sp>
        </p:grpSp>
      </p:grpSp>
      <p:sp>
        <p:nvSpPr>
          <p:cNvPr id="9" name="文本框 8"/>
          <p:cNvSpPr txBox="1"/>
          <p:nvPr/>
        </p:nvSpPr>
        <p:spPr>
          <a:xfrm>
            <a:off x="438150" y="4649470"/>
            <a:ext cx="11442065" cy="1383665"/>
          </a:xfrm>
          <a:prstGeom prst="rect">
            <a:avLst/>
          </a:prstGeom>
          <a:solidFill>
            <a:schemeClr val="accent1">
              <a:lumMod val="20000"/>
              <a:lumOff val="80000"/>
            </a:schemeClr>
          </a:solidFill>
        </p:spPr>
        <p:txBody>
          <a:bodyPr wrap="square" rtlCol="0" anchor="t">
            <a:spAutoFit/>
          </a:bodyPr>
          <a:p>
            <a:r>
              <a:rPr lang="zh-CN" altLang="en-US" sz="2800"/>
              <a:t>简单的理解：甲要告诉乙某些事情，就要写信，然后通过邮差送给乙。直接通信就是邮差把信直接送到乙的手上，</a:t>
            </a:r>
            <a:endParaRPr lang="zh-CN" altLang="en-US" sz="2800"/>
          </a:p>
          <a:p>
            <a:r>
              <a:rPr lang="zh-CN" altLang="en-US" sz="2800"/>
              <a:t>间接通信</a:t>
            </a:r>
            <a:r>
              <a:rPr lang="zh-CN" altLang="en-US" sz="2800"/>
              <a:t>就是邮差把信放到</a:t>
            </a:r>
            <a:r>
              <a:rPr lang="zh-CN" altLang="en-US" sz="2800">
                <a:sym typeface="+mn-ea"/>
              </a:rPr>
              <a:t>乙家门口的</a:t>
            </a:r>
            <a:r>
              <a:rPr lang="zh-CN" altLang="en-US" sz="2800"/>
              <a:t>邮箱里。</a:t>
            </a:r>
            <a:endParaRPr lang="zh-CN" altLang="en-US"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进程通信的类型</a:t>
            </a:r>
            <a:r>
              <a:rPr lang="en-US" altLang="zh-CN" sz="2800" b="1" dirty="0">
                <a:solidFill>
                  <a:schemeClr val="bg1"/>
                </a:solidFill>
              </a:rPr>
              <a:t>(1)</a:t>
            </a:r>
            <a:endParaRPr lang="zh-CN" altLang="en-US" sz="2800" b="1" dirty="0">
              <a:solidFill>
                <a:schemeClr val="bg1"/>
              </a:solidFill>
            </a:endParaRPr>
          </a:p>
        </p:txBody>
      </p:sp>
      <p:grpSp>
        <p:nvGrpSpPr>
          <p:cNvPr id="32" name="iŝļïḓê"/>
          <p:cNvGrpSpPr/>
          <p:nvPr/>
        </p:nvGrpSpPr>
        <p:grpSpPr>
          <a:xfrm>
            <a:off x="636905" y="1323975"/>
            <a:ext cx="11080750" cy="1779905"/>
            <a:chOff x="660400" y="1387902"/>
            <a:chExt cx="11080750" cy="3034648"/>
          </a:xfrm>
        </p:grpSpPr>
        <p:grpSp>
          <p:nvGrpSpPr>
            <p:cNvPr id="40" name="ïṧļïḓe"/>
            <p:cNvGrpSpPr/>
            <p:nvPr/>
          </p:nvGrpSpPr>
          <p:grpSpPr>
            <a:xfrm>
              <a:off x="660400" y="1447575"/>
              <a:ext cx="11080750" cy="2974975"/>
              <a:chOff x="494201" y="1447575"/>
              <a:chExt cx="13975602" cy="2974975"/>
            </a:xfrm>
          </p:grpSpPr>
          <p:sp>
            <p:nvSpPr>
              <p:cNvPr id="44" name="ïšļíďè"/>
              <p:cNvSpPr txBox="1"/>
              <p:nvPr/>
            </p:nvSpPr>
            <p:spPr>
              <a:xfrm>
                <a:off x="1296568" y="1447575"/>
                <a:ext cx="62935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管道通信</a:t>
                </a:r>
                <a:endParaRPr lang="zh-CN" altLang="en-US" sz="2800" dirty="0"/>
              </a:p>
            </p:txBody>
          </p:sp>
          <p:sp>
            <p:nvSpPr>
              <p:cNvPr id="45" name="íşľíḑè"/>
              <p:cNvSpPr/>
              <p:nvPr/>
            </p:nvSpPr>
            <p:spPr bwMode="auto">
              <a:xfrm>
                <a:off x="494201" y="2043840"/>
                <a:ext cx="13975602" cy="2378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spcBef>
                    <a:spcPts val="300"/>
                  </a:spcBef>
                  <a:spcAft>
                    <a:spcPts val="300"/>
                  </a:spcAft>
                  <a:buFont typeface="Wingdings" panose="05000000000000000000" pitchFamily="2" charset="2"/>
                  <a:buChar char="Ø"/>
                </a:pPr>
                <a:r>
                  <a:rPr lang="zh-CN" altLang="en-US" sz="2800" dirty="0"/>
                  <a:t>管道：用于连接一个读进程和一个写进程以实现它们之间通信的一个共享文件，又名</a:t>
                </a:r>
                <a:r>
                  <a:rPr lang="en-US" altLang="zh-CN" sz="2800" dirty="0"/>
                  <a:t>pipe</a:t>
                </a:r>
                <a:r>
                  <a:rPr lang="zh-CN" altLang="en-US" sz="2800" dirty="0"/>
                  <a:t>文件（管道</a:t>
                </a:r>
                <a:r>
                  <a:rPr lang="zh-CN" altLang="en-US" sz="2800" dirty="0"/>
                  <a:t>文件）。</a:t>
                </a:r>
                <a:endParaRPr lang="zh-CN" altLang="en-US" sz="2800" dirty="0"/>
              </a:p>
              <a:p>
                <a:pPr marL="342900" lvl="1" indent="-342900">
                  <a:lnSpc>
                    <a:spcPct val="132000"/>
                  </a:lnSpc>
                  <a:spcBef>
                    <a:spcPts val="300"/>
                  </a:spcBef>
                  <a:spcAft>
                    <a:spcPts val="300"/>
                  </a:spcAft>
                  <a:buFont typeface="Wingdings" panose="05000000000000000000" pitchFamily="2" charset="2"/>
                  <a:buChar char="Ø"/>
                </a:pPr>
                <a:r>
                  <a:rPr lang="zh-CN" altLang="en-US" sz="2800" dirty="0"/>
                  <a:t>管道机制的协调能力：互斥、同步、对方是否存在</a:t>
                </a:r>
                <a:endParaRPr lang="zh-CN" altLang="en-US" sz="2800" dirty="0"/>
              </a:p>
            </p:txBody>
          </p:sp>
        </p:grpSp>
        <p:grpSp>
          <p:nvGrpSpPr>
            <p:cNvPr id="41" name="ïŝľídè"/>
            <p:cNvGrpSpPr/>
            <p:nvPr/>
          </p:nvGrpSpPr>
          <p:grpSpPr>
            <a:xfrm>
              <a:off x="660400" y="1387902"/>
              <a:ext cx="497734" cy="497734"/>
              <a:chOff x="660400" y="1387902"/>
              <a:chExt cx="497734" cy="497734"/>
            </a:xfrm>
          </p:grpSpPr>
          <p:sp>
            <p:nvSpPr>
              <p:cNvPr id="42" name="ïṡľïde"/>
              <p:cNvSpPr/>
              <p:nvPr/>
            </p:nvSpPr>
            <p:spPr>
              <a:xfrm>
                <a:off x="660400" y="1387902"/>
                <a:ext cx="497734" cy="49773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800" dirty="0">
                  <a:solidFill>
                    <a:schemeClr val="bg1"/>
                  </a:solidFill>
                </a:endParaRPr>
              </a:p>
            </p:txBody>
          </p:sp>
          <p:sp>
            <p:nvSpPr>
              <p:cNvPr id="43" name="ïšliḍe"/>
              <p:cNvSpPr/>
              <p:nvPr/>
            </p:nvSpPr>
            <p:spPr>
              <a:xfrm>
                <a:off x="779848" y="1519337"/>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800" b="1" dirty="0">
                  <a:solidFill>
                    <a:schemeClr val="bg1"/>
                  </a:solidFill>
                </a:endParaRPr>
              </a:p>
            </p:txBody>
          </p:sp>
        </p:grpSp>
      </p:grpSp>
      <p:pic>
        <p:nvPicPr>
          <p:cNvPr id="9" name="图片 8"/>
          <p:cNvPicPr>
            <a:picLocks noChangeAspect="1"/>
          </p:cNvPicPr>
          <p:nvPr/>
        </p:nvPicPr>
        <p:blipFill>
          <a:blip r:embed="rId1"/>
          <a:stretch>
            <a:fillRect/>
          </a:stretch>
        </p:blipFill>
        <p:spPr>
          <a:xfrm>
            <a:off x="1015365" y="2865120"/>
            <a:ext cx="10340340" cy="1524000"/>
          </a:xfrm>
          <a:prstGeom prst="rect">
            <a:avLst/>
          </a:prstGeom>
        </p:spPr>
      </p:pic>
      <p:sp>
        <p:nvSpPr>
          <p:cNvPr id="2" name="文本框 1"/>
          <p:cNvSpPr txBox="1"/>
          <p:nvPr/>
        </p:nvSpPr>
        <p:spPr>
          <a:xfrm>
            <a:off x="756285" y="4599940"/>
            <a:ext cx="10599420" cy="1168400"/>
          </a:xfrm>
          <a:prstGeom prst="rect">
            <a:avLst/>
          </a:prstGeom>
          <a:noFill/>
        </p:spPr>
        <p:txBody>
          <a:bodyPr wrap="square" rtlCol="0" anchor="t">
            <a:spAutoFit/>
          </a:bodyPr>
          <a:p>
            <a:r>
              <a:rPr lang="zh-CN" altLang="en-US" sz="2800" b="1"/>
              <a:t>注意</a:t>
            </a:r>
            <a:r>
              <a:rPr lang="zh-CN" altLang="en-US" sz="2800"/>
              <a:t>：管道只能采用半双工通信，即某一刻只能单向传输。</a:t>
            </a:r>
            <a:endParaRPr lang="zh-CN" altLang="en-US" sz="2800"/>
          </a:p>
          <a:p>
            <a:pPr>
              <a:lnSpc>
                <a:spcPct val="150000"/>
              </a:lnSpc>
            </a:pPr>
            <a:r>
              <a:rPr lang="zh-CN" altLang="en-US" sz="2800"/>
              <a:t> </a:t>
            </a:r>
            <a:r>
              <a:rPr lang="en-US" altLang="zh-CN" sz="2800"/>
              <a:t>         </a:t>
            </a:r>
            <a:r>
              <a:rPr lang="zh-CN" altLang="en-US" sz="2800"/>
              <a:t>要实现父子成互动，通信需定义两个管道</a:t>
            </a:r>
            <a:endParaRPr lang="zh-CN" altLang="en-US" sz="28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solidFill>
                  <a:srgbClr val="0000FF"/>
                </a:solidFill>
                <a:latin typeface="+mj-ea"/>
              </a:rPr>
              <a:t>2.5 </a:t>
            </a:r>
            <a:r>
              <a:rPr lang="zh-CN" altLang="en-US" sz="2400" dirty="0">
                <a:solidFill>
                  <a:srgbClr val="0000FF"/>
                </a:solidFill>
                <a:latin typeface="+mj-ea"/>
              </a:rPr>
              <a:t>线程的基本概念</a:t>
            </a:r>
            <a:endParaRPr lang="zh-CN" altLang="en-US" sz="2400" dirty="0">
              <a:solidFill>
                <a:srgbClr val="0000FF"/>
              </a:solidFill>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latin typeface="+mj-ea"/>
              </a:rPr>
              <a:t>2.6 </a:t>
            </a:r>
            <a:r>
              <a:rPr lang="zh-CN" altLang="en-US" sz="2400" dirty="0">
                <a:latin typeface="+mj-ea"/>
              </a:rPr>
              <a:t>线程的实现</a:t>
            </a:r>
            <a:endParaRPr lang="zh-CN" altLang="en-US" sz="2400" dirty="0">
              <a:latin typeface="+mj-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线程的</a:t>
            </a:r>
            <a:r>
              <a:rPr lang="zh-CN" altLang="en-US" sz="2800" b="1" dirty="0">
                <a:solidFill>
                  <a:schemeClr val="bg1"/>
                </a:solidFill>
              </a:rPr>
              <a:t>引入</a:t>
            </a:r>
            <a:endParaRPr lang="zh-CN" altLang="en-US" sz="2800" b="1" dirty="0">
              <a:solidFill>
                <a:schemeClr val="bg1"/>
              </a:solidFill>
            </a:endParaRPr>
          </a:p>
        </p:txBody>
      </p:sp>
      <p:sp>
        <p:nvSpPr>
          <p:cNvPr id="2" name="îs1iďé"/>
          <p:cNvSpPr/>
          <p:nvPr/>
        </p:nvSpPr>
        <p:spPr>
          <a:xfrm>
            <a:off x="501015" y="1188720"/>
            <a:ext cx="10835005" cy="1308100"/>
          </a:xfrm>
          <a:prstGeom prst="rect">
            <a:avLst/>
          </a:prstGeom>
          <a:noFill/>
          <a:ln>
            <a:noFill/>
          </a:ln>
        </p:spPr>
        <p:txBody>
          <a:bodyPr wrap="square" lIns="91440" tIns="45720" rIns="91440" bIns="45720" anchor="t" anchorCtr="0">
            <a:noAutofit/>
          </a:bodyPr>
          <a:p>
            <a:pPr indent="0">
              <a:lnSpc>
                <a:spcPct val="120000"/>
              </a:lnSpc>
              <a:buClr>
                <a:srgbClr val="FF0000"/>
              </a:buClr>
              <a:buNone/>
            </a:pPr>
            <a:r>
              <a:rPr lang="zh-CN" altLang="en-US" sz="2800">
                <a:sym typeface="+mn-ea"/>
              </a:rPr>
              <a:t>问你一个问题：你觉得</a:t>
            </a:r>
            <a:r>
              <a:rPr lang="en-US" altLang="zh-CN" sz="2800">
                <a:sym typeface="+mn-ea"/>
              </a:rPr>
              <a:t>“</a:t>
            </a:r>
            <a:r>
              <a:rPr lang="zh-CN" altLang="en-US" sz="2800">
                <a:sym typeface="+mn-ea"/>
              </a:rPr>
              <a:t>同时开</a:t>
            </a:r>
            <a:r>
              <a:rPr lang="en-US" altLang="zh-CN" sz="2800">
                <a:sym typeface="+mn-ea"/>
              </a:rPr>
              <a:t>10</a:t>
            </a:r>
            <a:r>
              <a:rPr lang="zh-CN" altLang="en-US" sz="2800">
                <a:sym typeface="+mn-ea"/>
              </a:rPr>
              <a:t>个</a:t>
            </a:r>
            <a:r>
              <a:rPr lang="en-US" altLang="zh-CN" sz="2800">
                <a:sym typeface="+mn-ea"/>
              </a:rPr>
              <a:t>APP”</a:t>
            </a:r>
            <a:r>
              <a:rPr lang="zh-CN" altLang="en-US" sz="2800">
                <a:sym typeface="+mn-ea"/>
              </a:rPr>
              <a:t>和</a:t>
            </a:r>
            <a:r>
              <a:rPr lang="en-US" altLang="zh-CN" sz="2800">
                <a:sym typeface="+mn-ea"/>
              </a:rPr>
              <a:t>"—</a:t>
            </a:r>
            <a:r>
              <a:rPr lang="zh-CN" altLang="en-US" sz="2800">
                <a:sym typeface="+mn-ea"/>
              </a:rPr>
              <a:t>个</a:t>
            </a:r>
            <a:r>
              <a:rPr lang="en-US" altLang="zh-CN" sz="2800">
                <a:sym typeface="+mn-ea"/>
              </a:rPr>
              <a:t>APP</a:t>
            </a:r>
            <a:r>
              <a:rPr lang="zh-CN" altLang="en-US" sz="2800">
                <a:sym typeface="+mn-ea"/>
              </a:rPr>
              <a:t>里同时干</a:t>
            </a:r>
            <a:r>
              <a:rPr lang="en-US" altLang="zh-CN" sz="2800">
                <a:sym typeface="+mn-ea"/>
              </a:rPr>
              <a:t>10</a:t>
            </a:r>
            <a:r>
              <a:rPr lang="zh-CN" altLang="en-US" sz="2800">
                <a:sym typeface="+mn-ea"/>
              </a:rPr>
              <a:t>件事</a:t>
            </a:r>
            <a:r>
              <a:rPr lang="en-US" altLang="zh-CN" sz="2800">
                <a:sym typeface="+mn-ea"/>
              </a:rPr>
              <a:t>”</a:t>
            </a:r>
            <a:r>
              <a:rPr lang="zh-CN" altLang="en-US" sz="2800">
                <a:sym typeface="+mn-ea"/>
              </a:rPr>
              <a:t>，哪个更费设备资源？（</a:t>
            </a:r>
            <a:r>
              <a:rPr lang="zh-CN" altLang="en-US" sz="2800">
                <a:solidFill>
                  <a:srgbClr val="FF0000"/>
                </a:solidFill>
                <a:sym typeface="+mn-ea"/>
              </a:rPr>
              <a:t>随堂投票</a:t>
            </a:r>
            <a:r>
              <a:rPr lang="zh-CN" altLang="en-US" sz="2800">
                <a:sym typeface="+mn-ea"/>
              </a:rPr>
              <a:t>）</a:t>
            </a:r>
            <a:endParaRPr lang="zh-CN" altLang="en-US" sz="2800" dirty="0"/>
          </a:p>
        </p:txBody>
      </p:sp>
      <p:sp>
        <p:nvSpPr>
          <p:cNvPr id="10" name="文本框 9"/>
          <p:cNvSpPr txBox="1"/>
          <p:nvPr/>
        </p:nvSpPr>
        <p:spPr>
          <a:xfrm>
            <a:off x="669925" y="2496820"/>
            <a:ext cx="10146030" cy="2749550"/>
          </a:xfrm>
          <a:prstGeom prst="rect">
            <a:avLst/>
          </a:prstGeom>
          <a:noFill/>
        </p:spPr>
        <p:txBody>
          <a:bodyPr wrap="square" rtlCol="0" anchor="t">
            <a:spAutoFit/>
          </a:bodyPr>
          <a:p>
            <a:pPr indent="0">
              <a:lnSpc>
                <a:spcPct val="120000"/>
              </a:lnSpc>
              <a:buClr>
                <a:srgbClr val="FF0000"/>
              </a:buClr>
              <a:buNone/>
            </a:pPr>
            <a:r>
              <a:rPr lang="zh-CN" altLang="en-US" sz="2400">
                <a:sym typeface="+mn-ea"/>
              </a:rPr>
              <a:t>答案是前者。</a:t>
            </a:r>
            <a:endParaRPr lang="zh-CN" altLang="en-US" sz="2400">
              <a:sym typeface="+mn-ea"/>
            </a:endParaRPr>
          </a:p>
          <a:p>
            <a:pPr indent="0">
              <a:lnSpc>
                <a:spcPct val="120000"/>
              </a:lnSpc>
              <a:buClr>
                <a:srgbClr val="FF0000"/>
              </a:buClr>
              <a:buNone/>
            </a:pPr>
            <a:r>
              <a:rPr lang="zh-CN" altLang="en-US" sz="2400">
                <a:sym typeface="+mn-ea"/>
              </a:rPr>
              <a:t>因为每个</a:t>
            </a:r>
            <a:r>
              <a:rPr lang="en-US" altLang="zh-CN" sz="2400">
                <a:sym typeface="+mn-ea"/>
              </a:rPr>
              <a:t>APP</a:t>
            </a:r>
            <a:r>
              <a:rPr lang="zh-CN" altLang="en-US" sz="2400">
                <a:sym typeface="+mn-ea"/>
              </a:rPr>
              <a:t>是一个</a:t>
            </a:r>
            <a:r>
              <a:rPr lang="en-US" altLang="zh-CN" sz="2400">
                <a:sym typeface="+mn-ea"/>
              </a:rPr>
              <a:t>“</a:t>
            </a:r>
            <a:r>
              <a:rPr lang="zh-CN" altLang="en-US" sz="2400">
                <a:sym typeface="+mn-ea"/>
              </a:rPr>
              <a:t>进程</a:t>
            </a:r>
            <a:r>
              <a:rPr lang="en-US" altLang="zh-CN" sz="2400">
                <a:sym typeface="+mn-ea"/>
              </a:rPr>
              <a:t>”</a:t>
            </a:r>
            <a:r>
              <a:rPr lang="zh-CN" altLang="en-US" sz="2400">
                <a:sym typeface="+mn-ea"/>
              </a:rPr>
              <a:t>，进程需要独立的内存空间、文件资源，开</a:t>
            </a:r>
            <a:r>
              <a:rPr lang="en-US" altLang="zh-CN" sz="2400">
                <a:sym typeface="+mn-ea"/>
              </a:rPr>
              <a:t>10</a:t>
            </a:r>
            <a:r>
              <a:rPr lang="zh-CN" altLang="en-US" sz="2400">
                <a:sym typeface="+mn-ea"/>
              </a:rPr>
              <a:t>个进程就像你同时开</a:t>
            </a:r>
            <a:r>
              <a:rPr lang="en-US" altLang="zh-CN" sz="2400">
                <a:sym typeface="+mn-ea"/>
              </a:rPr>
              <a:t>10</a:t>
            </a:r>
            <a:r>
              <a:rPr lang="zh-CN" altLang="en-US" sz="2400">
                <a:sym typeface="+mn-ea"/>
              </a:rPr>
              <a:t>个房间，每个房间都要放床、桌子、椅子，特别占地方。而线程呢？它是</a:t>
            </a:r>
            <a:r>
              <a:rPr lang="en-US" altLang="zh-CN" sz="2400">
                <a:sym typeface="+mn-ea"/>
              </a:rPr>
              <a:t>“</a:t>
            </a:r>
            <a:r>
              <a:rPr lang="zh-CN" altLang="en-US" sz="2400">
                <a:sym typeface="+mn-ea"/>
              </a:rPr>
              <a:t>进程里的小任务</a:t>
            </a:r>
            <a:r>
              <a:rPr lang="en-US" altLang="zh-CN" sz="2400">
                <a:sym typeface="+mn-ea"/>
              </a:rPr>
              <a:t>”</a:t>
            </a:r>
            <a:r>
              <a:rPr lang="zh-CN" altLang="en-US" sz="2400">
                <a:sym typeface="+mn-ea"/>
              </a:rPr>
              <a:t>，</a:t>
            </a:r>
            <a:r>
              <a:rPr lang="en-US" altLang="zh-CN" sz="2400">
                <a:sym typeface="+mn-ea"/>
              </a:rPr>
              <a:t>10</a:t>
            </a:r>
            <a:r>
              <a:rPr lang="zh-CN" altLang="en-US" sz="2400">
                <a:sym typeface="+mn-ea"/>
              </a:rPr>
              <a:t>个线程可以共享一个进程的内存和资源，就像一个房间里</a:t>
            </a:r>
            <a:r>
              <a:rPr lang="en-US" altLang="zh-CN" sz="2400">
                <a:sym typeface="+mn-ea"/>
              </a:rPr>
              <a:t>10</a:t>
            </a:r>
            <a:r>
              <a:rPr lang="zh-CN" altLang="en-US" sz="2400">
                <a:sym typeface="+mn-ea"/>
              </a:rPr>
              <a:t>个人分工干活，床和桌子大家共用</a:t>
            </a:r>
            <a:r>
              <a:rPr lang="en-US" altLang="zh-CN" sz="2400">
                <a:sym typeface="+mn-ea"/>
              </a:rPr>
              <a:t>——</a:t>
            </a:r>
            <a:r>
              <a:rPr lang="zh-CN" altLang="en-US" sz="2400">
                <a:sym typeface="+mn-ea"/>
              </a:rPr>
              <a:t>这就是线程最核心的优势：轻量级，省资源。</a:t>
            </a:r>
            <a:endParaRPr lang="zh-CN" altLang="en-US" sz="24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线程的</a:t>
            </a:r>
            <a:r>
              <a:rPr lang="zh-CN" altLang="en-US" sz="2800" b="1" dirty="0">
                <a:solidFill>
                  <a:schemeClr val="bg1"/>
                </a:solidFill>
              </a:rPr>
              <a:t>引入</a:t>
            </a:r>
            <a:endParaRPr lang="zh-CN" altLang="en-US" sz="2800" b="1" dirty="0">
              <a:solidFill>
                <a:schemeClr val="bg1"/>
              </a:solidFill>
            </a:endParaRPr>
          </a:p>
        </p:txBody>
      </p:sp>
      <p:pic>
        <p:nvPicPr>
          <p:cNvPr id="11" name="图片 10"/>
          <p:cNvPicPr>
            <a:picLocks noChangeAspect="1"/>
          </p:cNvPicPr>
          <p:nvPr/>
        </p:nvPicPr>
        <p:blipFill>
          <a:blip r:embed="rId1"/>
          <a:srcRect b="29040"/>
          <a:stretch>
            <a:fillRect/>
          </a:stretch>
        </p:blipFill>
        <p:spPr>
          <a:xfrm>
            <a:off x="395605" y="1111250"/>
            <a:ext cx="11621135" cy="468249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线程的</a:t>
            </a:r>
            <a:r>
              <a:rPr lang="zh-CN" altLang="en-US" sz="2800" b="1" dirty="0">
                <a:solidFill>
                  <a:schemeClr val="bg1"/>
                </a:solidFill>
              </a:rPr>
              <a:t>引入</a:t>
            </a:r>
            <a:endParaRPr lang="zh-CN" altLang="en-US" sz="2800" b="1" dirty="0">
              <a:solidFill>
                <a:schemeClr val="bg1"/>
              </a:solidFill>
            </a:endParaRPr>
          </a:p>
        </p:txBody>
      </p:sp>
      <p:pic>
        <p:nvPicPr>
          <p:cNvPr id="2" name="图片 1"/>
          <p:cNvPicPr>
            <a:picLocks noChangeAspect="1"/>
          </p:cNvPicPr>
          <p:nvPr/>
        </p:nvPicPr>
        <p:blipFill>
          <a:blip r:embed="rId1"/>
          <a:srcRect b="44094"/>
          <a:stretch>
            <a:fillRect/>
          </a:stretch>
        </p:blipFill>
        <p:spPr>
          <a:xfrm>
            <a:off x="105410" y="986790"/>
            <a:ext cx="12085955" cy="388493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a:t>
            </a:r>
            <a:endParaRPr lang="zh-CN" altLang="en-US" sz="2800" b="1" dirty="0">
              <a:solidFill>
                <a:schemeClr val="bg1"/>
              </a:solidFill>
            </a:endParaRPr>
          </a:p>
        </p:txBody>
      </p:sp>
      <p:sp>
        <p:nvSpPr>
          <p:cNvPr id="2" name="îs1iďé"/>
          <p:cNvSpPr/>
          <p:nvPr/>
        </p:nvSpPr>
        <p:spPr>
          <a:xfrm>
            <a:off x="1162050" y="1572260"/>
            <a:ext cx="10173970" cy="1245235"/>
          </a:xfrm>
          <a:prstGeom prst="rect">
            <a:avLst/>
          </a:prstGeom>
          <a:noFill/>
          <a:ln>
            <a:noFill/>
          </a:ln>
        </p:spPr>
        <p:txBody>
          <a:bodyPr wrap="square" lIns="91440" tIns="45720" rIns="91440" bIns="45720" anchor="t" anchorCtr="0">
            <a:noAutofit/>
          </a:bodyPr>
          <a:p>
            <a:pPr marL="342900" indent="-342900">
              <a:lnSpc>
                <a:spcPct val="150000"/>
              </a:lnSpc>
              <a:buClr>
                <a:srgbClr val="FF0000"/>
              </a:buClr>
              <a:buFont typeface="Wingdings" panose="05000000000000000000" pitchFamily="2" charset="2"/>
              <a:buChar char="Ø"/>
            </a:pPr>
            <a:r>
              <a:rPr lang="zh-CN" altLang="en-US" sz="2800" dirty="0"/>
              <a:t>引入进程的目的是更好的使多道程序并发</a:t>
            </a:r>
            <a:r>
              <a:rPr lang="zh-CN" altLang="en-US" sz="2800" dirty="0"/>
              <a:t>执行，提高资源利用率和系统吞吐量。</a:t>
            </a:r>
            <a:endParaRPr lang="zh-CN" altLang="en-US" sz="2800" dirty="0"/>
          </a:p>
          <a:p>
            <a:pPr marL="342900" indent="-342900">
              <a:lnSpc>
                <a:spcPct val="150000"/>
              </a:lnSpc>
              <a:buClr>
                <a:srgbClr val="FF0000"/>
              </a:buClr>
              <a:buFont typeface="Wingdings" panose="05000000000000000000" pitchFamily="2" charset="2"/>
              <a:buChar char="Ø"/>
            </a:pPr>
            <a:r>
              <a:rPr lang="zh-CN" altLang="en-US" sz="2800" dirty="0"/>
              <a:t>引入线程的目的则是减少</a:t>
            </a:r>
            <a:r>
              <a:rPr lang="zh-CN" altLang="en-US" sz="2800" dirty="0"/>
              <a:t>进程在并发执行时所付出的时空开销，提高操作系统的并发性能。线程最直接的理解就是轻量级进程</a:t>
            </a:r>
            <a:endParaRPr lang="zh-CN" altLang="en-US" sz="2800" dirty="0"/>
          </a:p>
          <a:p>
            <a:pPr marL="342900" indent="-342900">
              <a:lnSpc>
                <a:spcPct val="120000"/>
              </a:lnSpc>
              <a:buClr>
                <a:srgbClr val="FF0000"/>
              </a:buClr>
              <a:buFont typeface="Wingdings" panose="05000000000000000000" pitchFamily="2" charset="2"/>
              <a:buChar char="Ø"/>
            </a:pPr>
            <a:endParaRPr lang="zh-CN" altLang="en-US" sz="2800" dirty="0"/>
          </a:p>
        </p:txBody>
      </p:sp>
      <p:sp>
        <p:nvSpPr>
          <p:cNvPr id="3" name="íšḻíḑê"/>
          <p:cNvSpPr/>
          <p:nvPr/>
        </p:nvSpPr>
        <p:spPr>
          <a:xfrm>
            <a:off x="1268144" y="1235508"/>
            <a:ext cx="3696051" cy="405747"/>
          </a:xfrm>
          <a:prstGeom prst="rect">
            <a:avLst/>
          </a:prstGeom>
          <a:noFill/>
          <a:ln>
            <a:noFill/>
          </a:ln>
        </p:spPr>
        <p:txBody>
          <a:bodyPr wrap="square" lIns="91440" tIns="45720" rIns="91440" bIns="45720" anchor="ctr" anchorCtr="0">
            <a:noAutofit/>
          </a:bodyPr>
          <a:p>
            <a:pPr marL="609600" indent="-609600" algn="just">
              <a:lnSpc>
                <a:spcPct val="90000"/>
              </a:lnSpc>
            </a:pPr>
            <a:r>
              <a:rPr lang="zh-CN" altLang="en-US" sz="2800" b="1" dirty="0"/>
              <a:t>线程的引入</a:t>
            </a:r>
            <a:endParaRPr lang="zh-CN" altLang="en-US" sz="2800" b="1" dirty="0"/>
          </a:p>
        </p:txBody>
      </p:sp>
      <p:sp>
        <p:nvSpPr>
          <p:cNvPr id="4" name="îSļiḓè"/>
          <p:cNvSpPr/>
          <p:nvPr/>
        </p:nvSpPr>
        <p:spPr>
          <a:xfrm>
            <a:off x="584641" y="112558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p>
            <a:pPr algn="ctr"/>
          </a:p>
        </p:txBody>
      </p:sp>
      <p:sp>
        <p:nvSpPr>
          <p:cNvPr id="5" name="îṡḷíďe"/>
          <p:cNvSpPr/>
          <p:nvPr/>
        </p:nvSpPr>
        <p:spPr>
          <a:xfrm>
            <a:off x="774896" y="132172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p>
            <a:pPr algn="ctr"/>
          </a:p>
        </p:txBody>
      </p:sp>
      <p:sp>
        <p:nvSpPr>
          <p:cNvPr id="6" name="文本框 5"/>
          <p:cNvSpPr txBox="1"/>
          <p:nvPr/>
        </p:nvSpPr>
        <p:spPr>
          <a:xfrm>
            <a:off x="3298190" y="4768215"/>
            <a:ext cx="6096000" cy="521970"/>
          </a:xfrm>
          <a:prstGeom prst="rect">
            <a:avLst/>
          </a:prstGeom>
          <a:noFill/>
        </p:spPr>
        <p:txBody>
          <a:bodyPr wrap="square" rtlCol="0" anchor="t">
            <a:spAutoFit/>
          </a:bodyPr>
          <a:p>
            <a:r>
              <a:rPr lang="zh-CN" altLang="en-US" sz="2800">
                <a:sym typeface="+mn-ea"/>
              </a:rPr>
              <a:t>（</a:t>
            </a:r>
            <a:r>
              <a:rPr lang="zh-CN" altLang="en-US" sz="2800">
                <a:solidFill>
                  <a:srgbClr val="FF0000"/>
                </a:solidFill>
                <a:sym typeface="+mn-ea"/>
              </a:rPr>
              <a:t>讨论</a:t>
            </a:r>
            <a:r>
              <a:rPr lang="zh-CN" altLang="en-US" sz="2800">
                <a:solidFill>
                  <a:srgbClr val="FF0000"/>
                </a:solidFill>
                <a:sym typeface="+mn-ea"/>
              </a:rPr>
              <a:t>区：线程是什么意思？</a:t>
            </a:r>
            <a:r>
              <a:rPr lang="zh-CN" altLang="en-US" sz="2800">
                <a:sym typeface="+mn-ea"/>
              </a:rPr>
              <a:t>）</a:t>
            </a:r>
            <a:endParaRPr lang="zh-CN" altLang="en-US" sz="280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线程的状态和线程控制块</a:t>
            </a:r>
            <a:endParaRPr lang="zh-CN" altLang="en-US" sz="2800" b="1" dirty="0">
              <a:solidFill>
                <a:schemeClr val="bg1"/>
              </a:solidFill>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183965"/>
            <a:chOff x="660400" y="1128057"/>
            <a:chExt cx="11531600" cy="5183965"/>
          </a:xfrm>
        </p:grpSpPr>
        <p:sp>
          <p:nvSpPr>
            <p:cNvPr id="7"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10" name="iṡļiḓe"/>
            <p:cNvGrpSpPr/>
            <p:nvPr/>
          </p:nvGrpSpPr>
          <p:grpSpPr>
            <a:xfrm>
              <a:off x="660400" y="1834087"/>
              <a:ext cx="6876351" cy="1254559"/>
              <a:chOff x="660400" y="1834087"/>
              <a:chExt cx="6876351" cy="1254559"/>
            </a:xfrm>
          </p:grpSpPr>
          <p:grpSp>
            <p:nvGrpSpPr>
              <p:cNvPr id="21" name="iSḻíḓè"/>
              <p:cNvGrpSpPr/>
              <p:nvPr/>
            </p:nvGrpSpPr>
            <p:grpSpPr>
              <a:xfrm>
                <a:off x="1530997" y="1834087"/>
                <a:ext cx="6005754" cy="1254559"/>
                <a:chOff x="1592242" y="1834087"/>
                <a:chExt cx="7574760" cy="1254559"/>
              </a:xfrm>
            </p:grpSpPr>
            <p:sp>
              <p:nvSpPr>
                <p:cNvPr id="25" name="îṧľîḋé"/>
                <p:cNvSpPr txBox="1"/>
                <p:nvPr/>
              </p:nvSpPr>
              <p:spPr>
                <a:xfrm>
                  <a:off x="1592242" y="183408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t>线程状态</a:t>
                  </a:r>
                  <a:endParaRPr lang="zh-CN" altLang="en-US" sz="2800" dirty="0"/>
                </a:p>
              </p:txBody>
            </p:sp>
            <p:sp>
              <p:nvSpPr>
                <p:cNvPr id="26" name="íşļîḓé"/>
                <p:cNvSpPr/>
                <p:nvPr/>
              </p:nvSpPr>
              <p:spPr bwMode="auto">
                <a:xfrm>
                  <a:off x="1592242" y="2277810"/>
                  <a:ext cx="7574760" cy="81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0000FF"/>
                      </a:solidFill>
                    </a:rPr>
                    <a:t>执行态、就绪态、阻塞态</a:t>
                  </a:r>
                  <a:endParaRPr lang="en-US" altLang="zh-CN" sz="2400" dirty="0">
                    <a:solidFill>
                      <a:srgbClr val="0000FF"/>
                    </a:solidFill>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线程状态转换与进程状态转换一样</a:t>
                  </a:r>
                  <a:endParaRPr lang="zh-CN" altLang="en-US" sz="2400" dirty="0"/>
                </a:p>
              </p:txBody>
            </p:sp>
          </p:grpSp>
          <p:grpSp>
            <p:nvGrpSpPr>
              <p:cNvPr id="22" name="ïS1íḋé"/>
              <p:cNvGrpSpPr/>
              <p:nvPr/>
            </p:nvGrpSpPr>
            <p:grpSpPr>
              <a:xfrm>
                <a:off x="660400" y="1860585"/>
                <a:ext cx="733394" cy="733394"/>
                <a:chOff x="660400" y="1860585"/>
                <a:chExt cx="733394" cy="733394"/>
              </a:xfrm>
            </p:grpSpPr>
            <p:sp>
              <p:nvSpPr>
                <p:cNvPr id="23" name="islîḋe"/>
                <p:cNvSpPr/>
                <p:nvPr/>
              </p:nvSpPr>
              <p:spPr>
                <a:xfrm>
                  <a:off x="660400" y="1860585"/>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24" name="îŝlîďe"/>
                <p:cNvSpPr/>
                <p:nvPr/>
              </p:nvSpPr>
              <p:spPr>
                <a:xfrm>
                  <a:off x="797603" y="2045456"/>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11" name="iŝļïḓê"/>
            <p:cNvGrpSpPr/>
            <p:nvPr/>
          </p:nvGrpSpPr>
          <p:grpSpPr>
            <a:xfrm>
              <a:off x="660400" y="4251929"/>
              <a:ext cx="8421456" cy="2060093"/>
              <a:chOff x="660400" y="1860585"/>
              <a:chExt cx="8421456" cy="2060093"/>
            </a:xfrm>
          </p:grpSpPr>
          <p:grpSp>
            <p:nvGrpSpPr>
              <p:cNvPr id="13" name="ïṧļïḓe"/>
              <p:cNvGrpSpPr/>
              <p:nvPr/>
            </p:nvGrpSpPr>
            <p:grpSpPr>
              <a:xfrm>
                <a:off x="1539875" y="1889655"/>
                <a:ext cx="7541981" cy="2031023"/>
                <a:chOff x="1603439" y="1889655"/>
                <a:chExt cx="9512327" cy="2031023"/>
              </a:xfrm>
            </p:grpSpPr>
            <p:sp>
              <p:nvSpPr>
                <p:cNvPr id="18" name="ïšļíďè"/>
                <p:cNvSpPr txBox="1"/>
                <p:nvPr/>
              </p:nvSpPr>
              <p:spPr>
                <a:xfrm>
                  <a:off x="1603439" y="1889655"/>
                  <a:ext cx="9512327"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dirty="0">
                      <a:solidFill>
                        <a:srgbClr val="FF0000"/>
                      </a:solidFill>
                    </a:rPr>
                    <a:t>线程控制块（</a:t>
                  </a:r>
                  <a:r>
                    <a:rPr lang="en-US" altLang="zh-CN" sz="2800" dirty="0">
                      <a:solidFill>
                        <a:srgbClr val="FF0000"/>
                      </a:solidFill>
                    </a:rPr>
                    <a:t>TCB</a:t>
                  </a:r>
                  <a:r>
                    <a:rPr lang="zh-CN" altLang="en-US" sz="2800" dirty="0">
                      <a:solidFill>
                        <a:srgbClr val="FF0000"/>
                      </a:solidFill>
                    </a:rPr>
                    <a:t>）</a:t>
                  </a:r>
                  <a:endParaRPr lang="zh-CN" altLang="en-US" sz="2800" dirty="0">
                    <a:solidFill>
                      <a:srgbClr val="FF0000"/>
                    </a:solidFill>
                  </a:endParaRPr>
                </a:p>
              </p:txBody>
            </p:sp>
            <p:sp>
              <p:nvSpPr>
                <p:cNvPr id="19" name="íşľíḑè"/>
                <p:cNvSpPr/>
                <p:nvPr/>
              </p:nvSpPr>
              <p:spPr bwMode="auto">
                <a:xfrm>
                  <a:off x="1619683" y="2384893"/>
                  <a:ext cx="6293555" cy="15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buFont typeface="Wingdings" panose="05000000000000000000" pitchFamily="2" charset="2"/>
                    <a:buChar char="Ø"/>
                  </a:pPr>
                  <a:r>
                    <a:rPr lang="zh-CN" altLang="en-US" sz="2400" dirty="0"/>
                    <a:t>线程标识符、一组寄存器、线程运行状态、优先级、线程专有存储区、信号屏蔽、堆栈指针</a:t>
                  </a:r>
                  <a:endParaRPr lang="zh-CN" altLang="en-US" sz="2400" dirty="0"/>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cxnSp>
          <p:nvCxnSpPr>
            <p:cNvPr id="12" name="直接连接符 11"/>
            <p:cNvCxnSpPr/>
            <p:nvPr/>
          </p:nvCxnSpPr>
          <p:spPr>
            <a:xfrm>
              <a:off x="660400" y="3632200"/>
              <a:ext cx="540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线程和进程的比较</a:t>
            </a:r>
            <a:r>
              <a:rPr lang="en-US" altLang="zh-CN" sz="2800" b="1" dirty="0">
                <a:solidFill>
                  <a:schemeClr val="bg1"/>
                </a:solidFill>
              </a:rPr>
              <a:t>(6</a:t>
            </a:r>
            <a:r>
              <a:rPr lang="zh-CN" altLang="en-US" sz="2800" b="1" dirty="0">
                <a:solidFill>
                  <a:schemeClr val="bg1"/>
                </a:solidFill>
              </a:rPr>
              <a:t>个方面</a:t>
            </a:r>
            <a:r>
              <a:rPr lang="en-US" altLang="zh-CN" sz="2800" b="1" dirty="0">
                <a:solidFill>
                  <a:schemeClr val="bg1"/>
                </a:solidFill>
              </a:rPr>
              <a:t>)</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内容占位符 2"/>
          <p:cNvSpPr txBox="1"/>
          <p:nvPr/>
        </p:nvSpPr>
        <p:spPr>
          <a:xfrm>
            <a:off x="1734478" y="1397274"/>
            <a:ext cx="9992924" cy="29200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调度</a:t>
            </a:r>
            <a:endParaRPr lang="zh-CN" altLang="en-US" sz="2400" dirty="0">
              <a:solidFill>
                <a:srgbClr val="FF0000"/>
              </a:solidFill>
            </a:endParaRPr>
          </a:p>
          <a:p>
            <a:pPr marL="0" indent="0">
              <a:lnSpc>
                <a:spcPct val="132000"/>
              </a:lnSpc>
              <a:buNone/>
            </a:pPr>
            <a:r>
              <a:rPr lang="zh-CN" altLang="en-US" sz="2200" dirty="0"/>
              <a:t>在传统的</a:t>
            </a:r>
            <a:r>
              <a:rPr lang="en-US" altLang="zh-CN" sz="2200" dirty="0"/>
              <a:t>OS</a:t>
            </a:r>
            <a:r>
              <a:rPr lang="zh-CN" altLang="en-US" sz="2200" dirty="0"/>
              <a:t>中，拥有资源、独立调度和分派的基本单位都是进程；</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在引入线程的</a:t>
            </a:r>
            <a:r>
              <a:rPr lang="en-US" altLang="zh-CN" sz="2200" dirty="0"/>
              <a:t>OS</a:t>
            </a:r>
            <a:r>
              <a:rPr lang="zh-CN" altLang="en-US" sz="2200" dirty="0"/>
              <a:t>中，线程作为调度和分派的基本单位，进程作为资源拥有的基本单位；</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在同一进程中，线程的切换不会引起进程切换，在由一个进程中的线程切换到另一个进程中的线程时，将会引起进程切换。</a:t>
            </a:r>
            <a:endParaRPr lang="zh-CN" altLang="en-US" sz="2200" dirty="0"/>
          </a:p>
        </p:txBody>
      </p:sp>
      <p:sp>
        <p:nvSpPr>
          <p:cNvPr id="33" name="ïś1ïḑè"/>
          <p:cNvSpPr/>
          <p:nvPr/>
        </p:nvSpPr>
        <p:spPr>
          <a:xfrm>
            <a:off x="784303" y="4397220"/>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4" name="内容占位符 2"/>
          <p:cNvSpPr txBox="1"/>
          <p:nvPr/>
        </p:nvSpPr>
        <p:spPr>
          <a:xfrm>
            <a:off x="1734478" y="4628114"/>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并发性</a:t>
            </a:r>
            <a:endParaRPr lang="zh-CN" altLang="en-US" sz="2400" dirty="0"/>
          </a:p>
        </p:txBody>
      </p:sp>
      <p:sp>
        <p:nvSpPr>
          <p:cNvPr id="35" name="内容占位符 2"/>
          <p:cNvSpPr txBox="1"/>
          <p:nvPr/>
        </p:nvSpPr>
        <p:spPr>
          <a:xfrm>
            <a:off x="1321480" y="5171319"/>
            <a:ext cx="10405922" cy="10711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在引入</a:t>
            </a:r>
            <a:r>
              <a:rPr lang="zh-CN" altLang="en-US" sz="2200" dirty="0">
                <a:solidFill>
                  <a:srgbClr val="FF0000"/>
                </a:solidFill>
              </a:rPr>
              <a:t>线程</a:t>
            </a:r>
            <a:r>
              <a:rPr lang="zh-CN" altLang="en-US" sz="2200" dirty="0"/>
              <a:t>的操作系统中，不仅</a:t>
            </a:r>
            <a:r>
              <a:rPr lang="zh-CN" altLang="en-US" sz="2200" dirty="0">
                <a:solidFill>
                  <a:srgbClr val="0000FF"/>
                </a:solidFill>
              </a:rPr>
              <a:t>进程</a:t>
            </a:r>
            <a:r>
              <a:rPr lang="zh-CN" altLang="en-US" sz="2200" dirty="0"/>
              <a:t>之间可以并发执行，而且在一个</a:t>
            </a:r>
            <a:r>
              <a:rPr lang="zh-CN" altLang="en-US" sz="2200" dirty="0">
                <a:solidFill>
                  <a:srgbClr val="0000FF"/>
                </a:solidFill>
              </a:rPr>
              <a:t>进程</a:t>
            </a:r>
            <a:r>
              <a:rPr lang="zh-CN" altLang="en-US" sz="2200" dirty="0"/>
              <a:t>中的多个</a:t>
            </a:r>
            <a:r>
              <a:rPr lang="zh-CN" altLang="en-US" sz="2200" dirty="0">
                <a:solidFill>
                  <a:srgbClr val="FF0000"/>
                </a:solidFill>
              </a:rPr>
              <a:t>线程</a:t>
            </a:r>
            <a:r>
              <a:rPr lang="zh-CN" altLang="en-US" sz="2200" dirty="0"/>
              <a:t>之间，也可并发执行，提高了系统资源利用率和</a:t>
            </a:r>
            <a:r>
              <a:rPr lang="zh-CN" altLang="en-US" sz="2200" dirty="0"/>
              <a:t>系统吞吐量。</a:t>
            </a:r>
            <a:endParaRPr lang="zh-CN" alt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线程和进程的比较</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拥有资源</a:t>
            </a:r>
            <a:endParaRPr lang="zh-CN" altLang="en-US" sz="2400" dirty="0"/>
          </a:p>
          <a:p>
            <a:pPr marL="0" lvl="1" indent="0">
              <a:lnSpc>
                <a:spcPct val="132000"/>
              </a:lnSpc>
              <a:buClr>
                <a:srgbClr val="0000FF"/>
              </a:buClr>
              <a:buFont typeface="Wingdings" panose="05000000000000000000" pitchFamily="2" charset="2"/>
              <a:buChar char="Ø"/>
            </a:pPr>
            <a:r>
              <a:rPr lang="zh-CN" altLang="en-US" sz="2200" dirty="0">
                <a:solidFill>
                  <a:srgbClr val="0000FF"/>
                </a:solidFill>
              </a:rPr>
              <a:t>进程</a:t>
            </a:r>
            <a:r>
              <a:rPr lang="zh-CN" altLang="en-US" sz="2200" dirty="0"/>
              <a:t>是系统中拥有资源的一个基本单位，它可以拥有资源。</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solidFill>
                  <a:srgbClr val="FF0000"/>
                </a:solidFill>
              </a:rPr>
              <a:t>线程</a:t>
            </a:r>
            <a:r>
              <a:rPr lang="zh-CN" altLang="en-US" sz="2200" dirty="0"/>
              <a:t>本身不拥有系统资源，仅需一点保证独立运行的资源</a:t>
            </a:r>
            <a:r>
              <a:rPr lang="zh-CN" altLang="en-US" sz="2200" dirty="0"/>
              <a:t>即可。</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允许多个</a:t>
            </a:r>
            <a:r>
              <a:rPr lang="zh-CN" altLang="en-US" sz="2200" dirty="0">
                <a:solidFill>
                  <a:srgbClr val="FF0000"/>
                </a:solidFill>
              </a:rPr>
              <a:t>线程</a:t>
            </a:r>
            <a:r>
              <a:rPr lang="zh-CN" altLang="en-US" sz="2200" dirty="0"/>
              <a:t>共享其隶属</a:t>
            </a:r>
            <a:r>
              <a:rPr lang="zh-CN" altLang="en-US" sz="2200" dirty="0">
                <a:solidFill>
                  <a:srgbClr val="0000FF"/>
                </a:solidFill>
              </a:rPr>
              <a:t>进程</a:t>
            </a:r>
            <a:r>
              <a:rPr lang="zh-CN" altLang="en-US" sz="2200" dirty="0"/>
              <a:t>所拥有的资源。</a:t>
            </a:r>
            <a:endParaRPr lang="zh-CN" altLang="en-US" sz="2200" dirty="0"/>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9" name="内容占位符 2"/>
          <p:cNvSpPr txBox="1"/>
          <p:nvPr/>
        </p:nvSpPr>
        <p:spPr>
          <a:xfrm>
            <a:off x="1734478" y="3898442"/>
            <a:ext cx="2573361"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FF0000"/>
                </a:solidFill>
              </a:rPr>
              <a:t>独立性</a:t>
            </a:r>
            <a:endParaRPr lang="zh-CN" altLang="en-US" sz="2400" dirty="0">
              <a:solidFill>
                <a:srgbClr val="FF0000"/>
              </a:solidFill>
            </a:endParaRPr>
          </a:p>
        </p:txBody>
      </p:sp>
      <p:sp>
        <p:nvSpPr>
          <p:cNvPr id="10" name="内容占位符 2"/>
          <p:cNvSpPr txBox="1"/>
          <p:nvPr/>
        </p:nvSpPr>
        <p:spPr>
          <a:xfrm>
            <a:off x="1321435" y="4441825"/>
            <a:ext cx="10405745" cy="15773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进程都拥有独立的内存空间和资源，除了共享全局变量，不允许其他进程</a:t>
            </a:r>
            <a:r>
              <a:rPr lang="zh-CN" altLang="en-US" sz="2200" dirty="0"/>
              <a:t>访问</a:t>
            </a:r>
            <a:endParaRPr lang="zh-CN" altLang="en-US" sz="2200" dirty="0"/>
          </a:p>
          <a:p>
            <a:pPr lvl="1">
              <a:lnSpc>
                <a:spcPct val="132000"/>
              </a:lnSpc>
              <a:buClr>
                <a:srgbClr val="0000FF"/>
              </a:buClr>
              <a:buFont typeface="Wingdings" panose="05000000000000000000" pitchFamily="2" charset="2"/>
              <a:buChar char="Ø"/>
            </a:pPr>
            <a:r>
              <a:rPr lang="zh-CN" altLang="en-US" sz="2200" dirty="0"/>
              <a:t>某进程中的线程对其他进程</a:t>
            </a:r>
            <a:r>
              <a:rPr lang="zh-CN" altLang="en-US" sz="2200" dirty="0"/>
              <a:t>不可见</a:t>
            </a:r>
            <a:endParaRPr lang="zh-CN" altLang="en-US" sz="2200" dirty="0"/>
          </a:p>
          <a:p>
            <a:pPr lvl="1">
              <a:lnSpc>
                <a:spcPct val="132000"/>
              </a:lnSpc>
              <a:buClr>
                <a:srgbClr val="0000FF"/>
              </a:buClr>
              <a:buFont typeface="Wingdings" panose="05000000000000000000" pitchFamily="2" charset="2"/>
              <a:buChar char="Ø"/>
            </a:pPr>
            <a:r>
              <a:rPr lang="zh-CN" altLang="en-US" sz="2200" dirty="0"/>
              <a:t>同一进程中的不同线程共享进程空间</a:t>
            </a:r>
            <a:r>
              <a:rPr lang="zh-CN" altLang="en-US" sz="2200" dirty="0"/>
              <a:t>和资源，独立性要比不同进程之间的独立性低得多。</a:t>
            </a:r>
            <a:endParaRPr lang="zh-CN" alt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线程和进程的比较</a:t>
            </a:r>
            <a:endParaRPr lang="zh-CN" altLang="en-US" sz="2800" b="1" dirty="0">
              <a:solidFill>
                <a:schemeClr val="bg1"/>
              </a:solidFill>
            </a:endParaRPr>
          </a:p>
        </p:txBody>
      </p:sp>
      <p:sp>
        <p:nvSpPr>
          <p:cNvPr id="30" name="iśḷíḑe"/>
          <p:cNvSpPr/>
          <p:nvPr/>
        </p:nvSpPr>
        <p:spPr>
          <a:xfrm>
            <a:off x="784302" y="1352848"/>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31" name="内容占位符 2"/>
          <p:cNvSpPr txBox="1"/>
          <p:nvPr/>
        </p:nvSpPr>
        <p:spPr>
          <a:xfrm>
            <a:off x="1734478" y="1397274"/>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系统开销</a:t>
            </a:r>
            <a:endParaRPr lang="zh-CN" altLang="en-US" sz="2400" dirty="0"/>
          </a:p>
          <a:p>
            <a:pPr marL="0" lvl="1" indent="0">
              <a:lnSpc>
                <a:spcPct val="132000"/>
              </a:lnSpc>
              <a:buClr>
                <a:srgbClr val="0000FF"/>
              </a:buClr>
              <a:buFont typeface="Wingdings" panose="05000000000000000000" pitchFamily="2" charset="2"/>
              <a:buChar char="Ø"/>
            </a:pPr>
            <a:r>
              <a:rPr lang="zh-CN" altLang="en-US" sz="2200" dirty="0"/>
              <a:t>在创建或撤消进程时，</a:t>
            </a:r>
            <a:r>
              <a:rPr lang="en-US" altLang="zh-CN" sz="2200" dirty="0"/>
              <a:t>OS</a:t>
            </a:r>
            <a:r>
              <a:rPr lang="zh-CN" altLang="en-US" sz="2200" dirty="0"/>
              <a:t>所付出的开销将显著大于创建或撤消线程时的开销。</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线程切换的代价远低于进程切换的代价。</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同一进程中的多个线程之间的同步和通信也比进程的简单，甚至无需</a:t>
            </a:r>
            <a:r>
              <a:rPr lang="en-US" altLang="zh-CN" sz="2200" dirty="0"/>
              <a:t>os</a:t>
            </a:r>
            <a:r>
              <a:rPr lang="zh-CN" altLang="en-US" sz="2200" dirty="0"/>
              <a:t>干预。</a:t>
            </a:r>
            <a:endParaRPr lang="zh-CN" altLang="en-US" sz="2200" dirty="0"/>
          </a:p>
        </p:txBody>
      </p:sp>
      <p:sp>
        <p:nvSpPr>
          <p:cNvPr id="8" name="ïś1ïḑè"/>
          <p:cNvSpPr/>
          <p:nvPr/>
        </p:nvSpPr>
        <p:spPr>
          <a:xfrm>
            <a:off x="784303" y="3667548"/>
            <a:ext cx="774099" cy="774099"/>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06</a:t>
            </a:r>
            <a:endParaRPr lang="zh-CN" altLang="en-US" sz="2400" b="1" kern="0" dirty="0">
              <a:solidFill>
                <a:prstClr val="white"/>
              </a:solidFill>
            </a:endParaRPr>
          </a:p>
        </p:txBody>
      </p:sp>
      <p:sp>
        <p:nvSpPr>
          <p:cNvPr id="9" name="内容占位符 2"/>
          <p:cNvSpPr txBox="1"/>
          <p:nvPr/>
        </p:nvSpPr>
        <p:spPr>
          <a:xfrm>
            <a:off x="1734478" y="3898442"/>
            <a:ext cx="3396815"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支持多处理机系统</a:t>
            </a:r>
            <a:endParaRPr lang="zh-CN" altLang="en-US" sz="2400" dirty="0"/>
          </a:p>
        </p:txBody>
      </p:sp>
      <p:sp>
        <p:nvSpPr>
          <p:cNvPr id="2" name="文本框 1"/>
          <p:cNvSpPr txBox="1"/>
          <p:nvPr/>
        </p:nvSpPr>
        <p:spPr>
          <a:xfrm>
            <a:off x="1734185" y="4208145"/>
            <a:ext cx="9992995" cy="1276350"/>
          </a:xfrm>
          <a:prstGeom prst="rect">
            <a:avLst/>
          </a:prstGeom>
          <a:noFill/>
        </p:spPr>
        <p:txBody>
          <a:bodyPr wrap="square" rtlCol="0" anchor="t">
            <a:spAutoFit/>
          </a:bodyPr>
          <a:p>
            <a:pPr marL="0" lvl="1" indent="0">
              <a:lnSpc>
                <a:spcPct val="150000"/>
              </a:lnSpc>
              <a:buClr>
                <a:srgbClr val="0000FF"/>
              </a:buClr>
              <a:buFont typeface="Wingdings" panose="05000000000000000000" pitchFamily="2" charset="2"/>
              <a:buChar char="Ø"/>
            </a:pPr>
            <a:r>
              <a:rPr lang="zh-CN" altLang="en-US" sz="2200" dirty="0">
                <a:sym typeface="+mn-ea"/>
              </a:rPr>
              <a:t>对于传统单线程进程，不管有多少处理机进程，只能运行在一个处理机上。</a:t>
            </a:r>
            <a:endParaRPr lang="zh-CN" altLang="en-US" sz="2200" dirty="0">
              <a:sym typeface="+mn-ea"/>
            </a:endParaRPr>
          </a:p>
          <a:p>
            <a:pPr marL="0" lvl="1" indent="0">
              <a:lnSpc>
                <a:spcPct val="200000"/>
              </a:lnSpc>
              <a:buClr>
                <a:srgbClr val="0000FF"/>
              </a:buClr>
              <a:buFont typeface="Wingdings" panose="05000000000000000000" pitchFamily="2" charset="2"/>
              <a:buChar char="Ø"/>
            </a:pPr>
            <a:r>
              <a:rPr lang="zh-CN" altLang="en-US" sz="2200" dirty="0">
                <a:sym typeface="+mn-ea"/>
              </a:rPr>
              <a:t>对于多线程进程，可以将进程中的多个线程分配到多个处理器上执行</a:t>
            </a:r>
            <a:endParaRPr lang="zh-CN" altLang="en-US" sz="2200" dirty="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进程与线程</a:t>
            </a:r>
            <a:r>
              <a:rPr lang="zh-CN" altLang="en-US" sz="2800" b="1" dirty="0">
                <a:solidFill>
                  <a:schemeClr val="bg1"/>
                </a:solidFill>
              </a:rPr>
              <a:t>比较</a:t>
            </a:r>
            <a:endParaRPr lang="zh-CN" altLang="en-US" sz="2800" b="1" dirty="0">
              <a:solidFill>
                <a:schemeClr val="bg1"/>
              </a:solidFill>
            </a:endParaRPr>
          </a:p>
        </p:txBody>
      </p:sp>
      <p:pic>
        <p:nvPicPr>
          <p:cNvPr id="2" name="图片 1"/>
          <p:cNvPicPr>
            <a:picLocks noChangeAspect="1"/>
          </p:cNvPicPr>
          <p:nvPr/>
        </p:nvPicPr>
        <p:blipFill>
          <a:blip r:embed="rId1"/>
          <a:srcRect l="780" t="3204" b="-1346"/>
          <a:stretch>
            <a:fillRect/>
          </a:stretch>
        </p:blipFill>
        <p:spPr>
          <a:xfrm>
            <a:off x="392430" y="1397635"/>
            <a:ext cx="11799570" cy="42595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Date</a:t>
            </a:r>
            <a:endParaRPr lang="zh-CN" altLang="en-US" dirty="0"/>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endParaRPr lang="zh-CN" altLang="en-US" sz="2800" b="1" dirty="0">
              <a:solidFill>
                <a:schemeClr val="bg1"/>
              </a:solidFill>
            </a:endParaRPr>
          </a:p>
        </p:txBody>
      </p:sp>
      <p:sp>
        <p:nvSpPr>
          <p:cNvPr id="3" name="矩形 2"/>
          <p:cNvSpPr/>
          <p:nvPr/>
        </p:nvSpPr>
        <p:spPr>
          <a:xfrm>
            <a:off x="6670514" y="2405303"/>
            <a:ext cx="5186035" cy="646331"/>
          </a:xfrm>
          <a:prstGeom prst="rect">
            <a:avLst/>
          </a:prstGeom>
        </p:spPr>
        <p:txBody>
          <a:bodyPr wrap="none">
            <a:spAutoFit/>
          </a:bodyPr>
          <a:lstStyle/>
          <a:p>
            <a:r>
              <a:rPr lang="zh-CN" altLang="en-US" sz="3600" dirty="0">
                <a:solidFill>
                  <a:srgbClr val="000000"/>
                </a:solidFill>
              </a:rPr>
              <a:t>第</a:t>
            </a:r>
            <a:r>
              <a:rPr lang="en-US" altLang="zh-CN" sz="3600" dirty="0">
                <a:solidFill>
                  <a:srgbClr val="000000"/>
                </a:solidFill>
              </a:rPr>
              <a:t>2</a:t>
            </a:r>
            <a:r>
              <a:rPr lang="zh-CN" altLang="en-US" sz="3600" dirty="0">
                <a:solidFill>
                  <a:srgbClr val="000000"/>
                </a:solidFill>
              </a:rPr>
              <a:t>章 进程的描述与控制</a:t>
            </a:r>
            <a:endParaRPr lang="zh-CN" altLang="en-US" sz="3600" dirty="0">
              <a:solidFill>
                <a:srgbClr val="000000"/>
              </a:solidFill>
            </a:endParaRPr>
          </a:p>
        </p:txBody>
      </p:sp>
      <p:cxnSp>
        <p:nvCxnSpPr>
          <p:cNvPr id="5" name="直接连接符 4"/>
          <p:cNvCxnSpPr/>
          <p:nvPr/>
        </p:nvCxnSpPr>
        <p:spPr>
          <a:xfrm>
            <a:off x="6867331" y="3190471"/>
            <a:ext cx="4679791"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053290"/>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638430"/>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293899"/>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912372"/>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538452"/>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5176165"/>
            <a:ext cx="527050" cy="527050"/>
          </a:xfrm>
          <a:prstGeom prst="rect">
            <a:avLst/>
          </a:prstGeom>
          <a:ln>
            <a:noFill/>
          </a:ln>
          <a:effectLst>
            <a:softEdge rad="0"/>
          </a:effectLst>
        </p:spPr>
      </p:pic>
      <p:sp>
        <p:nvSpPr>
          <p:cNvPr id="33" name="矩形 32"/>
          <p:cNvSpPr/>
          <p:nvPr/>
        </p:nvSpPr>
        <p:spPr>
          <a:xfrm>
            <a:off x="1839337" y="2109344"/>
            <a:ext cx="3488967" cy="461665"/>
          </a:xfrm>
          <a:prstGeom prst="rect">
            <a:avLst/>
          </a:prstGeom>
        </p:spPr>
        <p:txBody>
          <a:bodyPr wrap="square">
            <a:spAutoFit/>
          </a:bodyPr>
          <a:lstStyle/>
          <a:p>
            <a:r>
              <a:rPr lang="en-US" altLang="zh-CN" sz="2400" dirty="0">
                <a:latin typeface="+mj-ea"/>
                <a:ea typeface="+mj-ea"/>
              </a:rPr>
              <a:t>2.1 </a:t>
            </a:r>
            <a:r>
              <a:rPr lang="zh-CN" altLang="en-US" sz="2400" dirty="0">
                <a:latin typeface="+mj-ea"/>
                <a:ea typeface="+mj-ea"/>
              </a:rPr>
              <a:t>前趋图和程序执行</a:t>
            </a:r>
            <a:endParaRPr lang="zh-CN" altLang="en-US" sz="2400" dirty="0">
              <a:latin typeface="+mj-ea"/>
              <a:ea typeface="+mj-ea"/>
            </a:endParaRPr>
          </a:p>
        </p:txBody>
      </p:sp>
      <p:sp>
        <p:nvSpPr>
          <p:cNvPr id="34" name="矩形 33"/>
          <p:cNvSpPr/>
          <p:nvPr/>
        </p:nvSpPr>
        <p:spPr>
          <a:xfrm>
            <a:off x="1839338" y="2728469"/>
            <a:ext cx="3682150" cy="461665"/>
          </a:xfrm>
          <a:prstGeom prst="rect">
            <a:avLst/>
          </a:prstGeom>
        </p:spPr>
        <p:txBody>
          <a:bodyPr wrap="square">
            <a:spAutoFit/>
          </a:bodyPr>
          <a:lstStyle/>
          <a:p>
            <a:r>
              <a:rPr lang="en-US" altLang="zh-CN" sz="2400" dirty="0">
                <a:latin typeface="+mj-ea"/>
              </a:rPr>
              <a:t>2.2 </a:t>
            </a:r>
            <a:r>
              <a:rPr lang="zh-CN" altLang="en-US" sz="2400" dirty="0">
                <a:latin typeface="+mj-ea"/>
              </a:rPr>
              <a:t>进程的描述</a:t>
            </a:r>
            <a:endParaRPr lang="zh-CN" altLang="en-US" sz="2400" dirty="0">
              <a:latin typeface="+mj-ea"/>
            </a:endParaRPr>
          </a:p>
        </p:txBody>
      </p:sp>
      <p:sp>
        <p:nvSpPr>
          <p:cNvPr id="35" name="矩形 34"/>
          <p:cNvSpPr/>
          <p:nvPr/>
        </p:nvSpPr>
        <p:spPr>
          <a:xfrm>
            <a:off x="1839337" y="3347594"/>
            <a:ext cx="3488967" cy="461665"/>
          </a:xfrm>
          <a:prstGeom prst="rect">
            <a:avLst/>
          </a:prstGeom>
        </p:spPr>
        <p:txBody>
          <a:bodyPr wrap="square">
            <a:spAutoFit/>
          </a:bodyPr>
          <a:lstStyle/>
          <a:p>
            <a:r>
              <a:rPr lang="en-US" altLang="zh-CN" sz="2400" dirty="0">
                <a:latin typeface="+mj-ea"/>
              </a:rPr>
              <a:t>2.3 </a:t>
            </a:r>
            <a:r>
              <a:rPr lang="zh-CN" altLang="en-US" sz="2400" dirty="0">
                <a:latin typeface="+mj-ea"/>
              </a:rPr>
              <a:t>进程控制</a:t>
            </a:r>
            <a:endParaRPr lang="zh-CN" altLang="en-US" sz="2400" dirty="0">
              <a:latin typeface="+mj-ea"/>
            </a:endParaRPr>
          </a:p>
        </p:txBody>
      </p:sp>
      <p:sp>
        <p:nvSpPr>
          <p:cNvPr id="36" name="矩形 35"/>
          <p:cNvSpPr/>
          <p:nvPr/>
        </p:nvSpPr>
        <p:spPr>
          <a:xfrm>
            <a:off x="1839337" y="3966719"/>
            <a:ext cx="3488967" cy="461665"/>
          </a:xfrm>
          <a:prstGeom prst="rect">
            <a:avLst/>
          </a:prstGeom>
        </p:spPr>
        <p:txBody>
          <a:bodyPr wrap="square">
            <a:spAutoFit/>
          </a:bodyPr>
          <a:lstStyle/>
          <a:p>
            <a:r>
              <a:rPr lang="en-US" altLang="zh-CN" sz="2400" dirty="0">
                <a:latin typeface="+mj-ea"/>
              </a:rPr>
              <a:t>2.4 </a:t>
            </a:r>
            <a:r>
              <a:rPr lang="zh-CN" altLang="en-US" sz="2400" dirty="0">
                <a:latin typeface="+mj-ea"/>
              </a:rPr>
              <a:t>进程通信</a:t>
            </a:r>
            <a:endParaRPr lang="zh-CN" altLang="en-US" sz="2400" dirty="0">
              <a:latin typeface="+mj-ea"/>
            </a:endParaRPr>
          </a:p>
        </p:txBody>
      </p:sp>
      <p:sp>
        <p:nvSpPr>
          <p:cNvPr id="37" name="矩形 36"/>
          <p:cNvSpPr/>
          <p:nvPr/>
        </p:nvSpPr>
        <p:spPr>
          <a:xfrm>
            <a:off x="1839337" y="4585844"/>
            <a:ext cx="3367145" cy="461665"/>
          </a:xfrm>
          <a:prstGeom prst="rect">
            <a:avLst/>
          </a:prstGeom>
        </p:spPr>
        <p:txBody>
          <a:bodyPr wrap="square">
            <a:spAutoFit/>
          </a:bodyPr>
          <a:lstStyle/>
          <a:p>
            <a:r>
              <a:rPr lang="en-US" altLang="zh-CN" sz="2400" dirty="0">
                <a:latin typeface="+mj-ea"/>
              </a:rPr>
              <a:t>2.5 </a:t>
            </a:r>
            <a:r>
              <a:rPr lang="zh-CN" altLang="en-US" sz="2400" dirty="0">
                <a:latin typeface="+mj-ea"/>
              </a:rPr>
              <a:t>线程的基本概念</a:t>
            </a:r>
            <a:endParaRPr lang="zh-CN" altLang="en-US" sz="2400" dirty="0">
              <a:latin typeface="+mj-ea"/>
            </a:endParaRPr>
          </a:p>
        </p:txBody>
      </p:sp>
      <p:sp>
        <p:nvSpPr>
          <p:cNvPr id="38" name="矩形 37"/>
          <p:cNvSpPr/>
          <p:nvPr/>
        </p:nvSpPr>
        <p:spPr>
          <a:xfrm>
            <a:off x="1839337" y="5204969"/>
            <a:ext cx="3682151" cy="461665"/>
          </a:xfrm>
          <a:prstGeom prst="rect">
            <a:avLst/>
          </a:prstGeom>
        </p:spPr>
        <p:txBody>
          <a:bodyPr wrap="square">
            <a:spAutoFit/>
          </a:bodyPr>
          <a:lstStyle/>
          <a:p>
            <a:r>
              <a:rPr lang="en-US" altLang="zh-CN" sz="2400" dirty="0">
                <a:solidFill>
                  <a:srgbClr val="0000FF"/>
                </a:solidFill>
                <a:latin typeface="+mj-ea"/>
              </a:rPr>
              <a:t>2.6 </a:t>
            </a:r>
            <a:r>
              <a:rPr lang="zh-CN" altLang="en-US" sz="2400" dirty="0">
                <a:solidFill>
                  <a:srgbClr val="0000FF"/>
                </a:solidFill>
                <a:latin typeface="+mj-ea"/>
              </a:rPr>
              <a:t>线程的实现</a:t>
            </a:r>
            <a:endParaRPr lang="zh-CN" altLang="en-US" sz="2400" dirty="0">
              <a:solidFill>
                <a:srgbClr val="0000FF"/>
              </a:solidFill>
              <a:latin typeface="+mj-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线程的实现</a:t>
            </a:r>
            <a:endParaRPr lang="zh-CN" altLang="en-US" sz="2800" b="1" dirty="0">
              <a:solidFill>
                <a:schemeClr val="bg1"/>
              </a:solidFill>
            </a:endParaRPr>
          </a:p>
        </p:txBody>
      </p:sp>
      <p:sp>
        <p:nvSpPr>
          <p:cNvPr id="16" name="íSľïdé"/>
          <p:cNvSpPr/>
          <p:nvPr/>
        </p:nvSpPr>
        <p:spPr>
          <a:xfrm>
            <a:off x="402612" y="104344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7" name="ïŝļíḓê"/>
          <p:cNvSpPr/>
          <p:nvPr/>
        </p:nvSpPr>
        <p:spPr bwMode="auto">
          <a:xfrm>
            <a:off x="3904567" y="1119672"/>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30" name="内容占位符 2"/>
          <p:cNvSpPr txBox="1"/>
          <p:nvPr/>
        </p:nvSpPr>
        <p:spPr>
          <a:xfrm>
            <a:off x="281293" y="1699427"/>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实现方式：</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内核支持线程</a:t>
            </a:r>
            <a:r>
              <a:rPr lang="en-US" altLang="zh-CN" sz="2400" dirty="0">
                <a:solidFill>
                  <a:schemeClr val="tx1">
                    <a:lumMod val="65000"/>
                    <a:lumOff val="35000"/>
                  </a:schemeClr>
                </a:solidFill>
              </a:rPr>
              <a:t>K</a:t>
            </a:r>
            <a:r>
              <a:rPr lang="en-US" altLang="zh-CN" sz="2400" dirty="0">
                <a:solidFill>
                  <a:schemeClr val="tx1">
                    <a:lumMod val="65000"/>
                    <a:lumOff val="35000"/>
                  </a:schemeClr>
                </a:solidFill>
              </a:rPr>
              <a:t>LT</a:t>
            </a:r>
            <a:endParaRPr lang="en-US" altLang="zh-CN"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用户级线程</a:t>
            </a:r>
            <a:r>
              <a:rPr lang="en-US" altLang="zh-CN" sz="2400" dirty="0">
                <a:solidFill>
                  <a:schemeClr val="tx1">
                    <a:lumMod val="65000"/>
                    <a:lumOff val="35000"/>
                  </a:schemeClr>
                </a:solidFill>
              </a:rPr>
              <a:t>ULT</a:t>
            </a:r>
            <a:endParaRPr lang="en-US" altLang="zh-CN"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组合方式</a:t>
            </a:r>
            <a:endParaRPr lang="zh-CN" altLang="en-US" sz="2400" dirty="0">
              <a:solidFill>
                <a:schemeClr val="tx1">
                  <a:lumMod val="65000"/>
                  <a:lumOff val="35000"/>
                </a:schemeClr>
              </a:solidFill>
            </a:endParaRPr>
          </a:p>
        </p:txBody>
      </p:sp>
      <p:sp>
        <p:nvSpPr>
          <p:cNvPr id="33" name="内容占位符 2"/>
          <p:cNvSpPr txBox="1"/>
          <p:nvPr/>
        </p:nvSpPr>
        <p:spPr>
          <a:xfrm>
            <a:off x="4784090" y="1119505"/>
            <a:ext cx="7086600" cy="44443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具体实现：</a:t>
            </a:r>
            <a:endParaRPr lang="en-US" altLang="zh-CN"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内核支持线程的实现（利用系统调用）</a:t>
            </a:r>
            <a:endParaRPr lang="zh-CN" altLang="en-US" sz="2400" dirty="0">
              <a:solidFill>
                <a:schemeClr val="tx1">
                  <a:lumMod val="65000"/>
                  <a:lumOff val="35000"/>
                </a:schemeClr>
              </a:solidFill>
            </a:endParaRPr>
          </a:p>
          <a:p>
            <a:pPr marL="914400" lvl="4" indent="-342900">
              <a:lnSpc>
                <a:spcPct val="132000"/>
              </a:lnSpc>
              <a:spcBef>
                <a:spcPts val="370"/>
              </a:spcBef>
              <a:buClr>
                <a:srgbClr val="E71101"/>
              </a:buClr>
              <a:buSzPct val="60000"/>
              <a:buFont typeface="Wingdings" panose="05000000000000000000" pitchFamily="2" charset="2"/>
              <a:buChar char="Ø"/>
              <a:defRPr/>
            </a:pPr>
            <a:r>
              <a:rPr lang="zh-CN" altLang="en-US" sz="1800" dirty="0">
                <a:solidFill>
                  <a:schemeClr val="tx1">
                    <a:lumMod val="65000"/>
                    <a:lumOff val="35000"/>
                  </a:schemeClr>
                </a:solidFill>
              </a:rPr>
              <a:t>线程和进程一样，均在</a:t>
            </a:r>
            <a:r>
              <a:rPr lang="zh-CN" altLang="en-US" sz="1800" b="1" dirty="0">
                <a:solidFill>
                  <a:schemeClr val="tx1">
                    <a:lumMod val="65000"/>
                    <a:lumOff val="35000"/>
                  </a:schemeClr>
                </a:solidFill>
              </a:rPr>
              <a:t>内核空间</a:t>
            </a:r>
            <a:r>
              <a:rPr lang="zh-CN" altLang="en-US" sz="1800" dirty="0">
                <a:solidFill>
                  <a:schemeClr val="tx1">
                    <a:lumMod val="65000"/>
                    <a:lumOff val="35000"/>
                  </a:schemeClr>
                </a:solidFill>
              </a:rPr>
              <a:t>下实现。</a:t>
            </a:r>
            <a:r>
              <a:rPr lang="zh-CN" altLang="en-US" sz="1800" dirty="0">
                <a:solidFill>
                  <a:schemeClr val="tx1">
                    <a:lumMod val="65000"/>
                    <a:lumOff val="35000"/>
                  </a:schemeClr>
                </a:solidFill>
                <a:sym typeface="+mn-ea"/>
              </a:rPr>
              <a:t>调度的最小单</a:t>
            </a:r>
            <a:r>
              <a:rPr lang="en-US" altLang="zh-CN" sz="1800" dirty="0">
                <a:solidFill>
                  <a:schemeClr val="tx1">
                    <a:lumMod val="65000"/>
                    <a:lumOff val="35000"/>
                  </a:schemeClr>
                </a:solidFill>
                <a:sym typeface="+mn-ea"/>
              </a:rPr>
              <a:t>   </a:t>
            </a:r>
            <a:endParaRPr lang="en-US" altLang="zh-CN" sz="1800" dirty="0">
              <a:solidFill>
                <a:schemeClr val="tx1">
                  <a:lumMod val="65000"/>
                  <a:lumOff val="35000"/>
                </a:schemeClr>
              </a:solidFill>
              <a:sym typeface="+mn-ea"/>
            </a:endParaRPr>
          </a:p>
          <a:p>
            <a:pPr marL="457200" lvl="3" indent="0">
              <a:lnSpc>
                <a:spcPct val="132000"/>
              </a:lnSpc>
              <a:spcBef>
                <a:spcPts val="370"/>
              </a:spcBef>
              <a:buClr>
                <a:srgbClr val="E71101"/>
              </a:buClr>
              <a:buSzPct val="60000"/>
              <a:buFont typeface="Wingdings" panose="05000000000000000000" pitchFamily="2" charset="2"/>
              <a:buNone/>
              <a:defRPr/>
            </a:pP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位是线程</a:t>
            </a:r>
            <a:endParaRPr lang="zh-CN" altLang="en-US" sz="1800" dirty="0">
              <a:solidFill>
                <a:schemeClr val="tx1">
                  <a:lumMod val="65000"/>
                  <a:lumOff val="35000"/>
                </a:schemeClr>
              </a:solidFill>
              <a:sym typeface="+mn-ea"/>
            </a:endParaRPr>
          </a:p>
          <a:p>
            <a:pPr marL="457200" lvl="3" indent="0">
              <a:lnSpc>
                <a:spcPct val="132000"/>
              </a:lnSpc>
              <a:spcBef>
                <a:spcPts val="370"/>
              </a:spcBef>
              <a:buClr>
                <a:srgbClr val="E71101"/>
              </a:buClr>
              <a:buSzPct val="60000"/>
              <a:buFont typeface="Wingdings" panose="05000000000000000000" pitchFamily="2" charset="2"/>
              <a:buNone/>
              <a:defRPr/>
            </a:pPr>
            <a:endParaRPr lang="zh-CN" altLang="en-US" sz="18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用户级线程的实现</a:t>
            </a:r>
            <a:endParaRPr lang="zh-CN" altLang="en-US" sz="2400" dirty="0">
              <a:solidFill>
                <a:schemeClr val="tx1">
                  <a:lumMod val="65000"/>
                  <a:lumOff val="35000"/>
                </a:schemeClr>
              </a:solidFill>
            </a:endParaRPr>
          </a:p>
          <a:p>
            <a:pPr marL="914400" lvl="3" indent="-342900">
              <a:lnSpc>
                <a:spcPct val="132000"/>
              </a:lnSpc>
              <a:spcBef>
                <a:spcPts val="370"/>
              </a:spcBef>
              <a:buClr>
                <a:srgbClr val="E71101"/>
              </a:buClr>
              <a:buSzPct val="60000"/>
              <a:buFont typeface="Wingdings" panose="05000000000000000000" pitchFamily="2" charset="2"/>
              <a:buChar char="Ø"/>
              <a:defRPr/>
            </a:pPr>
            <a:r>
              <a:rPr lang="zh-CN" altLang="en-US" sz="1800" dirty="0">
                <a:solidFill>
                  <a:schemeClr val="tx1">
                    <a:lumMod val="65000"/>
                    <a:lumOff val="35000"/>
                  </a:schemeClr>
                </a:solidFill>
              </a:rPr>
              <a:t>线程的管理由应用程序实现，在</a:t>
            </a:r>
            <a:r>
              <a:rPr lang="zh-CN" altLang="en-US" sz="1800" b="1" dirty="0">
                <a:solidFill>
                  <a:schemeClr val="tx1">
                    <a:lumMod val="65000"/>
                    <a:lumOff val="35000"/>
                  </a:schemeClr>
                </a:solidFill>
              </a:rPr>
              <a:t>用户空间</a:t>
            </a:r>
            <a:r>
              <a:rPr lang="zh-CN" altLang="en-US" sz="1800" dirty="0">
                <a:solidFill>
                  <a:schemeClr val="tx1">
                    <a:lumMod val="65000"/>
                    <a:lumOff val="35000"/>
                  </a:schemeClr>
                </a:solidFill>
              </a:rPr>
              <a:t>下完成操作，系统内核感知不到</a:t>
            </a:r>
            <a:r>
              <a:rPr lang="zh-CN" altLang="en-US" sz="1800" dirty="0">
                <a:solidFill>
                  <a:schemeClr val="tx1">
                    <a:lumMod val="65000"/>
                    <a:lumOff val="35000"/>
                  </a:schemeClr>
                </a:solidFill>
              </a:rPr>
              <a:t>线程的存在。该方式下</a:t>
            </a:r>
            <a:r>
              <a:rPr lang="zh-CN" altLang="en-US" sz="1800" b="1" dirty="0">
                <a:solidFill>
                  <a:schemeClr val="tx1">
                    <a:lumMod val="65000"/>
                    <a:lumOff val="35000"/>
                  </a:schemeClr>
                </a:solidFill>
              </a:rPr>
              <a:t>调度的最小单位依然是进程</a:t>
            </a:r>
            <a:r>
              <a:rPr lang="zh-CN" altLang="en-US" sz="1800" dirty="0">
                <a:solidFill>
                  <a:schemeClr val="tx1">
                    <a:lumMod val="65000"/>
                    <a:lumOff val="35000"/>
                  </a:schemeClr>
                </a:solidFill>
              </a:rPr>
              <a:t>。线程的调度由所在进程实现</a:t>
            </a:r>
            <a:endParaRPr lang="zh-CN" altLang="en-US" sz="1800" dirty="0">
              <a:solidFill>
                <a:schemeClr val="tx1">
                  <a:lumMod val="65000"/>
                  <a:lumOff val="35000"/>
                </a:scheme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内核支持线程</a:t>
            </a:r>
            <a:r>
              <a:rPr lang="en-US" altLang="zh-CN" sz="2800" b="1" dirty="0">
                <a:solidFill>
                  <a:schemeClr val="bg1"/>
                </a:solidFill>
              </a:rPr>
              <a:t>K</a:t>
            </a:r>
            <a:r>
              <a:rPr lang="en-US" altLang="zh-CN" sz="2800" b="1" dirty="0">
                <a:solidFill>
                  <a:schemeClr val="bg1"/>
                </a:solidFill>
              </a:rPr>
              <a:t>LT</a:t>
            </a:r>
            <a:endParaRPr lang="zh-CN" altLang="en-US" sz="2800" b="1" dirty="0">
              <a:solidFill>
                <a:schemeClr val="bg1"/>
              </a:solidFill>
            </a:endParaRPr>
          </a:p>
        </p:txBody>
      </p:sp>
      <p:sp>
        <p:nvSpPr>
          <p:cNvPr id="10" name="矩形 9"/>
          <p:cNvSpPr/>
          <p:nvPr/>
        </p:nvSpPr>
        <p:spPr>
          <a:xfrm>
            <a:off x="1832437" y="1762598"/>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endParaRPr lang="zh-CN" altLang="en-US" sz="2400" dirty="0">
              <a:solidFill>
                <a:srgbClr val="FF0000"/>
              </a:solidFill>
              <a:latin typeface="+mn-ea"/>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61764" y="1764083"/>
            <a:ext cx="527050" cy="527050"/>
          </a:xfrm>
          <a:prstGeom prst="rect">
            <a:avLst/>
          </a:prstGeom>
          <a:ln>
            <a:noFill/>
          </a:ln>
          <a:effectLst>
            <a:softEdge rad="0"/>
          </a:effectLst>
        </p:spPr>
      </p:pic>
      <p:sp>
        <p:nvSpPr>
          <p:cNvPr id="16" name="矩形 15"/>
          <p:cNvSpPr/>
          <p:nvPr/>
        </p:nvSpPr>
        <p:spPr>
          <a:xfrm>
            <a:off x="1832437" y="435534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endParaRPr lang="zh-CN" altLang="en-US" sz="2400" dirty="0">
              <a:solidFill>
                <a:srgbClr val="0000FF"/>
              </a:solidFill>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39953" y="4417134"/>
            <a:ext cx="527050" cy="527050"/>
          </a:xfrm>
          <a:prstGeom prst="rect">
            <a:avLst/>
          </a:prstGeom>
          <a:ln>
            <a:noFill/>
          </a:ln>
          <a:effectLst>
            <a:softEdge rad="0"/>
          </a:effectLst>
        </p:spPr>
      </p:pic>
      <p:sp>
        <p:nvSpPr>
          <p:cNvPr id="18" name="内容占位符 2"/>
          <p:cNvSpPr txBox="1"/>
          <p:nvPr/>
        </p:nvSpPr>
        <p:spPr>
          <a:xfrm>
            <a:off x="1788814" y="2253421"/>
            <a:ext cx="9992924" cy="22489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在多处理机系统中，内核可同时调度同一进程的多个线程</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如一个线程阻塞了，内核可调度其他线程</a:t>
            </a:r>
            <a:r>
              <a:rPr lang="en-US" altLang="zh-CN" sz="2200" dirty="0"/>
              <a:t>(</a:t>
            </a:r>
            <a:r>
              <a:rPr lang="zh-CN" altLang="en-US" sz="2200" dirty="0"/>
              <a:t>同一或其他进程</a:t>
            </a:r>
            <a:r>
              <a:rPr lang="en-US" altLang="zh-CN" sz="2200" dirty="0"/>
              <a:t>)</a:t>
            </a:r>
            <a:r>
              <a:rPr lang="zh-CN" altLang="en-US" sz="2200" dirty="0"/>
              <a:t>。</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线程的切换比较快，开销小。</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内核本身可采用多线程技术，提高执行速度和效率。</a:t>
            </a:r>
            <a:endParaRPr lang="zh-CN" altLang="en-US" sz="2200" dirty="0"/>
          </a:p>
        </p:txBody>
      </p:sp>
      <p:sp>
        <p:nvSpPr>
          <p:cNvPr id="19" name="内容占位符 2"/>
          <p:cNvSpPr txBox="1"/>
          <p:nvPr/>
        </p:nvSpPr>
        <p:spPr>
          <a:xfrm>
            <a:off x="1788814" y="4991745"/>
            <a:ext cx="9992924"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对用户线程切换，需要</a:t>
            </a:r>
            <a:r>
              <a:rPr lang="zh-CN" altLang="en-US" sz="2200" dirty="0"/>
              <a:t>内核，开销较大。</a:t>
            </a:r>
            <a:endParaRPr lang="zh-CN" altLang="en-US" sz="2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用户级线程</a:t>
            </a:r>
            <a:r>
              <a:rPr lang="en-US" altLang="zh-CN" sz="2800" b="1" dirty="0">
                <a:solidFill>
                  <a:schemeClr val="bg1"/>
                </a:solidFill>
              </a:rPr>
              <a:t>ULT</a:t>
            </a:r>
            <a:endParaRPr lang="zh-CN" altLang="en-US" sz="2800" b="1" dirty="0">
              <a:solidFill>
                <a:schemeClr val="bg1"/>
              </a:solidFill>
            </a:endParaRPr>
          </a:p>
        </p:txBody>
      </p:sp>
      <p:sp>
        <p:nvSpPr>
          <p:cNvPr id="10" name="矩形 9"/>
          <p:cNvSpPr/>
          <p:nvPr/>
        </p:nvSpPr>
        <p:spPr>
          <a:xfrm>
            <a:off x="1832437" y="1467323"/>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FF0000"/>
                </a:solidFill>
                <a:latin typeface="+mn-ea"/>
              </a:rPr>
              <a:t>优点：</a:t>
            </a:r>
            <a:endParaRPr lang="zh-CN" altLang="en-US" sz="2400" dirty="0">
              <a:solidFill>
                <a:srgbClr val="FF0000"/>
              </a:solidFill>
              <a:latin typeface="+mn-ea"/>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61764" y="1468808"/>
            <a:ext cx="527050" cy="527050"/>
          </a:xfrm>
          <a:prstGeom prst="rect">
            <a:avLst/>
          </a:prstGeom>
          <a:ln>
            <a:noFill/>
          </a:ln>
          <a:effectLst>
            <a:softEdge rad="0"/>
          </a:effectLst>
        </p:spPr>
      </p:pic>
      <p:sp>
        <p:nvSpPr>
          <p:cNvPr id="16" name="矩形 15"/>
          <p:cNvSpPr/>
          <p:nvPr/>
        </p:nvSpPr>
        <p:spPr>
          <a:xfrm>
            <a:off x="1832437" y="3749349"/>
            <a:ext cx="3946662" cy="650631"/>
          </a:xfrm>
          <a:prstGeom prst="rect">
            <a:avLst/>
          </a:prstGeom>
        </p:spPr>
        <p:txBody>
          <a:bodyPr wrap="square">
            <a:noAutofit/>
          </a:bodyPr>
          <a:lstStyle/>
          <a:p>
            <a:pPr>
              <a:lnSpc>
                <a:spcPct val="132000"/>
              </a:lnSpc>
              <a:spcBef>
                <a:spcPts val="600"/>
              </a:spcBef>
              <a:spcAft>
                <a:spcPts val="600"/>
              </a:spcAft>
            </a:pPr>
            <a:r>
              <a:rPr lang="zh-CN" altLang="en-US" sz="2400" dirty="0">
                <a:solidFill>
                  <a:srgbClr val="0000FF"/>
                </a:solidFill>
                <a:latin typeface="+mn-ea"/>
              </a:rPr>
              <a:t>缺点：</a:t>
            </a:r>
            <a:endParaRPr lang="zh-CN" altLang="en-US" sz="2400" dirty="0">
              <a:solidFill>
                <a:srgbClr val="0000FF"/>
              </a:solidFill>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239953" y="3811140"/>
            <a:ext cx="527050" cy="527050"/>
          </a:xfrm>
          <a:prstGeom prst="rect">
            <a:avLst/>
          </a:prstGeom>
          <a:ln>
            <a:noFill/>
          </a:ln>
          <a:effectLst>
            <a:softEdge rad="0"/>
          </a:effectLst>
        </p:spPr>
      </p:pic>
      <p:sp>
        <p:nvSpPr>
          <p:cNvPr id="18" name="内容占位符 2"/>
          <p:cNvSpPr txBox="1"/>
          <p:nvPr/>
        </p:nvSpPr>
        <p:spPr>
          <a:xfrm>
            <a:off x="1788814" y="1958146"/>
            <a:ext cx="9992924" cy="1722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线程切换不需要转换到内核空间，效率</a:t>
            </a:r>
            <a:r>
              <a:rPr lang="zh-CN" altLang="en-US" sz="2200" dirty="0"/>
              <a:t>高。</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调度算法可以是进程自主定制的，利于</a:t>
            </a:r>
            <a:r>
              <a:rPr lang="zh-CN" altLang="en-US" sz="2200" dirty="0">
                <a:sym typeface="+mn-ea"/>
              </a:rPr>
              <a:t>进程更好的安排各个线程工作，有更好的扩展性</a:t>
            </a:r>
            <a:r>
              <a:rPr lang="zh-CN" altLang="en-US" sz="2200" dirty="0"/>
              <a:t>。</a:t>
            </a:r>
            <a:endParaRPr lang="zh-CN" altLang="en-US" sz="2200" dirty="0"/>
          </a:p>
          <a:p>
            <a:pPr marL="0" lvl="1" indent="0">
              <a:lnSpc>
                <a:spcPct val="132000"/>
              </a:lnSpc>
              <a:buClr>
                <a:srgbClr val="0000FF"/>
              </a:buClr>
              <a:buFont typeface="Wingdings" panose="05000000000000000000" pitchFamily="2" charset="2"/>
              <a:buChar char="Ø"/>
            </a:pPr>
            <a:r>
              <a:rPr lang="en-US" altLang="zh-CN" sz="2200" dirty="0">
                <a:sym typeface="+mn-ea"/>
              </a:rPr>
              <a:t>os</a:t>
            </a:r>
            <a:r>
              <a:rPr lang="zh-CN" altLang="en-US" sz="2200" dirty="0">
                <a:sym typeface="+mn-ea"/>
              </a:rPr>
              <a:t>只负责</a:t>
            </a:r>
            <a:r>
              <a:rPr lang="en-US" altLang="zh-CN" sz="2200" dirty="0">
                <a:sym typeface="+mn-ea"/>
              </a:rPr>
              <a:t>CPU</a:t>
            </a:r>
            <a:r>
              <a:rPr lang="zh-CN" altLang="en-US" sz="2200" dirty="0">
                <a:sym typeface="+mn-ea"/>
              </a:rPr>
              <a:t>和资源分配，线</a:t>
            </a:r>
            <a:r>
              <a:rPr lang="zh-CN" altLang="en-US" sz="2200" dirty="0"/>
              <a:t>程的实现与</a:t>
            </a:r>
            <a:r>
              <a:rPr lang="en-US" altLang="zh-CN" sz="2200" dirty="0"/>
              <a:t>OS</a:t>
            </a:r>
            <a:r>
              <a:rPr lang="zh-CN" altLang="en-US" sz="2200" dirty="0"/>
              <a:t>平台无关。</a:t>
            </a:r>
            <a:endParaRPr lang="zh-CN" altLang="en-US" sz="2200" dirty="0"/>
          </a:p>
        </p:txBody>
      </p:sp>
      <p:sp>
        <p:nvSpPr>
          <p:cNvPr id="19" name="内容占位符 2"/>
          <p:cNvSpPr txBox="1"/>
          <p:nvPr/>
        </p:nvSpPr>
        <p:spPr>
          <a:xfrm>
            <a:off x="1788814" y="4385751"/>
            <a:ext cx="9992924" cy="767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200" dirty="0"/>
              <a:t>一旦某个线程被阻塞，该线程所属的整个</a:t>
            </a:r>
            <a:r>
              <a:rPr lang="zh-CN" altLang="en-US" sz="2200" dirty="0"/>
              <a:t>进程都会被阻塞</a:t>
            </a:r>
            <a:endParaRPr lang="zh-CN" altLang="en-US" sz="2200" dirty="0"/>
          </a:p>
          <a:p>
            <a:pPr marL="0" lvl="1" indent="0">
              <a:lnSpc>
                <a:spcPct val="132000"/>
              </a:lnSpc>
              <a:buClr>
                <a:srgbClr val="0000FF"/>
              </a:buClr>
              <a:buFont typeface="Wingdings" panose="05000000000000000000" pitchFamily="2" charset="2"/>
              <a:buChar char="Ø"/>
            </a:pPr>
            <a:r>
              <a:rPr lang="zh-CN" altLang="en-US" sz="2200" dirty="0"/>
              <a:t>多线程应用不能发挥多处理机进行多重处理的优点，因为</a:t>
            </a:r>
            <a:r>
              <a:rPr lang="en-US" altLang="zh-CN" sz="2200" dirty="0"/>
              <a:t>OS</a:t>
            </a:r>
            <a:r>
              <a:rPr lang="zh-CN" altLang="en-US" sz="2200" dirty="0"/>
              <a:t>只会为进程分配一个</a:t>
            </a:r>
            <a:r>
              <a:rPr lang="en-US" altLang="zh-CN" sz="2200" dirty="0"/>
              <a:t>CPU</a:t>
            </a:r>
            <a:r>
              <a:rPr lang="zh-CN" altLang="en-US" sz="2200" dirty="0"/>
              <a:t>，一个进程中只有一个线程处于</a:t>
            </a:r>
            <a:r>
              <a:rPr lang="zh-CN" altLang="en-US" sz="2200" dirty="0"/>
              <a:t>执行态。</a:t>
            </a:r>
            <a:endParaRPr lang="zh-CN" altLang="en-US" sz="2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rPr>
              <a:t>结论</a:t>
            </a:r>
            <a:endParaRPr lang="zh-CN" altLang="en-US" sz="2800" b="1" dirty="0">
              <a:solidFill>
                <a:schemeClr val="bg1"/>
              </a:solidFill>
            </a:endParaRPr>
          </a:p>
        </p:txBody>
      </p:sp>
      <p:sp>
        <p:nvSpPr>
          <p:cNvPr id="18" name="内容占位符 2"/>
          <p:cNvSpPr txBox="1"/>
          <p:nvPr/>
        </p:nvSpPr>
        <p:spPr>
          <a:xfrm>
            <a:off x="669944" y="1526981"/>
            <a:ext cx="9992924" cy="17228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zh-CN" altLang="en-US" sz="2800" dirty="0"/>
              <a:t>用户级线程的性能</a:t>
            </a:r>
            <a:r>
              <a:rPr lang="zh-CN" altLang="en-US" sz="2800" dirty="0"/>
              <a:t>优于内核级线程。</a:t>
            </a:r>
            <a:endParaRPr lang="zh-CN" altLang="en-US" sz="2800" dirty="0"/>
          </a:p>
          <a:p>
            <a:pPr marL="0" lvl="1" indent="0">
              <a:lnSpc>
                <a:spcPct val="132000"/>
              </a:lnSpc>
              <a:buClr>
                <a:srgbClr val="0000FF"/>
              </a:buClr>
              <a:buFont typeface="Wingdings" panose="05000000000000000000" pitchFamily="2" charset="2"/>
              <a:buChar char="Ø"/>
            </a:pPr>
            <a:r>
              <a:rPr lang="zh-CN" altLang="en-US" sz="2800" dirty="0"/>
              <a:t>内核级线程的性能优于进程</a:t>
            </a:r>
            <a:endParaRPr lang="zh-CN" altLang="en-US"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en-US" altLang="zh-CN" sz="2800" b="1" dirty="0">
                <a:solidFill>
                  <a:schemeClr val="bg1"/>
                </a:solidFill>
              </a:rPr>
              <a:t>ULT</a:t>
            </a:r>
            <a:r>
              <a:rPr lang="zh-CN" altLang="en-US" sz="2800" b="1" dirty="0">
                <a:solidFill>
                  <a:schemeClr val="bg1"/>
                </a:solidFill>
              </a:rPr>
              <a:t>与</a:t>
            </a:r>
            <a:r>
              <a:rPr lang="en-US" altLang="zh-CN" sz="2800" b="1" dirty="0">
                <a:solidFill>
                  <a:schemeClr val="bg1"/>
                </a:solidFill>
              </a:rPr>
              <a:t>K</a:t>
            </a:r>
            <a:r>
              <a:rPr lang="en-US" altLang="zh-CN" sz="2800" b="1" dirty="0">
                <a:solidFill>
                  <a:schemeClr val="bg1"/>
                </a:solidFill>
              </a:rPr>
              <a:t>LT</a:t>
            </a:r>
            <a:r>
              <a:rPr lang="zh-CN" altLang="en-US" sz="2800" b="1" dirty="0">
                <a:solidFill>
                  <a:schemeClr val="bg1"/>
                </a:solidFill>
              </a:rPr>
              <a:t>组合方式</a:t>
            </a:r>
            <a:endParaRPr lang="zh-CN" altLang="en-US" sz="2800" b="1" dirty="0">
              <a:solidFill>
                <a:schemeClr val="bg1"/>
              </a:solidFill>
            </a:endParaRPr>
          </a:p>
        </p:txBody>
      </p:sp>
      <p:grpSp>
        <p:nvGrpSpPr>
          <p:cNvPr id="21"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335678"/>
            <a:ext cx="11075232" cy="4734027"/>
            <a:chOff x="660400" y="1181131"/>
            <a:chExt cx="11075232" cy="4734027"/>
          </a:xfrm>
        </p:grpSpPr>
        <p:sp>
          <p:nvSpPr>
            <p:cNvPr id="22"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171450" indent="-171450">
                <a:lnSpc>
                  <a:spcPct val="150000"/>
                </a:lnSpc>
                <a:buFont typeface="Arial" panose="020B0604020202020204" pitchFamily="34" charset="0"/>
                <a:buChar char="•"/>
              </a:pPr>
              <a:r>
                <a:rPr lang="zh-CN" altLang="en-US" sz="2400" dirty="0">
                  <a:solidFill>
                    <a:srgbClr val="0000FF"/>
                  </a:solidFill>
                </a:rPr>
                <a:t>多对一模型</a:t>
              </a:r>
              <a:br>
                <a:rPr lang="zh-CN" altLang="en-US" sz="2400" dirty="0">
                  <a:solidFill>
                    <a:srgbClr val="0000FF"/>
                  </a:solidFill>
                </a:rPr>
              </a:br>
              <a:endParaRPr lang="zh-CN" altLang="en-US" sz="2400" dirty="0">
                <a:solidFill>
                  <a:srgbClr val="0000FF"/>
                </a:solidFill>
              </a:endParaRPr>
            </a:p>
          </p:txBody>
        </p:sp>
        <p:sp>
          <p:nvSpPr>
            <p:cNvPr id="24"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5"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171450" indent="-171450">
                <a:lnSpc>
                  <a:spcPct val="150000"/>
                </a:lnSpc>
                <a:buFont typeface="Arial" panose="020B0604020202020204" pitchFamily="34" charset="0"/>
                <a:buChar char="•"/>
              </a:pPr>
              <a:r>
                <a:rPr lang="zh-CN" altLang="en-US" sz="2400" dirty="0">
                  <a:solidFill>
                    <a:srgbClr val="0000FF"/>
                  </a:solidFill>
                </a:rPr>
                <a:t>一对一模型</a:t>
              </a:r>
              <a:endParaRPr lang="zh-CN" altLang="en-US" sz="2400" dirty="0">
                <a:solidFill>
                  <a:srgbClr val="0000FF"/>
                </a:solidFill>
              </a:endParaRPr>
            </a:p>
          </p:txBody>
        </p:sp>
        <p:sp>
          <p:nvSpPr>
            <p:cNvPr id="26" name="íŝḻiďé"/>
            <p:cNvSpPr/>
            <p:nvPr/>
          </p:nvSpPr>
          <p:spPr>
            <a:xfrm>
              <a:off x="8023305" y="1580300"/>
              <a:ext cx="3712327"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7" name="í$ḷîḋe"/>
            <p:cNvSpPr/>
            <p:nvPr/>
          </p:nvSpPr>
          <p:spPr>
            <a:xfrm>
              <a:off x="8001657" y="4245058"/>
              <a:ext cx="3733975"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30000"/>
                </a:lnSpc>
                <a:buClr>
                  <a:srgbClr val="0000FF"/>
                </a:buClr>
                <a:buFont typeface="Arial" panose="020B0604020202020204" pitchFamily="34" charset="0"/>
                <a:buChar char="•"/>
              </a:pPr>
              <a:r>
                <a:rPr lang="zh-CN" altLang="en-US" sz="2400" dirty="0">
                  <a:solidFill>
                    <a:srgbClr val="0000FF"/>
                  </a:solidFill>
                </a:rPr>
                <a:t>多对多模型</a:t>
              </a:r>
              <a:endParaRPr lang="zh-CN" altLang="en-US" sz="2400" dirty="0">
                <a:solidFill>
                  <a:srgbClr val="0000FF"/>
                </a:solidFill>
              </a:endParaRPr>
            </a:p>
          </p:txBody>
        </p:sp>
        <p:sp>
          <p:nvSpPr>
            <p:cNvPr id="28" name="ï$lïďè"/>
            <p:cNvSpPr/>
            <p:nvPr/>
          </p:nvSpPr>
          <p:spPr bwMode="auto">
            <a:xfrm>
              <a:off x="2253506" y="1181131"/>
              <a:ext cx="333138" cy="310404"/>
            </a:xfrm>
            <a:custGeom>
              <a:avLst/>
              <a:gdLst>
                <a:gd name="connsiteX0" fmla="*/ 484855 w 606016"/>
                <a:gd name="connsiteY0" fmla="*/ 473988 h 564664"/>
                <a:gd name="connsiteX1" fmla="*/ 505037 w 606016"/>
                <a:gd name="connsiteY1" fmla="*/ 494170 h 564664"/>
                <a:gd name="connsiteX2" fmla="*/ 484855 w 606016"/>
                <a:gd name="connsiteY2" fmla="*/ 514352 h 564664"/>
                <a:gd name="connsiteX3" fmla="*/ 464673 w 606016"/>
                <a:gd name="connsiteY3" fmla="*/ 494170 h 564664"/>
                <a:gd name="connsiteX4" fmla="*/ 484855 w 606016"/>
                <a:gd name="connsiteY4" fmla="*/ 473988 h 564664"/>
                <a:gd name="connsiteX5" fmla="*/ 121232 w 606016"/>
                <a:gd name="connsiteY5" fmla="*/ 473988 h 564664"/>
                <a:gd name="connsiteX6" fmla="*/ 141414 w 606016"/>
                <a:gd name="connsiteY6" fmla="*/ 494170 h 564664"/>
                <a:gd name="connsiteX7" fmla="*/ 121232 w 606016"/>
                <a:gd name="connsiteY7" fmla="*/ 514352 h 564664"/>
                <a:gd name="connsiteX8" fmla="*/ 101050 w 606016"/>
                <a:gd name="connsiteY8" fmla="*/ 494170 h 564664"/>
                <a:gd name="connsiteX9" fmla="*/ 121232 w 606016"/>
                <a:gd name="connsiteY9" fmla="*/ 473988 h 564664"/>
                <a:gd name="connsiteX10" fmla="*/ 484813 w 606016"/>
                <a:gd name="connsiteY10" fmla="*/ 443658 h 564664"/>
                <a:gd name="connsiteX11" fmla="*/ 434364 w 606016"/>
                <a:gd name="connsiteY11" fmla="*/ 494115 h 564664"/>
                <a:gd name="connsiteX12" fmla="*/ 484813 w 606016"/>
                <a:gd name="connsiteY12" fmla="*/ 544482 h 564664"/>
                <a:gd name="connsiteX13" fmla="*/ 535352 w 606016"/>
                <a:gd name="connsiteY13" fmla="*/ 494115 h 564664"/>
                <a:gd name="connsiteX14" fmla="*/ 484813 w 606016"/>
                <a:gd name="connsiteY14" fmla="*/ 443658 h 564664"/>
                <a:gd name="connsiteX15" fmla="*/ 121293 w 606016"/>
                <a:gd name="connsiteY15" fmla="*/ 443658 h 564664"/>
                <a:gd name="connsiteX16" fmla="*/ 70755 w 606016"/>
                <a:gd name="connsiteY16" fmla="*/ 494115 h 564664"/>
                <a:gd name="connsiteX17" fmla="*/ 121293 w 606016"/>
                <a:gd name="connsiteY17" fmla="*/ 544482 h 564664"/>
                <a:gd name="connsiteX18" fmla="*/ 171742 w 606016"/>
                <a:gd name="connsiteY18" fmla="*/ 494115 h 564664"/>
                <a:gd name="connsiteX19" fmla="*/ 121293 w 606016"/>
                <a:gd name="connsiteY19" fmla="*/ 443658 h 564664"/>
                <a:gd name="connsiteX20" fmla="*/ 303053 w 606016"/>
                <a:gd name="connsiteY20" fmla="*/ 373109 h 564664"/>
                <a:gd name="connsiteX21" fmla="*/ 292945 w 606016"/>
                <a:gd name="connsiteY21" fmla="*/ 383200 h 564664"/>
                <a:gd name="connsiteX22" fmla="*/ 303053 w 606016"/>
                <a:gd name="connsiteY22" fmla="*/ 393292 h 564664"/>
                <a:gd name="connsiteX23" fmla="*/ 343484 w 606016"/>
                <a:gd name="connsiteY23" fmla="*/ 393292 h 564664"/>
                <a:gd name="connsiteX24" fmla="*/ 343484 w 606016"/>
                <a:gd name="connsiteY24" fmla="*/ 403383 h 564664"/>
                <a:gd name="connsiteX25" fmla="*/ 353592 w 606016"/>
                <a:gd name="connsiteY25" fmla="*/ 413474 h 564664"/>
                <a:gd name="connsiteX26" fmla="*/ 363610 w 606016"/>
                <a:gd name="connsiteY26" fmla="*/ 403383 h 564664"/>
                <a:gd name="connsiteX27" fmla="*/ 363610 w 606016"/>
                <a:gd name="connsiteY27" fmla="*/ 383200 h 564664"/>
                <a:gd name="connsiteX28" fmla="*/ 353592 w 606016"/>
                <a:gd name="connsiteY28" fmla="*/ 373109 h 564664"/>
                <a:gd name="connsiteX29" fmla="*/ 313169 w 606016"/>
                <a:gd name="connsiteY29" fmla="*/ 282403 h 564664"/>
                <a:gd name="connsiteX30" fmla="*/ 447018 w 606016"/>
                <a:gd name="connsiteY30" fmla="*/ 282403 h 564664"/>
                <a:gd name="connsiteX31" fmla="*/ 465069 w 606016"/>
                <a:gd name="connsiteY31" fmla="*/ 311699 h 564664"/>
                <a:gd name="connsiteX32" fmla="*/ 473282 w 606016"/>
                <a:gd name="connsiteY32" fmla="*/ 322696 h 564664"/>
                <a:gd name="connsiteX33" fmla="*/ 313169 w 606016"/>
                <a:gd name="connsiteY33" fmla="*/ 322696 h 564664"/>
                <a:gd name="connsiteX34" fmla="*/ 161665 w 606016"/>
                <a:gd name="connsiteY34" fmla="*/ 282403 h 564664"/>
                <a:gd name="connsiteX35" fmla="*/ 292917 w 606016"/>
                <a:gd name="connsiteY35" fmla="*/ 282403 h 564664"/>
                <a:gd name="connsiteX36" fmla="*/ 292917 w 606016"/>
                <a:gd name="connsiteY36" fmla="*/ 322696 h 564664"/>
                <a:gd name="connsiteX37" fmla="*/ 161665 w 606016"/>
                <a:gd name="connsiteY37" fmla="*/ 322696 h 564664"/>
                <a:gd name="connsiteX38" fmla="*/ 191958 w 606016"/>
                <a:gd name="connsiteY38" fmla="*/ 0 h 564664"/>
                <a:gd name="connsiteX39" fmla="*/ 202066 w 606016"/>
                <a:gd name="connsiteY39" fmla="*/ 10092 h 564664"/>
                <a:gd name="connsiteX40" fmla="*/ 202066 w 606016"/>
                <a:gd name="connsiteY40" fmla="*/ 40366 h 564664"/>
                <a:gd name="connsiteX41" fmla="*/ 222281 w 606016"/>
                <a:gd name="connsiteY41" fmla="*/ 40366 h 564664"/>
                <a:gd name="connsiteX42" fmla="*/ 222281 w 606016"/>
                <a:gd name="connsiteY42" fmla="*/ 10092 h 564664"/>
                <a:gd name="connsiteX43" fmla="*/ 232389 w 606016"/>
                <a:gd name="connsiteY43" fmla="*/ 0 h 564664"/>
                <a:gd name="connsiteX44" fmla="*/ 242406 w 606016"/>
                <a:gd name="connsiteY44" fmla="*/ 10092 h 564664"/>
                <a:gd name="connsiteX45" fmla="*/ 242406 w 606016"/>
                <a:gd name="connsiteY45" fmla="*/ 40366 h 564664"/>
                <a:gd name="connsiteX46" fmla="*/ 252514 w 606016"/>
                <a:gd name="connsiteY46" fmla="*/ 50457 h 564664"/>
                <a:gd name="connsiteX47" fmla="*/ 252514 w 606016"/>
                <a:gd name="connsiteY47" fmla="*/ 100823 h 564664"/>
                <a:gd name="connsiteX48" fmla="*/ 242406 w 606016"/>
                <a:gd name="connsiteY48" fmla="*/ 110915 h 564664"/>
                <a:gd name="connsiteX49" fmla="*/ 221379 w 606016"/>
                <a:gd name="connsiteY49" fmla="*/ 110915 h 564664"/>
                <a:gd name="connsiteX50" fmla="*/ 161634 w 606016"/>
                <a:gd name="connsiteY50" fmla="*/ 161371 h 564664"/>
                <a:gd name="connsiteX51" fmla="*/ 101078 w 606016"/>
                <a:gd name="connsiteY51" fmla="*/ 100823 h 564664"/>
                <a:gd name="connsiteX52" fmla="*/ 60647 w 606016"/>
                <a:gd name="connsiteY52" fmla="*/ 60548 h 564664"/>
                <a:gd name="connsiteX53" fmla="*/ 20216 w 606016"/>
                <a:gd name="connsiteY53" fmla="*/ 100823 h 564664"/>
                <a:gd name="connsiteX54" fmla="*/ 20216 w 606016"/>
                <a:gd name="connsiteY54" fmla="*/ 231921 h 564664"/>
                <a:gd name="connsiteX55" fmla="*/ 80862 w 606016"/>
                <a:gd name="connsiteY55" fmla="*/ 292469 h 564664"/>
                <a:gd name="connsiteX56" fmla="*/ 82126 w 606016"/>
                <a:gd name="connsiteY56" fmla="*/ 292649 h 564664"/>
                <a:gd name="connsiteX57" fmla="*/ 105229 w 606016"/>
                <a:gd name="connsiteY57" fmla="*/ 255167 h 564664"/>
                <a:gd name="connsiteX58" fmla="*/ 164883 w 606016"/>
                <a:gd name="connsiteY58" fmla="*/ 221829 h 564664"/>
                <a:gd name="connsiteX59" fmla="*/ 370559 w 606016"/>
                <a:gd name="connsiteY59" fmla="*/ 221829 h 564664"/>
                <a:gd name="connsiteX60" fmla="*/ 430213 w 606016"/>
                <a:gd name="connsiteY60" fmla="*/ 255077 h 564664"/>
                <a:gd name="connsiteX61" fmla="*/ 434545 w 606016"/>
                <a:gd name="connsiteY61" fmla="*/ 262195 h 564664"/>
                <a:gd name="connsiteX62" fmla="*/ 159920 w 606016"/>
                <a:gd name="connsiteY62" fmla="*/ 262195 h 564664"/>
                <a:gd name="connsiteX63" fmla="*/ 141419 w 606016"/>
                <a:gd name="connsiteY63" fmla="*/ 280575 h 564664"/>
                <a:gd name="connsiteX64" fmla="*/ 141419 w 606016"/>
                <a:gd name="connsiteY64" fmla="*/ 324455 h 564664"/>
                <a:gd name="connsiteX65" fmla="*/ 159920 w 606016"/>
                <a:gd name="connsiteY65" fmla="*/ 342835 h 564664"/>
                <a:gd name="connsiteX66" fmla="*/ 498801 w 606016"/>
                <a:gd name="connsiteY66" fmla="*/ 342835 h 564664"/>
                <a:gd name="connsiteX67" fmla="*/ 538962 w 606016"/>
                <a:gd name="connsiteY67" fmla="*/ 352926 h 564664"/>
                <a:gd name="connsiteX68" fmla="*/ 580566 w 606016"/>
                <a:gd name="connsiteY68" fmla="*/ 352926 h 564664"/>
                <a:gd name="connsiteX69" fmla="*/ 606016 w 606016"/>
                <a:gd name="connsiteY69" fmla="*/ 378335 h 564664"/>
                <a:gd name="connsiteX70" fmla="*/ 606016 w 606016"/>
                <a:gd name="connsiteY70" fmla="*/ 403383 h 564664"/>
                <a:gd name="connsiteX71" fmla="*/ 555567 w 606016"/>
                <a:gd name="connsiteY71" fmla="*/ 403383 h 564664"/>
                <a:gd name="connsiteX72" fmla="*/ 545460 w 606016"/>
                <a:gd name="connsiteY72" fmla="*/ 413474 h 564664"/>
                <a:gd name="connsiteX73" fmla="*/ 555567 w 606016"/>
                <a:gd name="connsiteY73" fmla="*/ 423476 h 564664"/>
                <a:gd name="connsiteX74" fmla="*/ 606016 w 606016"/>
                <a:gd name="connsiteY74" fmla="*/ 423476 h 564664"/>
                <a:gd name="connsiteX75" fmla="*/ 606016 w 606016"/>
                <a:gd name="connsiteY75" fmla="*/ 463391 h 564664"/>
                <a:gd name="connsiteX76" fmla="*/ 565224 w 606016"/>
                <a:gd name="connsiteY76" fmla="*/ 504206 h 564664"/>
                <a:gd name="connsiteX77" fmla="*/ 554755 w 606016"/>
                <a:gd name="connsiteY77" fmla="*/ 504206 h 564664"/>
                <a:gd name="connsiteX78" fmla="*/ 484813 w 606016"/>
                <a:gd name="connsiteY78" fmla="*/ 564664 h 564664"/>
                <a:gd name="connsiteX79" fmla="*/ 414961 w 606016"/>
                <a:gd name="connsiteY79" fmla="*/ 504206 h 564664"/>
                <a:gd name="connsiteX80" fmla="*/ 191145 w 606016"/>
                <a:gd name="connsiteY80" fmla="*/ 504206 h 564664"/>
                <a:gd name="connsiteX81" fmla="*/ 121293 w 606016"/>
                <a:gd name="connsiteY81" fmla="*/ 564664 h 564664"/>
                <a:gd name="connsiteX82" fmla="*/ 51351 w 606016"/>
                <a:gd name="connsiteY82" fmla="*/ 504206 h 564664"/>
                <a:gd name="connsiteX83" fmla="*/ 35377 w 606016"/>
                <a:gd name="connsiteY83" fmla="*/ 504206 h 564664"/>
                <a:gd name="connsiteX84" fmla="*/ 90 w 606016"/>
                <a:gd name="connsiteY84" fmla="*/ 468977 h 564664"/>
                <a:gd name="connsiteX85" fmla="*/ 0 w 606016"/>
                <a:gd name="connsiteY85" fmla="*/ 423476 h 564664"/>
                <a:gd name="connsiteX86" fmla="*/ 50539 w 606016"/>
                <a:gd name="connsiteY86" fmla="*/ 423476 h 564664"/>
                <a:gd name="connsiteX87" fmla="*/ 60647 w 606016"/>
                <a:gd name="connsiteY87" fmla="*/ 413474 h 564664"/>
                <a:gd name="connsiteX88" fmla="*/ 50539 w 606016"/>
                <a:gd name="connsiteY88" fmla="*/ 403383 h 564664"/>
                <a:gd name="connsiteX89" fmla="*/ 0 w 606016"/>
                <a:gd name="connsiteY89" fmla="*/ 403383 h 564664"/>
                <a:gd name="connsiteX90" fmla="*/ 0 w 606016"/>
                <a:gd name="connsiteY90" fmla="*/ 378335 h 564664"/>
                <a:gd name="connsiteX91" fmla="*/ 7400 w 606016"/>
                <a:gd name="connsiteY91" fmla="*/ 360405 h 564664"/>
                <a:gd name="connsiteX92" fmla="*/ 25540 w 606016"/>
                <a:gd name="connsiteY92" fmla="*/ 352926 h 564664"/>
                <a:gd name="connsiteX93" fmla="*/ 54961 w 606016"/>
                <a:gd name="connsiteY93" fmla="*/ 336798 h 564664"/>
                <a:gd name="connsiteX94" fmla="*/ 70303 w 606016"/>
                <a:gd name="connsiteY94" fmla="*/ 311840 h 564664"/>
                <a:gd name="connsiteX95" fmla="*/ 90 w 606016"/>
                <a:gd name="connsiteY95" fmla="*/ 231921 h 564664"/>
                <a:gd name="connsiteX96" fmla="*/ 90 w 606016"/>
                <a:gd name="connsiteY96" fmla="*/ 100823 h 564664"/>
                <a:gd name="connsiteX97" fmla="*/ 60647 w 606016"/>
                <a:gd name="connsiteY97" fmla="*/ 40366 h 564664"/>
                <a:gd name="connsiteX98" fmla="*/ 121293 w 606016"/>
                <a:gd name="connsiteY98" fmla="*/ 100823 h 564664"/>
                <a:gd name="connsiteX99" fmla="*/ 161634 w 606016"/>
                <a:gd name="connsiteY99" fmla="*/ 141189 h 564664"/>
                <a:gd name="connsiteX100" fmla="*/ 200622 w 606016"/>
                <a:gd name="connsiteY100" fmla="*/ 110915 h 564664"/>
                <a:gd name="connsiteX101" fmla="*/ 181850 w 606016"/>
                <a:gd name="connsiteY101" fmla="*/ 110915 h 564664"/>
                <a:gd name="connsiteX102" fmla="*/ 171742 w 606016"/>
                <a:gd name="connsiteY102" fmla="*/ 100823 h 564664"/>
                <a:gd name="connsiteX103" fmla="*/ 171742 w 606016"/>
                <a:gd name="connsiteY103" fmla="*/ 50457 h 564664"/>
                <a:gd name="connsiteX104" fmla="*/ 181850 w 606016"/>
                <a:gd name="connsiteY104" fmla="*/ 40366 h 564664"/>
                <a:gd name="connsiteX105" fmla="*/ 181850 w 606016"/>
                <a:gd name="connsiteY105" fmla="*/ 10092 h 564664"/>
                <a:gd name="connsiteX106" fmla="*/ 191958 w 606016"/>
                <a:gd name="connsiteY106" fmla="*/ 0 h 56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016" h="564664">
                  <a:moveTo>
                    <a:pt x="484855" y="473988"/>
                  </a:moveTo>
                  <a:cubicBezTo>
                    <a:pt x="496001" y="473988"/>
                    <a:pt x="505037" y="483024"/>
                    <a:pt x="505037" y="494170"/>
                  </a:cubicBezTo>
                  <a:cubicBezTo>
                    <a:pt x="505037" y="505316"/>
                    <a:pt x="496001" y="514352"/>
                    <a:pt x="484855" y="514352"/>
                  </a:cubicBezTo>
                  <a:cubicBezTo>
                    <a:pt x="473709" y="514352"/>
                    <a:pt x="464673" y="505316"/>
                    <a:pt x="464673" y="494170"/>
                  </a:cubicBezTo>
                  <a:cubicBezTo>
                    <a:pt x="464673" y="483024"/>
                    <a:pt x="473709" y="473988"/>
                    <a:pt x="484855" y="473988"/>
                  </a:cubicBezTo>
                  <a:close/>
                  <a:moveTo>
                    <a:pt x="121232" y="473988"/>
                  </a:moveTo>
                  <a:cubicBezTo>
                    <a:pt x="132378" y="473988"/>
                    <a:pt x="141414" y="483024"/>
                    <a:pt x="141414" y="494170"/>
                  </a:cubicBezTo>
                  <a:cubicBezTo>
                    <a:pt x="141414" y="505316"/>
                    <a:pt x="132378" y="514352"/>
                    <a:pt x="121232" y="514352"/>
                  </a:cubicBezTo>
                  <a:cubicBezTo>
                    <a:pt x="110086" y="514352"/>
                    <a:pt x="101050" y="505316"/>
                    <a:pt x="101050" y="494170"/>
                  </a:cubicBezTo>
                  <a:cubicBezTo>
                    <a:pt x="101050" y="483024"/>
                    <a:pt x="110086" y="473988"/>
                    <a:pt x="121232" y="473988"/>
                  </a:cubicBezTo>
                  <a:close/>
                  <a:moveTo>
                    <a:pt x="484813" y="443658"/>
                  </a:moveTo>
                  <a:cubicBezTo>
                    <a:pt x="457016" y="443658"/>
                    <a:pt x="434364" y="466274"/>
                    <a:pt x="434364" y="494115"/>
                  </a:cubicBezTo>
                  <a:cubicBezTo>
                    <a:pt x="434364" y="521866"/>
                    <a:pt x="457016" y="544482"/>
                    <a:pt x="484813" y="544482"/>
                  </a:cubicBezTo>
                  <a:cubicBezTo>
                    <a:pt x="512699" y="544482"/>
                    <a:pt x="535352" y="521866"/>
                    <a:pt x="535352" y="494115"/>
                  </a:cubicBezTo>
                  <a:cubicBezTo>
                    <a:pt x="535352" y="466274"/>
                    <a:pt x="512699" y="443658"/>
                    <a:pt x="484813" y="443658"/>
                  </a:cubicBezTo>
                  <a:close/>
                  <a:moveTo>
                    <a:pt x="121293" y="443658"/>
                  </a:moveTo>
                  <a:cubicBezTo>
                    <a:pt x="93407" y="443658"/>
                    <a:pt x="70755" y="466274"/>
                    <a:pt x="70755" y="494115"/>
                  </a:cubicBezTo>
                  <a:cubicBezTo>
                    <a:pt x="70755" y="521866"/>
                    <a:pt x="93407" y="544482"/>
                    <a:pt x="121293" y="544482"/>
                  </a:cubicBezTo>
                  <a:cubicBezTo>
                    <a:pt x="149090" y="544482"/>
                    <a:pt x="171742" y="521866"/>
                    <a:pt x="171742" y="494115"/>
                  </a:cubicBezTo>
                  <a:cubicBezTo>
                    <a:pt x="171742" y="466274"/>
                    <a:pt x="149090" y="443658"/>
                    <a:pt x="121293" y="443658"/>
                  </a:cubicBezTo>
                  <a:close/>
                  <a:moveTo>
                    <a:pt x="303053" y="373109"/>
                  </a:moveTo>
                  <a:cubicBezTo>
                    <a:pt x="297458" y="373109"/>
                    <a:pt x="292945" y="377614"/>
                    <a:pt x="292945" y="383200"/>
                  </a:cubicBezTo>
                  <a:cubicBezTo>
                    <a:pt x="292945" y="388787"/>
                    <a:pt x="297458" y="393292"/>
                    <a:pt x="303053" y="393292"/>
                  </a:cubicBezTo>
                  <a:lnTo>
                    <a:pt x="343484" y="393292"/>
                  </a:lnTo>
                  <a:lnTo>
                    <a:pt x="343484" y="403383"/>
                  </a:lnTo>
                  <a:cubicBezTo>
                    <a:pt x="343484" y="408879"/>
                    <a:pt x="347997" y="413474"/>
                    <a:pt x="353592" y="413474"/>
                  </a:cubicBezTo>
                  <a:cubicBezTo>
                    <a:pt x="359097" y="413474"/>
                    <a:pt x="363610" y="408969"/>
                    <a:pt x="363610" y="403383"/>
                  </a:cubicBezTo>
                  <a:lnTo>
                    <a:pt x="363610" y="383200"/>
                  </a:lnTo>
                  <a:cubicBezTo>
                    <a:pt x="363610" y="377614"/>
                    <a:pt x="359097" y="373109"/>
                    <a:pt x="353592" y="373109"/>
                  </a:cubicBezTo>
                  <a:close/>
                  <a:moveTo>
                    <a:pt x="313169" y="282403"/>
                  </a:moveTo>
                  <a:lnTo>
                    <a:pt x="447018" y="282403"/>
                  </a:lnTo>
                  <a:lnTo>
                    <a:pt x="465069" y="311699"/>
                  </a:lnTo>
                  <a:cubicBezTo>
                    <a:pt x="467506" y="315665"/>
                    <a:pt x="470304" y="319271"/>
                    <a:pt x="473282" y="322696"/>
                  </a:cubicBezTo>
                  <a:lnTo>
                    <a:pt x="313169" y="322696"/>
                  </a:lnTo>
                  <a:close/>
                  <a:moveTo>
                    <a:pt x="161665" y="282403"/>
                  </a:moveTo>
                  <a:lnTo>
                    <a:pt x="292917" y="282403"/>
                  </a:lnTo>
                  <a:lnTo>
                    <a:pt x="292917" y="322696"/>
                  </a:lnTo>
                  <a:lnTo>
                    <a:pt x="161665" y="322696"/>
                  </a:lnTo>
                  <a:close/>
                  <a:moveTo>
                    <a:pt x="191958" y="0"/>
                  </a:moveTo>
                  <a:cubicBezTo>
                    <a:pt x="197553" y="0"/>
                    <a:pt x="202066" y="4505"/>
                    <a:pt x="202066" y="10092"/>
                  </a:cubicBezTo>
                  <a:lnTo>
                    <a:pt x="202066" y="40366"/>
                  </a:lnTo>
                  <a:lnTo>
                    <a:pt x="222281" y="40366"/>
                  </a:lnTo>
                  <a:lnTo>
                    <a:pt x="222281" y="10092"/>
                  </a:lnTo>
                  <a:cubicBezTo>
                    <a:pt x="222281" y="4505"/>
                    <a:pt x="226793" y="0"/>
                    <a:pt x="232389" y="0"/>
                  </a:cubicBezTo>
                  <a:cubicBezTo>
                    <a:pt x="237894" y="0"/>
                    <a:pt x="242406" y="4505"/>
                    <a:pt x="242406" y="10092"/>
                  </a:cubicBezTo>
                  <a:lnTo>
                    <a:pt x="242406" y="40366"/>
                  </a:lnTo>
                  <a:cubicBezTo>
                    <a:pt x="248002" y="40366"/>
                    <a:pt x="252514" y="44871"/>
                    <a:pt x="252514" y="50457"/>
                  </a:cubicBezTo>
                  <a:lnTo>
                    <a:pt x="252514" y="100823"/>
                  </a:lnTo>
                  <a:cubicBezTo>
                    <a:pt x="252514" y="106410"/>
                    <a:pt x="248002" y="110915"/>
                    <a:pt x="242406" y="110915"/>
                  </a:cubicBezTo>
                  <a:lnTo>
                    <a:pt x="221379" y="110915"/>
                  </a:lnTo>
                  <a:cubicBezTo>
                    <a:pt x="216505" y="139477"/>
                    <a:pt x="191597" y="161371"/>
                    <a:pt x="161634" y="161371"/>
                  </a:cubicBezTo>
                  <a:cubicBezTo>
                    <a:pt x="128243" y="161371"/>
                    <a:pt x="101078" y="134251"/>
                    <a:pt x="101078" y="100823"/>
                  </a:cubicBezTo>
                  <a:cubicBezTo>
                    <a:pt x="101078" y="78568"/>
                    <a:pt x="82938" y="60548"/>
                    <a:pt x="60647" y="60548"/>
                  </a:cubicBezTo>
                  <a:cubicBezTo>
                    <a:pt x="38355" y="60548"/>
                    <a:pt x="20216" y="78568"/>
                    <a:pt x="20216" y="100823"/>
                  </a:cubicBezTo>
                  <a:lnTo>
                    <a:pt x="20216" y="231921"/>
                  </a:lnTo>
                  <a:cubicBezTo>
                    <a:pt x="20216" y="265258"/>
                    <a:pt x="47470" y="292469"/>
                    <a:pt x="80862" y="292469"/>
                  </a:cubicBezTo>
                  <a:cubicBezTo>
                    <a:pt x="81314" y="292469"/>
                    <a:pt x="81675" y="292649"/>
                    <a:pt x="82126" y="292649"/>
                  </a:cubicBezTo>
                  <a:lnTo>
                    <a:pt x="105229" y="255167"/>
                  </a:lnTo>
                  <a:cubicBezTo>
                    <a:pt x="117864" y="234624"/>
                    <a:pt x="140697" y="221829"/>
                    <a:pt x="164883" y="221829"/>
                  </a:cubicBezTo>
                  <a:lnTo>
                    <a:pt x="370559" y="221829"/>
                  </a:lnTo>
                  <a:cubicBezTo>
                    <a:pt x="394655" y="221829"/>
                    <a:pt x="417578" y="234624"/>
                    <a:pt x="430213" y="255077"/>
                  </a:cubicBezTo>
                  <a:lnTo>
                    <a:pt x="434545" y="262195"/>
                  </a:lnTo>
                  <a:lnTo>
                    <a:pt x="159920" y="262195"/>
                  </a:lnTo>
                  <a:cubicBezTo>
                    <a:pt x="149722" y="262195"/>
                    <a:pt x="141419" y="270484"/>
                    <a:pt x="141419" y="280575"/>
                  </a:cubicBezTo>
                  <a:lnTo>
                    <a:pt x="141419" y="324455"/>
                  </a:lnTo>
                  <a:cubicBezTo>
                    <a:pt x="141419" y="334546"/>
                    <a:pt x="149722" y="342835"/>
                    <a:pt x="159920" y="342835"/>
                  </a:cubicBezTo>
                  <a:lnTo>
                    <a:pt x="498801" y="342835"/>
                  </a:lnTo>
                  <a:cubicBezTo>
                    <a:pt x="511075" y="349322"/>
                    <a:pt x="524793" y="352926"/>
                    <a:pt x="538962" y="352926"/>
                  </a:cubicBezTo>
                  <a:lnTo>
                    <a:pt x="580566" y="352926"/>
                  </a:lnTo>
                  <a:cubicBezTo>
                    <a:pt x="594645" y="352926"/>
                    <a:pt x="606016" y="364369"/>
                    <a:pt x="606016" y="378335"/>
                  </a:cubicBezTo>
                  <a:lnTo>
                    <a:pt x="606016" y="403383"/>
                  </a:lnTo>
                  <a:lnTo>
                    <a:pt x="555567" y="403383"/>
                  </a:lnTo>
                  <a:cubicBezTo>
                    <a:pt x="549972" y="403383"/>
                    <a:pt x="545460" y="407888"/>
                    <a:pt x="545460" y="413474"/>
                  </a:cubicBezTo>
                  <a:cubicBezTo>
                    <a:pt x="545460" y="418971"/>
                    <a:pt x="549972" y="423476"/>
                    <a:pt x="555567" y="423476"/>
                  </a:cubicBezTo>
                  <a:lnTo>
                    <a:pt x="606016" y="423476"/>
                  </a:lnTo>
                  <a:lnTo>
                    <a:pt x="606016" y="463391"/>
                  </a:lnTo>
                  <a:cubicBezTo>
                    <a:pt x="606016" y="485916"/>
                    <a:pt x="587696" y="504206"/>
                    <a:pt x="565224" y="504206"/>
                  </a:cubicBezTo>
                  <a:lnTo>
                    <a:pt x="554755" y="504206"/>
                  </a:lnTo>
                  <a:cubicBezTo>
                    <a:pt x="549791" y="538355"/>
                    <a:pt x="520371" y="564664"/>
                    <a:pt x="484813" y="564664"/>
                  </a:cubicBezTo>
                  <a:cubicBezTo>
                    <a:pt x="449345" y="564664"/>
                    <a:pt x="419924" y="538355"/>
                    <a:pt x="414961" y="504206"/>
                  </a:cubicBezTo>
                  <a:lnTo>
                    <a:pt x="191145" y="504206"/>
                  </a:lnTo>
                  <a:cubicBezTo>
                    <a:pt x="186182" y="538355"/>
                    <a:pt x="156761" y="564664"/>
                    <a:pt x="121293" y="564664"/>
                  </a:cubicBezTo>
                  <a:cubicBezTo>
                    <a:pt x="85736" y="564664"/>
                    <a:pt x="56315" y="538355"/>
                    <a:pt x="51351" y="504206"/>
                  </a:cubicBezTo>
                  <a:lnTo>
                    <a:pt x="35377" y="504206"/>
                  </a:lnTo>
                  <a:cubicBezTo>
                    <a:pt x="15884" y="504206"/>
                    <a:pt x="90" y="488349"/>
                    <a:pt x="90" y="468977"/>
                  </a:cubicBezTo>
                  <a:lnTo>
                    <a:pt x="0" y="423476"/>
                  </a:lnTo>
                  <a:lnTo>
                    <a:pt x="50539" y="423476"/>
                  </a:lnTo>
                  <a:cubicBezTo>
                    <a:pt x="56134" y="423476"/>
                    <a:pt x="60647" y="418971"/>
                    <a:pt x="60647" y="413474"/>
                  </a:cubicBezTo>
                  <a:cubicBezTo>
                    <a:pt x="60647" y="407888"/>
                    <a:pt x="56134" y="403383"/>
                    <a:pt x="50539" y="403383"/>
                  </a:cubicBezTo>
                  <a:lnTo>
                    <a:pt x="0" y="403383"/>
                  </a:lnTo>
                  <a:lnTo>
                    <a:pt x="0" y="378335"/>
                  </a:lnTo>
                  <a:cubicBezTo>
                    <a:pt x="0" y="371577"/>
                    <a:pt x="2617" y="365180"/>
                    <a:pt x="7400" y="360405"/>
                  </a:cubicBezTo>
                  <a:cubicBezTo>
                    <a:pt x="12274" y="355630"/>
                    <a:pt x="18681" y="352926"/>
                    <a:pt x="25540" y="352926"/>
                  </a:cubicBezTo>
                  <a:cubicBezTo>
                    <a:pt x="37814" y="352926"/>
                    <a:pt x="48824" y="346710"/>
                    <a:pt x="54961" y="336798"/>
                  </a:cubicBezTo>
                  <a:lnTo>
                    <a:pt x="70303" y="311840"/>
                  </a:lnTo>
                  <a:cubicBezTo>
                    <a:pt x="30775" y="306614"/>
                    <a:pt x="90" y="272827"/>
                    <a:pt x="90" y="231921"/>
                  </a:cubicBezTo>
                  <a:lnTo>
                    <a:pt x="90" y="100823"/>
                  </a:lnTo>
                  <a:cubicBezTo>
                    <a:pt x="90" y="67486"/>
                    <a:pt x="27255" y="40366"/>
                    <a:pt x="60647" y="40366"/>
                  </a:cubicBezTo>
                  <a:cubicBezTo>
                    <a:pt x="94039" y="40366"/>
                    <a:pt x="121293" y="67486"/>
                    <a:pt x="121293" y="100823"/>
                  </a:cubicBezTo>
                  <a:cubicBezTo>
                    <a:pt x="121293" y="123078"/>
                    <a:pt x="139343" y="141189"/>
                    <a:pt x="161634" y="141189"/>
                  </a:cubicBezTo>
                  <a:cubicBezTo>
                    <a:pt x="180406" y="141189"/>
                    <a:pt x="196109" y="128304"/>
                    <a:pt x="200622" y="110915"/>
                  </a:cubicBezTo>
                  <a:lnTo>
                    <a:pt x="181850" y="110915"/>
                  </a:lnTo>
                  <a:cubicBezTo>
                    <a:pt x="176255" y="110915"/>
                    <a:pt x="171742" y="106410"/>
                    <a:pt x="171742" y="100823"/>
                  </a:cubicBezTo>
                  <a:lnTo>
                    <a:pt x="171742" y="50457"/>
                  </a:lnTo>
                  <a:cubicBezTo>
                    <a:pt x="171742" y="44871"/>
                    <a:pt x="176255" y="40366"/>
                    <a:pt x="181850" y="40366"/>
                  </a:cubicBezTo>
                  <a:lnTo>
                    <a:pt x="181850" y="10092"/>
                  </a:lnTo>
                  <a:cubicBezTo>
                    <a:pt x="181850" y="4505"/>
                    <a:pt x="186362" y="0"/>
                    <a:pt x="191958"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29" name="iś1îḓê"/>
            <p:cNvSpPr/>
            <p:nvPr/>
          </p:nvSpPr>
          <p:spPr bwMode="auto">
            <a:xfrm>
              <a:off x="5924135" y="1186438"/>
              <a:ext cx="333138" cy="299788"/>
            </a:xfrm>
            <a:custGeom>
              <a:avLst/>
              <a:gdLst>
                <a:gd name="connsiteX0" fmla="*/ 225929 w 608344"/>
                <a:gd name="connsiteY0" fmla="*/ 296304 h 547447"/>
                <a:gd name="connsiteX1" fmla="*/ 225929 w 608344"/>
                <a:gd name="connsiteY1" fmla="*/ 341046 h 547447"/>
                <a:gd name="connsiteX2" fmla="*/ 44891 w 608344"/>
                <a:gd name="connsiteY2" fmla="*/ 420403 h 547447"/>
                <a:gd name="connsiteX3" fmla="*/ 287412 w 608344"/>
                <a:gd name="connsiteY3" fmla="*/ 502613 h 547447"/>
                <a:gd name="connsiteX4" fmla="*/ 530026 w 608344"/>
                <a:gd name="connsiteY4" fmla="*/ 420403 h 547447"/>
                <a:gd name="connsiteX5" fmla="*/ 351292 w 608344"/>
                <a:gd name="connsiteY5" fmla="*/ 341322 h 547447"/>
                <a:gd name="connsiteX6" fmla="*/ 351292 w 608344"/>
                <a:gd name="connsiteY6" fmla="*/ 296488 h 547447"/>
                <a:gd name="connsiteX7" fmla="*/ 574825 w 608344"/>
                <a:gd name="connsiteY7" fmla="*/ 420403 h 547447"/>
                <a:gd name="connsiteX8" fmla="*/ 287412 w 608344"/>
                <a:gd name="connsiteY8" fmla="*/ 547447 h 547447"/>
                <a:gd name="connsiteX9" fmla="*/ 0 w 608344"/>
                <a:gd name="connsiteY9" fmla="*/ 420403 h 547447"/>
                <a:gd name="connsiteX10" fmla="*/ 225929 w 608344"/>
                <a:gd name="connsiteY10" fmla="*/ 296304 h 547447"/>
                <a:gd name="connsiteX11" fmla="*/ 288618 w 608344"/>
                <a:gd name="connsiteY11" fmla="*/ 0 h 547447"/>
                <a:gd name="connsiteX12" fmla="*/ 311206 w 608344"/>
                <a:gd name="connsiteY12" fmla="*/ 22551 h 547447"/>
                <a:gd name="connsiteX13" fmla="*/ 311206 w 608344"/>
                <a:gd name="connsiteY13" fmla="*/ 36174 h 547447"/>
                <a:gd name="connsiteX14" fmla="*/ 370947 w 608344"/>
                <a:gd name="connsiteY14" fmla="*/ 21079 h 547447"/>
                <a:gd name="connsiteX15" fmla="*/ 428291 w 608344"/>
                <a:gd name="connsiteY15" fmla="*/ 34978 h 547447"/>
                <a:gd name="connsiteX16" fmla="*/ 486004 w 608344"/>
                <a:gd name="connsiteY16" fmla="*/ 48969 h 547447"/>
                <a:gd name="connsiteX17" fmla="*/ 540766 w 608344"/>
                <a:gd name="connsiteY17" fmla="*/ 36450 h 547447"/>
                <a:gd name="connsiteX18" fmla="*/ 578012 w 608344"/>
                <a:gd name="connsiteY18" fmla="*/ 18409 h 547447"/>
                <a:gd name="connsiteX19" fmla="*/ 587232 w 608344"/>
                <a:gd name="connsiteY19" fmla="*/ 16292 h 547447"/>
                <a:gd name="connsiteX20" fmla="*/ 598479 w 608344"/>
                <a:gd name="connsiteY20" fmla="*/ 19514 h 547447"/>
                <a:gd name="connsiteX21" fmla="*/ 608344 w 608344"/>
                <a:gd name="connsiteY21" fmla="*/ 37371 h 547447"/>
                <a:gd name="connsiteX22" fmla="*/ 608344 w 608344"/>
                <a:gd name="connsiteY22" fmla="*/ 174520 h 547447"/>
                <a:gd name="connsiteX23" fmla="*/ 596451 w 608344"/>
                <a:gd name="connsiteY23" fmla="*/ 193481 h 547447"/>
                <a:gd name="connsiteX24" fmla="*/ 540766 w 608344"/>
                <a:gd name="connsiteY24" fmla="*/ 220451 h 547447"/>
                <a:gd name="connsiteX25" fmla="*/ 486004 w 608344"/>
                <a:gd name="connsiteY25" fmla="*/ 232969 h 547447"/>
                <a:gd name="connsiteX26" fmla="*/ 428291 w 608344"/>
                <a:gd name="connsiteY26" fmla="*/ 218978 h 547447"/>
                <a:gd name="connsiteX27" fmla="*/ 370947 w 608344"/>
                <a:gd name="connsiteY27" fmla="*/ 205079 h 547447"/>
                <a:gd name="connsiteX28" fmla="*/ 311206 w 608344"/>
                <a:gd name="connsiteY28" fmla="*/ 220175 h 547447"/>
                <a:gd name="connsiteX29" fmla="*/ 311206 w 608344"/>
                <a:gd name="connsiteY29" fmla="*/ 426267 h 547447"/>
                <a:gd name="connsiteX30" fmla="*/ 288618 w 608344"/>
                <a:gd name="connsiteY30" fmla="*/ 448726 h 547447"/>
                <a:gd name="connsiteX31" fmla="*/ 266031 w 608344"/>
                <a:gd name="connsiteY31" fmla="*/ 426267 h 547447"/>
                <a:gd name="connsiteX32" fmla="*/ 266031 w 608344"/>
                <a:gd name="connsiteY32" fmla="*/ 22551 h 547447"/>
                <a:gd name="connsiteX33" fmla="*/ 288618 w 608344"/>
                <a:gd name="connsiteY33" fmla="*/ 0 h 547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344" h="547447">
                  <a:moveTo>
                    <a:pt x="225929" y="296304"/>
                  </a:moveTo>
                  <a:lnTo>
                    <a:pt x="225929" y="341046"/>
                  </a:lnTo>
                  <a:cubicBezTo>
                    <a:pt x="112458" y="351817"/>
                    <a:pt x="44891" y="391035"/>
                    <a:pt x="44891" y="420403"/>
                  </a:cubicBezTo>
                  <a:cubicBezTo>
                    <a:pt x="44891" y="454741"/>
                    <a:pt x="137162" y="502613"/>
                    <a:pt x="287412" y="502613"/>
                  </a:cubicBezTo>
                  <a:cubicBezTo>
                    <a:pt x="437663" y="502613"/>
                    <a:pt x="530026" y="454741"/>
                    <a:pt x="530026" y="420403"/>
                  </a:cubicBezTo>
                  <a:cubicBezTo>
                    <a:pt x="530026" y="391219"/>
                    <a:pt x="463289" y="352369"/>
                    <a:pt x="351292" y="341322"/>
                  </a:cubicBezTo>
                  <a:lnTo>
                    <a:pt x="351292" y="296488"/>
                  </a:lnTo>
                  <a:cubicBezTo>
                    <a:pt x="468543" y="307904"/>
                    <a:pt x="574825" y="350436"/>
                    <a:pt x="574825" y="420403"/>
                  </a:cubicBezTo>
                  <a:cubicBezTo>
                    <a:pt x="574825" y="502889"/>
                    <a:pt x="426786" y="547447"/>
                    <a:pt x="287412" y="547447"/>
                  </a:cubicBezTo>
                  <a:cubicBezTo>
                    <a:pt x="148131" y="547447"/>
                    <a:pt x="0" y="502889"/>
                    <a:pt x="0" y="420403"/>
                  </a:cubicBezTo>
                  <a:cubicBezTo>
                    <a:pt x="0" y="349976"/>
                    <a:pt x="107757" y="307351"/>
                    <a:pt x="225929" y="296304"/>
                  </a:cubicBezTo>
                  <a:close/>
                  <a:moveTo>
                    <a:pt x="288618" y="0"/>
                  </a:moveTo>
                  <a:cubicBezTo>
                    <a:pt x="301064" y="0"/>
                    <a:pt x="311206" y="10033"/>
                    <a:pt x="311206" y="22551"/>
                  </a:cubicBezTo>
                  <a:lnTo>
                    <a:pt x="311206" y="36174"/>
                  </a:lnTo>
                  <a:cubicBezTo>
                    <a:pt x="329829" y="26141"/>
                    <a:pt x="350388" y="21079"/>
                    <a:pt x="370947" y="21079"/>
                  </a:cubicBezTo>
                  <a:cubicBezTo>
                    <a:pt x="390584" y="21079"/>
                    <a:pt x="410313" y="25681"/>
                    <a:pt x="428291" y="34978"/>
                  </a:cubicBezTo>
                  <a:cubicBezTo>
                    <a:pt x="446361" y="44366"/>
                    <a:pt x="466182" y="48969"/>
                    <a:pt x="486004" y="48969"/>
                  </a:cubicBezTo>
                  <a:cubicBezTo>
                    <a:pt x="504719" y="48969"/>
                    <a:pt x="523526" y="44827"/>
                    <a:pt x="540766" y="36450"/>
                  </a:cubicBezTo>
                  <a:lnTo>
                    <a:pt x="578012" y="18409"/>
                  </a:lnTo>
                  <a:cubicBezTo>
                    <a:pt x="580963" y="17029"/>
                    <a:pt x="584097" y="16292"/>
                    <a:pt x="587232" y="16292"/>
                  </a:cubicBezTo>
                  <a:cubicBezTo>
                    <a:pt x="591104" y="16292"/>
                    <a:pt x="594976" y="17397"/>
                    <a:pt x="598479" y="19514"/>
                  </a:cubicBezTo>
                  <a:cubicBezTo>
                    <a:pt x="604564" y="23380"/>
                    <a:pt x="608344" y="30099"/>
                    <a:pt x="608344" y="37371"/>
                  </a:cubicBezTo>
                  <a:lnTo>
                    <a:pt x="608344" y="174520"/>
                  </a:lnTo>
                  <a:cubicBezTo>
                    <a:pt x="608344" y="182620"/>
                    <a:pt x="603734" y="189984"/>
                    <a:pt x="596451" y="193481"/>
                  </a:cubicBezTo>
                  <a:lnTo>
                    <a:pt x="540766" y="220451"/>
                  </a:lnTo>
                  <a:cubicBezTo>
                    <a:pt x="523434" y="228827"/>
                    <a:pt x="504719" y="232969"/>
                    <a:pt x="486004" y="232969"/>
                  </a:cubicBezTo>
                  <a:cubicBezTo>
                    <a:pt x="466182" y="232969"/>
                    <a:pt x="446361" y="228367"/>
                    <a:pt x="428291" y="218978"/>
                  </a:cubicBezTo>
                  <a:cubicBezTo>
                    <a:pt x="410313" y="209774"/>
                    <a:pt x="390584" y="205079"/>
                    <a:pt x="370947" y="205079"/>
                  </a:cubicBezTo>
                  <a:cubicBezTo>
                    <a:pt x="350388" y="205079"/>
                    <a:pt x="329829" y="210142"/>
                    <a:pt x="311206" y="220175"/>
                  </a:cubicBezTo>
                  <a:lnTo>
                    <a:pt x="311206" y="426267"/>
                  </a:lnTo>
                  <a:cubicBezTo>
                    <a:pt x="311206" y="438693"/>
                    <a:pt x="301064" y="448726"/>
                    <a:pt x="288618" y="448726"/>
                  </a:cubicBezTo>
                  <a:cubicBezTo>
                    <a:pt x="276172" y="448726"/>
                    <a:pt x="266031" y="438693"/>
                    <a:pt x="266031" y="426267"/>
                  </a:cubicBezTo>
                  <a:lnTo>
                    <a:pt x="266031" y="22551"/>
                  </a:lnTo>
                  <a:cubicBezTo>
                    <a:pt x="266031" y="10033"/>
                    <a:pt x="276172" y="0"/>
                    <a:pt x="288618" y="0"/>
                  </a:cubicBezTo>
                  <a:close/>
                </a:path>
              </a:pathLst>
            </a:custGeom>
            <a:solidFill>
              <a:schemeClr val="accent1"/>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sp>
          <p:nvSpPr>
            <p:cNvPr id="30" name="išľíḓé"/>
            <p:cNvSpPr/>
            <p:nvPr/>
          </p:nvSpPr>
          <p:spPr bwMode="auto">
            <a:xfrm>
              <a:off x="9594763" y="1183282"/>
              <a:ext cx="333138" cy="3061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8909" h="559493">
                  <a:moveTo>
                    <a:pt x="470180" y="272856"/>
                  </a:moveTo>
                  <a:lnTo>
                    <a:pt x="476019" y="272856"/>
                  </a:lnTo>
                  <a:lnTo>
                    <a:pt x="481953" y="272856"/>
                  </a:lnTo>
                  <a:cubicBezTo>
                    <a:pt x="509171" y="272856"/>
                    <a:pt x="531210" y="294963"/>
                    <a:pt x="531210" y="322056"/>
                  </a:cubicBezTo>
                  <a:lnTo>
                    <a:pt x="531210" y="376617"/>
                  </a:lnTo>
                  <a:cubicBezTo>
                    <a:pt x="531210" y="385084"/>
                    <a:pt x="526783" y="392609"/>
                    <a:pt x="520096" y="397031"/>
                  </a:cubicBezTo>
                  <a:lnTo>
                    <a:pt x="520096" y="449711"/>
                  </a:lnTo>
                  <a:cubicBezTo>
                    <a:pt x="520096" y="450558"/>
                    <a:pt x="520661" y="451498"/>
                    <a:pt x="521509" y="451875"/>
                  </a:cubicBezTo>
                  <a:cubicBezTo>
                    <a:pt x="528949" y="455450"/>
                    <a:pt x="565492" y="473888"/>
                    <a:pt x="599209" y="501639"/>
                  </a:cubicBezTo>
                  <a:cubicBezTo>
                    <a:pt x="605425" y="506625"/>
                    <a:pt x="608909" y="514150"/>
                    <a:pt x="608909" y="522052"/>
                  </a:cubicBezTo>
                  <a:lnTo>
                    <a:pt x="608909" y="559493"/>
                  </a:lnTo>
                  <a:lnTo>
                    <a:pt x="483083" y="559493"/>
                  </a:lnTo>
                  <a:lnTo>
                    <a:pt x="483083" y="515561"/>
                  </a:lnTo>
                  <a:cubicBezTo>
                    <a:pt x="483083" y="499475"/>
                    <a:pt x="476019" y="484424"/>
                    <a:pt x="463587" y="474264"/>
                  </a:cubicBezTo>
                  <a:cubicBezTo>
                    <a:pt x="453039" y="465609"/>
                    <a:pt x="442302" y="457707"/>
                    <a:pt x="431848" y="450558"/>
                  </a:cubicBezTo>
                  <a:cubicBezTo>
                    <a:pt x="431848" y="450370"/>
                    <a:pt x="431942" y="450087"/>
                    <a:pt x="431942" y="449711"/>
                  </a:cubicBezTo>
                  <a:lnTo>
                    <a:pt x="431942" y="397031"/>
                  </a:lnTo>
                  <a:cubicBezTo>
                    <a:pt x="425350" y="392609"/>
                    <a:pt x="420923" y="385084"/>
                    <a:pt x="420923" y="376617"/>
                  </a:cubicBezTo>
                  <a:lnTo>
                    <a:pt x="420923" y="322056"/>
                  </a:lnTo>
                  <a:cubicBezTo>
                    <a:pt x="420923" y="294775"/>
                    <a:pt x="443056" y="272856"/>
                    <a:pt x="470180" y="272856"/>
                  </a:cubicBezTo>
                  <a:close/>
                  <a:moveTo>
                    <a:pt x="127004" y="272856"/>
                  </a:moveTo>
                  <a:lnTo>
                    <a:pt x="132940" y="272856"/>
                  </a:lnTo>
                  <a:lnTo>
                    <a:pt x="138781" y="272856"/>
                  </a:lnTo>
                  <a:cubicBezTo>
                    <a:pt x="166104" y="272856"/>
                    <a:pt x="188057" y="294963"/>
                    <a:pt x="188057" y="322056"/>
                  </a:cubicBezTo>
                  <a:lnTo>
                    <a:pt x="188057" y="376617"/>
                  </a:lnTo>
                  <a:cubicBezTo>
                    <a:pt x="188057" y="385084"/>
                    <a:pt x="183629" y="392609"/>
                    <a:pt x="177033" y="397031"/>
                  </a:cubicBezTo>
                  <a:lnTo>
                    <a:pt x="177033" y="449711"/>
                  </a:lnTo>
                  <a:cubicBezTo>
                    <a:pt x="177033" y="449993"/>
                    <a:pt x="177128" y="450370"/>
                    <a:pt x="177128" y="450558"/>
                  </a:cubicBezTo>
                  <a:cubicBezTo>
                    <a:pt x="166670" y="457613"/>
                    <a:pt x="155929" y="465609"/>
                    <a:pt x="145376" y="474264"/>
                  </a:cubicBezTo>
                  <a:cubicBezTo>
                    <a:pt x="133034" y="484424"/>
                    <a:pt x="125874" y="499475"/>
                    <a:pt x="125874" y="515561"/>
                  </a:cubicBezTo>
                  <a:lnTo>
                    <a:pt x="125874" y="559493"/>
                  </a:lnTo>
                  <a:lnTo>
                    <a:pt x="0" y="559493"/>
                  </a:lnTo>
                  <a:lnTo>
                    <a:pt x="0" y="522052"/>
                  </a:lnTo>
                  <a:cubicBezTo>
                    <a:pt x="0" y="514150"/>
                    <a:pt x="3486" y="506625"/>
                    <a:pt x="9704" y="501639"/>
                  </a:cubicBezTo>
                  <a:cubicBezTo>
                    <a:pt x="43434" y="473888"/>
                    <a:pt x="79990" y="455450"/>
                    <a:pt x="87433" y="451875"/>
                  </a:cubicBezTo>
                  <a:cubicBezTo>
                    <a:pt x="88281" y="451498"/>
                    <a:pt x="88846" y="450558"/>
                    <a:pt x="88846" y="449711"/>
                  </a:cubicBezTo>
                  <a:lnTo>
                    <a:pt x="88846" y="397031"/>
                  </a:lnTo>
                  <a:cubicBezTo>
                    <a:pt x="82157" y="392609"/>
                    <a:pt x="77729" y="385084"/>
                    <a:pt x="77729" y="376617"/>
                  </a:cubicBezTo>
                  <a:lnTo>
                    <a:pt x="77729" y="322056"/>
                  </a:lnTo>
                  <a:cubicBezTo>
                    <a:pt x="77729" y="294775"/>
                    <a:pt x="99870" y="272856"/>
                    <a:pt x="127004" y="272856"/>
                  </a:cubicBezTo>
                  <a:close/>
                  <a:moveTo>
                    <a:pt x="297600" y="222543"/>
                  </a:moveTo>
                  <a:lnTo>
                    <a:pt x="304477" y="222543"/>
                  </a:lnTo>
                  <a:lnTo>
                    <a:pt x="311260" y="222543"/>
                  </a:lnTo>
                  <a:cubicBezTo>
                    <a:pt x="343291" y="222543"/>
                    <a:pt x="369198" y="248506"/>
                    <a:pt x="369198" y="280395"/>
                  </a:cubicBezTo>
                  <a:lnTo>
                    <a:pt x="369198" y="344455"/>
                  </a:lnTo>
                  <a:cubicBezTo>
                    <a:pt x="369198" y="354520"/>
                    <a:pt x="364017" y="363456"/>
                    <a:pt x="356198" y="368536"/>
                  </a:cubicBezTo>
                  <a:lnTo>
                    <a:pt x="356198" y="430432"/>
                  </a:lnTo>
                  <a:cubicBezTo>
                    <a:pt x="356198" y="431561"/>
                    <a:pt x="356857" y="432502"/>
                    <a:pt x="357893" y="433066"/>
                  </a:cubicBezTo>
                  <a:cubicBezTo>
                    <a:pt x="366655" y="437299"/>
                    <a:pt x="409520" y="459029"/>
                    <a:pt x="449275" y="491576"/>
                  </a:cubicBezTo>
                  <a:cubicBezTo>
                    <a:pt x="456435" y="497502"/>
                    <a:pt x="460580" y="506251"/>
                    <a:pt x="460580" y="515563"/>
                  </a:cubicBezTo>
                  <a:lnTo>
                    <a:pt x="460580" y="559493"/>
                  </a:lnTo>
                  <a:lnTo>
                    <a:pt x="304477" y="559493"/>
                  </a:lnTo>
                  <a:lnTo>
                    <a:pt x="148187" y="559493"/>
                  </a:lnTo>
                  <a:lnTo>
                    <a:pt x="148187" y="515563"/>
                  </a:lnTo>
                  <a:cubicBezTo>
                    <a:pt x="148187" y="506251"/>
                    <a:pt x="152332" y="497502"/>
                    <a:pt x="159492" y="491576"/>
                  </a:cubicBezTo>
                  <a:cubicBezTo>
                    <a:pt x="199342" y="459029"/>
                    <a:pt x="242206" y="437299"/>
                    <a:pt x="250967" y="433066"/>
                  </a:cubicBezTo>
                  <a:cubicBezTo>
                    <a:pt x="252004" y="432502"/>
                    <a:pt x="252569" y="431561"/>
                    <a:pt x="252569" y="430432"/>
                  </a:cubicBezTo>
                  <a:lnTo>
                    <a:pt x="252569" y="368536"/>
                  </a:lnTo>
                  <a:cubicBezTo>
                    <a:pt x="244844" y="363456"/>
                    <a:pt x="239663" y="354520"/>
                    <a:pt x="239663" y="344455"/>
                  </a:cubicBezTo>
                  <a:lnTo>
                    <a:pt x="239663" y="280395"/>
                  </a:lnTo>
                  <a:cubicBezTo>
                    <a:pt x="239663" y="248412"/>
                    <a:pt x="265664" y="222543"/>
                    <a:pt x="297600" y="222543"/>
                  </a:cubicBezTo>
                  <a:close/>
                  <a:moveTo>
                    <a:pt x="492495" y="40775"/>
                  </a:moveTo>
                  <a:cubicBezTo>
                    <a:pt x="488350" y="40775"/>
                    <a:pt x="487596" y="41528"/>
                    <a:pt x="487502" y="45854"/>
                  </a:cubicBezTo>
                  <a:lnTo>
                    <a:pt x="487502" y="51498"/>
                  </a:lnTo>
                  <a:cubicBezTo>
                    <a:pt x="487502" y="57142"/>
                    <a:pt x="487502" y="56953"/>
                    <a:pt x="482038" y="59023"/>
                  </a:cubicBezTo>
                  <a:cubicBezTo>
                    <a:pt x="469036" y="63726"/>
                    <a:pt x="460934" y="72661"/>
                    <a:pt x="460086" y="86864"/>
                  </a:cubicBezTo>
                  <a:cubicBezTo>
                    <a:pt x="459332" y="99374"/>
                    <a:pt x="465833" y="107934"/>
                    <a:pt x="476196" y="114048"/>
                  </a:cubicBezTo>
                  <a:cubicBezTo>
                    <a:pt x="482414" y="117810"/>
                    <a:pt x="489480" y="120068"/>
                    <a:pt x="496264" y="123078"/>
                  </a:cubicBezTo>
                  <a:cubicBezTo>
                    <a:pt x="498902" y="124206"/>
                    <a:pt x="501445" y="125617"/>
                    <a:pt x="503706" y="127310"/>
                  </a:cubicBezTo>
                  <a:cubicBezTo>
                    <a:pt x="510207" y="132578"/>
                    <a:pt x="508982" y="141513"/>
                    <a:pt x="501257" y="144900"/>
                  </a:cubicBezTo>
                  <a:cubicBezTo>
                    <a:pt x="497112" y="146781"/>
                    <a:pt x="492778" y="147157"/>
                    <a:pt x="488350" y="146687"/>
                  </a:cubicBezTo>
                  <a:cubicBezTo>
                    <a:pt x="481472" y="145746"/>
                    <a:pt x="474783" y="144053"/>
                    <a:pt x="468659" y="140761"/>
                  </a:cubicBezTo>
                  <a:cubicBezTo>
                    <a:pt x="464985" y="138880"/>
                    <a:pt x="463949" y="139350"/>
                    <a:pt x="462724" y="143301"/>
                  </a:cubicBezTo>
                  <a:cubicBezTo>
                    <a:pt x="461593" y="146687"/>
                    <a:pt x="460557" y="150167"/>
                    <a:pt x="459709" y="153553"/>
                  </a:cubicBezTo>
                  <a:cubicBezTo>
                    <a:pt x="458484" y="158162"/>
                    <a:pt x="458861" y="159291"/>
                    <a:pt x="463572" y="161548"/>
                  </a:cubicBezTo>
                  <a:cubicBezTo>
                    <a:pt x="469130" y="164370"/>
                    <a:pt x="475160" y="165687"/>
                    <a:pt x="481284" y="166722"/>
                  </a:cubicBezTo>
                  <a:cubicBezTo>
                    <a:pt x="486089" y="167474"/>
                    <a:pt x="486371" y="167568"/>
                    <a:pt x="486371" y="172647"/>
                  </a:cubicBezTo>
                  <a:lnTo>
                    <a:pt x="486371" y="179420"/>
                  </a:lnTo>
                  <a:cubicBezTo>
                    <a:pt x="486371" y="182147"/>
                    <a:pt x="487690" y="183934"/>
                    <a:pt x="490611" y="183934"/>
                  </a:cubicBezTo>
                  <a:cubicBezTo>
                    <a:pt x="493908" y="184029"/>
                    <a:pt x="497300" y="184029"/>
                    <a:pt x="500503" y="183934"/>
                  </a:cubicBezTo>
                  <a:cubicBezTo>
                    <a:pt x="503330" y="183934"/>
                    <a:pt x="504649" y="182430"/>
                    <a:pt x="504649" y="179608"/>
                  </a:cubicBezTo>
                  <a:cubicBezTo>
                    <a:pt x="504649" y="176504"/>
                    <a:pt x="504837" y="173494"/>
                    <a:pt x="504649" y="170390"/>
                  </a:cubicBezTo>
                  <a:cubicBezTo>
                    <a:pt x="504554" y="167192"/>
                    <a:pt x="505968" y="165687"/>
                    <a:pt x="508982" y="164840"/>
                  </a:cubicBezTo>
                  <a:cubicBezTo>
                    <a:pt x="515860" y="162959"/>
                    <a:pt x="521889" y="159197"/>
                    <a:pt x="526412" y="153647"/>
                  </a:cubicBezTo>
                  <a:cubicBezTo>
                    <a:pt x="538942" y="138221"/>
                    <a:pt x="534231" y="115835"/>
                    <a:pt x="516237" y="105865"/>
                  </a:cubicBezTo>
                  <a:cubicBezTo>
                    <a:pt x="510584" y="102761"/>
                    <a:pt x="504554" y="100503"/>
                    <a:pt x="498619" y="97964"/>
                  </a:cubicBezTo>
                  <a:cubicBezTo>
                    <a:pt x="495227" y="96647"/>
                    <a:pt x="492024" y="94860"/>
                    <a:pt x="489104" y="92602"/>
                  </a:cubicBezTo>
                  <a:cubicBezTo>
                    <a:pt x="483451" y="88087"/>
                    <a:pt x="484581" y="80657"/>
                    <a:pt x="491270" y="77835"/>
                  </a:cubicBezTo>
                  <a:cubicBezTo>
                    <a:pt x="493155" y="76894"/>
                    <a:pt x="495133" y="76706"/>
                    <a:pt x="497112" y="76518"/>
                  </a:cubicBezTo>
                  <a:cubicBezTo>
                    <a:pt x="504931" y="76142"/>
                    <a:pt x="512186" y="77553"/>
                    <a:pt x="519252" y="80939"/>
                  </a:cubicBezTo>
                  <a:cubicBezTo>
                    <a:pt x="522643" y="82538"/>
                    <a:pt x="523868" y="82067"/>
                    <a:pt x="524998" y="78399"/>
                  </a:cubicBezTo>
                  <a:cubicBezTo>
                    <a:pt x="526317" y="74543"/>
                    <a:pt x="527260" y="70686"/>
                    <a:pt x="528390" y="66736"/>
                  </a:cubicBezTo>
                  <a:cubicBezTo>
                    <a:pt x="529144" y="64102"/>
                    <a:pt x="528296" y="62503"/>
                    <a:pt x="525752" y="61374"/>
                  </a:cubicBezTo>
                  <a:cubicBezTo>
                    <a:pt x="521230" y="59399"/>
                    <a:pt x="516708" y="57988"/>
                    <a:pt x="511809" y="57236"/>
                  </a:cubicBezTo>
                  <a:cubicBezTo>
                    <a:pt x="505402" y="56201"/>
                    <a:pt x="505402" y="56201"/>
                    <a:pt x="505402" y="49805"/>
                  </a:cubicBezTo>
                  <a:cubicBezTo>
                    <a:pt x="505402" y="40775"/>
                    <a:pt x="505402" y="40775"/>
                    <a:pt x="496358" y="40775"/>
                  </a:cubicBezTo>
                  <a:close/>
                  <a:moveTo>
                    <a:pt x="496111" y="0"/>
                  </a:moveTo>
                  <a:cubicBezTo>
                    <a:pt x="524951" y="0"/>
                    <a:pt x="553781" y="10958"/>
                    <a:pt x="575779" y="32874"/>
                  </a:cubicBezTo>
                  <a:cubicBezTo>
                    <a:pt x="619776" y="76894"/>
                    <a:pt x="619776" y="148192"/>
                    <a:pt x="575779" y="192024"/>
                  </a:cubicBezTo>
                  <a:cubicBezTo>
                    <a:pt x="538754" y="229083"/>
                    <a:pt x="482226" y="234821"/>
                    <a:pt x="438982" y="209519"/>
                  </a:cubicBezTo>
                  <a:lnTo>
                    <a:pt x="438700" y="209237"/>
                  </a:lnTo>
                  <a:cubicBezTo>
                    <a:pt x="421742" y="222029"/>
                    <a:pt x="403559" y="224286"/>
                    <a:pt x="390840" y="222311"/>
                  </a:cubicBezTo>
                  <a:cubicBezTo>
                    <a:pt x="386600" y="221653"/>
                    <a:pt x="385752" y="215915"/>
                    <a:pt x="389615" y="214034"/>
                  </a:cubicBezTo>
                  <a:cubicBezTo>
                    <a:pt x="401297" y="208202"/>
                    <a:pt x="408552" y="196915"/>
                    <a:pt x="412886" y="187791"/>
                  </a:cubicBezTo>
                  <a:lnTo>
                    <a:pt x="411567" y="187038"/>
                  </a:lnTo>
                  <a:cubicBezTo>
                    <a:pt x="372374" y="142736"/>
                    <a:pt x="374070" y="75201"/>
                    <a:pt x="416371" y="32874"/>
                  </a:cubicBezTo>
                  <a:cubicBezTo>
                    <a:pt x="438417" y="10958"/>
                    <a:pt x="467270" y="0"/>
                    <a:pt x="496111" y="0"/>
                  </a:cubicBezTo>
                  <a:close/>
                </a:path>
              </a:pathLst>
            </a:custGeom>
            <a:solidFill>
              <a:schemeClr val="bg1">
                <a:lumMod val="65000"/>
              </a:schemeClr>
            </a:solidFill>
            <a:ln>
              <a:noFill/>
            </a:ln>
          </p:spPr>
          <p:txBody>
            <a:bodyPr wrap="square" lIns="91440" tIns="45720" rIns="91440" bIns="45720" anchor="ctr">
              <a:normAutofit fontScale="92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多对一模型</a:t>
            </a:r>
            <a:endParaRPr lang="zh-CN" altLang="en-US" sz="2800" b="1" dirty="0">
              <a:solidFill>
                <a:schemeClr val="bg1"/>
              </a:solidFill>
            </a:endParaRPr>
          </a:p>
        </p:txBody>
      </p:sp>
      <p:sp>
        <p:nvSpPr>
          <p:cNvPr id="29" name="iśḷíḑe"/>
          <p:cNvSpPr/>
          <p:nvPr/>
        </p:nvSpPr>
        <p:spPr>
          <a:xfrm>
            <a:off x="829723" y="11486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ïś1ïḑè"/>
          <p:cNvSpPr/>
          <p:nvPr/>
        </p:nvSpPr>
        <p:spPr>
          <a:xfrm>
            <a:off x="829723" y="208768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2" name="iśḷíḑe"/>
          <p:cNvSpPr/>
          <p:nvPr/>
        </p:nvSpPr>
        <p:spPr>
          <a:xfrm>
            <a:off x="829723" y="302431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4" name="ïś1ïḑè"/>
          <p:cNvSpPr/>
          <p:nvPr/>
        </p:nvSpPr>
        <p:spPr>
          <a:xfrm>
            <a:off x="829723" y="403739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779899" y="118421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多个用户级线程映射到一个内核线程。</a:t>
            </a:r>
            <a:endParaRPr lang="zh-CN" altLang="en-US" sz="2400" dirty="0">
              <a:solidFill>
                <a:srgbClr val="FF0000"/>
              </a:solidFill>
            </a:endParaRPr>
          </a:p>
        </p:txBody>
      </p:sp>
      <p:sp>
        <p:nvSpPr>
          <p:cNvPr id="38" name="内容占位符 2"/>
          <p:cNvSpPr txBox="1"/>
          <p:nvPr/>
        </p:nvSpPr>
        <p:spPr>
          <a:xfrm>
            <a:off x="1779898" y="2220925"/>
            <a:ext cx="5788426"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多个线程不能并行运行在多个处理器上。</a:t>
            </a:r>
            <a:endParaRPr lang="zh-CN" altLang="en-US" sz="2400" dirty="0"/>
          </a:p>
        </p:txBody>
      </p:sp>
      <p:sp>
        <p:nvSpPr>
          <p:cNvPr id="39" name="内容占位符 2"/>
          <p:cNvSpPr txBox="1"/>
          <p:nvPr/>
        </p:nvSpPr>
        <p:spPr>
          <a:xfrm>
            <a:off x="1779899" y="3004590"/>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dirty="0"/>
              <a:t>特点：线程管理在用户态执行，因此是高效的，但一个线程的阻塞系统调用会导致整个进程的阻塞 。</a:t>
            </a:r>
            <a:endParaRPr lang="zh-CN" altLang="en-US" sz="2400" dirty="0"/>
          </a:p>
        </p:txBody>
      </p:sp>
      <p:sp>
        <p:nvSpPr>
          <p:cNvPr id="40" name="内容占位符 2"/>
          <p:cNvSpPr txBox="1"/>
          <p:nvPr/>
        </p:nvSpPr>
        <p:spPr>
          <a:xfrm>
            <a:off x="1779898" y="4194941"/>
            <a:ext cx="4775631"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用于不支持内核线程的系统中。</a:t>
            </a:r>
            <a:endParaRPr lang="zh-CN" altLang="en-US" sz="2400" dirty="0"/>
          </a:p>
        </p:txBody>
      </p:sp>
      <p:sp>
        <p:nvSpPr>
          <p:cNvPr id="42" name="iśḷíḑe"/>
          <p:cNvSpPr/>
          <p:nvPr/>
        </p:nvSpPr>
        <p:spPr>
          <a:xfrm>
            <a:off x="829723" y="502183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44" name="内容占位符 2"/>
          <p:cNvSpPr txBox="1"/>
          <p:nvPr/>
        </p:nvSpPr>
        <p:spPr>
          <a:xfrm>
            <a:off x="1779899" y="5190611"/>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例子</a:t>
            </a:r>
            <a:r>
              <a:rPr lang="en-US" altLang="zh-CN" sz="2400" dirty="0"/>
              <a:t>:</a:t>
            </a:r>
            <a:endParaRPr lang="en-US" altLang="zh-CN" sz="2400" dirty="0"/>
          </a:p>
        </p:txBody>
      </p:sp>
      <p:sp>
        <p:nvSpPr>
          <p:cNvPr id="46" name="内容占位符 2"/>
          <p:cNvSpPr txBox="1"/>
          <p:nvPr/>
        </p:nvSpPr>
        <p:spPr>
          <a:xfrm>
            <a:off x="2832731" y="5050467"/>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Green Threads</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GNU Portable Threads</a:t>
            </a:r>
            <a:endParaRPr lang="en-US" altLang="zh-CN" sz="2200" dirty="0"/>
          </a:p>
        </p:txBody>
      </p:sp>
      <p:pic>
        <p:nvPicPr>
          <p:cNvPr id="47"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l="12682" t="1207" r="12682" b="1208"/>
          <a:stretch>
            <a:fillRect/>
          </a:stretch>
        </p:blipFill>
        <p:spPr bwMode="auto">
          <a:xfrm>
            <a:off x="7475479" y="3676385"/>
            <a:ext cx="3124200" cy="22987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一对一模型</a:t>
            </a:r>
            <a:endParaRPr lang="zh-CN" altLang="en-US" sz="2800" b="1" dirty="0">
              <a:solidFill>
                <a:schemeClr val="bg1"/>
              </a:solidFill>
            </a:endParaRPr>
          </a:p>
        </p:txBody>
      </p:sp>
      <p:sp>
        <p:nvSpPr>
          <p:cNvPr id="29" name="iśḷíḑe"/>
          <p:cNvSpPr/>
          <p:nvPr/>
        </p:nvSpPr>
        <p:spPr>
          <a:xfrm>
            <a:off x="829723" y="114866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1" name="ïś1ïḑè"/>
          <p:cNvSpPr/>
          <p:nvPr/>
        </p:nvSpPr>
        <p:spPr>
          <a:xfrm>
            <a:off x="829723" y="208768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2" name="iśḷíḑe"/>
          <p:cNvSpPr/>
          <p:nvPr/>
        </p:nvSpPr>
        <p:spPr>
          <a:xfrm>
            <a:off x="829723" y="3024315"/>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4" name="ïś1ïḑè"/>
          <p:cNvSpPr/>
          <p:nvPr/>
        </p:nvSpPr>
        <p:spPr>
          <a:xfrm>
            <a:off x="829723" y="4037391"/>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779899" y="118421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solidFill>
                  <a:srgbClr val="FF0000"/>
                </a:solidFill>
              </a:rPr>
              <a:t>每个用户级线程映射到一个内核线程。</a:t>
            </a:r>
            <a:endParaRPr lang="zh-CN" altLang="en-US" sz="2400" dirty="0">
              <a:solidFill>
                <a:srgbClr val="FF0000"/>
              </a:solidFill>
            </a:endParaRPr>
          </a:p>
        </p:txBody>
      </p:sp>
      <p:sp>
        <p:nvSpPr>
          <p:cNvPr id="38" name="内容占位符 2"/>
          <p:cNvSpPr txBox="1"/>
          <p:nvPr/>
        </p:nvSpPr>
        <p:spPr>
          <a:xfrm>
            <a:off x="1779898" y="2220925"/>
            <a:ext cx="5788426"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比多对一模型有更好的并发性。</a:t>
            </a:r>
            <a:endParaRPr lang="zh-CN" altLang="en-US" sz="2400" dirty="0"/>
          </a:p>
        </p:txBody>
      </p:sp>
      <p:sp>
        <p:nvSpPr>
          <p:cNvPr id="39" name="内容占位符 2"/>
          <p:cNvSpPr txBox="1"/>
          <p:nvPr/>
        </p:nvSpPr>
        <p:spPr>
          <a:xfrm>
            <a:off x="1779899" y="3155511"/>
            <a:ext cx="8819780"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dirty="0"/>
              <a:t>允许多个线程并行运行在多个处理器上。</a:t>
            </a:r>
            <a:endParaRPr lang="zh-CN" altLang="en-US" sz="2400" dirty="0"/>
          </a:p>
        </p:txBody>
      </p:sp>
      <p:sp>
        <p:nvSpPr>
          <p:cNvPr id="40" name="内容占位符 2"/>
          <p:cNvSpPr txBox="1"/>
          <p:nvPr/>
        </p:nvSpPr>
        <p:spPr>
          <a:xfrm>
            <a:off x="1779905" y="4194810"/>
            <a:ext cx="8239125" cy="3435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缺点：创建一个</a:t>
            </a:r>
            <a:r>
              <a:rPr lang="en-US" altLang="zh-CN" sz="2400" dirty="0"/>
              <a:t>ULT</a:t>
            </a:r>
            <a:r>
              <a:rPr lang="zh-CN" altLang="en-US" sz="2400" dirty="0"/>
              <a:t>需要创建一个</a:t>
            </a:r>
            <a:r>
              <a:rPr lang="en-US" altLang="zh-CN" sz="2400" dirty="0"/>
              <a:t>KLT</a:t>
            </a:r>
            <a:r>
              <a:rPr lang="zh-CN" altLang="en-US" sz="2400" dirty="0"/>
              <a:t>，效率较差。</a:t>
            </a:r>
            <a:endParaRPr lang="zh-CN" altLang="en-US" sz="2400" dirty="0"/>
          </a:p>
        </p:txBody>
      </p:sp>
      <p:sp>
        <p:nvSpPr>
          <p:cNvPr id="42" name="iśḷíḑe"/>
          <p:cNvSpPr/>
          <p:nvPr/>
        </p:nvSpPr>
        <p:spPr>
          <a:xfrm>
            <a:off x="829723" y="502183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05</a:t>
            </a:r>
            <a:endParaRPr lang="zh-CN" altLang="en-US" sz="2400" b="1" kern="0" dirty="0">
              <a:solidFill>
                <a:prstClr val="white"/>
              </a:solidFill>
            </a:endParaRPr>
          </a:p>
        </p:txBody>
      </p:sp>
      <p:sp>
        <p:nvSpPr>
          <p:cNvPr id="44" name="内容占位符 2"/>
          <p:cNvSpPr txBox="1"/>
          <p:nvPr/>
        </p:nvSpPr>
        <p:spPr>
          <a:xfrm>
            <a:off x="1779899" y="5190611"/>
            <a:ext cx="229002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例子：</a:t>
            </a:r>
            <a:endParaRPr lang="zh-CN" altLang="en-US" sz="2400" dirty="0"/>
          </a:p>
        </p:txBody>
      </p:sp>
      <p:sp>
        <p:nvSpPr>
          <p:cNvPr id="46" name="内容占位符 2"/>
          <p:cNvSpPr txBox="1"/>
          <p:nvPr/>
        </p:nvSpPr>
        <p:spPr>
          <a:xfrm>
            <a:off x="2832731" y="5050467"/>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Windows 95/98/NT/XP/2000</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Linux</a:t>
            </a:r>
            <a:endParaRPr lang="en-US" altLang="zh-CN" sz="2200" dirty="0"/>
          </a:p>
        </p:txBody>
      </p:sp>
      <p:pic>
        <p:nvPicPr>
          <p:cNvPr id="15" name="Picture 7"/>
          <p:cNvPicPr>
            <a:picLocks noChangeAspect="1" noChangeArrowheads="1"/>
          </p:cNvPicPr>
          <p:nvPr/>
        </p:nvPicPr>
        <p:blipFill>
          <a:blip r:embed="rId1">
            <a:extLst>
              <a:ext uri="{28A0092B-C50C-407E-A947-70E740481C1C}">
                <a14:useLocalDpi xmlns:a14="http://schemas.microsoft.com/office/drawing/2010/main" val="0"/>
              </a:ext>
            </a:extLst>
          </a:blip>
          <a:srcRect l="360" t="25420" r="540" b="25180"/>
          <a:stretch>
            <a:fillRect/>
          </a:stretch>
        </p:blipFill>
        <p:spPr bwMode="auto">
          <a:xfrm>
            <a:off x="7324494" y="1415567"/>
            <a:ext cx="4321175" cy="1671638"/>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内容占位符 2"/>
          <p:cNvSpPr txBox="1"/>
          <p:nvPr/>
        </p:nvSpPr>
        <p:spPr>
          <a:xfrm>
            <a:off x="7355676" y="5114484"/>
            <a:ext cx="4775631" cy="10151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buClr>
                <a:srgbClr val="0000FF"/>
              </a:buClr>
              <a:buFont typeface="Wingdings" panose="05000000000000000000" pitchFamily="2" charset="2"/>
              <a:buChar char="Ø"/>
            </a:pPr>
            <a:r>
              <a:rPr lang="en-US" altLang="zh-CN" sz="2200" dirty="0"/>
              <a:t>Solaris 9 and later</a:t>
            </a:r>
            <a:endParaRPr lang="en-US" altLang="zh-CN" sz="2200" dirty="0"/>
          </a:p>
          <a:p>
            <a:pPr marL="0" lvl="1" indent="0">
              <a:lnSpc>
                <a:spcPct val="132000"/>
              </a:lnSpc>
              <a:buClr>
                <a:srgbClr val="0000FF"/>
              </a:buClr>
              <a:buFont typeface="Wingdings" panose="05000000000000000000" pitchFamily="2" charset="2"/>
              <a:buChar char="Ø"/>
            </a:pPr>
            <a:r>
              <a:rPr lang="en-US" altLang="zh-CN" sz="2200" dirty="0"/>
              <a:t>OS/2</a:t>
            </a:r>
            <a:endParaRPr lang="en-US" altLang="zh-CN"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多对多模型</a:t>
            </a:r>
            <a:endParaRPr lang="zh-CN" altLang="en-US" sz="2800" b="1" dirty="0">
              <a:solidFill>
                <a:schemeClr val="bg1"/>
              </a:solidFill>
            </a:endParaRPr>
          </a:p>
        </p:txBody>
      </p:sp>
      <p:sp>
        <p:nvSpPr>
          <p:cNvPr id="221" name="i$lîďê"/>
          <p:cNvSpPr/>
          <p:nvPr/>
        </p:nvSpPr>
        <p:spPr>
          <a:xfrm>
            <a:off x="1802765" y="2342515"/>
            <a:ext cx="8897620" cy="393065"/>
          </a:xfrm>
          <a:prstGeom prst="rect">
            <a:avLst/>
          </a:prstGeom>
          <a:noFill/>
          <a:ln>
            <a:noFill/>
          </a:ln>
        </p:spPr>
        <p:txBody>
          <a:bodyPr wrap="square" lIns="91440" tIns="45720" rIns="91440" bIns="45720" anchor="ctr" anchorCtr="0">
            <a:noAutofit/>
          </a:bodyPr>
          <a:lstStyle/>
          <a:p>
            <a:r>
              <a:rPr lang="zh-CN" altLang="en-US" sz="2400" dirty="0"/>
              <a:t>允许操作系统创建足够多的</a:t>
            </a:r>
            <a:r>
              <a:rPr lang="en-US" altLang="zh-CN" sz="2400" dirty="0"/>
              <a:t>KLT</a:t>
            </a:r>
            <a:r>
              <a:rPr lang="zh-CN" altLang="en-US" sz="2400" dirty="0"/>
              <a:t>。集合</a:t>
            </a:r>
            <a:r>
              <a:rPr lang="zh-CN" altLang="en-US" sz="2400" dirty="0"/>
              <a:t>了上面两种模型的</a:t>
            </a:r>
            <a:r>
              <a:rPr lang="zh-CN" altLang="en-US" sz="2400" dirty="0"/>
              <a:t>优点</a:t>
            </a:r>
            <a:endParaRPr lang="zh-CN" altLang="en-US" sz="2400" dirty="0"/>
          </a:p>
        </p:txBody>
      </p:sp>
      <p:sp>
        <p:nvSpPr>
          <p:cNvPr id="222" name="î$ļíḋè"/>
          <p:cNvSpPr/>
          <p:nvPr/>
        </p:nvSpPr>
        <p:spPr>
          <a:xfrm>
            <a:off x="1802481" y="3731635"/>
            <a:ext cx="3506366" cy="176480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t>Solaris 9 </a:t>
            </a:r>
            <a:r>
              <a:rPr lang="zh-CN" altLang="en-US" sz="2200" dirty="0"/>
              <a:t>以前的版本；</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带有</a:t>
            </a:r>
            <a:r>
              <a:rPr lang="en-US" altLang="zh-CN" sz="2200" dirty="0" err="1"/>
              <a:t>ThreadFiber</a:t>
            </a:r>
            <a:r>
              <a:rPr lang="zh-CN" altLang="en-US" sz="2200" dirty="0"/>
              <a:t>开发包的</a:t>
            </a:r>
            <a:r>
              <a:rPr lang="en-US" altLang="zh-CN" sz="2200" dirty="0"/>
              <a:t>Windows NT/2000 </a:t>
            </a:r>
            <a:r>
              <a:rPr lang="zh-CN" altLang="en-US" sz="2200" dirty="0"/>
              <a:t>。</a:t>
            </a:r>
            <a:endParaRPr lang="zh-CN" altLang="en-US" sz="2200" dirty="0"/>
          </a:p>
        </p:txBody>
      </p:sp>
      <p:sp>
        <p:nvSpPr>
          <p:cNvPr id="223" name="ïṧḷïḋè"/>
          <p:cNvSpPr/>
          <p:nvPr/>
        </p:nvSpPr>
        <p:spPr>
          <a:xfrm>
            <a:off x="1802481" y="3218860"/>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例子：</a:t>
            </a:r>
            <a:endParaRPr lang="zh-CN" altLang="en-US" sz="2400" dirty="0">
              <a:solidFill>
                <a:srgbClr val="0000FF"/>
              </a:solidFill>
            </a:endParaRPr>
          </a:p>
        </p:txBody>
      </p:sp>
      <p:sp>
        <p:nvSpPr>
          <p:cNvPr id="225" name="íšḻíḑê"/>
          <p:cNvSpPr/>
          <p:nvPr/>
        </p:nvSpPr>
        <p:spPr>
          <a:xfrm>
            <a:off x="1802480" y="1361556"/>
            <a:ext cx="8957256"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多个用户级线程映射为相等或小于数目的内核线程。</a:t>
            </a:r>
            <a:endParaRPr lang="zh-CN" altLang="en-US" sz="2400" dirty="0">
              <a:solidFill>
                <a:srgbClr val="FF0000"/>
              </a:solidFill>
            </a:endParaRPr>
          </a:p>
        </p:txBody>
      </p:sp>
      <p:sp>
        <p:nvSpPr>
          <p:cNvPr id="226"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7" name="íṥḻîḓe"/>
          <p:cNvSpPr/>
          <p:nvPr/>
        </p:nvSpPr>
        <p:spPr>
          <a:xfrm>
            <a:off x="1118977" y="31362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8" name="îşļiḓè"/>
          <p:cNvSpPr/>
          <p:nvPr/>
        </p:nvSpPr>
        <p:spPr>
          <a:xfrm>
            <a:off x="1118977" y="224212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29"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0" name="íSlíḋe"/>
          <p:cNvSpPr/>
          <p:nvPr/>
        </p:nvSpPr>
        <p:spPr>
          <a:xfrm>
            <a:off x="1309231" y="2464143"/>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231" name="ïśḷïḓe"/>
          <p:cNvSpPr/>
          <p:nvPr/>
        </p:nvSpPr>
        <p:spPr>
          <a:xfrm>
            <a:off x="1338170" y="332571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3"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l="6703" t="838" r="6912" b="838"/>
          <a:stretch>
            <a:fillRect/>
          </a:stretch>
        </p:blipFill>
        <p:spPr bwMode="auto">
          <a:xfrm>
            <a:off x="7016072" y="3325718"/>
            <a:ext cx="3606800" cy="224980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hidden="1"/>
          <p:cNvSpPr/>
          <p:nvPr>
            <p:custDataLst>
              <p:tags r:id="rId1"/>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4923066" y="2488196"/>
            <a:ext cx="6536871" cy="2390427"/>
          </a:xfrm>
        </p:spPr>
        <p:txBody>
          <a:bodyPr>
            <a:normAutofit/>
          </a:bodyPr>
          <a:lstStyle/>
          <a:p>
            <a:r>
              <a:rPr lang="zh-CN" altLang="en-US" sz="6600" dirty="0"/>
              <a:t>学 习 进 步 ！</a:t>
            </a:r>
            <a:endParaRPr lang="zh-CN" altLang="en-US" sz="4000" dirty="0"/>
          </a:p>
        </p:txBody>
      </p:sp>
      <p:sp>
        <p:nvSpPr>
          <p:cNvPr id="8" name="任意多边形: 形状 7"/>
          <p:cNvSpPr/>
          <p:nvPr/>
        </p:nvSpPr>
        <p:spPr>
          <a:xfrm>
            <a:off x="669925" y="2344255"/>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243012" y="602297"/>
            <a:ext cx="4698723" cy="430887"/>
          </a:xfrm>
          <a:prstGeom prst="rect">
            <a:avLst/>
          </a:prstGeom>
        </p:spPr>
        <p:txBody>
          <a:bodyPr wrap="none">
            <a:spAutoFit/>
          </a:bodyPr>
          <a:lstStyle/>
          <a:p>
            <a:pPr algn="ctr"/>
            <a:r>
              <a:rPr lang="zh-CN" altLang="en-US" sz="2200" dirty="0">
                <a:solidFill>
                  <a:schemeClr val="bg1"/>
                </a:solidFill>
                <a:sym typeface="+mn-ea"/>
              </a:rPr>
              <a:t>经典教材《计算机操作系统》</a:t>
            </a:r>
            <a:r>
              <a:rPr lang="zh-CN" altLang="en-US" sz="2200" b="1" dirty="0">
                <a:solidFill>
                  <a:schemeClr val="accent2"/>
                </a:solidFill>
                <a:sym typeface="+mn-ea"/>
              </a:rPr>
              <a:t>最新版</a:t>
            </a:r>
            <a:endParaRPr lang="zh-CN" altLang="en-US" sz="2200" b="1" dirty="0">
              <a:solidFill>
                <a:schemeClr val="accent2"/>
              </a:solidFill>
            </a:endParaRPr>
          </a:p>
        </p:txBody>
      </p:sp>
      <p:pic>
        <p:nvPicPr>
          <p:cNvPr id="12" name="图片 11"/>
          <p:cNvPicPr>
            <a:picLocks noChangeAspect="1"/>
          </p:cNvPicPr>
          <p:nvPr/>
        </p:nvPicPr>
        <p:blipFill>
          <a:blip r:embed="rId2"/>
          <a:stretch>
            <a:fillRect/>
          </a:stretch>
        </p:blipFill>
        <p:spPr>
          <a:xfrm>
            <a:off x="1673475" y="2592475"/>
            <a:ext cx="2508000" cy="3554241"/>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06400" y="522760"/>
            <a:ext cx="527050" cy="527050"/>
          </a:xfrm>
          <a:prstGeom prst="rect">
            <a:avLst/>
          </a:prstGeom>
        </p:spPr>
      </p:pic>
    </p:spTree>
  </p:cSld>
  <p:clrMapOvr>
    <a:masterClrMapping/>
  </p:clrMapOvr>
</p:sld>
</file>

<file path=ppt/tags/tag1.xml><?xml version="1.0" encoding="utf-8"?>
<p:tagLst xmlns:p="http://schemas.openxmlformats.org/presentationml/2006/main">
  <p:tag name="THINKCELLSHAPEDONOTDELETE" val="tA6S0wzOvQ8a50SA42PUNRg"/>
</p:tagLst>
</file>

<file path=ppt/tags/tag2.xml><?xml version="1.0" encoding="utf-8"?>
<p:tagLst xmlns:p="http://schemas.openxmlformats.org/presentationml/2006/main">
  <p:tag name="KSO_WM_UNIT_TABLE_BEAUTIFY" val="smartTable{58a06314-7e72-4d48-85a8-7253ed818c17}"/>
</p:tagLst>
</file>

<file path=ppt/tags/tag3.xml><?xml version="1.0" encoding="utf-8"?>
<p:tagLst xmlns:p="http://schemas.openxmlformats.org/presentationml/2006/main">
  <p:tag name="ISLIDE.DIAGRAM" val="210901"/>
</p:tagLst>
</file>

<file path=ppt/tags/tag4.xml><?xml version="1.0" encoding="utf-8"?>
<p:tagLst xmlns:p="http://schemas.openxmlformats.org/presentationml/2006/main">
  <p:tag name="ISLIDE.DIAGRAM" val="217641"/>
  <p:tag name="KSO_WM_DIAGRAM_VIRTUALLY_FRAME" val="{&quot;height&quot;:348.8657480314961,&quot;left&quot;:23.150236220472443,&quot;top&quot;:112.35897637795276,&quot;width&quot;:886.6996062992126}"/>
</p:tagLst>
</file>

<file path=ppt/tags/tag5.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6.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7.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8.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9.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0.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1.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2.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3.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4.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5.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6.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7.xml><?xml version="1.0" encoding="utf-8"?>
<p:tagLst xmlns:p="http://schemas.openxmlformats.org/presentationml/2006/main">
  <p:tag name="KSO_WM_DIAGRAM_VIRTUALLY_FRAME" val="{&quot;height&quot;:348.8657480314961,&quot;left&quot;:23.150236220472443,&quot;top&quot;:112.35897637795276,&quot;width&quot;:886.6996062992126}"/>
</p:tagLst>
</file>

<file path=ppt/tags/tag18.xml><?xml version="1.0" encoding="utf-8"?>
<p:tagLst xmlns:p="http://schemas.openxmlformats.org/presentationml/2006/main">
  <p:tag name="KSO_WM_UNIT_TABLE_BEAUTIFY" val="smartTable{bb816276-8f56-433c-b900-1000d0c0640b}"/>
</p:tagLst>
</file>

<file path=ppt/tags/tag19.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758447523476_1_1"/>
  <p:tag name="KSO_WM_DIAGRAM_VIRTUALLY_FRAME" val="{&quot;height&quot;:50.8,&quot;left&quot;:28.25,&quot;top&quot;:244.6,&quot;width&quot;:899.2}"/>
</p:tagLst>
</file>

<file path=ppt/tags/tag20.xml><?xml version="1.0" encoding="utf-8"?>
<p:tagLst xmlns:p="http://schemas.openxmlformats.org/presentationml/2006/main">
  <p:tag name="KSO_WM_DIAGRAM_VIRTUALLY_FRAME" val="{&quot;height&quot;:291.030027763681,&quot;left&quot;:184.9,&quot;top&quot;:138.55,&quot;width&quot;:652.95}"/>
</p:tagLst>
</file>

<file path=ppt/tags/tag21.xml><?xml version="1.0" encoding="utf-8"?>
<p:tagLst xmlns:p="http://schemas.openxmlformats.org/presentationml/2006/main">
  <p:tag name="KSO_WM_DIAGRAM_VIRTUALLY_FRAME" val="{&quot;height&quot;:291.030027763681,&quot;left&quot;:184.9,&quot;top&quot;:138.55,&quot;width&quot;:652.95}"/>
</p:tagLst>
</file>

<file path=ppt/tags/tag22.xml><?xml version="1.0" encoding="utf-8"?>
<p:tagLst xmlns:p="http://schemas.openxmlformats.org/presentationml/2006/main">
  <p:tag name="KSO_WM_DIAGRAM_VIRTUALLY_FRAME" val="{&quot;height&quot;:291.030027763681,&quot;left&quot;:184.9,&quot;top&quot;:138.55,&quot;width&quot;:652.95}"/>
</p:tagLst>
</file>

<file path=ppt/tags/tag23.xml><?xml version="1.0" encoding="utf-8"?>
<p:tagLst xmlns:p="http://schemas.openxmlformats.org/presentationml/2006/main">
  <p:tag name="KSO_WM_DIAGRAM_VIRTUALLY_FRAME" val="{&quot;height&quot;:291.030027763681,&quot;left&quot;:184.9,&quot;top&quot;:138.55,&quot;width&quot;:652.95}"/>
</p:tagLst>
</file>

<file path=ppt/tags/tag24.xml><?xml version="1.0" encoding="utf-8"?>
<p:tagLst xmlns:p="http://schemas.openxmlformats.org/presentationml/2006/main">
  <p:tag name="KSO_WM_DIAGRAM_VIRTUALLY_FRAME" val="{&quot;height&quot;:291.030027763681,&quot;left&quot;:184.9,&quot;top&quot;:138.55,&quot;width&quot;:652.95}"/>
</p:tagLst>
</file>

<file path=ppt/tags/tag25.xml><?xml version="1.0" encoding="utf-8"?>
<p:tagLst xmlns:p="http://schemas.openxmlformats.org/presentationml/2006/main">
  <p:tag name="KSO_WM_DIAGRAM_VIRTUALLY_FRAME" val="{&quot;height&quot;:291.030027763681,&quot;left&quot;:184.9,&quot;top&quot;:138.55,&quot;width&quot;:652.95}"/>
</p:tagLst>
</file>

<file path=ppt/tags/tag26.xml><?xml version="1.0" encoding="utf-8"?>
<p:tagLst xmlns:p="http://schemas.openxmlformats.org/presentationml/2006/main">
  <p:tag name="KSO_WM_DIAGRAM_VIRTUALLY_FRAME" val="{&quot;height&quot;:291.030027763681,&quot;left&quot;:184.9,&quot;top&quot;:138.55,&quot;width&quot;:652.95}"/>
</p:tagLst>
</file>

<file path=ppt/tags/tag27.xml><?xml version="1.0" encoding="utf-8"?>
<p:tagLst xmlns:p="http://schemas.openxmlformats.org/presentationml/2006/main">
  <p:tag name="KSO_WM_DIAGRAM_VIRTUALLY_FRAME" val="{&quot;height&quot;:291.030027763681,&quot;left&quot;:184.9,&quot;top&quot;:138.55,&quot;width&quot;:652.95}"/>
</p:tagLst>
</file>

<file path=ppt/tags/tag28.xml><?xml version="1.0" encoding="utf-8"?>
<p:tagLst xmlns:p="http://schemas.openxmlformats.org/presentationml/2006/main">
  <p:tag name="KSO_WM_DIAGRAM_VIRTUALLY_FRAME" val="{&quot;height&quot;:291.030027763681,&quot;left&quot;:184.9,&quot;top&quot;:138.55,&quot;width&quot;:652.95}"/>
</p:tagLst>
</file>

<file path=ppt/tags/tag29.xml><?xml version="1.0" encoding="utf-8"?>
<p:tagLst xmlns:p="http://schemas.openxmlformats.org/presentationml/2006/main">
  <p:tag name="KSO_WM_DIAGRAM_VIRTUALLY_FRAME" val="{&quot;height&quot;:291.030027763681,&quot;left&quot;:184.9,&quot;top&quot;:138.55,&quot;width&quot;:652.95}"/>
</p:tagLst>
</file>

<file path=ppt/tags/tag30.xml><?xml version="1.0" encoding="utf-8"?>
<p:tagLst xmlns:p="http://schemas.openxmlformats.org/presentationml/2006/main">
  <p:tag name="KSO_WM_DIAGRAM_VIRTUALLY_FRAME" val="{&quot;height&quot;:291.030027763681,&quot;left&quot;:184.9,&quot;top&quot;:138.55,&quot;width&quot;:652.95}"/>
</p:tagLst>
</file>

<file path=ppt/tags/tag31.xml><?xml version="1.0" encoding="utf-8"?>
<p:tagLst xmlns:p="http://schemas.openxmlformats.org/presentationml/2006/main">
  <p:tag name="KSO_WM_DIAGRAM_VIRTUALLY_FRAME" val="{&quot;height&quot;:291.030027763681,&quot;left&quot;:184.9,&quot;top&quot;:138.55,&quot;width&quot;:652.95}"/>
</p:tagLst>
</file>

<file path=ppt/tags/tag32.xml><?xml version="1.0" encoding="utf-8"?>
<p:tagLst xmlns:p="http://schemas.openxmlformats.org/presentationml/2006/main">
  <p:tag name="KSO_WM_DIAGRAM_VIRTUALLY_FRAME" val="{&quot;height&quot;:291.030027763681,&quot;left&quot;:184.9,&quot;top&quot;:138.55,&quot;width&quot;:652.95}"/>
</p:tagLst>
</file>

<file path=ppt/tags/tag33.xml><?xml version="1.0" encoding="utf-8"?>
<p:tagLst xmlns:p="http://schemas.openxmlformats.org/presentationml/2006/main">
  <p:tag name="KSO_WM_DIAGRAM_VIRTUALLY_FRAME" val="{&quot;height&quot;:291.030027763681,&quot;left&quot;:184.9,&quot;top&quot;:138.55,&quot;width&quot;:652.95}"/>
</p:tagLst>
</file>

<file path=ppt/tags/tag34.xml><?xml version="1.0" encoding="utf-8"?>
<p:tagLst xmlns:p="http://schemas.openxmlformats.org/presentationml/2006/main">
  <p:tag name="KSO_WM_DIAGRAM_VIRTUALLY_FRAME" val="{&quot;height&quot;:291.030027763681,&quot;left&quot;:184.9,&quot;top&quot;:138.55,&quot;width&quot;:652.95}"/>
</p:tagLst>
</file>

<file path=ppt/tags/tag35.xml><?xml version="1.0" encoding="utf-8"?>
<p:tagLst xmlns:p="http://schemas.openxmlformats.org/presentationml/2006/main">
  <p:tag name="KSO_WM_DIAGRAM_VIRTUALLY_FRAME" val="{&quot;height&quot;:291.030027763681,&quot;left&quot;:184.9,&quot;top&quot;:138.55,&quot;width&quot;:652.95}"/>
</p:tagLst>
</file>

<file path=ppt/tags/tag36.xml><?xml version="1.0" encoding="utf-8"?>
<p:tagLst xmlns:p="http://schemas.openxmlformats.org/presentationml/2006/main">
  <p:tag name="KSO_WM_DIAGRAM_VIRTUALLY_FRAME" val="{&quot;height&quot;:291.030027763681,&quot;left&quot;:184.9,&quot;top&quot;:138.55,&quot;width&quot;:652.95}"/>
</p:tagLst>
</file>

<file path=ppt/tags/tag37.xml><?xml version="1.0" encoding="utf-8"?>
<p:tagLst xmlns:p="http://schemas.openxmlformats.org/presentationml/2006/main">
  <p:tag name="KSO_WM_DIAGRAM_VIRTUALLY_FRAME" val="{&quot;height&quot;:291.030027763681,&quot;left&quot;:184.9,&quot;top&quot;:138.55,&quot;width&quot;:652.95}"/>
</p:tagLst>
</file>

<file path=ppt/tags/tag38.xml><?xml version="1.0" encoding="utf-8"?>
<p:tagLst xmlns:p="http://schemas.openxmlformats.org/presentationml/2006/main">
  <p:tag name="KSO_WM_DIAGRAM_VIRTUALLY_FRAME" val="{&quot;height&quot;:291.030027763681,&quot;left&quot;:184.9,&quot;top&quot;:138.55,&quot;width&quot;:652.95}"/>
</p:tagLst>
</file>

<file path=ppt/tags/tag39.xml><?xml version="1.0" encoding="utf-8"?>
<p:tagLst xmlns:p="http://schemas.openxmlformats.org/presentationml/2006/main">
  <p:tag name="KSO_WM_DIAGRAM_VIRTUALLY_FRAME" val="{&quot;height&quot;:291.030027763681,&quot;left&quot;:184.9,&quot;top&quot;:138.55,&quot;width&quot;:652.95}"/>
</p:tagLst>
</file>

<file path=ppt/tags/tag40.xml><?xml version="1.0" encoding="utf-8"?>
<p:tagLst xmlns:p="http://schemas.openxmlformats.org/presentationml/2006/main">
  <p:tag name="KSO_WM_DIAGRAM_VIRTUALLY_FRAME" val="{&quot;height&quot;:291.030027763681,&quot;left&quot;:184.9,&quot;top&quot;:138.55,&quot;width&quot;:652.95}"/>
</p:tagLst>
</file>

<file path=ppt/tags/tag41.xml><?xml version="1.0" encoding="utf-8"?>
<p:tagLst xmlns:p="http://schemas.openxmlformats.org/presentationml/2006/main">
  <p:tag name="KSO_WM_DIAGRAM_VIRTUALLY_FRAME" val="{&quot;height&quot;:291.030027763681,&quot;left&quot;:184.9,&quot;top&quot;:138.55,&quot;width&quot;:652.95}"/>
</p:tagLst>
</file>

<file path=ppt/tags/tag42.xml><?xml version="1.0" encoding="utf-8"?>
<p:tagLst xmlns:p="http://schemas.openxmlformats.org/presentationml/2006/main">
  <p:tag name="KSO_WM_DIAGRAM_VIRTUALLY_FRAME" val="{&quot;height&quot;:291.030027763681,&quot;left&quot;:184.9,&quot;top&quot;:138.55,&quot;width&quot;:652.95}"/>
</p:tagLst>
</file>

<file path=ppt/tags/tag43.xml><?xml version="1.0" encoding="utf-8"?>
<p:tagLst xmlns:p="http://schemas.openxmlformats.org/presentationml/2006/main">
  <p:tag name="KSO_WM_DIAGRAM_VIRTUALLY_FRAME" val="{&quot;height&quot;:291.030027763681,&quot;left&quot;:184.9,&quot;top&quot;:138.55,&quot;width&quot;:652.95}"/>
</p:tagLst>
</file>

<file path=ppt/tags/tag44.xml><?xml version="1.0" encoding="utf-8"?>
<p:tagLst xmlns:p="http://schemas.openxmlformats.org/presentationml/2006/main">
  <p:tag name="KSO_WM_DIAGRAM_VIRTUALLY_FRAME" val="{&quot;height&quot;:291.030027763681,&quot;left&quot;:184.9,&quot;top&quot;:138.55,&quot;width&quot;:652.95}"/>
</p:tagLst>
</file>

<file path=ppt/tags/tag45.xml><?xml version="1.0" encoding="utf-8"?>
<p:tagLst xmlns:p="http://schemas.openxmlformats.org/presentationml/2006/main">
  <p:tag name="KSO_WM_DIAGRAM_VIRTUALLY_FRAME" val="{&quot;height&quot;:291.030027763681,&quot;left&quot;:184.9,&quot;top&quot;:138.55,&quot;width&quot;:652.95}"/>
</p:tagLst>
</file>

<file path=ppt/tags/tag46.xml><?xml version="1.0" encoding="utf-8"?>
<p:tagLst xmlns:p="http://schemas.openxmlformats.org/presentationml/2006/main">
  <p:tag name="KSO_WM_DIAGRAM_VIRTUALLY_FRAME" val="{&quot;height&quot;:291.030027763681,&quot;left&quot;:184.9,&quot;top&quot;:138.55,&quot;width&quot;:652.95}"/>
</p:tagLst>
</file>

<file path=ppt/tags/tag47.xml><?xml version="1.0" encoding="utf-8"?>
<p:tagLst xmlns:p="http://schemas.openxmlformats.org/presentationml/2006/main">
  <p:tag name="ISLIDE.DIAGRAM" val="217641"/>
</p:tagLst>
</file>

<file path=ppt/tags/tag48.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49.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0.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1.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2.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3.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4.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5.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6.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7.xml><?xml version="1.0" encoding="utf-8"?>
<p:tagLst xmlns:p="http://schemas.openxmlformats.org/presentationml/2006/main">
  <p:tag name="KSO_WM_DIAGRAM_VIRTUALLY_FRAME" val="{&quot;height&quot;:273.94055118110236,&quot;left&quot;:149.60385826771653,&quot;top&quot;:187.78779527559055,&quot;width&quot;:599.0461417322834}"/>
</p:tagLst>
</file>

<file path=ppt/tags/tag58.xml><?xml version="1.0" encoding="utf-8"?>
<p:tagLst xmlns:p="http://schemas.openxmlformats.org/presentationml/2006/main">
  <p:tag name="ISLIDE.DIAGRAM" val="272399"/>
</p:tagLst>
</file>

<file path=ppt/tags/tag59.xml><?xml version="1.0" encoding="utf-8"?>
<p:tagLst xmlns:p="http://schemas.openxmlformats.org/presentationml/2006/main">
  <p:tag name="ISLIDE.DIAGRAM" val="185926"/>
</p:tagLst>
</file>

<file path=ppt/tags/tag60.xml><?xml version="1.0" encoding="utf-8"?>
<p:tagLst xmlns:p="http://schemas.openxmlformats.org/presentationml/2006/main">
  <p:tag name="THINKCELLSHAPEDONOTDELETE" val="t1Smkff3fSzGMOuItfjj3Fw"/>
</p:tagLst>
</file>

<file path=ppt/tags/tag61.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OTM4NmFhY2UyMzhhZmVhN2ZlMGY3Mzg4ZTJhZTk3NmQ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0</TotalTime>
  <Words>7288</Words>
  <Application>WPS 演示</Application>
  <PresentationFormat>自定义</PresentationFormat>
  <Paragraphs>1094</Paragraphs>
  <Slides>67</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67</vt:i4>
      </vt:variant>
    </vt:vector>
  </HeadingPairs>
  <TitlesOfParts>
    <vt:vector size="83" baseType="lpstr">
      <vt:lpstr>Arial</vt:lpstr>
      <vt:lpstr>宋体</vt:lpstr>
      <vt:lpstr>Wingdings</vt:lpstr>
      <vt:lpstr>微软雅黑</vt:lpstr>
      <vt:lpstr>华文楷体</vt:lpstr>
      <vt:lpstr>Wingdings</vt:lpstr>
      <vt:lpstr>Wingdings 2</vt:lpstr>
      <vt:lpstr>Perpetua</vt:lpstr>
      <vt:lpstr>Monotype Sorts</vt:lpstr>
      <vt:lpstr>Times New Roman</vt:lpstr>
      <vt:lpstr>Arial Unicode MS</vt:lpstr>
      <vt:lpstr>Calibri</vt:lpstr>
      <vt:lpstr>黑体</vt:lpstr>
      <vt:lpstr>Times New Roman</vt:lpstr>
      <vt:lpstr>主题5</vt:lpstr>
      <vt:lpstr>Paint.Picture</vt:lpstr>
      <vt:lpstr>第2章 进程的描述与控制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解解</cp:lastModifiedBy>
  <cp:revision>291</cp:revision>
  <cp:lastPrinted>2019-04-18T16:00:00Z</cp:lastPrinted>
  <dcterms:created xsi:type="dcterms:W3CDTF">2019-04-18T16:00:00Z</dcterms:created>
  <dcterms:modified xsi:type="dcterms:W3CDTF">2025-09-27T11:45:01Z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989C0475501F44FB86593F064E046034_13</vt:lpwstr>
  </property>
  <property fmtid="{D5CDD505-2E9C-101B-9397-08002B2CF9AE}" pid="4" name="KSOProductBuildVer">
    <vt:lpwstr>2052-12.1.0.22529</vt:lpwstr>
  </property>
</Properties>
</file>